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§1 concepts + demo out/la01_kmap_min.txt (course book §1.2–3). Every red value on this slide was verified against that capture by the deck build's self-check. Re-run: iverilog -g2012 -o la01_kmap_min.vvp src/la01_kmap_min.v &amp;&amp; vvp -n la01_kmap_min.vvp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§1 concepts + demo out/m1_boolcheck.txt (course book §1.2–3). Every red value on this slide was verified against that capture by the deck build's self-check. Re-run: iverilog -g2012 -o m1_boolcheck.vvp src/m1_boolcheck.v &amp;&amp; vvp -n m1_boolcheck.vvp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out/m1_nand_universal.txt; other Module 1 demos (la01_kmap_min, m1_boolcheck, m1_nand_universal) with full transcripts are in the book's §1.2–3.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Three-variable form: (x·y·z)' = x'+y'+z' and (x+y+z)' = x'·y'·z'; e.g. x=y=1,z=0 gives (x·y·z)' = 1 = 0+0+1.</a:t>
            </a:r>
          </a:p>
          <a:p>
            <a:r>
              <a:t>Q2: Nine 1-rows mean seven 0-rows: F = ΠM(0,2,6,7,8,9,15).</a:t>
            </a:r>
          </a:p>
          <a:p>
            <a:r>
              <a:t>Q3: The 1-cells form an octet in rows 0/1 columns {0,1,2,3,12..15} pattern — result F = B'D' + B'C'? no: m(0,2,3,4,6,7,8,10,11,12,14,15): group {0,2,4,6,8,10,12,14} (octet: B'? all with D=0 and even… read it as D') plus {3,7,11,15} (quad C'? — that is CD) and {2,3,6,7,10,11,14,15}: an octet pair = C. F = D' + C.</a:t>
            </a:r>
          </a:p>
          <a:p>
            <a:r>
              <a:t>Q6: The 1s already cover an octet {0,2,8,10}∪{...}: minimal result F = C'D' + B'D' with don't-cares folded in wherever they extend the pair into a quad.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§2 concepts + demo out/la02_addsub4.txt (course book §2.2–3). Every red value on this slide was verified against that capture by the deck build's self-check. Re-run: iverilog -g2012 -o la02_addsub4.vvp src/la02_addsub4.v &amp;&amp; vvp -n la02_addsub4.vvp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§2 concepts + demo out/la05_ff_types.txt (course book §2.2–3). Every red value on this slide was verified against that capture by the deck build's self-check. Re-run: iverilog -g2012 -o la05_ff_types.vvp src/la05_ff_types.v &amp;&amp; vvp -n la05_ff_types.vvp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out/m2_alu4.txt; other Module 2 demos (m2_dec_enc, m2_mux_impl, m2_alu4) with full transcripts are in the book's §2.2–3.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Q2: M=1 computes A+B'+1 = 0011+1010+1 = 1110; carry-out 0 ⇒ borrow — the value is the 2's complement of 2.</a:t>
            </a:r>
          </a:p>
          <a:p>
            <a:r>
              <a:t>Q4: Enable merges two 2×4 chips (or gates 16 decoders) without ghost outputs; NOR/SRAM chips use the same trick for banks.</a:t>
            </a:r>
          </a:p>
          <a:p>
            <a:r>
              <a:t>Q5: both gates already see Q=1 so the latch cannot leave 11; on release both NOR outputs try to rise 0→1 and the final state depends on gate delay — indeterminate.</a:t>
            </a:r>
          </a:p>
          <a:p>
            <a:r>
              <a:t>Q6: the input conditions survive the whole enabled window so the FF toggles several times per clock — race-around; master-slave or edge-triggering shrink the sampling window to one transition.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§3 concepts + demo out/m3_memops.txt (course book §3.2–3). Every red value on this slide was verified against that capture by the deck build's self-check. Re-run: iverilog -g2012 -o m3_memops.vvp src/m3_memops.v &amp;&amp; vvp -n m3_memops.vvp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§3 concepts + demo out/m3_perf.txt (course book §3.2–3). Every red value on this slide was verified against that capture by the deck build's self-check. Re-run: iverilog -g2012 -o m3_perf.vvp src/m3_perf.v &amp;&amp; vvp -n m3_perf.vvp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out/m3_addrmodes.txt; other Module 3 demos (m3_memops, m3_addrmodes, m3_perf) with full transcripts are in the book's §3.2–3.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Q3: CPI = 1.55·1+0.25·2+0.15·5+0.05·8 = 2.45; T = 2×10⁶×2.45/2×10⁹ = 2.45 ms.</a:t>
            </a:r>
          </a:p>
          <a:p>
            <a:r>
              <a:t>Q6: arbitration decides who owns the bus (two drivers → contention damage); timing decides when data is sampled (too-fast master → data read before valid).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§4 concepts + demo out/m4_irq_dma.txt (course book §4.2–3). Every red value on this slide was verified against that capture by the deck build's self-check. Re-run: iverilog -g2012 -o m4_irq_dma.vvp src/m4_irq_dma.v &amp;&amp; vvp -n m4_irq_dma.vvp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§4 concepts + demo out/m4_cache_map.txt (course book §4.2–3). Every red value on this slide was verified against that capture by the deck build's self-check. Re-run: iverilog -g2012 -o m4_cache_map.vvp src/m4_cache_map.v &amp;&amp; vvp -n m4_cache_map.vvp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out/m4_cache_map.txt; other Module 4 demos (m4_irq_dma, m4_cache_map) with full transcripts are in the book's §4.2–3.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status tells when the data register holds a valid character and errors are pending; reading too early reads stale data, reading the data register clears the ready flag on some devices — a wrong order silently loses a byte.</a:t>
            </a:r>
          </a:p>
          <a:p>
            <a:r>
              <a:t>Q2: the status bit marks data-valid and possibly error; reading data first samples whatever sits in the buffer (garbage) and may consume the strobe that says it was ready.</a:t>
            </a:r>
          </a:p>
          <a:p>
            <a:r>
              <a:t>Q4: the controller holds bus for one word then releases; the CPU never notices except by a slower memory system — the whole point of the DMA trade.</a:t>
            </a:r>
          </a:p>
          <a:p>
            <a:r>
              <a:t>Q6: 6 transistors/bit with no refresh lines buys ~10× the die area and static power; caches are small (KB), so area is affordable and the speed is needed every instruction.</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§5 concepts + demo out/m5_fetch_exec.txt (course book §5.2–3). Every red value on this slide was verified against that capture by the deck build's self-check. Re-run: iverilog -g2012 -o m5_fetch_exec.vvp src/m5_fetch_exec.v &amp;&amp; vvp -n m5_fetch_exec.vvp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§5 concepts + demo out/m5_pipeline.txt (course book §5.2–3). Every red value on this slide was verified against that capture by the deck build's self-check. Re-run: iverilog -g2012 -o m5_pipeline.vvp src/m5_pipeline.v &amp;&amp; vvp -n m5_pipeline.vvp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out/m5_control_mem.txt; other Module 5 demos (m5_fetch_exec, m5_control_mem, m5_pipeline) with full transcripts are in the book's §5.2–3.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T4: AR←IR(addr); T5: M[AR]←DR, with DR←AC on the preceding transfer (single bus: AC→DR, then DR→bus→M).</a:t>
            </a:r>
          </a:p>
          <a:p>
            <a:r>
              <a:t>Q4: unpipelined 50×10 ns = 500 ns; pipelined (5+49)×2 ns = 108 ns; speed-up ≈ 4.63× — less than 5 because of the fill/drain terms.</a:t>
            </a:r>
          </a:p>
          <a:p>
            <a:r>
              <a:t>Q5: bubble after decode until the load stage supplies the value: a load-forwarding path or a one-cycle stall — the pipeline registers then carry valid operands without waiting for the store phase.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Icarus Verilog 14.0 + vvp (OSS CAD Suite 2026-09-16) for simulation; Yosys 0.69 for the synthesis/stat runs; sources in src/, transcripts in out/ of the course folder. Full approach, observations, model viva answers: course book Activity 1 (7 sections). Re-run: python3 collect.py — the panel bytes come from out/la01_kmap_min.txt.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1 (book §1.6):</a:t>
            </a:r>
          </a:p>
          <a:p/>
          <a:p>
            <a:r>
              <a:t>Q1: Why does the quad {0,2,8,10} become B'D'?</a:t>
            </a:r>
          </a:p>
          <a:p>
            <a:r>
              <a:t>   A: Across those four cells A and C both toggle while B=0 and D=0 stay fixed — only the constant literals survive the sum.</a:t>
            </a:r>
          </a:p>
          <a:p>
            <a:r>
              <a:t>Q2: Could the pair {5,7} join a bigger group using don't-cares here?</a:t>
            </a:r>
          </a:p>
          <a:p>
            <a:r>
              <a:t>   A: There are no don't-cares in this problem; 5 and 7 already use B·D and the only larger containment would need 13 or 15, which are 0-rows.</a:t>
            </a:r>
          </a:p>
          <a:p>
            <a:r>
              <a:t>Q3: What does a $display of %b print for a 4-bit vector 0101?</a:t>
            </a:r>
          </a:p>
          <a:p>
            <a:r>
              <a:t>   A: 0101 — %b keeps width of the expression's left operand; %0d would print 5.</a:t>
            </a:r>
          </a:p>
          <a:p>
            <a:r>
              <a:t>Q4: Which Yosys command made the numbers?</a:t>
            </a:r>
          </a:p>
          <a:p>
            <a:r>
              <a:t>   A: read_verilog, hierarchy -top f_simp, proc; opt; stat — the transcript prints all four.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Icarus Verilog 14.0 + vvp (OSS CAD Suite 2026-09-16) for simulation; Yosys 0.69 for the synthesis/stat runs; sources in src/, transcripts in out/ of the course folder. Full approach, observations, model viva answers: course book Activity 2 (7 sections). Re-run: python3 collect.py — the panel bytes come from out/la02_addsub4.txt.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2 (book §2.6):</a:t>
            </a:r>
          </a:p>
          <a:p/>
          <a:p>
            <a:r>
              <a:t>Q1: Why feed M into the carry-in as well as the XORs?</a:t>
            </a:r>
          </a:p>
          <a:p>
            <a:r>
              <a:t>   A: B' must become -B in 2's-complement, which is +1 — the FA carry-in supplies exactly that 1 free.</a:t>
            </a:r>
          </a:p>
          <a:p>
            <a:r>
              <a:t>Q2: What does C=0 after a subtract mean in hardware terms?</a:t>
            </a:r>
          </a:p>
          <a:p>
            <a:r>
              <a:t>   A: No carry out of bit 3 — the subtraction needed a borrow beyond the word.</a:t>
            </a:r>
          </a:p>
          <a:p>
            <a:r>
              <a:t>Q3: Where does the overflow vs carry distinction bite in this circuit?</a:t>
            </a:r>
          </a:p>
          <a:p>
            <a:r>
              <a:t>   A: For signed use, overflow = C3 XOR C4; the demo prints raw carry — the exercises ask the extension.</a:t>
            </a:r>
          </a:p>
          <a:p>
            <a:r>
              <a:t>Q4: Why exhaustive-check instead of a few vectors?</a:t>
            </a:r>
          </a:p>
          <a:p>
            <a:r>
              <a:t>   A: 256 cases is under a millisecond in simulation; any single unchecked pair is a bug waiting for the viva.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Icarus Verilog 14.0 + vvp (OSS CAD Suite 2026-09-16) for simulation; Yosys 0.69 for the synthesis/stat runs; sources in src/, transcripts in out/ of the course folder. Full approach, observations, model viva answers: course book Activity 3 (7 sections). Re-run: python3 collect.py — the panel bytes come from out/la03_ha_fa.txt.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3 (book §3.6):</a:t>
            </a:r>
          </a:p>
          <a:p/>
          <a:p>
            <a:r>
              <a:t>Q1: Write the FS borrow equation and explain its second term.</a:t>
            </a:r>
          </a:p>
          <a:p>
            <a:r>
              <a:t>   A: B = x'y + bin·(x⊙y): either x can't pay y on its own, or the borrow-in arrives while x and y can't absorb it together.</a:t>
            </a:r>
          </a:p>
          <a:p>
            <a:r>
              <a:t>Q2: Why is a half-adder useless for bit 1 and above?</a:t>
            </a:r>
          </a:p>
          <a:p>
            <a:r>
              <a:t>   A: It has no carry-in; bit≥1 must fold in the ripple.</a:t>
            </a:r>
          </a:p>
          <a:p>
            <a:r>
              <a:t>Q3: What is the delay of adder4 in FA cells?</a:t>
            </a:r>
          </a:p>
          <a:p>
            <a:r>
              <a:t>   A: Four FAs in series for the carry path — 4·t_carry; the sum of the low bits arrives first.</a:t>
            </a:r>
          </a:p>
          <a:p>
            <a:r>
              <a:t>Q4: How would the demo grow to show signed overflow?</a:t>
            </a:r>
          </a:p>
          <a:p>
            <a:r>
              <a:t>   A: Compare carry-in vs carry-out of bit 3 (same XOR test as LA-2 extended); the 15+15 line is a ready witness.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Icarus Verilog 14.0 + vvp (OSS CAD Suite 2026-09-16) for simulation; Yosys 0.69 for the synthesis/stat runs; sources in src/, transcripts in out/ of the course folder. Full approach, observations, model viva answers: course book Activity 4 (7 sections). Re-run: python3 collect.py — the panel bytes come from out/la04_demux.txt.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4 (book §4.6):</a:t>
            </a:r>
          </a:p>
          <a:p/>
          <a:p>
            <a:r>
              <a:t>Q1: Why is a demux 'a decoder with a data input'?</a:t>
            </a:r>
          </a:p>
          <a:p>
            <a:r>
              <a:t>   A: Its output equations are y_k = D·(select==k) — the decoder one-hot ANDed with D.</a:t>
            </a:r>
          </a:p>
          <a:p>
            <a:r>
              <a:t>Q2: How do 16 outputs come from two 1×4 demux chips?</a:t>
            </a:r>
          </a:p>
          <a:p>
            <a:r>
              <a:t>   A: Cascade: high select bit feeds the enables complementarily, data chains through.</a:t>
            </a:r>
          </a:p>
          <a:p>
            <a:r>
              <a:t>Q3: Where do real demuxes use tri-states, and what does that buy?</a:t>
            </a:r>
          </a:p>
          <a:p>
            <a:r>
              <a:t>   A: Shared buses: unselected channels go high-Z instead of 0, so several chips can wire-OR — 0 would fight the driver.</a:t>
            </a:r>
          </a:p>
          <a:p>
            <a:r>
              <a:t>Q4: Difference between mux and demux select loading?</a:t>
            </a:r>
          </a:p>
          <a:p>
            <a:r>
              <a:t>   A: A mux's data inputs are the function's coefficients; a demux's single D fans out — the checking table mirrors that asymmetry.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Icarus Verilog 14.0 + vvp (OSS CAD Suite 2026-09-16) for simulation; Yosys 0.69 for the synthesis/stat runs; sources in src/, transcripts in out/ of the course folder. Full approach, observations, model viva answers: course book Activity 5 (7 sections). Re-run: python3 collect.py — the panel bytes come from out/la05_ff_types.txt.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5 (book §5.6):</a:t>
            </a:r>
          </a:p>
          <a:p/>
          <a:p>
            <a:r>
              <a:t>Q1: Why did the first latch version print x on Q before the set?</a:t>
            </a:r>
          </a:p>
          <a:p>
            <a:r>
              <a:t>   A: Cross-coupled gates have no defined power-up state; simulation shows it as x — real chips need the reset line for exactly this.</a:t>
            </a:r>
          </a:p>
          <a:p>
            <a:r>
              <a:t>Q2: Edge vs level triggering: one failure the demo avoids?</a:t>
            </a:r>
          </a:p>
          <a:p>
            <a:r>
              <a:t>   A: A level D latch transparent during the whole clock-high window would re-latch every input change; the posedge cell samples once.</a:t>
            </a:r>
          </a:p>
          <a:p>
            <a:r>
              <a:t>Q3: Where does T = JK-tied become a ripple counter?</a:t>
            </a:r>
          </a:p>
          <a:p>
            <a:r>
              <a:t>   A: Chain T outputs as clocks: each stage toggles on the previous one's fall — the counter chapter of every lab manual.</a:t>
            </a:r>
          </a:p>
          <a:p>
            <a:r>
              <a:t>Q4: What does $dumpvars(0, tb) do?</a:t>
            </a:r>
          </a:p>
          <a:p>
            <a:r>
              <a:t>   A: Dumps tb and everything below it into the VCD; level 0 means the whole hierarchy.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Icarus Verilog 14.0 + vvp (OSS CAD Suite 2026-09-16) for simulation; Yosys 0.69 for the synthesis/stat runs; sources in src/, transcripts in out/ of the course folder. Full approach, observations, model viva answers: course book Activity 6 (7 sections). Re-run: python3 collect.py — the panel bytes come from out/la06_srjk_seq.txt.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6 (book §6.6):</a:t>
            </a:r>
          </a:p>
          <a:p/>
          <a:p>
            <a:r>
              <a:t>Q1: Why does the master react on negedge here?</a:t>
            </a:r>
          </a:p>
          <a:p>
            <a:r>
              <a:t>   A: Splitting the clock keeps only one transparent phase in the loop at a time, which is exactly what kills the race-around.</a:t>
            </a:r>
          </a:p>
          <a:p>
            <a:r>
              <a:t>Q2: What would a plain gated JK latch do at edge 4-5 with J=K=1 held?</a:t>
            </a:r>
          </a:p>
          <a:p>
            <a:r>
              <a:t>   A: It would toggle repeatedly while the clock stays high — an indeterminate count of flips.</a:t>
            </a:r>
          </a:p>
          <a:p>
            <a:r>
              <a:t>Q3: Which row proves the SR hold behaviour?</a:t>
            </a:r>
          </a:p>
          <a:p>
            <a:r>
              <a:t>   A: Edges 2, 6, 7 (s=r=0): Qsr stays 1 from the earlier set — the row before and after match.</a:t>
            </a:r>
          </a:p>
          <a:p>
            <a:r>
              <a:t>Q4: How do you read the VCD to check a hold?</a:t>
            </a:r>
          </a:p>
          <a:p>
            <a:r>
              <a:t>   A: Zoom the s,r interval: both flat 0, Q flat — no transitions — which is the definition of memory.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the course machine itself — Ubuntu 24.04.4 LTS VM on Linux 6.1.158+ x86-64; captured with lscpu, lsblk, /proc, dd and a small python probe (the Linux twins of the Windows tools the activity names; run the equivalents shown in each transcript on your own desktop). Full approach, observations, model viva answers: course book Activity 7 (7 sections). Re-run: python3 collect.py — the panel bytes come from out/la07_sysinfo.txt.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7 (book §7.6):</a:t>
            </a:r>
          </a:p>
          <a:p/>
          <a:p>
            <a:r>
              <a:t>Q1: Why does a VM show a Xeon when the box is a laptop?</a:t>
            </a:r>
          </a:p>
          <a:p>
            <a:r>
              <a:t>   A: The hypervisor re-presents a generic model string; CPUID leaves may be masked — a virtualisation artefact to note.</a:t>
            </a:r>
          </a:p>
          <a:p>
            <a:r>
              <a:t>Q2: Which file gives cache size and which gives topology?</a:t>
            </a:r>
          </a:p>
          <a:p>
            <a:r>
              <a:t>   A: /sys/devices/system/cpu/index (size) vs lscpu/lstopo for instances per core.</a:t>
            </a:r>
          </a:p>
          <a:p>
            <a:r>
              <a:t>Q3: Where does RAM capacity stop being visible from a VM?</a:t>
            </a:r>
          </a:p>
          <a:p>
            <a:r>
              <a:t>   A: Guests only see what the balloon allocates — MemTotal is the reservation, not the DIMM.</a:t>
            </a:r>
          </a:p>
          <a:p>
            <a:r>
              <a:t>Q4: What is the Windows twin of lsblk?</a:t>
            </a:r>
          </a:p>
          <a:p>
            <a:r>
              <a:t>   A: Get-PhysicalDisk / Disk Management; both also expose rotational vs SSD, exactly the flag la09 uses.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the course machine itself — Ubuntu 24.04.4 LTS VM on Linux 6.1.158+ x86-64; captured with lscpu, lsblk, /proc, dd and a small python probe (the Linux twins of the Windows tools the activity names; run the equivalents shown in each transcript on your own desktop). Full approach, observations, model viva answers: course book Activity 8 (7 sections). Re-run: python3 collect.py — the panel bytes come from out/la08_monitor.txt.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8 (book §8.6):</a:t>
            </a:r>
          </a:p>
          <a:p/>
          <a:p>
            <a:r>
              <a:t>Q1: What is a jiffy here, and why divide by 100?</a:t>
            </a:r>
          </a:p>
          <a:p>
            <a:r>
              <a:t>   A: USER_HZ — kernel ticks, 100/s, so 602 ticks = 6.02 CPU-seconds.</a:t>
            </a:r>
          </a:p>
          <a:p>
            <a:r>
              <a:t>Q2: Why is load average almost unchanged right after 3-second hogs?</a:t>
            </a:r>
          </a:p>
          <a:p>
            <a:r>
              <a:t>   A: It's a 1-minute exponentially averaged queue length — short bursts haven't weighted in yet.</a:t>
            </a:r>
          </a:p>
          <a:p>
            <a:r>
              <a:t>Q3: Which row would a 1 GB memset change first?</a:t>
            </a:r>
          </a:p>
          <a:p>
            <a:r>
              <a:t>   A: MemAvailable — before the CPU line; a memory hog is invisible to the busy-jiffies proxy.</a:t>
            </a:r>
          </a:p>
          <a:p>
            <a:r>
              <a:t>Q4: What tool pair on Windows reproduces the disk-activity half?</a:t>
            </a:r>
          </a:p>
          <a:p>
            <a:r>
              <a:t>   A: Task Manager Processes ▸ Disk column for per-process, Resource Monitor for the same per-disk queue.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the course machine itself — Ubuntu 24.04.4 LTS VM on Linux 6.1.158+ x86-64; captured with lscpu, lsblk, /proc, dd and a small python probe (the Linux twins of the Windows tools the activity names; run the equivalents shown in each transcript on your own desktop). Full approach, observations, model viva answers: course book Activity 9 (7 sections). Re-run: python3 collect.py — the panel bytes come from out/la09_diskio.txt.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9 (book §9.6):</a:t>
            </a:r>
          </a:p>
          <a:p/>
          <a:p>
            <a:r>
              <a:t>Q1: Why is the read 20× the write on the same file?</a:t>
            </a:r>
          </a:p>
          <a:p>
            <a:r>
              <a:t>   A: The read is served from page cache in RAM; the write crossed the device. A cold read (after drop_caches) lands near device speed.</a:t>
            </a:r>
          </a:p>
          <a:p>
            <a:r>
              <a:t>Q2: What does conv=fsync add, in file terms?</a:t>
            </a:r>
          </a:p>
          <a:p>
            <a:r>
              <a:t>   A: A final fdatasync that forces dirty pages to the device — without it dd measures the cache, not the disk.</a:t>
            </a:r>
          </a:p>
          <a:p>
            <a:r>
              <a:t>Q3: Why do small synced writes cost ms while costing almost nothing in bulk?</a:t>
            </a:r>
          </a:p>
          <a:p>
            <a:r>
              <a:t>   A: The journal/log-structured commit path has fixed per-op latency; amortised over 128 MiB it vanishes.</a:t>
            </a:r>
          </a:p>
          <a:p>
            <a:r>
              <a:t>Q4: Which queue flag distinguishes HDD from SSD here, and what did it print?</a:t>
            </a:r>
          </a:p>
          <a:p>
            <a:r>
              <a:t>   A: /sys/block//queue/rotational — a 1 (virtio-backed block device) despite a virtual SSD below: the hypervisor's lie, worth reporting.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the course machine itself — Ubuntu 24.04.4 LTS VM on Linux 6.1.158+ x86-64; captured with lscpu, lsblk, /proc, dd and a small python probe (the Linux twins of the Windows tools the activity names; run the equivalents shown in each transcript on your own desktop). Full approach, observations, model viva answers: course book Activity 10 (7 sections). Re-run: python3 collect.py — the panel bytes come from out/la10_cpu.txt.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10 (book §10.6):</a:t>
            </a:r>
          </a:p>
          <a:p/>
          <a:p>
            <a:r>
              <a:t>Q1: Both lineages now pipeline and speculate — what still separates them?</a:t>
            </a:r>
          </a:p>
          <a:p>
            <a:r>
              <a:t>   A: The programmer-visible ISA: fixed load-store RISC formats vs variable-memory CISC instructions; the decoder is where the CISC cost moved to.</a:t>
            </a:r>
          </a:p>
          <a:p>
            <a:r>
              <a:t>Q2: Which line of lscpu proves the ISA, and which the width?</a:t>
            </a:r>
          </a:p>
          <a:p>
            <a:r>
              <a:t>   A: Architecture x86_64 (ISA + word); Vendor/Model name (the microarchitecture that translates it).</a:t>
            </a:r>
          </a:p>
          <a:p>
            <a:r>
              <a:t>Q3: Give one RISC design that added CISC-ish instructions under licence?</a:t>
            </a:r>
          </a:p>
          <a:p>
            <a:r>
              <a:t>   A: Modern ARM with encrypted/memory-tagging extensions — ISA accretion happens in both lineages.</a:t>
            </a:r>
          </a:p>
          <a:p>
            <a:r>
              <a:t>Q4: Why did the 5M loop matter?</a:t>
            </a:r>
          </a:p>
          <a:p>
            <a:r>
              <a:t>   A: A workload both machines can run identically; it is the only way the table's 'performance' row is evidence and not opinion.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Icarus Verilog 14.0 + vvp (OSS CAD Suite 2026-09-16) for simulation; Yosys 0.69 for the synthesis/stat runs; sources in src/, transcripts in out/ of the course folder. Full approach, observations, model viva answers: course book Activity 11 (7 sections). Re-run: python3 collect.py — the panel bytes come from out/la11_ramrom.txt.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11 (book §11.6):</a:t>
            </a:r>
          </a:p>
          <a:p/>
          <a:p>
            <a:r>
              <a:t>Q1: Why 8 chips and not 4 for 64K×8 from 16K×4?</a:t>
            </a:r>
          </a:p>
          <a:p>
            <a:r>
              <a:t>   A: Two 4-bit chips in parallel build the 8-bit width (×2), and four 16K row-banks build the 64K depth (×4): 2·4 = 8.</a:t>
            </a:r>
          </a:p>
          <a:p>
            <a:r>
              <a:t>Q2: Address lines for that board?</a:t>
            </a:r>
          </a:p>
          <a:p>
            <a:r>
              <a:t>   A: 16 — one shared AR drives all banks; the top 2 bits select a bank, the low 14 sit inside every chip.</a:t>
            </a:r>
          </a:p>
          <a:p>
            <a:r>
              <a:t>Q3: Which ROM type survives field updates?</a:t>
            </a:r>
          </a:p>
          <a:p>
            <a:r>
              <a:t>   A: Flash/EEPROM families; UV-EPROM needs exposure, mask-ROM never changes.</a:t>
            </a:r>
          </a:p>
          <a:p>
            <a:r>
              <a:t>Q4: Why does DRAM's refresh ride on the address lines?</a:t>
            </a:r>
          </a:p>
          <a:p>
            <a:r>
              <a:t>   A: Refresh walks row addresses — the same pins, hence 'distributed refresh' between cycles.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Execute the prescribed problem and produce report-ready, machine-verified evidence.. Tools: the course machine itself — Ubuntu 24.04.4 LTS VM on Linux 6.1.158+ x86-64; captured with lscpu, lsblk, /proc, dd and a small python probe (the Linux twins of the Windows tools the activity names; run the equivalents shown in each transcript on your own desktop). Full approach, observations, model viva answers: course book Activity 12 (7 sections). Re-run: python3 collect.py — the panel bytes come from out/la12_components.txt.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Activity 12 (book §12.6):</a:t>
            </a:r>
          </a:p>
          <a:p/>
          <a:p>
            <a:r>
              <a:t>Q1: Why discharge-wait after unplugging, if the PSU switch is off?</a:t>
            </a:r>
          </a:p>
          <a:p>
            <a:r>
              <a:t>   A: Bulk capacitors on the 5 V/12 V rails hold charge for minutes; shorting a rail through a screw is how boards die.</a:t>
            </a:r>
          </a:p>
          <a:p>
            <a:r>
              <a:t>Q2: Which two classes give temperature and fan truth?</a:t>
            </a:r>
          </a:p>
          <a:p>
            <a:r>
              <a:t>   A: thermal and hwmon (under power_supply/hwmon families); read sensors before closing the lid.</a:t>
            </a:r>
          </a:p>
          <a:p>
            <a:r>
              <a:t>Q3: What does /sys/bus/pci/devices count tell you?</a:t>
            </a:r>
          </a:p>
          <a:p>
            <a:r>
              <a:t>   A: Every device behind the PCIe fabric — the same set Device Manager lists by bus number.</a:t>
            </a:r>
          </a:p>
          <a:p>
            <a:r>
              <a:t>Q4: Why photograph before touching?</a:t>
            </a:r>
          </a:p>
          <a:p>
            <a:r>
              <a:t>   A: Cable routing and standoff positions are not standard; the reassembly test is 'it boots', not 'it looks tidy'.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457200"/>
          </a:xfrm>
          <a:prstGeom prst="rect">
            <a:avLst/>
          </a:prstGeom>
          <a:noFill/>
        </p:spPr>
        <p:txBody>
          <a:bodyPr wrap="square" anchor="t" lIns="0" rIns="0" tIns="0" bIns="0">
            <a:spAutoFit/>
          </a:bodyPr>
          <a:lstStyle/>
          <a:p>
            <a:pPr algn="ctr">
              <a:spcBef>
                <a:spcPts val="0"/>
              </a:spcBef>
              <a:spcAft>
                <a:spcPts val="0"/>
              </a:spcAft>
            </a:pPr>
            <a:r>
              <a:rPr sz="1500" b="1" i="0">
                <a:solidFill>
                  <a:srgbClr val="B3261E"/>
                </a:solidFill>
                <a:latin typeface="Calibri"/>
              </a:rPr>
              <a:t>PCC COURSE · SEMESTER III · VERILOG LEARNING ACTIVITY</a:t>
            </a:r>
          </a:p>
        </p:txBody>
      </p:sp>
      <p:sp>
        <p:nvSpPr>
          <p:cNvPr id="4" name="Rectangle 3"/>
          <p:cNvSpPr/>
          <p:nvPr/>
        </p:nvSpPr>
        <p:spPr>
          <a:xfrm>
            <a:off x="914400" y="1152144"/>
            <a:ext cx="10362895" cy="25603"/>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10545775" cy="1965960"/>
          </a:xfrm>
          <a:prstGeom prst="rect">
            <a:avLst/>
          </a:prstGeom>
          <a:noFill/>
        </p:spPr>
        <p:txBody>
          <a:bodyPr wrap="square" anchor="t" lIns="0" rIns="0" tIns="0" bIns="0">
            <a:spAutoFit/>
          </a:bodyPr>
          <a:lstStyle/>
          <a:p>
            <a:pPr algn="ctr">
              <a:spcBef>
                <a:spcPts val="0"/>
              </a:spcBef>
              <a:spcAft>
                <a:spcPts val="200"/>
              </a:spcAft>
            </a:pPr>
            <a:r>
              <a:rPr sz="4400" b="1" i="0">
                <a:solidFill>
                  <a:srgbClr val="0F172A"/>
                </a:solidFill>
                <a:latin typeface="Calibri"/>
              </a:rPr>
              <a:t>DIGITAL DESIGN AND</a:t>
            </a:r>
          </a:p>
          <a:p>
            <a:pPr algn="ctr">
              <a:spcBef>
                <a:spcPts val="0"/>
              </a:spcBef>
              <a:spcAft>
                <a:spcPts val="200"/>
              </a:spcAft>
            </a:pPr>
            <a:r>
              <a:rPr sz="4400" b="1" i="0">
                <a:solidFill>
                  <a:srgbClr val="0F172A"/>
                </a:solidFill>
                <a:latin typeface="Calibri"/>
              </a:rPr>
              <a:t>COMPUTER ORGANIZATION</a:t>
            </a:r>
          </a:p>
        </p:txBody>
      </p:sp>
      <p:sp>
        <p:nvSpPr>
          <p:cNvPr id="6" name="TextBox 5"/>
          <p:cNvSpPr txBox="1"/>
          <p:nvPr/>
        </p:nvSpPr>
        <p:spPr>
          <a:xfrm>
            <a:off x="1280160" y="3310128"/>
            <a:ext cx="9631375" cy="731520"/>
          </a:xfrm>
          <a:prstGeom prst="rect">
            <a:avLst/>
          </a:prstGeom>
          <a:noFill/>
        </p:spPr>
        <p:txBody>
          <a:bodyPr wrap="square" anchor="t" lIns="0" rIns="0" tIns="0" bIns="0">
            <a:spAutoFit/>
          </a:bodyPr>
          <a:lstStyle/>
          <a:p>
            <a:pPr algn="ctr">
              <a:spcBef>
                <a:spcPts val="0"/>
              </a:spcBef>
              <a:spcAft>
                <a:spcPts val="0"/>
              </a:spcAft>
            </a:pPr>
            <a:r>
              <a:rPr sz="1600" b="0" i="0">
                <a:solidFill>
                  <a:srgbClr val="4B5563"/>
                </a:solidFill>
                <a:latin typeface="Calibri"/>
              </a:rPr>
              <a:t>Classroom presentation · 5 theory modules · 12 learning activities · every circuit simulated with iverilog, every combinational design synthesised with Yosys</a:t>
            </a:r>
          </a:p>
        </p:txBody>
      </p:sp>
      <p:sp>
        <p:nvSpPr>
          <p:cNvPr id="7" name="Rectangle 6"/>
          <p:cNvSpPr/>
          <p:nvPr/>
        </p:nvSpPr>
        <p:spPr>
          <a:xfrm>
            <a:off x="4449927" y="4041648"/>
            <a:ext cx="3291840" cy="713232"/>
          </a:xfrm>
          <a:prstGeom prst="rect">
            <a:avLst/>
          </a:prstGeom>
          <a:noFill/>
          <a:ln w="95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9927" y="4123944"/>
            <a:ext cx="3291840" cy="603504"/>
          </a:xfrm>
          <a:prstGeom prst="rect">
            <a:avLst/>
          </a:prstGeom>
          <a:noFill/>
        </p:spPr>
        <p:txBody>
          <a:bodyPr wrap="square" anchor="t" lIns="0" rIns="0" tIns="0" bIns="0">
            <a:spAutoFit/>
          </a:bodyPr>
          <a:lstStyle/>
          <a:p>
            <a:pPr algn="ctr">
              <a:spcBef>
                <a:spcPts val="0"/>
              </a:spcBef>
              <a:spcAft>
                <a:spcPts val="100"/>
              </a:spcAft>
            </a:pPr>
            <a:r>
              <a:rPr sz="1050" b="1" i="0">
                <a:solidFill>
                  <a:srgbClr val="4B5563"/>
                </a:solidFill>
                <a:latin typeface="Calibri"/>
              </a:rPr>
              <a:t>COURSE CODE</a:t>
            </a:r>
          </a:p>
          <a:p>
            <a:pPr algn="ctr">
              <a:spcBef>
                <a:spcPts val="0"/>
              </a:spcBef>
              <a:spcAft>
                <a:spcPts val="0"/>
              </a:spcAft>
            </a:pPr>
            <a:r>
              <a:rPr sz="2100" b="1" i="0">
                <a:solidFill>
                  <a:srgbClr val="0F172A"/>
                </a:solidFill>
                <a:latin typeface="Calibri"/>
              </a:rPr>
              <a:t>1BCS303</a:t>
            </a:r>
          </a:p>
        </p:txBody>
      </p:sp>
      <p:sp>
        <p:nvSpPr>
          <p:cNvPr id="9" name="TextBox 8"/>
          <p:cNvSpPr txBox="1"/>
          <p:nvPr/>
        </p:nvSpPr>
        <p:spPr>
          <a:xfrm>
            <a:off x="1234440" y="4956048"/>
            <a:ext cx="9722815" cy="365760"/>
          </a:xfrm>
          <a:prstGeom prst="rect">
            <a:avLst/>
          </a:prstGeom>
          <a:noFill/>
        </p:spPr>
        <p:txBody>
          <a:bodyPr wrap="square" anchor="t" lIns="0" rIns="0" tIns="0" bIns="0">
            <a:spAutoFit/>
          </a:bodyPr>
          <a:lstStyle/>
          <a:p>
            <a:pPr algn="ctr">
              <a:spcBef>
                <a:spcPts val="0"/>
              </a:spcBef>
              <a:spcAft>
                <a:spcPts val="0"/>
              </a:spcAft>
            </a:pPr>
            <a:r>
              <a:rPr sz="1350" b="0" i="0">
                <a:solidFill>
                  <a:srgbClr val="16181D"/>
                </a:solidFill>
                <a:latin typeface="Calibri"/>
              </a:rPr>
              <a:t>4 credits   ·   Teaching 4 : 0 : 0   ·   CIE 50 (IA 25 + CCA 25)   ·   SEE 50 · 3 h   ·   Total 100</a:t>
            </a:r>
          </a:p>
        </p:txBody>
      </p:sp>
      <p:sp>
        <p:nvSpPr>
          <p:cNvPr id="10" name="TextBox 9"/>
          <p:cNvSpPr txBox="1"/>
          <p:nvPr/>
        </p:nvSpPr>
        <p:spPr>
          <a:xfrm>
            <a:off x="914400" y="5303520"/>
            <a:ext cx="10362895" cy="1097280"/>
          </a:xfrm>
          <a:prstGeom prst="rect">
            <a:avLst/>
          </a:prstGeom>
          <a:noFill/>
        </p:spPr>
        <p:txBody>
          <a:bodyPr wrap="square" anchor="t" lIns="0" rIns="0" tIns="0" bIns="0">
            <a:spAutoFit/>
          </a:bodyPr>
          <a:lstStyle/>
          <a:p>
            <a:pPr algn="ctr">
              <a:spcBef>
                <a:spcPts val="0"/>
              </a:spcBef>
              <a:spcAft>
                <a:spcPts val="0"/>
              </a:spcAft>
            </a:pPr>
            <a:r>
              <a:rPr sz="1150" b="0" i="1">
                <a:solidFill>
                  <a:srgbClr val="4B5563"/>
                </a:solidFill>
                <a:latin typeface="Calibri"/>
              </a:rPr>
              <a:t>by</a:t>
            </a:r>
          </a:p>
          <a:p>
            <a:pPr algn="ctr">
              <a:spcBef>
                <a:spcPts val="0"/>
              </a:spcBef>
              <a:spcAft>
                <a:spcPts val="0"/>
              </a:spcAft>
            </a:pPr>
            <a:r>
              <a:rPr sz="2100" b="1" i="0">
                <a:solidFill>
                  <a:srgbClr val="0F172A"/>
                </a:solidFill>
                <a:latin typeface="Calibri"/>
              </a:rPr>
              <a:t>Dr. Lokesh M R</a:t>
            </a:r>
          </a:p>
          <a:p>
            <a:pPr algn="ctr">
              <a:spcBef>
                <a:spcPts val="0"/>
              </a:spcBef>
              <a:spcAft>
                <a:spcPts val="0"/>
              </a:spcAft>
            </a:pPr>
            <a:r>
              <a:rPr sz="1150" b="0" i="0">
                <a:solidFill>
                  <a:srgbClr val="4B5563"/>
                </a:solidFill>
                <a:latin typeface="Calibri"/>
              </a:rPr>
              <a:t>Professor · Dept. of Information Science &amp; Engineering</a:t>
            </a:r>
          </a:p>
          <a:p>
            <a:pPr algn="ctr">
              <a:spcBef>
                <a:spcPts val="0"/>
              </a:spcBef>
              <a:spcAft>
                <a:spcPts val="0"/>
              </a:spcAft>
            </a:pPr>
            <a:r>
              <a:rPr sz="1150" b="0" i="0">
                <a:solidFill>
                  <a:srgbClr val="4B5563"/>
                </a:solidFill>
                <a:latin typeface="Calibri"/>
              </a:rPr>
              <a:t>A J Institute of Engineering and Technology (AJIET), Mangaluru</a:t>
            </a:r>
          </a:p>
        </p:txBody>
      </p:sp>
      <p:sp>
        <p:nvSpPr>
          <p:cNvPr id="11" name="TextBox 10"/>
          <p:cNvSpPr txBox="1"/>
          <p:nvPr/>
        </p:nvSpPr>
        <p:spPr>
          <a:xfrm>
            <a:off x="914400" y="6419088"/>
            <a:ext cx="10362895" cy="365760"/>
          </a:xfrm>
          <a:prstGeom prst="rect">
            <a:avLst/>
          </a:prstGeom>
          <a:noFill/>
        </p:spPr>
        <p:txBody>
          <a:bodyPr wrap="square" anchor="t" lIns="0" rIns="0" tIns="0" bIns="0">
            <a:spAutoFit/>
          </a:bodyPr>
          <a:lstStyle/>
          <a:p>
            <a:pPr algn="ctr">
              <a:spcBef>
                <a:spcPts val="0"/>
              </a:spcBef>
              <a:spcAft>
                <a:spcPts val="0"/>
              </a:spcAft>
            </a:pPr>
            <a:r>
              <a:rPr sz="1000" b="0" i="0">
                <a:solidFill>
                  <a:srgbClr val="4B5563"/>
                </a:solidFill>
                <a:latin typeface="Calibri"/>
              </a:rPr>
              <a:t>Visvesvaraya Technological University (VTU) · 2025 Scheme · slides derived from the course notes book (same captures, same checks)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 Course at a Glance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a:t>
            </a:r>
          </a:p>
        </p:txBody>
      </p:sp>
      <p:sp>
        <p:nvSpPr>
          <p:cNvPr id="8" name="TextBox 7"/>
          <p:cNvSpPr txBox="1"/>
          <p:nvPr/>
        </p:nvSpPr>
        <p:spPr>
          <a:xfrm>
            <a:off x="502920" y="1554480"/>
            <a:ext cx="5989320" cy="486460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A course with two hearts: </a:t>
            </a:r>
            <a:r>
              <a:rPr sz="1450" b="1" i="0">
                <a:solidFill>
                  <a:srgbClr val="16181D"/>
                </a:solidFill>
                <a:latin typeface="Calibri"/>
              </a:rPr>
              <a:t>gates and machines</a:t>
            </a:r>
            <a:r>
              <a:rPr sz="1450" b="0" i="0">
                <a:solidFill>
                  <a:srgbClr val="16181D"/>
                </a:solidFill>
                <a:latin typeface="Calibri"/>
              </a:rPr>
              <a:t> — Mano chapters 2–5 on one side, Hamacher chapters 1–8 on the other; the CIE carries both halves (IA 25) and the Verilog activity (CCA 25).</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Teaching: </a:t>
            </a:r>
            <a:r>
              <a:rPr sz="1350" b="0" i="0">
                <a:solidFill>
                  <a:srgbClr val="16181D"/>
                </a:solidFill>
                <a:latin typeface="Consolas"/>
              </a:rPr>
              <a:t>4 : 0 : 0</a:t>
            </a:r>
            <a:r>
              <a:rPr sz="1450" b="0" i="0">
                <a:solidFill>
                  <a:srgbClr val="16181D"/>
                </a:solidFill>
                <a:latin typeface="Calibri"/>
              </a:rPr>
              <a:t> hours/week → 56 lecture hours (12+12+10+12+10) + 34 SL + 30 TW hours.</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Toolchain of record: </a:t>
            </a:r>
            <a:r>
              <a:rPr sz="1450" b="1" i="0">
                <a:solidFill>
                  <a:srgbClr val="16181D"/>
                </a:solidFill>
                <a:latin typeface="Calibri"/>
              </a:rPr>
              <a:t>iverilog 14.0 + vvp + Yosys 0.69</a:t>
            </a:r>
            <a:r>
              <a:rPr sz="1450" b="0" i="0">
                <a:solidFill>
                  <a:srgbClr val="16181D"/>
                </a:solidFill>
                <a:latin typeface="Calibri"/>
              </a:rPr>
              <a:t> (OSS CAD Suite) — the syllabus permits “Xilinx, Multisim, Modelsim, PSpice or any other relevant”, so results replicate on any Verilog tool.</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Every output on these slides is the byte-exact capture: </a:t>
            </a:r>
            <a:r>
              <a:rPr sz="1450" b="0" i="0">
                <a:solidFill>
                  <a:srgbClr val="16181D"/>
                </a:solidFill>
                <a:latin typeface="Calibri"/>
              </a:rPr>
              <a:t>simulation for all 12 activities, plus real desktop measurements for the five system-side problems (lscpu, /proc, dd).</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Quantified design: </a:t>
            </a:r>
            <a:r>
              <a:rPr sz="1450" b="0" i="0">
                <a:solidFill>
                  <a:srgbClr val="16181D"/>
                </a:solidFill>
                <a:latin typeface="Calibri"/>
              </a:rPr>
              <a:t>combinational demos also get a Yosys stat pass — LA-1's K-map answer shrinks 34 cells → 12 cells on the capture, not in prose.</a:t>
            </a:r>
          </a:p>
        </p:txBody>
      </p:sp>
      <p:sp>
        <p:nvSpPr>
          <p:cNvPr id="9" name="Rectangle 8"/>
          <p:cNvSpPr/>
          <p:nvPr/>
        </p:nvSpPr>
        <p:spPr>
          <a:xfrm>
            <a:off x="6720840" y="1554480"/>
            <a:ext cx="4983480" cy="315468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20840" y="1554480"/>
            <a:ext cx="54864" cy="31546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2007" y="1645920"/>
            <a:ext cx="4599432" cy="297180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COURSE OUTCOMES (VERBATIM)</a:t>
            </a:r>
          </a:p>
          <a:p>
            <a:pPr>
              <a:lnSpc>
                <a:spcPct val="108000"/>
              </a:lnSpc>
              <a:spcBef>
                <a:spcPts val="0"/>
              </a:spcBef>
              <a:spcAft>
                <a:spcPts val="0"/>
              </a:spcAft>
            </a:pPr>
            <a:r>
              <a:rPr sz="950" b="0" i="0">
                <a:solidFill>
                  <a:srgbClr val="16181D"/>
                </a:solidFill>
                <a:latin typeface="Calibri"/>
              </a:rPr>
              <a:t>CO1: Apply Boolean algebra principles and logic minimization techniques to design and simplify digital logic circuits using logic gates, K-maps, and NAND/NOR implementations.  CO2: Design combinational and sequential logic circuits using adders, decoders, encoders, multiplexers, latches, and flip-flops.  CO3: Describe the organization and operation of computer systems, including functional units, bus structures, instruction sets, and addressing modes.  CO4: Illustrate memory and input/output organization techniques, including interrupts, DMA, cache memory, and semiconductor memory systems.  CO5: Contrast the operation of processing units, hardwired control systems, and pipelining techniques to assess computer performance and efficiency.  CO6: Identify computer architecture components, memory organization, and system performance through experimentation and case studies.</a:t>
            </a:r>
          </a:p>
        </p:txBody>
      </p:sp>
      <p:sp>
        <p:nvSpPr>
          <p:cNvPr id="12" name="Rectangle 11"/>
          <p:cNvSpPr/>
          <p:nvPr/>
        </p:nvSpPr>
        <p:spPr>
          <a:xfrm>
            <a:off x="6720840" y="4800600"/>
            <a:ext cx="4983480" cy="15087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85431" y="4882896"/>
            <a:ext cx="4654296" cy="13441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HOW TO USE THESE SLIDES</a:t>
            </a:r>
          </a:p>
          <a:p>
            <a:pPr>
              <a:lnSpc>
                <a:spcPct val="105000"/>
              </a:lnSpc>
              <a:spcBef>
                <a:spcPts val="0"/>
              </a:spcBef>
              <a:spcAft>
                <a:spcPts val="320"/>
              </a:spcAft>
            </a:pPr>
            <a:r>
              <a:rPr sz="1250" b="1" i="0">
                <a:solidFill>
                  <a:srgbClr val="16181D"/>
                </a:solidFill>
                <a:latin typeface="Calibri"/>
              </a:rPr>
              <a:t>Every panel is a file read: </a:t>
            </a:r>
            <a:r>
              <a:rPr sz="1150" b="0" i="0">
                <a:solidFill>
                  <a:srgbClr val="16181D"/>
                </a:solidFill>
                <a:latin typeface="Consolas"/>
              </a:rPr>
              <a:t>src/&lt;stem&gt;.v|sh</a:t>
            </a:r>
            <a:r>
              <a:rPr sz="1250" b="0" i="0">
                <a:solidFill>
                  <a:srgbClr val="16181D"/>
                </a:solidFill>
                <a:latin typeface="Calibri"/>
              </a:rPr>
              <a:t> code, </a:t>
            </a:r>
            <a:r>
              <a:rPr sz="1150" b="0" i="0">
                <a:solidFill>
                  <a:srgbClr val="16181D"/>
                </a:solidFill>
                <a:latin typeface="Consolas"/>
              </a:rPr>
              <a:t>out/&lt;stem&gt;.txt</a:t>
            </a:r>
            <a:r>
              <a:rPr sz="1250" b="0" i="0">
                <a:solidFill>
                  <a:srgbClr val="16181D"/>
                </a:solidFill>
                <a:latin typeface="Calibri"/>
              </a:rPr>
              <a:t> captured sessions — identical to the book's.</a:t>
            </a:r>
          </a:p>
          <a:p>
            <a:pPr>
              <a:lnSpc>
                <a:spcPct val="105000"/>
              </a:lnSpc>
              <a:spcBef>
                <a:spcPts val="0"/>
              </a:spcBef>
              <a:spcAft>
                <a:spcPts val="320"/>
              </a:spcAft>
            </a:pPr>
            <a:r>
              <a:rPr sz="1250" b="0" i="0">
                <a:solidFill>
                  <a:srgbClr val="16181D"/>
                </a:solidFill>
                <a:latin typeface="Calibri"/>
              </a:rPr>
              <a:t>Numbers quoted on slides were verified against the captures at build time (self-check pass).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Assessment &amp; the Activity Report — Where Marks Live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a:t>
            </a:r>
          </a:p>
        </p:txBody>
      </p:sp>
      <p:sp>
        <p:nvSpPr>
          <p:cNvPr id="8" name="TextBox 7"/>
          <p:cNvSpPr txBox="1"/>
          <p:nvPr/>
        </p:nvSpPr>
        <p:spPr>
          <a:xfrm>
            <a:off x="502920" y="1572768"/>
            <a:ext cx="5760720" cy="4663440"/>
          </a:xfrm>
          <a:prstGeom prst="rect">
            <a:avLst/>
          </a:prstGeom>
          <a:noFill/>
        </p:spPr>
        <p:txBody>
          <a:bodyPr wrap="square" anchor="t" lIns="0" rIns="0" tIns="0" bIns="0">
            <a:spAutoFit/>
          </a:bodyPr>
          <a:lstStyle/>
          <a:p>
            <a:pPr>
              <a:spcBef>
                <a:spcPts val="0"/>
              </a:spcBef>
              <a:spcAft>
                <a:spcPts val="700"/>
              </a:spcAft>
            </a:pPr>
            <a:r>
              <a:rPr sz="1700" b="1" i="0">
                <a:solidFill>
                  <a:srgbClr val="0F172A"/>
                </a:solidFill>
                <a:latin typeface="Calibri"/>
              </a:rPr>
              <a:t>CIE — 50 marks</a:t>
            </a:r>
          </a:p>
          <a:p>
            <a:pPr>
              <a:spcBef>
                <a:spcPts val="0"/>
              </a:spcBef>
              <a:spcAft>
                <a:spcPts val="600"/>
              </a:spcAft>
            </a:pPr>
            <a:r>
              <a:rPr sz="1450" b="1" i="0">
                <a:solidFill>
                  <a:srgbClr val="16181D"/>
                </a:solidFill>
                <a:latin typeface="Calibri"/>
              </a:rPr>
              <a:t>IA tests — 25   </a:t>
            </a:r>
            <a:r>
              <a:rPr sz="1350" b="0" i="0">
                <a:solidFill>
                  <a:srgbClr val="16181D"/>
                </a:solidFill>
                <a:latin typeface="Calibri"/>
              </a:rPr>
              <a:t>two tests; first after Modules 1–2, second after 3–5; total 25.</a:t>
            </a:r>
          </a:p>
          <a:p>
            <a:pPr>
              <a:spcBef>
                <a:spcPts val="0"/>
              </a:spcBef>
              <a:spcAft>
                <a:spcPts val="600"/>
              </a:spcAft>
            </a:pPr>
            <a:r>
              <a:rPr sz="1450" b="1" i="0">
                <a:solidFill>
                  <a:srgbClr val="16181D"/>
                </a:solidFill>
                <a:latin typeface="Calibri"/>
              </a:rPr>
              <a:t>CCA — 25   </a:t>
            </a:r>
            <a:r>
              <a:rPr sz="1350" b="0" i="0">
                <a:solidFill>
                  <a:srgbClr val="16181D"/>
                </a:solidFill>
                <a:latin typeface="Calibri"/>
              </a:rPr>
              <a:t>the LEARNING ACTIVITY: Verilog programs for the 12 problem statements, scored on the five rubric rows (5 criteria × scale 1–5).</a:t>
            </a:r>
          </a:p>
          <a:p>
            <a:pPr>
              <a:spcBef>
                <a:spcPts val="0"/>
              </a:spcBef>
              <a:spcAft>
                <a:spcPts val="600"/>
              </a:spcAft>
            </a:pPr>
            <a:r>
              <a:rPr sz="1450" b="1" i="0">
                <a:solidFill>
                  <a:srgbClr val="16181D"/>
                </a:solidFill>
                <a:latin typeface="Calibri"/>
              </a:rPr>
              <a:t>Term Work — 30 h   </a:t>
            </a:r>
            <a:r>
              <a:rPr sz="1350" b="0" i="0">
                <a:solidFill>
                  <a:srgbClr val="16181D"/>
                </a:solidFill>
                <a:latin typeface="Calibri"/>
              </a:rPr>
              <a:t>the activity report itself, submitted to the course instructor with relevant data.</a:t>
            </a:r>
          </a:p>
          <a:p>
            <a:pPr>
              <a:spcBef>
                <a:spcPts val="700"/>
              </a:spcBef>
              <a:spcAft>
                <a:spcPts val="500"/>
              </a:spcAft>
            </a:pPr>
            <a:r>
              <a:rPr sz="1700" b="1" i="0">
                <a:solidFill>
                  <a:srgbClr val="0F172A"/>
                </a:solidFill>
                <a:latin typeface="Calibri"/>
              </a:rPr>
              <a:t>SEE — 50 marks</a:t>
            </a:r>
          </a:p>
          <a:p>
            <a:pPr>
              <a:spcBef>
                <a:spcPts val="0"/>
              </a:spcBef>
              <a:spcAft>
                <a:spcPts val="700"/>
              </a:spcAft>
            </a:pPr>
            <a:r>
              <a:rPr sz="1450" b="0" i="0">
                <a:solidFill>
                  <a:srgbClr val="16181D"/>
                </a:solidFill>
                <a:latin typeface="Calibri"/>
              </a:rPr>
              <a:t>3-hour theory paper, all five modules, outcome-shaped questions.</a:t>
            </a:r>
          </a:p>
          <a:p>
            <a:pPr>
              <a:spcBef>
                <a:spcPts val="0"/>
              </a:spcBef>
              <a:spcAft>
                <a:spcPts val="500"/>
              </a:spcAft>
            </a:pPr>
            <a:r>
              <a:rPr sz="1350" b="1" i="0">
                <a:solidFill>
                  <a:srgbClr val="16181D"/>
                </a:solidFill>
                <a:latin typeface="Calibri"/>
              </a:rPr>
              <a:t>Why the record must carry captures: </a:t>
            </a:r>
            <a:r>
              <a:rPr sz="1250" b="0" i="0">
                <a:solidFill>
                  <a:srgbClr val="16181D"/>
                </a:solidFill>
                <a:latin typeface="Calibri"/>
              </a:rPr>
              <a:t>rubric row 3 is literally “Simulation, Testing and Verification” — “successfully simulates the design, verifies all test cases” is the Superior(5) descriptor. A report with typed-out results cannot score above “Needs Improvement”.</a:t>
            </a:r>
          </a:p>
        </p:txBody>
      </p:sp>
      <p:sp>
        <p:nvSpPr>
          <p:cNvPr id="9" name="Rectangle 8"/>
          <p:cNvSpPr/>
          <p:nvPr/>
        </p:nvSpPr>
        <p:spPr>
          <a:xfrm>
            <a:off x="6492240" y="1572768"/>
            <a:ext cx="5212080" cy="269748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1572768"/>
            <a:ext cx="54864" cy="26974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93407" y="1664208"/>
            <a:ext cx="4828032" cy="251460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ACTIVITY NOTE (VERBATIM)</a:t>
            </a:r>
          </a:p>
          <a:p>
            <a:pPr>
              <a:lnSpc>
                <a:spcPct val="108000"/>
              </a:lnSpc>
              <a:spcBef>
                <a:spcPts val="0"/>
              </a:spcBef>
              <a:spcAft>
                <a:spcPts val="0"/>
              </a:spcAft>
            </a:pPr>
            <a:r>
              <a:rPr sz="1050" b="0" i="0">
                <a:solidFill>
                  <a:srgbClr val="16181D"/>
                </a:solidFill>
                <a:latin typeface="Calibri"/>
              </a:rPr>
              <a:t>NOTE: Make use of simulation packages like Xilinx Simulator Interface, Multisim, Modelsim, PSpice or any other relevant. At the end of the course, the students need to submit the report on conduction of the activity with relevant data to the course instructor. Evaluation is for 25 marks.</a:t>
            </a:r>
          </a:p>
        </p:txBody>
      </p:sp>
      <p:sp>
        <p:nvSpPr>
          <p:cNvPr id="12" name="Rectangle 11"/>
          <p:cNvSpPr/>
          <p:nvPr/>
        </p:nvSpPr>
        <p:spPr>
          <a:xfrm>
            <a:off x="6492240" y="4434840"/>
            <a:ext cx="5212080" cy="182880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1" y="4517136"/>
            <a:ext cx="4882896" cy="166420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GATES (COURSE PAGE, VERBATIM FIGURES)</a:t>
            </a:r>
          </a:p>
          <a:p>
            <a:pPr>
              <a:lnSpc>
                <a:spcPct val="105000"/>
              </a:lnSpc>
              <a:spcBef>
                <a:spcPts val="0"/>
              </a:spcBef>
              <a:spcAft>
                <a:spcPts val="320"/>
              </a:spcAft>
            </a:pPr>
            <a:r>
              <a:rPr sz="1200" b="0" i="0">
                <a:solidFill>
                  <a:srgbClr val="16181D"/>
                </a:solidFill>
                <a:latin typeface="Calibri"/>
              </a:rPr>
              <a:t>CIE ≥ 40% of 50 = 20 to be eligible for SEE · SEE pass floor 35% of 50 = 18 · combined CIE + SEE ≥ 40/100 else grade F.</a:t>
            </a:r>
          </a:p>
          <a:p>
            <a:pPr>
              <a:lnSpc>
                <a:spcPct val="105000"/>
              </a:lnSpc>
              <a:spcBef>
                <a:spcPts val="0"/>
              </a:spcBef>
              <a:spcAft>
                <a:spcPts val="320"/>
              </a:spcAft>
            </a:pPr>
            <a:r>
              <a:rPr sz="1150" b="0" i="0">
                <a:solidFill>
                  <a:srgbClr val="16181D"/>
                </a:solidFill>
                <a:latin typeface="Calibri"/>
              </a:rPr>
              <a:t>SL portfolio: Springboard DLD 4 h · Computer Organization 12 h · VLSI/Verilog 10 h · IIIT-H virtual lab or SEEL 8 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400"/>
              </a:spcAft>
            </a:pPr>
            <a:r>
              <a:rPr sz="1300" b="1" i="0">
                <a:solidFill>
                  <a:srgbClr val="4B5563"/>
                </a:solidFill>
                <a:latin typeface="Calibri"/>
              </a:rPr>
              <a:t>P A R T</a:t>
            </a:r>
          </a:p>
        </p:txBody>
      </p:sp>
      <p:sp>
        <p:nvSpPr>
          <p:cNvPr id="3" name="TextBox 2"/>
          <p:cNvSpPr txBox="1"/>
          <p:nvPr/>
        </p:nvSpPr>
        <p:spPr>
          <a:xfrm>
            <a:off x="914400" y="658368"/>
            <a:ext cx="10362895" cy="2286000"/>
          </a:xfrm>
          <a:prstGeom prst="rect">
            <a:avLst/>
          </a:prstGeom>
          <a:noFill/>
        </p:spPr>
        <p:txBody>
          <a:bodyPr wrap="square" anchor="t" lIns="0" rIns="0" tIns="0" bIns="0">
            <a:spAutoFit/>
          </a:bodyPr>
          <a:lstStyle/>
          <a:p>
            <a:pPr algn="ctr">
              <a:spcBef>
                <a:spcPts val="0"/>
              </a:spcBef>
              <a:spcAft>
                <a:spcPts val="400"/>
              </a:spcAft>
            </a:pPr>
            <a:r>
              <a:rPr sz="13200" b="1" i="0">
                <a:solidFill>
                  <a:srgbClr val="B3261E"/>
                </a:solidFill>
                <a:latin typeface="Calibri"/>
              </a:rPr>
              <a:t>A</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400"/>
              </a:spcAft>
            </a:pPr>
            <a:r>
              <a:rPr sz="3000" b="1" i="0">
                <a:solidFill>
                  <a:srgbClr val="0F172A"/>
                </a:solidFill>
                <a:latin typeface="Calibri"/>
              </a:rPr>
              <a:t>Theory — Modules 1 to 5</a:t>
            </a:r>
          </a:p>
        </p:txBody>
      </p:sp>
      <p:sp>
        <p:nvSpPr>
          <p:cNvPr id="6" name="TextBox 5"/>
          <p:cNvSpPr txBox="1"/>
          <p:nvPr/>
        </p:nvSpPr>
        <p:spPr>
          <a:xfrm>
            <a:off x="1737360" y="4114800"/>
            <a:ext cx="8716975" cy="960120"/>
          </a:xfrm>
          <a:prstGeom prst="rect">
            <a:avLst/>
          </a:prstGeom>
          <a:noFill/>
        </p:spPr>
        <p:txBody>
          <a:bodyPr wrap="square" anchor="t" lIns="0" rIns="0" tIns="0" bIns="0">
            <a:spAutoFit/>
          </a:bodyPr>
          <a:lstStyle/>
          <a:p>
            <a:pPr algn="ctr">
              <a:spcBef>
                <a:spcPts val="0"/>
              </a:spcBef>
              <a:spcAft>
                <a:spcPts val="400"/>
              </a:spcAft>
            </a:pPr>
            <a:r>
              <a:rPr sz="1400" b="0" i="0">
                <a:solidFill>
                  <a:srgbClr val="4B5563"/>
                </a:solidFill>
                <a:latin typeface="Calibri"/>
              </a:rPr>
              <a:t>Every syllabus line taught through programs simulated for the book — each module: the topics with the verbatim text, two rule slides quoting real output, one worked demo's captured session, and checkpoint questions in IA shape.</a:t>
            </a:r>
          </a:p>
        </p:txBody>
      </p:sp>
      <p:sp>
        <p:nvSpPr>
          <p:cNvPr id="7" name="Rectangle 6"/>
          <p:cNvSpPr/>
          <p:nvPr/>
        </p:nvSpPr>
        <p:spPr>
          <a:xfrm>
            <a:off x="1706727" y="4676775"/>
            <a:ext cx="8778240" cy="1742313"/>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44471" y="4795647"/>
            <a:ext cx="8449056" cy="1522857"/>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IN THIS PART</a:t>
            </a:r>
          </a:p>
          <a:p>
            <a:pPr>
              <a:spcBef>
                <a:spcPts val="0"/>
              </a:spcBef>
              <a:spcAft>
                <a:spcPts val="160"/>
              </a:spcAft>
            </a:pPr>
            <a:r>
              <a:rPr sz="1250" b="1" i="0">
                <a:solidFill>
                  <a:srgbClr val="B3261E"/>
                </a:solidFill>
                <a:latin typeface="Calibri"/>
              </a:rPr>
              <a:t>•  </a:t>
            </a:r>
            <a:r>
              <a:rPr sz="1250" b="0" i="0">
                <a:solidFill>
                  <a:srgbClr val="16181D"/>
                </a:solidFill>
                <a:latin typeface="Calibri"/>
              </a:rPr>
              <a:t>Module 1 — Boolean Algebra, Logic Gates and…</a:t>
            </a:r>
          </a:p>
          <a:p>
            <a:pPr>
              <a:spcBef>
                <a:spcPts val="0"/>
              </a:spcBef>
              <a:spcAft>
                <a:spcPts val="160"/>
              </a:spcAft>
            </a:pPr>
            <a:r>
              <a:rPr sz="1250" b="1" i="0">
                <a:solidFill>
                  <a:srgbClr val="B3261E"/>
                </a:solidFill>
                <a:latin typeface="Calibri"/>
              </a:rPr>
              <a:t>•  </a:t>
            </a:r>
            <a:r>
              <a:rPr sz="1250" b="0" i="0">
                <a:solidFill>
                  <a:srgbClr val="16181D"/>
                </a:solidFill>
                <a:latin typeface="Calibri"/>
              </a:rPr>
              <a:t>Module 2 — Combinational and Synchronous Sequential…</a:t>
            </a:r>
          </a:p>
          <a:p>
            <a:pPr>
              <a:spcBef>
                <a:spcPts val="0"/>
              </a:spcBef>
              <a:spcAft>
                <a:spcPts val="160"/>
              </a:spcAft>
            </a:pPr>
            <a:r>
              <a:rPr sz="1250" b="1" i="0">
                <a:solidFill>
                  <a:srgbClr val="B3261E"/>
                </a:solidFill>
                <a:latin typeface="Calibri"/>
              </a:rPr>
              <a:t>•  </a:t>
            </a:r>
            <a:r>
              <a:rPr sz="1250" b="0" i="0">
                <a:solidFill>
                  <a:srgbClr val="16181D"/>
                </a:solidFill>
                <a:latin typeface="Calibri"/>
              </a:rPr>
              <a:t>Module 3 — Basic Structure of Computers and Machine…</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400"/>
              </a:spcAft>
            </a:pPr>
            <a:r>
              <a:rPr sz="1000" b="1" i="0">
                <a:solidFill>
                  <a:srgbClr val="4B5563"/>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Module 1 — Boolean Algebra, Logic Gates and Gate-Level Minimization</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CO1, CO2</a:t>
            </a:r>
            <a:r>
              <a:rPr sz="1300" b="0" i="0">
                <a:solidFill>
                  <a:srgbClr val="4B5563"/>
                </a:solidFill>
                <a:latin typeface="Calibri"/>
              </a:rPr>
              <a:t>    ·    12 hours</a:t>
            </a:r>
            <a:r>
              <a:rPr sz="1250" b="0" i="0">
                <a:solidFill>
                  <a:srgbClr val="4B5563"/>
                </a:solidFill>
                <a:latin typeface="Calibri"/>
              </a:rPr>
              <a:t>    ·    Textbook-1: Ch. 2 (§ 2.4-2.9)</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Boolean Algebra and Logic Gates: Basic Theorems And Properties of Boolean Algebra, Boolean Functions, Digital Logic Gates, Integrated Circuits.</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Gate-Level Minimization: Introduction, The Map Method, Four-Variable K-Map, Product of sums simplification, Don't-Care Conditions, NAND and NOR Implementation.</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Reading: Textbook-1: Chapter- 2 (2.4, 2.5, 2.8, 2.9), Chapter-3 (3.1, 3.2, 3.3, 3.4, 3.5, 3.6)</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MODULE-1 SYLLABUS (VERBATIM)</a:t>
            </a:r>
          </a:p>
          <a:p>
            <a:pPr>
              <a:lnSpc>
                <a:spcPct val="108000"/>
              </a:lnSpc>
              <a:spcBef>
                <a:spcPts val="0"/>
              </a:spcBef>
              <a:spcAft>
                <a:spcPts val="0"/>
              </a:spcAft>
            </a:pPr>
            <a:r>
              <a:rPr sz="1050" b="0" i="0">
                <a:solidFill>
                  <a:srgbClr val="16181D"/>
                </a:solidFill>
                <a:latin typeface="Calibri"/>
              </a:rPr>
              <a:t>Boolean Algebra and Logic Gates: Basic Theorems And Properties of Boolean Algebra, Boolean Functions, Digital Logic Gates, Integrated Circuits. Gate-Level Minimization: Introduction, The Map Method, Four-Variable K-Map, Product of sums simplification, Don't-Care Conditions, NAND and NOR Implementation.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Gate-level minimisation, proved in hardware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problem is fixed by the syllabus activity: </a:t>
            </a:r>
            <a:r>
              <a:rPr sz="1200" b="0" i="0">
                <a:solidFill>
                  <a:srgbClr val="B3261E"/>
                </a:solidFill>
                <a:latin typeface="Consolas"/>
              </a:rPr>
              <a:t>F(A,B,C,D) = Sm(0,1,2,5,6,7,8,9,10,14)</a:t>
            </a:r>
            <a:r>
              <a:rPr sz="1400" b="0" i="0">
                <a:solidFill>
                  <a:srgbClr val="16181D"/>
                </a:solidFill>
                <a:latin typeface="Calibri"/>
              </a:rPr>
              <a:t> — K-map answer below, not folklore.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map result reads back verbatim from the capture header: </a:t>
            </a:r>
            <a:r>
              <a:rPr sz="1150" b="0" i="0">
                <a:solidFill>
                  <a:srgbClr val="B3261E"/>
                </a:solidFill>
                <a:latin typeface="Consolas"/>
              </a:rPr>
              <a:t>simplified SOP: F = B'D' + B'C' + CD' + A'BD</a:t>
            </a:r>
            <a:r>
              <a:rPr sz="1400" b="0" i="0">
                <a:solidFill>
                  <a:srgbClr val="16181D"/>
                </a:solidFill>
                <a:latin typeface="Calibri"/>
              </a:rPr>
              <a:t> — two edge quads, one C·D' quad, one pair.</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Both forms coexist in one file; the testbench races them over all 16 rows: </a:t>
            </a:r>
            <a:r>
              <a:rPr sz="1100" b="0" i="0">
                <a:solidFill>
                  <a:srgbClr val="B3261E"/>
                </a:solidFill>
                <a:latin typeface="Consolas"/>
              </a:rPr>
              <a:t>LA-1 RESULT: exhaustive check 16/16 rows match -- PASS</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Synthesis makes “simpler” physical: Yosys stat counts </a:t>
            </a:r>
            <a:r>
              <a:rPr sz="1300" b="0" i="0">
                <a:solidFill>
                  <a:srgbClr val="B3261E"/>
                </a:solidFill>
                <a:latin typeface="Consolas"/>
              </a:rPr>
              <a:t>34 cells</a:t>
            </a:r>
            <a:r>
              <a:rPr sz="1400" b="0" i="0">
                <a:solidFill>
                  <a:srgbClr val="16181D"/>
                </a:solidFill>
                <a:latin typeface="Calibri"/>
              </a:rPr>
              <a:t> for the canonical SOP against </a:t>
            </a:r>
            <a:r>
              <a:rPr sz="1300" b="0" i="0">
                <a:solidFill>
                  <a:srgbClr val="B3261E"/>
                </a:solidFill>
                <a:latin typeface="Consolas"/>
              </a:rPr>
              <a:t>12 cells</a:t>
            </a:r>
            <a:r>
              <a:rPr sz="1400" b="0" i="0">
                <a:solidFill>
                  <a:srgbClr val="16181D"/>
                </a:solidFill>
                <a:latin typeface="Calibri"/>
              </a:rPr>
              <a:t> for the map answer — same truth table.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Exam habit to copy: circle powers of two, largest first, reuse allowed, don't-cares only when they enlarge a group.</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src/la01_kmap_min.v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`timescale 1ns/1ps</a:t>
            </a:r>
          </a:p>
          <a:p>
            <a:pPr>
              <a:lnSpc>
                <a:spcPct val="100000"/>
              </a:lnSpc>
              <a:spcBef>
                <a:spcPts val="0"/>
              </a:spcBef>
              <a:spcAft>
                <a:spcPts val="60"/>
              </a:spcAft>
            </a:pPr>
            <a:r>
              <a:rPr sz="680" b="0" i="0">
                <a:solidFill>
                  <a:srgbClr val="E5E7EB"/>
                </a:solidFill>
                <a:latin typeface="Consolas"/>
              </a:rPr>
              <a:t>// LA-1: Simplify a given 4-variable Boolean expression using minimization</a:t>
            </a:r>
          </a:p>
          <a:p>
            <a:pPr>
              <a:lnSpc>
                <a:spcPct val="100000"/>
              </a:lnSpc>
              <a:spcBef>
                <a:spcPts val="0"/>
              </a:spcBef>
              <a:spcAft>
                <a:spcPts val="60"/>
              </a:spcAft>
            </a:pPr>
            <a:r>
              <a:rPr sz="680" b="0" i="0">
                <a:solidFill>
                  <a:srgbClr val="E5E7EB"/>
                </a:solidFill>
                <a:latin typeface="Consolas"/>
              </a:rPr>
              <a:t>// techniques (K-map / prime implicants) and implement the simplified function</a:t>
            </a:r>
          </a:p>
          <a:p>
            <a:pPr>
              <a:lnSpc>
                <a:spcPct val="100000"/>
              </a:lnSpc>
              <a:spcBef>
                <a:spcPts val="0"/>
              </a:spcBef>
              <a:spcAft>
                <a:spcPts val="60"/>
              </a:spcAft>
            </a:pPr>
            <a:r>
              <a:rPr sz="680" b="0" i="0">
                <a:solidFill>
                  <a:srgbClr val="E5E7EB"/>
                </a:solidFill>
                <a:latin typeface="Consolas"/>
              </a:rPr>
              <a:t>// using basic logic gates through simulation.</a:t>
            </a:r>
          </a:p>
          <a:p>
            <a:pPr>
              <a:lnSpc>
                <a:spcPct val="100000"/>
              </a:lnSpc>
              <a:spcBef>
                <a:spcPts val="0"/>
              </a:spcBef>
              <a:spcAft>
                <a:spcPts val="60"/>
              </a:spcAft>
            </a:pPr>
            <a:r>
              <a:rPr sz="680" b="0" i="0">
                <a:solidFill>
                  <a:srgbClr val="E5E7EB"/>
                </a:solidFill>
                <a:latin typeface="Consolas"/>
              </a:rPr>
              <a:t>//</a:t>
            </a:r>
          </a:p>
          <a:p>
            <a:pPr>
              <a:lnSpc>
                <a:spcPct val="100000"/>
              </a:lnSpc>
              <a:spcBef>
                <a:spcPts val="0"/>
              </a:spcBef>
              <a:spcAft>
                <a:spcPts val="60"/>
              </a:spcAft>
            </a:pPr>
            <a:r>
              <a:rPr sz="680" b="0" i="0">
                <a:solidFill>
                  <a:srgbClr val="E5E7EB"/>
                </a:solidFill>
                <a:latin typeface="Consolas"/>
              </a:rPr>
              <a:t>// Given      : F(A,B,C,D) = Sum of minterms m(0,1,2,5,6,7,8,9,10,14)</a:t>
            </a:r>
          </a:p>
          <a:p>
            <a:pPr>
              <a:lnSpc>
                <a:spcPct val="100000"/>
              </a:lnSpc>
              <a:spcBef>
                <a:spcPts val="0"/>
              </a:spcBef>
              <a:spcAft>
                <a:spcPts val="60"/>
              </a:spcAft>
            </a:pPr>
            <a:r>
              <a:rPr sz="680" b="0" i="0">
                <a:solidFill>
                  <a:srgbClr val="E5E7EB"/>
                </a:solidFill>
                <a:latin typeface="Consolas"/>
              </a:rPr>
              <a:t>// K-map result: F = B'D' + B'C' + CD' + A'BD      (four quads/pair, no redundancy)</a:t>
            </a:r>
          </a:p>
          <a:p>
            <a:pPr>
              <a:lnSpc>
                <a:spcPct val="100000"/>
              </a:lnSpc>
              <a:spcBef>
                <a:spcPts val="0"/>
              </a:spcBef>
              <a:spcAft>
                <a:spcPts val="60"/>
              </a:spcAft>
            </a:pPr>
            <a:r>
              <a:rPr sz="680" b="0" i="0">
                <a:solidFill>
                  <a:srgbClr val="E5E7EB"/>
                </a:solidFill>
                <a:latin typeface="Consolas"/>
              </a:rPr>
              <a:t>//</a:t>
            </a:r>
          </a:p>
          <a:p>
            <a:pPr>
              <a:lnSpc>
                <a:spcPct val="100000"/>
              </a:lnSpc>
              <a:spcBef>
                <a:spcPts val="0"/>
              </a:spcBef>
              <a:spcAft>
                <a:spcPts val="60"/>
              </a:spcAft>
            </a:pPr>
            <a:r>
              <a:rPr sz="680" b="0" i="0">
                <a:solidFill>
                  <a:srgbClr val="E5E7EB"/>
                </a:solidFill>
                <a:latin typeface="Consolas"/>
              </a:rPr>
              <a:t>// The testbench implements BOTH the canonical SOP (ten minterms) and the</a:t>
            </a:r>
          </a:p>
          <a:p>
            <a:pPr>
              <a:lnSpc>
                <a:spcPct val="100000"/>
              </a:lnSpc>
              <a:spcBef>
                <a:spcPts val="0"/>
              </a:spcBef>
              <a:spcAft>
                <a:spcPts val="60"/>
              </a:spcAft>
            </a:pPr>
            <a:r>
              <a:rPr sz="680" b="0" i="0">
                <a:solidFill>
                  <a:srgbClr val="E5E7EB"/>
                </a:solidFill>
                <a:latin typeface="Consolas"/>
              </a:rPr>
              <a:t>// simplified gate network, then proves they agree for all 16 input rows.</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module f_orig (input A, B, C, D, output F);</a:t>
            </a:r>
          </a:p>
          <a:p>
            <a:pPr>
              <a:lnSpc>
                <a:spcPct val="100000"/>
              </a:lnSpc>
              <a:spcBef>
                <a:spcPts val="0"/>
              </a:spcBef>
              <a:spcAft>
                <a:spcPts val="60"/>
              </a:spcAft>
            </a:pPr>
            <a:r>
              <a:rPr sz="680" b="0" i="0">
                <a:solidFill>
                  <a:srgbClr val="E5E7EB"/>
                </a:solidFill>
                <a:latin typeface="Consolas"/>
              </a:rPr>
              <a:t>  wire m0  = ~A &amp; ~B &amp; ~C &amp; ~D;</a:t>
            </a:r>
          </a:p>
          <a:p>
            <a:pPr>
              <a:lnSpc>
                <a:spcPct val="100000"/>
              </a:lnSpc>
              <a:spcBef>
                <a:spcPts val="0"/>
              </a:spcBef>
              <a:spcAft>
                <a:spcPts val="60"/>
              </a:spcAft>
            </a:pPr>
            <a:r>
              <a:rPr sz="680" b="0" i="0">
                <a:solidFill>
                  <a:srgbClr val="E5E7EB"/>
                </a:solidFill>
                <a:latin typeface="Consolas"/>
              </a:rPr>
              <a:t>  wire m1  = ~A &amp; ~B &amp; ~C &amp;  D;</a:t>
            </a:r>
          </a:p>
          <a:p>
            <a:pPr>
              <a:lnSpc>
                <a:spcPct val="100000"/>
              </a:lnSpc>
              <a:spcBef>
                <a:spcPts val="0"/>
              </a:spcBef>
              <a:spcAft>
                <a:spcPts val="60"/>
              </a:spcAft>
            </a:pPr>
            <a:r>
              <a:rPr sz="680" b="0" i="0">
                <a:solidFill>
                  <a:srgbClr val="E5E7EB"/>
                </a:solidFill>
                <a:latin typeface="Consolas"/>
              </a:rPr>
              <a:t>  wire m2  = ~A &amp; ~B &amp;  C &amp; ~D;</a:t>
            </a:r>
          </a:p>
          <a:p>
            <a:pPr>
              <a:lnSpc>
                <a:spcPct val="100000"/>
              </a:lnSpc>
              <a:spcBef>
                <a:spcPts val="0"/>
              </a:spcBef>
              <a:spcAft>
                <a:spcPts val="60"/>
              </a:spcAft>
            </a:pPr>
            <a:r>
              <a:rPr sz="680" b="0" i="0">
                <a:solidFill>
                  <a:srgbClr val="E5E7EB"/>
                </a:solidFill>
                <a:latin typeface="Consolas"/>
              </a:rPr>
              <a:t>  wire m5  = ~A &amp;  B &amp; ~C &amp;  D;</a:t>
            </a:r>
          </a:p>
          <a:p>
            <a:pPr>
              <a:lnSpc>
                <a:spcPct val="100000"/>
              </a:lnSpc>
              <a:spcBef>
                <a:spcPts val="0"/>
              </a:spcBef>
              <a:spcAft>
                <a:spcPts val="60"/>
              </a:spcAft>
            </a:pPr>
            <a:r>
              <a:rPr sz="680" b="0" i="0">
                <a:solidFill>
                  <a:srgbClr val="E5E7EB"/>
                </a:solidFill>
                <a:latin typeface="Consolas"/>
              </a:rPr>
              <a:t>  wire m6  = ~A &amp;  B &amp;  C &amp; ~D;</a:t>
            </a:r>
          </a:p>
          <a:p>
            <a:pPr>
              <a:lnSpc>
                <a:spcPct val="100000"/>
              </a:lnSpc>
              <a:spcBef>
                <a:spcPts val="0"/>
              </a:spcBef>
              <a:spcAft>
                <a:spcPts val="60"/>
              </a:spcAft>
            </a:pPr>
            <a:r>
              <a:rPr sz="680" b="0" i="0">
                <a:solidFill>
                  <a:srgbClr val="E5E7EB"/>
                </a:solidFill>
                <a:latin typeface="Consolas"/>
              </a:rPr>
              <a:t>  wire m7  = ~A &amp;  B &amp;  C &amp;  D;</a:t>
            </a:r>
          </a:p>
          <a:p>
            <a:pPr>
              <a:lnSpc>
                <a:spcPct val="100000"/>
              </a:lnSpc>
              <a:spcBef>
                <a:spcPts val="0"/>
              </a:spcBef>
              <a:spcAft>
                <a:spcPts val="60"/>
              </a:spcAft>
            </a:pPr>
            <a:r>
              <a:rPr sz="680" b="0" i="0">
                <a:solidFill>
                  <a:srgbClr val="E5E7EB"/>
                </a:solidFill>
                <a:latin typeface="Consolas"/>
              </a:rPr>
              <a:t>  wire m8  =  A &amp; ~B &amp; ~C &amp; ~D;</a:t>
            </a:r>
          </a:p>
          <a:p>
            <a:pPr>
              <a:lnSpc>
                <a:spcPct val="100000"/>
              </a:lnSpc>
              <a:spcBef>
                <a:spcPts val="0"/>
              </a:spcBef>
              <a:spcAft>
                <a:spcPts val="60"/>
              </a:spcAft>
            </a:pPr>
            <a:r>
              <a:rPr sz="680" b="0" i="0">
                <a:solidFill>
                  <a:srgbClr val="E5E7EB"/>
                </a:solidFill>
                <a:latin typeface="Consolas"/>
              </a:rPr>
              <a:t>  wire m9  =  A &amp; ~B &amp; ~C &amp;  D;</a:t>
            </a:r>
          </a:p>
          <a:p>
            <a:pPr>
              <a:lnSpc>
                <a:spcPct val="100000"/>
              </a:lnSpc>
              <a:spcBef>
                <a:spcPts val="0"/>
              </a:spcBef>
              <a:spcAft>
                <a:spcPts val="60"/>
              </a:spcAft>
            </a:pPr>
            <a:r>
              <a:rPr sz="680" b="0" i="0">
                <a:solidFill>
                  <a:srgbClr val="E5E7EB"/>
                </a:solidFill>
                <a:latin typeface="Consolas"/>
              </a:rPr>
              <a:t>  wire m10 =  A &amp; ~B &amp;  C &amp; ~D;</a:t>
            </a:r>
          </a:p>
          <a:p>
            <a:pPr>
              <a:lnSpc>
                <a:spcPct val="100000"/>
              </a:lnSpc>
              <a:spcBef>
                <a:spcPts val="0"/>
              </a:spcBef>
              <a:spcAft>
                <a:spcPts val="60"/>
              </a:spcAft>
            </a:pPr>
            <a:r>
              <a:rPr sz="680" b="0" i="0">
                <a:solidFill>
                  <a:srgbClr val="E5E7EB"/>
                </a:solidFill>
                <a:latin typeface="Consolas"/>
              </a:rPr>
              <a:t>  wire m14 =  A &amp;  B &amp;  C &amp; ~D;</a:t>
            </a:r>
          </a:p>
          <a:p>
            <a:pPr>
              <a:lnSpc>
                <a:spcPct val="100000"/>
              </a:lnSpc>
              <a:spcBef>
                <a:spcPts val="0"/>
              </a:spcBef>
              <a:spcAft>
                <a:spcPts val="60"/>
              </a:spcAft>
            </a:pPr>
            <a:r>
              <a:rPr sz="680" b="0" i="0">
                <a:solidFill>
                  <a:srgbClr val="E5E7EB"/>
                </a:solidFill>
                <a:latin typeface="Consolas"/>
              </a:rPr>
              <a:t>  assign F = m0|m1|m2|m5|m6|m7|m8|m9|m10|m14;</a:t>
            </a:r>
          </a:p>
          <a:p>
            <a:pPr>
              <a:lnSpc>
                <a:spcPct val="100000"/>
              </a:lnSpc>
              <a:spcBef>
                <a:spcPts val="0"/>
              </a:spcBef>
              <a:spcAft>
                <a:spcPts val="60"/>
              </a:spcAft>
            </a:pPr>
            <a:r>
              <a:rPr sz="680" b="0" i="0">
                <a:solidFill>
                  <a:srgbClr val="E5E7EB"/>
                </a:solidFill>
                <a:latin typeface="Consolas"/>
              </a:rPr>
              <a:t>endmodule</a:t>
            </a:r>
          </a:p>
          <a:p>
            <a:pPr>
              <a:lnSpc>
                <a:spcPct val="100000"/>
              </a:lnSpc>
              <a:spcBef>
                <a:spcPts val="0"/>
              </a:spcBef>
              <a:spcAft>
                <a:spcPts val="60"/>
              </a:spcAft>
            </a:pPr>
            <a:r>
              <a:rPr sz="680" b="0" i="0">
                <a:solidFill>
                  <a:srgbClr val="E5E7EB"/>
                </a:solidFill>
                <a:latin typeface="Consolas"/>
              </a:rPr>
              <a:t> </a:t>
            </a:r>
          </a:p>
          <a:p>
            <a:pPr>
              <a:lnSpc>
                <a:spcPct val="100000"/>
              </a:lnSpc>
              <a:spcBef>
                <a:spcPts val="0"/>
              </a:spcBef>
              <a:spcAft>
                <a:spcPts val="60"/>
              </a:spcAft>
            </a:pPr>
            <a:r>
              <a:rPr sz="680" b="0" i="0">
                <a:solidFill>
                  <a:srgbClr val="E5E7EB"/>
                </a:solidFill>
                <a:latin typeface="Consolas"/>
              </a:rPr>
              <a:t>module f_simp (input A, B, C, D, output F);</a:t>
            </a:r>
          </a:p>
          <a:p>
            <a:pPr>
              <a:lnSpc>
                <a:spcPct val="100000"/>
              </a:lnSpc>
              <a:spcBef>
                <a:spcPts val="0"/>
              </a:spcBef>
              <a:spcAft>
                <a:spcPts val="60"/>
              </a:spcAft>
            </a:pPr>
            <a:r>
              <a:rPr sz="680" b="0" i="0">
                <a:solidFill>
                  <a:srgbClr val="E5E7EB"/>
                </a:solidFill>
                <a:latin typeface="Consolas"/>
              </a:rPr>
              <a:t>  wire nA = ~A, nB = ~B, nC = ~C, nD = ~D;</a:t>
            </a:r>
          </a:p>
          <a:p>
            <a:pPr>
              <a:lnSpc>
                <a:spcPct val="100000"/>
              </a:lnSpc>
              <a:spcBef>
                <a:spcPts val="0"/>
              </a:spcBef>
              <a:spcAft>
                <a:spcPts val="60"/>
              </a:spcAft>
            </a:pPr>
            <a:r>
              <a:rPr sz="680" b="0" i="0">
                <a:solidFill>
                  <a:srgbClr val="E5E7EB"/>
                </a:solidFill>
                <a:latin typeface="Consolas"/>
              </a:rPr>
              <a:t>  wire t1 = nB &amp; nD;               // quad m(0,2,8,10)</a:t>
            </a:r>
          </a:p>
          <a:p>
            <a:pPr>
              <a:lnSpc>
                <a:spcPct val="100000"/>
              </a:lnSpc>
              <a:spcBef>
                <a:spcPts val="0"/>
              </a:spcBef>
              <a:spcAft>
                <a:spcPts val="60"/>
              </a:spcAft>
            </a:pPr>
            <a:r>
              <a:rPr sz="680" b="0" i="0">
                <a:solidFill>
                  <a:srgbClr val="E5E7EB"/>
                </a:solidFill>
                <a:latin typeface="Consolas"/>
              </a:rPr>
              <a:t>  wire t2 = nB &amp; nC;               // quad m(0,1,8,9)</a:t>
            </a:r>
          </a:p>
          <a:p>
            <a:pPr>
              <a:lnSpc>
                <a:spcPct val="100000"/>
              </a:lnSpc>
              <a:spcBef>
                <a:spcPts val="0"/>
              </a:spcBef>
              <a:spcAft>
                <a:spcPts val="60"/>
              </a:spcAft>
            </a:pPr>
            <a:r>
              <a:rPr sz="680" b="0" i="0">
                <a:solidFill>
                  <a:srgbClr val="E5E7EB"/>
                </a:solidFill>
                <a:latin typeface="Consolas"/>
              </a:rPr>
              <a:t>  wire t3 =  C &amp; nD;               // quad m(2,6,10,14)</a:t>
            </a:r>
          </a:p>
          <a:p>
            <a:pPr>
              <a:lnSpc>
                <a:spcPct val="100000"/>
              </a:lnSpc>
              <a:spcBef>
                <a:spcPts val="0"/>
              </a:spcBef>
              <a:spcAft>
                <a:spcPts val="60"/>
              </a:spcAft>
            </a:pPr>
            <a:r>
              <a:rPr sz="680" b="0" i="0">
                <a:solidFill>
                  <a:srgbClr val="E5E7EB"/>
                </a:solidFill>
                <a:latin typeface="Consolas"/>
              </a:rPr>
              <a:t>  wire t4 = nA &amp;  B &amp;  D;          // pair m(5,7)</a:t>
            </a:r>
          </a:p>
          <a:p>
            <a:pPr>
              <a:lnSpc>
                <a:spcPct val="100000"/>
              </a:lnSpc>
              <a:spcBef>
                <a:spcPts val="0"/>
              </a:spcBef>
              <a:spcAft>
                <a:spcPts val="60"/>
              </a:spcAft>
            </a:pPr>
            <a:r>
              <a:rPr sz="680" b="0" i="0">
                <a:solidFill>
                  <a:srgbClr val="E5E7EB"/>
                </a:solidFill>
                <a:latin typeface="Consolas"/>
              </a:rPr>
              <a:t>  assign F = t1 | t2 | t3 | t4;</a:t>
            </a:r>
          </a:p>
          <a:p>
            <a:pPr>
              <a:lnSpc>
                <a:spcPct val="100000"/>
              </a:lnSpc>
              <a:spcBef>
                <a:spcPts val="0"/>
              </a:spcBef>
              <a:spcAft>
                <a:spcPts val="60"/>
              </a:spcAft>
            </a:pPr>
            <a:r>
              <a:rPr sz="680" b="0" i="0">
                <a:solidFill>
                  <a:srgbClr val="E5E7EB"/>
                </a:solidFill>
                <a:latin typeface="Consolas"/>
              </a:rPr>
              <a:t>endmodule</a:t>
            </a:r>
          </a:p>
          <a:p>
            <a:pPr>
              <a:lnSpc>
                <a:spcPct val="100000"/>
              </a:lnSpc>
              <a:spcBef>
                <a:spcPts val="0"/>
              </a:spcBef>
              <a:spcAft>
                <a:spcPts val="60"/>
              </a:spcAft>
            </a:pPr>
            <a:r>
              <a:rPr sz="680" b="0" i="0">
                <a:solidFill>
                  <a:srgbClr val="E5E7EB"/>
                </a:solidFill>
                <a:latin typeface="Consolas"/>
              </a:rPr>
              <a:t>  …  (complete source: the course book)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Theorems and universality, swept exhaustively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12 identities × 8 rows of x,y,z, violation-counted: </a:t>
            </a:r>
            <a:r>
              <a:rPr sz="1200" b="0" i="0">
                <a:solidFill>
                  <a:srgbClr val="B3261E"/>
                </a:solidFill>
                <a:latin typeface="Consolas"/>
              </a:rPr>
              <a:t>rows violating any theorem (expect 0)  : 0 / 8</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De Morgan is the hinge of the whole chapter: it converts SOP↔NAND-NAND and POS↔NOR-NOR.</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NAND alone rebuilds AND, OR, XOR — printed row for row: </a:t>
            </a:r>
            <a:r>
              <a:rPr sz="1150" b="0" i="0">
                <a:solidFill>
                  <a:srgbClr val="B3261E"/>
                </a:solidFill>
                <a:latin typeface="Consolas"/>
              </a:rPr>
              <a:t> A=0 B=1 | NAND-built  AND=0  OR=1  XOR=1</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AB+CD as NAND-NAND matches the AND-OR form over 16 rows — </a:t>
            </a:r>
            <a:r>
              <a:rPr sz="1100" b="0" i="0">
                <a:solidFill>
                  <a:srgbClr val="B3261E"/>
                </a:solidFill>
                <a:latin typeface="Consolas"/>
              </a:rPr>
              <a:t>F=AB+CD vs NAND-NAND over 16 rows : mismatches 0</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Minterms vs maxterms: the two index lists are complements — know one, own the other.</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src/m1_boolcheck.v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`timescale 1ns/1ps</a:t>
            </a:r>
          </a:p>
          <a:p>
            <a:pPr>
              <a:lnSpc>
                <a:spcPct val="100000"/>
              </a:lnSpc>
              <a:spcBef>
                <a:spcPts val="0"/>
              </a:spcBef>
              <a:spcAft>
                <a:spcPts val="60"/>
              </a:spcAft>
            </a:pPr>
            <a:r>
              <a:rPr sz="680" b="0" i="0">
                <a:solidFill>
                  <a:srgbClr val="E5E7EB"/>
                </a:solidFill>
                <a:latin typeface="Consolas"/>
              </a:rPr>
              <a:t>// Module-1 demo: exhaustive verification of Boolean algebra theorems</a:t>
            </a:r>
          </a:p>
          <a:p>
            <a:pPr>
              <a:lnSpc>
                <a:spcPct val="100000"/>
              </a:lnSpc>
              <a:spcBef>
                <a:spcPts val="0"/>
              </a:spcBef>
              <a:spcAft>
                <a:spcPts val="60"/>
              </a:spcAft>
            </a:pPr>
            <a:r>
              <a:rPr sz="680" b="0" i="0">
                <a:solidFill>
                  <a:srgbClr val="E5E7EB"/>
                </a:solidFill>
                <a:latin typeface="Consolas"/>
              </a:rPr>
              <a:t>// (Mano 2.4-2.5) and the duality instances used throughout the course.</a:t>
            </a:r>
          </a:p>
          <a:p>
            <a:pPr>
              <a:lnSpc>
                <a:spcPct val="100000"/>
              </a:lnSpc>
              <a:spcBef>
                <a:spcPts val="0"/>
              </a:spcBef>
              <a:spcAft>
                <a:spcPts val="60"/>
              </a:spcAft>
            </a:pPr>
            <a:r>
              <a:rPr sz="680" b="0" i="0">
                <a:solidFill>
                  <a:srgbClr val="E5E7EB"/>
                </a:solidFill>
                <a:latin typeface="Consolas"/>
              </a:rPr>
              <a:t>module tb;</a:t>
            </a:r>
          </a:p>
          <a:p>
            <a:pPr>
              <a:lnSpc>
                <a:spcPct val="100000"/>
              </a:lnSpc>
              <a:spcBef>
                <a:spcPts val="0"/>
              </a:spcBef>
              <a:spcAft>
                <a:spcPts val="60"/>
              </a:spcAft>
            </a:pPr>
            <a:r>
              <a:rPr sz="680" b="0" i="0">
                <a:solidFill>
                  <a:srgbClr val="E5E7EB"/>
                </a:solidFill>
                <a:latin typeface="Consolas"/>
              </a:rPr>
              <a:t>  reg x, y, z; integer i, t, fail;</a:t>
            </a:r>
          </a:p>
          <a:p>
            <a:pPr>
              <a:lnSpc>
                <a:spcPct val="100000"/>
              </a:lnSpc>
              <a:spcBef>
                <a:spcPts val="0"/>
              </a:spcBef>
              <a:spcAft>
                <a:spcPts val="60"/>
              </a:spcAft>
            </a:pPr>
            <a:r>
              <a:rPr sz="680" b="0" i="0">
                <a:solidFill>
                  <a:srgbClr val="E5E7EB"/>
                </a:solidFill>
                <a:latin typeface="Consolas"/>
              </a:rPr>
              <a:t>  task chk(input [255:0] name, input p, q);</a:t>
            </a:r>
          </a:p>
          <a:p>
            <a:pPr>
              <a:lnSpc>
                <a:spcPct val="100000"/>
              </a:lnSpc>
              <a:spcBef>
                <a:spcPts val="0"/>
              </a:spcBef>
              <a:spcAft>
                <a:spcPts val="60"/>
              </a:spcAft>
            </a:pPr>
            <a:r>
              <a:rPr sz="680" b="0" i="0">
                <a:solidFill>
                  <a:srgbClr val="E5E7EB"/>
                </a:solidFill>
                <a:latin typeface="Consolas"/>
              </a:rPr>
              <a:t>    begin</a:t>
            </a:r>
          </a:p>
          <a:p>
            <a:pPr>
              <a:lnSpc>
                <a:spcPct val="100000"/>
              </a:lnSpc>
              <a:spcBef>
                <a:spcPts val="0"/>
              </a:spcBef>
              <a:spcAft>
                <a:spcPts val="60"/>
              </a:spcAft>
            </a:pPr>
            <a:r>
              <a:rPr sz="680" b="0" i="0">
                <a:solidFill>
                  <a:srgbClr val="E5E7EB"/>
                </a:solidFill>
                <a:latin typeface="Consolas"/>
              </a:rPr>
              <a:t>      $display("%-34s : both sides %b%b%b%b  %s", name, p,q,1'b0,1'b0, p===q ? "PASS":"FAIL");</a:t>
            </a:r>
          </a:p>
          <a:p>
            <a:pPr>
              <a:lnSpc>
                <a:spcPct val="100000"/>
              </a:lnSpc>
              <a:spcBef>
                <a:spcPts val="0"/>
              </a:spcBef>
              <a:spcAft>
                <a:spcPts val="60"/>
              </a:spcAft>
            </a:pPr>
            <a:r>
              <a:rPr sz="680" b="0" i="0">
                <a:solidFill>
                  <a:srgbClr val="E5E7EB"/>
                </a:solidFill>
                <a:latin typeface="Consolas"/>
              </a:rPr>
              <a:t>      if (p !== q) fail = fail + 1;</a:t>
            </a:r>
          </a:p>
          <a:p>
            <a:pPr>
              <a:lnSpc>
                <a:spcPct val="100000"/>
              </a:lnSpc>
              <a:spcBef>
                <a:spcPts val="0"/>
              </a:spcBef>
              <a:spcAft>
                <a:spcPts val="60"/>
              </a:spcAft>
            </a:pPr>
            <a:r>
              <a:rPr sz="680" b="0" i="0">
                <a:solidFill>
                  <a:srgbClr val="E5E7EB"/>
                </a:solidFill>
                <a:latin typeface="Consolas"/>
              </a:rPr>
              <a:t>    end</a:t>
            </a:r>
          </a:p>
          <a:p>
            <a:pPr>
              <a:lnSpc>
                <a:spcPct val="100000"/>
              </a:lnSpc>
              <a:spcBef>
                <a:spcPts val="0"/>
              </a:spcBef>
              <a:spcAft>
                <a:spcPts val="60"/>
              </a:spcAft>
            </a:pPr>
            <a:r>
              <a:rPr sz="680" b="0" i="0">
                <a:solidFill>
                  <a:srgbClr val="E5E7EB"/>
                </a:solidFill>
                <a:latin typeface="Consolas"/>
              </a:rPr>
              <a:t>  endtask</a:t>
            </a:r>
          </a:p>
          <a:p>
            <a:pPr>
              <a:lnSpc>
                <a:spcPct val="100000"/>
              </a:lnSpc>
              <a:spcBef>
                <a:spcPts val="0"/>
              </a:spcBef>
              <a:spcAft>
                <a:spcPts val="60"/>
              </a:spcAft>
            </a:pPr>
            <a:r>
              <a:rPr sz="680" b="0" i="0">
                <a:solidFill>
                  <a:srgbClr val="E5E7EB"/>
                </a:solidFill>
                <a:latin typeface="Consolas"/>
              </a:rPr>
              <a:t>  initial begin</a:t>
            </a:r>
          </a:p>
          <a:p>
            <a:pPr>
              <a:lnSpc>
                <a:spcPct val="100000"/>
              </a:lnSpc>
              <a:spcBef>
                <a:spcPts val="0"/>
              </a:spcBef>
              <a:spcAft>
                <a:spcPts val="60"/>
              </a:spcAft>
            </a:pPr>
            <a:r>
              <a:rPr sz="680" b="0" i="0">
                <a:solidFill>
                  <a:srgbClr val="E5E7EB"/>
                </a:solidFill>
                <a:latin typeface="Consolas"/>
              </a:rPr>
              <a:t>    fail = 0; t = 0;</a:t>
            </a:r>
          </a:p>
          <a:p>
            <a:pPr>
              <a:lnSpc>
                <a:spcPct val="100000"/>
              </a:lnSpc>
              <a:spcBef>
                <a:spcPts val="0"/>
              </a:spcBef>
              <a:spcAft>
                <a:spcPts val="60"/>
              </a:spcAft>
            </a:pPr>
            <a:r>
              <a:rPr sz="680" b="0" i="0">
                <a:solidFill>
                  <a:srgbClr val="E5E7EB"/>
                </a:solidFill>
                <a:latin typeface="Consolas"/>
              </a:rPr>
              <a:t>    $display("== M1  Boolean theorem sweep (x,y,z over all 8 rows) ==");</a:t>
            </a:r>
          </a:p>
          <a:p>
            <a:pPr>
              <a:lnSpc>
                <a:spcPct val="100000"/>
              </a:lnSpc>
              <a:spcBef>
                <a:spcPts val="0"/>
              </a:spcBef>
              <a:spcAft>
                <a:spcPts val="60"/>
              </a:spcAft>
            </a:pPr>
            <a:r>
              <a:rPr sz="680" b="0" i="0">
                <a:solidFill>
                  <a:srgbClr val="E5E7EB"/>
                </a:solidFill>
                <a:latin typeface="Consolas"/>
              </a:rPr>
              <a:t>    for (i = 0; i &lt; 8; i = i + 1) begin</a:t>
            </a:r>
          </a:p>
          <a:p>
            <a:pPr>
              <a:lnSpc>
                <a:spcPct val="100000"/>
              </a:lnSpc>
              <a:spcBef>
                <a:spcPts val="0"/>
              </a:spcBef>
              <a:spcAft>
                <a:spcPts val="60"/>
              </a:spcAft>
            </a:pPr>
            <a:r>
              <a:rPr sz="680" b="0" i="0">
                <a:solidFill>
                  <a:srgbClr val="E5E7EB"/>
                </a:solidFill>
                <a:latin typeface="Consolas"/>
              </a:rPr>
              <a:t>      {x,y,z} = i[2:0];</a:t>
            </a:r>
          </a:p>
          <a:p>
            <a:pPr>
              <a:lnSpc>
                <a:spcPct val="100000"/>
              </a:lnSpc>
              <a:spcBef>
                <a:spcPts val="0"/>
              </a:spcBef>
              <a:spcAft>
                <a:spcPts val="60"/>
              </a:spcAft>
            </a:pPr>
            <a:r>
              <a:rPr sz="680" b="0" i="0">
                <a:solidFill>
                  <a:srgbClr val="E5E7EB"/>
                </a:solidFill>
                <a:latin typeface="Consolas"/>
              </a:rPr>
              <a:t>      // De Morgan 1: (x.y)' = x'+y'   De Morgan 2: (x+y)' = x'.y'</a:t>
            </a:r>
          </a:p>
          <a:p>
            <a:pPr>
              <a:lnSpc>
                <a:spcPct val="100000"/>
              </a:lnSpc>
              <a:spcBef>
                <a:spcPts val="0"/>
              </a:spcBef>
              <a:spcAft>
                <a:spcPts val="60"/>
              </a:spcAft>
            </a:pPr>
            <a:r>
              <a:rPr sz="680" b="0" i="0">
                <a:solidFill>
                  <a:srgbClr val="E5E7EB"/>
                </a:solidFill>
                <a:latin typeface="Consolas"/>
              </a:rPr>
              <a:t>      if (((x&amp;y) !== ~(~x|~y)) || (~(x|y) !== (~x&amp;~y))) t = t + 1;</a:t>
            </a:r>
          </a:p>
          <a:p>
            <a:pPr>
              <a:lnSpc>
                <a:spcPct val="100000"/>
              </a:lnSpc>
              <a:spcBef>
                <a:spcPts val="0"/>
              </a:spcBef>
              <a:spcAft>
                <a:spcPts val="60"/>
              </a:spcAft>
            </a:pPr>
            <a:r>
              <a:rPr sz="680" b="0" i="0">
                <a:solidFill>
                  <a:srgbClr val="E5E7EB"/>
                </a:solidFill>
                <a:latin typeface="Consolas"/>
              </a:rPr>
              <a:t>      // absorption: x+xy = x ; x(x+y) = x</a:t>
            </a:r>
          </a:p>
          <a:p>
            <a:pPr>
              <a:lnSpc>
                <a:spcPct val="100000"/>
              </a:lnSpc>
              <a:spcBef>
                <a:spcPts val="0"/>
              </a:spcBef>
              <a:spcAft>
                <a:spcPts val="60"/>
              </a:spcAft>
            </a:pPr>
            <a:r>
              <a:rPr sz="680" b="0" i="0">
                <a:solidFill>
                  <a:srgbClr val="E5E7EB"/>
                </a:solidFill>
                <a:latin typeface="Consolas"/>
              </a:rPr>
              <a:t>      if (((x|x&amp;y) !== x) || ((x&amp;(x|y)) !== x))         t = t + 1;</a:t>
            </a:r>
          </a:p>
          <a:p>
            <a:pPr>
              <a:lnSpc>
                <a:spcPct val="100000"/>
              </a:lnSpc>
              <a:spcBef>
                <a:spcPts val="0"/>
              </a:spcBef>
              <a:spcAft>
                <a:spcPts val="60"/>
              </a:spcAft>
            </a:pPr>
            <a:r>
              <a:rPr sz="680" b="0" i="0">
                <a:solidFill>
                  <a:srgbClr val="E5E7EB"/>
                </a:solidFill>
                <a:latin typeface="Consolas"/>
              </a:rPr>
              <a:t>      // involution: (x')' = x ; idempotent x+x = x</a:t>
            </a:r>
          </a:p>
          <a:p>
            <a:pPr>
              <a:lnSpc>
                <a:spcPct val="100000"/>
              </a:lnSpc>
              <a:spcBef>
                <a:spcPts val="0"/>
              </a:spcBef>
              <a:spcAft>
                <a:spcPts val="60"/>
              </a:spcAft>
            </a:pPr>
            <a:r>
              <a:rPr sz="680" b="0" i="0">
                <a:solidFill>
                  <a:srgbClr val="E5E7EB"/>
                </a:solidFill>
                <a:latin typeface="Consolas"/>
              </a:rPr>
              <a:t>      if ((~(~x) !== x) || ((x|x) !== x))                t = t + 1;</a:t>
            </a:r>
          </a:p>
          <a:p>
            <a:pPr>
              <a:lnSpc>
                <a:spcPct val="100000"/>
              </a:lnSpc>
              <a:spcBef>
                <a:spcPts val="0"/>
              </a:spcBef>
              <a:spcAft>
                <a:spcPts val="60"/>
              </a:spcAft>
            </a:pPr>
            <a:r>
              <a:rPr sz="680" b="0" i="0">
                <a:solidFill>
                  <a:srgbClr val="E5E7EB"/>
                </a:solidFill>
                <a:latin typeface="Consolas"/>
              </a:rPr>
              <a:t>      // distributive: x(y+z) = xy+xz ; x+yz = (x+y)(x+z)</a:t>
            </a:r>
          </a:p>
          <a:p>
            <a:pPr>
              <a:lnSpc>
                <a:spcPct val="100000"/>
              </a:lnSpc>
              <a:spcBef>
                <a:spcPts val="0"/>
              </a:spcBef>
              <a:spcAft>
                <a:spcPts val="60"/>
              </a:spcAft>
            </a:pPr>
            <a:r>
              <a:rPr sz="680" b="0" i="0">
                <a:solidFill>
                  <a:srgbClr val="E5E7EB"/>
                </a:solidFill>
                <a:latin typeface="Consolas"/>
              </a:rPr>
              <a:t>      if (((x&amp;(y|z)) !== (x&amp;y|x&amp;z)) ||</a:t>
            </a:r>
          </a:p>
          <a:p>
            <a:pPr>
              <a:lnSpc>
                <a:spcPct val="100000"/>
              </a:lnSpc>
              <a:spcBef>
                <a:spcPts val="0"/>
              </a:spcBef>
              <a:spcAft>
                <a:spcPts val="60"/>
              </a:spcAft>
            </a:pPr>
            <a:r>
              <a:rPr sz="680" b="0" i="0">
                <a:solidFill>
                  <a:srgbClr val="E5E7EB"/>
                </a:solidFill>
                <a:latin typeface="Consolas"/>
              </a:rPr>
              <a:t>          ((x|y&amp;z) !== ((x|y)&amp;(x|z))))                   t = t + 1;</a:t>
            </a:r>
          </a:p>
          <a:p>
            <a:pPr>
              <a:lnSpc>
                <a:spcPct val="100000"/>
              </a:lnSpc>
              <a:spcBef>
                <a:spcPts val="0"/>
              </a:spcBef>
              <a:spcAft>
                <a:spcPts val="60"/>
              </a:spcAft>
            </a:pPr>
            <a:r>
              <a:rPr sz="680" b="0" i="0">
                <a:solidFill>
                  <a:srgbClr val="E5E7EB"/>
                </a:solidFill>
                <a:latin typeface="Consolas"/>
              </a:rPr>
              <a:t>      // consensus: xy + x'z + yz = xy + x'z</a:t>
            </a:r>
          </a:p>
          <a:p>
            <a:pPr>
              <a:lnSpc>
                <a:spcPct val="100000"/>
              </a:lnSpc>
              <a:spcBef>
                <a:spcPts val="0"/>
              </a:spcBef>
              <a:spcAft>
                <a:spcPts val="60"/>
              </a:spcAft>
            </a:pPr>
            <a:r>
              <a:rPr sz="680" b="0" i="0">
                <a:solidFill>
                  <a:srgbClr val="E5E7EB"/>
                </a:solidFill>
                <a:latin typeface="Consolas"/>
              </a:rPr>
              <a:t>      if (((x&amp;y|~x&amp;z|y&amp;z) !== (x&amp;y|~x&amp;z)))               t = t + 1;</a:t>
            </a:r>
          </a:p>
          <a:p>
            <a:pPr>
              <a:lnSpc>
                <a:spcPct val="100000"/>
              </a:lnSpc>
              <a:spcBef>
                <a:spcPts val="0"/>
              </a:spcBef>
              <a:spcAft>
                <a:spcPts val="60"/>
              </a:spcAft>
            </a:pPr>
            <a:r>
              <a:rPr sz="680" b="0" i="0">
                <a:solidFill>
                  <a:srgbClr val="E5E7EB"/>
                </a:solidFill>
                <a:latin typeface="Consolas"/>
              </a:rPr>
              <a:t>      // unit / zero: x+1=1  x.0=0  x+x'=1  x.x'=0</a:t>
            </a:r>
          </a:p>
          <a:p>
            <a:pPr>
              <a:lnSpc>
                <a:spcPct val="100000"/>
              </a:lnSpc>
              <a:spcBef>
                <a:spcPts val="0"/>
              </a:spcBef>
              <a:spcAft>
                <a:spcPts val="60"/>
              </a:spcAft>
            </a:pPr>
            <a:r>
              <a:rPr sz="680" b="0" i="0">
                <a:solidFill>
                  <a:srgbClr val="E5E7EB"/>
                </a:solidFill>
                <a:latin typeface="Consolas"/>
              </a:rPr>
              <a:t>      if (((x|1'b1) !== 1'b1) || ((x&amp;1'b0) !== 1'b0) ||</a:t>
            </a:r>
          </a:p>
          <a:p>
            <a:pPr>
              <a:lnSpc>
                <a:spcPct val="100000"/>
              </a:lnSpc>
              <a:spcBef>
                <a:spcPts val="0"/>
              </a:spcBef>
              <a:spcAft>
                <a:spcPts val="60"/>
              </a:spcAft>
            </a:pPr>
            <a:r>
              <a:rPr sz="680" b="0" i="0">
                <a:solidFill>
                  <a:srgbClr val="E5E7EB"/>
                </a:solidFill>
                <a:latin typeface="Consolas"/>
              </a:rPr>
              <a:t>          ((x|~x) !== 1'b1)  || ((x&amp;~x) !== 1'b0))      t = t + 1;</a:t>
            </a:r>
          </a:p>
          <a:p>
            <a:pPr>
              <a:lnSpc>
                <a:spcPct val="100000"/>
              </a:lnSpc>
              <a:spcBef>
                <a:spcPts val="0"/>
              </a:spcBef>
              <a:spcAft>
                <a:spcPts val="60"/>
              </a:spcAft>
            </a:pPr>
            <a:r>
              <a:rPr sz="680" b="0" i="0">
                <a:solidFill>
                  <a:srgbClr val="E5E7EB"/>
                </a:solidFill>
                <a:latin typeface="Consolas"/>
              </a:rPr>
              <a:t>    end</a:t>
            </a:r>
          </a:p>
          <a:p>
            <a:pPr>
              <a:lnSpc>
                <a:spcPct val="100000"/>
              </a:lnSpc>
              <a:spcBef>
                <a:spcPts val="0"/>
              </a:spcBef>
              <a:spcAft>
                <a:spcPts val="60"/>
              </a:spcAft>
            </a:pPr>
            <a:r>
              <a:rPr sz="680" b="0" i="0">
                <a:solidFill>
                  <a:srgbClr val="E5E7EB"/>
                </a:solidFill>
                <a:latin typeface="Consolas"/>
              </a:rPr>
              <a:t>    $display("rows violating any theorem (expect 0)  : %0d / 8", t);</a:t>
            </a:r>
          </a:p>
          <a:p>
            <a:pPr>
              <a:lnSpc>
                <a:spcPct val="100000"/>
              </a:lnSpc>
              <a:spcBef>
                <a:spcPts val="0"/>
              </a:spcBef>
              <a:spcAft>
                <a:spcPts val="60"/>
              </a:spcAft>
            </a:pPr>
            <a:r>
              <a:rPr sz="680" b="0" i="0">
                <a:solidFill>
                  <a:srgbClr val="E5E7EB"/>
                </a:solidFill>
                <a:latin typeface="Consolas"/>
              </a:rPr>
              <a:t>    chk("De Morgan  (x.y)' = x'+y'", 1, 1); // label echo only</a:t>
            </a:r>
          </a:p>
          <a:p>
            <a:pPr>
              <a:lnSpc>
                <a:spcPct val="100000"/>
              </a:lnSpc>
              <a:spcBef>
                <a:spcPts val="0"/>
              </a:spcBef>
              <a:spcAft>
                <a:spcPts val="60"/>
              </a:spcAft>
            </a:pPr>
            <a:r>
              <a:rPr sz="680" b="0" i="0">
                <a:solidFill>
                  <a:srgbClr val="E5E7EB"/>
                </a:solidFill>
                <a:latin typeface="Consolas"/>
              </a:rPr>
              <a:t>  …  (complete source: the course book)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m1_nand_universal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src/m1_nand_universal.v</a:t>
            </a:r>
          </a:p>
        </p:txBody>
      </p:sp>
      <p:sp>
        <p:nvSpPr>
          <p:cNvPr id="11" name="TextBox 10"/>
          <p:cNvSpPr txBox="1"/>
          <p:nvPr/>
        </p:nvSpPr>
        <p:spPr>
          <a:xfrm>
            <a:off x="667512" y="1975104"/>
            <a:ext cx="5815584" cy="432511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Module-1 demo: NAND/NOR universality (Mano 3.5-3.6).</a:t>
            </a:r>
          </a:p>
          <a:p>
            <a:pPr>
              <a:lnSpc>
                <a:spcPct val="100000"/>
              </a:lnSpc>
              <a:spcBef>
                <a:spcPts val="0"/>
              </a:spcBef>
              <a:spcAft>
                <a:spcPts val="60"/>
              </a:spcAft>
            </a:pPr>
            <a:r>
              <a:rPr sz="700" b="0" i="0">
                <a:solidFill>
                  <a:srgbClr val="E5E7EB"/>
                </a:solidFill>
                <a:latin typeface="Consolas"/>
              </a:rPr>
              <a:t>// Rebuild AND, OR, XOR from NAND only, then realise F = AB + CD as a</a:t>
            </a:r>
          </a:p>
          <a:p>
            <a:pPr>
              <a:lnSpc>
                <a:spcPct val="100000"/>
              </a:lnSpc>
              <a:spcBef>
                <a:spcPts val="0"/>
              </a:spcBef>
              <a:spcAft>
                <a:spcPts val="60"/>
              </a:spcAft>
            </a:pPr>
            <a:r>
              <a:rPr sz="700" b="0" i="0">
                <a:solidFill>
                  <a:srgbClr val="E5E7EB"/>
                </a:solidFill>
                <a:latin typeface="Consolas"/>
              </a:rPr>
              <a:t>// two-level NAND-NAND network and match it against the AND-OR form.</a:t>
            </a:r>
          </a:p>
          <a:p>
            <a:pPr>
              <a:lnSpc>
                <a:spcPct val="100000"/>
              </a:lnSpc>
              <a:spcBef>
                <a:spcPts val="0"/>
              </a:spcBef>
              <a:spcAft>
                <a:spcPts val="60"/>
              </a:spcAft>
            </a:pPr>
            <a:r>
              <a:rPr sz="700" b="0" i="0">
                <a:solidFill>
                  <a:srgbClr val="E5E7EB"/>
                </a:solidFill>
                <a:latin typeface="Consolas"/>
              </a:rPr>
              <a:t>module tb;</a:t>
            </a:r>
          </a:p>
          <a:p>
            <a:pPr>
              <a:lnSpc>
                <a:spcPct val="100000"/>
              </a:lnSpc>
              <a:spcBef>
                <a:spcPts val="0"/>
              </a:spcBef>
              <a:spcAft>
                <a:spcPts val="60"/>
              </a:spcAft>
            </a:pPr>
            <a:r>
              <a:rPr sz="700" b="0" i="0">
                <a:solidFill>
                  <a:srgbClr val="E5E7EB"/>
                </a:solidFill>
                <a:latin typeface="Consolas"/>
              </a:rPr>
              <a:t>  reg A, B, C, D; integer i, t;</a:t>
            </a:r>
          </a:p>
          <a:p>
            <a:pPr>
              <a:lnSpc>
                <a:spcPct val="100000"/>
              </a:lnSpc>
              <a:spcBef>
                <a:spcPts val="0"/>
              </a:spcBef>
              <a:spcAft>
                <a:spcPts val="60"/>
              </a:spcAft>
            </a:pPr>
            <a:r>
              <a:rPr sz="700" b="0" i="0">
                <a:solidFill>
                  <a:srgbClr val="E5E7EB"/>
                </a:solidFill>
                <a:latin typeface="Consolas"/>
              </a:rPr>
              <a:t>  initial begin</a:t>
            </a:r>
          </a:p>
          <a:p>
            <a:pPr>
              <a:lnSpc>
                <a:spcPct val="100000"/>
              </a:lnSpc>
              <a:spcBef>
                <a:spcPts val="0"/>
              </a:spcBef>
              <a:spcAft>
                <a:spcPts val="60"/>
              </a:spcAft>
            </a:pPr>
            <a:r>
              <a:rPr sz="700" b="0" i="0">
                <a:solidFill>
                  <a:srgbClr val="E5E7EB"/>
                </a:solidFill>
                <a:latin typeface="Consolas"/>
              </a:rPr>
              <a:t>    t = 0;</a:t>
            </a:r>
          </a:p>
          <a:p>
            <a:pPr>
              <a:lnSpc>
                <a:spcPct val="100000"/>
              </a:lnSpc>
              <a:spcBef>
                <a:spcPts val="0"/>
              </a:spcBef>
              <a:spcAft>
                <a:spcPts val="60"/>
              </a:spcAft>
            </a:pPr>
            <a:r>
              <a:rPr sz="700" b="0" i="0">
                <a:solidFill>
                  <a:srgbClr val="E5E7EB"/>
                </a:solidFill>
                <a:latin typeface="Consolas"/>
              </a:rPr>
              <a:t>    $display("== M1  NAND universality ==");</a:t>
            </a:r>
          </a:p>
          <a:p>
            <a:pPr>
              <a:lnSpc>
                <a:spcPct val="100000"/>
              </a:lnSpc>
              <a:spcBef>
                <a:spcPts val="0"/>
              </a:spcBef>
              <a:spcAft>
                <a:spcPts val="60"/>
              </a:spcAft>
            </a:pPr>
            <a:r>
              <a:rPr sz="700" b="0" i="0">
                <a:solidFill>
                  <a:srgbClr val="E5E7EB"/>
                </a:solidFill>
                <a:latin typeface="Consolas"/>
              </a:rPr>
              <a:t>    for (i = 0; i &lt; 4; i = i + 1) begin</a:t>
            </a:r>
          </a:p>
          <a:p>
            <a:pPr>
              <a:lnSpc>
                <a:spcPct val="100000"/>
              </a:lnSpc>
              <a:spcBef>
                <a:spcPts val="0"/>
              </a:spcBef>
              <a:spcAft>
                <a:spcPts val="60"/>
              </a:spcAft>
            </a:pPr>
            <a:r>
              <a:rPr sz="700" b="0" i="0">
                <a:solidFill>
                  <a:srgbClr val="E5E7EB"/>
                </a:solidFill>
                <a:latin typeface="Consolas"/>
              </a:rPr>
              <a:t>      A = i[1]; B = i[0]; #1;</a:t>
            </a:r>
          </a:p>
          <a:p>
            <a:pPr>
              <a:lnSpc>
                <a:spcPct val="100000"/>
              </a:lnSpc>
              <a:spcBef>
                <a:spcPts val="0"/>
              </a:spcBef>
              <a:spcAft>
                <a:spcPts val="60"/>
              </a:spcAft>
            </a:pPr>
            <a:r>
              <a:rPr sz="700" b="0" i="0">
                <a:solidFill>
                  <a:srgbClr val="E5E7EB"/>
                </a:solidFill>
                <a:latin typeface="Consolas"/>
              </a:rPr>
              <a:t>      begin</a:t>
            </a:r>
          </a:p>
          <a:p>
            <a:pPr>
              <a:lnSpc>
                <a:spcPct val="100000"/>
              </a:lnSpc>
              <a:spcBef>
                <a:spcPts val="0"/>
              </a:spcBef>
              <a:spcAft>
                <a:spcPts val="60"/>
              </a:spcAft>
            </a:pPr>
            <a:r>
              <a:rPr sz="700" b="0" i="0">
                <a:solidFill>
                  <a:srgbClr val="E5E7EB"/>
                </a:solidFill>
                <a:latin typeface="Consolas"/>
              </a:rPr>
              <a:t>        reg n, andn, orn, xorn;</a:t>
            </a:r>
          </a:p>
          <a:p>
            <a:pPr>
              <a:lnSpc>
                <a:spcPct val="100000"/>
              </a:lnSpc>
              <a:spcBef>
                <a:spcPts val="0"/>
              </a:spcBef>
              <a:spcAft>
                <a:spcPts val="60"/>
              </a:spcAft>
            </a:pPr>
            <a:r>
              <a:rPr sz="700" b="0" i="0">
                <a:solidFill>
                  <a:srgbClr val="E5E7EB"/>
                </a:solidFill>
                <a:latin typeface="Consolas"/>
              </a:rPr>
              <a:t>        n    = ~(A &amp; B);</a:t>
            </a:r>
          </a:p>
          <a:p>
            <a:pPr>
              <a:lnSpc>
                <a:spcPct val="100000"/>
              </a:lnSpc>
              <a:spcBef>
                <a:spcPts val="0"/>
              </a:spcBef>
              <a:spcAft>
                <a:spcPts val="60"/>
              </a:spcAft>
            </a:pPr>
            <a:r>
              <a:rPr sz="700" b="0" i="0">
                <a:solidFill>
                  <a:srgbClr val="E5E7EB"/>
                </a:solidFill>
                <a:latin typeface="Consolas"/>
              </a:rPr>
              <a:t>        andn = ~(n &amp; n);                    // AND  = NAND(NAND(A,B),NAND(A,B))</a:t>
            </a:r>
          </a:p>
          <a:p>
            <a:pPr>
              <a:lnSpc>
                <a:spcPct val="100000"/>
              </a:lnSpc>
              <a:spcBef>
                <a:spcPts val="0"/>
              </a:spcBef>
              <a:spcAft>
                <a:spcPts val="60"/>
              </a:spcAft>
            </a:pPr>
            <a:r>
              <a:rPr sz="700" b="0" i="0">
                <a:solidFill>
                  <a:srgbClr val="E5E7EB"/>
                </a:solidFill>
                <a:latin typeface="Consolas"/>
              </a:rPr>
              <a:t>        orn  = ~((~A &amp; ~A) &amp; (~B &amp; ~B));    // OR   = NAND(NAND(A,A),NAND(B,B))</a:t>
            </a:r>
          </a:p>
          <a:p>
            <a:pPr>
              <a:lnSpc>
                <a:spcPct val="100000"/>
              </a:lnSpc>
              <a:spcBef>
                <a:spcPts val="0"/>
              </a:spcBef>
              <a:spcAft>
                <a:spcPts val="60"/>
              </a:spcAft>
            </a:pPr>
            <a:r>
              <a:rPr sz="700" b="0" i="0">
                <a:solidFill>
                  <a:srgbClr val="E5E7EB"/>
                </a:solidFill>
                <a:latin typeface="Consolas"/>
              </a:rPr>
              <a:t>        xorn = ~((~(A &amp; n)) &amp; (~(B &amp; n)));   // XOR  = 4-NAND network</a:t>
            </a:r>
          </a:p>
          <a:p>
            <a:pPr>
              <a:lnSpc>
                <a:spcPct val="100000"/>
              </a:lnSpc>
              <a:spcBef>
                <a:spcPts val="0"/>
              </a:spcBef>
              <a:spcAft>
                <a:spcPts val="60"/>
              </a:spcAft>
            </a:pPr>
            <a:r>
              <a:rPr sz="700" b="0" i="0">
                <a:solidFill>
                  <a:srgbClr val="E5E7EB"/>
                </a:solidFill>
                <a:latin typeface="Consolas"/>
              </a:rPr>
              <a:t>        if (andn !== (A &amp; B)) t = t + 1;</a:t>
            </a:r>
          </a:p>
          <a:p>
            <a:pPr>
              <a:lnSpc>
                <a:spcPct val="100000"/>
              </a:lnSpc>
              <a:spcBef>
                <a:spcPts val="0"/>
              </a:spcBef>
              <a:spcAft>
                <a:spcPts val="60"/>
              </a:spcAft>
            </a:pPr>
            <a:r>
              <a:rPr sz="700" b="0" i="0">
                <a:solidFill>
                  <a:srgbClr val="E5E7EB"/>
                </a:solidFill>
                <a:latin typeface="Consolas"/>
              </a:rPr>
              <a:t>        if (orn  !== (A | B)) t = t + 1;</a:t>
            </a:r>
          </a:p>
          <a:p>
            <a:pPr>
              <a:lnSpc>
                <a:spcPct val="100000"/>
              </a:lnSpc>
              <a:spcBef>
                <a:spcPts val="0"/>
              </a:spcBef>
              <a:spcAft>
                <a:spcPts val="60"/>
              </a:spcAft>
            </a:pPr>
            <a:r>
              <a:rPr sz="700" b="0" i="0">
                <a:solidFill>
                  <a:srgbClr val="E5E7EB"/>
                </a:solidFill>
                <a:latin typeface="Consolas"/>
              </a:rPr>
              <a:t>        if (xorn !== (A ^ B)) t = t + 1;</a:t>
            </a:r>
          </a:p>
          <a:p>
            <a:pPr>
              <a:lnSpc>
                <a:spcPct val="100000"/>
              </a:lnSpc>
              <a:spcBef>
                <a:spcPts val="0"/>
              </a:spcBef>
              <a:spcAft>
                <a:spcPts val="60"/>
              </a:spcAft>
            </a:pPr>
            <a:r>
              <a:rPr sz="700" b="0" i="0">
                <a:solidFill>
                  <a:srgbClr val="E5E7EB"/>
                </a:solidFill>
                <a:latin typeface="Consolas"/>
              </a:rPr>
              <a:t>        $display(" A=%b B=%b | NAND-built  AND=%b  OR=%b  XOR=%b", A, B, andn, orn, xorn);</a:t>
            </a:r>
          </a:p>
          <a:p>
            <a:pPr>
              <a:lnSpc>
                <a:spcPct val="100000"/>
              </a:lnSpc>
              <a:spcBef>
                <a:spcPts val="0"/>
              </a:spcBef>
              <a:spcAft>
                <a:spcPts val="60"/>
              </a:spcAft>
            </a:pPr>
            <a:r>
              <a:rPr sz="700" b="0" i="0">
                <a:solidFill>
                  <a:srgbClr val="E5E7EB"/>
                </a:solidFill>
                <a:latin typeface="Consolas"/>
              </a:rPr>
              <a:t>      end</a:t>
            </a:r>
          </a:p>
          <a:p>
            <a:pPr>
              <a:lnSpc>
                <a:spcPct val="100000"/>
              </a:lnSpc>
              <a:spcBef>
                <a:spcPts val="0"/>
              </a:spcBef>
              <a:spcAft>
                <a:spcPts val="60"/>
              </a:spcAft>
            </a:pPr>
            <a:r>
              <a:rPr sz="700" b="0" i="0">
                <a:solidFill>
                  <a:srgbClr val="E5E7EB"/>
                </a:solidFill>
                <a:latin typeface="Consolas"/>
              </a:rPr>
              <a:t>    end</a:t>
            </a:r>
          </a:p>
          <a:p>
            <a:pPr>
              <a:lnSpc>
                <a:spcPct val="100000"/>
              </a:lnSpc>
              <a:spcBef>
                <a:spcPts val="0"/>
              </a:spcBef>
              <a:spcAft>
                <a:spcPts val="60"/>
              </a:spcAft>
            </a:pPr>
            <a:r>
              <a:rPr sz="700" b="0" i="0">
                <a:solidFill>
                  <a:srgbClr val="E5E7EB"/>
                </a:solidFill>
                <a:latin typeface="Consolas"/>
              </a:rPr>
              <a:t>    // two-level form: F = AB + CD == NAND( NAND(A,B), NAND(C,D) )</a:t>
            </a:r>
          </a:p>
          <a:p>
            <a:pPr>
              <a:lnSpc>
                <a:spcPct val="100000"/>
              </a:lnSpc>
              <a:spcBef>
                <a:spcPts val="0"/>
              </a:spcBef>
              <a:spcAft>
                <a:spcPts val="60"/>
              </a:spcAft>
            </a:pPr>
            <a:r>
              <a:rPr sz="700" b="0" i="0">
                <a:solidFill>
                  <a:srgbClr val="E5E7EB"/>
                </a:solidFill>
                <a:latin typeface="Consolas"/>
              </a:rPr>
              <a:t>    for (i = 0; i &lt; 16; i = i + 1) begin</a:t>
            </a:r>
          </a:p>
          <a:p>
            <a:pPr>
              <a:lnSpc>
                <a:spcPct val="100000"/>
              </a:lnSpc>
              <a:spcBef>
                <a:spcPts val="0"/>
              </a:spcBef>
              <a:spcAft>
                <a:spcPts val="60"/>
              </a:spcAft>
            </a:pPr>
            <a:r>
              <a:rPr sz="700" b="0" i="0">
                <a:solidFill>
                  <a:srgbClr val="E5E7EB"/>
                </a:solidFill>
                <a:latin typeface="Consolas"/>
              </a:rPr>
              <a:t>      {A,B,C,D} = i[3:0]; #1;</a:t>
            </a:r>
          </a:p>
          <a:p>
            <a:pPr>
              <a:lnSpc>
                <a:spcPct val="100000"/>
              </a:lnSpc>
              <a:spcBef>
                <a:spcPts val="0"/>
              </a:spcBef>
              <a:spcAft>
                <a:spcPts val="60"/>
              </a:spcAft>
            </a:pPr>
            <a:r>
              <a:rPr sz="700" b="0" i="0">
                <a:solidFill>
                  <a:srgbClr val="E5E7EB"/>
                </a:solidFill>
                <a:latin typeface="Consolas"/>
              </a:rPr>
              <a:t>      if (((A &amp; B) | (C &amp; D)) !== ~(~(A &amp; B) &amp; ~(C &amp; D))) t = t + 1;</a:t>
            </a:r>
          </a:p>
          <a:p>
            <a:pPr>
              <a:lnSpc>
                <a:spcPct val="100000"/>
              </a:lnSpc>
              <a:spcBef>
                <a:spcPts val="0"/>
              </a:spcBef>
              <a:spcAft>
                <a:spcPts val="60"/>
              </a:spcAft>
            </a:pPr>
            <a:r>
              <a:rPr sz="700" b="0" i="0">
                <a:solidFill>
                  <a:srgbClr val="E5E7EB"/>
                </a:solidFill>
                <a:latin typeface="Consolas"/>
              </a:rPr>
              <a:t>    end</a:t>
            </a:r>
          </a:p>
          <a:p>
            <a:pPr>
              <a:lnSpc>
                <a:spcPct val="100000"/>
              </a:lnSpc>
              <a:spcBef>
                <a:spcPts val="0"/>
              </a:spcBef>
              <a:spcAft>
                <a:spcPts val="60"/>
              </a:spcAft>
            </a:pPr>
            <a:r>
              <a:rPr sz="700" b="0" i="0">
                <a:solidFill>
                  <a:srgbClr val="E5E7EB"/>
                </a:solidFill>
                <a:latin typeface="Consolas"/>
              </a:rPr>
              <a:t>    $display("F=AB+CD vs NAND-NAND over 16 rows : mismatches %0d", t);</a:t>
            </a:r>
          </a:p>
          <a:p>
            <a:pPr>
              <a:lnSpc>
                <a:spcPct val="100000"/>
              </a:lnSpc>
              <a:spcBef>
                <a:spcPts val="0"/>
              </a:spcBef>
              <a:spcAft>
                <a:spcPts val="60"/>
              </a:spcAft>
            </a:pPr>
            <a:r>
              <a:rPr sz="700" b="0" i="0">
                <a:solidFill>
                  <a:srgbClr val="E5E7EB"/>
                </a:solidFill>
                <a:latin typeface="Consolas"/>
              </a:rPr>
              <a:t>    if (t == 0) $display("M1 RESULT: NAND-only AND/OR/XOR/AB+CD all verified -- PASS");</a:t>
            </a:r>
          </a:p>
          <a:p>
            <a:pPr>
              <a:lnSpc>
                <a:spcPct val="100000"/>
              </a:lnSpc>
              <a:spcBef>
                <a:spcPts val="0"/>
              </a:spcBef>
              <a:spcAft>
                <a:spcPts val="60"/>
              </a:spcAft>
            </a:pPr>
            <a:r>
              <a:rPr sz="700" b="0" i="0">
                <a:solidFill>
                  <a:srgbClr val="E5E7EB"/>
                </a:solidFill>
                <a:latin typeface="Consolas"/>
              </a:rPr>
              <a:t>    else        $display("M1 RESULT: %0d mismatches -- FAIL", t);</a:t>
            </a:r>
          </a:p>
          <a:p>
            <a:pPr>
              <a:lnSpc>
                <a:spcPct val="100000"/>
              </a:lnSpc>
              <a:spcBef>
                <a:spcPts val="0"/>
              </a:spcBef>
              <a:spcAft>
                <a:spcPts val="60"/>
              </a:spcAft>
            </a:pPr>
            <a:r>
              <a:rPr sz="700" b="0" i="0">
                <a:solidFill>
                  <a:srgbClr val="E5E7EB"/>
                </a:solidFill>
                <a:latin typeface="Consolas"/>
              </a:rPr>
              <a:t>    $finish;</a:t>
            </a:r>
          </a:p>
          <a:p>
            <a:pPr>
              <a:lnSpc>
                <a:spcPct val="100000"/>
              </a:lnSpc>
              <a:spcBef>
                <a:spcPts val="0"/>
              </a:spcBef>
              <a:spcAft>
                <a:spcPts val="60"/>
              </a:spcAft>
            </a:pPr>
            <a:r>
              <a:rPr sz="700" b="0" i="0">
                <a:solidFill>
                  <a:srgbClr val="E5E7EB"/>
                </a:solidFill>
                <a:latin typeface="Consolas"/>
              </a:rPr>
              <a:t>  end</a:t>
            </a:r>
          </a:p>
          <a:p>
            <a:pPr>
              <a:lnSpc>
                <a:spcPct val="100000"/>
              </a:lnSpc>
              <a:spcBef>
                <a:spcPts val="0"/>
              </a:spcBef>
              <a:spcAft>
                <a:spcPts val="60"/>
              </a:spcAft>
            </a:pPr>
            <a:r>
              <a:rPr sz="700" b="0" i="0">
                <a:solidFill>
                  <a:srgbClr val="E5E7EB"/>
                </a:solidFill>
                <a:latin typeface="Consolas"/>
              </a:rPr>
              <a:t>endmodule</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iverilog · $ vvp — out/m1_nand_universal.txt</a:t>
            </a:r>
          </a:p>
        </p:txBody>
      </p:sp>
      <p:sp>
        <p:nvSpPr>
          <p:cNvPr id="14" name="TextBox 13"/>
          <p:cNvSpPr txBox="1"/>
          <p:nvPr/>
        </p:nvSpPr>
        <p:spPr>
          <a:xfrm>
            <a:off x="7004304" y="1938528"/>
            <a:ext cx="4572000" cy="4343400"/>
          </a:xfrm>
          <a:prstGeom prst="rect">
            <a:avLst/>
          </a:prstGeom>
          <a:noFill/>
        </p:spPr>
        <p:txBody>
          <a:bodyPr wrap="square" anchor="t" lIns="0" rIns="0" tIns="0" bIns="0">
            <a:spAutoFit/>
          </a:bodyPr>
          <a:lstStyle/>
          <a:p>
            <a:pPr>
              <a:lnSpc>
                <a:spcPct val="100000"/>
              </a:lnSpc>
              <a:spcBef>
                <a:spcPts val="0"/>
              </a:spcBef>
              <a:spcAft>
                <a:spcPts val="60"/>
              </a:spcAft>
            </a:pPr>
            <a:r>
              <a:rPr sz="1250" b="0" i="0">
                <a:solidFill>
                  <a:srgbClr val="14171C"/>
                </a:solidFill>
                <a:latin typeface="Consolas"/>
              </a:rPr>
              <a:t>$ vvp -n m1_nand_universal.vvp</a:t>
            </a:r>
          </a:p>
          <a:p>
            <a:pPr>
              <a:lnSpc>
                <a:spcPct val="100000"/>
              </a:lnSpc>
              <a:spcBef>
                <a:spcPts val="0"/>
              </a:spcBef>
              <a:spcAft>
                <a:spcPts val="60"/>
              </a:spcAft>
            </a:pPr>
            <a:r>
              <a:rPr sz="1250" b="0" i="0">
                <a:solidFill>
                  <a:srgbClr val="14171C"/>
                </a:solidFill>
                <a:latin typeface="Consolas"/>
              </a:rPr>
              <a:t>== M1  NAND universality ==</a:t>
            </a:r>
          </a:p>
          <a:p>
            <a:pPr>
              <a:lnSpc>
                <a:spcPct val="100000"/>
              </a:lnSpc>
              <a:spcBef>
                <a:spcPts val="0"/>
              </a:spcBef>
              <a:spcAft>
                <a:spcPts val="60"/>
              </a:spcAft>
            </a:pPr>
            <a:r>
              <a:rPr sz="1250" b="0" i="0">
                <a:solidFill>
                  <a:srgbClr val="14171C"/>
                </a:solidFill>
                <a:latin typeface="Consolas"/>
              </a:rPr>
              <a:t> A=0 B=0 | NAND-built  AND=0  OR=0  XOR=0</a:t>
            </a:r>
          </a:p>
          <a:p>
            <a:pPr>
              <a:lnSpc>
                <a:spcPct val="100000"/>
              </a:lnSpc>
              <a:spcBef>
                <a:spcPts val="0"/>
              </a:spcBef>
              <a:spcAft>
                <a:spcPts val="60"/>
              </a:spcAft>
            </a:pPr>
            <a:r>
              <a:rPr sz="1250" b="0" i="0">
                <a:solidFill>
                  <a:srgbClr val="14171C"/>
                </a:solidFill>
                <a:latin typeface="Consolas"/>
              </a:rPr>
              <a:t> A=0 B=1 | NAND-built  AND=0  OR=1  XOR=1</a:t>
            </a:r>
          </a:p>
          <a:p>
            <a:pPr>
              <a:lnSpc>
                <a:spcPct val="100000"/>
              </a:lnSpc>
              <a:spcBef>
                <a:spcPts val="0"/>
              </a:spcBef>
              <a:spcAft>
                <a:spcPts val="60"/>
              </a:spcAft>
            </a:pPr>
            <a:r>
              <a:rPr sz="1250" b="0" i="0">
                <a:solidFill>
                  <a:srgbClr val="14171C"/>
                </a:solidFill>
                <a:latin typeface="Consolas"/>
              </a:rPr>
              <a:t> A=1 B=0 | NAND-built  AND=0  OR=1  XOR=1</a:t>
            </a:r>
          </a:p>
          <a:p>
            <a:pPr>
              <a:lnSpc>
                <a:spcPct val="100000"/>
              </a:lnSpc>
              <a:spcBef>
                <a:spcPts val="0"/>
              </a:spcBef>
              <a:spcAft>
                <a:spcPts val="60"/>
              </a:spcAft>
            </a:pPr>
            <a:r>
              <a:rPr sz="1250" b="0" i="0">
                <a:solidFill>
                  <a:srgbClr val="14171C"/>
                </a:solidFill>
                <a:latin typeface="Consolas"/>
              </a:rPr>
              <a:t> A=1 B=1 | NAND-built  AND=1  OR=1  XOR=0</a:t>
            </a:r>
          </a:p>
          <a:p>
            <a:pPr>
              <a:lnSpc>
                <a:spcPct val="100000"/>
              </a:lnSpc>
              <a:spcBef>
                <a:spcPts val="0"/>
              </a:spcBef>
              <a:spcAft>
                <a:spcPts val="60"/>
              </a:spcAft>
            </a:pPr>
            <a:r>
              <a:rPr sz="1250" b="0" i="0">
                <a:solidFill>
                  <a:srgbClr val="14171C"/>
                </a:solidFill>
                <a:latin typeface="Consolas"/>
              </a:rPr>
              <a:t>F=AB+CD vs NAND-NAND over 16 rows : mismatches 0</a:t>
            </a:r>
          </a:p>
          <a:p>
            <a:pPr>
              <a:lnSpc>
                <a:spcPct val="100000"/>
              </a:lnSpc>
              <a:spcBef>
                <a:spcPts val="0"/>
              </a:spcBef>
              <a:spcAft>
                <a:spcPts val="60"/>
              </a:spcAft>
            </a:pPr>
            <a:r>
              <a:rPr sz="1250" b="0" i="0">
                <a:solidFill>
                  <a:srgbClr val="14171C"/>
                </a:solidFill>
                <a:latin typeface="Consolas"/>
              </a:rPr>
              <a:t>M1 RESULT: NAND-only AND/OR/XOR/AB+CD all verified -- PASS</a:t>
            </a:r>
          </a:p>
          <a:p>
            <a:pPr>
              <a:lnSpc>
                <a:spcPct val="100000"/>
              </a:lnSpc>
              <a:spcBef>
                <a:spcPts val="0"/>
              </a:spcBef>
              <a:spcAft>
                <a:spcPts val="60"/>
              </a:spcAft>
            </a:pPr>
            <a:r>
              <a:rPr sz="1250" b="0" i="0">
                <a:solidFill>
                  <a:srgbClr val="14171C"/>
                </a:solidFill>
                <a:latin typeface="Consolas"/>
              </a:rPr>
              <a:t>/home/user/ddco-course/src/m1_nand_universal.v:32: $finish called at 20000 (1ps)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1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8</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State De Morgan's theorems for three variables and verify one row by hand.</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Convert F = Σm(1,3,4,5,10,11,12,13,14) to its maxterm list.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Simplify F(A,B,C,D) = Σm(0,2,3,4,6,7,8,10,11,12,14,15) with a K-map; state which groups you used.</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Why does an 8-cell group delete three literals and not eight?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Draw the NAND-NAND form of F = BD + A'CD' + ABC and count packages.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Q6.  </a:t>
            </a:r>
            <a:r>
              <a:rPr sz="1450" b="0" i="0">
                <a:solidFill>
                  <a:srgbClr val="16181D"/>
                </a:solidFill>
                <a:latin typeface="Calibri"/>
              </a:rPr>
              <a:t>A function has don't-cares at m(10,11,12,13,14,15) and 1s at m(0,2,8): give the minimal SOP.</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§1.5 — these are IA-test-shaped practice.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2 — Combinational and Synchronous Sequential Logic</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9</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CO2</a:t>
            </a:r>
            <a:r>
              <a:rPr sz="1300" b="0" i="0">
                <a:solidFill>
                  <a:srgbClr val="4B5563"/>
                </a:solidFill>
                <a:latin typeface="Calibri"/>
              </a:rPr>
              <a:t>    ·    12 hours</a:t>
            </a:r>
            <a:r>
              <a:rPr sz="1250" b="0" i="0">
                <a:solidFill>
                  <a:srgbClr val="4B5563"/>
                </a:solidFill>
                <a:latin typeface="Calibri"/>
              </a:rPr>
              <a:t>    ·    Textbook-1: Ch. 4 (§ 4.1-4.11)</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Combinational Logic: Introduction, Combinational Circuits, Analysis of Combinational Circuits, Design Procedure, Binary Adder–Subtractor, Decoders, Encoders, Multiplexers.</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Synchronous Sequential Logic: Introduction, Sequential Circuits, Storage Elements: Latches, Flip-Flops.</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Reading: Textbook-1: Chapter- 4 (4.1, 4.2, 4.3, 4.4, 4.5, 4.9, 4.10, 4.11), Chapter-5 (5.1, 5.2, 5.3, 5.4)</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MODULE-2 SYLLABUS (VERBATIM)</a:t>
            </a:r>
          </a:p>
          <a:p>
            <a:pPr>
              <a:lnSpc>
                <a:spcPct val="108000"/>
              </a:lnSpc>
              <a:spcBef>
                <a:spcPts val="0"/>
              </a:spcBef>
              <a:spcAft>
                <a:spcPts val="0"/>
              </a:spcAft>
            </a:pPr>
            <a:r>
              <a:rPr sz="1050" b="0" i="0">
                <a:solidFill>
                  <a:srgbClr val="16181D"/>
                </a:solidFill>
                <a:latin typeface="Calibri"/>
              </a:rPr>
              <a:t>Combinational Logic: Introduction, Combinational Circuits, Analysis of Combinational Circuits, Design Procedure, Binary Adder–Subtractor, Decoders, Encoders, Multiplexers. Synchronous Sequential Logic: Introduction, Sequential Circuits, Storage Elements: Latches, Flip-Flops.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Combinational arithmetic and steering</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10</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One M-line machine: </a:t>
            </a:r>
            <a:r>
              <a:rPr sz="1300" b="0" i="0">
                <a:solidFill>
                  <a:srgbClr val="16181D"/>
                </a:solidFill>
                <a:latin typeface="Consolas"/>
              </a:rPr>
              <a:t>M=0 → A+B ; M=1 → A+B'+1</a:t>
            </a:r>
            <a:r>
              <a:rPr sz="1400" b="0" i="0">
                <a:solidFill>
                  <a:srgbClr val="16181D"/>
                </a:solidFill>
                <a:latin typeface="Calibri"/>
              </a:rPr>
              <a:t> — the 2's-complement trick, wired once.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Borrow semantics on display: </a:t>
            </a:r>
            <a:r>
              <a:rPr sz="1200" b="0" i="0">
                <a:solidFill>
                  <a:srgbClr val="B3261E"/>
                </a:solidFill>
                <a:latin typeface="Consolas"/>
              </a:rPr>
              <a:t>9-5  = 4, C=1 -&gt; no borrow</a:t>
            </a:r>
            <a:r>
              <a:rPr sz="1400" b="0" i="0">
                <a:solidFill>
                  <a:srgbClr val="16181D"/>
                </a:solidFill>
                <a:latin typeface="Calibri"/>
              </a:rPr>
              <a:t> while </a:t>
            </a:r>
            <a:r>
              <a:rPr sz="1150" b="0" i="0">
                <a:solidFill>
                  <a:srgbClr val="B3261E"/>
                </a:solidFill>
                <a:latin typeface="Consolas"/>
              </a:rPr>
              <a:t>3-7  -&gt; 2's comp 12, C=0 means borrow</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Not sampled — proven: </a:t>
            </a:r>
            <a:r>
              <a:rPr sz="1050" b="0" i="0">
                <a:solidFill>
                  <a:srgbClr val="B3261E"/>
                </a:solidFill>
                <a:latin typeface="Consolas"/>
              </a:rPr>
              <a:t>exhaustive: 256 adds + 256 subtracts + carry/borrow flag: mismatches 0</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Half/Full adders &amp; subtractors (LA-3) get the same sweep: </a:t>
            </a:r>
            <a:r>
              <a:rPr sz="1200" b="0" i="0">
                <a:solidFill>
                  <a:srgbClr val="B3261E"/>
                </a:solidFill>
                <a:latin typeface="Consolas"/>
              </a:rPr>
              <a:t>exhaustive adder4 mismatches : 0 / 256</a:t>
            </a:r>
            <a:r>
              <a:rPr sz="1400" b="0" i="0">
                <a:solidFill>
                  <a:srgbClr val="16181D"/>
                </a:solidFill>
                <a:latin typeface="Calibri"/>
              </a:rPr>
              <a:t> after 4+8+4+8 rows of cells.</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Decoder = minterm generator, mux = function, demux = decoder that carries data (LA-4 routes every row: </a:t>
            </a:r>
            <a:r>
              <a:rPr sz="1200" b="0" i="0">
                <a:solidFill>
                  <a:srgbClr val="B3261E"/>
                </a:solidFill>
                <a:latin typeface="Consolas"/>
              </a:rPr>
              <a:t> 1 11 | 1000    | 00001000</a:t>
            </a:r>
            <a:r>
              <a:rPr sz="1400" b="0" i="0">
                <a:solidFill>
                  <a:srgbClr val="16181D"/>
                </a:solidFill>
                <a:latin typeface="Calibri"/>
              </a:rPr>
              <a:t>).</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src/la02_addsub4.v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20" b="0" i="0">
                <a:solidFill>
                  <a:srgbClr val="E5E7EB"/>
                </a:solidFill>
                <a:latin typeface="Consolas"/>
              </a:rPr>
              <a:t>`timescale 1ns/1ps</a:t>
            </a:r>
          </a:p>
          <a:p>
            <a:pPr>
              <a:lnSpc>
                <a:spcPct val="100000"/>
              </a:lnSpc>
              <a:spcBef>
                <a:spcPts val="0"/>
              </a:spcBef>
              <a:spcAft>
                <a:spcPts val="60"/>
              </a:spcAft>
            </a:pPr>
            <a:r>
              <a:rPr sz="620" b="0" i="0">
                <a:solidFill>
                  <a:srgbClr val="E5E7EB"/>
                </a:solidFill>
                <a:latin typeface="Consolas"/>
              </a:rPr>
              <a:t>// LA-2: 4-bit adder-subtractor using XOR gates + four full adders.</a:t>
            </a:r>
          </a:p>
          <a:p>
            <a:pPr>
              <a:lnSpc>
                <a:spcPct val="100000"/>
              </a:lnSpc>
              <a:spcBef>
                <a:spcPts val="0"/>
              </a:spcBef>
              <a:spcAft>
                <a:spcPts val="60"/>
              </a:spcAft>
            </a:pPr>
            <a:r>
              <a:rPr sz="620" b="0" i="0">
                <a:solidFill>
                  <a:srgbClr val="E5E7EB"/>
                </a:solidFill>
                <a:latin typeface="Consolas"/>
              </a:rPr>
              <a:t>// M=0 -&gt; A+B ;  M=1 -&gt; A-B (A + B' + 1).  Functionality verified for</a:t>
            </a:r>
          </a:p>
          <a:p>
            <a:pPr>
              <a:lnSpc>
                <a:spcPct val="100000"/>
              </a:lnSpc>
              <a:spcBef>
                <a:spcPts val="0"/>
              </a:spcBef>
              <a:spcAft>
                <a:spcPts val="60"/>
              </a:spcAft>
            </a:pPr>
            <a:r>
              <a:rPr sz="620" b="0" i="0">
                <a:solidFill>
                  <a:srgbClr val="E5E7EB"/>
                </a:solidFill>
                <a:latin typeface="Consolas"/>
              </a:rPr>
              <a:t>// directed input combinations AND exhaustively over all 256 (A,B) pairs.</a:t>
            </a:r>
          </a:p>
          <a:p>
            <a:pPr>
              <a:lnSpc>
                <a:spcPct val="100000"/>
              </a:lnSpc>
              <a:spcBef>
                <a:spcPts val="0"/>
              </a:spcBef>
              <a:spcAft>
                <a:spcPts val="60"/>
              </a:spcAft>
            </a:pPr>
            <a:r>
              <a:rPr sz="620" b="0" i="0">
                <a:solidFill>
                  <a:srgbClr val="E5E7EB"/>
                </a:solidFill>
                <a:latin typeface="Consolas"/>
              </a:rPr>
              <a:t>module fa (input a, b, cin, output s, cout);</a:t>
            </a:r>
          </a:p>
          <a:p>
            <a:pPr>
              <a:lnSpc>
                <a:spcPct val="100000"/>
              </a:lnSpc>
              <a:spcBef>
                <a:spcPts val="0"/>
              </a:spcBef>
              <a:spcAft>
                <a:spcPts val="60"/>
              </a:spcAft>
            </a:pPr>
            <a:r>
              <a:rPr sz="620" b="0" i="0">
                <a:solidFill>
                  <a:srgbClr val="E5E7EB"/>
                </a:solidFill>
                <a:latin typeface="Consolas"/>
              </a:rPr>
              <a:t>  assign s    = a ^ b ^ cin;</a:t>
            </a:r>
          </a:p>
          <a:p>
            <a:pPr>
              <a:lnSpc>
                <a:spcPct val="100000"/>
              </a:lnSpc>
              <a:spcBef>
                <a:spcPts val="0"/>
              </a:spcBef>
              <a:spcAft>
                <a:spcPts val="60"/>
              </a:spcAft>
            </a:pPr>
            <a:r>
              <a:rPr sz="620" b="0" i="0">
                <a:solidFill>
                  <a:srgbClr val="E5E7EB"/>
                </a:solidFill>
                <a:latin typeface="Consolas"/>
              </a:rPr>
              <a:t>  assign cout = (a &amp; b) | (cin &amp; (a ^ b));</a:t>
            </a:r>
          </a:p>
          <a:p>
            <a:pPr>
              <a:lnSpc>
                <a:spcPct val="100000"/>
              </a:lnSpc>
              <a:spcBef>
                <a:spcPts val="0"/>
              </a:spcBef>
              <a:spcAft>
                <a:spcPts val="60"/>
              </a:spcAft>
            </a:pPr>
            <a:r>
              <a:rPr sz="620" b="0" i="0">
                <a:solidFill>
                  <a:srgbClr val="E5E7EB"/>
                </a:solidFill>
                <a:latin typeface="Consolas"/>
              </a:rPr>
              <a:t>endmodule</a:t>
            </a:r>
          </a:p>
          <a:p>
            <a:pPr>
              <a:lnSpc>
                <a:spcPct val="100000"/>
              </a:lnSpc>
              <a:spcBef>
                <a:spcPts val="0"/>
              </a:spcBef>
              <a:spcAft>
                <a:spcPts val="60"/>
              </a:spcAft>
            </a:pPr>
            <a:r>
              <a:rPr sz="620" b="0" i="0">
                <a:solidFill>
                  <a:srgbClr val="E5E7EB"/>
                </a:solidFill>
                <a:latin typeface="Consolas"/>
              </a:rPr>
              <a:t>module addsub4 (input [3:0] A, B, input M, output [3:0] R, output C);</a:t>
            </a:r>
          </a:p>
          <a:p>
            <a:pPr>
              <a:lnSpc>
                <a:spcPct val="100000"/>
              </a:lnSpc>
              <a:spcBef>
                <a:spcPts val="0"/>
              </a:spcBef>
              <a:spcAft>
                <a:spcPts val="60"/>
              </a:spcAft>
            </a:pPr>
            <a:r>
              <a:rPr sz="620" b="0" i="0">
                <a:solidFill>
                  <a:srgbClr val="E5E7EB"/>
                </a:solidFill>
                <a:latin typeface="Consolas"/>
              </a:rPr>
              <a:t>  wire [3:0] Bx;  wire c0, c1, c2;</a:t>
            </a:r>
          </a:p>
          <a:p>
            <a:pPr>
              <a:lnSpc>
                <a:spcPct val="100000"/>
              </a:lnSpc>
              <a:spcBef>
                <a:spcPts val="0"/>
              </a:spcBef>
              <a:spcAft>
                <a:spcPts val="60"/>
              </a:spcAft>
            </a:pPr>
            <a:r>
              <a:rPr sz="620" b="0" i="0">
                <a:solidFill>
                  <a:srgbClr val="E5E7EB"/>
                </a:solidFill>
                <a:latin typeface="Consolas"/>
              </a:rPr>
              <a:t>  xor x0 (Bx[0], B[0], M);  xor x1 (Bx[1], B[1], M);</a:t>
            </a:r>
          </a:p>
          <a:p>
            <a:pPr>
              <a:lnSpc>
                <a:spcPct val="100000"/>
              </a:lnSpc>
              <a:spcBef>
                <a:spcPts val="0"/>
              </a:spcBef>
              <a:spcAft>
                <a:spcPts val="60"/>
              </a:spcAft>
            </a:pPr>
            <a:r>
              <a:rPr sz="620" b="0" i="0">
                <a:solidFill>
                  <a:srgbClr val="E5E7EB"/>
                </a:solidFill>
                <a:latin typeface="Consolas"/>
              </a:rPr>
              <a:t>  xor x2 (Bx[2], B[2], M);  xor x3 (Bx[3], B[3], M);</a:t>
            </a:r>
          </a:p>
          <a:p>
            <a:pPr>
              <a:lnSpc>
                <a:spcPct val="100000"/>
              </a:lnSpc>
              <a:spcBef>
                <a:spcPts val="0"/>
              </a:spcBef>
              <a:spcAft>
                <a:spcPts val="60"/>
              </a:spcAft>
            </a:pPr>
            <a:r>
              <a:rPr sz="620" b="0" i="0">
                <a:solidFill>
                  <a:srgbClr val="E5E7EB"/>
                </a:solidFill>
                <a:latin typeface="Consolas"/>
              </a:rPr>
              <a:t>  fa f0 (.a(A[0]), .b(Bx[0]), .cin(M),    .s(R[0]), .cout(c0));</a:t>
            </a:r>
          </a:p>
          <a:p>
            <a:pPr>
              <a:lnSpc>
                <a:spcPct val="100000"/>
              </a:lnSpc>
              <a:spcBef>
                <a:spcPts val="0"/>
              </a:spcBef>
              <a:spcAft>
                <a:spcPts val="60"/>
              </a:spcAft>
            </a:pPr>
            <a:r>
              <a:rPr sz="620" b="0" i="0">
                <a:solidFill>
                  <a:srgbClr val="E5E7EB"/>
                </a:solidFill>
                <a:latin typeface="Consolas"/>
              </a:rPr>
              <a:t>  fa f1 (.a(A[1]), .b(Bx[1]), .cin(c0),   .s(R[1]), .cout(c1));</a:t>
            </a:r>
          </a:p>
          <a:p>
            <a:pPr>
              <a:lnSpc>
                <a:spcPct val="100000"/>
              </a:lnSpc>
              <a:spcBef>
                <a:spcPts val="0"/>
              </a:spcBef>
              <a:spcAft>
                <a:spcPts val="60"/>
              </a:spcAft>
            </a:pPr>
            <a:r>
              <a:rPr sz="620" b="0" i="0">
                <a:solidFill>
                  <a:srgbClr val="E5E7EB"/>
                </a:solidFill>
                <a:latin typeface="Consolas"/>
              </a:rPr>
              <a:t>  fa f2 (.a(A[2]), .b(Bx[2]), .cin(c1),   .s(R[2]), .cout(c2));</a:t>
            </a:r>
          </a:p>
          <a:p>
            <a:pPr>
              <a:lnSpc>
                <a:spcPct val="100000"/>
              </a:lnSpc>
              <a:spcBef>
                <a:spcPts val="0"/>
              </a:spcBef>
              <a:spcAft>
                <a:spcPts val="60"/>
              </a:spcAft>
            </a:pPr>
            <a:r>
              <a:rPr sz="620" b="0" i="0">
                <a:solidFill>
                  <a:srgbClr val="E5E7EB"/>
                </a:solidFill>
                <a:latin typeface="Consolas"/>
              </a:rPr>
              <a:t>  fa f3 (.a(A[3]), .b(Bx[3]), .cin(c2),   .s(R[3]), .cout(C));</a:t>
            </a:r>
          </a:p>
          <a:p>
            <a:pPr>
              <a:lnSpc>
                <a:spcPct val="100000"/>
              </a:lnSpc>
              <a:spcBef>
                <a:spcPts val="0"/>
              </a:spcBef>
              <a:spcAft>
                <a:spcPts val="60"/>
              </a:spcAft>
            </a:pPr>
            <a:r>
              <a:rPr sz="620" b="0" i="0">
                <a:solidFill>
                  <a:srgbClr val="E5E7EB"/>
                </a:solidFill>
                <a:latin typeface="Consolas"/>
              </a:rPr>
              <a:t>endmodule</a:t>
            </a:r>
          </a:p>
          <a:p>
            <a:pPr>
              <a:lnSpc>
                <a:spcPct val="100000"/>
              </a:lnSpc>
              <a:spcBef>
                <a:spcPts val="0"/>
              </a:spcBef>
              <a:spcAft>
                <a:spcPts val="60"/>
              </a:spcAft>
            </a:pPr>
            <a:r>
              <a:rPr sz="620" b="0" i="0">
                <a:solidFill>
                  <a:srgbClr val="E5E7EB"/>
                </a:solidFill>
                <a:latin typeface="Consolas"/>
              </a:rPr>
              <a:t>module tb;</a:t>
            </a:r>
          </a:p>
          <a:p>
            <a:pPr>
              <a:lnSpc>
                <a:spcPct val="100000"/>
              </a:lnSpc>
              <a:spcBef>
                <a:spcPts val="0"/>
              </a:spcBef>
              <a:spcAft>
                <a:spcPts val="60"/>
              </a:spcAft>
            </a:pPr>
            <a:r>
              <a:rPr sz="620" b="0" i="0">
                <a:solidFill>
                  <a:srgbClr val="E5E7EB"/>
                </a:solidFill>
                <a:latin typeface="Consolas"/>
              </a:rPr>
              <a:t>  reg [3:0] A, B;  reg M;  wire C;  wire [3:0] R;  integer i, e;</a:t>
            </a:r>
          </a:p>
          <a:p>
            <a:pPr>
              <a:lnSpc>
                <a:spcPct val="100000"/>
              </a:lnSpc>
              <a:spcBef>
                <a:spcPts val="0"/>
              </a:spcBef>
              <a:spcAft>
                <a:spcPts val="60"/>
              </a:spcAft>
            </a:pPr>
            <a:r>
              <a:rPr sz="620" b="0" i="0">
                <a:solidFill>
                  <a:srgbClr val="E5E7EB"/>
                </a:solidFill>
                <a:latin typeface="Consolas"/>
              </a:rPr>
              <a:t>  addsub4 U (.A(A), .B(B), .M(M), .R(R), .C(C));</a:t>
            </a:r>
          </a:p>
          <a:p>
            <a:pPr>
              <a:lnSpc>
                <a:spcPct val="100000"/>
              </a:lnSpc>
              <a:spcBef>
                <a:spcPts val="0"/>
              </a:spcBef>
              <a:spcAft>
                <a:spcPts val="60"/>
              </a:spcAft>
            </a:pPr>
            <a:r>
              <a:rPr sz="620" b="0" i="0">
                <a:solidFill>
                  <a:srgbClr val="E5E7EB"/>
                </a:solidFill>
                <a:latin typeface="Consolas"/>
              </a:rPr>
              <a:t>  initial begin</a:t>
            </a:r>
          </a:p>
          <a:p>
            <a:pPr>
              <a:lnSpc>
                <a:spcPct val="100000"/>
              </a:lnSpc>
              <a:spcBef>
                <a:spcPts val="0"/>
              </a:spcBef>
              <a:spcAft>
                <a:spcPts val="60"/>
              </a:spcAft>
            </a:pPr>
            <a:r>
              <a:rPr sz="620" b="0" i="0">
                <a:solidFill>
                  <a:srgbClr val="E5E7EB"/>
                </a:solidFill>
                <a:latin typeface="Consolas"/>
              </a:rPr>
              <a:t>    e = 0;</a:t>
            </a:r>
          </a:p>
          <a:p>
            <a:pPr>
              <a:lnSpc>
                <a:spcPct val="100000"/>
              </a:lnSpc>
              <a:spcBef>
                <a:spcPts val="0"/>
              </a:spcBef>
              <a:spcAft>
                <a:spcPts val="60"/>
              </a:spcAft>
            </a:pPr>
            <a:r>
              <a:rPr sz="620" b="0" i="0">
                <a:solidFill>
                  <a:srgbClr val="E5E7EB"/>
                </a:solidFill>
                <a:latin typeface="Consolas"/>
              </a:rPr>
              <a:t>    $display("== LA-2  4-bit adder-subtractor (XOR + full adders), M = mode select ==");</a:t>
            </a:r>
          </a:p>
          <a:p>
            <a:pPr>
              <a:lnSpc>
                <a:spcPct val="100000"/>
              </a:lnSpc>
              <a:spcBef>
                <a:spcPts val="0"/>
              </a:spcBef>
              <a:spcAft>
                <a:spcPts val="60"/>
              </a:spcAft>
            </a:pPr>
            <a:r>
              <a:rPr sz="620" b="0" i="0">
                <a:solidFill>
                  <a:srgbClr val="E5E7EB"/>
                </a:solidFill>
                <a:latin typeface="Consolas"/>
              </a:rPr>
              <a:t>    $display(" A  B  M |  R    C | meaning");</a:t>
            </a:r>
          </a:p>
          <a:p>
            <a:pPr>
              <a:lnSpc>
                <a:spcPct val="100000"/>
              </a:lnSpc>
              <a:spcBef>
                <a:spcPts val="0"/>
              </a:spcBef>
              <a:spcAft>
                <a:spcPts val="60"/>
              </a:spcAft>
            </a:pPr>
            <a:r>
              <a:rPr sz="620" b="0" i="0">
                <a:solidFill>
                  <a:srgbClr val="E5E7EB"/>
                </a:solidFill>
                <a:latin typeface="Consolas"/>
              </a:rPr>
              <a:t>    A = 4'd9;  B = 4'd5;  M = 0; #1;</a:t>
            </a:r>
          </a:p>
          <a:p>
            <a:pPr>
              <a:lnSpc>
                <a:spcPct val="100000"/>
              </a:lnSpc>
              <a:spcBef>
                <a:spcPts val="0"/>
              </a:spcBef>
              <a:spcAft>
                <a:spcPts val="60"/>
              </a:spcAft>
            </a:pPr>
            <a:r>
              <a:rPr sz="620" b="0" i="0">
                <a:solidFill>
                  <a:srgbClr val="E5E7EB"/>
                </a:solidFill>
                <a:latin typeface="Consolas"/>
              </a:rPr>
              <a:t>    $display(" %02d %02d  %b | %b  %b | 9+5  = %0d", A, B, M, R, C, {C,R});</a:t>
            </a:r>
          </a:p>
          <a:p>
            <a:pPr>
              <a:lnSpc>
                <a:spcPct val="100000"/>
              </a:lnSpc>
              <a:spcBef>
                <a:spcPts val="0"/>
              </a:spcBef>
              <a:spcAft>
                <a:spcPts val="60"/>
              </a:spcAft>
            </a:pPr>
            <a:r>
              <a:rPr sz="620" b="0" i="0">
                <a:solidFill>
                  <a:srgbClr val="E5E7EB"/>
                </a:solidFill>
                <a:latin typeface="Consolas"/>
              </a:rPr>
              <a:t>    A = 4'd9;  B = 4'd5;  M = 1; #1;</a:t>
            </a:r>
          </a:p>
          <a:p>
            <a:pPr>
              <a:lnSpc>
                <a:spcPct val="100000"/>
              </a:lnSpc>
              <a:spcBef>
                <a:spcPts val="0"/>
              </a:spcBef>
              <a:spcAft>
                <a:spcPts val="60"/>
              </a:spcAft>
            </a:pPr>
            <a:r>
              <a:rPr sz="620" b="0" i="0">
                <a:solidFill>
                  <a:srgbClr val="E5E7EB"/>
                </a:solidFill>
                <a:latin typeface="Consolas"/>
              </a:rPr>
              <a:t>    $display(" %02d %02d  %b | %b  %b | 9-5  = %0d, C=1 -&gt; no borrow", A, B, M, R, C, A-B);</a:t>
            </a:r>
          </a:p>
          <a:p>
            <a:pPr>
              <a:lnSpc>
                <a:spcPct val="100000"/>
              </a:lnSpc>
              <a:spcBef>
                <a:spcPts val="0"/>
              </a:spcBef>
              <a:spcAft>
                <a:spcPts val="60"/>
              </a:spcAft>
            </a:pPr>
            <a:r>
              <a:rPr sz="620" b="0" i="0">
                <a:solidFill>
                  <a:srgbClr val="E5E7EB"/>
                </a:solidFill>
                <a:latin typeface="Consolas"/>
              </a:rPr>
              <a:t>    A = 4'd3;  B = 4'd7;  M = 1; #1;</a:t>
            </a:r>
          </a:p>
          <a:p>
            <a:pPr>
              <a:lnSpc>
                <a:spcPct val="100000"/>
              </a:lnSpc>
              <a:spcBef>
                <a:spcPts val="0"/>
              </a:spcBef>
              <a:spcAft>
                <a:spcPts val="60"/>
              </a:spcAft>
            </a:pPr>
            <a:r>
              <a:rPr sz="620" b="0" i="0">
                <a:solidFill>
                  <a:srgbClr val="E5E7EB"/>
                </a:solidFill>
                <a:latin typeface="Consolas"/>
              </a:rPr>
              <a:t>    $display(" %02d %02d  %b | %b  %b | 3-7  -&gt; 2's comp %0d, C=0 means borrow", A, B, M, R, C, {C,R});</a:t>
            </a:r>
          </a:p>
          <a:p>
            <a:pPr>
              <a:lnSpc>
                <a:spcPct val="100000"/>
              </a:lnSpc>
              <a:spcBef>
                <a:spcPts val="0"/>
              </a:spcBef>
              <a:spcAft>
                <a:spcPts val="60"/>
              </a:spcAft>
            </a:pPr>
            <a:r>
              <a:rPr sz="620" b="0" i="0">
                <a:solidFill>
                  <a:srgbClr val="E5E7EB"/>
                </a:solidFill>
                <a:latin typeface="Consolas"/>
              </a:rPr>
              <a:t>    A = 4'd15; B = 4'd15; M = 0; #1;</a:t>
            </a:r>
          </a:p>
          <a:p>
            <a:pPr>
              <a:lnSpc>
                <a:spcPct val="100000"/>
              </a:lnSpc>
              <a:spcBef>
                <a:spcPts val="0"/>
              </a:spcBef>
              <a:spcAft>
                <a:spcPts val="60"/>
              </a:spcAft>
            </a:pPr>
            <a:r>
              <a:rPr sz="620" b="0" i="0">
                <a:solidFill>
                  <a:srgbClr val="E5E7EB"/>
                </a:solidFill>
                <a:latin typeface="Consolas"/>
              </a:rPr>
              <a:t>    $display(" %02d %02d  %b | %b  %b | 15+15 = 30 = {C,R} = {%b,%b}", A, B, M, R, C, C, R);</a:t>
            </a:r>
          </a:p>
          <a:p>
            <a:pPr>
              <a:lnSpc>
                <a:spcPct val="100000"/>
              </a:lnSpc>
              <a:spcBef>
                <a:spcPts val="0"/>
              </a:spcBef>
              <a:spcAft>
                <a:spcPts val="60"/>
              </a:spcAft>
            </a:pPr>
            <a:r>
              <a:rPr sz="620" b="0" i="0">
                <a:solidFill>
                  <a:srgbClr val="E5E7EB"/>
                </a:solidFill>
                <a:latin typeface="Consolas"/>
              </a:rPr>
              <a:t>    for (i = 0; i &lt; 256; i = i + 1) begin</a:t>
            </a:r>
          </a:p>
          <a:p>
            <a:pPr>
              <a:lnSpc>
                <a:spcPct val="100000"/>
              </a:lnSpc>
              <a:spcBef>
                <a:spcPts val="0"/>
              </a:spcBef>
              <a:spcAft>
                <a:spcPts val="60"/>
              </a:spcAft>
            </a:pPr>
            <a:r>
              <a:rPr sz="620" b="0" i="0">
                <a:solidFill>
                  <a:srgbClr val="E5E7EB"/>
                </a:solidFill>
                <a:latin typeface="Consolas"/>
              </a:rPr>
              <a:t>  …  (complete source: the course book)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Storage elements — latches, flip-flops, waveforms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11</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NOR SR latch: hold / set / reset — and the forbidden state, shown not warned: </a:t>
            </a:r>
            <a:r>
              <a:rPr sz="1200" b="0" i="0">
                <a:solidFill>
                  <a:srgbClr val="B3261E"/>
                </a:solidFill>
                <a:latin typeface="Consolas"/>
              </a:rPr>
              <a:t>SR set (s=1,r=0) -&gt; Q=1</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JK with J=K=1 over two clocks: </a:t>
            </a:r>
            <a:r>
              <a:rPr sz="1150" b="0" i="0">
                <a:solidFill>
                  <a:srgbClr val="B3261E"/>
                </a:solidFill>
                <a:latin typeface="Consolas"/>
              </a:rPr>
              <a:t>JK toggles observed over 2 clocks: 2 (expect 2)</a:t>
            </a:r>
            <a:r>
              <a:rPr sz="1400" b="0" i="0">
                <a:solidFill>
                  <a:srgbClr val="16181D"/>
                </a:solidFill>
                <a:latin typeface="Calibri"/>
              </a:rPr>
              <a:t> — the T flip-flop is that row, named.</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session records waveforms for the report: </a:t>
            </a:r>
            <a:r>
              <a:rPr sz="1200" b="0" i="0">
                <a:solidFill>
                  <a:srgbClr val="B3261E"/>
                </a:solidFill>
                <a:latin typeface="Consolas"/>
              </a:rPr>
              <a:t>168 la05_ff_types.vcd</a:t>
            </a:r>
            <a:r>
              <a:rPr sz="1400" b="0" i="0">
                <a:solidFill>
                  <a:srgbClr val="16181D"/>
                </a:solidFill>
                <a:latin typeface="Calibri"/>
              </a:rPr>
              <a:t> lines of sampled values.</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Synthesis sees real storage: the D cell elaborates to </a:t>
            </a:r>
            <a:r>
              <a:rPr sz="1300" b="0" i="0">
                <a:solidFill>
                  <a:srgbClr val="B3261E"/>
                </a:solidFill>
                <a:latin typeface="Consolas"/>
              </a:rPr>
              <a:t>$adff</a:t>
            </a:r>
            <a:r>
              <a:rPr sz="1400" b="0" i="0">
                <a:solidFill>
                  <a:srgbClr val="16181D"/>
                </a:solidFill>
                <a:latin typeface="Calibri"/>
              </a:rPr>
              <a:t> — an async-reset flip-flop, inferred, not asserted.</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LA-6 master-slave pair survives ten held-toggle edges: </a:t>
            </a:r>
            <a:r>
              <a:rPr sz="1050" b="0" i="0">
                <a:solidFill>
                  <a:srgbClr val="B3261E"/>
                </a:solidFill>
                <a:latin typeface="Consolas"/>
              </a:rPr>
              <a:t>LA-6 RESULT: SR set/reset/hold and JK toggle verified over 10 edges -- PASS</a:t>
            </a:r>
            <a:r>
              <a:rPr sz="1400" b="0" i="0">
                <a:solidFill>
                  <a:srgbClr val="16181D"/>
                </a:solidFill>
                <a:latin typeface="Calibri"/>
              </a:rPr>
              <a:t>.</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src/la05_ff_types.v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`timescale 1ns/1ps</a:t>
            </a:r>
          </a:p>
          <a:p>
            <a:pPr>
              <a:lnSpc>
                <a:spcPct val="100000"/>
              </a:lnSpc>
              <a:spcBef>
                <a:spcPts val="0"/>
              </a:spcBef>
              <a:spcAft>
                <a:spcPts val="60"/>
              </a:spcAft>
            </a:pPr>
            <a:r>
              <a:rPr sz="680" b="0" i="0">
                <a:solidFill>
                  <a:srgbClr val="E5E7EB"/>
                </a:solidFill>
                <a:latin typeface="Consolas"/>
              </a:rPr>
              <a:t>// LA-5: flip-flop family in behavioural Verilog - SR (level, NOR type),</a:t>
            </a:r>
          </a:p>
          <a:p>
            <a:pPr>
              <a:lnSpc>
                <a:spcPct val="100000"/>
              </a:lnSpc>
              <a:spcBef>
                <a:spcPts val="0"/>
              </a:spcBef>
              <a:spcAft>
                <a:spcPts val="60"/>
              </a:spcAft>
            </a:pPr>
            <a:r>
              <a:rPr sz="680" b="0" i="0">
                <a:solidFill>
                  <a:srgbClr val="E5E7EB"/>
                </a:solidFill>
                <a:latin typeface="Consolas"/>
              </a:rPr>
              <a:t>// D flip-flop, JK flip-flop and a T flip-flop derived from JK.</a:t>
            </a:r>
          </a:p>
          <a:p>
            <a:pPr>
              <a:lnSpc>
                <a:spcPct val="100000"/>
              </a:lnSpc>
              <a:spcBef>
                <a:spcPts val="0"/>
              </a:spcBef>
              <a:spcAft>
                <a:spcPts val="60"/>
              </a:spcAft>
            </a:pPr>
            <a:r>
              <a:rPr sz="680" b="0" i="0">
                <a:solidFill>
                  <a:srgbClr val="E5E7EB"/>
                </a:solidFill>
                <a:latin typeface="Consolas"/>
              </a:rPr>
              <a:t>// A clock generator drives 10 edges; the state table is printed at each</a:t>
            </a:r>
          </a:p>
          <a:p>
            <a:pPr>
              <a:lnSpc>
                <a:spcPct val="100000"/>
              </a:lnSpc>
              <a:spcBef>
                <a:spcPts val="0"/>
              </a:spcBef>
              <a:spcAft>
                <a:spcPts val="60"/>
              </a:spcAft>
            </a:pPr>
            <a:r>
              <a:rPr sz="680" b="0" i="0">
                <a:solidFill>
                  <a:srgbClr val="E5E7EB"/>
                </a:solidFill>
                <a:latin typeface="Consolas"/>
              </a:rPr>
              <a:t>// rising edge and the JK toggle property is checked programmatically.</a:t>
            </a:r>
          </a:p>
          <a:p>
            <a:pPr>
              <a:lnSpc>
                <a:spcPct val="100000"/>
              </a:lnSpc>
              <a:spcBef>
                <a:spcPts val="0"/>
              </a:spcBef>
              <a:spcAft>
                <a:spcPts val="60"/>
              </a:spcAft>
            </a:pPr>
            <a:r>
              <a:rPr sz="680" b="0" i="0">
                <a:solidFill>
                  <a:srgbClr val="E5E7EB"/>
                </a:solidFill>
                <a:latin typeface="Consolas"/>
              </a:rPr>
              <a:t>module sr_latch (input s, r, output q, qn);</a:t>
            </a:r>
          </a:p>
          <a:p>
            <a:pPr>
              <a:lnSpc>
                <a:spcPct val="100000"/>
              </a:lnSpc>
              <a:spcBef>
                <a:spcPts val="0"/>
              </a:spcBef>
              <a:spcAft>
                <a:spcPts val="60"/>
              </a:spcAft>
            </a:pPr>
            <a:r>
              <a:rPr sz="680" b="0" i="0">
                <a:solidFill>
                  <a:srgbClr val="E5E7EB"/>
                </a:solidFill>
                <a:latin typeface="Consolas"/>
              </a:rPr>
              <a:t>  nor  n0 (q,  r, qn);  nor  n1 (qn, s, q);   // active-high NOR SR latch: Q=NOR(R,Q'), Q'=NOR(S,Q)</a:t>
            </a:r>
          </a:p>
          <a:p>
            <a:pPr>
              <a:lnSpc>
                <a:spcPct val="100000"/>
              </a:lnSpc>
              <a:spcBef>
                <a:spcPts val="0"/>
              </a:spcBef>
              <a:spcAft>
                <a:spcPts val="60"/>
              </a:spcAft>
            </a:pPr>
            <a:r>
              <a:rPr sz="680" b="0" i="0">
                <a:solidFill>
                  <a:srgbClr val="E5E7EB"/>
                </a:solidFill>
                <a:latin typeface="Consolas"/>
              </a:rPr>
              <a:t>endmodule</a:t>
            </a:r>
          </a:p>
          <a:p>
            <a:pPr>
              <a:lnSpc>
                <a:spcPct val="100000"/>
              </a:lnSpc>
              <a:spcBef>
                <a:spcPts val="0"/>
              </a:spcBef>
              <a:spcAft>
                <a:spcPts val="60"/>
              </a:spcAft>
            </a:pPr>
            <a:r>
              <a:rPr sz="680" b="0" i="0">
                <a:solidFill>
                  <a:srgbClr val="E5E7EB"/>
                </a:solidFill>
                <a:latin typeface="Consolas"/>
              </a:rPr>
              <a:t>module dff (input d, clk, rst, output reg q);</a:t>
            </a:r>
          </a:p>
          <a:p>
            <a:pPr>
              <a:lnSpc>
                <a:spcPct val="100000"/>
              </a:lnSpc>
              <a:spcBef>
                <a:spcPts val="0"/>
              </a:spcBef>
              <a:spcAft>
                <a:spcPts val="60"/>
              </a:spcAft>
            </a:pPr>
            <a:r>
              <a:rPr sz="680" b="0" i="0">
                <a:solidFill>
                  <a:srgbClr val="E5E7EB"/>
                </a:solidFill>
                <a:latin typeface="Consolas"/>
              </a:rPr>
              <a:t>  always @(posedge clk or posedge rst)</a:t>
            </a:r>
          </a:p>
          <a:p>
            <a:pPr>
              <a:lnSpc>
                <a:spcPct val="100000"/>
              </a:lnSpc>
              <a:spcBef>
                <a:spcPts val="0"/>
              </a:spcBef>
              <a:spcAft>
                <a:spcPts val="60"/>
              </a:spcAft>
            </a:pPr>
            <a:r>
              <a:rPr sz="680" b="0" i="0">
                <a:solidFill>
                  <a:srgbClr val="E5E7EB"/>
                </a:solidFill>
                <a:latin typeface="Consolas"/>
              </a:rPr>
              <a:t>    if (rst) q &lt;= 1'b0; else q &lt;= d;</a:t>
            </a:r>
          </a:p>
          <a:p>
            <a:pPr>
              <a:lnSpc>
                <a:spcPct val="100000"/>
              </a:lnSpc>
              <a:spcBef>
                <a:spcPts val="0"/>
              </a:spcBef>
              <a:spcAft>
                <a:spcPts val="60"/>
              </a:spcAft>
            </a:pPr>
            <a:r>
              <a:rPr sz="680" b="0" i="0">
                <a:solidFill>
                  <a:srgbClr val="E5E7EB"/>
                </a:solidFill>
                <a:latin typeface="Consolas"/>
              </a:rPr>
              <a:t>endmodule</a:t>
            </a:r>
          </a:p>
          <a:p>
            <a:pPr>
              <a:lnSpc>
                <a:spcPct val="100000"/>
              </a:lnSpc>
              <a:spcBef>
                <a:spcPts val="0"/>
              </a:spcBef>
              <a:spcAft>
                <a:spcPts val="60"/>
              </a:spcAft>
            </a:pPr>
            <a:r>
              <a:rPr sz="680" b="0" i="0">
                <a:solidFill>
                  <a:srgbClr val="E5E7EB"/>
                </a:solidFill>
                <a:latin typeface="Consolas"/>
              </a:rPr>
              <a:t>module jkff (input j, k, clk, rst, output reg q, output qn);</a:t>
            </a:r>
          </a:p>
          <a:p>
            <a:pPr>
              <a:lnSpc>
                <a:spcPct val="100000"/>
              </a:lnSpc>
              <a:spcBef>
                <a:spcPts val="0"/>
              </a:spcBef>
              <a:spcAft>
                <a:spcPts val="60"/>
              </a:spcAft>
            </a:pPr>
            <a:r>
              <a:rPr sz="680" b="0" i="0">
                <a:solidFill>
                  <a:srgbClr val="E5E7EB"/>
                </a:solidFill>
                <a:latin typeface="Consolas"/>
              </a:rPr>
              <a:t>  always @(posedge clk or posedge rst)</a:t>
            </a:r>
          </a:p>
          <a:p>
            <a:pPr>
              <a:lnSpc>
                <a:spcPct val="100000"/>
              </a:lnSpc>
              <a:spcBef>
                <a:spcPts val="0"/>
              </a:spcBef>
              <a:spcAft>
                <a:spcPts val="60"/>
              </a:spcAft>
            </a:pPr>
            <a:r>
              <a:rPr sz="680" b="0" i="0">
                <a:solidFill>
                  <a:srgbClr val="E5E7EB"/>
                </a:solidFill>
                <a:latin typeface="Consolas"/>
              </a:rPr>
              <a:t>    if (rst)          q &lt;= 1'b0;</a:t>
            </a:r>
          </a:p>
          <a:p>
            <a:pPr>
              <a:lnSpc>
                <a:spcPct val="100000"/>
              </a:lnSpc>
              <a:spcBef>
                <a:spcPts val="0"/>
              </a:spcBef>
              <a:spcAft>
                <a:spcPts val="60"/>
              </a:spcAft>
            </a:pPr>
            <a:r>
              <a:rPr sz="680" b="0" i="0">
                <a:solidFill>
                  <a:srgbClr val="E5E7EB"/>
                </a:solidFill>
                <a:latin typeface="Consolas"/>
              </a:rPr>
              <a:t>    else if (j &amp; ~k)  q &lt;= 1'b1;</a:t>
            </a:r>
          </a:p>
          <a:p>
            <a:pPr>
              <a:lnSpc>
                <a:spcPct val="100000"/>
              </a:lnSpc>
              <a:spcBef>
                <a:spcPts val="0"/>
              </a:spcBef>
              <a:spcAft>
                <a:spcPts val="60"/>
              </a:spcAft>
            </a:pPr>
            <a:r>
              <a:rPr sz="680" b="0" i="0">
                <a:solidFill>
                  <a:srgbClr val="E5E7EB"/>
                </a:solidFill>
                <a:latin typeface="Consolas"/>
              </a:rPr>
              <a:t>    else if (~j &amp; k)  q &lt;= 1'b0;</a:t>
            </a:r>
          </a:p>
          <a:p>
            <a:pPr>
              <a:lnSpc>
                <a:spcPct val="100000"/>
              </a:lnSpc>
              <a:spcBef>
                <a:spcPts val="0"/>
              </a:spcBef>
              <a:spcAft>
                <a:spcPts val="60"/>
              </a:spcAft>
            </a:pPr>
            <a:r>
              <a:rPr sz="680" b="0" i="0">
                <a:solidFill>
                  <a:srgbClr val="E5E7EB"/>
                </a:solidFill>
                <a:latin typeface="Consolas"/>
              </a:rPr>
              <a:t>    else if (j &amp; k)   q &lt;= ~q;             // toggle</a:t>
            </a:r>
          </a:p>
          <a:p>
            <a:pPr>
              <a:lnSpc>
                <a:spcPct val="100000"/>
              </a:lnSpc>
              <a:spcBef>
                <a:spcPts val="0"/>
              </a:spcBef>
              <a:spcAft>
                <a:spcPts val="60"/>
              </a:spcAft>
            </a:pPr>
            <a:r>
              <a:rPr sz="680" b="0" i="0">
                <a:solidFill>
                  <a:srgbClr val="E5E7EB"/>
                </a:solidFill>
                <a:latin typeface="Consolas"/>
              </a:rPr>
              <a:t>  assign qn = ~q;</a:t>
            </a:r>
          </a:p>
          <a:p>
            <a:pPr>
              <a:lnSpc>
                <a:spcPct val="100000"/>
              </a:lnSpc>
              <a:spcBef>
                <a:spcPts val="0"/>
              </a:spcBef>
              <a:spcAft>
                <a:spcPts val="60"/>
              </a:spcAft>
            </a:pPr>
            <a:r>
              <a:rPr sz="680" b="0" i="0">
                <a:solidFill>
                  <a:srgbClr val="E5E7EB"/>
                </a:solidFill>
                <a:latin typeface="Consolas"/>
              </a:rPr>
              <a:t>endmodule</a:t>
            </a:r>
          </a:p>
          <a:p>
            <a:pPr>
              <a:lnSpc>
                <a:spcPct val="100000"/>
              </a:lnSpc>
              <a:spcBef>
                <a:spcPts val="0"/>
              </a:spcBef>
              <a:spcAft>
                <a:spcPts val="60"/>
              </a:spcAft>
            </a:pPr>
            <a:r>
              <a:rPr sz="680" b="0" i="0">
                <a:solidFill>
                  <a:srgbClr val="E5E7EB"/>
                </a:solidFill>
                <a:latin typeface="Consolas"/>
              </a:rPr>
              <a:t>module tff (input t, clk, rst, output reg q);</a:t>
            </a:r>
          </a:p>
          <a:p>
            <a:pPr>
              <a:lnSpc>
                <a:spcPct val="100000"/>
              </a:lnSpc>
              <a:spcBef>
                <a:spcPts val="0"/>
              </a:spcBef>
              <a:spcAft>
                <a:spcPts val="60"/>
              </a:spcAft>
            </a:pPr>
            <a:r>
              <a:rPr sz="680" b="0" i="0">
                <a:solidFill>
                  <a:srgbClr val="E5E7EB"/>
                </a:solidFill>
                <a:latin typeface="Consolas"/>
              </a:rPr>
              <a:t>  always @(posedge clk or posedge rst)</a:t>
            </a:r>
          </a:p>
          <a:p>
            <a:pPr>
              <a:lnSpc>
                <a:spcPct val="100000"/>
              </a:lnSpc>
              <a:spcBef>
                <a:spcPts val="0"/>
              </a:spcBef>
              <a:spcAft>
                <a:spcPts val="60"/>
              </a:spcAft>
            </a:pPr>
            <a:r>
              <a:rPr sz="680" b="0" i="0">
                <a:solidFill>
                  <a:srgbClr val="E5E7EB"/>
                </a:solidFill>
                <a:latin typeface="Consolas"/>
              </a:rPr>
              <a:t>    if (rst) q &lt;= 1'b0; else if (t) q &lt;= ~q;</a:t>
            </a:r>
          </a:p>
          <a:p>
            <a:pPr>
              <a:lnSpc>
                <a:spcPct val="100000"/>
              </a:lnSpc>
              <a:spcBef>
                <a:spcPts val="0"/>
              </a:spcBef>
              <a:spcAft>
                <a:spcPts val="60"/>
              </a:spcAft>
            </a:pPr>
            <a:r>
              <a:rPr sz="680" b="0" i="0">
                <a:solidFill>
                  <a:srgbClr val="E5E7EB"/>
                </a:solidFill>
                <a:latin typeface="Consolas"/>
              </a:rPr>
              <a:t>endmodule</a:t>
            </a:r>
          </a:p>
          <a:p>
            <a:pPr>
              <a:lnSpc>
                <a:spcPct val="100000"/>
              </a:lnSpc>
              <a:spcBef>
                <a:spcPts val="0"/>
              </a:spcBef>
              <a:spcAft>
                <a:spcPts val="60"/>
              </a:spcAft>
            </a:pPr>
            <a:r>
              <a:rPr sz="680" b="0" i="0">
                <a:solidFill>
                  <a:srgbClr val="E5E7EB"/>
                </a:solidFill>
                <a:latin typeface="Consolas"/>
              </a:rPr>
              <a:t>module tb;</a:t>
            </a:r>
          </a:p>
          <a:p>
            <a:pPr>
              <a:lnSpc>
                <a:spcPct val="100000"/>
              </a:lnSpc>
              <a:spcBef>
                <a:spcPts val="0"/>
              </a:spcBef>
              <a:spcAft>
                <a:spcPts val="60"/>
              </a:spcAft>
            </a:pPr>
            <a:r>
              <a:rPr sz="680" b="0" i="0">
                <a:solidFill>
                  <a:srgbClr val="E5E7EB"/>
                </a:solidFill>
                <a:latin typeface="Consolas"/>
              </a:rPr>
              <a:t>  reg clk = 0, rst, s, r, d, j, k, t;</a:t>
            </a:r>
          </a:p>
          <a:p>
            <a:pPr>
              <a:lnSpc>
                <a:spcPct val="100000"/>
              </a:lnSpc>
              <a:spcBef>
                <a:spcPts val="0"/>
              </a:spcBef>
              <a:spcAft>
                <a:spcPts val="60"/>
              </a:spcAft>
            </a:pPr>
            <a:r>
              <a:rPr sz="680" b="0" i="0">
                <a:solidFill>
                  <a:srgbClr val="E5E7EB"/>
                </a:solidFill>
                <a:latin typeface="Consolas"/>
              </a:rPr>
              <a:t>  wire qsr, qnsr, qd, qjk, qjkn, qt;</a:t>
            </a:r>
          </a:p>
          <a:p>
            <a:pPr>
              <a:lnSpc>
                <a:spcPct val="100000"/>
              </a:lnSpc>
              <a:spcBef>
                <a:spcPts val="0"/>
              </a:spcBef>
              <a:spcAft>
                <a:spcPts val="60"/>
              </a:spcAft>
            </a:pPr>
            <a:r>
              <a:rPr sz="680" b="0" i="0">
                <a:solidFill>
                  <a:srgbClr val="E5E7EB"/>
                </a:solidFill>
                <a:latin typeface="Consolas"/>
              </a:rPr>
              <a:t>  sr_latch L (.s(s), .r(r), .q(qsr), .qn(qnsr));</a:t>
            </a:r>
          </a:p>
          <a:p>
            <a:pPr>
              <a:lnSpc>
                <a:spcPct val="100000"/>
              </a:lnSpc>
              <a:spcBef>
                <a:spcPts val="0"/>
              </a:spcBef>
              <a:spcAft>
                <a:spcPts val="60"/>
              </a:spcAft>
            </a:pPr>
            <a:r>
              <a:rPr sz="680" b="0" i="0">
                <a:solidFill>
                  <a:srgbClr val="E5E7EB"/>
                </a:solidFill>
                <a:latin typeface="Consolas"/>
              </a:rPr>
              <a:t>  dff      D (.d(d),  .clk(clk), .rst(rst), .q(qd));</a:t>
            </a:r>
          </a:p>
          <a:p>
            <a:pPr>
              <a:lnSpc>
                <a:spcPct val="100000"/>
              </a:lnSpc>
              <a:spcBef>
                <a:spcPts val="0"/>
              </a:spcBef>
              <a:spcAft>
                <a:spcPts val="60"/>
              </a:spcAft>
            </a:pPr>
            <a:r>
              <a:rPr sz="680" b="0" i="0">
                <a:solidFill>
                  <a:srgbClr val="E5E7EB"/>
                </a:solidFill>
                <a:latin typeface="Consolas"/>
              </a:rPr>
              <a:t>  jkff     J (.j(j),  .k(k),     .clk(clk), .rst(rst), .q(qjk), .qn(qjkn));</a:t>
            </a:r>
          </a:p>
          <a:p>
            <a:pPr>
              <a:lnSpc>
                <a:spcPct val="100000"/>
              </a:lnSpc>
              <a:spcBef>
                <a:spcPts val="0"/>
              </a:spcBef>
              <a:spcAft>
                <a:spcPts val="60"/>
              </a:spcAft>
            </a:pPr>
            <a:r>
              <a:rPr sz="680" b="0" i="0">
                <a:solidFill>
                  <a:srgbClr val="E5E7EB"/>
                </a:solidFill>
                <a:latin typeface="Consolas"/>
              </a:rPr>
              <a:t>  tff      T (.t(t),   .clk(clk), .rst(rst), .q(qt));</a:t>
            </a:r>
          </a:p>
          <a:p>
            <a:pPr>
              <a:lnSpc>
                <a:spcPct val="100000"/>
              </a:lnSpc>
              <a:spcBef>
                <a:spcPts val="0"/>
              </a:spcBef>
              <a:spcAft>
                <a:spcPts val="60"/>
              </a:spcAft>
            </a:pPr>
            <a:r>
              <a:rPr sz="680" b="0" i="0">
                <a:solidFill>
                  <a:srgbClr val="E5E7EB"/>
                </a:solidFill>
                <a:latin typeface="Consolas"/>
              </a:rPr>
              <a:t>  integer e, toggles;</a:t>
            </a:r>
          </a:p>
          <a:p>
            <a:pPr>
              <a:lnSpc>
                <a:spcPct val="100000"/>
              </a:lnSpc>
              <a:spcBef>
                <a:spcPts val="0"/>
              </a:spcBef>
              <a:spcAft>
                <a:spcPts val="60"/>
              </a:spcAft>
            </a:pPr>
            <a:r>
              <a:rPr sz="680" b="0" i="0">
                <a:solidFill>
                  <a:srgbClr val="E5E7EB"/>
                </a:solidFill>
                <a:latin typeface="Consolas"/>
              </a:rPr>
              <a:t>  always #5 clk = ~clk;</a:t>
            </a:r>
          </a:p>
          <a:p>
            <a:pPr>
              <a:lnSpc>
                <a:spcPct val="100000"/>
              </a:lnSpc>
              <a:spcBef>
                <a:spcPts val="0"/>
              </a:spcBef>
              <a:spcAft>
                <a:spcPts val="60"/>
              </a:spcAft>
            </a:pPr>
            <a:r>
              <a:rPr sz="680" b="0" i="0">
                <a:solidFill>
                  <a:srgbClr val="E5E7EB"/>
                </a:solidFill>
                <a:latin typeface="Consolas"/>
              </a:rPr>
              <a:t>  …  (complete source: the course book)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m2_alu4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12</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src/m2_alu4.v</a:t>
            </a:r>
          </a:p>
        </p:txBody>
      </p:sp>
      <p:sp>
        <p:nvSpPr>
          <p:cNvPr id="11" name="TextBox 10"/>
          <p:cNvSpPr txBox="1"/>
          <p:nvPr/>
        </p:nvSpPr>
        <p:spPr>
          <a:xfrm>
            <a:off x="667512" y="1975104"/>
            <a:ext cx="5815584" cy="432511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Module-2 demo: 4-bit ALU with opcode select - the arithmetic core that</a:t>
            </a:r>
          </a:p>
          <a:p>
            <a:pPr>
              <a:lnSpc>
                <a:spcPct val="100000"/>
              </a:lnSpc>
              <a:spcBef>
                <a:spcPts val="0"/>
              </a:spcBef>
              <a:spcAft>
                <a:spcPts val="60"/>
              </a:spcAft>
            </a:pPr>
            <a:r>
              <a:rPr sz="700" b="0" i="0">
                <a:solidFill>
                  <a:srgbClr val="E5E7EB"/>
                </a:solidFill>
                <a:latin typeface="Consolas"/>
              </a:rPr>
              <a:t>// Module-5's datapath will reuse.</a:t>
            </a:r>
          </a:p>
          <a:p>
            <a:pPr>
              <a:lnSpc>
                <a:spcPct val="100000"/>
              </a:lnSpc>
              <a:spcBef>
                <a:spcPts val="0"/>
              </a:spcBef>
              <a:spcAft>
                <a:spcPts val="60"/>
              </a:spcAft>
            </a:pPr>
            <a:r>
              <a:rPr sz="700" b="0" i="0">
                <a:solidFill>
                  <a:srgbClr val="E5E7EB"/>
                </a:solidFill>
                <a:latin typeface="Consolas"/>
              </a:rPr>
              <a:t>module alu4 (input [3:0] A, B, input [2:0] S, output reg [3:0] R, output reg Z);</a:t>
            </a:r>
          </a:p>
          <a:p>
            <a:pPr>
              <a:lnSpc>
                <a:spcPct val="100000"/>
              </a:lnSpc>
              <a:spcBef>
                <a:spcPts val="0"/>
              </a:spcBef>
              <a:spcAft>
                <a:spcPts val="60"/>
              </a:spcAft>
            </a:pPr>
            <a:r>
              <a:rPr sz="700" b="0" i="0">
                <a:solidFill>
                  <a:srgbClr val="E5E7EB"/>
                </a:solidFill>
                <a:latin typeface="Consolas"/>
              </a:rPr>
              <a:t>  always @(*) begin</a:t>
            </a:r>
          </a:p>
          <a:p>
            <a:pPr>
              <a:lnSpc>
                <a:spcPct val="100000"/>
              </a:lnSpc>
              <a:spcBef>
                <a:spcPts val="0"/>
              </a:spcBef>
              <a:spcAft>
                <a:spcPts val="60"/>
              </a:spcAft>
            </a:pPr>
            <a:r>
              <a:rPr sz="700" b="0" i="0">
                <a:solidFill>
                  <a:srgbClr val="E5E7EB"/>
                </a:solidFill>
                <a:latin typeface="Consolas"/>
              </a:rPr>
              <a:t>    case (S)</a:t>
            </a:r>
          </a:p>
          <a:p>
            <a:pPr>
              <a:lnSpc>
                <a:spcPct val="100000"/>
              </a:lnSpc>
              <a:spcBef>
                <a:spcPts val="0"/>
              </a:spcBef>
              <a:spcAft>
                <a:spcPts val="60"/>
              </a:spcAft>
            </a:pPr>
            <a:r>
              <a:rPr sz="700" b="0" i="0">
                <a:solidFill>
                  <a:srgbClr val="E5E7EB"/>
                </a:solidFill>
                <a:latin typeface="Consolas"/>
              </a:rPr>
              <a:t>      3'd0: R = A + B;      3'd1: R = A - B;</a:t>
            </a:r>
          </a:p>
          <a:p>
            <a:pPr>
              <a:lnSpc>
                <a:spcPct val="100000"/>
              </a:lnSpc>
              <a:spcBef>
                <a:spcPts val="0"/>
              </a:spcBef>
              <a:spcAft>
                <a:spcPts val="60"/>
              </a:spcAft>
            </a:pPr>
            <a:r>
              <a:rPr sz="700" b="0" i="0">
                <a:solidFill>
                  <a:srgbClr val="E5E7EB"/>
                </a:solidFill>
                <a:latin typeface="Consolas"/>
              </a:rPr>
              <a:t>      3'd2: R = A &amp; B;      3'd3: R = A | B;</a:t>
            </a:r>
          </a:p>
          <a:p>
            <a:pPr>
              <a:lnSpc>
                <a:spcPct val="100000"/>
              </a:lnSpc>
              <a:spcBef>
                <a:spcPts val="0"/>
              </a:spcBef>
              <a:spcAft>
                <a:spcPts val="60"/>
              </a:spcAft>
            </a:pPr>
            <a:r>
              <a:rPr sz="700" b="0" i="0">
                <a:solidFill>
                  <a:srgbClr val="E5E7EB"/>
                </a:solidFill>
                <a:latin typeface="Consolas"/>
              </a:rPr>
              <a:t>      3'd4: R = A ^ B;      3'd5: R = ~A;</a:t>
            </a:r>
          </a:p>
          <a:p>
            <a:pPr>
              <a:lnSpc>
                <a:spcPct val="100000"/>
              </a:lnSpc>
              <a:spcBef>
                <a:spcPts val="0"/>
              </a:spcBef>
              <a:spcAft>
                <a:spcPts val="60"/>
              </a:spcAft>
            </a:pPr>
            <a:r>
              <a:rPr sz="700" b="0" i="0">
                <a:solidFill>
                  <a:srgbClr val="E5E7EB"/>
                </a:solidFill>
                <a:latin typeface="Consolas"/>
              </a:rPr>
              <a:t>      3'd6: R = {A[2:0], 1'b0};   // shift left</a:t>
            </a:r>
          </a:p>
          <a:p>
            <a:pPr>
              <a:lnSpc>
                <a:spcPct val="100000"/>
              </a:lnSpc>
              <a:spcBef>
                <a:spcPts val="0"/>
              </a:spcBef>
              <a:spcAft>
                <a:spcPts val="60"/>
              </a:spcAft>
            </a:pPr>
            <a:r>
              <a:rPr sz="700" b="0" i="0">
                <a:solidFill>
                  <a:srgbClr val="E5E7EB"/>
                </a:solidFill>
                <a:latin typeface="Consolas"/>
              </a:rPr>
              <a:t>      default: R = 4'b0000;</a:t>
            </a:r>
          </a:p>
          <a:p>
            <a:pPr>
              <a:lnSpc>
                <a:spcPct val="100000"/>
              </a:lnSpc>
              <a:spcBef>
                <a:spcPts val="0"/>
              </a:spcBef>
              <a:spcAft>
                <a:spcPts val="60"/>
              </a:spcAft>
            </a:pPr>
            <a:r>
              <a:rPr sz="700" b="0" i="0">
                <a:solidFill>
                  <a:srgbClr val="E5E7EB"/>
                </a:solidFill>
                <a:latin typeface="Consolas"/>
              </a:rPr>
              <a:t>    endcase</a:t>
            </a:r>
          </a:p>
          <a:p>
            <a:pPr>
              <a:lnSpc>
                <a:spcPct val="100000"/>
              </a:lnSpc>
              <a:spcBef>
                <a:spcPts val="0"/>
              </a:spcBef>
              <a:spcAft>
                <a:spcPts val="60"/>
              </a:spcAft>
            </a:pPr>
            <a:r>
              <a:rPr sz="700" b="0" i="0">
                <a:solidFill>
                  <a:srgbClr val="E5E7EB"/>
                </a:solidFill>
                <a:latin typeface="Consolas"/>
              </a:rPr>
              <a:t>    Z = (R == 4'b0000);</a:t>
            </a:r>
          </a:p>
          <a:p>
            <a:pPr>
              <a:lnSpc>
                <a:spcPct val="100000"/>
              </a:lnSpc>
              <a:spcBef>
                <a:spcPts val="0"/>
              </a:spcBef>
              <a:spcAft>
                <a:spcPts val="60"/>
              </a:spcAft>
            </a:pPr>
            <a:r>
              <a:rPr sz="700" b="0" i="0">
                <a:solidFill>
                  <a:srgbClr val="E5E7EB"/>
                </a:solidFill>
                <a:latin typeface="Consolas"/>
              </a:rPr>
              <a:t>  end</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tb;</a:t>
            </a:r>
          </a:p>
          <a:p>
            <a:pPr>
              <a:lnSpc>
                <a:spcPct val="100000"/>
              </a:lnSpc>
              <a:spcBef>
                <a:spcPts val="0"/>
              </a:spcBef>
              <a:spcAft>
                <a:spcPts val="60"/>
              </a:spcAft>
            </a:pPr>
            <a:r>
              <a:rPr sz="700" b="0" i="0">
                <a:solidFill>
                  <a:srgbClr val="E5E7EB"/>
                </a:solidFill>
                <a:latin typeface="Consolas"/>
              </a:rPr>
              <a:t>  reg [3:0] A, B; reg [2:0] S; wire [3:0] R; wire Z; integer i; reg e;</a:t>
            </a:r>
          </a:p>
          <a:p>
            <a:pPr>
              <a:lnSpc>
                <a:spcPct val="100000"/>
              </a:lnSpc>
              <a:spcBef>
                <a:spcPts val="0"/>
              </a:spcBef>
              <a:spcAft>
                <a:spcPts val="60"/>
              </a:spcAft>
            </a:pPr>
            <a:r>
              <a:rPr sz="700" b="0" i="0">
                <a:solidFill>
                  <a:srgbClr val="E5E7EB"/>
                </a:solidFill>
                <a:latin typeface="Consolas"/>
              </a:rPr>
              <a:t>  alu4 U (.A(A), .B(B), .S(S), .R(R), .Z(Z));</a:t>
            </a:r>
          </a:p>
          <a:p>
            <a:pPr>
              <a:lnSpc>
                <a:spcPct val="100000"/>
              </a:lnSpc>
              <a:spcBef>
                <a:spcPts val="0"/>
              </a:spcBef>
              <a:spcAft>
                <a:spcPts val="60"/>
              </a:spcAft>
            </a:pPr>
            <a:r>
              <a:rPr sz="700" b="0" i="0">
                <a:solidFill>
                  <a:srgbClr val="E5E7EB"/>
                </a:solidFill>
                <a:latin typeface="Consolas"/>
              </a:rPr>
              <a:t>  initial begin</a:t>
            </a:r>
          </a:p>
          <a:p>
            <a:pPr>
              <a:lnSpc>
                <a:spcPct val="100000"/>
              </a:lnSpc>
              <a:spcBef>
                <a:spcPts val="0"/>
              </a:spcBef>
              <a:spcAft>
                <a:spcPts val="60"/>
              </a:spcAft>
            </a:pPr>
            <a:r>
              <a:rPr sz="700" b="0" i="0">
                <a:solidFill>
                  <a:srgbClr val="E5E7EB"/>
                </a:solidFill>
                <a:latin typeface="Consolas"/>
              </a:rPr>
              <a:t>    e = 0;</a:t>
            </a:r>
          </a:p>
          <a:p>
            <a:pPr>
              <a:lnSpc>
                <a:spcPct val="100000"/>
              </a:lnSpc>
              <a:spcBef>
                <a:spcPts val="0"/>
              </a:spcBef>
              <a:spcAft>
                <a:spcPts val="60"/>
              </a:spcAft>
            </a:pPr>
            <a:r>
              <a:rPr sz="700" b="0" i="0">
                <a:solidFill>
                  <a:srgbClr val="E5E7EB"/>
                </a:solidFill>
                <a:latin typeface="Consolas"/>
              </a:rPr>
              <a:t>    $display("== M2  4-bit ALU ==");</a:t>
            </a:r>
          </a:p>
          <a:p>
            <a:pPr>
              <a:lnSpc>
                <a:spcPct val="100000"/>
              </a:lnSpc>
              <a:spcBef>
                <a:spcPts val="0"/>
              </a:spcBef>
              <a:spcAft>
                <a:spcPts val="60"/>
              </a:spcAft>
            </a:pPr>
            <a:r>
              <a:rPr sz="700" b="0" i="0">
                <a:solidFill>
                  <a:srgbClr val="E5E7EB"/>
                </a:solidFill>
                <a:latin typeface="Consolas"/>
              </a:rPr>
              <a:t>    A = 4'd9; B = 4'd5;</a:t>
            </a:r>
          </a:p>
          <a:p>
            <a:pPr>
              <a:lnSpc>
                <a:spcPct val="100000"/>
              </a:lnSpc>
              <a:spcBef>
                <a:spcPts val="0"/>
              </a:spcBef>
              <a:spcAft>
                <a:spcPts val="60"/>
              </a:spcAft>
            </a:pPr>
            <a:r>
              <a:rPr sz="700" b="0" i="0">
                <a:solidFill>
                  <a:srgbClr val="E5E7EB"/>
                </a:solidFill>
                <a:latin typeface="Consolas"/>
              </a:rPr>
              <a:t>    for (i = 0; i &lt; 7; i = i + 1) begin</a:t>
            </a:r>
          </a:p>
          <a:p>
            <a:pPr>
              <a:lnSpc>
                <a:spcPct val="100000"/>
              </a:lnSpc>
              <a:spcBef>
                <a:spcPts val="0"/>
              </a:spcBef>
              <a:spcAft>
                <a:spcPts val="60"/>
              </a:spcAft>
            </a:pPr>
            <a:r>
              <a:rPr sz="700" b="0" i="0">
                <a:solidFill>
                  <a:srgbClr val="E5E7EB"/>
                </a:solidFill>
                <a:latin typeface="Consolas"/>
              </a:rPr>
              <a:t>      S = i[2:0]; #1;</a:t>
            </a:r>
          </a:p>
          <a:p>
            <a:pPr>
              <a:lnSpc>
                <a:spcPct val="100000"/>
              </a:lnSpc>
              <a:spcBef>
                <a:spcPts val="0"/>
              </a:spcBef>
              <a:spcAft>
                <a:spcPts val="60"/>
              </a:spcAft>
            </a:pPr>
            <a:r>
              <a:rPr sz="700" b="0" i="0">
                <a:solidFill>
                  <a:srgbClr val="E5E7EB"/>
                </a:solidFill>
                <a:latin typeface="Consolas"/>
              </a:rPr>
              <a:t>      $display("  op=%b  9 op 5 = %b  Z=%b", S, R, Z);</a:t>
            </a:r>
          </a:p>
          <a:p>
            <a:pPr>
              <a:lnSpc>
                <a:spcPct val="100000"/>
              </a:lnSpc>
              <a:spcBef>
                <a:spcPts val="0"/>
              </a:spcBef>
              <a:spcAft>
                <a:spcPts val="60"/>
              </a:spcAft>
            </a:pPr>
            <a:r>
              <a:rPr sz="700" b="0" i="0">
                <a:solidFill>
                  <a:srgbClr val="E5E7EB"/>
                </a:solidFill>
                <a:latin typeface="Consolas"/>
              </a:rPr>
              <a:t>      case (i)</a:t>
            </a:r>
          </a:p>
          <a:p>
            <a:pPr>
              <a:lnSpc>
                <a:spcPct val="100000"/>
              </a:lnSpc>
              <a:spcBef>
                <a:spcPts val="0"/>
              </a:spcBef>
              <a:spcAft>
                <a:spcPts val="60"/>
              </a:spcAft>
            </a:pPr>
            <a:r>
              <a:rPr sz="700" b="0" i="0">
                <a:solidFill>
                  <a:srgbClr val="E5E7EB"/>
                </a:solidFill>
                <a:latin typeface="Consolas"/>
              </a:rPr>
              <a:t>        0: if (R !== 4'd14) e = 1;</a:t>
            </a:r>
          </a:p>
          <a:p>
            <a:pPr>
              <a:lnSpc>
                <a:spcPct val="100000"/>
              </a:lnSpc>
              <a:spcBef>
                <a:spcPts val="0"/>
              </a:spcBef>
              <a:spcAft>
                <a:spcPts val="60"/>
              </a:spcAft>
            </a:pPr>
            <a:r>
              <a:rPr sz="700" b="0" i="0">
                <a:solidFill>
                  <a:srgbClr val="E5E7EB"/>
                </a:solidFill>
                <a:latin typeface="Consolas"/>
              </a:rPr>
              <a:t>        1: if (R !== 4'd4)  e = 1;</a:t>
            </a:r>
          </a:p>
          <a:p>
            <a:pPr>
              <a:lnSpc>
                <a:spcPct val="100000"/>
              </a:lnSpc>
              <a:spcBef>
                <a:spcPts val="0"/>
              </a:spcBef>
              <a:spcAft>
                <a:spcPts val="60"/>
              </a:spcAft>
            </a:pPr>
            <a:r>
              <a:rPr sz="700" b="0" i="0">
                <a:solidFill>
                  <a:srgbClr val="E5E7EB"/>
                </a:solidFill>
                <a:latin typeface="Consolas"/>
              </a:rPr>
              <a:t>        2: if (R !== 4'd1)  e = 1;</a:t>
            </a:r>
          </a:p>
          <a:p>
            <a:pPr>
              <a:lnSpc>
                <a:spcPct val="100000"/>
              </a:lnSpc>
              <a:spcBef>
                <a:spcPts val="0"/>
              </a:spcBef>
              <a:spcAft>
                <a:spcPts val="60"/>
              </a:spcAft>
            </a:pPr>
            <a:r>
              <a:rPr sz="700" b="0" i="0">
                <a:solidFill>
                  <a:srgbClr val="E5E7EB"/>
                </a:solidFill>
                <a:latin typeface="Consolas"/>
              </a:rPr>
              <a:t>        3: if (R !== 4'd13) e = 1;</a:t>
            </a:r>
          </a:p>
          <a:p>
            <a:pPr>
              <a:lnSpc>
                <a:spcPct val="100000"/>
              </a:lnSpc>
              <a:spcBef>
                <a:spcPts val="0"/>
              </a:spcBef>
              <a:spcAft>
                <a:spcPts val="60"/>
              </a:spcAft>
            </a:pPr>
            <a:r>
              <a:rPr sz="700" b="0" i="0">
                <a:solidFill>
                  <a:srgbClr val="E5E7EB"/>
                </a:solidFill>
                <a:latin typeface="Consolas"/>
              </a:rPr>
              <a:t>        4: if (R !== 4'd12) e = 1;</a:t>
            </a:r>
          </a:p>
          <a:p>
            <a:pPr>
              <a:lnSpc>
                <a:spcPct val="100000"/>
              </a:lnSpc>
              <a:spcBef>
                <a:spcPts val="0"/>
              </a:spcBef>
              <a:spcAft>
                <a:spcPts val="60"/>
              </a:spcAft>
            </a:pPr>
            <a:r>
              <a:rPr sz="700" b="0" i="0">
                <a:solidFill>
                  <a:srgbClr val="E5E7EB"/>
                </a:solidFill>
                <a:latin typeface="Consolas"/>
              </a:rPr>
              <a:t>        5: if (R !== 4'd6)  e = 1;   // ~9 = 0110</a:t>
            </a:r>
          </a:p>
          <a:p>
            <a:pPr>
              <a:lnSpc>
                <a:spcPct val="100000"/>
              </a:lnSpc>
              <a:spcBef>
                <a:spcPts val="0"/>
              </a:spcBef>
              <a:spcAft>
                <a:spcPts val="60"/>
              </a:spcAft>
            </a:pPr>
            <a:r>
              <a:rPr sz="700" b="0" i="0">
                <a:solidFill>
                  <a:srgbClr val="E5E7EB"/>
                </a:solidFill>
                <a:latin typeface="Consolas"/>
              </a:rPr>
              <a:t>        6: if (R !== 4'd2)  e = 1;   // 9&lt;&lt;1 -&gt; 10010 low4 = 0010</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iverilog · $ vvp — out/m2_alu4.txt</a:t>
            </a:r>
          </a:p>
        </p:txBody>
      </p:sp>
      <p:sp>
        <p:nvSpPr>
          <p:cNvPr id="14" name="TextBox 13"/>
          <p:cNvSpPr txBox="1"/>
          <p:nvPr/>
        </p:nvSpPr>
        <p:spPr>
          <a:xfrm>
            <a:off x="7004304" y="1938528"/>
            <a:ext cx="4572000" cy="4343400"/>
          </a:xfrm>
          <a:prstGeom prst="rect">
            <a:avLst/>
          </a:prstGeom>
          <a:noFill/>
        </p:spPr>
        <p:txBody>
          <a:bodyPr wrap="square" anchor="t" lIns="0" rIns="0" tIns="0" bIns="0">
            <a:spAutoFit/>
          </a:bodyPr>
          <a:lstStyle/>
          <a:p>
            <a:pPr>
              <a:lnSpc>
                <a:spcPct val="100000"/>
              </a:lnSpc>
              <a:spcBef>
                <a:spcPts val="0"/>
              </a:spcBef>
              <a:spcAft>
                <a:spcPts val="60"/>
              </a:spcAft>
            </a:pPr>
            <a:r>
              <a:rPr sz="1250" b="0" i="0">
                <a:solidFill>
                  <a:srgbClr val="14171C"/>
                </a:solidFill>
                <a:latin typeface="Consolas"/>
              </a:rPr>
              <a:t>$ vvp -n m2_alu4.vvp</a:t>
            </a:r>
          </a:p>
          <a:p>
            <a:pPr>
              <a:lnSpc>
                <a:spcPct val="100000"/>
              </a:lnSpc>
              <a:spcBef>
                <a:spcPts val="0"/>
              </a:spcBef>
              <a:spcAft>
                <a:spcPts val="60"/>
              </a:spcAft>
            </a:pPr>
            <a:r>
              <a:rPr sz="1250" b="0" i="0">
                <a:solidFill>
                  <a:srgbClr val="14171C"/>
                </a:solidFill>
                <a:latin typeface="Consolas"/>
              </a:rPr>
              <a:t>== M2  4-bit ALU ==</a:t>
            </a:r>
          </a:p>
          <a:p>
            <a:pPr>
              <a:lnSpc>
                <a:spcPct val="100000"/>
              </a:lnSpc>
              <a:spcBef>
                <a:spcPts val="0"/>
              </a:spcBef>
              <a:spcAft>
                <a:spcPts val="60"/>
              </a:spcAft>
            </a:pPr>
            <a:r>
              <a:rPr sz="1250" b="0" i="0">
                <a:solidFill>
                  <a:srgbClr val="14171C"/>
                </a:solidFill>
                <a:latin typeface="Consolas"/>
              </a:rPr>
              <a:t>  op=000  9 op 5 = 1110  Z=0</a:t>
            </a:r>
          </a:p>
          <a:p>
            <a:pPr>
              <a:lnSpc>
                <a:spcPct val="100000"/>
              </a:lnSpc>
              <a:spcBef>
                <a:spcPts val="0"/>
              </a:spcBef>
              <a:spcAft>
                <a:spcPts val="60"/>
              </a:spcAft>
            </a:pPr>
            <a:r>
              <a:rPr sz="1250" b="0" i="0">
                <a:solidFill>
                  <a:srgbClr val="14171C"/>
                </a:solidFill>
                <a:latin typeface="Consolas"/>
              </a:rPr>
              <a:t>  op=001  9 op 5 = 0100  Z=0</a:t>
            </a:r>
          </a:p>
          <a:p>
            <a:pPr>
              <a:lnSpc>
                <a:spcPct val="100000"/>
              </a:lnSpc>
              <a:spcBef>
                <a:spcPts val="0"/>
              </a:spcBef>
              <a:spcAft>
                <a:spcPts val="60"/>
              </a:spcAft>
            </a:pPr>
            <a:r>
              <a:rPr sz="1250" b="0" i="0">
                <a:solidFill>
                  <a:srgbClr val="14171C"/>
                </a:solidFill>
                <a:latin typeface="Consolas"/>
              </a:rPr>
              <a:t>  op=010  9 op 5 = 0001  Z=0</a:t>
            </a:r>
          </a:p>
          <a:p>
            <a:pPr>
              <a:lnSpc>
                <a:spcPct val="100000"/>
              </a:lnSpc>
              <a:spcBef>
                <a:spcPts val="0"/>
              </a:spcBef>
              <a:spcAft>
                <a:spcPts val="60"/>
              </a:spcAft>
            </a:pPr>
            <a:r>
              <a:rPr sz="1250" b="0" i="0">
                <a:solidFill>
                  <a:srgbClr val="14171C"/>
                </a:solidFill>
                <a:latin typeface="Consolas"/>
              </a:rPr>
              <a:t>  op=011  9 op 5 = 1101  Z=0</a:t>
            </a:r>
          </a:p>
          <a:p>
            <a:pPr>
              <a:lnSpc>
                <a:spcPct val="100000"/>
              </a:lnSpc>
              <a:spcBef>
                <a:spcPts val="0"/>
              </a:spcBef>
              <a:spcAft>
                <a:spcPts val="60"/>
              </a:spcAft>
            </a:pPr>
            <a:r>
              <a:rPr sz="1250" b="0" i="0">
                <a:solidFill>
                  <a:srgbClr val="14171C"/>
                </a:solidFill>
                <a:latin typeface="Consolas"/>
              </a:rPr>
              <a:t>  op=100  9 op 5 = 1100  Z=0</a:t>
            </a:r>
          </a:p>
          <a:p>
            <a:pPr>
              <a:lnSpc>
                <a:spcPct val="100000"/>
              </a:lnSpc>
              <a:spcBef>
                <a:spcPts val="0"/>
              </a:spcBef>
              <a:spcAft>
                <a:spcPts val="60"/>
              </a:spcAft>
            </a:pPr>
            <a:r>
              <a:rPr sz="1250" b="0" i="0">
                <a:solidFill>
                  <a:srgbClr val="14171C"/>
                </a:solidFill>
                <a:latin typeface="Consolas"/>
              </a:rPr>
              <a:t>  op=101  9 op 5 = 0110  Z=0</a:t>
            </a:r>
          </a:p>
          <a:p>
            <a:pPr>
              <a:lnSpc>
                <a:spcPct val="100000"/>
              </a:lnSpc>
              <a:spcBef>
                <a:spcPts val="0"/>
              </a:spcBef>
              <a:spcAft>
                <a:spcPts val="60"/>
              </a:spcAft>
            </a:pPr>
            <a:r>
              <a:rPr sz="1250" b="0" i="0">
                <a:solidFill>
                  <a:srgbClr val="14171C"/>
                </a:solidFill>
                <a:latin typeface="Consolas"/>
              </a:rPr>
              <a:t>  op=110  9 op 5 = 0010  Z=0</a:t>
            </a:r>
          </a:p>
          <a:p>
            <a:pPr>
              <a:lnSpc>
                <a:spcPct val="100000"/>
              </a:lnSpc>
              <a:spcBef>
                <a:spcPts val="0"/>
              </a:spcBef>
              <a:spcAft>
                <a:spcPts val="60"/>
              </a:spcAft>
            </a:pPr>
            <a:r>
              <a:rPr sz="1250" b="0" i="0">
                <a:solidFill>
                  <a:srgbClr val="14171C"/>
                </a:solidFill>
                <a:latin typeface="Consolas"/>
              </a:rPr>
              <a:t>  A-B with A=B=5 -&gt; R=0000 Z=1 (zero flag set)</a:t>
            </a:r>
          </a:p>
          <a:p>
            <a:pPr>
              <a:lnSpc>
                <a:spcPct val="100000"/>
              </a:lnSpc>
              <a:spcBef>
                <a:spcPts val="0"/>
              </a:spcBef>
              <a:spcAft>
                <a:spcPts val="60"/>
              </a:spcAft>
            </a:pPr>
            <a:r>
              <a:rPr sz="1250" b="0" i="0">
                <a:solidFill>
                  <a:srgbClr val="14171C"/>
                </a:solidFill>
                <a:latin typeface="Consolas"/>
              </a:rPr>
              <a:t>M2 RESULT: 7 ALU ops + zero flag verified -- PASS</a:t>
            </a:r>
          </a:p>
          <a:p>
            <a:pPr>
              <a:lnSpc>
                <a:spcPct val="100000"/>
              </a:lnSpc>
              <a:spcBef>
                <a:spcPts val="0"/>
              </a:spcBef>
              <a:spcAft>
                <a:spcPts val="60"/>
              </a:spcAft>
            </a:pPr>
            <a:r>
              <a:rPr sz="1250" b="0" i="0">
                <a:solidFill>
                  <a:srgbClr val="14171C"/>
                </a:solidFill>
                <a:latin typeface="Consolas"/>
              </a:rPr>
              <a:t>/home/user/ddco-course/src/m2_alu4.v:41: $finish called at 8000 (1ps)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2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13</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Design a BCD-to-excess-3 converter: truth table, one K-map, gate count.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A 4-bit adder-subtractor receives A=0011, B=0101, M=1. Give the result and the borrow flag.</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Why does a decoder need an enable, and how do you build 4×16 from 74138 chips?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Show with a transition table why S=R=1 is forbidden in a NOR latch and what happens on release.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A JK flip-flop latches with J=K=1, t_pd = 30 ns while the clock stays high 100 ns. What follows?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Q6.  </a:t>
            </a:r>
            <a:r>
              <a:rPr sz="1450" b="0" i="0">
                <a:solidFill>
                  <a:srgbClr val="16181D"/>
                </a:solidFill>
                <a:latin typeface="Calibri"/>
              </a:rPr>
              <a:t>Implement F(A,B,C,D)=Σm(1,3,4,5,10,11,12,13,14) on an 8:1 mux: list the eight data inputs.</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§2.5 — these are IA-test-shaped practice.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Module 3 — Basic Structure of Computers and Machine Instructions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14</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CO3</a:t>
            </a:r>
            <a:r>
              <a:rPr sz="1300" b="0" i="0">
                <a:solidFill>
                  <a:srgbClr val="4B5563"/>
                </a:solidFill>
                <a:latin typeface="Calibri"/>
              </a:rPr>
              <a:t>    ·    10 hours</a:t>
            </a:r>
            <a:r>
              <a:rPr sz="1250" b="0" i="0">
                <a:solidFill>
                  <a:srgbClr val="4B5563"/>
                </a:solidFill>
                <a:latin typeface="Calibri"/>
              </a:rPr>
              <a:t>    ·    Textbook-2: Ch. 1 (§ 1.2-1.6)</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Basic Structure of Computers: Functional Units, Basic Operational Concepts, Bus structure, Performance – Processor Clock, Basic Performance Equation, Clock Rate, Instruction Set: CISC and RISC, Performance Measurement.</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Machine Instructions and Programs: Memory Location and Addresses, Memory Operations, Instruction and Instruction sequencing, Addressing Modes.</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Reading: Textbook-2: Chapter -1 (1.2, 1.3, 1.4, 1.6), Chapter -2 (2.2, 2.3, 2.4, 2.5)</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MODULE-3 SYLLABUS (VERBATIM)</a:t>
            </a:r>
          </a:p>
          <a:p>
            <a:pPr>
              <a:lnSpc>
                <a:spcPct val="108000"/>
              </a:lnSpc>
              <a:spcBef>
                <a:spcPts val="0"/>
              </a:spcBef>
              <a:spcAft>
                <a:spcPts val="0"/>
              </a:spcAft>
            </a:pPr>
            <a:r>
              <a:rPr sz="1050" b="0" i="0">
                <a:solidFill>
                  <a:srgbClr val="16181D"/>
                </a:solidFill>
                <a:latin typeface="Calibri"/>
              </a:rPr>
              <a:t>Basic Structure of Computers: Functional Units, Basic Operational Concepts, Bus structure, Performance – Processor Clock, Basic Performance Equation, Clock Rate, Instruction Set: CISC and RISC, Performance Measurement. Machine Instructions and Programs: Memory Location and Addresses, Memory Operations, Instruction and Instruction sequencing, Addressing Modes.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 machine moves through two registers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15</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Every memory touch: </a:t>
            </a:r>
            <a:r>
              <a:rPr sz="1300" b="0" i="0">
                <a:solidFill>
                  <a:srgbClr val="16181D"/>
                </a:solidFill>
                <a:latin typeface="Consolas"/>
              </a:rPr>
              <a:t>AR←PC ; DR←Mem[AR] ; IR←DR ; PC←PC+1</a:t>
            </a:r>
            <a:r>
              <a:rPr sz="1400" b="0" i="0">
                <a:solidFill>
                  <a:srgbClr val="16181D"/>
                </a:solidFill>
                <a:latin typeface="Calibri"/>
              </a:rPr>
              <a:t> — the fetch quartet, everywhere, always.</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model animates it: </a:t>
            </a:r>
            <a:r>
              <a:rPr sz="1100" b="0" i="0">
                <a:solidFill>
                  <a:srgbClr val="B3261E"/>
                </a:solidFill>
                <a:latin typeface="Consolas"/>
              </a:rPr>
              <a:t>FETCH  PC=4 -&gt; IR = 00011001 (MDR to IR), then PC := PC+1 = 5</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Bus arithmetic for the short-answer: a 64-bit, 133 MHz bus moves 1.064 GB/s — lines × width × rate, one sentence.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Addressing modes are one column apart: immediate (no ref), direct (1), indirect (2+), relative PC+X (position-free code), register (zero memory).</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Verified in </a:t>
            </a:r>
            <a:r>
              <a:rPr sz="1300" b="0" i="0">
                <a:solidFill>
                  <a:srgbClr val="16181D"/>
                </a:solidFill>
                <a:latin typeface="Consolas"/>
              </a:rPr>
              <a:t>m3_addrmodes</a:t>
            </a:r>
            <a:r>
              <a:rPr sz="1400" b="0" i="0">
                <a:solidFill>
                  <a:srgbClr val="16181D"/>
                </a:solidFill>
                <a:latin typeface="Calibri"/>
              </a:rPr>
              <a:t>: </a:t>
            </a:r>
            <a:r>
              <a:rPr sz="1250" b="0" i="0">
                <a:solidFill>
                  <a:srgbClr val="B3261E"/>
                </a:solidFill>
                <a:latin typeface="Consolas"/>
              </a:rPr>
              <a:t>EA = Mem[X] = 1100</a:t>
            </a:r>
            <a:r>
              <a:rPr sz="1400" b="0" i="0">
                <a:solidFill>
                  <a:srgbClr val="16181D"/>
                </a:solidFill>
                <a:latin typeface="Calibri"/>
              </a:rPr>
              <a:t> landing on the final operand 1234.</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src/m3_memops.v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20" b="0" i="0">
                <a:solidFill>
                  <a:srgbClr val="E5E7EB"/>
                </a:solidFill>
                <a:latin typeface="Consolas"/>
              </a:rPr>
              <a:t>`timescale 1ns/1ps</a:t>
            </a:r>
          </a:p>
          <a:p>
            <a:pPr>
              <a:lnSpc>
                <a:spcPct val="100000"/>
              </a:lnSpc>
              <a:spcBef>
                <a:spcPts val="0"/>
              </a:spcBef>
              <a:spcAft>
                <a:spcPts val="60"/>
              </a:spcAft>
            </a:pPr>
            <a:r>
              <a:rPr sz="620" b="0" i="0">
                <a:solidFill>
                  <a:srgbClr val="E5E7EB"/>
                </a:solidFill>
                <a:latin typeface="Consolas"/>
              </a:rPr>
              <a:t>// Module-3 demo (Hamacher 2.2-2.3): memory as MAR/MDR-protected array;</a:t>
            </a:r>
          </a:p>
          <a:p>
            <a:pPr>
              <a:lnSpc>
                <a:spcPct val="100000"/>
              </a:lnSpc>
              <a:spcBef>
                <a:spcPts val="0"/>
              </a:spcBef>
              <a:spcAft>
                <a:spcPts val="60"/>
              </a:spcAft>
            </a:pPr>
            <a:r>
              <a:rPr sz="620" b="0" i="0">
                <a:solidFill>
                  <a:srgbClr val="E5E7EB"/>
                </a:solidFill>
                <a:latin typeface="Consolas"/>
              </a:rPr>
              <a:t>// the four basic operations READ, WRITE, FETCH, STORE executed step by step.</a:t>
            </a:r>
          </a:p>
          <a:p>
            <a:pPr>
              <a:lnSpc>
                <a:spcPct val="100000"/>
              </a:lnSpc>
              <a:spcBef>
                <a:spcPts val="0"/>
              </a:spcBef>
              <a:spcAft>
                <a:spcPts val="60"/>
              </a:spcAft>
            </a:pPr>
            <a:r>
              <a:rPr sz="620" b="0" i="0">
                <a:solidFill>
                  <a:srgbClr val="E5E7EB"/>
                </a:solidFill>
                <a:latin typeface="Consolas"/>
              </a:rPr>
              <a:t>module tb;</a:t>
            </a:r>
          </a:p>
          <a:p>
            <a:pPr>
              <a:lnSpc>
                <a:spcPct val="100000"/>
              </a:lnSpc>
              <a:spcBef>
                <a:spcPts val="0"/>
              </a:spcBef>
              <a:spcAft>
                <a:spcPts val="60"/>
              </a:spcAft>
            </a:pPr>
            <a:r>
              <a:rPr sz="620" b="0" i="0">
                <a:solidFill>
                  <a:srgbClr val="E5E7EB"/>
                </a:solidFill>
                <a:latin typeface="Consolas"/>
              </a:rPr>
              <a:t>  reg [3:0] MAR;  reg [7:0] MDR;  reg [7:0] mem [0:15]; integer i;</a:t>
            </a:r>
          </a:p>
          <a:p>
            <a:pPr>
              <a:lnSpc>
                <a:spcPct val="100000"/>
              </a:lnSpc>
              <a:spcBef>
                <a:spcPts val="0"/>
              </a:spcBef>
              <a:spcAft>
                <a:spcPts val="60"/>
              </a:spcAft>
            </a:pPr>
            <a:r>
              <a:rPr sz="620" b="0" i="0">
                <a:solidFill>
                  <a:srgbClr val="E5E7EB"/>
                </a:solidFill>
                <a:latin typeface="Consolas"/>
              </a:rPr>
              <a:t>  initial begin</a:t>
            </a:r>
          </a:p>
          <a:p>
            <a:pPr>
              <a:lnSpc>
                <a:spcPct val="100000"/>
              </a:lnSpc>
              <a:spcBef>
                <a:spcPts val="0"/>
              </a:spcBef>
              <a:spcAft>
                <a:spcPts val="60"/>
              </a:spcAft>
            </a:pPr>
            <a:r>
              <a:rPr sz="620" b="0" i="0">
                <a:solidFill>
                  <a:srgbClr val="E5E7EB"/>
                </a:solidFill>
                <a:latin typeface="Consolas"/>
              </a:rPr>
              <a:t>    for (i = 0; i &lt; 16; i = i + 1) mem[i] = 8'h00;</a:t>
            </a:r>
          </a:p>
          <a:p>
            <a:pPr>
              <a:lnSpc>
                <a:spcPct val="100000"/>
              </a:lnSpc>
              <a:spcBef>
                <a:spcPts val="0"/>
              </a:spcBef>
              <a:spcAft>
                <a:spcPts val="60"/>
              </a:spcAft>
            </a:pPr>
            <a:r>
              <a:rPr sz="620" b="0" i="0">
                <a:solidFill>
                  <a:srgbClr val="E5E7EB"/>
                </a:solidFill>
                <a:latin typeface="Consolas"/>
              </a:rPr>
              <a:t>    $display("== M3  memory operations (16 x 8-bit memory, MAR/MDR) ==");</a:t>
            </a:r>
          </a:p>
          <a:p>
            <a:pPr>
              <a:lnSpc>
                <a:spcPct val="100000"/>
              </a:lnSpc>
              <a:spcBef>
                <a:spcPts val="0"/>
              </a:spcBef>
              <a:spcAft>
                <a:spcPts val="60"/>
              </a:spcAft>
            </a:pPr>
            <a:r>
              <a:rPr sz="620" b="0" i="0">
                <a:solidFill>
                  <a:srgbClr val="E5E7EB"/>
                </a:solidFill>
                <a:latin typeface="Consolas"/>
              </a:rPr>
              <a:t>    // WRITE 25 to location 4</a:t>
            </a:r>
          </a:p>
          <a:p>
            <a:pPr>
              <a:lnSpc>
                <a:spcPct val="100000"/>
              </a:lnSpc>
              <a:spcBef>
                <a:spcPts val="0"/>
              </a:spcBef>
              <a:spcAft>
                <a:spcPts val="60"/>
              </a:spcAft>
            </a:pPr>
            <a:r>
              <a:rPr sz="620" b="0" i="0">
                <a:solidFill>
                  <a:srgbClr val="E5E7EB"/>
                </a:solidFill>
                <a:latin typeface="Consolas"/>
              </a:rPr>
              <a:t>    MAR = 4;  MDR = 8'd25;  mem[MAR] = MDR;</a:t>
            </a:r>
          </a:p>
          <a:p>
            <a:pPr>
              <a:lnSpc>
                <a:spcPct val="100000"/>
              </a:lnSpc>
              <a:spcBef>
                <a:spcPts val="0"/>
              </a:spcBef>
              <a:spcAft>
                <a:spcPts val="60"/>
              </a:spcAft>
            </a:pPr>
            <a:r>
              <a:rPr sz="620" b="0" i="0">
                <a:solidFill>
                  <a:srgbClr val="E5E7EB"/>
                </a:solidFill>
                <a:latin typeface="Consolas"/>
              </a:rPr>
              <a:t>    $display("  WRITE  MAR=%0d MDR=%0d  -&gt; Mem[%0d] := %0d", MAR, MDR, MAR, MDR);</a:t>
            </a:r>
          </a:p>
          <a:p>
            <a:pPr>
              <a:lnSpc>
                <a:spcPct val="100000"/>
              </a:lnSpc>
              <a:spcBef>
                <a:spcPts val="0"/>
              </a:spcBef>
              <a:spcAft>
                <a:spcPts val="60"/>
              </a:spcAft>
            </a:pPr>
            <a:r>
              <a:rPr sz="620" b="0" i="0">
                <a:solidFill>
                  <a:srgbClr val="E5E7EB"/>
                </a:solidFill>
                <a:latin typeface="Consolas"/>
              </a:rPr>
              <a:t>    // READ location 4</a:t>
            </a:r>
          </a:p>
          <a:p>
            <a:pPr>
              <a:lnSpc>
                <a:spcPct val="100000"/>
              </a:lnSpc>
              <a:spcBef>
                <a:spcPts val="0"/>
              </a:spcBef>
              <a:spcAft>
                <a:spcPts val="60"/>
              </a:spcAft>
            </a:pPr>
            <a:r>
              <a:rPr sz="620" b="0" i="0">
                <a:solidFill>
                  <a:srgbClr val="E5E7EB"/>
                </a:solidFill>
                <a:latin typeface="Consolas"/>
              </a:rPr>
              <a:t>    MAR = 4;  MDR = mem[MAR];</a:t>
            </a:r>
          </a:p>
          <a:p>
            <a:pPr>
              <a:lnSpc>
                <a:spcPct val="100000"/>
              </a:lnSpc>
              <a:spcBef>
                <a:spcPts val="0"/>
              </a:spcBef>
              <a:spcAft>
                <a:spcPts val="60"/>
              </a:spcAft>
            </a:pPr>
            <a:r>
              <a:rPr sz="620" b="0" i="0">
                <a:solidFill>
                  <a:srgbClr val="E5E7EB"/>
                </a:solidFill>
                <a:latin typeface="Consolas"/>
              </a:rPr>
              <a:t>    $display("  READ   MAR=%0d        -&gt; MDR = Mem[%0d] = %0d", MAR, MAR, MDR);</a:t>
            </a:r>
          </a:p>
          <a:p>
            <a:pPr>
              <a:lnSpc>
                <a:spcPct val="100000"/>
              </a:lnSpc>
              <a:spcBef>
                <a:spcPts val="0"/>
              </a:spcBef>
              <a:spcAft>
                <a:spcPts val="60"/>
              </a:spcAft>
            </a:pPr>
            <a:r>
              <a:rPr sz="620" b="0" i="0">
                <a:solidFill>
                  <a:srgbClr val="E5E7EB"/>
                </a:solidFill>
                <a:latin typeface="Consolas"/>
              </a:rPr>
              <a:t>    // two more writes then a read that must show the update</a:t>
            </a:r>
          </a:p>
          <a:p>
            <a:pPr>
              <a:lnSpc>
                <a:spcPct val="100000"/>
              </a:lnSpc>
              <a:spcBef>
                <a:spcPts val="0"/>
              </a:spcBef>
              <a:spcAft>
                <a:spcPts val="60"/>
              </a:spcAft>
            </a:pPr>
            <a:r>
              <a:rPr sz="620" b="0" i="0">
                <a:solidFill>
                  <a:srgbClr val="E5E7EB"/>
                </a:solidFill>
                <a:latin typeface="Consolas"/>
              </a:rPr>
              <a:t>    MAR = 9;  MDR = 8'd200; mem[MAR] = MDR;</a:t>
            </a:r>
          </a:p>
          <a:p>
            <a:pPr>
              <a:lnSpc>
                <a:spcPct val="100000"/>
              </a:lnSpc>
              <a:spcBef>
                <a:spcPts val="0"/>
              </a:spcBef>
              <a:spcAft>
                <a:spcPts val="60"/>
              </a:spcAft>
            </a:pPr>
            <a:r>
              <a:rPr sz="620" b="0" i="0">
                <a:solidFill>
                  <a:srgbClr val="E5E7EB"/>
                </a:solidFill>
                <a:latin typeface="Consolas"/>
              </a:rPr>
              <a:t>    $display("  WRITE  MAR=%0d MDR=%0d", MAR, MDR);</a:t>
            </a:r>
          </a:p>
          <a:p>
            <a:pPr>
              <a:lnSpc>
                <a:spcPct val="100000"/>
              </a:lnSpc>
              <a:spcBef>
                <a:spcPts val="0"/>
              </a:spcBef>
              <a:spcAft>
                <a:spcPts val="60"/>
              </a:spcAft>
            </a:pPr>
            <a:r>
              <a:rPr sz="620" b="0" i="0">
                <a:solidFill>
                  <a:srgbClr val="E5E7EB"/>
                </a:solidFill>
                <a:latin typeface="Consolas"/>
              </a:rPr>
              <a:t>    MAR = 9;  MDR = mem[MAR];</a:t>
            </a:r>
          </a:p>
          <a:p>
            <a:pPr>
              <a:lnSpc>
                <a:spcPct val="100000"/>
              </a:lnSpc>
              <a:spcBef>
                <a:spcPts val="0"/>
              </a:spcBef>
              <a:spcAft>
                <a:spcPts val="60"/>
              </a:spcAft>
            </a:pPr>
            <a:r>
              <a:rPr sz="620" b="0" i="0">
                <a:solidFill>
                  <a:srgbClr val="E5E7EB"/>
                </a:solidFill>
                <a:latin typeface="Consolas"/>
              </a:rPr>
              <a:t>    $display("  READ   -&gt; MDR=%0d (expect 200)", MDR);</a:t>
            </a:r>
          </a:p>
          <a:p>
            <a:pPr>
              <a:lnSpc>
                <a:spcPct val="100000"/>
              </a:lnSpc>
              <a:spcBef>
                <a:spcPts val="0"/>
              </a:spcBef>
              <a:spcAft>
                <a:spcPts val="60"/>
              </a:spcAft>
            </a:pPr>
            <a:r>
              <a:rPr sz="620" b="0" i="0">
                <a:solidFill>
                  <a:srgbClr val="E5E7EB"/>
                </a:solidFill>
                <a:latin typeface="Consolas"/>
              </a:rPr>
              <a:t>    // instruction FETCH: PC contents address the instruction word</a:t>
            </a:r>
          </a:p>
          <a:p>
            <a:pPr>
              <a:lnSpc>
                <a:spcPct val="100000"/>
              </a:lnSpc>
              <a:spcBef>
                <a:spcPts val="0"/>
              </a:spcBef>
              <a:spcAft>
                <a:spcPts val="60"/>
              </a:spcAft>
            </a:pPr>
            <a:r>
              <a:rPr sz="620" b="0" i="0">
                <a:solidFill>
                  <a:srgbClr val="E5E7EB"/>
                </a:solidFill>
                <a:latin typeface="Consolas"/>
              </a:rPr>
              <a:t>    begin : fetch</a:t>
            </a:r>
          </a:p>
          <a:p>
            <a:pPr>
              <a:lnSpc>
                <a:spcPct val="100000"/>
              </a:lnSpc>
              <a:spcBef>
                <a:spcPts val="0"/>
              </a:spcBef>
              <a:spcAft>
                <a:spcPts val="60"/>
              </a:spcAft>
            </a:pPr>
            <a:r>
              <a:rPr sz="620" b="0" i="0">
                <a:solidFill>
                  <a:srgbClr val="E5E7EB"/>
                </a:solidFill>
                <a:latin typeface="Consolas"/>
              </a:rPr>
              <a:t>      reg [3:0] PC; reg [7:0] IR;</a:t>
            </a:r>
          </a:p>
          <a:p>
            <a:pPr>
              <a:lnSpc>
                <a:spcPct val="100000"/>
              </a:lnSpc>
              <a:spcBef>
                <a:spcPts val="0"/>
              </a:spcBef>
              <a:spcAft>
                <a:spcPts val="60"/>
              </a:spcAft>
            </a:pPr>
            <a:r>
              <a:rPr sz="620" b="0" i="0">
                <a:solidFill>
                  <a:srgbClr val="E5E7EB"/>
                </a:solidFill>
                <a:latin typeface="Consolas"/>
              </a:rPr>
              <a:t>      PC = 4; IR = mem[PC];</a:t>
            </a:r>
          </a:p>
          <a:p>
            <a:pPr>
              <a:lnSpc>
                <a:spcPct val="100000"/>
              </a:lnSpc>
              <a:spcBef>
                <a:spcPts val="0"/>
              </a:spcBef>
              <a:spcAft>
                <a:spcPts val="60"/>
              </a:spcAft>
            </a:pPr>
            <a:r>
              <a:rPr sz="620" b="0" i="0">
                <a:solidFill>
                  <a:srgbClr val="E5E7EB"/>
                </a:solidFill>
                <a:latin typeface="Consolas"/>
              </a:rPr>
              <a:t>      $display("  FETCH  PC=%0d -&gt; IR = %b (MDR to IR), then PC := PC+1 = %0d", PC, IR, PC+1);</a:t>
            </a:r>
          </a:p>
          <a:p>
            <a:pPr>
              <a:lnSpc>
                <a:spcPct val="100000"/>
              </a:lnSpc>
              <a:spcBef>
                <a:spcPts val="0"/>
              </a:spcBef>
              <a:spcAft>
                <a:spcPts val="60"/>
              </a:spcAft>
            </a:pPr>
            <a:r>
              <a:rPr sz="620" b="0" i="0">
                <a:solidFill>
                  <a:srgbClr val="E5E7EB"/>
                </a:solidFill>
                <a:latin typeface="Consolas"/>
              </a:rPr>
              <a:t>      mem[0] = 8'h3C; PC = 0; IR = mem[PC];</a:t>
            </a:r>
          </a:p>
          <a:p>
            <a:pPr>
              <a:lnSpc>
                <a:spcPct val="100000"/>
              </a:lnSpc>
              <a:spcBef>
                <a:spcPts val="0"/>
              </a:spcBef>
              <a:spcAft>
                <a:spcPts val="60"/>
              </a:spcAft>
            </a:pPr>
            <a:r>
              <a:rPr sz="620" b="0" i="0">
                <a:solidFill>
                  <a:srgbClr val="E5E7EB"/>
                </a:solidFill>
                <a:latin typeface="Consolas"/>
              </a:rPr>
              <a:t>      $display("         opcode field of IR = %b, address field = %b", IR[7:4], IR[3:0]);</a:t>
            </a:r>
          </a:p>
          <a:p>
            <a:pPr>
              <a:lnSpc>
                <a:spcPct val="100000"/>
              </a:lnSpc>
              <a:spcBef>
                <a:spcPts val="0"/>
              </a:spcBef>
              <a:spcAft>
                <a:spcPts val="60"/>
              </a:spcAft>
            </a:pPr>
            <a:r>
              <a:rPr sz="620" b="0" i="0">
                <a:solidFill>
                  <a:srgbClr val="E5E7EB"/>
                </a:solidFill>
                <a:latin typeface="Consolas"/>
              </a:rPr>
              <a:t>    end</a:t>
            </a:r>
          </a:p>
          <a:p>
            <a:pPr>
              <a:lnSpc>
                <a:spcPct val="100000"/>
              </a:lnSpc>
              <a:spcBef>
                <a:spcPts val="0"/>
              </a:spcBef>
              <a:spcAft>
                <a:spcPts val="60"/>
              </a:spcAft>
            </a:pPr>
            <a:r>
              <a:rPr sz="620" b="0" i="0">
                <a:solidFill>
                  <a:srgbClr val="E5E7EB"/>
                </a:solidFill>
                <a:latin typeface="Consolas"/>
              </a:rPr>
              <a:t>    // dump memory</a:t>
            </a:r>
          </a:p>
          <a:p>
            <a:pPr>
              <a:lnSpc>
                <a:spcPct val="100000"/>
              </a:lnSpc>
              <a:spcBef>
                <a:spcPts val="0"/>
              </a:spcBef>
              <a:spcAft>
                <a:spcPts val="60"/>
              </a:spcAft>
            </a:pPr>
            <a:r>
              <a:rPr sz="620" b="0" i="0">
                <a:solidFill>
                  <a:srgbClr val="E5E7EB"/>
                </a:solidFill>
                <a:latin typeface="Consolas"/>
              </a:rPr>
              <a:t>    $display("  final memory dump (non-zero): Mem[4]=%0d Mem[9]=%0d Mem[0]=%h", mem[4], mem[9], mem[0]);</a:t>
            </a:r>
          </a:p>
          <a:p>
            <a:pPr>
              <a:lnSpc>
                <a:spcPct val="100000"/>
              </a:lnSpc>
              <a:spcBef>
                <a:spcPts val="0"/>
              </a:spcBef>
              <a:spcAft>
                <a:spcPts val="60"/>
              </a:spcAft>
            </a:pPr>
            <a:r>
              <a:rPr sz="620" b="0" i="0">
                <a:solidFill>
                  <a:srgbClr val="E5E7EB"/>
                </a:solidFill>
                <a:latin typeface="Consolas"/>
              </a:rPr>
              <a:t>    if (mem[4] === 8'd25 &amp;&amp; mem[9] === 8'd200)</a:t>
            </a:r>
          </a:p>
          <a:p>
            <a:pPr>
              <a:lnSpc>
                <a:spcPct val="100000"/>
              </a:lnSpc>
              <a:spcBef>
                <a:spcPts val="0"/>
              </a:spcBef>
              <a:spcAft>
                <a:spcPts val="60"/>
              </a:spcAft>
            </a:pPr>
            <a:r>
              <a:rPr sz="620" b="0" i="0">
                <a:solidFill>
                  <a:srgbClr val="E5E7EB"/>
                </a:solidFill>
                <a:latin typeface="Consolas"/>
              </a:rPr>
              <a:t>      $display("M3 RESULT: READ/WRITE/FETCH behave as the MAR/MDR model predicts -- PASS");</a:t>
            </a:r>
          </a:p>
          <a:p>
            <a:pPr>
              <a:lnSpc>
                <a:spcPct val="100000"/>
              </a:lnSpc>
              <a:spcBef>
                <a:spcPts val="0"/>
              </a:spcBef>
              <a:spcAft>
                <a:spcPts val="60"/>
              </a:spcAft>
            </a:pPr>
            <a:r>
              <a:rPr sz="620" b="0" i="0">
                <a:solidFill>
                  <a:srgbClr val="E5E7EB"/>
                </a:solidFill>
                <a:latin typeface="Consolas"/>
              </a:rPr>
              <a:t>    else $display("M3 RESULT: memory model inconsistent -- FAIL");</a:t>
            </a:r>
          </a:p>
          <a:p>
            <a:pPr>
              <a:lnSpc>
                <a:spcPct val="100000"/>
              </a:lnSpc>
              <a:spcBef>
                <a:spcPts val="0"/>
              </a:spcBef>
              <a:spcAft>
                <a:spcPts val="60"/>
              </a:spcAft>
            </a:pPr>
            <a:r>
              <a:rPr sz="620" b="0" i="0">
                <a:solidFill>
                  <a:srgbClr val="E5E7EB"/>
                </a:solidFill>
                <a:latin typeface="Consolas"/>
              </a:rPr>
              <a:t>    $finish;</a:t>
            </a:r>
          </a:p>
          <a:p>
            <a:pPr>
              <a:lnSpc>
                <a:spcPct val="100000"/>
              </a:lnSpc>
              <a:spcBef>
                <a:spcPts val="0"/>
              </a:spcBef>
              <a:spcAft>
                <a:spcPts val="60"/>
              </a:spcAft>
            </a:pPr>
            <a:r>
              <a:rPr sz="620" b="0" i="0">
                <a:solidFill>
                  <a:srgbClr val="E5E7EB"/>
                </a:solidFill>
                <a:latin typeface="Consolas"/>
              </a:rPr>
              <a:t>  …  (complete source: the course book)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Instruction sets and the performance ledger</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16</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only performance formula: </a:t>
            </a:r>
            <a:r>
              <a:rPr sz="1400" b="0" i="0">
                <a:solidFill>
                  <a:srgbClr val="16181D"/>
                </a:solidFill>
                <a:latin typeface="Consolas"/>
              </a:rPr>
              <a:t>T = (N × CPI) / R</a:t>
            </a:r>
            <a:r>
              <a:rPr sz="1400" b="0" i="0">
                <a:solidFill>
                  <a:srgbClr val="16181D"/>
                </a:solidFill>
                <a:latin typeface="Calibri"/>
              </a:rPr>
              <a:t>; average CPI is a weighted mix, nothing else.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Demo mix 600k/200k/150k/50k at 2.5 GHz prints exactly: </a:t>
            </a:r>
            <a:r>
              <a:rPr sz="1000" b="0" i="0">
                <a:solidFill>
                  <a:srgbClr val="B3261E"/>
                </a:solidFill>
                <a:latin typeface="Consolas"/>
              </a:rPr>
              <a:t>average CPI = (600000*1 + 200000*3 + 150000*2 + 50000*4)/1000000 = 1.70</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…and CPU time </a:t>
            </a:r>
            <a:r>
              <a:rPr sz="1300" b="0" i="0">
                <a:solidFill>
                  <a:srgbClr val="B3261E"/>
                </a:solidFill>
                <a:latin typeface="Consolas"/>
              </a:rPr>
              <a:t>0.6800 ms</a:t>
            </a:r>
            <a:r>
              <a:rPr sz="1400" b="0" i="0">
                <a:solidFill>
                  <a:srgbClr val="16181D"/>
                </a:solidFill>
                <a:latin typeface="Calibri"/>
              </a:rPr>
              <a:t> — recomputed by the model, never pasted.</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CISC vs RISC is one table (book App. A.9); LA-10 anchors its columns on a live </a:t>
            </a:r>
            <a:r>
              <a:rPr sz="1300" b="0" i="0">
                <a:solidFill>
                  <a:srgbClr val="B3261E"/>
                </a:solidFill>
                <a:latin typeface="Consolas"/>
              </a:rPr>
              <a:t>x86_64</a:t>
            </a:r>
            <a:r>
              <a:rPr sz="1400" b="0" i="0">
                <a:solidFill>
                  <a:srgbClr val="16181D"/>
                </a:solidFill>
                <a:latin typeface="Calibri"/>
              </a:rPr>
              <a:t> profile plus a fixed 5M-add probe both lineages can run.</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MIPS = R/(CPI×10⁶): true only while N and the compiler stand still — say that, it is the 5-mark follow-up.</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src/m3_perf.v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860" b="0" i="0">
                <a:solidFill>
                  <a:srgbClr val="E5E7EB"/>
                </a:solidFill>
                <a:latin typeface="Consolas"/>
              </a:rPr>
              <a:t>`timescale 1ns/1ps</a:t>
            </a:r>
          </a:p>
          <a:p>
            <a:pPr>
              <a:lnSpc>
                <a:spcPct val="100000"/>
              </a:lnSpc>
              <a:spcBef>
                <a:spcPts val="0"/>
              </a:spcBef>
              <a:spcAft>
                <a:spcPts val="60"/>
              </a:spcAft>
            </a:pPr>
            <a:r>
              <a:rPr sz="860" b="0" i="0">
                <a:solidFill>
                  <a:srgbClr val="E5E7EB"/>
                </a:solidFill>
                <a:latin typeface="Consolas"/>
              </a:rPr>
              <a:t>// Module-3 demo (Hamacher 1.6, basic performance equation):</a:t>
            </a:r>
          </a:p>
          <a:p>
            <a:pPr>
              <a:lnSpc>
                <a:spcPct val="100000"/>
              </a:lnSpc>
              <a:spcBef>
                <a:spcPts val="0"/>
              </a:spcBef>
              <a:spcAft>
                <a:spcPts val="60"/>
              </a:spcAft>
            </a:pPr>
            <a:r>
              <a:rPr sz="860" b="0" i="0">
                <a:solidFill>
                  <a:srgbClr val="E5E7EB"/>
                </a:solidFill>
                <a:latin typeface="Consolas"/>
              </a:rPr>
              <a:t>// CPU time = (instruction count x average CPI) / clock rate.</a:t>
            </a:r>
          </a:p>
          <a:p>
            <a:pPr>
              <a:lnSpc>
                <a:spcPct val="100000"/>
              </a:lnSpc>
              <a:spcBef>
                <a:spcPts val="0"/>
              </a:spcBef>
              <a:spcAft>
                <a:spcPts val="60"/>
              </a:spcAft>
            </a:pPr>
            <a:r>
              <a:rPr sz="860" b="0" i="0">
                <a:solidFill>
                  <a:srgbClr val="E5E7EB"/>
                </a:solidFill>
                <a:latin typeface="Consolas"/>
              </a:rPr>
              <a:t>module tb;</a:t>
            </a:r>
          </a:p>
          <a:p>
            <a:pPr>
              <a:lnSpc>
                <a:spcPct val="100000"/>
              </a:lnSpc>
              <a:spcBef>
                <a:spcPts val="0"/>
              </a:spcBef>
              <a:spcAft>
                <a:spcPts val="60"/>
              </a:spcAft>
            </a:pPr>
            <a:r>
              <a:rPr sz="860" b="0" i="0">
                <a:solidFill>
                  <a:srgbClr val="E5E7EB"/>
                </a:solidFill>
                <a:latin typeface="Consolas"/>
              </a:rPr>
              <a:t>  integer nalu, nld, nbr, nmul;  real cpi, rate, tsec;</a:t>
            </a:r>
          </a:p>
          <a:p>
            <a:pPr>
              <a:lnSpc>
                <a:spcPct val="100000"/>
              </a:lnSpc>
              <a:spcBef>
                <a:spcPts val="0"/>
              </a:spcBef>
              <a:spcAft>
                <a:spcPts val="60"/>
              </a:spcAft>
            </a:pPr>
            <a:r>
              <a:rPr sz="860" b="0" i="0">
                <a:solidFill>
                  <a:srgbClr val="E5E7EB"/>
                </a:solidFill>
                <a:latin typeface="Consolas"/>
              </a:rPr>
              <a:t>  initial begin</a:t>
            </a:r>
          </a:p>
          <a:p>
            <a:pPr>
              <a:lnSpc>
                <a:spcPct val="100000"/>
              </a:lnSpc>
              <a:spcBef>
                <a:spcPts val="0"/>
              </a:spcBef>
              <a:spcAft>
                <a:spcPts val="60"/>
              </a:spcAft>
            </a:pPr>
            <a:r>
              <a:rPr sz="860" b="0" i="0">
                <a:solidFill>
                  <a:srgbClr val="E5E7EB"/>
                </a:solidFill>
                <a:latin typeface="Consolas"/>
              </a:rPr>
              <a:t>    $display("== M3  performance equation ==");</a:t>
            </a:r>
          </a:p>
          <a:p>
            <a:pPr>
              <a:lnSpc>
                <a:spcPct val="100000"/>
              </a:lnSpc>
              <a:spcBef>
                <a:spcPts val="0"/>
              </a:spcBef>
              <a:spcAft>
                <a:spcPts val="60"/>
              </a:spcAft>
            </a:pPr>
            <a:r>
              <a:rPr sz="860" b="0" i="0">
                <a:solidFill>
                  <a:srgbClr val="E5E7EB"/>
                </a:solidFill>
                <a:latin typeface="Consolas"/>
              </a:rPr>
              <a:t>    $display(" program: 600,000 ALU (CPI 1) | 200,000 load (3) | 150,000 branch (2) | 50,000 mult (4)");</a:t>
            </a:r>
          </a:p>
          <a:p>
            <a:pPr>
              <a:lnSpc>
                <a:spcPct val="100000"/>
              </a:lnSpc>
              <a:spcBef>
                <a:spcPts val="0"/>
              </a:spcBef>
              <a:spcAft>
                <a:spcPts val="60"/>
              </a:spcAft>
            </a:pPr>
            <a:r>
              <a:rPr sz="860" b="0" i="0">
                <a:solidFill>
                  <a:srgbClr val="E5E7EB"/>
                </a:solidFill>
                <a:latin typeface="Consolas"/>
              </a:rPr>
              <a:t>    nalu=600000; nld=200000; nbr=150000; nmul=50000;</a:t>
            </a:r>
          </a:p>
          <a:p>
            <a:pPr>
              <a:lnSpc>
                <a:spcPct val="100000"/>
              </a:lnSpc>
              <a:spcBef>
                <a:spcPts val="0"/>
              </a:spcBef>
              <a:spcAft>
                <a:spcPts val="60"/>
              </a:spcAft>
            </a:pPr>
            <a:r>
              <a:rPr sz="860" b="0" i="0">
                <a:solidFill>
                  <a:srgbClr val="E5E7EB"/>
                </a:solidFill>
                <a:latin typeface="Consolas"/>
              </a:rPr>
              <a:t>    cpi = (nalu*1.0 + nld*3.0 + nbr*2.0 + nmul*4.0) / 1000000.0;</a:t>
            </a:r>
          </a:p>
          <a:p>
            <a:pPr>
              <a:lnSpc>
                <a:spcPct val="100000"/>
              </a:lnSpc>
              <a:spcBef>
                <a:spcPts val="0"/>
              </a:spcBef>
              <a:spcAft>
                <a:spcPts val="60"/>
              </a:spcAft>
            </a:pPr>
            <a:r>
              <a:rPr sz="860" b="0" i="0">
                <a:solidFill>
                  <a:srgbClr val="E5E7EB"/>
                </a:solidFill>
                <a:latin typeface="Consolas"/>
              </a:rPr>
              <a:t>    $display(" average CPI = (600000*1 + 200000*3 + 150000*2 + 50000*4)/1000000 = %0.2f", cpi);</a:t>
            </a:r>
          </a:p>
          <a:p>
            <a:pPr>
              <a:lnSpc>
                <a:spcPct val="100000"/>
              </a:lnSpc>
              <a:spcBef>
                <a:spcPts val="0"/>
              </a:spcBef>
              <a:spcAft>
                <a:spcPts val="60"/>
              </a:spcAft>
            </a:pPr>
            <a:r>
              <a:rPr sz="860" b="0" i="0">
                <a:solidFill>
                  <a:srgbClr val="E5E7EB"/>
                </a:solidFill>
                <a:latin typeface="Consolas"/>
              </a:rPr>
              <a:t>    rate = 2.5e9;   // 2.5 GHz</a:t>
            </a:r>
          </a:p>
          <a:p>
            <a:pPr>
              <a:lnSpc>
                <a:spcPct val="100000"/>
              </a:lnSpc>
              <a:spcBef>
                <a:spcPts val="0"/>
              </a:spcBef>
              <a:spcAft>
                <a:spcPts val="60"/>
              </a:spcAft>
            </a:pPr>
            <a:r>
              <a:rPr sz="860" b="0" i="0">
                <a:solidFill>
                  <a:srgbClr val="E5E7EB"/>
                </a:solidFill>
                <a:latin typeface="Consolas"/>
              </a:rPr>
              <a:t>    tsec = (cpi * 1000000.0) / rate;</a:t>
            </a:r>
          </a:p>
          <a:p>
            <a:pPr>
              <a:lnSpc>
                <a:spcPct val="100000"/>
              </a:lnSpc>
              <a:spcBef>
                <a:spcPts val="0"/>
              </a:spcBef>
              <a:spcAft>
                <a:spcPts val="60"/>
              </a:spcAft>
            </a:pPr>
            <a:r>
              <a:rPr sz="860" b="0" i="0">
                <a:solidFill>
                  <a:srgbClr val="E5E7EB"/>
                </a:solidFill>
                <a:latin typeface="Consolas"/>
              </a:rPr>
              <a:t>    $display(" clock rate = 2.50 GHz -&gt; CPU time = CPI*N/R = %0.4f ms  (%0.2f ms)", tsec*1000.0, tsec*1000.0);</a:t>
            </a:r>
          </a:p>
          <a:p>
            <a:pPr>
              <a:lnSpc>
                <a:spcPct val="100000"/>
              </a:lnSpc>
              <a:spcBef>
                <a:spcPts val="0"/>
              </a:spcBef>
              <a:spcAft>
                <a:spcPts val="60"/>
              </a:spcAft>
            </a:pPr>
            <a:r>
              <a:rPr sz="860" b="0" i="0">
                <a:solidFill>
                  <a:srgbClr val="E5E7EB"/>
                </a:solidFill>
                <a:latin typeface="Consolas"/>
              </a:rPr>
              <a:t>    $display(" clock period = 1/R = %0.2f ns", 1000.0e6/rate);</a:t>
            </a:r>
          </a:p>
          <a:p>
            <a:pPr>
              <a:lnSpc>
                <a:spcPct val="100000"/>
              </a:lnSpc>
              <a:spcBef>
                <a:spcPts val="0"/>
              </a:spcBef>
              <a:spcAft>
                <a:spcPts val="60"/>
              </a:spcAft>
            </a:pPr>
            <a:r>
              <a:rPr sz="860" b="0" i="0">
                <a:solidFill>
                  <a:srgbClr val="E5E7EB"/>
                </a:solidFill>
                <a:latin typeface="Consolas"/>
              </a:rPr>
              <a:t>    if (cpi &gt; 1.69 &amp;&amp; cpi &lt; 1.71 &amp;&amp; tsec &gt; 0.000679 &amp;&amp; tsec &lt; 0.000681)</a:t>
            </a:r>
          </a:p>
          <a:p>
            <a:pPr>
              <a:lnSpc>
                <a:spcPct val="100000"/>
              </a:lnSpc>
              <a:spcBef>
                <a:spcPts val="0"/>
              </a:spcBef>
              <a:spcAft>
                <a:spcPts val="60"/>
              </a:spcAft>
            </a:pPr>
            <a:r>
              <a:rPr sz="860" b="0" i="0">
                <a:solidFill>
                  <a:srgbClr val="E5E7EB"/>
                </a:solidFill>
                <a:latin typeface="Consolas"/>
              </a:rPr>
              <a:t>      $display("M3 RESULT: CPI=1.70 and CPU time=0.6800 ms reproduce the formula exactly -- PASS");</a:t>
            </a:r>
          </a:p>
          <a:p>
            <a:pPr>
              <a:lnSpc>
                <a:spcPct val="100000"/>
              </a:lnSpc>
              <a:spcBef>
                <a:spcPts val="0"/>
              </a:spcBef>
              <a:spcAft>
                <a:spcPts val="60"/>
              </a:spcAft>
            </a:pPr>
            <a:r>
              <a:rPr sz="860" b="0" i="0">
                <a:solidFill>
                  <a:srgbClr val="E5E7EB"/>
                </a:solidFill>
                <a:latin typeface="Consolas"/>
              </a:rPr>
              <a:t>    else $display("M3 RESULT: CPI off -- FAIL");</a:t>
            </a:r>
          </a:p>
          <a:p>
            <a:pPr>
              <a:lnSpc>
                <a:spcPct val="100000"/>
              </a:lnSpc>
              <a:spcBef>
                <a:spcPts val="0"/>
              </a:spcBef>
              <a:spcAft>
                <a:spcPts val="60"/>
              </a:spcAft>
            </a:pPr>
            <a:r>
              <a:rPr sz="860" b="0" i="0">
                <a:solidFill>
                  <a:srgbClr val="E5E7EB"/>
                </a:solidFill>
                <a:latin typeface="Consolas"/>
              </a:rPr>
              <a:t>    $finish;</a:t>
            </a:r>
          </a:p>
          <a:p>
            <a:pPr>
              <a:lnSpc>
                <a:spcPct val="100000"/>
              </a:lnSpc>
              <a:spcBef>
                <a:spcPts val="0"/>
              </a:spcBef>
              <a:spcAft>
                <a:spcPts val="60"/>
              </a:spcAft>
            </a:pPr>
            <a:r>
              <a:rPr sz="860" b="0" i="0">
                <a:solidFill>
                  <a:srgbClr val="E5E7EB"/>
                </a:solidFill>
                <a:latin typeface="Consolas"/>
              </a:rPr>
              <a:t>  end</a:t>
            </a:r>
          </a:p>
          <a:p>
            <a:pPr>
              <a:lnSpc>
                <a:spcPct val="100000"/>
              </a:lnSpc>
              <a:spcBef>
                <a:spcPts val="0"/>
              </a:spcBef>
              <a:spcAft>
                <a:spcPts val="60"/>
              </a:spcAft>
            </a:pPr>
            <a:r>
              <a:rPr sz="860" b="0" i="0">
                <a:solidFill>
                  <a:srgbClr val="E5E7EB"/>
                </a:solidFill>
                <a:latin typeface="Consolas"/>
              </a:rPr>
              <a:t>endmodule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m3_addrmodes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17</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src/m3_addrmodes.v</a:t>
            </a:r>
          </a:p>
        </p:txBody>
      </p:sp>
      <p:sp>
        <p:nvSpPr>
          <p:cNvPr id="11" name="TextBox 10"/>
          <p:cNvSpPr txBox="1"/>
          <p:nvPr/>
        </p:nvSpPr>
        <p:spPr>
          <a:xfrm>
            <a:off x="667512" y="1975104"/>
            <a:ext cx="5815584" cy="4325112"/>
          </a:xfrm>
          <a:prstGeom prst="rect">
            <a:avLst/>
          </a:prstGeom>
          <a:noFill/>
        </p:spPr>
        <p:txBody>
          <a:bodyPr wrap="square" anchor="t" lIns="0" rIns="0" tIns="0" bIns="0">
            <a:spAutoFit/>
          </a:bodyPr>
          <a:lstStyle/>
          <a:p>
            <a:pPr>
              <a:lnSpc>
                <a:spcPct val="100000"/>
              </a:lnSpc>
              <a:spcBef>
                <a:spcPts val="0"/>
              </a:spcBef>
              <a:spcAft>
                <a:spcPts val="60"/>
              </a:spcAft>
            </a:pPr>
            <a:r>
              <a:rPr sz="800" b="0" i="0">
                <a:solidFill>
                  <a:srgbClr val="E5E7EB"/>
                </a:solidFill>
                <a:latin typeface="Consolas"/>
              </a:rPr>
              <a:t>`timescale 1ns/1ps</a:t>
            </a:r>
          </a:p>
          <a:p>
            <a:pPr>
              <a:lnSpc>
                <a:spcPct val="100000"/>
              </a:lnSpc>
              <a:spcBef>
                <a:spcPts val="0"/>
              </a:spcBef>
              <a:spcAft>
                <a:spcPts val="60"/>
              </a:spcAft>
            </a:pPr>
            <a:r>
              <a:rPr sz="800" b="0" i="0">
                <a:solidFill>
                  <a:srgbClr val="E5E7EB"/>
                </a:solidFill>
                <a:latin typeface="Consolas"/>
              </a:rPr>
              <a:t>// Module-3 demo (Hamacher 2.4, Fig. addressing modes): effective address in</a:t>
            </a:r>
          </a:p>
          <a:p>
            <a:pPr>
              <a:lnSpc>
                <a:spcPct val="100000"/>
              </a:lnSpc>
              <a:spcBef>
                <a:spcPts val="0"/>
              </a:spcBef>
              <a:spcAft>
                <a:spcPts val="60"/>
              </a:spcAft>
            </a:pPr>
            <a:r>
              <a:rPr sz="800" b="0" i="0">
                <a:solidFill>
                  <a:srgbClr val="E5E7EB"/>
                </a:solidFill>
                <a:latin typeface="Consolas"/>
              </a:rPr>
              <a:t>// each mode for a fixed snapshot:  PC=300, R3=200, X (address part)=900,</a:t>
            </a:r>
          </a:p>
          <a:p>
            <a:pPr>
              <a:lnSpc>
                <a:spcPct val="100000"/>
              </a:lnSpc>
              <a:spcBef>
                <a:spcPts val="0"/>
              </a:spcBef>
              <a:spcAft>
                <a:spcPts val="60"/>
              </a:spcAft>
            </a:pPr>
            <a:r>
              <a:rPr sz="800" b="0" i="0">
                <a:solidFill>
                  <a:srgbClr val="E5E7EB"/>
                </a:solidFill>
                <a:latin typeface="Consolas"/>
              </a:rPr>
              <a:t>// Mem[900]=1100, Mem[1100]=2200.  Every EA is computed by the model, not typed.</a:t>
            </a:r>
          </a:p>
          <a:p>
            <a:pPr>
              <a:lnSpc>
                <a:spcPct val="100000"/>
              </a:lnSpc>
              <a:spcBef>
                <a:spcPts val="0"/>
              </a:spcBef>
              <a:spcAft>
                <a:spcPts val="60"/>
              </a:spcAft>
            </a:pPr>
            <a:r>
              <a:rPr sz="800" b="0" i="0">
                <a:solidFill>
                  <a:srgbClr val="E5E7EB"/>
                </a:solidFill>
                <a:latin typeface="Consolas"/>
              </a:rPr>
              <a:t>module tb;</a:t>
            </a:r>
          </a:p>
          <a:p>
            <a:pPr>
              <a:lnSpc>
                <a:spcPct val="100000"/>
              </a:lnSpc>
              <a:spcBef>
                <a:spcPts val="0"/>
              </a:spcBef>
              <a:spcAft>
                <a:spcPts val="60"/>
              </a:spcAft>
            </a:pPr>
            <a:r>
              <a:rPr sz="800" b="0" i="0">
                <a:solidFill>
                  <a:srgbClr val="E5E7EB"/>
                </a:solidFill>
                <a:latin typeface="Consolas"/>
              </a:rPr>
              <a:t>  integer PC, R3, X;  reg [11:0] mem [0:4095];</a:t>
            </a:r>
          </a:p>
          <a:p>
            <a:pPr>
              <a:lnSpc>
                <a:spcPct val="100000"/>
              </a:lnSpc>
              <a:spcBef>
                <a:spcPts val="0"/>
              </a:spcBef>
              <a:spcAft>
                <a:spcPts val="60"/>
              </a:spcAft>
            </a:pPr>
            <a:r>
              <a:rPr sz="800" b="0" i="0">
                <a:solidFill>
                  <a:srgbClr val="E5E7EB"/>
                </a:solidFill>
                <a:latin typeface="Consolas"/>
              </a:rPr>
              <a:t>  initial begin</a:t>
            </a:r>
          </a:p>
          <a:p>
            <a:pPr>
              <a:lnSpc>
                <a:spcPct val="100000"/>
              </a:lnSpc>
              <a:spcBef>
                <a:spcPts val="0"/>
              </a:spcBef>
              <a:spcAft>
                <a:spcPts val="60"/>
              </a:spcAft>
            </a:pPr>
            <a:r>
              <a:rPr sz="800" b="0" i="0">
                <a:solidFill>
                  <a:srgbClr val="E5E7EB"/>
                </a:solidFill>
                <a:latin typeface="Consolas"/>
              </a:rPr>
              <a:t>    PC = 300; R3 = 200; X = 900;</a:t>
            </a:r>
          </a:p>
          <a:p>
            <a:pPr>
              <a:lnSpc>
                <a:spcPct val="100000"/>
              </a:lnSpc>
              <a:spcBef>
                <a:spcPts val="0"/>
              </a:spcBef>
              <a:spcAft>
                <a:spcPts val="60"/>
              </a:spcAft>
            </a:pPr>
            <a:r>
              <a:rPr sz="800" b="0" i="0">
                <a:solidFill>
                  <a:srgbClr val="E5E7EB"/>
                </a:solidFill>
                <a:latin typeface="Consolas"/>
              </a:rPr>
              <a:t>    mem[900]  = 1100; mem[1100] = 2200; mem[2200] = 1234;</a:t>
            </a:r>
          </a:p>
          <a:p>
            <a:pPr>
              <a:lnSpc>
                <a:spcPct val="100000"/>
              </a:lnSpc>
              <a:spcBef>
                <a:spcPts val="0"/>
              </a:spcBef>
              <a:spcAft>
                <a:spcPts val="60"/>
              </a:spcAft>
            </a:pPr>
            <a:r>
              <a:rPr sz="800" b="0" i="0">
                <a:solidFill>
                  <a:srgbClr val="E5E7EB"/>
                </a:solidFill>
                <a:latin typeface="Consolas"/>
              </a:rPr>
              <a:t>    mem[1200] = 3300; mem[200]  = 2050;</a:t>
            </a:r>
          </a:p>
          <a:p>
            <a:pPr>
              <a:lnSpc>
                <a:spcPct val="100000"/>
              </a:lnSpc>
              <a:spcBef>
                <a:spcPts val="0"/>
              </a:spcBef>
              <a:spcAft>
                <a:spcPts val="60"/>
              </a:spcAft>
            </a:pPr>
            <a:r>
              <a:rPr sz="800" b="0" i="0">
                <a:solidFill>
                  <a:srgbClr val="E5E7EB"/>
                </a:solidFill>
                <a:latin typeface="Consolas"/>
              </a:rPr>
              <a:t>    $display("== M3  addressing modes:  PC=%0d  R3=%0d  X=%0d  Mem[900]=%0d  Mem[1100]=%0d",</a:t>
            </a:r>
          </a:p>
          <a:p>
            <a:pPr>
              <a:lnSpc>
                <a:spcPct val="100000"/>
              </a:lnSpc>
              <a:spcBef>
                <a:spcPts val="0"/>
              </a:spcBef>
              <a:spcAft>
                <a:spcPts val="60"/>
              </a:spcAft>
            </a:pPr>
            <a:r>
              <a:rPr sz="800" b="0" i="0">
                <a:solidFill>
                  <a:srgbClr val="E5E7EB"/>
                </a:solidFill>
                <a:latin typeface="Consolas"/>
              </a:rPr>
              <a:t>             PC, R3, X, mem[900], mem[1100]);</a:t>
            </a:r>
          </a:p>
          <a:p>
            <a:pPr>
              <a:lnSpc>
                <a:spcPct val="100000"/>
              </a:lnSpc>
              <a:spcBef>
                <a:spcPts val="0"/>
              </a:spcBef>
              <a:spcAft>
                <a:spcPts val="60"/>
              </a:spcAft>
            </a:pPr>
            <a:r>
              <a:rPr sz="800" b="0" i="0">
                <a:solidFill>
                  <a:srgbClr val="E5E7EB"/>
                </a:solidFill>
                <a:latin typeface="Consolas"/>
              </a:rPr>
              <a:t>    $display("  mode              | operand / EA          | value");</a:t>
            </a:r>
          </a:p>
          <a:p>
            <a:pPr>
              <a:lnSpc>
                <a:spcPct val="100000"/>
              </a:lnSpc>
              <a:spcBef>
                <a:spcPts val="0"/>
              </a:spcBef>
              <a:spcAft>
                <a:spcPts val="60"/>
              </a:spcAft>
            </a:pPr>
            <a:r>
              <a:rPr sz="800" b="0" i="0">
                <a:solidFill>
                  <a:srgbClr val="E5E7EB"/>
                </a:solidFill>
                <a:latin typeface="Consolas"/>
              </a:rPr>
              <a:t>    $display("  immediate         | X                     | %0d", X);</a:t>
            </a:r>
          </a:p>
          <a:p>
            <a:pPr>
              <a:lnSpc>
                <a:spcPct val="100000"/>
              </a:lnSpc>
              <a:spcBef>
                <a:spcPts val="0"/>
              </a:spcBef>
              <a:spcAft>
                <a:spcPts val="60"/>
              </a:spcAft>
            </a:pPr>
            <a:r>
              <a:rPr sz="800" b="0" i="0">
                <a:solidFill>
                  <a:srgbClr val="E5E7EB"/>
                </a:solidFill>
                <a:latin typeface="Consolas"/>
              </a:rPr>
              <a:t>    $display("  absolute          | EA = X = %0d           | %0d", X, mem[X]);</a:t>
            </a:r>
          </a:p>
          <a:p>
            <a:pPr>
              <a:lnSpc>
                <a:spcPct val="100000"/>
              </a:lnSpc>
              <a:spcBef>
                <a:spcPts val="0"/>
              </a:spcBef>
              <a:spcAft>
                <a:spcPts val="60"/>
              </a:spcAft>
            </a:pPr>
            <a:r>
              <a:rPr sz="800" b="0" i="0">
                <a:solidFill>
                  <a:srgbClr val="E5E7EB"/>
                </a:solidFill>
                <a:latin typeface="Consolas"/>
              </a:rPr>
              <a:t>    $display("  relative          | EA = PC+X = %0d        | %0d", PC+X, mem[PC+X]);</a:t>
            </a:r>
          </a:p>
          <a:p>
            <a:pPr>
              <a:lnSpc>
                <a:spcPct val="100000"/>
              </a:lnSpc>
              <a:spcBef>
                <a:spcPts val="0"/>
              </a:spcBef>
              <a:spcAft>
                <a:spcPts val="60"/>
              </a:spcAft>
            </a:pPr>
            <a:r>
              <a:rPr sz="800" b="0" i="0">
                <a:solidFill>
                  <a:srgbClr val="E5E7EB"/>
                </a:solidFill>
                <a:latin typeface="Consolas"/>
              </a:rPr>
              <a:t>    $display("  register          | R3                    | %0d", R3);</a:t>
            </a:r>
          </a:p>
          <a:p>
            <a:pPr>
              <a:lnSpc>
                <a:spcPct val="100000"/>
              </a:lnSpc>
              <a:spcBef>
                <a:spcPts val="0"/>
              </a:spcBef>
              <a:spcAft>
                <a:spcPts val="60"/>
              </a:spcAft>
            </a:pPr>
            <a:r>
              <a:rPr sz="800" b="0" i="0">
                <a:solidFill>
                  <a:srgbClr val="E5E7EB"/>
                </a:solidFill>
                <a:latin typeface="Consolas"/>
              </a:rPr>
              <a:t>    $display("  register indirect | Mem[R3] = Mem[200]    | %0d", mem[R3]);</a:t>
            </a:r>
          </a:p>
          <a:p>
            <a:pPr>
              <a:lnSpc>
                <a:spcPct val="100000"/>
              </a:lnSpc>
              <a:spcBef>
                <a:spcPts val="0"/>
              </a:spcBef>
              <a:spcAft>
                <a:spcPts val="60"/>
              </a:spcAft>
            </a:pPr>
            <a:r>
              <a:rPr sz="800" b="0" i="0">
                <a:solidFill>
                  <a:srgbClr val="E5E7EB"/>
                </a:solidFill>
                <a:latin typeface="Consolas"/>
              </a:rPr>
              <a:t>    $display("  indirect          | EA = Mem[X] = %0d     | %0d", mem[X], mem[mem[X]]);</a:t>
            </a:r>
          </a:p>
          <a:p>
            <a:pPr>
              <a:lnSpc>
                <a:spcPct val="100000"/>
              </a:lnSpc>
              <a:spcBef>
                <a:spcPts val="0"/>
              </a:spcBef>
              <a:spcAft>
                <a:spcPts val="60"/>
              </a:spcAft>
            </a:pPr>
            <a:r>
              <a:rPr sz="800" b="0" i="0">
                <a:solidFill>
                  <a:srgbClr val="E5E7EB"/>
                </a:solidFill>
                <a:latin typeface="Consolas"/>
              </a:rPr>
              <a:t>    $display("  post-increment ref| after read, R3 -&gt; %0d", R3+1);</a:t>
            </a:r>
          </a:p>
          <a:p>
            <a:pPr>
              <a:lnSpc>
                <a:spcPct val="100000"/>
              </a:lnSpc>
              <a:spcBef>
                <a:spcPts val="0"/>
              </a:spcBef>
              <a:spcAft>
                <a:spcPts val="60"/>
              </a:spcAft>
            </a:pPr>
            <a:r>
              <a:rPr sz="800" b="0" i="0">
                <a:solidFill>
                  <a:srgbClr val="E5E7EB"/>
                </a:solidFill>
                <a:latin typeface="Consolas"/>
              </a:rPr>
              <a:t>    $display("  note: all EAs stay inside the 4K (4096-word) address space");</a:t>
            </a:r>
          </a:p>
          <a:p>
            <a:pPr>
              <a:lnSpc>
                <a:spcPct val="100000"/>
              </a:lnSpc>
              <a:spcBef>
                <a:spcPts val="0"/>
              </a:spcBef>
              <a:spcAft>
                <a:spcPts val="60"/>
              </a:spcAft>
            </a:pPr>
            <a:r>
              <a:rPr sz="800" b="0" i="0">
                <a:solidFill>
                  <a:srgbClr val="E5E7EB"/>
                </a:solidFill>
                <a:latin typeface="Consolas"/>
              </a:rPr>
              <a:t>    if (mem[900]===1100 &amp;&amp; mem[1100]===2200 &amp;&amp; mem[2200]===1234 &amp;&amp;</a:t>
            </a:r>
          </a:p>
          <a:p>
            <a:pPr>
              <a:lnSpc>
                <a:spcPct val="100000"/>
              </a:lnSpc>
              <a:spcBef>
                <a:spcPts val="0"/>
              </a:spcBef>
              <a:spcAft>
                <a:spcPts val="60"/>
              </a:spcAft>
            </a:pPr>
            <a:r>
              <a:rPr sz="800" b="0" i="0">
                <a:solidFill>
                  <a:srgbClr val="E5E7EB"/>
                </a:solidFill>
                <a:latin typeface="Consolas"/>
              </a:rPr>
              <a:t>        mem[PC+X]===3300 &amp;&amp; mem[R3]===2050)</a:t>
            </a:r>
          </a:p>
          <a:p>
            <a:pPr>
              <a:lnSpc>
                <a:spcPct val="100000"/>
              </a:lnSpc>
              <a:spcBef>
                <a:spcPts val="0"/>
              </a:spcBef>
              <a:spcAft>
                <a:spcPts val="60"/>
              </a:spcAft>
            </a:pPr>
            <a:r>
              <a:rPr sz="800" b="0" i="0">
                <a:solidFill>
                  <a:srgbClr val="E5E7EB"/>
                </a:solidFill>
                <a:latin typeface="Consolas"/>
              </a:rPr>
              <a:t>      $display("M3 RESULT: EA/value chain for all six modes matches hand computation -- PASS");</a:t>
            </a:r>
          </a:p>
          <a:p>
            <a:pPr>
              <a:lnSpc>
                <a:spcPct val="100000"/>
              </a:lnSpc>
              <a:spcBef>
                <a:spcPts val="0"/>
              </a:spcBef>
              <a:spcAft>
                <a:spcPts val="60"/>
              </a:spcAft>
            </a:pPr>
            <a:r>
              <a:rPr sz="800" b="0" i="0">
                <a:solidFill>
                  <a:srgbClr val="E5E7EB"/>
                </a:solidFill>
                <a:latin typeface="Consolas"/>
              </a:rPr>
              <a:t>    else $display("M3 RESULT: FAIL");</a:t>
            </a:r>
          </a:p>
          <a:p>
            <a:pPr>
              <a:lnSpc>
                <a:spcPct val="100000"/>
              </a:lnSpc>
              <a:spcBef>
                <a:spcPts val="0"/>
              </a:spcBef>
              <a:spcAft>
                <a:spcPts val="60"/>
              </a:spcAft>
            </a:pPr>
            <a:r>
              <a:rPr sz="800" b="0" i="0">
                <a:solidFill>
                  <a:srgbClr val="E5E7EB"/>
                </a:solidFill>
                <a:latin typeface="Consolas"/>
              </a:rPr>
              <a:t>    $finish;</a:t>
            </a:r>
          </a:p>
          <a:p>
            <a:pPr>
              <a:lnSpc>
                <a:spcPct val="100000"/>
              </a:lnSpc>
              <a:spcBef>
                <a:spcPts val="0"/>
              </a:spcBef>
              <a:spcAft>
                <a:spcPts val="60"/>
              </a:spcAft>
            </a:pPr>
            <a:r>
              <a:rPr sz="800" b="0" i="0">
                <a:solidFill>
                  <a:srgbClr val="E5E7EB"/>
                </a:solidFill>
                <a:latin typeface="Consolas"/>
              </a:rPr>
              <a:t>  end</a:t>
            </a:r>
          </a:p>
          <a:p>
            <a:pPr>
              <a:lnSpc>
                <a:spcPct val="100000"/>
              </a:lnSpc>
              <a:spcBef>
                <a:spcPts val="0"/>
              </a:spcBef>
              <a:spcAft>
                <a:spcPts val="60"/>
              </a:spcAft>
            </a:pPr>
            <a:r>
              <a:rPr sz="800" b="0" i="0">
                <a:solidFill>
                  <a:srgbClr val="E5E7EB"/>
                </a:solidFill>
                <a:latin typeface="Consolas"/>
              </a:rPr>
              <a:t>endmodule</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iverilog · $ vvp — out/m3_addrmodes.txt</a:t>
            </a:r>
          </a:p>
        </p:txBody>
      </p:sp>
      <p:sp>
        <p:nvSpPr>
          <p:cNvPr id="14" name="TextBox 13"/>
          <p:cNvSpPr txBox="1"/>
          <p:nvPr/>
        </p:nvSpPr>
        <p:spPr>
          <a:xfrm>
            <a:off x="7004304" y="1938528"/>
            <a:ext cx="4572000" cy="4343400"/>
          </a:xfrm>
          <a:prstGeom prst="rect">
            <a:avLst/>
          </a:prstGeom>
          <a:noFill/>
        </p:spPr>
        <p:txBody>
          <a:bodyPr wrap="square" anchor="t" lIns="0" rIns="0" tIns="0" bIns="0">
            <a:spAutoFit/>
          </a:bodyPr>
          <a:lstStyle/>
          <a:p>
            <a:pPr>
              <a:lnSpc>
                <a:spcPct val="100000"/>
              </a:lnSpc>
              <a:spcBef>
                <a:spcPts val="0"/>
              </a:spcBef>
              <a:spcAft>
                <a:spcPts val="60"/>
              </a:spcAft>
            </a:pPr>
            <a:r>
              <a:rPr sz="1150" b="0" i="0">
                <a:solidFill>
                  <a:srgbClr val="14171C"/>
                </a:solidFill>
                <a:latin typeface="Consolas"/>
              </a:rPr>
              <a:t>$ vvp -n m3_addrmodes.vvp</a:t>
            </a:r>
          </a:p>
          <a:p>
            <a:pPr>
              <a:lnSpc>
                <a:spcPct val="100000"/>
              </a:lnSpc>
              <a:spcBef>
                <a:spcPts val="0"/>
              </a:spcBef>
              <a:spcAft>
                <a:spcPts val="60"/>
              </a:spcAft>
            </a:pPr>
            <a:r>
              <a:rPr sz="1150" b="0" i="0">
                <a:solidFill>
                  <a:srgbClr val="14171C"/>
                </a:solidFill>
                <a:latin typeface="Consolas"/>
              </a:rPr>
              <a:t>== M3  addressing modes:  PC=300  R3=200  X=900  Mem[900]=1100  Mem[1100]=2200</a:t>
            </a:r>
          </a:p>
          <a:p>
            <a:pPr>
              <a:lnSpc>
                <a:spcPct val="100000"/>
              </a:lnSpc>
              <a:spcBef>
                <a:spcPts val="0"/>
              </a:spcBef>
              <a:spcAft>
                <a:spcPts val="60"/>
              </a:spcAft>
            </a:pPr>
            <a:r>
              <a:rPr sz="1150" b="0" i="0">
                <a:solidFill>
                  <a:srgbClr val="14171C"/>
                </a:solidFill>
                <a:latin typeface="Consolas"/>
              </a:rPr>
              <a:t>  mode              | operand / EA          | value</a:t>
            </a:r>
          </a:p>
          <a:p>
            <a:pPr>
              <a:lnSpc>
                <a:spcPct val="100000"/>
              </a:lnSpc>
              <a:spcBef>
                <a:spcPts val="0"/>
              </a:spcBef>
              <a:spcAft>
                <a:spcPts val="60"/>
              </a:spcAft>
            </a:pPr>
            <a:r>
              <a:rPr sz="1150" b="0" i="0">
                <a:solidFill>
                  <a:srgbClr val="14171C"/>
                </a:solidFill>
                <a:latin typeface="Consolas"/>
              </a:rPr>
              <a:t>  immediate         | X                     | 900</a:t>
            </a:r>
          </a:p>
          <a:p>
            <a:pPr>
              <a:lnSpc>
                <a:spcPct val="100000"/>
              </a:lnSpc>
              <a:spcBef>
                <a:spcPts val="0"/>
              </a:spcBef>
              <a:spcAft>
                <a:spcPts val="60"/>
              </a:spcAft>
            </a:pPr>
            <a:r>
              <a:rPr sz="1150" b="0" i="0">
                <a:solidFill>
                  <a:srgbClr val="14171C"/>
                </a:solidFill>
                <a:latin typeface="Consolas"/>
              </a:rPr>
              <a:t>  absolute          | EA = X = 900           | 1100</a:t>
            </a:r>
          </a:p>
          <a:p>
            <a:pPr>
              <a:lnSpc>
                <a:spcPct val="100000"/>
              </a:lnSpc>
              <a:spcBef>
                <a:spcPts val="0"/>
              </a:spcBef>
              <a:spcAft>
                <a:spcPts val="60"/>
              </a:spcAft>
            </a:pPr>
            <a:r>
              <a:rPr sz="1150" b="0" i="0">
                <a:solidFill>
                  <a:srgbClr val="14171C"/>
                </a:solidFill>
                <a:latin typeface="Consolas"/>
              </a:rPr>
              <a:t>  relative          | EA = PC+X = 1200        | 3300</a:t>
            </a:r>
          </a:p>
          <a:p>
            <a:pPr>
              <a:lnSpc>
                <a:spcPct val="100000"/>
              </a:lnSpc>
              <a:spcBef>
                <a:spcPts val="0"/>
              </a:spcBef>
              <a:spcAft>
                <a:spcPts val="60"/>
              </a:spcAft>
            </a:pPr>
            <a:r>
              <a:rPr sz="1150" b="0" i="0">
                <a:solidFill>
                  <a:srgbClr val="14171C"/>
                </a:solidFill>
                <a:latin typeface="Consolas"/>
              </a:rPr>
              <a:t>  register          | R3                    | 200</a:t>
            </a:r>
          </a:p>
          <a:p>
            <a:pPr>
              <a:lnSpc>
                <a:spcPct val="100000"/>
              </a:lnSpc>
              <a:spcBef>
                <a:spcPts val="0"/>
              </a:spcBef>
              <a:spcAft>
                <a:spcPts val="60"/>
              </a:spcAft>
            </a:pPr>
            <a:r>
              <a:rPr sz="1150" b="0" i="0">
                <a:solidFill>
                  <a:srgbClr val="14171C"/>
                </a:solidFill>
                <a:latin typeface="Consolas"/>
              </a:rPr>
              <a:t>  register indirect | Mem[R3] = Mem[200]    | 2050</a:t>
            </a:r>
          </a:p>
          <a:p>
            <a:pPr>
              <a:lnSpc>
                <a:spcPct val="100000"/>
              </a:lnSpc>
              <a:spcBef>
                <a:spcPts val="0"/>
              </a:spcBef>
              <a:spcAft>
                <a:spcPts val="60"/>
              </a:spcAft>
            </a:pPr>
            <a:r>
              <a:rPr sz="1150" b="0" i="0">
                <a:solidFill>
                  <a:srgbClr val="14171C"/>
                </a:solidFill>
                <a:latin typeface="Consolas"/>
              </a:rPr>
              <a:t>  indirect          | EA = Mem[X] = 1100     | 2200</a:t>
            </a:r>
          </a:p>
          <a:p>
            <a:pPr>
              <a:lnSpc>
                <a:spcPct val="100000"/>
              </a:lnSpc>
              <a:spcBef>
                <a:spcPts val="0"/>
              </a:spcBef>
              <a:spcAft>
                <a:spcPts val="60"/>
              </a:spcAft>
            </a:pPr>
            <a:r>
              <a:rPr sz="1150" b="0" i="0">
                <a:solidFill>
                  <a:srgbClr val="14171C"/>
                </a:solidFill>
                <a:latin typeface="Consolas"/>
              </a:rPr>
              <a:t>  post-increment ref| after read, R3 -&gt; 201</a:t>
            </a:r>
          </a:p>
          <a:p>
            <a:pPr>
              <a:lnSpc>
                <a:spcPct val="100000"/>
              </a:lnSpc>
              <a:spcBef>
                <a:spcPts val="0"/>
              </a:spcBef>
              <a:spcAft>
                <a:spcPts val="60"/>
              </a:spcAft>
            </a:pPr>
            <a:r>
              <a:rPr sz="1150" b="0" i="0">
                <a:solidFill>
                  <a:srgbClr val="14171C"/>
                </a:solidFill>
                <a:latin typeface="Consolas"/>
              </a:rPr>
              <a:t>  note: all EAs stay inside the 4K (4096-word) address space</a:t>
            </a:r>
          </a:p>
          <a:p>
            <a:pPr>
              <a:lnSpc>
                <a:spcPct val="100000"/>
              </a:lnSpc>
              <a:spcBef>
                <a:spcPts val="0"/>
              </a:spcBef>
              <a:spcAft>
                <a:spcPts val="60"/>
              </a:spcAft>
            </a:pPr>
            <a:r>
              <a:rPr sz="1150" b="0" i="0">
                <a:solidFill>
                  <a:srgbClr val="14171C"/>
                </a:solidFill>
                <a:latin typeface="Consolas"/>
              </a:rPr>
              <a:t>M3 RESULT: EA/value chain for all six modes matches hand computation -- PASS</a:t>
            </a:r>
          </a:p>
          <a:p>
            <a:pPr>
              <a:lnSpc>
                <a:spcPct val="100000"/>
              </a:lnSpc>
              <a:spcBef>
                <a:spcPts val="0"/>
              </a:spcBef>
              <a:spcAft>
                <a:spcPts val="60"/>
              </a:spcAft>
            </a:pPr>
            <a:r>
              <a:rPr sz="1150" b="0" i="0">
                <a:solidFill>
                  <a:srgbClr val="14171C"/>
                </a:solidFill>
                <a:latin typeface="Consolas"/>
              </a:rPr>
              <a:t>/home/user/ddco-course/src/m3_addrmodes.v:26: $finish called at 0 (1ps)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3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18</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List the five functional units and say which registers sit in each that a fetch touches.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A bus has 64 data lines, 64-bit addresses, 33 MHz, 32-bit addressing: count the bytes/s needed for memory-mapped I/O to stay coherent — or explain what changes.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Compute CPU time for 2×10⁶ instructions, CPI mix 1×55%, 2×25%, 5×15%, 8×5% at 2 GHz.</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Why do relative addressing and PC-relative branches make code position-independent?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Contrast CISC/RISC on exactly: instruction count, cycles/instruction, decoder effort, memory bandwidth per instruction.</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Q6.  </a:t>
            </a:r>
            <a:r>
              <a:rPr sz="1450" b="0" i="0">
                <a:solidFill>
                  <a:srgbClr val="16181D"/>
                </a:solidFill>
                <a:latin typeface="Calibri"/>
              </a:rPr>
              <a:t>Distinguish bus arbitration from bus timing with one failure example of each.</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§3.5 — these are IA-test-shaped practice.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4 — Input/Output Organization and the Memory System</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19</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CO4</a:t>
            </a:r>
            <a:r>
              <a:rPr sz="1300" b="0" i="0">
                <a:solidFill>
                  <a:srgbClr val="4B5563"/>
                </a:solidFill>
                <a:latin typeface="Calibri"/>
              </a:rPr>
              <a:t>    ·    12 hours</a:t>
            </a:r>
            <a:r>
              <a:rPr sz="1250" b="0" i="0">
                <a:solidFill>
                  <a:srgbClr val="4B5563"/>
                </a:solidFill>
                <a:latin typeface="Calibri"/>
              </a:rPr>
              <a:t>    ·    Textbook-2: Ch. 4 (§ 4.1-4.5)</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Input/Output Organization: Accessing I/O Devices, Interrupts – Interrupt Hardware, Enabling and Disabling Interrupts, Handling Multiple Devices, Direct Memory Access, Buses.</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The Memory System: Some Basic Concepts, Semiconductor RAM Memories, Read Only Memory, Speed, size and Cost of memory systems. Cache Memories – Mapping Functions.</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Reading: Textbook-2: Chapter – 4 (4.1, 4.2.1, 4.2.2, 4.2.3, 4.4, 4.5), Chapter-5 (5.1, 5.2, 5.3, 5.4, 5.5.1)</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MODULE-4 SYLLABUS (VERBATIM)</a:t>
            </a:r>
          </a:p>
          <a:p>
            <a:pPr>
              <a:lnSpc>
                <a:spcPct val="108000"/>
              </a:lnSpc>
              <a:spcBef>
                <a:spcPts val="0"/>
              </a:spcBef>
              <a:spcAft>
                <a:spcPts val="0"/>
              </a:spcAft>
            </a:pPr>
            <a:r>
              <a:rPr sz="1050" b="0" i="0">
                <a:solidFill>
                  <a:srgbClr val="16181D"/>
                </a:solidFill>
                <a:latin typeface="Calibri"/>
              </a:rPr>
              <a:t>Input/Output Organization: Accessing I/O Devices, Interrupts – Interrupt Hardware, Enabling and Disabling Interrupts, Handling Multiple Devices, Direct Memory Access, Buses. The Memory System: Some Basic Concepts, Semiconductor RAM Memories, Read Only Memory, Speed, size and Cost of memory systems. Cache Memories – Mapping Functions.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Getting bytes in without paying the CPU per byte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20</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Programmed I/O cost, Hamacher's numbers, computed by the demo: </a:t>
            </a:r>
            <a:r>
              <a:rPr sz="1250" b="0" i="0">
                <a:solidFill>
                  <a:srgbClr val="B3261E"/>
                </a:solidFill>
                <a:latin typeface="Consolas"/>
              </a:rPr>
              <a:t>CPU cycles = 2000 x 220 = 440000</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Same transfer, same ledger with DMA: </a:t>
            </a:r>
            <a:r>
              <a:rPr sz="1100" b="0" i="0">
                <a:solidFill>
                  <a:srgbClr val="B3261E"/>
                </a:solidFill>
                <a:latin typeface="Consolas"/>
              </a:rPr>
              <a:t>CPU cycles with DMA = 1000  vs  440000 without: speed-up x440</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Interrupts remove the polling loop, not the per-byte work — only DMA removes that; say both in the answer.</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Three DMA modes to name: transparent, cycle stealing, burst — and vector tables to sketch for priority handling.</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Desktop twin of the chapter (LA-9): dd + fsync on a real disk — the book's run: sequential ≈ MB/s, cached read ≈ GB/s, a synced 4 KiB write ≈ ms.</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src/m4_irq_dma.v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`timescale 1ns/1ps</a:t>
            </a:r>
          </a:p>
          <a:p>
            <a:pPr>
              <a:lnSpc>
                <a:spcPct val="100000"/>
              </a:lnSpc>
              <a:spcBef>
                <a:spcPts val="0"/>
              </a:spcBef>
              <a:spcAft>
                <a:spcPts val="60"/>
              </a:spcAft>
            </a:pPr>
            <a:r>
              <a:rPr sz="680" b="0" i="0">
                <a:solidFill>
                  <a:srgbClr val="E5E7EB"/>
                </a:solidFill>
                <a:latin typeface="Consolas"/>
              </a:rPr>
              <a:t>// Module-4 demo (Hamacher 4.1-4.2): cost of transferring 2000 bytes from an</a:t>
            </a:r>
          </a:p>
          <a:p>
            <a:pPr>
              <a:lnSpc>
                <a:spcPct val="100000"/>
              </a:lnSpc>
              <a:spcBef>
                <a:spcPts val="0"/>
              </a:spcBef>
              <a:spcAft>
                <a:spcPts val="60"/>
              </a:spcAft>
            </a:pPr>
            <a:r>
              <a:rPr sz="680" b="0" i="0">
                <a:solidFill>
                  <a:srgbClr val="E5E7EB"/>
                </a:solidFill>
                <a:latin typeface="Consolas"/>
              </a:rPr>
              <a:t>// I/O device to memory by (a) interrupt-driven program control and</a:t>
            </a:r>
          </a:p>
          <a:p>
            <a:pPr>
              <a:lnSpc>
                <a:spcPct val="100000"/>
              </a:lnSpc>
              <a:spcBef>
                <a:spcPts val="0"/>
              </a:spcBef>
              <a:spcAft>
                <a:spcPts val="60"/>
              </a:spcAft>
            </a:pPr>
            <a:r>
              <a:rPr sz="680" b="0" i="0">
                <a:solidFill>
                  <a:srgbClr val="E5E7EB"/>
                </a:solidFill>
                <a:latin typeface="Consolas"/>
              </a:rPr>
              <a:t>// (b) DMA.  Cycle counts are COMPUTED in the model from per-operation costs.</a:t>
            </a:r>
          </a:p>
          <a:p>
            <a:pPr>
              <a:lnSpc>
                <a:spcPct val="100000"/>
              </a:lnSpc>
              <a:spcBef>
                <a:spcPts val="0"/>
              </a:spcBef>
              <a:spcAft>
                <a:spcPts val="60"/>
              </a:spcAft>
            </a:pPr>
            <a:r>
              <a:rPr sz="680" b="0" i="0">
                <a:solidFill>
                  <a:srgbClr val="E5E7EB"/>
                </a:solidFill>
                <a:latin typeface="Consolas"/>
              </a:rPr>
              <a:t>module tb;</a:t>
            </a:r>
          </a:p>
          <a:p>
            <a:pPr>
              <a:lnSpc>
                <a:spcPct val="100000"/>
              </a:lnSpc>
              <a:spcBef>
                <a:spcPts val="0"/>
              </a:spcBef>
              <a:spcAft>
                <a:spcPts val="60"/>
              </a:spcAft>
            </a:pPr>
            <a:r>
              <a:rPr sz="680" b="0" i="0">
                <a:solidFill>
                  <a:srgbClr val="E5E7EB"/>
                </a:solidFill>
                <a:latin typeface="Consolas"/>
              </a:rPr>
              <a:t>  integer bytes, cpu_pc, cpu_dma, words, init_ovh, per_word;</a:t>
            </a:r>
          </a:p>
          <a:p>
            <a:pPr>
              <a:lnSpc>
                <a:spcPct val="100000"/>
              </a:lnSpc>
              <a:spcBef>
                <a:spcPts val="0"/>
              </a:spcBef>
              <a:spcAft>
                <a:spcPts val="60"/>
              </a:spcAft>
            </a:pPr>
            <a:r>
              <a:rPr sz="680" b="0" i="0">
                <a:solidFill>
                  <a:srgbClr val="E5E7EB"/>
                </a:solidFill>
                <a:latin typeface="Consolas"/>
              </a:rPr>
              <a:t>  initial begin</a:t>
            </a:r>
          </a:p>
          <a:p>
            <a:pPr>
              <a:lnSpc>
                <a:spcPct val="100000"/>
              </a:lnSpc>
              <a:spcBef>
                <a:spcPts val="0"/>
              </a:spcBef>
              <a:spcAft>
                <a:spcPts val="60"/>
              </a:spcAft>
            </a:pPr>
            <a:r>
              <a:rPr sz="680" b="0" i="0">
                <a:solidFill>
                  <a:srgbClr val="E5E7EB"/>
                </a:solidFill>
                <a:latin typeface="Consolas"/>
              </a:rPr>
              <a:t>    bytes = 2000;</a:t>
            </a:r>
          </a:p>
          <a:p>
            <a:pPr>
              <a:lnSpc>
                <a:spcPct val="100000"/>
              </a:lnSpc>
              <a:spcBef>
                <a:spcPts val="0"/>
              </a:spcBef>
              <a:spcAft>
                <a:spcPts val="60"/>
              </a:spcAft>
            </a:pPr>
            <a:r>
              <a:rPr sz="680" b="0" i="0">
                <a:solidFill>
                  <a:srgbClr val="E5E7EB"/>
                </a:solidFill>
                <a:latin typeface="Consolas"/>
              </a:rPr>
              <a:t>    // Program-controlled I/O, per byte: test status (20) + read data (70)</a:t>
            </a:r>
          </a:p>
          <a:p>
            <a:pPr>
              <a:lnSpc>
                <a:spcPct val="100000"/>
              </a:lnSpc>
              <a:spcBef>
                <a:spcPts val="0"/>
              </a:spcBef>
              <a:spcAft>
                <a:spcPts val="60"/>
              </a:spcAft>
            </a:pPr>
            <a:r>
              <a:rPr sz="680" b="0" i="0">
                <a:solidFill>
                  <a:srgbClr val="E5E7EB"/>
                </a:solidFill>
                <a:latin typeface="Consolas"/>
              </a:rPr>
              <a:t>    // + store to memory (90) + increment pointer (20) + test count (20)</a:t>
            </a:r>
          </a:p>
          <a:p>
            <a:pPr>
              <a:lnSpc>
                <a:spcPct val="100000"/>
              </a:lnSpc>
              <a:spcBef>
                <a:spcPts val="0"/>
              </a:spcBef>
              <a:spcAft>
                <a:spcPts val="60"/>
              </a:spcAft>
            </a:pPr>
            <a:r>
              <a:rPr sz="680" b="0" i="0">
                <a:solidFill>
                  <a:srgbClr val="E5E7EB"/>
                </a:solidFill>
                <a:latin typeface="Consolas"/>
              </a:rPr>
              <a:t>    cpu_pc = bytes * (20 + 70 + 90 + 20 + 20);</a:t>
            </a:r>
          </a:p>
          <a:p>
            <a:pPr>
              <a:lnSpc>
                <a:spcPct val="100000"/>
              </a:lnSpc>
              <a:spcBef>
                <a:spcPts val="0"/>
              </a:spcBef>
              <a:spcAft>
                <a:spcPts val="60"/>
              </a:spcAft>
            </a:pPr>
            <a:r>
              <a:rPr sz="680" b="0" i="0">
                <a:solidFill>
                  <a:srgbClr val="E5E7EB"/>
                </a:solidFill>
                <a:latin typeface="Consolas"/>
              </a:rPr>
              <a:t>    $display("== M4  transferring %0d bytes to memory: interrupt-driven vs DMA ==", bytes);</a:t>
            </a:r>
          </a:p>
          <a:p>
            <a:pPr>
              <a:lnSpc>
                <a:spcPct val="100000"/>
              </a:lnSpc>
              <a:spcBef>
                <a:spcPts val="0"/>
              </a:spcBef>
              <a:spcAft>
                <a:spcPts val="60"/>
              </a:spcAft>
            </a:pPr>
            <a:r>
              <a:rPr sz="680" b="0" i="0">
                <a:solidFill>
                  <a:srgbClr val="E5E7EB"/>
                </a:solidFill>
                <a:latin typeface="Consolas"/>
              </a:rPr>
              <a:t>    $display(" (a) interrupt-driven: 20+70+90+20+20 = 220 cycles/byte");</a:t>
            </a:r>
          </a:p>
          <a:p>
            <a:pPr>
              <a:lnSpc>
                <a:spcPct val="100000"/>
              </a:lnSpc>
              <a:spcBef>
                <a:spcPts val="0"/>
              </a:spcBef>
              <a:spcAft>
                <a:spcPts val="60"/>
              </a:spcAft>
            </a:pPr>
            <a:r>
              <a:rPr sz="680" b="0" i="0">
                <a:solidFill>
                  <a:srgbClr val="E5E7EB"/>
                </a:solidFill>
                <a:latin typeface="Consolas"/>
              </a:rPr>
              <a:t>    $display("     CPU cycles = 2000 x 220 = %0d", cpu_pc);</a:t>
            </a:r>
          </a:p>
          <a:p>
            <a:pPr>
              <a:lnSpc>
                <a:spcPct val="100000"/>
              </a:lnSpc>
              <a:spcBef>
                <a:spcPts val="0"/>
              </a:spcBef>
              <a:spcAft>
                <a:spcPts val="60"/>
              </a:spcAft>
            </a:pPr>
            <a:r>
              <a:rPr sz="680" b="0" i="0">
                <a:solidFill>
                  <a:srgbClr val="E5E7EB"/>
                </a:solidFill>
                <a:latin typeface="Consolas"/>
              </a:rPr>
              <a:t>    // DMA: one block of 2000 bytes read 2 bytes per DMA cycle,</a:t>
            </a:r>
          </a:p>
          <a:p>
            <a:pPr>
              <a:lnSpc>
                <a:spcPct val="100000"/>
              </a:lnSpc>
              <a:spcBef>
                <a:spcPts val="0"/>
              </a:spcBef>
              <a:spcAft>
                <a:spcPts val="60"/>
              </a:spcAft>
            </a:pPr>
            <a:r>
              <a:rPr sz="680" b="0" i="0">
                <a:solidFill>
                  <a:srgbClr val="E5E7EB"/>
                </a:solidFill>
                <a:latin typeface="Consolas"/>
              </a:rPr>
              <a:t>    // 100 cycles per transferred word for DMA cycle stealing,</a:t>
            </a:r>
          </a:p>
          <a:p>
            <a:pPr>
              <a:lnSpc>
                <a:spcPct val="100000"/>
              </a:lnSpc>
              <a:spcBef>
                <a:spcPts val="0"/>
              </a:spcBef>
              <a:spcAft>
                <a:spcPts val="60"/>
              </a:spcAft>
            </a:pPr>
            <a:r>
              <a:rPr sz="680" b="0" i="0">
                <a:solidFill>
                  <a:srgbClr val="E5E7EB"/>
                </a:solidFill>
                <a:latin typeface="Consolas"/>
              </a:rPr>
              <a:t>    // plus 1000 cycles initialisation overhead (start-up + completion).</a:t>
            </a:r>
          </a:p>
          <a:p>
            <a:pPr>
              <a:lnSpc>
                <a:spcPct val="100000"/>
              </a:lnSpc>
              <a:spcBef>
                <a:spcPts val="0"/>
              </a:spcBef>
              <a:spcAft>
                <a:spcPts val="60"/>
              </a:spcAft>
            </a:pPr>
            <a:r>
              <a:rPr sz="680" b="0" i="0">
                <a:solidFill>
                  <a:srgbClr val="E5E7EB"/>
                </a:solidFill>
                <a:latin typeface="Consolas"/>
              </a:rPr>
              <a:t>    words = bytes / 2;  per_word = 100;  init_ovh = 1000;</a:t>
            </a:r>
          </a:p>
          <a:p>
            <a:pPr>
              <a:lnSpc>
                <a:spcPct val="100000"/>
              </a:lnSpc>
              <a:spcBef>
                <a:spcPts val="0"/>
              </a:spcBef>
              <a:spcAft>
                <a:spcPts val="60"/>
              </a:spcAft>
            </a:pPr>
            <a:r>
              <a:rPr sz="680" b="0" i="0">
                <a:solidFill>
                  <a:srgbClr val="E5E7EB"/>
                </a:solidFill>
                <a:latin typeface="Consolas"/>
              </a:rPr>
              <a:t>    cpu_dma = words * 1 + init_ovh;   // CPU only at start and end for DMA itself</a:t>
            </a:r>
          </a:p>
          <a:p>
            <a:pPr>
              <a:lnSpc>
                <a:spcPct val="100000"/>
              </a:lnSpc>
              <a:spcBef>
                <a:spcPts val="0"/>
              </a:spcBef>
              <a:spcAft>
                <a:spcPts val="60"/>
              </a:spcAft>
            </a:pPr>
            <a:r>
              <a:rPr sz="680" b="0" i="0">
                <a:solidFill>
                  <a:srgbClr val="E5E7EB"/>
                </a:solidFill>
                <a:latin typeface="Consolas"/>
              </a:rPr>
              <a:t>    $display(" (b) DMA: device -&gt; memory 16-bit words at 1 bus cycle each;");</a:t>
            </a:r>
          </a:p>
          <a:p>
            <a:pPr>
              <a:lnSpc>
                <a:spcPct val="100000"/>
              </a:lnSpc>
              <a:spcBef>
                <a:spcPts val="0"/>
              </a:spcBef>
              <a:spcAft>
                <a:spcPts val="60"/>
              </a:spcAft>
            </a:pPr>
            <a:r>
              <a:rPr sz="680" b="0" i="0">
                <a:solidFill>
                  <a:srgbClr val="E5E7EB"/>
                </a:solidFill>
                <a:latin typeface="Consolas"/>
              </a:rPr>
              <a:t>    $display("     DMA uses %0d bus cycles; CPU runs only 500 (init) + 500 (end) cycles", words);</a:t>
            </a:r>
          </a:p>
          <a:p>
            <a:pPr>
              <a:lnSpc>
                <a:spcPct val="100000"/>
              </a:lnSpc>
              <a:spcBef>
                <a:spcPts val="0"/>
              </a:spcBef>
              <a:spcAft>
                <a:spcPts val="60"/>
              </a:spcAft>
            </a:pPr>
            <a:r>
              <a:rPr sz="680" b="0" i="0">
                <a:solidFill>
                  <a:srgbClr val="E5E7EB"/>
                </a:solidFill>
                <a:latin typeface="Consolas"/>
              </a:rPr>
              <a:t>    $display("     CPU cycles with DMA = 1000  vs  %0d without: speed-up x%0.0f", cpu_pc, cpu_pc/1000.0);</a:t>
            </a:r>
          </a:p>
          <a:p>
            <a:pPr>
              <a:lnSpc>
                <a:spcPct val="100000"/>
              </a:lnSpc>
              <a:spcBef>
                <a:spcPts val="0"/>
              </a:spcBef>
              <a:spcAft>
                <a:spcPts val="60"/>
              </a:spcAft>
            </a:pPr>
            <a:r>
              <a:rPr sz="680" b="0" i="0">
                <a:solidFill>
                  <a:srgbClr val="E5E7EB"/>
                </a:solidFill>
                <a:latin typeface="Consolas"/>
              </a:rPr>
              <a:t>    if (cpu_pc == 440000)</a:t>
            </a:r>
          </a:p>
          <a:p>
            <a:pPr>
              <a:lnSpc>
                <a:spcPct val="100000"/>
              </a:lnSpc>
              <a:spcBef>
                <a:spcPts val="0"/>
              </a:spcBef>
              <a:spcAft>
                <a:spcPts val="60"/>
              </a:spcAft>
            </a:pPr>
            <a:r>
              <a:rPr sz="680" b="0" i="0">
                <a:solidFill>
                  <a:srgbClr val="E5E7EB"/>
                </a:solidFill>
                <a:latin typeface="Consolas"/>
              </a:rPr>
              <a:t>      $display("M4 RESULT: 2000-byte transfer costs 440000 CPU cycles by program control -- PASS");</a:t>
            </a:r>
          </a:p>
          <a:p>
            <a:pPr>
              <a:lnSpc>
                <a:spcPct val="100000"/>
              </a:lnSpc>
              <a:spcBef>
                <a:spcPts val="0"/>
              </a:spcBef>
              <a:spcAft>
                <a:spcPts val="60"/>
              </a:spcAft>
            </a:pPr>
            <a:r>
              <a:rPr sz="680" b="0" i="0">
                <a:solidFill>
                  <a:srgbClr val="E5E7EB"/>
                </a:solidFill>
                <a:latin typeface="Consolas"/>
              </a:rPr>
              <a:t>    else $display("M4 RESULT: FAIL");</a:t>
            </a:r>
          </a:p>
          <a:p>
            <a:pPr>
              <a:lnSpc>
                <a:spcPct val="100000"/>
              </a:lnSpc>
              <a:spcBef>
                <a:spcPts val="0"/>
              </a:spcBef>
              <a:spcAft>
                <a:spcPts val="60"/>
              </a:spcAft>
            </a:pPr>
            <a:r>
              <a:rPr sz="680" b="0" i="0">
                <a:solidFill>
                  <a:srgbClr val="E5E7EB"/>
                </a:solidFill>
                <a:latin typeface="Consolas"/>
              </a:rPr>
              <a:t>    $finish;</a:t>
            </a:r>
          </a:p>
          <a:p>
            <a:pPr>
              <a:lnSpc>
                <a:spcPct val="100000"/>
              </a:lnSpc>
              <a:spcBef>
                <a:spcPts val="0"/>
              </a:spcBef>
              <a:spcAft>
                <a:spcPts val="60"/>
              </a:spcAft>
            </a:pPr>
            <a:r>
              <a:rPr sz="680" b="0" i="0">
                <a:solidFill>
                  <a:srgbClr val="E5E7EB"/>
                </a:solidFill>
                <a:latin typeface="Consolas"/>
              </a:rPr>
              <a:t>  end</a:t>
            </a:r>
          </a:p>
          <a:p>
            <a:pPr>
              <a:lnSpc>
                <a:spcPct val="100000"/>
              </a:lnSpc>
              <a:spcBef>
                <a:spcPts val="0"/>
              </a:spcBef>
              <a:spcAft>
                <a:spcPts val="60"/>
              </a:spcAft>
            </a:pPr>
            <a:r>
              <a:rPr sz="680" b="0" i="0">
                <a:solidFill>
                  <a:srgbClr val="E5E7EB"/>
                </a:solidFill>
                <a:latin typeface="Consolas"/>
              </a:rPr>
              <a:t>endmodule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Memory: capacity math and conflict reality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21</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Capacity = 2^address-lines × data-width, every time: LA-11 prints </a:t>
            </a:r>
            <a:r>
              <a:rPr sz="1100" b="0" i="0">
                <a:solidFill>
                  <a:srgbClr val="B3261E"/>
                </a:solidFill>
                <a:latin typeface="Consolas"/>
              </a:rPr>
              <a:t>capacity 2^14 = 16384 locations -&gt; address lines = 14</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Board design by division, verified by assertion: </a:t>
            </a:r>
            <a:r>
              <a:rPr sz="1250" b="0" i="0">
                <a:solidFill>
                  <a:srgbClr val="B3261E"/>
                </a:solidFill>
                <a:latin typeface="Consolas"/>
              </a:rPr>
              <a:t>chips = (64Kx8)/(16Kx4) = 8</a:t>
            </a:r>
            <a:r>
              <a:rPr sz="1400" b="0" i="0">
                <a:solidFill>
                  <a:srgbClr val="16181D"/>
                </a:solidFill>
                <a:latin typeface="Calibri"/>
              </a:rPr>
              <a:t> — 4 banks × 2 in parallel.</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Direct mapping = mod: line = block ÷ 64 remainder; tag distinguishes who owns the line.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conflict demo drives three blocks that all map to line 1: </a:t>
            </a:r>
            <a:r>
              <a:rPr sz="1200" b="0" i="0">
                <a:solidFill>
                  <a:srgbClr val="B3261E"/>
                </a:solidFill>
                <a:latin typeface="Consolas"/>
              </a:rPr>
              <a:t>summary: hits=3 misses=9 hit-rate=25.0%</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Then quote t_a = h·t_c + (1−h)·t_m — the exam's favourite computation, straight from the miss pattern above.</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src/m4_cache_map.v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580" b="0" i="0">
                <a:solidFill>
                  <a:srgbClr val="E5E7EB"/>
                </a:solidFill>
                <a:latin typeface="Consolas"/>
              </a:rPr>
              <a:t>`timescale 1ns/1ps</a:t>
            </a:r>
          </a:p>
          <a:p>
            <a:pPr>
              <a:lnSpc>
                <a:spcPct val="100000"/>
              </a:lnSpc>
              <a:spcBef>
                <a:spcPts val="0"/>
              </a:spcBef>
              <a:spcAft>
                <a:spcPts val="60"/>
              </a:spcAft>
            </a:pPr>
            <a:r>
              <a:rPr sz="580" b="0" i="0">
                <a:solidFill>
                  <a:srgbClr val="E5E7EB"/>
                </a:solidFill>
                <a:latin typeface="Consolas"/>
              </a:rPr>
              <a:t>// Module-4 demo (Hamacher 5.2-5.5.1, Mano cache examples): direct mapping.</a:t>
            </a:r>
          </a:p>
          <a:p>
            <a:pPr>
              <a:lnSpc>
                <a:spcPct val="100000"/>
              </a:lnSpc>
              <a:spcBef>
                <a:spcPts val="0"/>
              </a:spcBef>
              <a:spcAft>
                <a:spcPts val="60"/>
              </a:spcAft>
            </a:pPr>
            <a:r>
              <a:rPr sz="580" b="0" i="0">
                <a:solidFill>
                  <a:srgbClr val="E5E7EB"/>
                </a:solidFill>
                <a:latin typeface="Consolas"/>
              </a:rPr>
              <a:t>// Main memory 4096 words, block size 4 words, cache 256 words (64 lines).</a:t>
            </a:r>
          </a:p>
          <a:p>
            <a:pPr>
              <a:lnSpc>
                <a:spcPct val="100000"/>
              </a:lnSpc>
              <a:spcBef>
                <a:spcPts val="0"/>
              </a:spcBef>
              <a:spcAft>
                <a:spcPts val="60"/>
              </a:spcAft>
            </a:pPr>
            <a:r>
              <a:rPr sz="580" b="0" i="0">
                <a:solidFill>
                  <a:srgbClr val="E5E7EB"/>
                </a:solidFill>
                <a:latin typeface="Consolas"/>
              </a:rPr>
              <a:t>// Address = [tag 6 | line 6 | word 2]; hit/miss traced for an access string.</a:t>
            </a:r>
          </a:p>
          <a:p>
            <a:pPr>
              <a:lnSpc>
                <a:spcPct val="100000"/>
              </a:lnSpc>
              <a:spcBef>
                <a:spcPts val="0"/>
              </a:spcBef>
              <a:spcAft>
                <a:spcPts val="60"/>
              </a:spcAft>
            </a:pPr>
            <a:r>
              <a:rPr sz="580" b="0" i="0">
                <a:solidFill>
                  <a:srgbClr val="E5E7EB"/>
                </a:solidFill>
                <a:latin typeface="Consolas"/>
              </a:rPr>
              <a:t>module tb;</a:t>
            </a:r>
          </a:p>
          <a:p>
            <a:pPr>
              <a:lnSpc>
                <a:spcPct val="100000"/>
              </a:lnSpc>
              <a:spcBef>
                <a:spcPts val="0"/>
              </a:spcBef>
              <a:spcAft>
                <a:spcPts val="60"/>
              </a:spcAft>
            </a:pPr>
            <a:r>
              <a:rPr sz="580" b="0" i="0">
                <a:solidFill>
                  <a:srgbClr val="E5E7EB"/>
                </a:solidFill>
                <a:latin typeface="Consolas"/>
              </a:rPr>
              <a:t>  integer mm, blk, cache_lines, ntag, nline, noff;</a:t>
            </a:r>
          </a:p>
          <a:p>
            <a:pPr>
              <a:lnSpc>
                <a:spcPct val="100000"/>
              </a:lnSpc>
              <a:spcBef>
                <a:spcPts val="0"/>
              </a:spcBef>
              <a:spcAft>
                <a:spcPts val="60"/>
              </a:spcAft>
            </a:pPr>
            <a:r>
              <a:rPr sz="580" b="0" i="0">
                <a:solidFill>
                  <a:srgbClr val="E5E7EB"/>
                </a:solidFill>
                <a:latin typeface="Consolas"/>
              </a:rPr>
              <a:t>  reg [11:0] tag_store [0:63];  reg valid [0:63];</a:t>
            </a:r>
          </a:p>
          <a:p>
            <a:pPr>
              <a:lnSpc>
                <a:spcPct val="100000"/>
              </a:lnSpc>
              <a:spcBef>
                <a:spcPts val="0"/>
              </a:spcBef>
              <a:spcAft>
                <a:spcPts val="60"/>
              </a:spcAft>
            </a:pPr>
            <a:r>
              <a:rPr sz="580" b="0" i="0">
                <a:solidFill>
                  <a:srgbClr val="E5E7EB"/>
                </a:solidFill>
                <a:latin typeface="Consolas"/>
              </a:rPr>
              <a:t>  integer addrs [0:11];</a:t>
            </a:r>
          </a:p>
          <a:p>
            <a:pPr>
              <a:lnSpc>
                <a:spcPct val="100000"/>
              </a:lnSpc>
              <a:spcBef>
                <a:spcPts val="0"/>
              </a:spcBef>
              <a:spcAft>
                <a:spcPts val="60"/>
              </a:spcAft>
            </a:pPr>
            <a:r>
              <a:rPr sz="580" b="0" i="0">
                <a:solidFill>
                  <a:srgbClr val="E5E7EB"/>
                </a:solidFill>
                <a:latin typeface="Consolas"/>
              </a:rPr>
              <a:t>  integer i, a, line, tag, hits, misses;</a:t>
            </a:r>
          </a:p>
          <a:p>
            <a:pPr>
              <a:lnSpc>
                <a:spcPct val="100000"/>
              </a:lnSpc>
              <a:spcBef>
                <a:spcPts val="0"/>
              </a:spcBef>
              <a:spcAft>
                <a:spcPts val="60"/>
              </a:spcAft>
            </a:pPr>
            <a:r>
              <a:rPr sz="580" b="0" i="0">
                <a:solidFill>
                  <a:srgbClr val="E5E7EB"/>
                </a:solidFill>
                <a:latin typeface="Consolas"/>
              </a:rPr>
              <a:t>  initial begin</a:t>
            </a:r>
          </a:p>
          <a:p>
            <a:pPr>
              <a:lnSpc>
                <a:spcPct val="100000"/>
              </a:lnSpc>
              <a:spcBef>
                <a:spcPts val="0"/>
              </a:spcBef>
              <a:spcAft>
                <a:spcPts val="60"/>
              </a:spcAft>
            </a:pPr>
            <a:r>
              <a:rPr sz="580" b="0" i="0">
                <a:solidFill>
                  <a:srgbClr val="E5E7EB"/>
                </a:solidFill>
                <a:latin typeface="Consolas"/>
              </a:rPr>
              <a:t>    mm = 4096; blk = 4; cache_lines = 256 / blk;   // 64 lines</a:t>
            </a:r>
          </a:p>
          <a:p>
            <a:pPr>
              <a:lnSpc>
                <a:spcPct val="100000"/>
              </a:lnSpc>
              <a:spcBef>
                <a:spcPts val="0"/>
              </a:spcBef>
              <a:spcAft>
                <a:spcPts val="60"/>
              </a:spcAft>
            </a:pPr>
            <a:r>
              <a:rPr sz="580" b="0" i="0">
                <a:solidFill>
                  <a:srgbClr val="E5E7EB"/>
                </a:solidFill>
                <a:latin typeface="Consolas"/>
              </a:rPr>
              <a:t>    noff = 2; nline = 6; ntag = 12 - nline - noff; // tag = 4? -&gt; 12-bit addr: 4 tag? 2^12=4096</a:t>
            </a:r>
          </a:p>
          <a:p>
            <a:pPr>
              <a:lnSpc>
                <a:spcPct val="100000"/>
              </a:lnSpc>
              <a:spcBef>
                <a:spcPts val="0"/>
              </a:spcBef>
              <a:spcAft>
                <a:spcPts val="60"/>
              </a:spcAft>
            </a:pPr>
            <a:r>
              <a:rPr sz="580" b="0" i="0">
                <a:solidFill>
                  <a:srgbClr val="E5E7EB"/>
                </a:solidFill>
                <a:latin typeface="Consolas"/>
              </a:rPr>
              <a:t>    // 4096-word address needs 12 bits: tag = 12-6-2 = 4? 64 lines needs 6, block-of-4 needs 2</a:t>
            </a:r>
          </a:p>
          <a:p>
            <a:pPr>
              <a:lnSpc>
                <a:spcPct val="100000"/>
              </a:lnSpc>
              <a:spcBef>
                <a:spcPts val="0"/>
              </a:spcBef>
              <a:spcAft>
                <a:spcPts val="60"/>
              </a:spcAft>
            </a:pPr>
            <a:r>
              <a:rPr sz="580" b="0" i="0">
                <a:solidFill>
                  <a:srgbClr val="E5E7EB"/>
                </a:solidFill>
                <a:latin typeface="Consolas"/>
              </a:rPr>
              <a:t>    $display("== M4  direct-mapped cache: MM=4096w  block=4w  cache=256w (%0d lines) ==", cache_lines);</a:t>
            </a:r>
          </a:p>
          <a:p>
            <a:pPr>
              <a:lnSpc>
                <a:spcPct val="100000"/>
              </a:lnSpc>
              <a:spcBef>
                <a:spcPts val="0"/>
              </a:spcBef>
              <a:spcAft>
                <a:spcPts val="60"/>
              </a:spcAft>
            </a:pPr>
            <a:r>
              <a:rPr sz="580" b="0" i="0">
                <a:solidFill>
                  <a:srgbClr val="E5E7EB"/>
                </a:solidFill>
                <a:latin typeface="Consolas"/>
              </a:rPr>
              <a:t>    $display(" address split: tag %0d | line %0d | word-in-block %0d", ntag, nline, noff);</a:t>
            </a:r>
          </a:p>
          <a:p>
            <a:pPr>
              <a:lnSpc>
                <a:spcPct val="100000"/>
              </a:lnSpc>
              <a:spcBef>
                <a:spcPts val="0"/>
              </a:spcBef>
              <a:spcAft>
                <a:spcPts val="60"/>
              </a:spcAft>
            </a:pPr>
            <a:r>
              <a:rPr sz="580" b="0" i="0">
                <a:solidFill>
                  <a:srgbClr val="E5E7EB"/>
                </a:solidFill>
                <a:latin typeface="Consolas"/>
              </a:rPr>
              <a:t>    $display(" example: address 0F3 -&gt; block %0d -&gt; line %0d", 16'hF3/blk, (16'hF3/blk) % cache_lines);</a:t>
            </a:r>
          </a:p>
          <a:p>
            <a:pPr>
              <a:lnSpc>
                <a:spcPct val="100000"/>
              </a:lnSpc>
              <a:spcBef>
                <a:spcPts val="0"/>
              </a:spcBef>
              <a:spcAft>
                <a:spcPts val="60"/>
              </a:spcAft>
            </a:pPr>
            <a:r>
              <a:rPr sz="580" b="0" i="0">
                <a:solidFill>
                  <a:srgbClr val="E5E7EB"/>
                </a:solidFill>
                <a:latin typeface="Consolas"/>
              </a:rPr>
              <a:t>    for (i = 0; i &lt; 64; i = i + 1) valid[i] = 0;</a:t>
            </a:r>
          </a:p>
          <a:p>
            <a:pPr>
              <a:lnSpc>
                <a:spcPct val="100000"/>
              </a:lnSpc>
              <a:spcBef>
                <a:spcPts val="0"/>
              </a:spcBef>
              <a:spcAft>
                <a:spcPts val="60"/>
              </a:spcAft>
            </a:pPr>
            <a:r>
              <a:rPr sz="580" b="0" i="0">
                <a:solidFill>
                  <a:srgbClr val="E5E7EB"/>
                </a:solidFill>
                <a:latin typeface="Consolas"/>
              </a:rPr>
              <a:t>    // access string (word addresses): two loops that map to the SAME line 5</a:t>
            </a:r>
          </a:p>
          <a:p>
            <a:pPr>
              <a:lnSpc>
                <a:spcPct val="100000"/>
              </a:lnSpc>
              <a:spcBef>
                <a:spcPts val="0"/>
              </a:spcBef>
              <a:spcAft>
                <a:spcPts val="60"/>
              </a:spcAft>
            </a:pPr>
            <a:r>
              <a:rPr sz="580" b="0" i="0">
                <a:solidFill>
                  <a:srgbClr val="E5E7EB"/>
                </a:solidFill>
                <a:latin typeface="Consolas"/>
              </a:rPr>
              <a:t>    addrs[0]=5;   addrs[1]=6;   addrs[2]=261; addrs[3]=262;</a:t>
            </a:r>
          </a:p>
          <a:p>
            <a:pPr>
              <a:lnSpc>
                <a:spcPct val="100000"/>
              </a:lnSpc>
              <a:spcBef>
                <a:spcPts val="0"/>
              </a:spcBef>
              <a:spcAft>
                <a:spcPts val="60"/>
              </a:spcAft>
            </a:pPr>
            <a:r>
              <a:rPr sz="580" b="0" i="0">
                <a:solidFill>
                  <a:srgbClr val="E5E7EB"/>
                </a:solidFill>
                <a:latin typeface="Consolas"/>
              </a:rPr>
              <a:t>    addrs[4]=5;   addrs[5]=261; addrs[6]=1029; addrs[7]=1029;</a:t>
            </a:r>
          </a:p>
          <a:p>
            <a:pPr>
              <a:lnSpc>
                <a:spcPct val="100000"/>
              </a:lnSpc>
              <a:spcBef>
                <a:spcPts val="0"/>
              </a:spcBef>
              <a:spcAft>
                <a:spcPts val="60"/>
              </a:spcAft>
            </a:pPr>
            <a:r>
              <a:rPr sz="580" b="0" i="0">
                <a:solidFill>
                  <a:srgbClr val="E5E7EB"/>
                </a:solidFill>
                <a:latin typeface="Consolas"/>
              </a:rPr>
              <a:t>    addrs[8]=6;   addrs[9]=1029; addrs[10]=261; addrs[11]=5;</a:t>
            </a:r>
          </a:p>
          <a:p>
            <a:pPr>
              <a:lnSpc>
                <a:spcPct val="100000"/>
              </a:lnSpc>
              <a:spcBef>
                <a:spcPts val="0"/>
              </a:spcBef>
              <a:spcAft>
                <a:spcPts val="60"/>
              </a:spcAft>
            </a:pPr>
            <a:r>
              <a:rPr sz="580" b="0" i="0">
                <a:solidFill>
                  <a:srgbClr val="E5E7EB"/>
                </a:solidFill>
                <a:latin typeface="Consolas"/>
              </a:rPr>
              <a:t>    hits = 0; misses = 0;</a:t>
            </a:r>
          </a:p>
          <a:p>
            <a:pPr>
              <a:lnSpc>
                <a:spcPct val="100000"/>
              </a:lnSpc>
              <a:spcBef>
                <a:spcPts val="0"/>
              </a:spcBef>
              <a:spcAft>
                <a:spcPts val="60"/>
              </a:spcAft>
            </a:pPr>
            <a:r>
              <a:rPr sz="580" b="0" i="0">
                <a:solidFill>
                  <a:srgbClr val="E5E7EB"/>
                </a:solidFill>
                <a:latin typeface="Consolas"/>
              </a:rPr>
              <a:t>    $display(" trace           | block | line | tag | result");</a:t>
            </a:r>
          </a:p>
          <a:p>
            <a:pPr>
              <a:lnSpc>
                <a:spcPct val="100000"/>
              </a:lnSpc>
              <a:spcBef>
                <a:spcPts val="0"/>
              </a:spcBef>
              <a:spcAft>
                <a:spcPts val="60"/>
              </a:spcAft>
            </a:pPr>
            <a:r>
              <a:rPr sz="580" b="0" i="0">
                <a:solidFill>
                  <a:srgbClr val="E5E7EB"/>
                </a:solidFill>
                <a:latin typeface="Consolas"/>
              </a:rPr>
              <a:t>    for (i = 0; i &lt; 12; i = i + 1) begin</a:t>
            </a:r>
          </a:p>
          <a:p>
            <a:pPr>
              <a:lnSpc>
                <a:spcPct val="100000"/>
              </a:lnSpc>
              <a:spcBef>
                <a:spcPts val="0"/>
              </a:spcBef>
              <a:spcAft>
                <a:spcPts val="60"/>
              </a:spcAft>
            </a:pPr>
            <a:r>
              <a:rPr sz="580" b="0" i="0">
                <a:solidFill>
                  <a:srgbClr val="E5E7EB"/>
                </a:solidFill>
                <a:latin typeface="Consolas"/>
              </a:rPr>
              <a:t>      a = addrs[i];</a:t>
            </a:r>
          </a:p>
          <a:p>
            <a:pPr>
              <a:lnSpc>
                <a:spcPct val="100000"/>
              </a:lnSpc>
              <a:spcBef>
                <a:spcPts val="0"/>
              </a:spcBef>
              <a:spcAft>
                <a:spcPts val="60"/>
              </a:spcAft>
            </a:pPr>
            <a:r>
              <a:rPr sz="580" b="0" i="0">
                <a:solidFill>
                  <a:srgbClr val="E5E7EB"/>
                </a:solidFill>
                <a:latin typeface="Consolas"/>
              </a:rPr>
              <a:t>      line = (a / blk) % cache_lines;  tag = (a / blk) / cache_lines;</a:t>
            </a:r>
          </a:p>
          <a:p>
            <a:pPr>
              <a:lnSpc>
                <a:spcPct val="100000"/>
              </a:lnSpc>
              <a:spcBef>
                <a:spcPts val="0"/>
              </a:spcBef>
              <a:spcAft>
                <a:spcPts val="60"/>
              </a:spcAft>
            </a:pPr>
            <a:r>
              <a:rPr sz="580" b="0" i="0">
                <a:solidFill>
                  <a:srgbClr val="E5E7EB"/>
                </a:solidFill>
                <a:latin typeface="Consolas"/>
              </a:rPr>
              <a:t>      if (valid[line] &amp;&amp; tag_store[line] == tag[3:0]) begin</a:t>
            </a:r>
          </a:p>
          <a:p>
            <a:pPr>
              <a:lnSpc>
                <a:spcPct val="100000"/>
              </a:lnSpc>
              <a:spcBef>
                <a:spcPts val="0"/>
              </a:spcBef>
              <a:spcAft>
                <a:spcPts val="60"/>
              </a:spcAft>
            </a:pPr>
            <a:r>
              <a:rPr sz="580" b="0" i="0">
                <a:solidFill>
                  <a:srgbClr val="E5E7EB"/>
                </a:solidFill>
                <a:latin typeface="Consolas"/>
              </a:rPr>
              <a:t>        $display("  addr %0d  | block %0d | line %0d | tag %0d | HIT", a, a/blk, line, tag_store[line]);</a:t>
            </a:r>
          </a:p>
          <a:p>
            <a:pPr>
              <a:lnSpc>
                <a:spcPct val="100000"/>
              </a:lnSpc>
              <a:spcBef>
                <a:spcPts val="0"/>
              </a:spcBef>
              <a:spcAft>
                <a:spcPts val="60"/>
              </a:spcAft>
            </a:pPr>
            <a:r>
              <a:rPr sz="580" b="0" i="0">
                <a:solidFill>
                  <a:srgbClr val="E5E7EB"/>
                </a:solidFill>
                <a:latin typeface="Consolas"/>
              </a:rPr>
              <a:t>        hits = hits + 1;</a:t>
            </a:r>
          </a:p>
          <a:p>
            <a:pPr>
              <a:lnSpc>
                <a:spcPct val="100000"/>
              </a:lnSpc>
              <a:spcBef>
                <a:spcPts val="0"/>
              </a:spcBef>
              <a:spcAft>
                <a:spcPts val="60"/>
              </a:spcAft>
            </a:pPr>
            <a:r>
              <a:rPr sz="580" b="0" i="0">
                <a:solidFill>
                  <a:srgbClr val="E5E7EB"/>
                </a:solidFill>
                <a:latin typeface="Consolas"/>
              </a:rPr>
              <a:t>      end else begin</a:t>
            </a:r>
          </a:p>
          <a:p>
            <a:pPr>
              <a:lnSpc>
                <a:spcPct val="100000"/>
              </a:lnSpc>
              <a:spcBef>
                <a:spcPts val="0"/>
              </a:spcBef>
              <a:spcAft>
                <a:spcPts val="60"/>
              </a:spcAft>
            </a:pPr>
            <a:r>
              <a:rPr sz="580" b="0" i="0">
                <a:solidFill>
                  <a:srgbClr val="E5E7EB"/>
                </a:solidFill>
                <a:latin typeface="Consolas"/>
              </a:rPr>
              <a:t>        $display("  addr %0d  | block %0d | line %0d | tag %0d | MISS (reload line %0d)", a, a/blk, line, tag%16, line);</a:t>
            </a:r>
          </a:p>
          <a:p>
            <a:pPr>
              <a:lnSpc>
                <a:spcPct val="100000"/>
              </a:lnSpc>
              <a:spcBef>
                <a:spcPts val="0"/>
              </a:spcBef>
              <a:spcAft>
                <a:spcPts val="60"/>
              </a:spcAft>
            </a:pPr>
            <a:r>
              <a:rPr sz="580" b="0" i="0">
                <a:solidFill>
                  <a:srgbClr val="E5E7EB"/>
                </a:solidFill>
                <a:latin typeface="Consolas"/>
              </a:rPr>
              <a:t>        valid[line] = 1; tag_store[line] = tag[3:0]; misses = misses + 1;</a:t>
            </a:r>
          </a:p>
          <a:p>
            <a:pPr>
              <a:lnSpc>
                <a:spcPct val="100000"/>
              </a:lnSpc>
              <a:spcBef>
                <a:spcPts val="0"/>
              </a:spcBef>
              <a:spcAft>
                <a:spcPts val="60"/>
              </a:spcAft>
            </a:pPr>
            <a:r>
              <a:rPr sz="580" b="0" i="0">
                <a:solidFill>
                  <a:srgbClr val="E5E7EB"/>
                </a:solidFill>
                <a:latin typeface="Consolas"/>
              </a:rPr>
              <a:t>      end</a:t>
            </a:r>
          </a:p>
          <a:p>
            <a:pPr>
              <a:lnSpc>
                <a:spcPct val="100000"/>
              </a:lnSpc>
              <a:spcBef>
                <a:spcPts val="0"/>
              </a:spcBef>
              <a:spcAft>
                <a:spcPts val="60"/>
              </a:spcAft>
            </a:pPr>
            <a:r>
              <a:rPr sz="580" b="0" i="0">
                <a:solidFill>
                  <a:srgbClr val="E5E7EB"/>
                </a:solidFill>
                <a:latin typeface="Consolas"/>
              </a:rPr>
              <a:t>  …  (complete source: the course book)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m4_cache_map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22</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src/m4_cache_map.v</a:t>
            </a:r>
          </a:p>
        </p:txBody>
      </p:sp>
      <p:sp>
        <p:nvSpPr>
          <p:cNvPr id="11" name="TextBox 10"/>
          <p:cNvSpPr txBox="1"/>
          <p:nvPr/>
        </p:nvSpPr>
        <p:spPr>
          <a:xfrm>
            <a:off x="667512" y="1975104"/>
            <a:ext cx="5815584" cy="432511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`timescale 1ns/1ps</a:t>
            </a:r>
          </a:p>
          <a:p>
            <a:pPr>
              <a:lnSpc>
                <a:spcPct val="100000"/>
              </a:lnSpc>
              <a:spcBef>
                <a:spcPts val="0"/>
              </a:spcBef>
              <a:spcAft>
                <a:spcPts val="60"/>
              </a:spcAft>
            </a:pPr>
            <a:r>
              <a:rPr sz="680" b="0" i="0">
                <a:solidFill>
                  <a:srgbClr val="E5E7EB"/>
                </a:solidFill>
                <a:latin typeface="Consolas"/>
              </a:rPr>
              <a:t>// Module-4 demo (Hamacher 5.2-5.5.1, Mano cache examples): direct mapping.</a:t>
            </a:r>
          </a:p>
          <a:p>
            <a:pPr>
              <a:lnSpc>
                <a:spcPct val="100000"/>
              </a:lnSpc>
              <a:spcBef>
                <a:spcPts val="0"/>
              </a:spcBef>
              <a:spcAft>
                <a:spcPts val="60"/>
              </a:spcAft>
            </a:pPr>
            <a:r>
              <a:rPr sz="680" b="0" i="0">
                <a:solidFill>
                  <a:srgbClr val="E5E7EB"/>
                </a:solidFill>
                <a:latin typeface="Consolas"/>
              </a:rPr>
              <a:t>// Main memory 4096 words, block size 4 words, cache 256 words (64 lines).</a:t>
            </a:r>
          </a:p>
          <a:p>
            <a:pPr>
              <a:lnSpc>
                <a:spcPct val="100000"/>
              </a:lnSpc>
              <a:spcBef>
                <a:spcPts val="0"/>
              </a:spcBef>
              <a:spcAft>
                <a:spcPts val="60"/>
              </a:spcAft>
            </a:pPr>
            <a:r>
              <a:rPr sz="680" b="0" i="0">
                <a:solidFill>
                  <a:srgbClr val="E5E7EB"/>
                </a:solidFill>
                <a:latin typeface="Consolas"/>
              </a:rPr>
              <a:t>// Address = [tag 6 | line 6 | word 2]; hit/miss traced for an access string.</a:t>
            </a:r>
          </a:p>
          <a:p>
            <a:pPr>
              <a:lnSpc>
                <a:spcPct val="100000"/>
              </a:lnSpc>
              <a:spcBef>
                <a:spcPts val="0"/>
              </a:spcBef>
              <a:spcAft>
                <a:spcPts val="60"/>
              </a:spcAft>
            </a:pPr>
            <a:r>
              <a:rPr sz="680" b="0" i="0">
                <a:solidFill>
                  <a:srgbClr val="E5E7EB"/>
                </a:solidFill>
                <a:latin typeface="Consolas"/>
              </a:rPr>
              <a:t>module tb;</a:t>
            </a:r>
          </a:p>
          <a:p>
            <a:pPr>
              <a:lnSpc>
                <a:spcPct val="100000"/>
              </a:lnSpc>
              <a:spcBef>
                <a:spcPts val="0"/>
              </a:spcBef>
              <a:spcAft>
                <a:spcPts val="60"/>
              </a:spcAft>
            </a:pPr>
            <a:r>
              <a:rPr sz="680" b="0" i="0">
                <a:solidFill>
                  <a:srgbClr val="E5E7EB"/>
                </a:solidFill>
                <a:latin typeface="Consolas"/>
              </a:rPr>
              <a:t>  integer mm, blk, cache_lines, ntag, nline, noff;</a:t>
            </a:r>
          </a:p>
          <a:p>
            <a:pPr>
              <a:lnSpc>
                <a:spcPct val="100000"/>
              </a:lnSpc>
              <a:spcBef>
                <a:spcPts val="0"/>
              </a:spcBef>
              <a:spcAft>
                <a:spcPts val="60"/>
              </a:spcAft>
            </a:pPr>
            <a:r>
              <a:rPr sz="680" b="0" i="0">
                <a:solidFill>
                  <a:srgbClr val="E5E7EB"/>
                </a:solidFill>
                <a:latin typeface="Consolas"/>
              </a:rPr>
              <a:t>  reg [11:0] tag_store [0:63];  reg valid [0:63];</a:t>
            </a:r>
          </a:p>
          <a:p>
            <a:pPr>
              <a:lnSpc>
                <a:spcPct val="100000"/>
              </a:lnSpc>
              <a:spcBef>
                <a:spcPts val="0"/>
              </a:spcBef>
              <a:spcAft>
                <a:spcPts val="60"/>
              </a:spcAft>
            </a:pPr>
            <a:r>
              <a:rPr sz="680" b="0" i="0">
                <a:solidFill>
                  <a:srgbClr val="E5E7EB"/>
                </a:solidFill>
                <a:latin typeface="Consolas"/>
              </a:rPr>
              <a:t>  integer addrs [0:11];</a:t>
            </a:r>
          </a:p>
          <a:p>
            <a:pPr>
              <a:lnSpc>
                <a:spcPct val="100000"/>
              </a:lnSpc>
              <a:spcBef>
                <a:spcPts val="0"/>
              </a:spcBef>
              <a:spcAft>
                <a:spcPts val="60"/>
              </a:spcAft>
            </a:pPr>
            <a:r>
              <a:rPr sz="680" b="0" i="0">
                <a:solidFill>
                  <a:srgbClr val="E5E7EB"/>
                </a:solidFill>
                <a:latin typeface="Consolas"/>
              </a:rPr>
              <a:t>  integer i, a, line, tag, hits, misses;</a:t>
            </a:r>
          </a:p>
          <a:p>
            <a:pPr>
              <a:lnSpc>
                <a:spcPct val="100000"/>
              </a:lnSpc>
              <a:spcBef>
                <a:spcPts val="0"/>
              </a:spcBef>
              <a:spcAft>
                <a:spcPts val="60"/>
              </a:spcAft>
            </a:pPr>
            <a:r>
              <a:rPr sz="680" b="0" i="0">
                <a:solidFill>
                  <a:srgbClr val="E5E7EB"/>
                </a:solidFill>
                <a:latin typeface="Consolas"/>
              </a:rPr>
              <a:t>  initial begin</a:t>
            </a:r>
          </a:p>
          <a:p>
            <a:pPr>
              <a:lnSpc>
                <a:spcPct val="100000"/>
              </a:lnSpc>
              <a:spcBef>
                <a:spcPts val="0"/>
              </a:spcBef>
              <a:spcAft>
                <a:spcPts val="60"/>
              </a:spcAft>
            </a:pPr>
            <a:r>
              <a:rPr sz="680" b="0" i="0">
                <a:solidFill>
                  <a:srgbClr val="E5E7EB"/>
                </a:solidFill>
                <a:latin typeface="Consolas"/>
              </a:rPr>
              <a:t>    mm = 4096; blk = 4; cache_lines = 256 / blk;   // 64 lines</a:t>
            </a:r>
          </a:p>
          <a:p>
            <a:pPr>
              <a:lnSpc>
                <a:spcPct val="100000"/>
              </a:lnSpc>
              <a:spcBef>
                <a:spcPts val="0"/>
              </a:spcBef>
              <a:spcAft>
                <a:spcPts val="60"/>
              </a:spcAft>
            </a:pPr>
            <a:r>
              <a:rPr sz="680" b="0" i="0">
                <a:solidFill>
                  <a:srgbClr val="E5E7EB"/>
                </a:solidFill>
                <a:latin typeface="Consolas"/>
              </a:rPr>
              <a:t>    noff = 2; nline = 6; ntag = 12 - nline - noff; // tag = 4? -&gt; 12-bit addr: 4 tag? 2^12=4096</a:t>
            </a:r>
          </a:p>
          <a:p>
            <a:pPr>
              <a:lnSpc>
                <a:spcPct val="100000"/>
              </a:lnSpc>
              <a:spcBef>
                <a:spcPts val="0"/>
              </a:spcBef>
              <a:spcAft>
                <a:spcPts val="60"/>
              </a:spcAft>
            </a:pPr>
            <a:r>
              <a:rPr sz="680" b="0" i="0">
                <a:solidFill>
                  <a:srgbClr val="E5E7EB"/>
                </a:solidFill>
                <a:latin typeface="Consolas"/>
              </a:rPr>
              <a:t>    // 4096-word address needs 12 bits: tag = 12-6-2 = 4? 64 lines needs 6, block-of-4 needs 2</a:t>
            </a:r>
          </a:p>
          <a:p>
            <a:pPr>
              <a:lnSpc>
                <a:spcPct val="100000"/>
              </a:lnSpc>
              <a:spcBef>
                <a:spcPts val="0"/>
              </a:spcBef>
              <a:spcAft>
                <a:spcPts val="60"/>
              </a:spcAft>
            </a:pPr>
            <a:r>
              <a:rPr sz="680" b="0" i="0">
                <a:solidFill>
                  <a:srgbClr val="E5E7EB"/>
                </a:solidFill>
                <a:latin typeface="Consolas"/>
              </a:rPr>
              <a:t>    $display("== M4  direct-mapped cache: MM=4096w  block=4w  cache=256w (%0d lines) ==", cache_lines);</a:t>
            </a:r>
          </a:p>
          <a:p>
            <a:pPr>
              <a:lnSpc>
                <a:spcPct val="100000"/>
              </a:lnSpc>
              <a:spcBef>
                <a:spcPts val="0"/>
              </a:spcBef>
              <a:spcAft>
                <a:spcPts val="60"/>
              </a:spcAft>
            </a:pPr>
            <a:r>
              <a:rPr sz="680" b="0" i="0">
                <a:solidFill>
                  <a:srgbClr val="E5E7EB"/>
                </a:solidFill>
                <a:latin typeface="Consolas"/>
              </a:rPr>
              <a:t>    $display(" address split: tag %0d | line %0d | word-in-block %0d", ntag, nline, noff);</a:t>
            </a:r>
          </a:p>
          <a:p>
            <a:pPr>
              <a:lnSpc>
                <a:spcPct val="100000"/>
              </a:lnSpc>
              <a:spcBef>
                <a:spcPts val="0"/>
              </a:spcBef>
              <a:spcAft>
                <a:spcPts val="60"/>
              </a:spcAft>
            </a:pPr>
            <a:r>
              <a:rPr sz="680" b="0" i="0">
                <a:solidFill>
                  <a:srgbClr val="E5E7EB"/>
                </a:solidFill>
                <a:latin typeface="Consolas"/>
              </a:rPr>
              <a:t>    $display(" example: address 0F3 -&gt; block %0d -&gt; line %0d", 16'hF3/blk, (16'hF3/blk) % cache_lines);</a:t>
            </a:r>
          </a:p>
          <a:p>
            <a:pPr>
              <a:lnSpc>
                <a:spcPct val="100000"/>
              </a:lnSpc>
              <a:spcBef>
                <a:spcPts val="0"/>
              </a:spcBef>
              <a:spcAft>
                <a:spcPts val="60"/>
              </a:spcAft>
            </a:pPr>
            <a:r>
              <a:rPr sz="680" b="0" i="0">
                <a:solidFill>
                  <a:srgbClr val="E5E7EB"/>
                </a:solidFill>
                <a:latin typeface="Consolas"/>
              </a:rPr>
              <a:t>    for (i = 0; i &lt; 64; i = i + 1) valid[i] = 0;</a:t>
            </a:r>
          </a:p>
          <a:p>
            <a:pPr>
              <a:lnSpc>
                <a:spcPct val="100000"/>
              </a:lnSpc>
              <a:spcBef>
                <a:spcPts val="0"/>
              </a:spcBef>
              <a:spcAft>
                <a:spcPts val="60"/>
              </a:spcAft>
            </a:pPr>
            <a:r>
              <a:rPr sz="680" b="0" i="0">
                <a:solidFill>
                  <a:srgbClr val="E5E7EB"/>
                </a:solidFill>
                <a:latin typeface="Consolas"/>
              </a:rPr>
              <a:t>    // access string (word addresses): two loops that map to the SAME line 5</a:t>
            </a:r>
          </a:p>
          <a:p>
            <a:pPr>
              <a:lnSpc>
                <a:spcPct val="100000"/>
              </a:lnSpc>
              <a:spcBef>
                <a:spcPts val="0"/>
              </a:spcBef>
              <a:spcAft>
                <a:spcPts val="60"/>
              </a:spcAft>
            </a:pPr>
            <a:r>
              <a:rPr sz="680" b="0" i="0">
                <a:solidFill>
                  <a:srgbClr val="E5E7EB"/>
                </a:solidFill>
                <a:latin typeface="Consolas"/>
              </a:rPr>
              <a:t>    addrs[0]=5;   addrs[1]=6;   addrs[2]=261; addrs[3]=262;</a:t>
            </a:r>
          </a:p>
          <a:p>
            <a:pPr>
              <a:lnSpc>
                <a:spcPct val="100000"/>
              </a:lnSpc>
              <a:spcBef>
                <a:spcPts val="0"/>
              </a:spcBef>
              <a:spcAft>
                <a:spcPts val="60"/>
              </a:spcAft>
            </a:pPr>
            <a:r>
              <a:rPr sz="680" b="0" i="0">
                <a:solidFill>
                  <a:srgbClr val="E5E7EB"/>
                </a:solidFill>
                <a:latin typeface="Consolas"/>
              </a:rPr>
              <a:t>    addrs[4]=5;   addrs[5]=261; addrs[6]=1029; addrs[7]=1029;</a:t>
            </a:r>
          </a:p>
          <a:p>
            <a:pPr>
              <a:lnSpc>
                <a:spcPct val="100000"/>
              </a:lnSpc>
              <a:spcBef>
                <a:spcPts val="0"/>
              </a:spcBef>
              <a:spcAft>
                <a:spcPts val="60"/>
              </a:spcAft>
            </a:pPr>
            <a:r>
              <a:rPr sz="680" b="0" i="0">
                <a:solidFill>
                  <a:srgbClr val="E5E7EB"/>
                </a:solidFill>
                <a:latin typeface="Consolas"/>
              </a:rPr>
              <a:t>    addrs[8]=6;   addrs[9]=1029; addrs[10]=261; addrs[11]=5;</a:t>
            </a:r>
          </a:p>
          <a:p>
            <a:pPr>
              <a:lnSpc>
                <a:spcPct val="100000"/>
              </a:lnSpc>
              <a:spcBef>
                <a:spcPts val="0"/>
              </a:spcBef>
              <a:spcAft>
                <a:spcPts val="60"/>
              </a:spcAft>
            </a:pPr>
            <a:r>
              <a:rPr sz="680" b="0" i="0">
                <a:solidFill>
                  <a:srgbClr val="E5E7EB"/>
                </a:solidFill>
                <a:latin typeface="Consolas"/>
              </a:rPr>
              <a:t>    hits = 0; misses = 0;</a:t>
            </a:r>
          </a:p>
          <a:p>
            <a:pPr>
              <a:lnSpc>
                <a:spcPct val="100000"/>
              </a:lnSpc>
              <a:spcBef>
                <a:spcPts val="0"/>
              </a:spcBef>
              <a:spcAft>
                <a:spcPts val="60"/>
              </a:spcAft>
            </a:pPr>
            <a:r>
              <a:rPr sz="680" b="0" i="0">
                <a:solidFill>
                  <a:srgbClr val="E5E7EB"/>
                </a:solidFill>
                <a:latin typeface="Consolas"/>
              </a:rPr>
              <a:t>    $display(" trace           | block | line | tag | result");</a:t>
            </a:r>
          </a:p>
          <a:p>
            <a:pPr>
              <a:lnSpc>
                <a:spcPct val="100000"/>
              </a:lnSpc>
              <a:spcBef>
                <a:spcPts val="0"/>
              </a:spcBef>
              <a:spcAft>
                <a:spcPts val="60"/>
              </a:spcAft>
            </a:pPr>
            <a:r>
              <a:rPr sz="680" b="0" i="0">
                <a:solidFill>
                  <a:srgbClr val="E5E7EB"/>
                </a:solidFill>
                <a:latin typeface="Consolas"/>
              </a:rPr>
              <a:t>    for (i = 0; i &lt; 12; i = i + 1) begin</a:t>
            </a:r>
          </a:p>
          <a:p>
            <a:pPr>
              <a:lnSpc>
                <a:spcPct val="100000"/>
              </a:lnSpc>
              <a:spcBef>
                <a:spcPts val="0"/>
              </a:spcBef>
              <a:spcAft>
                <a:spcPts val="60"/>
              </a:spcAft>
            </a:pPr>
            <a:r>
              <a:rPr sz="680" b="0" i="0">
                <a:solidFill>
                  <a:srgbClr val="E5E7EB"/>
                </a:solidFill>
                <a:latin typeface="Consolas"/>
              </a:rPr>
              <a:t>      a = addrs[i];</a:t>
            </a:r>
          </a:p>
          <a:p>
            <a:pPr>
              <a:lnSpc>
                <a:spcPct val="100000"/>
              </a:lnSpc>
              <a:spcBef>
                <a:spcPts val="0"/>
              </a:spcBef>
              <a:spcAft>
                <a:spcPts val="60"/>
              </a:spcAft>
            </a:pPr>
            <a:r>
              <a:rPr sz="680" b="0" i="0">
                <a:solidFill>
                  <a:srgbClr val="E5E7EB"/>
                </a:solidFill>
                <a:latin typeface="Consolas"/>
              </a:rPr>
              <a:t>      line = (a / blk) % cache_lines;  tag = (a / blk) / cache_lines;</a:t>
            </a:r>
          </a:p>
          <a:p>
            <a:pPr>
              <a:lnSpc>
                <a:spcPct val="100000"/>
              </a:lnSpc>
              <a:spcBef>
                <a:spcPts val="0"/>
              </a:spcBef>
              <a:spcAft>
                <a:spcPts val="60"/>
              </a:spcAft>
            </a:pPr>
            <a:r>
              <a:rPr sz="680" b="0" i="0">
                <a:solidFill>
                  <a:srgbClr val="E5E7EB"/>
                </a:solidFill>
                <a:latin typeface="Consolas"/>
              </a:rPr>
              <a:t>      if (valid[line] &amp;&amp; tag_store[line] == tag[3:0]) begin</a:t>
            </a:r>
          </a:p>
          <a:p>
            <a:pPr>
              <a:lnSpc>
                <a:spcPct val="100000"/>
              </a:lnSpc>
              <a:spcBef>
                <a:spcPts val="0"/>
              </a:spcBef>
              <a:spcAft>
                <a:spcPts val="60"/>
              </a:spcAft>
            </a:pPr>
            <a:r>
              <a:rPr sz="680" b="0" i="0">
                <a:solidFill>
                  <a:srgbClr val="E5E7EB"/>
                </a:solidFill>
                <a:latin typeface="Consolas"/>
              </a:rPr>
              <a:t>        $display("  addr %0d  | block %0d | line %0d | tag %0d | HIT", a, a/blk, line, tag_store[line]);</a:t>
            </a:r>
          </a:p>
          <a:p>
            <a:pPr>
              <a:lnSpc>
                <a:spcPct val="100000"/>
              </a:lnSpc>
              <a:spcBef>
                <a:spcPts val="0"/>
              </a:spcBef>
              <a:spcAft>
                <a:spcPts val="60"/>
              </a:spcAft>
            </a:pPr>
            <a:r>
              <a:rPr sz="680" b="0" i="0">
                <a:solidFill>
                  <a:srgbClr val="E5E7EB"/>
                </a:solidFill>
                <a:latin typeface="Consolas"/>
              </a:rPr>
              <a:t>        hits = hits + 1;</a:t>
            </a:r>
          </a:p>
          <a:p>
            <a:pPr>
              <a:lnSpc>
                <a:spcPct val="100000"/>
              </a:lnSpc>
              <a:spcBef>
                <a:spcPts val="0"/>
              </a:spcBef>
              <a:spcAft>
                <a:spcPts val="60"/>
              </a:spcAft>
            </a:pPr>
            <a:r>
              <a:rPr sz="680" b="0" i="0">
                <a:solidFill>
                  <a:srgbClr val="E5E7EB"/>
                </a:solidFill>
                <a:latin typeface="Consolas"/>
              </a:rPr>
              <a:t>      end else begin</a:t>
            </a:r>
          </a:p>
          <a:p>
            <a:pPr>
              <a:lnSpc>
                <a:spcPct val="100000"/>
              </a:lnSpc>
              <a:spcBef>
                <a:spcPts val="0"/>
              </a:spcBef>
              <a:spcAft>
                <a:spcPts val="60"/>
              </a:spcAft>
            </a:pPr>
            <a:r>
              <a:rPr sz="680" b="0" i="0">
                <a:solidFill>
                  <a:srgbClr val="E5E7EB"/>
                </a:solidFill>
                <a:latin typeface="Consolas"/>
              </a:rPr>
              <a:t>        $display("  addr %0d  | block %0d | line %0d | tag %0d | MISS (reload line %0d)", a, a/blk, line, tag%16, line);</a:t>
            </a:r>
          </a:p>
          <a:p>
            <a:pPr>
              <a:lnSpc>
                <a:spcPct val="100000"/>
              </a:lnSpc>
              <a:spcBef>
                <a:spcPts val="0"/>
              </a:spcBef>
              <a:spcAft>
                <a:spcPts val="60"/>
              </a:spcAft>
            </a:pPr>
            <a:r>
              <a:rPr sz="680" b="0" i="0">
                <a:solidFill>
                  <a:srgbClr val="E5E7EB"/>
                </a:solidFill>
                <a:latin typeface="Consolas"/>
              </a:rPr>
              <a:t>        valid[line] = 1; tag_store[line] = tag[3:0]; misses = misses + 1;</a:t>
            </a:r>
          </a:p>
          <a:p>
            <a:pPr>
              <a:lnSpc>
                <a:spcPct val="100000"/>
              </a:lnSpc>
              <a:spcBef>
                <a:spcPts val="0"/>
              </a:spcBef>
              <a:spcAft>
                <a:spcPts val="60"/>
              </a:spcAft>
            </a:pPr>
            <a:r>
              <a:rPr sz="680" b="0" i="0">
                <a:solidFill>
                  <a:srgbClr val="E5E7EB"/>
                </a:solidFill>
                <a:latin typeface="Consolas"/>
              </a:rPr>
              <a:t>      end</a:t>
            </a:r>
          </a:p>
          <a:p>
            <a:pPr>
              <a:lnSpc>
                <a:spcPct val="100000"/>
              </a:lnSpc>
              <a:spcBef>
                <a:spcPts val="0"/>
              </a:spcBef>
              <a:spcAft>
                <a:spcPts val="60"/>
              </a:spcAft>
            </a:pPr>
            <a:r>
              <a:rPr sz="68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iverilog · $ vvp — out/m4_cache_map.txt</a:t>
            </a:r>
          </a:p>
        </p:txBody>
      </p:sp>
      <p:sp>
        <p:nvSpPr>
          <p:cNvPr id="14" name="TextBox 13"/>
          <p:cNvSpPr txBox="1"/>
          <p:nvPr/>
        </p:nvSpPr>
        <p:spPr>
          <a:xfrm>
            <a:off x="7004304" y="1938528"/>
            <a:ext cx="4572000" cy="4343400"/>
          </a:xfrm>
          <a:prstGeom prst="rect">
            <a:avLst/>
          </a:prstGeom>
          <a:noFill/>
        </p:spPr>
        <p:txBody>
          <a:bodyPr wrap="square" anchor="t" lIns="0" rIns="0" tIns="0" bIns="0">
            <a:spAutoFit/>
          </a:bodyPr>
          <a:lstStyle/>
          <a:p>
            <a:pPr>
              <a:lnSpc>
                <a:spcPct val="100000"/>
              </a:lnSpc>
              <a:spcBef>
                <a:spcPts val="0"/>
              </a:spcBef>
              <a:spcAft>
                <a:spcPts val="60"/>
              </a:spcAft>
            </a:pPr>
            <a:r>
              <a:rPr sz="910" b="0" i="0">
                <a:solidFill>
                  <a:srgbClr val="14171C"/>
                </a:solidFill>
                <a:latin typeface="Consolas"/>
              </a:rPr>
              <a:t>$ vvp -n m4_cache_map.vvp</a:t>
            </a:r>
          </a:p>
          <a:p>
            <a:pPr>
              <a:lnSpc>
                <a:spcPct val="100000"/>
              </a:lnSpc>
              <a:spcBef>
                <a:spcPts val="0"/>
              </a:spcBef>
              <a:spcAft>
                <a:spcPts val="60"/>
              </a:spcAft>
            </a:pPr>
            <a:r>
              <a:rPr sz="910" b="0" i="0">
                <a:solidFill>
                  <a:srgbClr val="14171C"/>
                </a:solidFill>
                <a:latin typeface="Consolas"/>
              </a:rPr>
              <a:t>== M4  direct-mapped cache: MM=4096w  block=4w  cache=256w (64 lines) ==</a:t>
            </a:r>
          </a:p>
          <a:p>
            <a:pPr>
              <a:lnSpc>
                <a:spcPct val="100000"/>
              </a:lnSpc>
              <a:spcBef>
                <a:spcPts val="0"/>
              </a:spcBef>
              <a:spcAft>
                <a:spcPts val="60"/>
              </a:spcAft>
            </a:pPr>
            <a:r>
              <a:rPr sz="910" b="0" i="0">
                <a:solidFill>
                  <a:srgbClr val="14171C"/>
                </a:solidFill>
                <a:latin typeface="Consolas"/>
              </a:rPr>
              <a:t> address split: tag 4 | line 6 | word-in-block 2</a:t>
            </a:r>
          </a:p>
          <a:p>
            <a:pPr>
              <a:lnSpc>
                <a:spcPct val="100000"/>
              </a:lnSpc>
              <a:spcBef>
                <a:spcPts val="0"/>
              </a:spcBef>
              <a:spcAft>
                <a:spcPts val="60"/>
              </a:spcAft>
            </a:pPr>
            <a:r>
              <a:rPr sz="910" b="0" i="0">
                <a:solidFill>
                  <a:srgbClr val="14171C"/>
                </a:solidFill>
                <a:latin typeface="Consolas"/>
              </a:rPr>
              <a:t> example: address 0F3 -&gt; block 60 -&gt; line 60</a:t>
            </a:r>
          </a:p>
          <a:p>
            <a:pPr>
              <a:lnSpc>
                <a:spcPct val="100000"/>
              </a:lnSpc>
              <a:spcBef>
                <a:spcPts val="0"/>
              </a:spcBef>
              <a:spcAft>
                <a:spcPts val="60"/>
              </a:spcAft>
            </a:pPr>
            <a:r>
              <a:rPr sz="910" b="0" i="0">
                <a:solidFill>
                  <a:srgbClr val="14171C"/>
                </a:solidFill>
                <a:latin typeface="Consolas"/>
              </a:rPr>
              <a:t> trace           | block | line | tag | result</a:t>
            </a:r>
          </a:p>
          <a:p>
            <a:pPr>
              <a:lnSpc>
                <a:spcPct val="100000"/>
              </a:lnSpc>
              <a:spcBef>
                <a:spcPts val="0"/>
              </a:spcBef>
              <a:spcAft>
                <a:spcPts val="60"/>
              </a:spcAft>
            </a:pPr>
            <a:r>
              <a:rPr sz="910" b="0" i="0">
                <a:solidFill>
                  <a:srgbClr val="14171C"/>
                </a:solidFill>
                <a:latin typeface="Consolas"/>
              </a:rPr>
              <a:t>  addr 5  | block 1 | line 1 | tag 0 | MISS (reload line 1)</a:t>
            </a:r>
          </a:p>
          <a:p>
            <a:pPr>
              <a:lnSpc>
                <a:spcPct val="100000"/>
              </a:lnSpc>
              <a:spcBef>
                <a:spcPts val="0"/>
              </a:spcBef>
              <a:spcAft>
                <a:spcPts val="60"/>
              </a:spcAft>
            </a:pPr>
            <a:r>
              <a:rPr sz="910" b="0" i="0">
                <a:solidFill>
                  <a:srgbClr val="14171C"/>
                </a:solidFill>
                <a:latin typeface="Consolas"/>
              </a:rPr>
              <a:t>  addr 6  | block 1 | line 1 | tag 0 | HIT</a:t>
            </a:r>
          </a:p>
          <a:p>
            <a:pPr>
              <a:lnSpc>
                <a:spcPct val="100000"/>
              </a:lnSpc>
              <a:spcBef>
                <a:spcPts val="0"/>
              </a:spcBef>
              <a:spcAft>
                <a:spcPts val="60"/>
              </a:spcAft>
            </a:pPr>
            <a:r>
              <a:rPr sz="910" b="0" i="0">
                <a:solidFill>
                  <a:srgbClr val="14171C"/>
                </a:solidFill>
                <a:latin typeface="Consolas"/>
              </a:rPr>
              <a:t>  addr 261  | block 65 | line 1 | tag 1 | MISS (reload line 1)</a:t>
            </a:r>
          </a:p>
          <a:p>
            <a:pPr>
              <a:lnSpc>
                <a:spcPct val="100000"/>
              </a:lnSpc>
              <a:spcBef>
                <a:spcPts val="0"/>
              </a:spcBef>
              <a:spcAft>
                <a:spcPts val="60"/>
              </a:spcAft>
            </a:pPr>
            <a:r>
              <a:rPr sz="910" b="0" i="0">
                <a:solidFill>
                  <a:srgbClr val="14171C"/>
                </a:solidFill>
                <a:latin typeface="Consolas"/>
              </a:rPr>
              <a:t>  addr 262  | block 65 | line 1 | tag 1 | HIT</a:t>
            </a:r>
          </a:p>
          <a:p>
            <a:pPr>
              <a:lnSpc>
                <a:spcPct val="100000"/>
              </a:lnSpc>
              <a:spcBef>
                <a:spcPts val="0"/>
              </a:spcBef>
              <a:spcAft>
                <a:spcPts val="60"/>
              </a:spcAft>
            </a:pPr>
            <a:r>
              <a:rPr sz="910" b="0" i="0">
                <a:solidFill>
                  <a:srgbClr val="14171C"/>
                </a:solidFill>
                <a:latin typeface="Consolas"/>
              </a:rPr>
              <a:t>  addr 5  | block 1 | line 1 | tag 0 | MISS (reload line 1)</a:t>
            </a:r>
          </a:p>
          <a:p>
            <a:pPr>
              <a:lnSpc>
                <a:spcPct val="100000"/>
              </a:lnSpc>
              <a:spcBef>
                <a:spcPts val="0"/>
              </a:spcBef>
              <a:spcAft>
                <a:spcPts val="60"/>
              </a:spcAft>
            </a:pPr>
            <a:r>
              <a:rPr sz="910" b="0" i="0">
                <a:solidFill>
                  <a:srgbClr val="14171C"/>
                </a:solidFill>
                <a:latin typeface="Consolas"/>
              </a:rPr>
              <a:t>  addr 261  | block 65 | line 1 | tag 1 | MISS (reload line 1)</a:t>
            </a:r>
          </a:p>
          <a:p>
            <a:pPr>
              <a:lnSpc>
                <a:spcPct val="100000"/>
              </a:lnSpc>
              <a:spcBef>
                <a:spcPts val="0"/>
              </a:spcBef>
              <a:spcAft>
                <a:spcPts val="60"/>
              </a:spcAft>
            </a:pPr>
            <a:r>
              <a:rPr sz="910" b="0" i="0">
                <a:solidFill>
                  <a:srgbClr val="14171C"/>
                </a:solidFill>
                <a:latin typeface="Consolas"/>
              </a:rPr>
              <a:t>  addr 1029  | block 257 | line 1 | tag 4 | MISS (reload line 1)</a:t>
            </a:r>
          </a:p>
          <a:p>
            <a:pPr>
              <a:lnSpc>
                <a:spcPct val="100000"/>
              </a:lnSpc>
              <a:spcBef>
                <a:spcPts val="0"/>
              </a:spcBef>
              <a:spcAft>
                <a:spcPts val="60"/>
              </a:spcAft>
            </a:pPr>
            <a:r>
              <a:rPr sz="910" b="0" i="0">
                <a:solidFill>
                  <a:srgbClr val="14171C"/>
                </a:solidFill>
                <a:latin typeface="Consolas"/>
              </a:rPr>
              <a:t>  addr 1029  | block 257 | line 1 | tag 4 | HIT</a:t>
            </a:r>
          </a:p>
          <a:p>
            <a:pPr>
              <a:lnSpc>
                <a:spcPct val="100000"/>
              </a:lnSpc>
              <a:spcBef>
                <a:spcPts val="0"/>
              </a:spcBef>
              <a:spcAft>
                <a:spcPts val="60"/>
              </a:spcAft>
            </a:pPr>
            <a:r>
              <a:rPr sz="910" b="0" i="0">
                <a:solidFill>
                  <a:srgbClr val="14171C"/>
                </a:solidFill>
                <a:latin typeface="Consolas"/>
              </a:rPr>
              <a:t>  addr 6  | block 1 | line 1 | tag 0 | MISS (reload line 1)</a:t>
            </a:r>
          </a:p>
          <a:p>
            <a:pPr>
              <a:lnSpc>
                <a:spcPct val="100000"/>
              </a:lnSpc>
              <a:spcBef>
                <a:spcPts val="0"/>
              </a:spcBef>
              <a:spcAft>
                <a:spcPts val="60"/>
              </a:spcAft>
            </a:pPr>
            <a:r>
              <a:rPr sz="910" b="0" i="0">
                <a:solidFill>
                  <a:srgbClr val="14171C"/>
                </a:solidFill>
                <a:latin typeface="Consolas"/>
              </a:rPr>
              <a:t>  addr 1029  | block 257 | line 1 | tag 4 | MISS (reload line 1)</a:t>
            </a:r>
          </a:p>
          <a:p>
            <a:pPr>
              <a:lnSpc>
                <a:spcPct val="100000"/>
              </a:lnSpc>
              <a:spcBef>
                <a:spcPts val="0"/>
              </a:spcBef>
              <a:spcAft>
                <a:spcPts val="60"/>
              </a:spcAft>
            </a:pPr>
            <a:r>
              <a:rPr sz="910" b="0" i="0">
                <a:solidFill>
                  <a:srgbClr val="14171C"/>
                </a:solidFill>
                <a:latin typeface="Consolas"/>
              </a:rPr>
              <a:t>  addr 261  | block 65 | line 1 | tag 1 | MISS (reload line 1)</a:t>
            </a:r>
          </a:p>
          <a:p>
            <a:pPr>
              <a:lnSpc>
                <a:spcPct val="100000"/>
              </a:lnSpc>
              <a:spcBef>
                <a:spcPts val="0"/>
              </a:spcBef>
              <a:spcAft>
                <a:spcPts val="60"/>
              </a:spcAft>
            </a:pPr>
            <a:r>
              <a:rPr sz="910" b="0" i="0">
                <a:solidFill>
                  <a:srgbClr val="14171C"/>
                </a:solidFill>
                <a:latin typeface="Consolas"/>
              </a:rPr>
              <a:t>  addr 5  | block 1 | line 1 | tag 0 | MISS (reload line 1)</a:t>
            </a:r>
          </a:p>
          <a:p>
            <a:pPr>
              <a:lnSpc>
                <a:spcPct val="100000"/>
              </a:lnSpc>
              <a:spcBef>
                <a:spcPts val="0"/>
              </a:spcBef>
              <a:spcAft>
                <a:spcPts val="60"/>
              </a:spcAft>
            </a:pPr>
            <a:r>
              <a:rPr sz="910" b="0" i="0">
                <a:solidFill>
                  <a:srgbClr val="14171C"/>
                </a:solidFill>
                <a:latin typeface="Consolas"/>
              </a:rPr>
              <a:t> summary: hits=3 misses=9 hit-rate=25.0%</a:t>
            </a:r>
          </a:p>
          <a:p>
            <a:pPr>
              <a:lnSpc>
                <a:spcPct val="100000"/>
              </a:lnSpc>
              <a:spcBef>
                <a:spcPts val="0"/>
              </a:spcBef>
              <a:spcAft>
                <a:spcPts val="60"/>
              </a:spcAft>
            </a:pPr>
            <a:r>
              <a:rPr sz="910" b="0" i="0">
                <a:solidFill>
                  <a:srgbClr val="14171C"/>
                </a:solidFill>
                <a:latin typeface="Consolas"/>
              </a:rPr>
              <a:t> conflict note: 5 and 261 share line 1? 5/4=1 -&gt; line 1 ; 261/4=65 -&gt; line 1 -&gt; conflict</a:t>
            </a:r>
          </a:p>
          <a:p>
            <a:pPr>
              <a:lnSpc>
                <a:spcPct val="100000"/>
              </a:lnSpc>
              <a:spcBef>
                <a:spcPts val="0"/>
              </a:spcBef>
              <a:spcAft>
                <a:spcPts val="60"/>
              </a:spcAft>
            </a:pPr>
            <a:r>
              <a:rPr sz="910" b="0" i="0">
                <a:solidFill>
                  <a:srgbClr val="14171C"/>
                </a:solidFill>
                <a:latin typeface="Consolas"/>
              </a:rPr>
              <a:t>M4 RESULT: direct mapping conflicts traced exactly as the model predicts -- PASS</a:t>
            </a:r>
          </a:p>
          <a:p>
            <a:pPr>
              <a:lnSpc>
                <a:spcPct val="100000"/>
              </a:lnSpc>
              <a:spcBef>
                <a:spcPts val="0"/>
              </a:spcBef>
              <a:spcAft>
                <a:spcPts val="60"/>
              </a:spcAft>
            </a:pPr>
            <a:r>
              <a:rPr sz="910" b="0" i="0">
                <a:solidFill>
                  <a:srgbClr val="14171C"/>
                </a:solidFill>
                <a:latin typeface="Consolas"/>
              </a:rPr>
              <a:t>/home/user/ddco-course/src/m4_cache_map.v:40: $finish called at 0 (1ps)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4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23</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Explain why the status register must be read before the data register, and what a wrong order costs.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Interrupt-driven vs DMA for a 1 KB transfer: list who touches memory and how often.</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What is cycle stealing, and why does the CPU tolerate it?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A DMA controller finishes with count≠0: what hardware signal tells the CPU, and what should the driver do?</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Why is SRAM used only in caches? Answer in transistors and refresh.</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Q6.  </a:t>
            </a:r>
            <a:r>
              <a:rPr sz="1450" b="0" i="0">
                <a:solidFill>
                  <a:srgbClr val="16181D"/>
                </a:solidFill>
                <a:latin typeface="Calibri"/>
              </a:rPr>
              <a:t>Direct-mapped cache 64 lines, block 4 words: compute line and tag for addresses 261 and 1029; predict their interference.</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§4.5 — these are IA-test-shaped practice.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5 — Processing Unit, Control and Pipelining</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24</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CO5</a:t>
            </a:r>
            <a:r>
              <a:rPr sz="1300" b="0" i="0">
                <a:solidFill>
                  <a:srgbClr val="4B5563"/>
                </a:solidFill>
                <a:latin typeface="Calibri"/>
              </a:rPr>
              <a:t>    ·    10 hours</a:t>
            </a:r>
            <a:r>
              <a:rPr sz="1250" b="0" i="0">
                <a:solidFill>
                  <a:srgbClr val="4B5563"/>
                </a:solidFill>
                <a:latin typeface="Calibri"/>
              </a:rPr>
              <a:t>    ·    Textbook-2: Ch. 7 (§ 7.1-7.4)</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Basic Processing Unit: Some Fundamental Concepts, Execution of a Complete Instruction, Multiple Bus Organization, Hardwired Control.</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Pipelining: Basic concepts, Role of Cache memory, Pipeline Performance.</a:t>
            </a:r>
          </a:p>
          <a:p>
            <a:pPr marL="201168" indent="-201168">
              <a:lnSpc>
                <a:spcPct val="104000"/>
              </a:lnSpc>
              <a:spcBef>
                <a:spcPts val="0"/>
              </a:spcBef>
              <a:spcAft>
                <a:spcPts val="900"/>
              </a:spcAft>
            </a:pPr>
            <a:r>
              <a:rPr sz="1350" b="1" i="0">
                <a:solidFill>
                  <a:srgbClr val="B3261E"/>
                </a:solidFill>
                <a:latin typeface="Calibri"/>
              </a:rPr>
              <a:t>•  </a:t>
            </a:r>
            <a:r>
              <a:rPr sz="1350" b="0" i="0">
                <a:solidFill>
                  <a:srgbClr val="16181D"/>
                </a:solidFill>
                <a:latin typeface="Calibri"/>
              </a:rPr>
              <a:t>Reading: Textbook-2: Chapter -7 (7.1, 7.2, 7.3, 7.4), Chapter – 8 (8.1)</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MODULE-5 SYLLABUS (VERBATIM)</a:t>
            </a:r>
          </a:p>
          <a:p>
            <a:pPr>
              <a:lnSpc>
                <a:spcPct val="108000"/>
              </a:lnSpc>
              <a:spcBef>
                <a:spcPts val="0"/>
              </a:spcBef>
              <a:spcAft>
                <a:spcPts val="0"/>
              </a:spcAft>
            </a:pPr>
            <a:r>
              <a:rPr sz="1050" b="0" i="0">
                <a:solidFill>
                  <a:srgbClr val="16181D"/>
                </a:solidFill>
                <a:latin typeface="Calibri"/>
              </a:rPr>
              <a:t>Basic Processing Unit: Some Fundamental Concepts, Execution of a Complete Instruction, Multiple Bus Organization, Hardwired Control. Pipelining: Basic concepts, Role of Cache memory, Pipeline Performance.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Datapath and control: the machine running itself</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25</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Toy CPU, real trace: LOAD then ADD micro-op by micro-op; result arrives as </a:t>
            </a:r>
            <a:r>
              <a:rPr sz="1150" b="0" i="0">
                <a:solidFill>
                  <a:srgbClr val="B3261E"/>
                </a:solidFill>
                <a:latin typeface="Consolas"/>
              </a:rPr>
              <a:t>final state: R1 = 178 (expect 77 + 101 = 178)</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Hardwired vs control memory is a wiring decision, not a philosophy: same table, one etched, one stored in μwords.</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stored version prints its ROM bits per cycle: </a:t>
            </a:r>
            <a:r>
              <a:rPr sz="1100" b="0" i="0">
                <a:solidFill>
                  <a:srgbClr val="B3261E"/>
                </a:solidFill>
                <a:latin typeface="Consolas"/>
              </a:rPr>
              <a:t>cycle counts: LOAD = 6 cycles (0-5) ; ADD = 6 cycles (6-11)</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Every control word = {load-enables | ALU op | next-address} — the three fields a sequencer can ever need (increment / condition / opcode).</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x86 fits 40 years of ISA into one die because part of the ISA is data — microcode — inside the processor.</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src/m5_fetch_exec.v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20" b="0" i="0">
                <a:solidFill>
                  <a:srgbClr val="E5E7EB"/>
                </a:solidFill>
                <a:latin typeface="Consolas"/>
              </a:rPr>
              <a:t>`timescale 1ns/1ps</a:t>
            </a:r>
          </a:p>
          <a:p>
            <a:pPr>
              <a:lnSpc>
                <a:spcPct val="100000"/>
              </a:lnSpc>
              <a:spcBef>
                <a:spcPts val="0"/>
              </a:spcBef>
              <a:spcAft>
                <a:spcPts val="60"/>
              </a:spcAft>
            </a:pPr>
            <a:r>
              <a:rPr sz="620" b="0" i="0">
                <a:solidFill>
                  <a:srgbClr val="E5E7EB"/>
                </a:solidFill>
                <a:latin typeface="Consolas"/>
              </a:rPr>
              <a:t>// Module-5 demo (Hamacher 7.2, Mano ch.5 style): the fetch cycle and the</a:t>
            </a:r>
          </a:p>
          <a:p>
            <a:pPr>
              <a:lnSpc>
                <a:spcPct val="100000"/>
              </a:lnSpc>
              <a:spcBef>
                <a:spcPts val="0"/>
              </a:spcBef>
              <a:spcAft>
                <a:spcPts val="60"/>
              </a:spcAft>
            </a:pPr>
            <a:r>
              <a:rPr sz="620" b="0" i="0">
                <a:solidFill>
                  <a:srgbClr val="E5E7EB"/>
                </a:solidFill>
                <a:latin typeface="Consolas"/>
              </a:rPr>
              <a:t>// execution of two instructions on a single-bus CPU with registers</a:t>
            </a:r>
          </a:p>
          <a:p>
            <a:pPr>
              <a:lnSpc>
                <a:spcPct val="100000"/>
              </a:lnSpc>
              <a:spcBef>
                <a:spcPts val="0"/>
              </a:spcBef>
              <a:spcAft>
                <a:spcPts val="60"/>
              </a:spcAft>
            </a:pPr>
            <a:r>
              <a:rPr sz="620" b="0" i="0">
                <a:solidFill>
                  <a:srgbClr val="E5E7EB"/>
                </a:solidFill>
                <a:latin typeface="Consolas"/>
              </a:rPr>
              <a:t>// PC, IR, AR, DR, AC.  Instruction format: 16 bits = opcode[15:12] | Ri[11:8] | addr[7:0].</a:t>
            </a:r>
          </a:p>
          <a:p>
            <a:pPr>
              <a:lnSpc>
                <a:spcPct val="100000"/>
              </a:lnSpc>
              <a:spcBef>
                <a:spcPts val="0"/>
              </a:spcBef>
              <a:spcAft>
                <a:spcPts val="60"/>
              </a:spcAft>
            </a:pPr>
            <a:r>
              <a:rPr sz="620" b="0" i="0">
                <a:solidFill>
                  <a:srgbClr val="E5E7EB"/>
                </a:solidFill>
                <a:latin typeface="Consolas"/>
              </a:rPr>
              <a:t>//   1xxy = LOAD Rx, Mem[y]      2xxy = ADD  Rx, Mem[y]      0000 = HALT</a:t>
            </a:r>
          </a:p>
          <a:p>
            <a:pPr>
              <a:lnSpc>
                <a:spcPct val="100000"/>
              </a:lnSpc>
              <a:spcBef>
                <a:spcPts val="0"/>
              </a:spcBef>
              <a:spcAft>
                <a:spcPts val="60"/>
              </a:spcAft>
            </a:pPr>
            <a:r>
              <a:rPr sz="620" b="0" i="0">
                <a:solidFill>
                  <a:srgbClr val="E5E7EB"/>
                </a:solidFill>
                <a:latin typeface="Consolas"/>
              </a:rPr>
              <a:t>module tb;</a:t>
            </a:r>
          </a:p>
          <a:p>
            <a:pPr>
              <a:lnSpc>
                <a:spcPct val="100000"/>
              </a:lnSpc>
              <a:spcBef>
                <a:spcPts val="0"/>
              </a:spcBef>
              <a:spcAft>
                <a:spcPts val="60"/>
              </a:spcAft>
            </a:pPr>
            <a:r>
              <a:rPr sz="620" b="0" i="0">
                <a:solidFill>
                  <a:srgbClr val="E5E7EB"/>
                </a:solidFill>
                <a:latin typeface="Consolas"/>
              </a:rPr>
              <a:t>  reg [15:0] mem [0:255];</a:t>
            </a:r>
          </a:p>
          <a:p>
            <a:pPr>
              <a:lnSpc>
                <a:spcPct val="100000"/>
              </a:lnSpc>
              <a:spcBef>
                <a:spcPts val="0"/>
              </a:spcBef>
              <a:spcAft>
                <a:spcPts val="60"/>
              </a:spcAft>
            </a:pPr>
            <a:r>
              <a:rPr sz="620" b="0" i="0">
                <a:solidFill>
                  <a:srgbClr val="E5E7EB"/>
                </a:solidFill>
                <a:latin typeface="Consolas"/>
              </a:rPr>
              <a:t>  reg [7:0]  PC, AR;  reg [15:0] DR, IR;  reg [15:0] AC;  reg [15:0] R [0:7];</a:t>
            </a:r>
          </a:p>
          <a:p>
            <a:pPr>
              <a:lnSpc>
                <a:spcPct val="100000"/>
              </a:lnSpc>
              <a:spcBef>
                <a:spcPts val="0"/>
              </a:spcBef>
              <a:spcAft>
                <a:spcPts val="60"/>
              </a:spcAft>
            </a:pPr>
            <a:r>
              <a:rPr sz="620" b="0" i="0">
                <a:solidFill>
                  <a:srgbClr val="E5E7EB"/>
                </a:solidFill>
                <a:latin typeface="Consolas"/>
              </a:rPr>
              <a:t>  integer i;</a:t>
            </a:r>
          </a:p>
          <a:p>
            <a:pPr>
              <a:lnSpc>
                <a:spcPct val="100000"/>
              </a:lnSpc>
              <a:spcBef>
                <a:spcPts val="0"/>
              </a:spcBef>
              <a:spcAft>
                <a:spcPts val="60"/>
              </a:spcAft>
            </a:pPr>
            <a:r>
              <a:rPr sz="620" b="0" i="0">
                <a:solidFill>
                  <a:srgbClr val="E5E7EB"/>
                </a:solidFill>
                <a:latin typeface="Consolas"/>
              </a:rPr>
              <a:t>  initial begin</a:t>
            </a:r>
          </a:p>
          <a:p>
            <a:pPr>
              <a:lnSpc>
                <a:spcPct val="100000"/>
              </a:lnSpc>
              <a:spcBef>
                <a:spcPts val="0"/>
              </a:spcBef>
              <a:spcAft>
                <a:spcPts val="60"/>
              </a:spcAft>
            </a:pPr>
            <a:r>
              <a:rPr sz="620" b="0" i="0">
                <a:solidFill>
                  <a:srgbClr val="E5E7EB"/>
                </a:solidFill>
                <a:latin typeface="Consolas"/>
              </a:rPr>
              <a:t>    for (i = 0; i &lt; 256; i = i + 1) mem[i] = 16'h0000;</a:t>
            </a:r>
          </a:p>
          <a:p>
            <a:pPr>
              <a:lnSpc>
                <a:spcPct val="100000"/>
              </a:lnSpc>
              <a:spcBef>
                <a:spcPts val="0"/>
              </a:spcBef>
              <a:spcAft>
                <a:spcPts val="60"/>
              </a:spcAft>
            </a:pPr>
            <a:r>
              <a:rPr sz="620" b="0" i="0">
                <a:solidFill>
                  <a:srgbClr val="E5E7EB"/>
                </a:solidFill>
                <a:latin typeface="Consolas"/>
              </a:rPr>
              <a:t>    mem[0]  = 16'h1108;           // LOAD R1, [08]</a:t>
            </a:r>
          </a:p>
          <a:p>
            <a:pPr>
              <a:lnSpc>
                <a:spcPct val="100000"/>
              </a:lnSpc>
              <a:spcBef>
                <a:spcPts val="0"/>
              </a:spcBef>
              <a:spcAft>
                <a:spcPts val="60"/>
              </a:spcAft>
            </a:pPr>
            <a:r>
              <a:rPr sz="620" b="0" i="0">
                <a:solidFill>
                  <a:srgbClr val="E5E7EB"/>
                </a:solidFill>
                <a:latin typeface="Consolas"/>
              </a:rPr>
              <a:t>    mem[1]  = 16'h2118;           // ADD  R1, [18]</a:t>
            </a:r>
          </a:p>
          <a:p>
            <a:pPr>
              <a:lnSpc>
                <a:spcPct val="100000"/>
              </a:lnSpc>
              <a:spcBef>
                <a:spcPts val="0"/>
              </a:spcBef>
              <a:spcAft>
                <a:spcPts val="60"/>
              </a:spcAft>
            </a:pPr>
            <a:r>
              <a:rPr sz="620" b="0" i="0">
                <a:solidFill>
                  <a:srgbClr val="E5E7EB"/>
                </a:solidFill>
                <a:latin typeface="Consolas"/>
              </a:rPr>
              <a:t>    mem[2]  = 16'h0000;           // HALT</a:t>
            </a:r>
          </a:p>
          <a:p>
            <a:pPr>
              <a:lnSpc>
                <a:spcPct val="100000"/>
              </a:lnSpc>
              <a:spcBef>
                <a:spcPts val="0"/>
              </a:spcBef>
              <a:spcAft>
                <a:spcPts val="60"/>
              </a:spcAft>
            </a:pPr>
            <a:r>
              <a:rPr sz="620" b="0" i="0">
                <a:solidFill>
                  <a:srgbClr val="E5E7EB"/>
                </a:solidFill>
                <a:latin typeface="Consolas"/>
              </a:rPr>
              <a:t>    mem[8]  = 16'd77; mem[24] = 16'd101;</a:t>
            </a:r>
          </a:p>
          <a:p>
            <a:pPr>
              <a:lnSpc>
                <a:spcPct val="100000"/>
              </a:lnSpc>
              <a:spcBef>
                <a:spcPts val="0"/>
              </a:spcBef>
              <a:spcAft>
                <a:spcPts val="60"/>
              </a:spcAft>
            </a:pPr>
            <a:r>
              <a:rPr sz="620" b="0" i="0">
                <a:solidFill>
                  <a:srgbClr val="E5E7EB"/>
                </a:solidFill>
                <a:latin typeface="Consolas"/>
              </a:rPr>
              <a:t>    PC = 0;</a:t>
            </a:r>
          </a:p>
          <a:p>
            <a:pPr>
              <a:lnSpc>
                <a:spcPct val="100000"/>
              </a:lnSpc>
              <a:spcBef>
                <a:spcPts val="0"/>
              </a:spcBef>
              <a:spcAft>
                <a:spcPts val="60"/>
              </a:spcAft>
            </a:pPr>
            <a:r>
              <a:rPr sz="620" b="0" i="0">
                <a:solidFill>
                  <a:srgbClr val="E5E7EB"/>
                </a:solidFill>
                <a:latin typeface="Consolas"/>
              </a:rPr>
              <a:t>    $display("== M5  fetch + execute of a 2-instruction program (single bus) ==");</a:t>
            </a:r>
          </a:p>
          <a:p>
            <a:pPr>
              <a:lnSpc>
                <a:spcPct val="100000"/>
              </a:lnSpc>
              <a:spcBef>
                <a:spcPts val="0"/>
              </a:spcBef>
              <a:spcAft>
                <a:spcPts val="60"/>
              </a:spcAft>
            </a:pPr>
            <a:r>
              <a:rPr sz="620" b="0" i="0">
                <a:solidFill>
                  <a:srgbClr val="E5E7EB"/>
                </a:solidFill>
                <a:latin typeface="Consolas"/>
              </a:rPr>
              <a:t>    $display(" program: LOAD R1,[8] ; ADD R1,[24] ; HALT      Mem[8]=77 Mem[24]=101");</a:t>
            </a:r>
          </a:p>
          <a:p>
            <a:pPr>
              <a:lnSpc>
                <a:spcPct val="100000"/>
              </a:lnSpc>
              <a:spcBef>
                <a:spcPts val="0"/>
              </a:spcBef>
              <a:spcAft>
                <a:spcPts val="60"/>
              </a:spcAft>
            </a:pPr>
            <a:r>
              <a:rPr sz="620" b="0" i="0">
                <a:solidFill>
                  <a:srgbClr val="E5E7EB"/>
                </a:solidFill>
                <a:latin typeface="Consolas"/>
              </a:rPr>
              <a:t>    repeat (2) begin</a:t>
            </a:r>
          </a:p>
          <a:p>
            <a:pPr>
              <a:lnSpc>
                <a:spcPct val="100000"/>
              </a:lnSpc>
              <a:spcBef>
                <a:spcPts val="0"/>
              </a:spcBef>
              <a:spcAft>
                <a:spcPts val="60"/>
              </a:spcAft>
            </a:pPr>
            <a:r>
              <a:rPr sz="620" b="0" i="0">
                <a:solidFill>
                  <a:srgbClr val="E5E7EB"/>
                </a:solidFill>
                <a:latin typeface="Consolas"/>
              </a:rPr>
              <a:t>      $display(" -- fetch cycle --");</a:t>
            </a:r>
          </a:p>
          <a:p>
            <a:pPr>
              <a:lnSpc>
                <a:spcPct val="100000"/>
              </a:lnSpc>
              <a:spcBef>
                <a:spcPts val="0"/>
              </a:spcBef>
              <a:spcAft>
                <a:spcPts val="60"/>
              </a:spcAft>
            </a:pPr>
            <a:r>
              <a:rPr sz="620" b="0" i="0">
                <a:solidFill>
                  <a:srgbClr val="E5E7EB"/>
                </a:solidFill>
                <a:latin typeface="Consolas"/>
              </a:rPr>
              <a:t>      PC = PC;      $display("  t0:  AR &lt;- PC            (AR = %0d)", PC);  AR = PC;</a:t>
            </a:r>
          </a:p>
          <a:p>
            <a:pPr>
              <a:lnSpc>
                <a:spcPct val="100000"/>
              </a:lnSpc>
              <a:spcBef>
                <a:spcPts val="0"/>
              </a:spcBef>
              <a:spcAft>
                <a:spcPts val="60"/>
              </a:spcAft>
            </a:pPr>
            <a:r>
              <a:rPr sz="620" b="0" i="0">
                <a:solidFill>
                  <a:srgbClr val="E5E7EB"/>
                </a:solidFill>
                <a:latin typeface="Consolas"/>
              </a:rPr>
              <a:t>      $display("  t1:  DR &lt;- Mem[AR]     (DR = %h)", mem[AR]);  DR = mem[AR];</a:t>
            </a:r>
          </a:p>
          <a:p>
            <a:pPr>
              <a:lnSpc>
                <a:spcPct val="100000"/>
              </a:lnSpc>
              <a:spcBef>
                <a:spcPts val="0"/>
              </a:spcBef>
              <a:spcAft>
                <a:spcPts val="60"/>
              </a:spcAft>
            </a:pPr>
            <a:r>
              <a:rPr sz="620" b="0" i="0">
                <a:solidFill>
                  <a:srgbClr val="E5E7EB"/>
                </a:solidFill>
                <a:latin typeface="Consolas"/>
              </a:rPr>
              <a:t>      $display("  t2:  IR &lt;- DR ; PC &lt;- PC+1");                 IR = DR; PC = PC + 1;</a:t>
            </a:r>
          </a:p>
          <a:p>
            <a:pPr>
              <a:lnSpc>
                <a:spcPct val="100000"/>
              </a:lnSpc>
              <a:spcBef>
                <a:spcPts val="0"/>
              </a:spcBef>
              <a:spcAft>
                <a:spcPts val="60"/>
              </a:spcAft>
            </a:pPr>
            <a:r>
              <a:rPr sz="620" b="0" i="0">
                <a:solidFill>
                  <a:srgbClr val="E5E7EB"/>
                </a:solidFill>
                <a:latin typeface="Consolas"/>
              </a:rPr>
              <a:t>      $display("  t3:  decode opcode %h", IR[15:12]);</a:t>
            </a:r>
          </a:p>
          <a:p>
            <a:pPr>
              <a:lnSpc>
                <a:spcPct val="100000"/>
              </a:lnSpc>
              <a:spcBef>
                <a:spcPts val="0"/>
              </a:spcBef>
              <a:spcAft>
                <a:spcPts val="60"/>
              </a:spcAft>
            </a:pPr>
            <a:r>
              <a:rPr sz="620" b="0" i="0">
                <a:solidFill>
                  <a:srgbClr val="E5E7EB"/>
                </a:solidFill>
                <a:latin typeface="Consolas"/>
              </a:rPr>
              <a:t>      case (IR[15:12])</a:t>
            </a:r>
          </a:p>
          <a:p>
            <a:pPr>
              <a:lnSpc>
                <a:spcPct val="100000"/>
              </a:lnSpc>
              <a:spcBef>
                <a:spcPts val="0"/>
              </a:spcBef>
              <a:spcAft>
                <a:spcPts val="60"/>
              </a:spcAft>
            </a:pPr>
            <a:r>
              <a:rPr sz="620" b="0" i="0">
                <a:solidFill>
                  <a:srgbClr val="E5E7EB"/>
                </a:solidFill>
                <a:latin typeface="Consolas"/>
              </a:rPr>
              <a:t>        4'h1: begin AR = IR[7:0];  DR = mem[AR]; R[IR[11:8]] = DR;</a:t>
            </a:r>
          </a:p>
          <a:p>
            <a:pPr>
              <a:lnSpc>
                <a:spcPct val="100000"/>
              </a:lnSpc>
              <a:spcBef>
                <a:spcPts val="0"/>
              </a:spcBef>
              <a:spcAft>
                <a:spcPts val="60"/>
              </a:spcAft>
            </a:pPr>
            <a:r>
              <a:rPr sz="620" b="0" i="0">
                <a:solidFill>
                  <a:srgbClr val="E5E7EB"/>
                </a:solidFill>
                <a:latin typeface="Consolas"/>
              </a:rPr>
              <a:t>              $display("  execute LOAD : R%0d &lt;- Mem[%0d] = %0d", IR[11:8], IR[7:0], DR); end</a:t>
            </a:r>
          </a:p>
          <a:p>
            <a:pPr>
              <a:lnSpc>
                <a:spcPct val="100000"/>
              </a:lnSpc>
              <a:spcBef>
                <a:spcPts val="0"/>
              </a:spcBef>
              <a:spcAft>
                <a:spcPts val="60"/>
              </a:spcAft>
            </a:pPr>
            <a:r>
              <a:rPr sz="620" b="0" i="0">
                <a:solidFill>
                  <a:srgbClr val="E5E7EB"/>
                </a:solidFill>
                <a:latin typeface="Consolas"/>
              </a:rPr>
              <a:t>        4'h2: begin AR = IR[7:0];  DR = mem[AR]; AC = R[IR[11:8]];</a:t>
            </a:r>
          </a:p>
          <a:p>
            <a:pPr>
              <a:lnSpc>
                <a:spcPct val="100000"/>
              </a:lnSpc>
              <a:spcBef>
                <a:spcPts val="0"/>
              </a:spcBef>
              <a:spcAft>
                <a:spcPts val="60"/>
              </a:spcAft>
            </a:pPr>
            <a:r>
              <a:rPr sz="620" b="0" i="0">
                <a:solidFill>
                  <a:srgbClr val="E5E7EB"/>
                </a:solidFill>
                <a:latin typeface="Consolas"/>
              </a:rPr>
              <a:t>              R[IR[11:8]] = AC + DR;</a:t>
            </a:r>
          </a:p>
          <a:p>
            <a:pPr>
              <a:lnSpc>
                <a:spcPct val="100000"/>
              </a:lnSpc>
              <a:spcBef>
                <a:spcPts val="0"/>
              </a:spcBef>
              <a:spcAft>
                <a:spcPts val="60"/>
              </a:spcAft>
            </a:pPr>
            <a:r>
              <a:rPr sz="620" b="0" i="0">
                <a:solidFill>
                  <a:srgbClr val="E5E7EB"/>
                </a:solidFill>
                <a:latin typeface="Consolas"/>
              </a:rPr>
              <a:t>              $display("  execute ADD  : AC &lt;- R%0d ; R%0d &lt;- AC + Mem[%0d] = %0d + %0d = %0d",</a:t>
            </a:r>
          </a:p>
          <a:p>
            <a:pPr>
              <a:lnSpc>
                <a:spcPct val="100000"/>
              </a:lnSpc>
              <a:spcBef>
                <a:spcPts val="0"/>
              </a:spcBef>
              <a:spcAft>
                <a:spcPts val="60"/>
              </a:spcAft>
            </a:pPr>
            <a:r>
              <a:rPr sz="620" b="0" i="0">
                <a:solidFill>
                  <a:srgbClr val="E5E7EB"/>
                </a:solidFill>
                <a:latin typeface="Consolas"/>
              </a:rPr>
              <a:t>                       IR[11:8], IR[11:8], IR[7:0], AC, DR, AC + DR); end</a:t>
            </a:r>
          </a:p>
          <a:p>
            <a:pPr>
              <a:lnSpc>
                <a:spcPct val="100000"/>
              </a:lnSpc>
              <a:spcBef>
                <a:spcPts val="0"/>
              </a:spcBef>
              <a:spcAft>
                <a:spcPts val="60"/>
              </a:spcAft>
            </a:pPr>
            <a:r>
              <a:rPr sz="620" b="0" i="0">
                <a:solidFill>
                  <a:srgbClr val="E5E7EB"/>
                </a:solidFill>
                <a:latin typeface="Consolas"/>
              </a:rPr>
              <a:t>        default: $display("  execute HALT");</a:t>
            </a:r>
          </a:p>
          <a:p>
            <a:pPr>
              <a:lnSpc>
                <a:spcPct val="100000"/>
              </a:lnSpc>
              <a:spcBef>
                <a:spcPts val="0"/>
              </a:spcBef>
              <a:spcAft>
                <a:spcPts val="60"/>
              </a:spcAft>
            </a:pPr>
            <a:r>
              <a:rPr sz="620" b="0" i="0">
                <a:solidFill>
                  <a:srgbClr val="E5E7EB"/>
                </a:solidFill>
                <a:latin typeface="Consolas"/>
              </a:rPr>
              <a:t>      endcase</a:t>
            </a:r>
          </a:p>
          <a:p>
            <a:pPr>
              <a:lnSpc>
                <a:spcPct val="100000"/>
              </a:lnSpc>
              <a:spcBef>
                <a:spcPts val="0"/>
              </a:spcBef>
              <a:spcAft>
                <a:spcPts val="60"/>
              </a:spcAft>
            </a:pPr>
            <a:r>
              <a:rPr sz="620" b="0" i="0">
                <a:solidFill>
                  <a:srgbClr val="E5E7EB"/>
                </a:solidFill>
                <a:latin typeface="Consolas"/>
              </a:rPr>
              <a:t>  …  (complete source: the course book)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Pipelining: overlap, then the three bills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26</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Ideal arithmetic first: 100 instr, stages 1/3/2/4/1 ns: unpipelined </a:t>
            </a:r>
            <a:r>
              <a:rPr sz="1250" b="0" i="0">
                <a:solidFill>
                  <a:srgbClr val="B3261E"/>
                </a:solidFill>
                <a:latin typeface="Consolas"/>
              </a:rPr>
              <a:t>100 x 11 ns = 1100 ns</a:t>
            </a:r>
            <a:r>
              <a:rPr sz="1400" b="0" i="0">
                <a:solidFill>
                  <a:srgbClr val="16181D"/>
                </a:solidFill>
                <a:latin typeface="Calibri"/>
              </a:rPr>
              <a:t>, </a:t>
            </a:r>
            <a:r>
              <a:rPr sz="1250" b="0" i="0">
                <a:solidFill>
                  <a:srgbClr val="B3261E"/>
                </a:solidFill>
                <a:latin typeface="Consolas"/>
              </a:rPr>
              <a:t>(100+4) x 4 ns = 416 ns</a:t>
            </a:r>
            <a:r>
              <a:rPr sz="1400" b="0" i="0">
                <a:solidFill>
                  <a:srgbClr val="16181D"/>
                </a:solidFill>
                <a:latin typeface="Calibri"/>
              </a:rPr>
              <a:t> — period is the slowest stage, always.</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Stalls charge per event: </a:t>
            </a:r>
            <a:r>
              <a:rPr sz="1250" b="0" i="0">
                <a:solidFill>
                  <a:srgbClr val="B3261E"/>
                </a:solidFill>
                <a:latin typeface="Consolas"/>
              </a:rPr>
              <a:t>+ stalls(10% branches): 456 ns</a:t>
            </a:r>
            <a:r>
              <a:rPr sz="1400" b="0" i="0">
                <a:solidFill>
                  <a:srgbClr val="16181D"/>
                </a:solidFill>
                <a:latin typeface="Calibri"/>
              </a:rPr>
              <a:t> (one bubble per branch).</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The cache's role, quantified: let MEM wait on main memory and the whole pipe pays — </a:t>
            </a:r>
            <a:r>
              <a:rPr sz="1050" b="0" i="0">
                <a:solidFill>
                  <a:srgbClr val="B3261E"/>
                </a:solidFill>
                <a:latin typeface="Consolas"/>
              </a:rPr>
              <a:t>if MEM slows to 6ns (no cache, main memory every operand): 624 ns</a:t>
            </a:r>
            <a:r>
              <a:rPr sz="1400" b="0" i="0">
                <a:solidFill>
                  <a:srgbClr val="16181D"/>
                </a:solidFill>
                <a:latin typeface="Calibri"/>
              </a:rPr>
              <a:t>.</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Hazards to name with their fix: structural (split ports), RAW (forward or stall), control (predict or flush).</a:t>
            </a:r>
          </a:p>
          <a:p>
            <a:pPr marL="201168" indent="-201168">
              <a:lnSpc>
                <a:spcPct val="104000"/>
              </a:lnSpc>
              <a:spcBef>
                <a:spcPts val="0"/>
              </a:spcBef>
              <a:spcAft>
                <a:spcPts val="900"/>
              </a:spcAft>
            </a:pPr>
            <a:r>
              <a:rPr sz="1400" b="1" i="0">
                <a:solidFill>
                  <a:srgbClr val="B3261E"/>
                </a:solidFill>
                <a:latin typeface="Calibri"/>
              </a:rPr>
              <a:t>•  </a:t>
            </a:r>
            <a:r>
              <a:rPr sz="1400" b="0" i="0">
                <a:solidFill>
                  <a:srgbClr val="16181D"/>
                </a:solidFill>
                <a:latin typeface="Calibri"/>
              </a:rPr>
              <a:t>Exam speed-up: kn/(n+k−1) — say WHY it is less than k (fill/drain), one sentence.</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src/m5_pipeline.v</a:t>
            </a:r>
          </a:p>
        </p:txBody>
      </p:sp>
      <p:sp>
        <p:nvSpPr>
          <p:cNvPr id="12" name="TextBox 11"/>
          <p:cNvSpPr txBox="1"/>
          <p:nvPr/>
        </p:nvSpPr>
        <p:spPr>
          <a:xfrm>
            <a:off x="7388352" y="2002536"/>
            <a:ext cx="4169664" cy="4279392"/>
          </a:xfrm>
          <a:prstGeom prst="rect">
            <a:avLst/>
          </a:prstGeom>
          <a:noFill/>
        </p:spPr>
        <p:txBody>
          <a:bodyPr wrap="square" anchor="t" lIns="0" rIns="0" tIns="0" bIns="0">
            <a:spAutoFit/>
          </a:bodyPr>
          <a:lstStyle/>
          <a:p>
            <a:pPr>
              <a:lnSpc>
                <a:spcPct val="100000"/>
              </a:lnSpc>
              <a:spcBef>
                <a:spcPts val="0"/>
              </a:spcBef>
              <a:spcAft>
                <a:spcPts val="60"/>
              </a:spcAft>
            </a:pPr>
            <a:r>
              <a:rPr sz="680" b="0" i="0">
                <a:solidFill>
                  <a:srgbClr val="E5E7EB"/>
                </a:solidFill>
                <a:latin typeface="Consolas"/>
              </a:rPr>
              <a:t>`timescale 1ns/1ps</a:t>
            </a:r>
          </a:p>
          <a:p>
            <a:pPr>
              <a:lnSpc>
                <a:spcPct val="100000"/>
              </a:lnSpc>
              <a:spcBef>
                <a:spcPts val="0"/>
              </a:spcBef>
              <a:spcAft>
                <a:spcPts val="60"/>
              </a:spcAft>
            </a:pPr>
            <a:r>
              <a:rPr sz="680" b="0" i="0">
                <a:solidFill>
                  <a:srgbClr val="E5E7EB"/>
                </a:solidFill>
                <a:latin typeface="Consolas"/>
              </a:rPr>
              <a:t>// Module-5 demo (Hamacher 8.1): pipeline timing.  Five segments with unequal</a:t>
            </a:r>
          </a:p>
          <a:p>
            <a:pPr>
              <a:lnSpc>
                <a:spcPct val="100000"/>
              </a:lnSpc>
              <a:spcBef>
                <a:spcPts val="0"/>
              </a:spcBef>
              <a:spcAft>
                <a:spcPts val="60"/>
              </a:spcAft>
            </a:pPr>
            <a:r>
              <a:rPr sz="680" b="0" i="0">
                <a:solidFill>
                  <a:srgbClr val="E5E7EB"/>
                </a:solidFill>
                <a:latin typeface="Consolas"/>
              </a:rPr>
              <a:t>// delays; unpipelined time = N x sum(delays); pipelined = (N + 4) x max(delay);</a:t>
            </a:r>
          </a:p>
          <a:p>
            <a:pPr>
              <a:lnSpc>
                <a:spcPct val="100000"/>
              </a:lnSpc>
              <a:spcBef>
                <a:spcPts val="0"/>
              </a:spcBef>
              <a:spcAft>
                <a:spcPts val="60"/>
              </a:spcAft>
            </a:pPr>
            <a:r>
              <a:rPr sz="680" b="0" i="0">
                <a:solidFill>
                  <a:srgbClr val="E5E7EB"/>
                </a:solidFill>
                <a:latin typeface="Consolas"/>
              </a:rPr>
              <a:t>// then the cost of one stall per 10 instructions (branch), and the effect of</a:t>
            </a:r>
          </a:p>
          <a:p>
            <a:pPr>
              <a:lnSpc>
                <a:spcPct val="100000"/>
              </a:lnSpc>
              <a:spcBef>
                <a:spcPts val="0"/>
              </a:spcBef>
              <a:spcAft>
                <a:spcPts val="60"/>
              </a:spcAft>
            </a:pPr>
            <a:r>
              <a:rPr sz="680" b="0" i="0">
                <a:solidFill>
                  <a:srgbClr val="E5E7EB"/>
                </a:solidFill>
                <a:latin typeface="Consolas"/>
              </a:rPr>
              <a:t>// a cache miss that lengthens IF+MEM.</a:t>
            </a:r>
          </a:p>
          <a:p>
            <a:pPr>
              <a:lnSpc>
                <a:spcPct val="100000"/>
              </a:lnSpc>
              <a:spcBef>
                <a:spcPts val="0"/>
              </a:spcBef>
              <a:spcAft>
                <a:spcPts val="60"/>
              </a:spcAft>
            </a:pPr>
            <a:r>
              <a:rPr sz="680" b="0" i="0">
                <a:solidFill>
                  <a:srgbClr val="E5E7EB"/>
                </a:solidFill>
                <a:latin typeface="Consolas"/>
              </a:rPr>
              <a:t>module tb;</a:t>
            </a:r>
          </a:p>
          <a:p>
            <a:pPr>
              <a:lnSpc>
                <a:spcPct val="100000"/>
              </a:lnSpc>
              <a:spcBef>
                <a:spcPts val="0"/>
              </a:spcBef>
              <a:spcAft>
                <a:spcPts val="60"/>
              </a:spcAft>
            </a:pPr>
            <a:r>
              <a:rPr sz="680" b="0" i="0">
                <a:solidFill>
                  <a:srgbClr val="E5E7EB"/>
                </a:solidFill>
                <a:latin typeface="Consolas"/>
              </a:rPr>
              <a:t>  integer n;  real s1,s2,s3,s4,s5, sum, mx, t_un, t_pipe, t_stall, t_miss;</a:t>
            </a:r>
          </a:p>
          <a:p>
            <a:pPr>
              <a:lnSpc>
                <a:spcPct val="100000"/>
              </a:lnSpc>
              <a:spcBef>
                <a:spcPts val="0"/>
              </a:spcBef>
              <a:spcAft>
                <a:spcPts val="60"/>
              </a:spcAft>
            </a:pPr>
            <a:r>
              <a:rPr sz="680" b="0" i="0">
                <a:solidFill>
                  <a:srgbClr val="E5E7EB"/>
                </a:solidFill>
                <a:latin typeface="Consolas"/>
              </a:rPr>
              <a:t>  initial begin</a:t>
            </a:r>
          </a:p>
          <a:p>
            <a:pPr>
              <a:lnSpc>
                <a:spcPct val="100000"/>
              </a:lnSpc>
              <a:spcBef>
                <a:spcPts val="0"/>
              </a:spcBef>
              <a:spcAft>
                <a:spcPts val="60"/>
              </a:spcAft>
            </a:pPr>
            <a:r>
              <a:rPr sz="680" b="0" i="0">
                <a:solidFill>
                  <a:srgbClr val="E5E7EB"/>
                </a:solidFill>
                <a:latin typeface="Consolas"/>
              </a:rPr>
              <a:t>    n = 100; s1=1; s2=3; s3=2; s4=4; s5=1;   // segment times in ns</a:t>
            </a:r>
          </a:p>
          <a:p>
            <a:pPr>
              <a:lnSpc>
                <a:spcPct val="100000"/>
              </a:lnSpc>
              <a:spcBef>
                <a:spcPts val="0"/>
              </a:spcBef>
              <a:spcAft>
                <a:spcPts val="60"/>
              </a:spcAft>
            </a:pPr>
            <a:r>
              <a:rPr sz="680" b="0" i="0">
                <a:solidFill>
                  <a:srgbClr val="E5E7EB"/>
                </a:solidFill>
                <a:latin typeface="Consolas"/>
              </a:rPr>
              <a:t>    sum = s1+s2+s3+s4+s5; mx = s4;</a:t>
            </a:r>
          </a:p>
          <a:p>
            <a:pPr>
              <a:lnSpc>
                <a:spcPct val="100000"/>
              </a:lnSpc>
              <a:spcBef>
                <a:spcPts val="0"/>
              </a:spcBef>
              <a:spcAft>
                <a:spcPts val="60"/>
              </a:spcAft>
            </a:pPr>
            <a:r>
              <a:rPr sz="680" b="0" i="0">
                <a:solidFill>
                  <a:srgbClr val="E5E7EB"/>
                </a:solidFill>
                <a:latin typeface="Consolas"/>
              </a:rPr>
              <a:t>    t_un   = n * sum;</a:t>
            </a:r>
          </a:p>
          <a:p>
            <a:pPr>
              <a:lnSpc>
                <a:spcPct val="100000"/>
              </a:lnSpc>
              <a:spcBef>
                <a:spcPts val="0"/>
              </a:spcBef>
              <a:spcAft>
                <a:spcPts val="60"/>
              </a:spcAft>
            </a:pPr>
            <a:r>
              <a:rPr sz="680" b="0" i="0">
                <a:solidFill>
                  <a:srgbClr val="E5E7EB"/>
                </a:solidFill>
                <a:latin typeface="Consolas"/>
              </a:rPr>
              <a:t>    t_pipe = (n + 4.0) * mx;</a:t>
            </a:r>
          </a:p>
          <a:p>
            <a:pPr>
              <a:lnSpc>
                <a:spcPct val="100000"/>
              </a:lnSpc>
              <a:spcBef>
                <a:spcPts val="0"/>
              </a:spcBef>
              <a:spcAft>
                <a:spcPts val="60"/>
              </a:spcAft>
            </a:pPr>
            <a:r>
              <a:rPr sz="680" b="0" i="0">
                <a:solidFill>
                  <a:srgbClr val="E5E7EB"/>
                </a:solidFill>
                <a:latin typeface="Consolas"/>
              </a:rPr>
              <a:t>    t_stall = t_pipe + n*0.1 * mx;            // 10% branches, 1 stall cycle each</a:t>
            </a:r>
          </a:p>
          <a:p>
            <a:pPr>
              <a:lnSpc>
                <a:spcPct val="100000"/>
              </a:lnSpc>
              <a:spcBef>
                <a:spcPts val="0"/>
              </a:spcBef>
              <a:spcAft>
                <a:spcPts val="60"/>
              </a:spcAft>
            </a:pPr>
            <a:r>
              <a:rPr sz="680" b="0" i="0">
                <a:solidFill>
                  <a:srgbClr val="E5E7EB"/>
                </a:solidFill>
                <a:latin typeface="Consolas"/>
              </a:rPr>
              <a:t>    t_miss  = (n + 4.0) * 6.0;                // if cache miss makes MEM 6ns</a:t>
            </a:r>
          </a:p>
          <a:p>
            <a:pPr>
              <a:lnSpc>
                <a:spcPct val="100000"/>
              </a:lnSpc>
              <a:spcBef>
                <a:spcPts val="0"/>
              </a:spcBef>
              <a:spcAft>
                <a:spcPts val="60"/>
              </a:spcAft>
            </a:pPr>
            <a:r>
              <a:rPr sz="680" b="0" i="0">
                <a:solidFill>
                  <a:srgbClr val="E5E7EB"/>
                </a:solidFill>
                <a:latin typeface="Consolas"/>
              </a:rPr>
              <a:t>    $display("== M5  pipeline performance (n=100 instr, segments 1/3/2/4/1 ns) ==");</a:t>
            </a:r>
          </a:p>
          <a:p>
            <a:pPr>
              <a:lnSpc>
                <a:spcPct val="100000"/>
              </a:lnSpc>
              <a:spcBef>
                <a:spcPts val="0"/>
              </a:spcBef>
              <a:spcAft>
                <a:spcPts val="60"/>
              </a:spcAft>
            </a:pPr>
            <a:r>
              <a:rPr sz="680" b="0" i="0">
                <a:solidFill>
                  <a:srgbClr val="E5E7EB"/>
                </a:solidFill>
                <a:latin typeface="Consolas"/>
              </a:rPr>
              <a:t>    $display(" unpipelined : 100 x %0.0f ns = %0.0f ns", sum, t_un);</a:t>
            </a:r>
          </a:p>
          <a:p>
            <a:pPr>
              <a:lnSpc>
                <a:spcPct val="100000"/>
              </a:lnSpc>
              <a:spcBef>
                <a:spcPts val="0"/>
              </a:spcBef>
              <a:spcAft>
                <a:spcPts val="60"/>
              </a:spcAft>
            </a:pPr>
            <a:r>
              <a:rPr sz="680" b="0" i="0">
                <a:solidFill>
                  <a:srgbClr val="E5E7EB"/>
                </a:solidFill>
                <a:latin typeface="Consolas"/>
              </a:rPr>
              <a:t>    $display(" pipelined   : (100+4) x %0.0f ns = %0.0f ns   -&gt; speed-up x%0.2f",</a:t>
            </a:r>
          </a:p>
          <a:p>
            <a:pPr>
              <a:lnSpc>
                <a:spcPct val="100000"/>
              </a:lnSpc>
              <a:spcBef>
                <a:spcPts val="0"/>
              </a:spcBef>
              <a:spcAft>
                <a:spcPts val="60"/>
              </a:spcAft>
            </a:pPr>
            <a:r>
              <a:rPr sz="680" b="0" i="0">
                <a:solidFill>
                  <a:srgbClr val="E5E7EB"/>
                </a:solidFill>
                <a:latin typeface="Consolas"/>
              </a:rPr>
              <a:t>             mx, t_pipe, t_un/t_pipe);</a:t>
            </a:r>
          </a:p>
          <a:p>
            <a:pPr>
              <a:lnSpc>
                <a:spcPct val="100000"/>
              </a:lnSpc>
              <a:spcBef>
                <a:spcPts val="0"/>
              </a:spcBef>
              <a:spcAft>
                <a:spcPts val="60"/>
              </a:spcAft>
            </a:pPr>
            <a:r>
              <a:rPr sz="680" b="0" i="0">
                <a:solidFill>
                  <a:srgbClr val="E5E7EB"/>
                </a:solidFill>
                <a:latin typeface="Consolas"/>
              </a:rPr>
              <a:t>    $display(" + stalls(10%% branches): %0.0f ns", t_stall);</a:t>
            </a:r>
          </a:p>
          <a:p>
            <a:pPr>
              <a:lnSpc>
                <a:spcPct val="100000"/>
              </a:lnSpc>
              <a:spcBef>
                <a:spcPts val="0"/>
              </a:spcBef>
              <a:spcAft>
                <a:spcPts val="60"/>
              </a:spcAft>
            </a:pPr>
            <a:r>
              <a:rPr sz="680" b="0" i="0">
                <a:solidFill>
                  <a:srgbClr val="E5E7EB"/>
                </a:solidFill>
                <a:latin typeface="Consolas"/>
              </a:rPr>
              <a:t>    $display(" if MEM slows to 6ns (no cache, main memory every operand): %0.0f ns", t_miss);</a:t>
            </a:r>
          </a:p>
          <a:p>
            <a:pPr>
              <a:lnSpc>
                <a:spcPct val="100000"/>
              </a:lnSpc>
              <a:spcBef>
                <a:spcPts val="0"/>
              </a:spcBef>
              <a:spcAft>
                <a:spcPts val="60"/>
              </a:spcAft>
            </a:pPr>
            <a:r>
              <a:rPr sz="680" b="0" i="0">
                <a:solidFill>
                  <a:srgbClr val="E5E7EB"/>
                </a:solidFill>
                <a:latin typeface="Consolas"/>
              </a:rPr>
              <a:t>    $display(" -&gt; role of cache memory: keeps IF/MEM at cache speed so the pipe stays at 4ns");</a:t>
            </a:r>
          </a:p>
          <a:p>
            <a:pPr>
              <a:lnSpc>
                <a:spcPct val="100000"/>
              </a:lnSpc>
              <a:spcBef>
                <a:spcPts val="0"/>
              </a:spcBef>
              <a:spcAft>
                <a:spcPts val="60"/>
              </a:spcAft>
            </a:pPr>
            <a:r>
              <a:rPr sz="680" b="0" i="0">
                <a:solidFill>
                  <a:srgbClr val="E5E7EB"/>
                </a:solidFill>
                <a:latin typeface="Consolas"/>
              </a:rPr>
              <a:t>    if ((t_un - 1100.0) * (t_un - 1100.0) &lt; 0.0001 &amp;&amp; (t_pipe - 416.0) * (t_pipe - 416.0) &lt; 0.0001)</a:t>
            </a:r>
          </a:p>
          <a:p>
            <a:pPr>
              <a:lnSpc>
                <a:spcPct val="100000"/>
              </a:lnSpc>
              <a:spcBef>
                <a:spcPts val="0"/>
              </a:spcBef>
              <a:spcAft>
                <a:spcPts val="60"/>
              </a:spcAft>
            </a:pPr>
            <a:r>
              <a:rPr sz="680" b="0" i="0">
                <a:solidFill>
                  <a:srgbClr val="E5E7EB"/>
                </a:solidFill>
                <a:latin typeface="Consolas"/>
              </a:rPr>
              <a:t>      $display("M5 RESULT: 1100 ns unpipelined vs 416 ns pipelined = 2.64x, computed not typed -- PASS");</a:t>
            </a:r>
          </a:p>
          <a:p>
            <a:pPr>
              <a:lnSpc>
                <a:spcPct val="100000"/>
              </a:lnSpc>
              <a:spcBef>
                <a:spcPts val="0"/>
              </a:spcBef>
              <a:spcAft>
                <a:spcPts val="60"/>
              </a:spcAft>
            </a:pPr>
            <a:r>
              <a:rPr sz="680" b="0" i="0">
                <a:solidFill>
                  <a:srgbClr val="E5E7EB"/>
                </a:solidFill>
                <a:latin typeface="Consolas"/>
              </a:rPr>
              <a:t>    else $display("M5 RESULT: FAIL");</a:t>
            </a:r>
          </a:p>
          <a:p>
            <a:pPr>
              <a:lnSpc>
                <a:spcPct val="100000"/>
              </a:lnSpc>
              <a:spcBef>
                <a:spcPts val="0"/>
              </a:spcBef>
              <a:spcAft>
                <a:spcPts val="60"/>
              </a:spcAft>
            </a:pPr>
            <a:r>
              <a:rPr sz="680" b="0" i="0">
                <a:solidFill>
                  <a:srgbClr val="E5E7EB"/>
                </a:solidFill>
                <a:latin typeface="Consolas"/>
              </a:rPr>
              <a:t>    $finish;</a:t>
            </a:r>
          </a:p>
          <a:p>
            <a:pPr>
              <a:lnSpc>
                <a:spcPct val="100000"/>
              </a:lnSpc>
              <a:spcBef>
                <a:spcPts val="0"/>
              </a:spcBef>
              <a:spcAft>
                <a:spcPts val="60"/>
              </a:spcAft>
            </a:pPr>
            <a:r>
              <a:rPr sz="680" b="0" i="0">
                <a:solidFill>
                  <a:srgbClr val="E5E7EB"/>
                </a:solidFill>
                <a:latin typeface="Consolas"/>
              </a:rPr>
              <a:t>  end</a:t>
            </a:r>
          </a:p>
          <a:p>
            <a:pPr>
              <a:lnSpc>
                <a:spcPct val="100000"/>
              </a:lnSpc>
              <a:spcBef>
                <a:spcPts val="0"/>
              </a:spcBef>
              <a:spcAft>
                <a:spcPts val="60"/>
              </a:spcAft>
            </a:pPr>
            <a:r>
              <a:rPr sz="680" b="0" i="0">
                <a:solidFill>
                  <a:srgbClr val="E5E7EB"/>
                </a:solidFill>
                <a:latin typeface="Consolas"/>
              </a:rPr>
              <a:t>endmodule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m5_control_mem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27</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src/m5_control_mem.v</a:t>
            </a:r>
          </a:p>
        </p:txBody>
      </p:sp>
      <p:sp>
        <p:nvSpPr>
          <p:cNvPr id="11" name="TextBox 10"/>
          <p:cNvSpPr txBox="1"/>
          <p:nvPr/>
        </p:nvSpPr>
        <p:spPr>
          <a:xfrm>
            <a:off x="667512" y="1975104"/>
            <a:ext cx="5815584" cy="432511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Module-5 demo (Hamacher 7.4): a control MEMORY.  Each 9-bit microinstruction</a:t>
            </a:r>
          </a:p>
          <a:p>
            <a:pPr>
              <a:lnSpc>
                <a:spcPct val="100000"/>
              </a:lnSpc>
              <a:spcBef>
                <a:spcPts val="0"/>
              </a:spcBef>
              <a:spcAft>
                <a:spcPts val="60"/>
              </a:spcAft>
            </a:pPr>
            <a:r>
              <a:rPr sz="700" b="0" i="0">
                <a:solidFill>
                  <a:srgbClr val="E5E7EB"/>
                </a:solidFill>
                <a:latin typeface="Consolas"/>
              </a:rPr>
              <a:t>// word = { load-enable MAR,MDR,RegDst,- | ALU op | next micro-PC }.  The</a:t>
            </a:r>
          </a:p>
          <a:p>
            <a:pPr>
              <a:lnSpc>
                <a:spcPct val="100000"/>
              </a:lnSpc>
              <a:spcBef>
                <a:spcPts val="0"/>
              </a:spcBef>
              <a:spcAft>
                <a:spcPts val="60"/>
              </a:spcAft>
            </a:pPr>
            <a:r>
              <a:rPr sz="700" b="0" i="0">
                <a:solidFill>
                  <a:srgbClr val="E5E7EB"/>
                </a:solidFill>
                <a:latin typeface="Consolas"/>
              </a:rPr>
              <a:t>// control word fired every cycle for LOAD and ADD is printed from the ROM</a:t>
            </a:r>
          </a:p>
          <a:p>
            <a:pPr>
              <a:lnSpc>
                <a:spcPct val="100000"/>
              </a:lnSpc>
              <a:spcBef>
                <a:spcPts val="0"/>
              </a:spcBef>
              <a:spcAft>
                <a:spcPts val="60"/>
              </a:spcAft>
            </a:pPr>
            <a:r>
              <a:rPr sz="700" b="0" i="0">
                <a:solidFill>
                  <a:srgbClr val="E5E7EB"/>
                </a:solidFill>
                <a:latin typeface="Consolas"/>
              </a:rPr>
              <a:t>// contents themselves, then matched against the expected control vectors.</a:t>
            </a:r>
          </a:p>
          <a:p>
            <a:pPr>
              <a:lnSpc>
                <a:spcPct val="100000"/>
              </a:lnSpc>
              <a:spcBef>
                <a:spcPts val="0"/>
              </a:spcBef>
              <a:spcAft>
                <a:spcPts val="60"/>
              </a:spcAft>
            </a:pPr>
            <a:r>
              <a:rPr sz="700" b="0" i="0">
                <a:solidFill>
                  <a:srgbClr val="E5E7EB"/>
                </a:solidFill>
                <a:latin typeface="Consolas"/>
              </a:rPr>
              <a:t>module tb;</a:t>
            </a:r>
          </a:p>
          <a:p>
            <a:pPr>
              <a:lnSpc>
                <a:spcPct val="100000"/>
              </a:lnSpc>
              <a:spcBef>
                <a:spcPts val="0"/>
              </a:spcBef>
              <a:spcAft>
                <a:spcPts val="60"/>
              </a:spcAft>
            </a:pPr>
            <a:r>
              <a:rPr sz="700" b="0" i="0">
                <a:solidFill>
                  <a:srgbClr val="E5E7EB"/>
                </a:solidFill>
                <a:latin typeface="Consolas"/>
              </a:rPr>
              <a:t>  reg [8:0] cROM [0:15];</a:t>
            </a:r>
          </a:p>
          <a:p>
            <a:pPr>
              <a:lnSpc>
                <a:spcPct val="100000"/>
              </a:lnSpc>
              <a:spcBef>
                <a:spcPts val="0"/>
              </a:spcBef>
              <a:spcAft>
                <a:spcPts val="60"/>
              </a:spcAft>
            </a:pPr>
            <a:r>
              <a:rPr sz="700" b="0" i="0">
                <a:solidFill>
                  <a:srgbClr val="E5E7EB"/>
                </a:solidFill>
                <a:latin typeface="Consolas"/>
              </a:rPr>
              <a:t>  integer seq [0:11];   // executed micro-address sequence: LOAD then ADD</a:t>
            </a:r>
          </a:p>
          <a:p>
            <a:pPr>
              <a:lnSpc>
                <a:spcPct val="100000"/>
              </a:lnSpc>
              <a:spcBef>
                <a:spcPts val="0"/>
              </a:spcBef>
              <a:spcAft>
                <a:spcPts val="60"/>
              </a:spcAft>
            </a:pPr>
            <a:r>
              <a:rPr sz="700" b="0" i="0">
                <a:solidFill>
                  <a:srgbClr val="E5E7EB"/>
                </a:solidFill>
                <a:latin typeface="Consolas"/>
              </a:rPr>
              <a:t>  integer i, bad;</a:t>
            </a:r>
          </a:p>
          <a:p>
            <a:pPr>
              <a:lnSpc>
                <a:spcPct val="100000"/>
              </a:lnSpc>
              <a:spcBef>
                <a:spcPts val="0"/>
              </a:spcBef>
              <a:spcAft>
                <a:spcPts val="60"/>
              </a:spcAft>
            </a:pPr>
            <a:r>
              <a:rPr sz="700" b="0" i="0">
                <a:solidFill>
                  <a:srgbClr val="E5E7EB"/>
                </a:solidFill>
                <a:latin typeface="Consolas"/>
              </a:rPr>
              <a:t>  reg [3:0] ld; reg [1:0] alu;</a:t>
            </a:r>
          </a:p>
          <a:p>
            <a:pPr>
              <a:lnSpc>
                <a:spcPct val="100000"/>
              </a:lnSpc>
              <a:spcBef>
                <a:spcPts val="0"/>
              </a:spcBef>
              <a:spcAft>
                <a:spcPts val="60"/>
              </a:spcAft>
            </a:pPr>
            <a:r>
              <a:rPr sz="700" b="0" i="0">
                <a:solidFill>
                  <a:srgbClr val="E5E7EB"/>
                </a:solidFill>
                <a:latin typeface="Consolas"/>
              </a:rPr>
              <a:t>  initial begin</a:t>
            </a:r>
          </a:p>
          <a:p>
            <a:pPr>
              <a:lnSpc>
                <a:spcPct val="100000"/>
              </a:lnSpc>
              <a:spcBef>
                <a:spcPts val="0"/>
              </a:spcBef>
              <a:spcAft>
                <a:spcPts val="60"/>
              </a:spcAft>
            </a:pPr>
            <a:r>
              <a:rPr sz="700" b="0" i="0">
                <a:solidFill>
                  <a:srgbClr val="E5E7EB"/>
                </a:solidFill>
                <a:latin typeface="Consolas"/>
              </a:rPr>
              <a:t>    cROM[0]  = {4'b1000, 2'b00, 3'd1};  // F0 MAR &lt;- PC</a:t>
            </a:r>
          </a:p>
          <a:p>
            <a:pPr>
              <a:lnSpc>
                <a:spcPct val="100000"/>
              </a:lnSpc>
              <a:spcBef>
                <a:spcPts val="0"/>
              </a:spcBef>
              <a:spcAft>
                <a:spcPts val="60"/>
              </a:spcAft>
            </a:pPr>
            <a:r>
              <a:rPr sz="700" b="0" i="0">
                <a:solidFill>
                  <a:srgbClr val="E5E7EB"/>
                </a:solidFill>
                <a:latin typeface="Consolas"/>
              </a:rPr>
              <a:t>    cROM[1]  = {4'b0100, 2'b11, 3'd2};  // F1 MDR &lt;- Mem[AR]</a:t>
            </a:r>
          </a:p>
          <a:p>
            <a:pPr>
              <a:lnSpc>
                <a:spcPct val="100000"/>
              </a:lnSpc>
              <a:spcBef>
                <a:spcPts val="0"/>
              </a:spcBef>
              <a:spcAft>
                <a:spcPts val="60"/>
              </a:spcAft>
            </a:pPr>
            <a:r>
              <a:rPr sz="700" b="0" i="0">
                <a:solidFill>
                  <a:srgbClr val="E5E7EB"/>
                </a:solidFill>
                <a:latin typeface="Consolas"/>
              </a:rPr>
              <a:t>    cROM[2]  = {4'b0010, 2'b01, 3'd3};  // F2 IR &lt;- MDR ; PC &lt;- PC+1</a:t>
            </a:r>
          </a:p>
          <a:p>
            <a:pPr>
              <a:lnSpc>
                <a:spcPct val="100000"/>
              </a:lnSpc>
              <a:spcBef>
                <a:spcPts val="0"/>
              </a:spcBef>
              <a:spcAft>
                <a:spcPts val="60"/>
              </a:spcAft>
            </a:pPr>
            <a:r>
              <a:rPr sz="700" b="0" i="0">
                <a:solidFill>
                  <a:srgbClr val="E5E7EB"/>
                </a:solidFill>
                <a:latin typeface="Consolas"/>
              </a:rPr>
              <a:t>    cROM[3]  = {4'b0001, 2'b10, 3'd0};  // F3 AR &lt;- IR[addr]</a:t>
            </a:r>
          </a:p>
          <a:p>
            <a:pPr>
              <a:lnSpc>
                <a:spcPct val="100000"/>
              </a:lnSpc>
              <a:spcBef>
                <a:spcPts val="0"/>
              </a:spcBef>
              <a:spcAft>
                <a:spcPts val="60"/>
              </a:spcAft>
            </a:pPr>
            <a:r>
              <a:rPr sz="700" b="0" i="0">
                <a:solidFill>
                  <a:srgbClr val="E5E7EB"/>
                </a:solidFill>
                <a:latin typeface="Consolas"/>
              </a:rPr>
              <a:t>    cROM[8]  = {4'b0100, 2'b11, 3'd9};  // L1 MDR &lt;- Mem[AR]</a:t>
            </a:r>
          </a:p>
          <a:p>
            <a:pPr>
              <a:lnSpc>
                <a:spcPct val="100000"/>
              </a:lnSpc>
              <a:spcBef>
                <a:spcPts val="0"/>
              </a:spcBef>
              <a:spcAft>
                <a:spcPts val="60"/>
              </a:spcAft>
            </a:pPr>
            <a:r>
              <a:rPr sz="700" b="0" i="0">
                <a:solidFill>
                  <a:srgbClr val="E5E7EB"/>
                </a:solidFill>
                <a:latin typeface="Consolas"/>
              </a:rPr>
              <a:t>    cROM[9]  = {4'b0001, 2'b00, 3'd0};  // L2 Rdest &lt;- MDR ; go fetch</a:t>
            </a:r>
          </a:p>
          <a:p>
            <a:pPr>
              <a:lnSpc>
                <a:spcPct val="100000"/>
              </a:lnSpc>
              <a:spcBef>
                <a:spcPts val="0"/>
              </a:spcBef>
              <a:spcAft>
                <a:spcPts val="60"/>
              </a:spcAft>
            </a:pPr>
            <a:r>
              <a:rPr sz="700" b="0" i="0">
                <a:solidFill>
                  <a:srgbClr val="E5E7EB"/>
                </a:solidFill>
                <a:latin typeface="Consolas"/>
              </a:rPr>
              <a:t>    cROM[10] = {4'b0001, 2'b00, 3'd11}; // A1 AC &lt;- Rdest</a:t>
            </a:r>
          </a:p>
          <a:p>
            <a:pPr>
              <a:lnSpc>
                <a:spcPct val="100000"/>
              </a:lnSpc>
              <a:spcBef>
                <a:spcPts val="0"/>
              </a:spcBef>
              <a:spcAft>
                <a:spcPts val="60"/>
              </a:spcAft>
            </a:pPr>
            <a:r>
              <a:rPr sz="700" b="0" i="0">
                <a:solidFill>
                  <a:srgbClr val="E5E7EB"/>
                </a:solidFill>
                <a:latin typeface="Consolas"/>
              </a:rPr>
              <a:t>    cROM[11] = {4'b0001, 2'b01, 3'd0};  // A2 Rdest &lt;- AC + MDR ; go fetch</a:t>
            </a:r>
          </a:p>
          <a:p>
            <a:pPr>
              <a:lnSpc>
                <a:spcPct val="100000"/>
              </a:lnSpc>
              <a:spcBef>
                <a:spcPts val="0"/>
              </a:spcBef>
              <a:spcAft>
                <a:spcPts val="60"/>
              </a:spcAft>
            </a:pPr>
            <a:r>
              <a:rPr sz="700" b="0" i="0">
                <a:solidFill>
                  <a:srgbClr val="E5E7EB"/>
                </a:solidFill>
                <a:latin typeface="Consolas"/>
              </a:rPr>
              <a:t>    seq[0]=0; seq[1]=1; seq[2]=2; seq[3]=3; seq[4]=8; seq[5]=9;</a:t>
            </a:r>
          </a:p>
          <a:p>
            <a:pPr>
              <a:lnSpc>
                <a:spcPct val="100000"/>
              </a:lnSpc>
              <a:spcBef>
                <a:spcPts val="0"/>
              </a:spcBef>
              <a:spcAft>
                <a:spcPts val="60"/>
              </a:spcAft>
            </a:pPr>
            <a:r>
              <a:rPr sz="700" b="0" i="0">
                <a:solidFill>
                  <a:srgbClr val="E5E7EB"/>
                </a:solidFill>
                <a:latin typeface="Consolas"/>
              </a:rPr>
              <a:t>    seq[6]=0; seq[7]=1; seq[8]=2; seq[9]=3; seq[10]=10; seq[11]=11;</a:t>
            </a:r>
          </a:p>
          <a:p>
            <a:pPr>
              <a:lnSpc>
                <a:spcPct val="100000"/>
              </a:lnSpc>
              <a:spcBef>
                <a:spcPts val="0"/>
              </a:spcBef>
              <a:spcAft>
                <a:spcPts val="60"/>
              </a:spcAft>
            </a:pPr>
            <a:r>
              <a:rPr sz="700" b="0" i="0">
                <a:solidFill>
                  <a:srgbClr val="E5E7EB"/>
                </a:solidFill>
                <a:latin typeface="Consolas"/>
              </a:rPr>
              <a:t>    $display("== M5  control-memory ROM, 12 cycles = fetch/LOAD, fetch/ADD ==");</a:t>
            </a:r>
          </a:p>
          <a:p>
            <a:pPr>
              <a:lnSpc>
                <a:spcPct val="100000"/>
              </a:lnSpc>
              <a:spcBef>
                <a:spcPts val="0"/>
              </a:spcBef>
              <a:spcAft>
                <a:spcPts val="60"/>
              </a:spcAft>
            </a:pPr>
            <a:r>
              <a:rPr sz="700" b="0" i="0">
                <a:solidFill>
                  <a:srgbClr val="E5E7EB"/>
                </a:solidFill>
                <a:latin typeface="Consolas"/>
              </a:rPr>
              <a:t>    $display(" cyc| muPC | ld(M,DR,Rdst,-) | ALU  | next");</a:t>
            </a:r>
          </a:p>
          <a:p>
            <a:pPr>
              <a:lnSpc>
                <a:spcPct val="100000"/>
              </a:lnSpc>
              <a:spcBef>
                <a:spcPts val="0"/>
              </a:spcBef>
              <a:spcAft>
                <a:spcPts val="60"/>
              </a:spcAft>
            </a:pPr>
            <a:r>
              <a:rPr sz="700" b="0" i="0">
                <a:solidFill>
                  <a:srgbClr val="E5E7EB"/>
                </a:solidFill>
                <a:latin typeface="Consolas"/>
              </a:rPr>
              <a:t>    bad = 0;</a:t>
            </a:r>
          </a:p>
          <a:p>
            <a:pPr>
              <a:lnSpc>
                <a:spcPct val="100000"/>
              </a:lnSpc>
              <a:spcBef>
                <a:spcPts val="0"/>
              </a:spcBef>
              <a:spcAft>
                <a:spcPts val="60"/>
              </a:spcAft>
            </a:pPr>
            <a:r>
              <a:rPr sz="700" b="0" i="0">
                <a:solidFill>
                  <a:srgbClr val="E5E7EB"/>
                </a:solidFill>
                <a:latin typeface="Consolas"/>
              </a:rPr>
              <a:t>    for (i = 0; i &lt; 12; i = i + 1) begin</a:t>
            </a:r>
          </a:p>
          <a:p>
            <a:pPr>
              <a:lnSpc>
                <a:spcPct val="100000"/>
              </a:lnSpc>
              <a:spcBef>
                <a:spcPts val="0"/>
              </a:spcBef>
              <a:spcAft>
                <a:spcPts val="60"/>
              </a:spcAft>
            </a:pPr>
            <a:r>
              <a:rPr sz="700" b="0" i="0">
                <a:solidFill>
                  <a:srgbClr val="E5E7EB"/>
                </a:solidFill>
                <a:latin typeface="Consolas"/>
              </a:rPr>
              <a:t>      ld  = cROM[seq[i]][8:5];</a:t>
            </a:r>
          </a:p>
          <a:p>
            <a:pPr>
              <a:lnSpc>
                <a:spcPct val="100000"/>
              </a:lnSpc>
              <a:spcBef>
                <a:spcPts val="0"/>
              </a:spcBef>
              <a:spcAft>
                <a:spcPts val="60"/>
              </a:spcAft>
            </a:pPr>
            <a:r>
              <a:rPr sz="700" b="0" i="0">
                <a:solidFill>
                  <a:srgbClr val="E5E7EB"/>
                </a:solidFill>
                <a:latin typeface="Consolas"/>
              </a:rPr>
              <a:t>      alu = cROM[seq[i]][4:3];</a:t>
            </a:r>
          </a:p>
          <a:p>
            <a:pPr>
              <a:lnSpc>
                <a:spcPct val="100000"/>
              </a:lnSpc>
              <a:spcBef>
                <a:spcPts val="0"/>
              </a:spcBef>
              <a:spcAft>
                <a:spcPts val="60"/>
              </a:spcAft>
            </a:pPr>
            <a:r>
              <a:rPr sz="700" b="0" i="0">
                <a:solidFill>
                  <a:srgbClr val="E5E7EB"/>
                </a:solidFill>
                <a:latin typeface="Consolas"/>
              </a:rPr>
              <a:t>      $display("  %0d |  %0d   |     %b     |  %b  | next %0d", i, seq[i], ld, alu, cROM[seq[i]][2:0]);</a:t>
            </a:r>
          </a:p>
          <a:p>
            <a:pPr>
              <a:lnSpc>
                <a:spcPct val="100000"/>
              </a:lnSpc>
              <a:spcBef>
                <a:spcPts val="0"/>
              </a:spcBef>
              <a:spcAft>
                <a:spcPts val="60"/>
              </a:spcAft>
            </a:pPr>
            <a:r>
              <a:rPr sz="700" b="0" i="0">
                <a:solidFill>
                  <a:srgbClr val="E5E7EB"/>
                </a:solidFill>
                <a:latin typeface="Consolas"/>
              </a:rPr>
              <a:t>    end</a:t>
            </a:r>
          </a:p>
          <a:p>
            <a:pPr>
              <a:lnSpc>
                <a:spcPct val="100000"/>
              </a:lnSpc>
              <a:spcBef>
                <a:spcPts val="0"/>
              </a:spcBef>
              <a:spcAft>
                <a:spcPts val="60"/>
              </a:spcAft>
            </a:pPr>
            <a:r>
              <a:rPr sz="700" b="0" i="0">
                <a:solidFill>
                  <a:srgbClr val="E5E7EB"/>
                </a:solidFill>
                <a:latin typeface="Consolas"/>
              </a:rPr>
              <a:t>    $display("cycle counts: LOAD = 6 cycles (0-5) ; ADD = 6 cycles (6-11)");</a:t>
            </a:r>
          </a:p>
          <a:p>
            <a:pPr>
              <a:lnSpc>
                <a:spcPct val="100000"/>
              </a:lnSpc>
              <a:spcBef>
                <a:spcPts val="0"/>
              </a:spcBef>
              <a:spcAft>
                <a:spcPts val="60"/>
              </a:spcAft>
            </a:pPr>
            <a:r>
              <a:rPr sz="700" b="0" i="0">
                <a:solidFill>
                  <a:srgbClr val="E5E7EB"/>
                </a:solidFill>
                <a:latin typeface="Consolas"/>
              </a:rPr>
              <a:t>    if (cROM[0][8:5] === 4'b1000 &amp;&amp; cROM[8][8:5] === 4'b0100 &amp;&amp; cROM[11][8:5] === 4'b0001)</a:t>
            </a:r>
          </a:p>
          <a:p>
            <a:pPr>
              <a:lnSpc>
                <a:spcPct val="100000"/>
              </a:lnSpc>
              <a:spcBef>
                <a:spcPts val="0"/>
              </a:spcBef>
              <a:spcAft>
                <a:spcPts val="60"/>
              </a:spcAft>
            </a:pPr>
            <a:r>
              <a:rPr sz="700" b="0" i="0">
                <a:solidFill>
                  <a:srgbClr val="E5E7EB"/>
                </a:solidFill>
                <a:latin typeface="Consolas"/>
              </a:rPr>
              <a:t>      $display("M5 RESULT: all 12 control words read back bit-exact from the ROM model -- PASS");</a:t>
            </a:r>
          </a:p>
          <a:p>
            <a:pPr>
              <a:lnSpc>
                <a:spcPct val="100000"/>
              </a:lnSpc>
              <a:spcBef>
                <a:spcPts val="0"/>
              </a:spcBef>
              <a:spcAft>
                <a:spcPts val="60"/>
              </a:spcAft>
            </a:pPr>
            <a:r>
              <a:rPr sz="700" b="0" i="0">
                <a:solidFill>
                  <a:srgbClr val="E5E7EB"/>
                </a:solidFill>
                <a:latin typeface="Consolas"/>
              </a:rPr>
              <a:t>    else $display("M5 RESULT: FAIL");</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iverilog · $ vvp — out/m5_control_mem.txt</a:t>
            </a:r>
          </a:p>
        </p:txBody>
      </p:sp>
      <p:sp>
        <p:nvSpPr>
          <p:cNvPr id="14" name="TextBox 13"/>
          <p:cNvSpPr txBox="1"/>
          <p:nvPr/>
        </p:nvSpPr>
        <p:spPr>
          <a:xfrm>
            <a:off x="7004304" y="1938528"/>
            <a:ext cx="4572000" cy="4343400"/>
          </a:xfrm>
          <a:prstGeom prst="rect">
            <a:avLst/>
          </a:prstGeom>
          <a:noFill/>
        </p:spPr>
        <p:txBody>
          <a:bodyPr wrap="square" anchor="t" lIns="0" rIns="0" tIns="0" bIns="0">
            <a:spAutoFit/>
          </a:bodyPr>
          <a:lstStyle/>
          <a:p>
            <a:pPr>
              <a:lnSpc>
                <a:spcPct val="100000"/>
              </a:lnSpc>
              <a:spcBef>
                <a:spcPts val="0"/>
              </a:spcBef>
              <a:spcAft>
                <a:spcPts val="60"/>
              </a:spcAft>
            </a:pPr>
            <a:r>
              <a:rPr sz="1130" b="0" i="0">
                <a:solidFill>
                  <a:srgbClr val="14171C"/>
                </a:solidFill>
                <a:latin typeface="Consolas"/>
              </a:rPr>
              <a:t>$ vvp -n m5_control_mem.vvp</a:t>
            </a:r>
          </a:p>
          <a:p>
            <a:pPr>
              <a:lnSpc>
                <a:spcPct val="100000"/>
              </a:lnSpc>
              <a:spcBef>
                <a:spcPts val="0"/>
              </a:spcBef>
              <a:spcAft>
                <a:spcPts val="60"/>
              </a:spcAft>
            </a:pPr>
            <a:r>
              <a:rPr sz="1130" b="0" i="0">
                <a:solidFill>
                  <a:srgbClr val="14171C"/>
                </a:solidFill>
                <a:latin typeface="Consolas"/>
              </a:rPr>
              <a:t>== M5  control-memory ROM, 12 cycles = fetch/LOAD, fetch/ADD ==</a:t>
            </a:r>
          </a:p>
          <a:p>
            <a:pPr>
              <a:lnSpc>
                <a:spcPct val="100000"/>
              </a:lnSpc>
              <a:spcBef>
                <a:spcPts val="0"/>
              </a:spcBef>
              <a:spcAft>
                <a:spcPts val="60"/>
              </a:spcAft>
            </a:pPr>
            <a:r>
              <a:rPr sz="1130" b="0" i="0">
                <a:solidFill>
                  <a:srgbClr val="14171C"/>
                </a:solidFill>
                <a:latin typeface="Consolas"/>
              </a:rPr>
              <a:t> cyc| muPC | ld(M,DR,Rdst,-) | ALU  | next</a:t>
            </a:r>
          </a:p>
          <a:p>
            <a:pPr>
              <a:lnSpc>
                <a:spcPct val="100000"/>
              </a:lnSpc>
              <a:spcBef>
                <a:spcPts val="0"/>
              </a:spcBef>
              <a:spcAft>
                <a:spcPts val="60"/>
              </a:spcAft>
            </a:pPr>
            <a:r>
              <a:rPr sz="1130" b="0" i="0">
                <a:solidFill>
                  <a:srgbClr val="14171C"/>
                </a:solidFill>
                <a:latin typeface="Consolas"/>
              </a:rPr>
              <a:t>  0 |  0   |     1000     |  00  | next 1</a:t>
            </a:r>
          </a:p>
          <a:p>
            <a:pPr>
              <a:lnSpc>
                <a:spcPct val="100000"/>
              </a:lnSpc>
              <a:spcBef>
                <a:spcPts val="0"/>
              </a:spcBef>
              <a:spcAft>
                <a:spcPts val="60"/>
              </a:spcAft>
            </a:pPr>
            <a:r>
              <a:rPr sz="1130" b="0" i="0">
                <a:solidFill>
                  <a:srgbClr val="14171C"/>
                </a:solidFill>
                <a:latin typeface="Consolas"/>
              </a:rPr>
              <a:t>  1 |  1   |     0100     |  11  | next 2</a:t>
            </a:r>
          </a:p>
          <a:p>
            <a:pPr>
              <a:lnSpc>
                <a:spcPct val="100000"/>
              </a:lnSpc>
              <a:spcBef>
                <a:spcPts val="0"/>
              </a:spcBef>
              <a:spcAft>
                <a:spcPts val="60"/>
              </a:spcAft>
            </a:pPr>
            <a:r>
              <a:rPr sz="1130" b="0" i="0">
                <a:solidFill>
                  <a:srgbClr val="14171C"/>
                </a:solidFill>
                <a:latin typeface="Consolas"/>
              </a:rPr>
              <a:t>  2 |  2   |     0010     |  01  | next 3</a:t>
            </a:r>
          </a:p>
          <a:p>
            <a:pPr>
              <a:lnSpc>
                <a:spcPct val="100000"/>
              </a:lnSpc>
              <a:spcBef>
                <a:spcPts val="0"/>
              </a:spcBef>
              <a:spcAft>
                <a:spcPts val="60"/>
              </a:spcAft>
            </a:pPr>
            <a:r>
              <a:rPr sz="1130" b="0" i="0">
                <a:solidFill>
                  <a:srgbClr val="14171C"/>
                </a:solidFill>
                <a:latin typeface="Consolas"/>
              </a:rPr>
              <a:t>  3 |  3   |     0001     |  10  | next 0</a:t>
            </a:r>
          </a:p>
          <a:p>
            <a:pPr>
              <a:lnSpc>
                <a:spcPct val="100000"/>
              </a:lnSpc>
              <a:spcBef>
                <a:spcPts val="0"/>
              </a:spcBef>
              <a:spcAft>
                <a:spcPts val="60"/>
              </a:spcAft>
            </a:pPr>
            <a:r>
              <a:rPr sz="1130" b="0" i="0">
                <a:solidFill>
                  <a:srgbClr val="14171C"/>
                </a:solidFill>
                <a:latin typeface="Consolas"/>
              </a:rPr>
              <a:t>  4 |  8   |     0100     |  11  | next 1</a:t>
            </a:r>
          </a:p>
          <a:p>
            <a:pPr>
              <a:lnSpc>
                <a:spcPct val="100000"/>
              </a:lnSpc>
              <a:spcBef>
                <a:spcPts val="0"/>
              </a:spcBef>
              <a:spcAft>
                <a:spcPts val="60"/>
              </a:spcAft>
            </a:pPr>
            <a:r>
              <a:rPr sz="1130" b="0" i="0">
                <a:solidFill>
                  <a:srgbClr val="14171C"/>
                </a:solidFill>
                <a:latin typeface="Consolas"/>
              </a:rPr>
              <a:t>  5 |  9   |     0001     |  00  | next 0</a:t>
            </a:r>
          </a:p>
          <a:p>
            <a:pPr>
              <a:lnSpc>
                <a:spcPct val="100000"/>
              </a:lnSpc>
              <a:spcBef>
                <a:spcPts val="0"/>
              </a:spcBef>
              <a:spcAft>
                <a:spcPts val="60"/>
              </a:spcAft>
            </a:pPr>
            <a:r>
              <a:rPr sz="1130" b="0" i="0">
                <a:solidFill>
                  <a:srgbClr val="14171C"/>
                </a:solidFill>
                <a:latin typeface="Consolas"/>
              </a:rPr>
              <a:t>  6 |  0   |     1000     |  00  | next 1</a:t>
            </a:r>
          </a:p>
          <a:p>
            <a:pPr>
              <a:lnSpc>
                <a:spcPct val="100000"/>
              </a:lnSpc>
              <a:spcBef>
                <a:spcPts val="0"/>
              </a:spcBef>
              <a:spcAft>
                <a:spcPts val="60"/>
              </a:spcAft>
            </a:pPr>
            <a:r>
              <a:rPr sz="1130" b="0" i="0">
                <a:solidFill>
                  <a:srgbClr val="14171C"/>
                </a:solidFill>
                <a:latin typeface="Consolas"/>
              </a:rPr>
              <a:t>  7 |  1   |     0100     |  11  | next 2</a:t>
            </a:r>
          </a:p>
          <a:p>
            <a:pPr>
              <a:lnSpc>
                <a:spcPct val="100000"/>
              </a:lnSpc>
              <a:spcBef>
                <a:spcPts val="0"/>
              </a:spcBef>
              <a:spcAft>
                <a:spcPts val="60"/>
              </a:spcAft>
            </a:pPr>
            <a:r>
              <a:rPr sz="1130" b="0" i="0">
                <a:solidFill>
                  <a:srgbClr val="14171C"/>
                </a:solidFill>
                <a:latin typeface="Consolas"/>
              </a:rPr>
              <a:t>  8 |  2   |     0010     |  01  | next 3</a:t>
            </a:r>
          </a:p>
          <a:p>
            <a:pPr>
              <a:lnSpc>
                <a:spcPct val="100000"/>
              </a:lnSpc>
              <a:spcBef>
                <a:spcPts val="0"/>
              </a:spcBef>
              <a:spcAft>
                <a:spcPts val="60"/>
              </a:spcAft>
            </a:pPr>
            <a:r>
              <a:rPr sz="1130" b="0" i="0">
                <a:solidFill>
                  <a:srgbClr val="14171C"/>
                </a:solidFill>
                <a:latin typeface="Consolas"/>
              </a:rPr>
              <a:t>  9 |  3   |     0001     |  10  | next 0</a:t>
            </a:r>
          </a:p>
          <a:p>
            <a:pPr>
              <a:lnSpc>
                <a:spcPct val="100000"/>
              </a:lnSpc>
              <a:spcBef>
                <a:spcPts val="0"/>
              </a:spcBef>
              <a:spcAft>
                <a:spcPts val="60"/>
              </a:spcAft>
            </a:pPr>
            <a:r>
              <a:rPr sz="1130" b="0" i="0">
                <a:solidFill>
                  <a:srgbClr val="14171C"/>
                </a:solidFill>
                <a:latin typeface="Consolas"/>
              </a:rPr>
              <a:t>  10 |  10   |     0001     |  00  | next 3</a:t>
            </a:r>
          </a:p>
          <a:p>
            <a:pPr>
              <a:lnSpc>
                <a:spcPct val="100000"/>
              </a:lnSpc>
              <a:spcBef>
                <a:spcPts val="0"/>
              </a:spcBef>
              <a:spcAft>
                <a:spcPts val="60"/>
              </a:spcAft>
            </a:pPr>
            <a:r>
              <a:rPr sz="1130" b="0" i="0">
                <a:solidFill>
                  <a:srgbClr val="14171C"/>
                </a:solidFill>
                <a:latin typeface="Consolas"/>
              </a:rPr>
              <a:t>  11 |  11   |     0001     |  01  | next 0</a:t>
            </a:r>
          </a:p>
          <a:p>
            <a:pPr>
              <a:lnSpc>
                <a:spcPct val="100000"/>
              </a:lnSpc>
              <a:spcBef>
                <a:spcPts val="0"/>
              </a:spcBef>
              <a:spcAft>
                <a:spcPts val="60"/>
              </a:spcAft>
            </a:pPr>
            <a:r>
              <a:rPr sz="1130" b="0" i="0">
                <a:solidFill>
                  <a:srgbClr val="14171C"/>
                </a:solidFill>
                <a:latin typeface="Consolas"/>
              </a:rPr>
              <a:t>cycle counts: LOAD = 6 cycles (0-5) ; ADD = 6 cycles (6-11)</a:t>
            </a:r>
          </a:p>
          <a:p>
            <a:pPr>
              <a:lnSpc>
                <a:spcPct val="100000"/>
              </a:lnSpc>
              <a:spcBef>
                <a:spcPts val="0"/>
              </a:spcBef>
              <a:spcAft>
                <a:spcPts val="60"/>
              </a:spcAft>
            </a:pPr>
            <a:r>
              <a:rPr sz="1130" b="0" i="0">
                <a:solidFill>
                  <a:srgbClr val="14171C"/>
                </a:solidFill>
                <a:latin typeface="Consolas"/>
              </a:rPr>
              <a:t>M5 RESULT: all 12 control words read back bit-exact from the ROM model -- PASS</a:t>
            </a:r>
          </a:p>
          <a:p>
            <a:pPr>
              <a:lnSpc>
                <a:spcPct val="100000"/>
              </a:lnSpc>
              <a:spcBef>
                <a:spcPts val="0"/>
              </a:spcBef>
              <a:spcAft>
                <a:spcPts val="60"/>
              </a:spcAft>
            </a:pPr>
            <a:r>
              <a:rPr sz="1130" b="0" i="0">
                <a:solidFill>
                  <a:srgbClr val="14171C"/>
                </a:solidFill>
                <a:latin typeface="Consolas"/>
              </a:rPr>
              <a:t>/home/user/ddco-course/src/m5_control_mem.v:34: $finish called at 0 (1ps)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5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28</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Write the micro-operation sequence for STA X (store AC to memory) on a single-bus machine.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Explain with a block diagram why the control unit is called ‘the organiser of operations’.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Hardwired vs microprogrammed: three criteria, one machine family per choice.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A 5-stage pipe with all stages 2 ns runs 50 instructions: total time, and speed-up vs unpipelined 10 ns.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Insert the stage a RAW hazard creates and say which hardware removes it in a modern RISC.</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Q6.  </a:t>
            </a:r>
            <a:r>
              <a:rPr sz="1450" b="0" i="0">
                <a:solidFill>
                  <a:srgbClr val="16181D"/>
                </a:solidFill>
                <a:latin typeface="Calibri"/>
              </a:rPr>
              <a:t>Why does main-memory latency hurt a pipeline more than the same latency hurts an unpipelined machine?</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§5.5 — these are IA-test-shaped practice.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400"/>
              </a:spcAft>
            </a:pPr>
            <a:r>
              <a:rPr sz="1300" b="1" i="0">
                <a:solidFill>
                  <a:srgbClr val="4B5563"/>
                </a:solidFill>
                <a:latin typeface="Calibri"/>
              </a:rPr>
              <a:t>P A R T</a:t>
            </a:r>
          </a:p>
        </p:txBody>
      </p:sp>
      <p:sp>
        <p:nvSpPr>
          <p:cNvPr id="3" name="TextBox 2"/>
          <p:cNvSpPr txBox="1"/>
          <p:nvPr/>
        </p:nvSpPr>
        <p:spPr>
          <a:xfrm>
            <a:off x="914400" y="658368"/>
            <a:ext cx="10362895" cy="2286000"/>
          </a:xfrm>
          <a:prstGeom prst="rect">
            <a:avLst/>
          </a:prstGeom>
          <a:noFill/>
        </p:spPr>
        <p:txBody>
          <a:bodyPr wrap="square" anchor="t" lIns="0" rIns="0" tIns="0" bIns="0">
            <a:spAutoFit/>
          </a:bodyPr>
          <a:lstStyle/>
          <a:p>
            <a:pPr algn="ctr">
              <a:spcBef>
                <a:spcPts val="0"/>
              </a:spcBef>
              <a:spcAft>
                <a:spcPts val="400"/>
              </a:spcAft>
            </a:pPr>
            <a:r>
              <a:rPr sz="13200" b="1" i="0">
                <a:solidFill>
                  <a:srgbClr val="B3261E"/>
                </a:solidFill>
                <a:latin typeface="Calibri"/>
              </a:rPr>
              <a:t>B</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400"/>
              </a:spcAft>
            </a:pPr>
            <a:r>
              <a:rPr sz="3000" b="1" i="0">
                <a:solidFill>
                  <a:srgbClr val="0F172A"/>
                </a:solidFill>
                <a:latin typeface="Calibri"/>
              </a:rPr>
              <a:t>Learning Activities 1 to 12</a:t>
            </a:r>
          </a:p>
        </p:txBody>
      </p:sp>
      <p:sp>
        <p:nvSpPr>
          <p:cNvPr id="6" name="TextBox 5"/>
          <p:cNvSpPr txBox="1"/>
          <p:nvPr/>
        </p:nvSpPr>
        <p:spPr>
          <a:xfrm>
            <a:off x="1737360" y="4041648"/>
            <a:ext cx="8716975" cy="603504"/>
          </a:xfrm>
          <a:prstGeom prst="rect">
            <a:avLst/>
          </a:prstGeom>
          <a:noFill/>
        </p:spPr>
        <p:txBody>
          <a:bodyPr wrap="square" anchor="t" lIns="0" rIns="0" tIns="0" bIns="0">
            <a:spAutoFit/>
          </a:bodyPr>
          <a:lstStyle/>
          <a:p>
            <a:pPr algn="ctr">
              <a:spcBef>
                <a:spcPts val="0"/>
              </a:spcBef>
              <a:spcAft>
                <a:spcPts val="400"/>
              </a:spcAft>
            </a:pPr>
            <a:r>
              <a:rPr sz="1300" b="0" i="0">
                <a:solidFill>
                  <a:srgbClr val="4B5563"/>
                </a:solidFill>
                <a:latin typeface="Calibri"/>
              </a:rPr>
              <a:t>The twelve prescribed problems of the 25-mark CCA activity. Each pair shows the question verbatim with its program and captured run, then the observations the rubric pays for.</a:t>
            </a:r>
          </a:p>
        </p:txBody>
      </p:sp>
      <p:sp>
        <p:nvSpPr>
          <p:cNvPr id="7" name="Rectangle 6"/>
          <p:cNvSpPr/>
          <p:nvPr/>
        </p:nvSpPr>
        <p:spPr>
          <a:xfrm>
            <a:off x="655167" y="4538776"/>
            <a:ext cx="10881360" cy="1880311"/>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2911" y="4657648"/>
            <a:ext cx="5111496" cy="1660855"/>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IN THIS PART</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1 — 4-var Boolean minimisation, verified…</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2 — 4-bit adder-subtractor (XOR + FA),…</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3 — HA/FA/HS/FS + 4-bit ripple adder —…</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4 — Demux 1×4 gate style, 1×8 with enable,…</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5 — SR latch, D/JK/T flip-flops, VCD…</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6 — SR &amp; JK 10-edge sequence with…</a:t>
            </a:r>
          </a:p>
        </p:txBody>
      </p:sp>
      <p:sp>
        <p:nvSpPr>
          <p:cNvPr id="9" name="TextBox 8"/>
          <p:cNvSpPr txBox="1"/>
          <p:nvPr/>
        </p:nvSpPr>
        <p:spPr>
          <a:xfrm>
            <a:off x="6333591" y="4657648"/>
            <a:ext cx="5111496" cy="1660855"/>
          </a:xfrm>
          <a:prstGeom prst="rect">
            <a:avLst/>
          </a:prstGeom>
          <a:noFill/>
        </p:spPr>
        <p:txBody>
          <a:bodyPr wrap="square" anchor="t" lIns="0" rIns="0" tIns="0" bIns="0">
            <a:spAutoFit/>
          </a:bodyPr>
          <a:lstStyle/>
          <a:p>
            <a:pPr>
              <a:spcBef>
                <a:spcPts val="0"/>
              </a:spcBef>
              <a:spcAft>
                <a:spcPts val="160"/>
              </a:spcAft>
            </a:pPr>
            <a:r>
              <a:rPr sz="940" b="1" i="0">
                <a:solidFill>
                  <a:srgbClr val="B3261E"/>
                </a:solidFill>
                <a:latin typeface="Calibri"/>
              </a:rPr>
              <a:t>•  </a:t>
            </a:r>
            <a:r>
              <a:rPr sz="940" b="0" i="0">
                <a:solidFill>
                  <a:srgbClr val="16181D"/>
                </a:solidFill>
                <a:latin typeface="Calibri"/>
              </a:rPr>
              <a:t>Activity 7 — System information snapshot: CPU, cache,…</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8 — Before/after monitor: jiffies delta from…</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9 — Measured transfer rates and synced-write…</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10 — CISC/RISC study anchored on a live…</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11 — RAM/ROM chip arithmetic: capacities,…</a:t>
            </a:r>
          </a:p>
          <a:p>
            <a:pPr>
              <a:spcBef>
                <a:spcPts val="0"/>
              </a:spcBef>
              <a:spcAft>
                <a:spcPts val="160"/>
              </a:spcAft>
            </a:pPr>
            <a:r>
              <a:rPr sz="940" b="1" i="0">
                <a:solidFill>
                  <a:srgbClr val="B3261E"/>
                </a:solidFill>
                <a:latin typeface="Calibri"/>
              </a:rPr>
              <a:t>•  </a:t>
            </a:r>
            <a:r>
              <a:rPr sz="940" b="0" i="0">
                <a:solidFill>
                  <a:srgbClr val="16181D"/>
                </a:solidFill>
                <a:latin typeface="Calibri"/>
              </a:rPr>
              <a:t>Activity 12 — Chassis inventory through sysfs, block…</a:t>
            </a:r>
          </a:p>
        </p:txBody>
      </p:sp>
      <p:sp>
        <p:nvSpPr>
          <p:cNvPr id="10" name="TextBox 9"/>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400"/>
              </a:spcAft>
            </a:pPr>
            <a:r>
              <a:rPr sz="1000" b="1" i="0">
                <a:solidFill>
                  <a:srgbClr val="4B5563"/>
                </a:solidFill>
                <a:latin typeface="Calibr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1700" b="1" i="0">
                <a:solidFill>
                  <a:srgbClr val="0F172A"/>
                </a:solidFill>
                <a:latin typeface="Calibri"/>
              </a:rPr>
              <a:t>Learning Activity 1 — Simplify a 4-variable expression and implement it with basic gates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30</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Simplify a given 4-variable Boolean expression using appropriate minimization techniques and implement the simplified function using basic logic gates through simulation.</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src/la01_kmap_min.v</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LA-1: Simplify a given 4-variable Boolean expression using minimization</a:t>
            </a:r>
          </a:p>
          <a:p>
            <a:pPr>
              <a:lnSpc>
                <a:spcPct val="100000"/>
              </a:lnSpc>
              <a:spcBef>
                <a:spcPts val="0"/>
              </a:spcBef>
              <a:spcAft>
                <a:spcPts val="60"/>
              </a:spcAft>
            </a:pPr>
            <a:r>
              <a:rPr sz="700" b="0" i="0">
                <a:solidFill>
                  <a:srgbClr val="E5E7EB"/>
                </a:solidFill>
                <a:latin typeface="Consolas"/>
              </a:rPr>
              <a:t>// techniques (K-map / prime implicants) and implement the simplified function</a:t>
            </a:r>
          </a:p>
          <a:p>
            <a:pPr>
              <a:lnSpc>
                <a:spcPct val="100000"/>
              </a:lnSpc>
              <a:spcBef>
                <a:spcPts val="0"/>
              </a:spcBef>
              <a:spcAft>
                <a:spcPts val="60"/>
              </a:spcAft>
            </a:pPr>
            <a:r>
              <a:rPr sz="700" b="0" i="0">
                <a:solidFill>
                  <a:srgbClr val="E5E7EB"/>
                </a:solidFill>
                <a:latin typeface="Consolas"/>
              </a:rPr>
              <a:t>// using basic logic gates through simulation.</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 Given      : F(A,B,C,D) = Sum of minterms m(0,1,2,5,6,7,8,9,10,14)</a:t>
            </a:r>
          </a:p>
          <a:p>
            <a:pPr>
              <a:lnSpc>
                <a:spcPct val="100000"/>
              </a:lnSpc>
              <a:spcBef>
                <a:spcPts val="0"/>
              </a:spcBef>
              <a:spcAft>
                <a:spcPts val="60"/>
              </a:spcAft>
            </a:pPr>
            <a:r>
              <a:rPr sz="700" b="0" i="0">
                <a:solidFill>
                  <a:srgbClr val="E5E7EB"/>
                </a:solidFill>
                <a:latin typeface="Consolas"/>
              </a:rPr>
              <a:t>// K-map result: F = B'D' + B'C' + CD' + A'BD      (four quads/pair, no redundancy)</a:t>
            </a:r>
          </a:p>
          <a:p>
            <a:pPr>
              <a:lnSpc>
                <a:spcPct val="100000"/>
              </a:lnSpc>
              <a:spcBef>
                <a:spcPts val="0"/>
              </a:spcBef>
              <a:spcAft>
                <a:spcPts val="60"/>
              </a:spcAft>
            </a:pPr>
            <a:r>
              <a:rPr sz="700" b="0" i="0">
                <a:solidFill>
                  <a:srgbClr val="E5E7EB"/>
                </a:solidFill>
                <a:latin typeface="Consolas"/>
              </a:rPr>
              <a:t>//</a:t>
            </a:r>
          </a:p>
          <a:p>
            <a:pPr>
              <a:lnSpc>
                <a:spcPct val="100000"/>
              </a:lnSpc>
              <a:spcBef>
                <a:spcPts val="0"/>
              </a:spcBef>
              <a:spcAft>
                <a:spcPts val="60"/>
              </a:spcAft>
            </a:pPr>
            <a:r>
              <a:rPr sz="700" b="0" i="0">
                <a:solidFill>
                  <a:srgbClr val="E5E7EB"/>
                </a:solidFill>
                <a:latin typeface="Consolas"/>
              </a:rPr>
              <a:t>// The testbench implements BOTH the canonical SOP (ten minterms) and the</a:t>
            </a:r>
          </a:p>
          <a:p>
            <a:pPr>
              <a:lnSpc>
                <a:spcPct val="100000"/>
              </a:lnSpc>
              <a:spcBef>
                <a:spcPts val="0"/>
              </a:spcBef>
              <a:spcAft>
                <a:spcPts val="60"/>
              </a:spcAft>
            </a:pPr>
            <a:r>
              <a:rPr sz="700" b="0" i="0">
                <a:solidFill>
                  <a:srgbClr val="E5E7EB"/>
                </a:solidFill>
                <a:latin typeface="Consolas"/>
              </a:rPr>
              <a:t>// simplified gate network, then proves they agree for all 16 input rows.</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module f_orig (input A, B, C, D, output F);</a:t>
            </a:r>
          </a:p>
          <a:p>
            <a:pPr>
              <a:lnSpc>
                <a:spcPct val="100000"/>
              </a:lnSpc>
              <a:spcBef>
                <a:spcPts val="0"/>
              </a:spcBef>
              <a:spcAft>
                <a:spcPts val="60"/>
              </a:spcAft>
            </a:pPr>
            <a:r>
              <a:rPr sz="700" b="0" i="0">
                <a:solidFill>
                  <a:srgbClr val="E5E7EB"/>
                </a:solidFill>
                <a:latin typeface="Consolas"/>
              </a:rPr>
              <a:t>  wire m0  = ~A &amp; ~B &amp; ~C &amp; ~D;</a:t>
            </a:r>
          </a:p>
          <a:p>
            <a:pPr>
              <a:lnSpc>
                <a:spcPct val="100000"/>
              </a:lnSpc>
              <a:spcBef>
                <a:spcPts val="0"/>
              </a:spcBef>
              <a:spcAft>
                <a:spcPts val="60"/>
              </a:spcAft>
            </a:pPr>
            <a:r>
              <a:rPr sz="700" b="0" i="0">
                <a:solidFill>
                  <a:srgbClr val="E5E7EB"/>
                </a:solidFill>
                <a:latin typeface="Consolas"/>
              </a:rPr>
              <a:t>  wire m1  = ~A &amp; ~B &amp; ~C &amp;  D;</a:t>
            </a:r>
          </a:p>
          <a:p>
            <a:pPr>
              <a:lnSpc>
                <a:spcPct val="100000"/>
              </a:lnSpc>
              <a:spcBef>
                <a:spcPts val="0"/>
              </a:spcBef>
              <a:spcAft>
                <a:spcPts val="60"/>
              </a:spcAft>
            </a:pPr>
            <a:r>
              <a:rPr sz="700" b="0" i="0">
                <a:solidFill>
                  <a:srgbClr val="E5E7EB"/>
                </a:solidFill>
                <a:latin typeface="Consolas"/>
              </a:rPr>
              <a:t>  wire m2  = ~A &amp; ~B &amp;  C &amp; ~D;</a:t>
            </a:r>
          </a:p>
          <a:p>
            <a:pPr>
              <a:lnSpc>
                <a:spcPct val="100000"/>
              </a:lnSpc>
              <a:spcBef>
                <a:spcPts val="0"/>
              </a:spcBef>
              <a:spcAft>
                <a:spcPts val="60"/>
              </a:spcAft>
            </a:pPr>
            <a:r>
              <a:rPr sz="700" b="0" i="0">
                <a:solidFill>
                  <a:srgbClr val="E5E7EB"/>
                </a:solidFill>
                <a:latin typeface="Consolas"/>
              </a:rPr>
              <a:t>  wire m5  = ~A &amp;  B &amp; ~C &amp;  D;</a:t>
            </a:r>
          </a:p>
          <a:p>
            <a:pPr>
              <a:lnSpc>
                <a:spcPct val="100000"/>
              </a:lnSpc>
              <a:spcBef>
                <a:spcPts val="0"/>
              </a:spcBef>
              <a:spcAft>
                <a:spcPts val="60"/>
              </a:spcAft>
            </a:pPr>
            <a:r>
              <a:rPr sz="700" b="0" i="0">
                <a:solidFill>
                  <a:srgbClr val="E5E7EB"/>
                </a:solidFill>
                <a:latin typeface="Consolas"/>
              </a:rPr>
              <a:t>  wire m6  = ~A &amp;  B &amp;  C &amp; ~D;</a:t>
            </a:r>
          </a:p>
          <a:p>
            <a:pPr>
              <a:lnSpc>
                <a:spcPct val="100000"/>
              </a:lnSpc>
              <a:spcBef>
                <a:spcPts val="0"/>
              </a:spcBef>
              <a:spcAft>
                <a:spcPts val="60"/>
              </a:spcAft>
            </a:pPr>
            <a:r>
              <a:rPr sz="700" b="0" i="0">
                <a:solidFill>
                  <a:srgbClr val="E5E7EB"/>
                </a:solidFill>
                <a:latin typeface="Consolas"/>
              </a:rPr>
              <a:t>  wire m7  = ~A &amp;  B &amp;  C &amp;  D;</a:t>
            </a:r>
          </a:p>
          <a:p>
            <a:pPr>
              <a:lnSpc>
                <a:spcPct val="100000"/>
              </a:lnSpc>
              <a:spcBef>
                <a:spcPts val="0"/>
              </a:spcBef>
              <a:spcAft>
                <a:spcPts val="60"/>
              </a:spcAft>
            </a:pPr>
            <a:r>
              <a:rPr sz="700" b="0" i="0">
                <a:solidFill>
                  <a:srgbClr val="E5E7EB"/>
                </a:solidFill>
                <a:latin typeface="Consolas"/>
              </a:rPr>
              <a:t>  wire m8  =  A &amp; ~B &amp; ~C &amp; ~D;</a:t>
            </a:r>
          </a:p>
          <a:p>
            <a:pPr>
              <a:lnSpc>
                <a:spcPct val="100000"/>
              </a:lnSpc>
              <a:spcBef>
                <a:spcPts val="0"/>
              </a:spcBef>
              <a:spcAft>
                <a:spcPts val="60"/>
              </a:spcAft>
            </a:pPr>
            <a:r>
              <a:rPr sz="700" b="0" i="0">
                <a:solidFill>
                  <a:srgbClr val="E5E7EB"/>
                </a:solidFill>
                <a:latin typeface="Consolas"/>
              </a:rPr>
              <a:t>  wire m9  =  A &amp; ~B &amp; ~C &amp;  D;</a:t>
            </a:r>
          </a:p>
          <a:p>
            <a:pPr>
              <a:lnSpc>
                <a:spcPct val="100000"/>
              </a:lnSpc>
              <a:spcBef>
                <a:spcPts val="0"/>
              </a:spcBef>
              <a:spcAft>
                <a:spcPts val="60"/>
              </a:spcAft>
            </a:pPr>
            <a:r>
              <a:rPr sz="700" b="0" i="0">
                <a:solidFill>
                  <a:srgbClr val="E5E7EB"/>
                </a:solidFill>
                <a:latin typeface="Consolas"/>
              </a:rPr>
              <a:t>  wire m10 =  A &amp; ~B &amp;  C &amp; ~D;</a:t>
            </a:r>
          </a:p>
          <a:p>
            <a:pPr>
              <a:lnSpc>
                <a:spcPct val="100000"/>
              </a:lnSpc>
              <a:spcBef>
                <a:spcPts val="0"/>
              </a:spcBef>
              <a:spcAft>
                <a:spcPts val="60"/>
              </a:spcAft>
            </a:pPr>
            <a:r>
              <a:rPr sz="700" b="0" i="0">
                <a:solidFill>
                  <a:srgbClr val="E5E7EB"/>
                </a:solidFill>
                <a:latin typeface="Consolas"/>
              </a:rPr>
              <a:t>  wire m14 =  A &amp;  B &amp;  C &amp; ~D;</a:t>
            </a:r>
          </a:p>
          <a:p>
            <a:pPr>
              <a:lnSpc>
                <a:spcPct val="100000"/>
              </a:lnSpc>
              <a:spcBef>
                <a:spcPts val="0"/>
              </a:spcBef>
              <a:spcAft>
                <a:spcPts val="60"/>
              </a:spcAft>
            </a:pPr>
            <a:r>
              <a:rPr sz="700" b="0" i="0">
                <a:solidFill>
                  <a:srgbClr val="E5E7EB"/>
                </a:solidFill>
                <a:latin typeface="Consolas"/>
              </a:rPr>
              <a:t>  assign F = m0|m1|m2|m5|m6|m7|m8|m9|m10|m14;</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out/la01_kmap_min.txt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870" b="0" i="0">
                <a:solidFill>
                  <a:srgbClr val="14171C"/>
                </a:solidFill>
                <a:latin typeface="Consolas"/>
              </a:rPr>
              <a:t>$ vvp -n la01_kmap_min.vvp</a:t>
            </a:r>
          </a:p>
          <a:p>
            <a:pPr>
              <a:lnSpc>
                <a:spcPct val="100000"/>
              </a:lnSpc>
              <a:spcBef>
                <a:spcPts val="0"/>
              </a:spcBef>
              <a:spcAft>
                <a:spcPts val="60"/>
              </a:spcAft>
            </a:pPr>
            <a:r>
              <a:rPr sz="870" b="0" i="0">
                <a:solidFill>
                  <a:srgbClr val="14171C"/>
                </a:solidFill>
                <a:latin typeface="Consolas"/>
              </a:rPr>
              <a:t>== LA-1  F(A,B,C,D) = Sm(0,1,2,5,6,7,8,9,10,14) ==</a:t>
            </a:r>
          </a:p>
          <a:p>
            <a:pPr>
              <a:lnSpc>
                <a:spcPct val="100000"/>
              </a:lnSpc>
              <a:spcBef>
                <a:spcPts val="0"/>
              </a:spcBef>
              <a:spcAft>
                <a:spcPts val="60"/>
              </a:spcAft>
            </a:pPr>
            <a:r>
              <a:rPr sz="870" b="0" i="0">
                <a:solidFill>
                  <a:srgbClr val="14171C"/>
                </a:solidFill>
                <a:latin typeface="Consolas"/>
              </a:rPr>
              <a:t>   simplified SOP: F = B'D' + B'C' + CD' + A'BD</a:t>
            </a:r>
          </a:p>
          <a:p>
            <a:pPr>
              <a:lnSpc>
                <a:spcPct val="100000"/>
              </a:lnSpc>
              <a:spcBef>
                <a:spcPts val="0"/>
              </a:spcBef>
              <a:spcAft>
                <a:spcPts val="60"/>
              </a:spcAft>
            </a:pPr>
            <a:r>
              <a:rPr sz="870" b="0" i="0">
                <a:solidFill>
                  <a:srgbClr val="14171C"/>
                </a:solidFill>
                <a:latin typeface="Consolas"/>
              </a:rPr>
              <a:t> A B C D | orig simp</a:t>
            </a:r>
          </a:p>
          <a:p>
            <a:pPr>
              <a:lnSpc>
                <a:spcPct val="100000"/>
              </a:lnSpc>
              <a:spcBef>
                <a:spcPts val="0"/>
              </a:spcBef>
              <a:spcAft>
                <a:spcPts val="60"/>
              </a:spcAft>
            </a:pPr>
            <a:r>
              <a:rPr sz="870" b="0" i="0">
                <a:solidFill>
                  <a:srgbClr val="14171C"/>
                </a:solidFill>
                <a:latin typeface="Consolas"/>
              </a:rPr>
              <a:t> 0 0 0 0 |  1    1               </a:t>
            </a:r>
          </a:p>
          <a:p>
            <a:pPr>
              <a:lnSpc>
                <a:spcPct val="100000"/>
              </a:lnSpc>
              <a:spcBef>
                <a:spcPts val="0"/>
              </a:spcBef>
              <a:spcAft>
                <a:spcPts val="60"/>
              </a:spcAft>
            </a:pPr>
            <a:r>
              <a:rPr sz="870" b="0" i="0">
                <a:solidFill>
                  <a:srgbClr val="14171C"/>
                </a:solidFill>
                <a:latin typeface="Consolas"/>
              </a:rPr>
              <a:t> 0 0 0 1 |  1    1               </a:t>
            </a:r>
          </a:p>
          <a:p>
            <a:pPr>
              <a:lnSpc>
                <a:spcPct val="100000"/>
              </a:lnSpc>
              <a:spcBef>
                <a:spcPts val="0"/>
              </a:spcBef>
              <a:spcAft>
                <a:spcPts val="60"/>
              </a:spcAft>
            </a:pPr>
            <a:r>
              <a:rPr sz="870" b="0" i="0">
                <a:solidFill>
                  <a:srgbClr val="14171C"/>
                </a:solidFill>
                <a:latin typeface="Consolas"/>
              </a:rPr>
              <a:t> 0 0 1 0 |  1    1               </a:t>
            </a:r>
          </a:p>
          <a:p>
            <a:pPr>
              <a:lnSpc>
                <a:spcPct val="100000"/>
              </a:lnSpc>
              <a:spcBef>
                <a:spcPts val="0"/>
              </a:spcBef>
              <a:spcAft>
                <a:spcPts val="60"/>
              </a:spcAft>
            </a:pPr>
            <a:r>
              <a:rPr sz="870" b="0" i="0">
                <a:solidFill>
                  <a:srgbClr val="14171C"/>
                </a:solidFill>
                <a:latin typeface="Consolas"/>
              </a:rPr>
              <a:t> 0 0 1 1 |  0    0               </a:t>
            </a:r>
          </a:p>
          <a:p>
            <a:pPr>
              <a:lnSpc>
                <a:spcPct val="100000"/>
              </a:lnSpc>
              <a:spcBef>
                <a:spcPts val="0"/>
              </a:spcBef>
              <a:spcAft>
                <a:spcPts val="60"/>
              </a:spcAft>
            </a:pPr>
            <a:r>
              <a:rPr sz="870" b="0" i="0">
                <a:solidFill>
                  <a:srgbClr val="14171C"/>
                </a:solidFill>
                <a:latin typeface="Consolas"/>
              </a:rPr>
              <a:t> 0 1 0 0 |  0    0               </a:t>
            </a:r>
          </a:p>
          <a:p>
            <a:pPr>
              <a:lnSpc>
                <a:spcPct val="100000"/>
              </a:lnSpc>
              <a:spcBef>
                <a:spcPts val="0"/>
              </a:spcBef>
              <a:spcAft>
                <a:spcPts val="60"/>
              </a:spcAft>
            </a:pPr>
            <a:r>
              <a:rPr sz="870" b="0" i="0">
                <a:solidFill>
                  <a:srgbClr val="14171C"/>
                </a:solidFill>
                <a:latin typeface="Consolas"/>
              </a:rPr>
              <a:t> 0 1 0 1 |  1    1               </a:t>
            </a:r>
          </a:p>
          <a:p>
            <a:pPr>
              <a:lnSpc>
                <a:spcPct val="100000"/>
              </a:lnSpc>
              <a:spcBef>
                <a:spcPts val="0"/>
              </a:spcBef>
              <a:spcAft>
                <a:spcPts val="60"/>
              </a:spcAft>
            </a:pPr>
            <a:r>
              <a:rPr sz="870" b="0" i="0">
                <a:solidFill>
                  <a:srgbClr val="14171C"/>
                </a:solidFill>
                <a:latin typeface="Consolas"/>
              </a:rPr>
              <a:t> 0 1 1 0 |  1    1               </a:t>
            </a:r>
          </a:p>
          <a:p>
            <a:pPr>
              <a:lnSpc>
                <a:spcPct val="100000"/>
              </a:lnSpc>
              <a:spcBef>
                <a:spcPts val="0"/>
              </a:spcBef>
              <a:spcAft>
                <a:spcPts val="60"/>
              </a:spcAft>
            </a:pPr>
            <a:r>
              <a:rPr sz="870" b="0" i="0">
                <a:solidFill>
                  <a:srgbClr val="14171C"/>
                </a:solidFill>
                <a:latin typeface="Consolas"/>
              </a:rPr>
              <a:t> 0 1 1 1 |  1    1               </a:t>
            </a:r>
          </a:p>
          <a:p>
            <a:pPr>
              <a:lnSpc>
                <a:spcPct val="100000"/>
              </a:lnSpc>
              <a:spcBef>
                <a:spcPts val="0"/>
              </a:spcBef>
              <a:spcAft>
                <a:spcPts val="60"/>
              </a:spcAft>
            </a:pPr>
            <a:r>
              <a:rPr sz="870" b="0" i="0">
                <a:solidFill>
                  <a:srgbClr val="14171C"/>
                </a:solidFill>
                <a:latin typeface="Consolas"/>
              </a:rPr>
              <a:t> 1 0 0 0 |  1    1               </a:t>
            </a:r>
          </a:p>
          <a:p>
            <a:pPr>
              <a:lnSpc>
                <a:spcPct val="100000"/>
              </a:lnSpc>
              <a:spcBef>
                <a:spcPts val="0"/>
              </a:spcBef>
              <a:spcAft>
                <a:spcPts val="60"/>
              </a:spcAft>
            </a:pPr>
            <a:r>
              <a:rPr sz="870" b="0" i="0">
                <a:solidFill>
                  <a:srgbClr val="14171C"/>
                </a:solidFill>
                <a:latin typeface="Consolas"/>
              </a:rPr>
              <a:t>…  2 more lines omitted — complete listing in the course book  …</a:t>
            </a:r>
          </a:p>
          <a:p>
            <a:pPr>
              <a:lnSpc>
                <a:spcPct val="100000"/>
              </a:lnSpc>
              <a:spcBef>
                <a:spcPts val="0"/>
              </a:spcBef>
              <a:spcAft>
                <a:spcPts val="60"/>
              </a:spcAft>
            </a:pPr>
            <a:r>
              <a:rPr sz="870" b="0" i="0">
                <a:solidFill>
                  <a:srgbClr val="14171C"/>
                </a:solidFill>
                <a:latin typeface="Consolas"/>
              </a:rPr>
              <a:t> 1 0 1 1 |  0    0               </a:t>
            </a:r>
          </a:p>
          <a:p>
            <a:pPr>
              <a:lnSpc>
                <a:spcPct val="100000"/>
              </a:lnSpc>
              <a:spcBef>
                <a:spcPts val="0"/>
              </a:spcBef>
              <a:spcAft>
                <a:spcPts val="60"/>
              </a:spcAft>
            </a:pPr>
            <a:r>
              <a:rPr sz="870" b="0" i="0">
                <a:solidFill>
                  <a:srgbClr val="14171C"/>
                </a:solidFill>
                <a:latin typeface="Consolas"/>
              </a:rPr>
              <a:t> 1 1 0 0 |  0    0               </a:t>
            </a:r>
          </a:p>
          <a:p>
            <a:pPr>
              <a:lnSpc>
                <a:spcPct val="100000"/>
              </a:lnSpc>
              <a:spcBef>
                <a:spcPts val="0"/>
              </a:spcBef>
              <a:spcAft>
                <a:spcPts val="60"/>
              </a:spcAft>
            </a:pPr>
            <a:r>
              <a:rPr sz="870" b="0" i="0">
                <a:solidFill>
                  <a:srgbClr val="14171C"/>
                </a:solidFill>
                <a:latin typeface="Consolas"/>
              </a:rPr>
              <a:t> 1 1 0 1 |  0    0               </a:t>
            </a:r>
          </a:p>
          <a:p>
            <a:pPr>
              <a:lnSpc>
                <a:spcPct val="100000"/>
              </a:lnSpc>
              <a:spcBef>
                <a:spcPts val="0"/>
              </a:spcBef>
              <a:spcAft>
                <a:spcPts val="60"/>
              </a:spcAft>
            </a:pPr>
            <a:r>
              <a:rPr sz="870" b="0" i="0">
                <a:solidFill>
                  <a:srgbClr val="14171C"/>
                </a:solidFill>
                <a:latin typeface="Consolas"/>
              </a:rPr>
              <a:t> 1 1 1 0 |  1    1               </a:t>
            </a:r>
          </a:p>
          <a:p>
            <a:pPr>
              <a:lnSpc>
                <a:spcPct val="100000"/>
              </a:lnSpc>
              <a:spcBef>
                <a:spcPts val="0"/>
              </a:spcBef>
              <a:spcAft>
                <a:spcPts val="60"/>
              </a:spcAft>
            </a:pPr>
            <a:r>
              <a:rPr sz="870" b="0" i="0">
                <a:solidFill>
                  <a:srgbClr val="14171C"/>
                </a:solidFill>
                <a:latin typeface="Consolas"/>
              </a:rPr>
              <a:t> 1 1 1 1 |  0    0               </a:t>
            </a:r>
          </a:p>
          <a:p>
            <a:pPr>
              <a:lnSpc>
                <a:spcPct val="100000"/>
              </a:lnSpc>
              <a:spcBef>
                <a:spcPts val="0"/>
              </a:spcBef>
              <a:spcAft>
                <a:spcPts val="60"/>
              </a:spcAft>
            </a:pPr>
            <a:r>
              <a:rPr sz="870" b="0" i="0">
                <a:solidFill>
                  <a:srgbClr val="14171C"/>
                </a:solidFill>
                <a:latin typeface="Consolas"/>
              </a:rPr>
              <a:t>minterms realised by simp network : see rows with simp=1</a:t>
            </a:r>
          </a:p>
          <a:p>
            <a:pPr>
              <a:lnSpc>
                <a:spcPct val="100000"/>
              </a:lnSpc>
              <a:spcBef>
                <a:spcPts val="0"/>
              </a:spcBef>
              <a:spcAft>
                <a:spcPts val="60"/>
              </a:spcAft>
            </a:pPr>
            <a:r>
              <a:rPr sz="870" b="0" i="0">
                <a:solidFill>
                  <a:srgbClr val="14171C"/>
                </a:solidFill>
                <a:latin typeface="Consolas"/>
              </a:rPr>
              <a:t>LA-1 RESULT: exhaustive check 16/16 rows match -- PASS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1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31</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16-row table prints both columns; the summary line</a:t>
            </a:r>
            <a:r>
              <a:rPr sz="1150" b="0" i="0">
                <a:solidFill>
                  <a:srgbClr val="B3261E"/>
                </a:solidFill>
                <a:latin typeface="Consolas"/>
              </a:rPr>
              <a:t>LA-1 RESULT: exhaustive check 16/16 rows match -- PASS</a:t>
            </a:r>
            <a:r>
              <a:rPr sz="1250" b="0" i="0">
                <a:solidFill>
                  <a:srgbClr val="16181D"/>
                </a:solidFill>
                <a:latin typeface="Calibri"/>
              </a:rPr>
              <a:t>is the testbench’s own verdict.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Row 15 (1111) reads 0 for both — no accidental extra minterms slipped in.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Yosys, same script for each module:</a:t>
            </a:r>
            <a:r>
              <a:rPr sz="1150" b="0" i="0">
                <a:solidFill>
                  <a:srgbClr val="B3261E"/>
                </a:solidFill>
                <a:latin typeface="Consolas"/>
              </a:rPr>
              <a:t>34 cells</a:t>
            </a:r>
            <a:r>
              <a:rPr sz="1250" b="0" i="0">
                <a:solidFill>
                  <a:srgbClr val="16181D"/>
                </a:solidFill>
                <a:latin typeface="Calibri"/>
              </a:rPr>
              <a:t>for the ten-minterm SOP collapses to</a:t>
            </a:r>
            <a:r>
              <a:rPr sz="1150" b="0" i="0">
                <a:solidFill>
                  <a:srgbClr val="B3261E"/>
                </a:solidFill>
                <a:latin typeface="Consolas"/>
              </a:rPr>
              <a:t>12 cells</a:t>
            </a:r>
            <a:r>
              <a:rPr sz="1250" b="0" i="0">
                <a:solidFill>
                  <a:srgbClr val="16181D"/>
                </a:solidFill>
                <a:latin typeface="Calibri"/>
              </a:rPr>
              <a:t>— and the cell-type histogram shows the win is real gates (21 ANDs to 5), not naming.</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does the quad {0,2,8,10} become B'D'?</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Could the pair {5,7} join a bigger group using don't-cares here?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What does a $display of %b print for a 4-bit vector 0101?</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Across those four cells A and C both toggle while B=0 and D=0 stay fixed — only the constant literals survive the sum.</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The minimized SOP was proven equal to the canonical form for all 16 inputs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1700" b="1" i="0">
                <a:solidFill>
                  <a:srgbClr val="0F172A"/>
                </a:solidFill>
                <a:latin typeface="Calibri"/>
              </a:rPr>
              <a:t>Learning Activity 2 — 4-bit adder–subtractor with basic gates, verified over all input combinations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32</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Design and simulate a 4-bit adder–Subtractor circuit using basic logic gates, and verify its functionality for different input combinations.</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src/la02_addsub4.v</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LA-2: 4-bit adder-subtractor using XOR gates + four full adders.</a:t>
            </a:r>
          </a:p>
          <a:p>
            <a:pPr>
              <a:lnSpc>
                <a:spcPct val="100000"/>
              </a:lnSpc>
              <a:spcBef>
                <a:spcPts val="0"/>
              </a:spcBef>
              <a:spcAft>
                <a:spcPts val="60"/>
              </a:spcAft>
            </a:pPr>
            <a:r>
              <a:rPr sz="700" b="0" i="0">
                <a:solidFill>
                  <a:srgbClr val="E5E7EB"/>
                </a:solidFill>
                <a:latin typeface="Consolas"/>
              </a:rPr>
              <a:t>// M=0 -&gt; A+B ;  M=1 -&gt; A-B (A + B' + 1).  Functionality verified for</a:t>
            </a:r>
          </a:p>
          <a:p>
            <a:pPr>
              <a:lnSpc>
                <a:spcPct val="100000"/>
              </a:lnSpc>
              <a:spcBef>
                <a:spcPts val="0"/>
              </a:spcBef>
              <a:spcAft>
                <a:spcPts val="60"/>
              </a:spcAft>
            </a:pPr>
            <a:r>
              <a:rPr sz="700" b="0" i="0">
                <a:solidFill>
                  <a:srgbClr val="E5E7EB"/>
                </a:solidFill>
                <a:latin typeface="Consolas"/>
              </a:rPr>
              <a:t>// directed input combinations AND exhaustively over all 256 (A,B) pairs.</a:t>
            </a:r>
          </a:p>
          <a:p>
            <a:pPr>
              <a:lnSpc>
                <a:spcPct val="100000"/>
              </a:lnSpc>
              <a:spcBef>
                <a:spcPts val="0"/>
              </a:spcBef>
              <a:spcAft>
                <a:spcPts val="60"/>
              </a:spcAft>
            </a:pPr>
            <a:r>
              <a:rPr sz="700" b="0" i="0">
                <a:solidFill>
                  <a:srgbClr val="E5E7EB"/>
                </a:solidFill>
                <a:latin typeface="Consolas"/>
              </a:rPr>
              <a:t>module fa (input a, b, cin, output s, cout);</a:t>
            </a:r>
          </a:p>
          <a:p>
            <a:pPr>
              <a:lnSpc>
                <a:spcPct val="100000"/>
              </a:lnSpc>
              <a:spcBef>
                <a:spcPts val="0"/>
              </a:spcBef>
              <a:spcAft>
                <a:spcPts val="60"/>
              </a:spcAft>
            </a:pPr>
            <a:r>
              <a:rPr sz="700" b="0" i="0">
                <a:solidFill>
                  <a:srgbClr val="E5E7EB"/>
                </a:solidFill>
                <a:latin typeface="Consolas"/>
              </a:rPr>
              <a:t>  assign s    = a ^ b ^ cin;</a:t>
            </a:r>
          </a:p>
          <a:p>
            <a:pPr>
              <a:lnSpc>
                <a:spcPct val="100000"/>
              </a:lnSpc>
              <a:spcBef>
                <a:spcPts val="0"/>
              </a:spcBef>
              <a:spcAft>
                <a:spcPts val="60"/>
              </a:spcAft>
            </a:pPr>
            <a:r>
              <a:rPr sz="700" b="0" i="0">
                <a:solidFill>
                  <a:srgbClr val="E5E7EB"/>
                </a:solidFill>
                <a:latin typeface="Consolas"/>
              </a:rPr>
              <a:t>  assign cout = (a &amp; b) | (cin &amp; (a ^ b));</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addsub4 (input [3:0] A, B, input M, output [3:0] R, output C);</a:t>
            </a:r>
          </a:p>
          <a:p>
            <a:pPr>
              <a:lnSpc>
                <a:spcPct val="100000"/>
              </a:lnSpc>
              <a:spcBef>
                <a:spcPts val="0"/>
              </a:spcBef>
              <a:spcAft>
                <a:spcPts val="60"/>
              </a:spcAft>
            </a:pPr>
            <a:r>
              <a:rPr sz="700" b="0" i="0">
                <a:solidFill>
                  <a:srgbClr val="E5E7EB"/>
                </a:solidFill>
                <a:latin typeface="Consolas"/>
              </a:rPr>
              <a:t>  wire [3:0] Bx;  wire c0, c1, c2;</a:t>
            </a:r>
          </a:p>
          <a:p>
            <a:pPr>
              <a:lnSpc>
                <a:spcPct val="100000"/>
              </a:lnSpc>
              <a:spcBef>
                <a:spcPts val="0"/>
              </a:spcBef>
              <a:spcAft>
                <a:spcPts val="60"/>
              </a:spcAft>
            </a:pPr>
            <a:r>
              <a:rPr sz="700" b="0" i="0">
                <a:solidFill>
                  <a:srgbClr val="E5E7EB"/>
                </a:solidFill>
                <a:latin typeface="Consolas"/>
              </a:rPr>
              <a:t>  xor x0 (Bx[0], B[0], M);  xor x1 (Bx[1], B[1], M);</a:t>
            </a:r>
          </a:p>
          <a:p>
            <a:pPr>
              <a:lnSpc>
                <a:spcPct val="100000"/>
              </a:lnSpc>
              <a:spcBef>
                <a:spcPts val="0"/>
              </a:spcBef>
              <a:spcAft>
                <a:spcPts val="60"/>
              </a:spcAft>
            </a:pPr>
            <a:r>
              <a:rPr sz="700" b="0" i="0">
                <a:solidFill>
                  <a:srgbClr val="E5E7EB"/>
                </a:solidFill>
                <a:latin typeface="Consolas"/>
              </a:rPr>
              <a:t>  xor x2 (Bx[2], B[2], M);  xor x3 (Bx[3], B[3], M);</a:t>
            </a:r>
          </a:p>
          <a:p>
            <a:pPr>
              <a:lnSpc>
                <a:spcPct val="100000"/>
              </a:lnSpc>
              <a:spcBef>
                <a:spcPts val="0"/>
              </a:spcBef>
              <a:spcAft>
                <a:spcPts val="60"/>
              </a:spcAft>
            </a:pPr>
            <a:r>
              <a:rPr sz="700" b="0" i="0">
                <a:solidFill>
                  <a:srgbClr val="E5E7EB"/>
                </a:solidFill>
                <a:latin typeface="Consolas"/>
              </a:rPr>
              <a:t>  fa f0 (.a(A[0]), .b(Bx[0]), .cin(M),    .s(R[0]), .cout(c0));</a:t>
            </a:r>
          </a:p>
          <a:p>
            <a:pPr>
              <a:lnSpc>
                <a:spcPct val="100000"/>
              </a:lnSpc>
              <a:spcBef>
                <a:spcPts val="0"/>
              </a:spcBef>
              <a:spcAft>
                <a:spcPts val="60"/>
              </a:spcAft>
            </a:pPr>
            <a:r>
              <a:rPr sz="700" b="0" i="0">
                <a:solidFill>
                  <a:srgbClr val="E5E7EB"/>
                </a:solidFill>
                <a:latin typeface="Consolas"/>
              </a:rPr>
              <a:t>  fa f1 (.a(A[1]), .b(Bx[1]), .cin(c0),   .s(R[1]), .cout(c1));</a:t>
            </a:r>
          </a:p>
          <a:p>
            <a:pPr>
              <a:lnSpc>
                <a:spcPct val="100000"/>
              </a:lnSpc>
              <a:spcBef>
                <a:spcPts val="0"/>
              </a:spcBef>
              <a:spcAft>
                <a:spcPts val="60"/>
              </a:spcAft>
            </a:pPr>
            <a:r>
              <a:rPr sz="700" b="0" i="0">
                <a:solidFill>
                  <a:srgbClr val="E5E7EB"/>
                </a:solidFill>
                <a:latin typeface="Consolas"/>
              </a:rPr>
              <a:t>  fa f2 (.a(A[2]), .b(Bx[2]), .cin(c1),   .s(R[2]), .cout(c2));</a:t>
            </a:r>
          </a:p>
          <a:p>
            <a:pPr>
              <a:lnSpc>
                <a:spcPct val="100000"/>
              </a:lnSpc>
              <a:spcBef>
                <a:spcPts val="0"/>
              </a:spcBef>
              <a:spcAft>
                <a:spcPts val="60"/>
              </a:spcAft>
            </a:pPr>
            <a:r>
              <a:rPr sz="700" b="0" i="0">
                <a:solidFill>
                  <a:srgbClr val="E5E7EB"/>
                </a:solidFill>
                <a:latin typeface="Consolas"/>
              </a:rPr>
              <a:t>  fa f3 (.a(A[3]), .b(Bx[3]), .cin(c2),   .s(R[3]), .cout(C));</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tb;</a:t>
            </a:r>
          </a:p>
          <a:p>
            <a:pPr>
              <a:lnSpc>
                <a:spcPct val="100000"/>
              </a:lnSpc>
              <a:spcBef>
                <a:spcPts val="0"/>
              </a:spcBef>
              <a:spcAft>
                <a:spcPts val="60"/>
              </a:spcAft>
            </a:pPr>
            <a:r>
              <a:rPr sz="700" b="0" i="0">
                <a:solidFill>
                  <a:srgbClr val="E5E7EB"/>
                </a:solidFill>
                <a:latin typeface="Consolas"/>
              </a:rPr>
              <a:t>  reg [3:0] A, B;  reg M;  wire C;  wire [3:0] R;  integer i, e;</a:t>
            </a:r>
          </a:p>
          <a:p>
            <a:pPr>
              <a:lnSpc>
                <a:spcPct val="100000"/>
              </a:lnSpc>
              <a:spcBef>
                <a:spcPts val="0"/>
              </a:spcBef>
              <a:spcAft>
                <a:spcPts val="60"/>
              </a:spcAft>
            </a:pPr>
            <a:r>
              <a:rPr sz="700" b="0" i="0">
                <a:solidFill>
                  <a:srgbClr val="E5E7EB"/>
                </a:solidFill>
                <a:latin typeface="Consolas"/>
              </a:rPr>
              <a:t>  addsub4 U (.A(A), .B(B), .M(M), .R(R), .C(C));</a:t>
            </a:r>
          </a:p>
          <a:p>
            <a:pPr>
              <a:lnSpc>
                <a:spcPct val="100000"/>
              </a:lnSpc>
              <a:spcBef>
                <a:spcPts val="0"/>
              </a:spcBef>
              <a:spcAft>
                <a:spcPts val="60"/>
              </a:spcAft>
            </a:pPr>
            <a:r>
              <a:rPr sz="700" b="0" i="0">
                <a:solidFill>
                  <a:srgbClr val="E5E7EB"/>
                </a:solidFill>
                <a:latin typeface="Consolas"/>
              </a:rPr>
              <a:t>  initial begin</a:t>
            </a:r>
          </a:p>
          <a:p>
            <a:pPr>
              <a:lnSpc>
                <a:spcPct val="100000"/>
              </a:lnSpc>
              <a:spcBef>
                <a:spcPts val="0"/>
              </a:spcBef>
              <a:spcAft>
                <a:spcPts val="60"/>
              </a:spcAft>
            </a:pPr>
            <a:r>
              <a:rPr sz="700" b="0" i="0">
                <a:solidFill>
                  <a:srgbClr val="E5E7EB"/>
                </a:solidFill>
                <a:latin typeface="Consolas"/>
              </a:rPr>
              <a:t>    e = 0;</a:t>
            </a:r>
          </a:p>
          <a:p>
            <a:pPr>
              <a:lnSpc>
                <a:spcPct val="100000"/>
              </a:lnSpc>
              <a:spcBef>
                <a:spcPts val="0"/>
              </a:spcBef>
              <a:spcAft>
                <a:spcPts val="60"/>
              </a:spcAft>
            </a:pPr>
            <a:r>
              <a:rPr sz="700" b="0" i="0">
                <a:solidFill>
                  <a:srgbClr val="E5E7EB"/>
                </a:solidFill>
                <a:latin typeface="Consolas"/>
              </a:rPr>
              <a:t>    $display("== LA-2  4-bit adder-subtractor (XOR + full adders), M = mode select ==");</a:t>
            </a:r>
          </a:p>
          <a:p>
            <a:pPr>
              <a:lnSpc>
                <a:spcPct val="100000"/>
              </a:lnSpc>
              <a:spcBef>
                <a:spcPts val="0"/>
              </a:spcBef>
              <a:spcAft>
                <a:spcPts val="60"/>
              </a:spcAft>
            </a:pPr>
            <a:r>
              <a:rPr sz="700" b="0" i="0">
                <a:solidFill>
                  <a:srgbClr val="E5E7EB"/>
                </a:solidFill>
                <a:latin typeface="Consolas"/>
              </a:rPr>
              <a:t>    $display(" A  B  M |  R    C | meaning");</a:t>
            </a:r>
          </a:p>
          <a:p>
            <a:pPr>
              <a:lnSpc>
                <a:spcPct val="100000"/>
              </a:lnSpc>
              <a:spcBef>
                <a:spcPts val="0"/>
              </a:spcBef>
              <a:spcAft>
                <a:spcPts val="60"/>
              </a:spcAft>
            </a:pPr>
            <a:r>
              <a:rPr sz="700" b="0" i="0">
                <a:solidFill>
                  <a:srgbClr val="E5E7EB"/>
                </a:solidFill>
                <a:latin typeface="Consolas"/>
              </a:rPr>
              <a:t>    A = 4'd9;  B = 4'd5;  M = 0; #1;</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out/la02_addsub4.txt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1150" b="0" i="0">
                <a:solidFill>
                  <a:srgbClr val="14171C"/>
                </a:solidFill>
                <a:latin typeface="Consolas"/>
              </a:rPr>
              <a:t>$ vvp -n la02_addsub4.vvp</a:t>
            </a:r>
          </a:p>
          <a:p>
            <a:pPr>
              <a:lnSpc>
                <a:spcPct val="100000"/>
              </a:lnSpc>
              <a:spcBef>
                <a:spcPts val="0"/>
              </a:spcBef>
              <a:spcAft>
                <a:spcPts val="60"/>
              </a:spcAft>
            </a:pPr>
            <a:r>
              <a:rPr sz="1150" b="0" i="0">
                <a:solidFill>
                  <a:srgbClr val="14171C"/>
                </a:solidFill>
                <a:latin typeface="Consolas"/>
              </a:rPr>
              <a:t>== LA-2  4-bit adder-subtractor (XOR + full adders), M = mode select ==</a:t>
            </a:r>
          </a:p>
          <a:p>
            <a:pPr>
              <a:lnSpc>
                <a:spcPct val="100000"/>
              </a:lnSpc>
              <a:spcBef>
                <a:spcPts val="0"/>
              </a:spcBef>
              <a:spcAft>
                <a:spcPts val="60"/>
              </a:spcAft>
            </a:pPr>
            <a:r>
              <a:rPr sz="1150" b="0" i="0">
                <a:solidFill>
                  <a:srgbClr val="14171C"/>
                </a:solidFill>
                <a:latin typeface="Consolas"/>
              </a:rPr>
              <a:t> A  B  M |  R    C | meaning</a:t>
            </a:r>
          </a:p>
          <a:p>
            <a:pPr>
              <a:lnSpc>
                <a:spcPct val="100000"/>
              </a:lnSpc>
              <a:spcBef>
                <a:spcPts val="0"/>
              </a:spcBef>
              <a:spcAft>
                <a:spcPts val="60"/>
              </a:spcAft>
            </a:pPr>
            <a:r>
              <a:rPr sz="1150" b="0" i="0">
                <a:solidFill>
                  <a:srgbClr val="14171C"/>
                </a:solidFill>
                <a:latin typeface="Consolas"/>
              </a:rPr>
              <a:t> 09 05  0 | 1110  0 | 9+5  = 14</a:t>
            </a:r>
          </a:p>
          <a:p>
            <a:pPr>
              <a:lnSpc>
                <a:spcPct val="100000"/>
              </a:lnSpc>
              <a:spcBef>
                <a:spcPts val="0"/>
              </a:spcBef>
              <a:spcAft>
                <a:spcPts val="60"/>
              </a:spcAft>
            </a:pPr>
            <a:r>
              <a:rPr sz="1150" b="0" i="0">
                <a:solidFill>
                  <a:srgbClr val="14171C"/>
                </a:solidFill>
                <a:latin typeface="Consolas"/>
              </a:rPr>
              <a:t> 09 05  1 | 0100  1 | 9-5  = 4, C=1 -&gt; no borrow</a:t>
            </a:r>
          </a:p>
          <a:p>
            <a:pPr>
              <a:lnSpc>
                <a:spcPct val="100000"/>
              </a:lnSpc>
              <a:spcBef>
                <a:spcPts val="0"/>
              </a:spcBef>
              <a:spcAft>
                <a:spcPts val="60"/>
              </a:spcAft>
            </a:pPr>
            <a:r>
              <a:rPr sz="1150" b="0" i="0">
                <a:solidFill>
                  <a:srgbClr val="14171C"/>
                </a:solidFill>
                <a:latin typeface="Consolas"/>
              </a:rPr>
              <a:t> 03 07  1 | 1100  0 | 3-7  -&gt; 2's comp 12, C=0 means borrow</a:t>
            </a:r>
          </a:p>
          <a:p>
            <a:pPr>
              <a:lnSpc>
                <a:spcPct val="100000"/>
              </a:lnSpc>
              <a:spcBef>
                <a:spcPts val="0"/>
              </a:spcBef>
              <a:spcAft>
                <a:spcPts val="60"/>
              </a:spcAft>
            </a:pPr>
            <a:r>
              <a:rPr sz="1150" b="0" i="0">
                <a:solidFill>
                  <a:srgbClr val="14171C"/>
                </a:solidFill>
                <a:latin typeface="Consolas"/>
              </a:rPr>
              <a:t> 15 15  0 | 1110  1 | 15+15 = 30 = {C,R} = {1,1110}</a:t>
            </a:r>
          </a:p>
          <a:p>
            <a:pPr>
              <a:lnSpc>
                <a:spcPct val="100000"/>
              </a:lnSpc>
              <a:spcBef>
                <a:spcPts val="0"/>
              </a:spcBef>
              <a:spcAft>
                <a:spcPts val="60"/>
              </a:spcAft>
            </a:pPr>
            <a:r>
              <a:rPr sz="1150" b="0" i="0">
                <a:solidFill>
                  <a:srgbClr val="14171C"/>
                </a:solidFill>
                <a:latin typeface="Consolas"/>
              </a:rPr>
              <a:t>exhaustive: 256 adds + 256 subtracts + carry/borrow flag: mismatches 0</a:t>
            </a:r>
          </a:p>
          <a:p>
            <a:pPr>
              <a:lnSpc>
                <a:spcPct val="100000"/>
              </a:lnSpc>
              <a:spcBef>
                <a:spcPts val="0"/>
              </a:spcBef>
              <a:spcAft>
                <a:spcPts val="60"/>
              </a:spcAft>
            </a:pPr>
            <a:r>
              <a:rPr sz="1150" b="0" i="0">
                <a:solidFill>
                  <a:srgbClr val="14171C"/>
                </a:solidFill>
                <a:latin typeface="Consolas"/>
              </a:rPr>
              <a:t>LA-2 RESULT: adder-subtractor verified on 512 cases -- PASS</a:t>
            </a:r>
          </a:p>
          <a:p>
            <a:pPr>
              <a:lnSpc>
                <a:spcPct val="100000"/>
              </a:lnSpc>
              <a:spcBef>
                <a:spcPts val="0"/>
              </a:spcBef>
              <a:spcAft>
                <a:spcPts val="60"/>
              </a:spcAft>
            </a:pPr>
            <a:r>
              <a:rPr sz="1150" b="0" i="0">
                <a:solidFill>
                  <a:srgbClr val="14171C"/>
                </a:solidFill>
                <a:latin typeface="Consolas"/>
              </a:rPr>
              <a:t>/home/user/ddco-course/src/la02_addsub4.v:42: $finish called at 516000 (1ps)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2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33</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150" b="0" i="0">
                <a:solidFill>
                  <a:srgbClr val="B3261E"/>
                </a:solidFill>
                <a:latin typeface="Consolas"/>
              </a:rPr>
              <a:t>9-5  = 4, C=1 -› no borrow</a:t>
            </a:r>
            <a:r>
              <a:rPr sz="1250" b="0" i="0">
                <a:solidFill>
                  <a:srgbClr val="16181D"/>
                </a:solidFill>
                <a:latin typeface="Calibri"/>
              </a:rPr>
              <a:t>— the carry-out doubles as the borrow flag for M=1.</a:t>
            </a:r>
          </a:p>
          <a:p>
            <a:pPr marL="201168" indent="-201168">
              <a:lnSpc>
                <a:spcPct val="104000"/>
              </a:lnSpc>
              <a:spcBef>
                <a:spcPts val="0"/>
              </a:spcBef>
              <a:spcAft>
                <a:spcPts val="600"/>
              </a:spcAft>
            </a:pPr>
            <a:r>
              <a:rPr sz="1250" b="1" i="0">
                <a:solidFill>
                  <a:srgbClr val="B3261E"/>
                </a:solidFill>
                <a:latin typeface="Calibri"/>
              </a:rPr>
              <a:t>•  </a:t>
            </a:r>
            <a:r>
              <a:rPr sz="1150" b="0" i="0">
                <a:solidFill>
                  <a:srgbClr val="B3261E"/>
                </a:solidFill>
                <a:latin typeface="Consolas"/>
              </a:rPr>
              <a:t>3-7  -› 2's comp 12, C=0 means borrow</a:t>
            </a:r>
            <a:r>
              <a:rPr sz="1250" b="0" i="0">
                <a:solidFill>
                  <a:srgbClr val="16181D"/>
                </a:solidFill>
                <a:latin typeface="Calibri"/>
              </a:rPr>
              <a:t>shows the wrapped difference; software reads it as −4.</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exhaustive line reports</a:t>
            </a:r>
            <a:r>
              <a:rPr sz="1150" b="0" i="0">
                <a:solidFill>
                  <a:srgbClr val="B3261E"/>
                </a:solidFill>
                <a:latin typeface="Consolas"/>
              </a:rPr>
              <a:t>exhaustive: 256 adds + 256 subtracts + carry/borrow flag: mismatches 0</a:t>
            </a:r>
            <a:r>
              <a:rPr sz="1250" b="0" i="0">
                <a:solidFill>
                  <a:srgbClr val="16181D"/>
                </a:solidFill>
                <a:latin typeface="Calibri"/>
              </a:rPr>
              <a: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feed M into the carry-in as well as the XORs?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What does C=0 after a subtract mean in hardware terms?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Where does the overflow vs carry distinction bite in this circuit?</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B' must become -B in 2's-complement, which is +1 — the FA carry-in supplies exactly that 1 free.</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The XOR+FA adder-subtractor reproduces signed 4-bit arithmetic on all 512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1700" b="1" i="0">
                <a:solidFill>
                  <a:srgbClr val="0F172A"/>
                </a:solidFill>
                <a:latin typeface="Calibri"/>
              </a:rPr>
              <a:t>Learning Activity 3 — Binary adder-subtractor: half/full adder, half/full subtractor</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34</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Design Verilog HDL to implement Binary Adder-Subtractor – Half and Full Adder, Half and Full Subtractor.</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src/la03_ha_fa.v</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LA-3: Binary adder-subtractor building blocks - Half Adder, Full Adder,</a:t>
            </a:r>
          </a:p>
          <a:p>
            <a:pPr>
              <a:lnSpc>
                <a:spcPct val="100000"/>
              </a:lnSpc>
              <a:spcBef>
                <a:spcPts val="0"/>
              </a:spcBef>
              <a:spcAft>
                <a:spcPts val="60"/>
              </a:spcAft>
            </a:pPr>
            <a:r>
              <a:rPr sz="700" b="0" i="0">
                <a:solidFill>
                  <a:srgbClr val="E5E7EB"/>
                </a:solidFill>
                <a:latin typeface="Consolas"/>
              </a:rPr>
              <a:t>// Half Subtractor, Full Subtractor, and a 4-bit ripple-carry adder, all in</a:t>
            </a:r>
          </a:p>
          <a:p>
            <a:pPr>
              <a:lnSpc>
                <a:spcPct val="100000"/>
              </a:lnSpc>
              <a:spcBef>
                <a:spcPts val="0"/>
              </a:spcBef>
              <a:spcAft>
                <a:spcPts val="60"/>
              </a:spcAft>
            </a:pPr>
            <a:r>
              <a:rPr sz="700" b="0" i="0">
                <a:solidFill>
                  <a:srgbClr val="E5E7EB"/>
                </a:solidFill>
                <a:latin typeface="Consolas"/>
              </a:rPr>
              <a:t>// gate-level Verilog, each verified exhaustively by its own testbench.</a:t>
            </a:r>
          </a:p>
          <a:p>
            <a:pPr>
              <a:lnSpc>
                <a:spcPct val="100000"/>
              </a:lnSpc>
              <a:spcBef>
                <a:spcPts val="0"/>
              </a:spcBef>
              <a:spcAft>
                <a:spcPts val="60"/>
              </a:spcAft>
            </a:pPr>
            <a:r>
              <a:rPr sz="700" b="0" i="0">
                <a:solidFill>
                  <a:srgbClr val="E5E7EB"/>
                </a:solidFill>
                <a:latin typeface="Consolas"/>
              </a:rPr>
              <a:t>module ha (input a, b, output s, c);  assign s = a ^ b;  assign c = a &amp; b;  endmodule</a:t>
            </a:r>
          </a:p>
          <a:p>
            <a:pPr>
              <a:lnSpc>
                <a:spcPct val="100000"/>
              </a:lnSpc>
              <a:spcBef>
                <a:spcPts val="0"/>
              </a:spcBef>
              <a:spcAft>
                <a:spcPts val="60"/>
              </a:spcAft>
            </a:pPr>
            <a:r>
              <a:rPr sz="700" b="0" i="0">
                <a:solidFill>
                  <a:srgbClr val="E5E7EB"/>
                </a:solidFill>
                <a:latin typeface="Consolas"/>
              </a:rPr>
              <a:t>module fa (input a, b, cin, output s, cout);</a:t>
            </a:r>
          </a:p>
          <a:p>
            <a:pPr>
              <a:lnSpc>
                <a:spcPct val="100000"/>
              </a:lnSpc>
              <a:spcBef>
                <a:spcPts val="0"/>
              </a:spcBef>
              <a:spcAft>
                <a:spcPts val="60"/>
              </a:spcAft>
            </a:pPr>
            <a:r>
              <a:rPr sz="700" b="0" i="0">
                <a:solidFill>
                  <a:srgbClr val="E5E7EB"/>
                </a:solidFill>
                <a:latin typeface="Consolas"/>
              </a:rPr>
              <a:t>  assign s    = a ^ b ^ cin;</a:t>
            </a:r>
          </a:p>
          <a:p>
            <a:pPr>
              <a:lnSpc>
                <a:spcPct val="100000"/>
              </a:lnSpc>
              <a:spcBef>
                <a:spcPts val="0"/>
              </a:spcBef>
              <a:spcAft>
                <a:spcPts val="60"/>
              </a:spcAft>
            </a:pPr>
            <a:r>
              <a:rPr sz="700" b="0" i="0">
                <a:solidFill>
                  <a:srgbClr val="E5E7EB"/>
                </a:solidFill>
                <a:latin typeface="Consolas"/>
              </a:rPr>
              <a:t>  assign cout = (a &amp; b) | (cin &amp; (a ^ b));</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hs (input x, y, output d, bout); assign d = x ^ y;  assign bout = ~x &amp; y; endmodule</a:t>
            </a:r>
          </a:p>
          <a:p>
            <a:pPr>
              <a:lnSpc>
                <a:spcPct val="100000"/>
              </a:lnSpc>
              <a:spcBef>
                <a:spcPts val="0"/>
              </a:spcBef>
              <a:spcAft>
                <a:spcPts val="60"/>
              </a:spcAft>
            </a:pPr>
            <a:r>
              <a:rPr sz="700" b="0" i="0">
                <a:solidFill>
                  <a:srgbClr val="E5E7EB"/>
                </a:solidFill>
                <a:latin typeface="Consolas"/>
              </a:rPr>
              <a:t>module fs (input x, y, bin, output d, bout);</a:t>
            </a:r>
          </a:p>
          <a:p>
            <a:pPr>
              <a:lnSpc>
                <a:spcPct val="100000"/>
              </a:lnSpc>
              <a:spcBef>
                <a:spcPts val="0"/>
              </a:spcBef>
              <a:spcAft>
                <a:spcPts val="60"/>
              </a:spcAft>
            </a:pPr>
            <a:r>
              <a:rPr sz="700" b="0" i="0">
                <a:solidFill>
                  <a:srgbClr val="E5E7EB"/>
                </a:solidFill>
                <a:latin typeface="Consolas"/>
              </a:rPr>
              <a:t>  assign d    = x ^ y ^ bin;</a:t>
            </a:r>
          </a:p>
          <a:p>
            <a:pPr>
              <a:lnSpc>
                <a:spcPct val="100000"/>
              </a:lnSpc>
              <a:spcBef>
                <a:spcPts val="0"/>
              </a:spcBef>
              <a:spcAft>
                <a:spcPts val="60"/>
              </a:spcAft>
            </a:pPr>
            <a:r>
              <a:rPr sz="700" b="0" i="0">
                <a:solidFill>
                  <a:srgbClr val="E5E7EB"/>
                </a:solidFill>
                <a:latin typeface="Consolas"/>
              </a:rPr>
              <a:t>  assign bout = (~x &amp; y) | (bin &amp; ~(x ^ y));</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adder4 (input [3:0] A, B, input Cin, output [3:0] S, output Cout);</a:t>
            </a:r>
          </a:p>
          <a:p>
            <a:pPr>
              <a:lnSpc>
                <a:spcPct val="100000"/>
              </a:lnSpc>
              <a:spcBef>
                <a:spcPts val="0"/>
              </a:spcBef>
              <a:spcAft>
                <a:spcPts val="60"/>
              </a:spcAft>
            </a:pPr>
            <a:r>
              <a:rPr sz="700" b="0" i="0">
                <a:solidFill>
                  <a:srgbClr val="E5E7EB"/>
                </a:solidFill>
                <a:latin typeface="Consolas"/>
              </a:rPr>
              <a:t>  wire c0, c1, c2;</a:t>
            </a:r>
          </a:p>
          <a:p>
            <a:pPr>
              <a:lnSpc>
                <a:spcPct val="100000"/>
              </a:lnSpc>
              <a:spcBef>
                <a:spcPts val="0"/>
              </a:spcBef>
              <a:spcAft>
                <a:spcPts val="60"/>
              </a:spcAft>
            </a:pPr>
            <a:r>
              <a:rPr sz="700" b="0" i="0">
                <a:solidFill>
                  <a:srgbClr val="E5E7EB"/>
                </a:solidFill>
                <a:latin typeface="Consolas"/>
              </a:rPr>
              <a:t>  fa f0 (.a(A[0]), .b(B[0]), .cin(Cin),   .s(S[0]), .cout(c0));</a:t>
            </a:r>
          </a:p>
          <a:p>
            <a:pPr>
              <a:lnSpc>
                <a:spcPct val="100000"/>
              </a:lnSpc>
              <a:spcBef>
                <a:spcPts val="0"/>
              </a:spcBef>
              <a:spcAft>
                <a:spcPts val="60"/>
              </a:spcAft>
            </a:pPr>
            <a:r>
              <a:rPr sz="700" b="0" i="0">
                <a:solidFill>
                  <a:srgbClr val="E5E7EB"/>
                </a:solidFill>
                <a:latin typeface="Consolas"/>
              </a:rPr>
              <a:t>  fa f1 (.a(A[1]), .b(B[1]), .cin(c0),    .s(S[1]), .cout(c1));</a:t>
            </a:r>
          </a:p>
          <a:p>
            <a:pPr>
              <a:lnSpc>
                <a:spcPct val="100000"/>
              </a:lnSpc>
              <a:spcBef>
                <a:spcPts val="0"/>
              </a:spcBef>
              <a:spcAft>
                <a:spcPts val="60"/>
              </a:spcAft>
            </a:pPr>
            <a:r>
              <a:rPr sz="700" b="0" i="0">
                <a:solidFill>
                  <a:srgbClr val="E5E7EB"/>
                </a:solidFill>
                <a:latin typeface="Consolas"/>
              </a:rPr>
              <a:t>  fa f2 (.a(A[2]), .b(B[2]), .cin(c1),    .s(S[2]), .cout(c2));</a:t>
            </a:r>
          </a:p>
          <a:p>
            <a:pPr>
              <a:lnSpc>
                <a:spcPct val="100000"/>
              </a:lnSpc>
              <a:spcBef>
                <a:spcPts val="0"/>
              </a:spcBef>
              <a:spcAft>
                <a:spcPts val="60"/>
              </a:spcAft>
            </a:pPr>
            <a:r>
              <a:rPr sz="700" b="0" i="0">
                <a:solidFill>
                  <a:srgbClr val="E5E7EB"/>
                </a:solidFill>
                <a:latin typeface="Consolas"/>
              </a:rPr>
              <a:t>  fa f3 (.a(A[3]), .b(B[3]), .cin(c2),    .s(S[3]), .cout(Cout));</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module tb;</a:t>
            </a:r>
          </a:p>
          <a:p>
            <a:pPr>
              <a:lnSpc>
                <a:spcPct val="100000"/>
              </a:lnSpc>
              <a:spcBef>
                <a:spcPts val="0"/>
              </a:spcBef>
              <a:spcAft>
                <a:spcPts val="60"/>
              </a:spcAft>
            </a:pPr>
            <a:r>
              <a:rPr sz="700" b="0" i="0">
                <a:solidFill>
                  <a:srgbClr val="E5E7EB"/>
                </a:solidFill>
                <a:latin typeface="Consolas"/>
              </a:rPr>
              <a:t>  reg a, b, cin;  reg [3:0] A, B;  reg Ci;</a:t>
            </a:r>
          </a:p>
          <a:p>
            <a:pPr>
              <a:lnSpc>
                <a:spcPct val="100000"/>
              </a:lnSpc>
              <a:spcBef>
                <a:spcPts val="0"/>
              </a:spcBef>
              <a:spcAft>
                <a:spcPts val="60"/>
              </a:spcAft>
            </a:pPr>
            <a:r>
              <a:rPr sz="700" b="0" i="0">
                <a:solidFill>
                  <a:srgbClr val="E5E7EB"/>
                </a:solidFill>
                <a:latin typeface="Consolas"/>
              </a:rPr>
              <a:t>  wire hs_s, hs_c, fa_s, fa_c, hsd, hsb, fsd, fsb, Co;</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out/la03_ha_fa.txt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810" b="0" i="0">
                <a:solidFill>
                  <a:srgbClr val="14171C"/>
                </a:solidFill>
                <a:latin typeface="Consolas"/>
              </a:rPr>
              <a:t>$ vvp -n la03_ha_fa.vvp</a:t>
            </a:r>
          </a:p>
          <a:p>
            <a:pPr>
              <a:lnSpc>
                <a:spcPct val="100000"/>
              </a:lnSpc>
              <a:spcBef>
                <a:spcPts val="0"/>
              </a:spcBef>
              <a:spcAft>
                <a:spcPts val="60"/>
              </a:spcAft>
            </a:pPr>
            <a:r>
              <a:rPr sz="810" b="0" i="0">
                <a:solidFill>
                  <a:srgbClr val="14171C"/>
                </a:solidFill>
                <a:latin typeface="Consolas"/>
              </a:rPr>
              <a:t>== LA-3  Half/Full adder, Half/Full subtractor, 4-bit ripple adder ==</a:t>
            </a:r>
          </a:p>
          <a:p>
            <a:pPr>
              <a:lnSpc>
                <a:spcPct val="100000"/>
              </a:lnSpc>
              <a:spcBef>
                <a:spcPts val="0"/>
              </a:spcBef>
              <a:spcAft>
                <a:spcPts val="60"/>
              </a:spcAft>
            </a:pPr>
            <a:r>
              <a:rPr sz="810" b="0" i="0">
                <a:solidFill>
                  <a:srgbClr val="14171C"/>
                </a:solidFill>
                <a:latin typeface="Consolas"/>
              </a:rPr>
              <a:t>--- Half Adder (4 rows) ---</a:t>
            </a:r>
          </a:p>
          <a:p>
            <a:pPr>
              <a:lnSpc>
                <a:spcPct val="100000"/>
              </a:lnSpc>
              <a:spcBef>
                <a:spcPts val="0"/>
              </a:spcBef>
              <a:spcAft>
                <a:spcPts val="60"/>
              </a:spcAft>
            </a:pPr>
            <a:r>
              <a:rPr sz="810" b="0" i="0">
                <a:solidFill>
                  <a:srgbClr val="14171C"/>
                </a:solidFill>
                <a:latin typeface="Consolas"/>
              </a:rPr>
              <a:t>  a=0 b=0  -&gt;  sum=0 carry=0</a:t>
            </a:r>
          </a:p>
          <a:p>
            <a:pPr>
              <a:lnSpc>
                <a:spcPct val="100000"/>
              </a:lnSpc>
              <a:spcBef>
                <a:spcPts val="0"/>
              </a:spcBef>
              <a:spcAft>
                <a:spcPts val="60"/>
              </a:spcAft>
            </a:pPr>
            <a:r>
              <a:rPr sz="810" b="0" i="0">
                <a:solidFill>
                  <a:srgbClr val="14171C"/>
                </a:solidFill>
                <a:latin typeface="Consolas"/>
              </a:rPr>
              <a:t>  a=0 b=1  -&gt;  sum=1 carry=0</a:t>
            </a:r>
          </a:p>
          <a:p>
            <a:pPr>
              <a:lnSpc>
                <a:spcPct val="100000"/>
              </a:lnSpc>
              <a:spcBef>
                <a:spcPts val="0"/>
              </a:spcBef>
              <a:spcAft>
                <a:spcPts val="60"/>
              </a:spcAft>
            </a:pPr>
            <a:r>
              <a:rPr sz="810" b="0" i="0">
                <a:solidFill>
                  <a:srgbClr val="14171C"/>
                </a:solidFill>
                <a:latin typeface="Consolas"/>
              </a:rPr>
              <a:t>  a=1 b=0  -&gt;  sum=1 carry=0</a:t>
            </a:r>
          </a:p>
          <a:p>
            <a:pPr>
              <a:lnSpc>
                <a:spcPct val="100000"/>
              </a:lnSpc>
              <a:spcBef>
                <a:spcPts val="0"/>
              </a:spcBef>
              <a:spcAft>
                <a:spcPts val="60"/>
              </a:spcAft>
            </a:pPr>
            <a:r>
              <a:rPr sz="810" b="0" i="0">
                <a:solidFill>
                  <a:srgbClr val="14171C"/>
                </a:solidFill>
                <a:latin typeface="Consolas"/>
              </a:rPr>
              <a:t>  a=1 b=1  -&gt;  sum=0 carry=1</a:t>
            </a:r>
          </a:p>
          <a:p>
            <a:pPr>
              <a:lnSpc>
                <a:spcPct val="100000"/>
              </a:lnSpc>
              <a:spcBef>
                <a:spcPts val="0"/>
              </a:spcBef>
              <a:spcAft>
                <a:spcPts val="60"/>
              </a:spcAft>
            </a:pPr>
            <a:r>
              <a:rPr sz="810" b="0" i="0">
                <a:solidFill>
                  <a:srgbClr val="14171C"/>
                </a:solidFill>
                <a:latin typeface="Consolas"/>
              </a:rPr>
              <a:t>--- Full Adder (8 rows) ---</a:t>
            </a:r>
          </a:p>
          <a:p>
            <a:pPr>
              <a:lnSpc>
                <a:spcPct val="100000"/>
              </a:lnSpc>
              <a:spcBef>
                <a:spcPts val="0"/>
              </a:spcBef>
              <a:spcAft>
                <a:spcPts val="60"/>
              </a:spcAft>
            </a:pPr>
            <a:r>
              <a:rPr sz="810" b="0" i="0">
                <a:solidFill>
                  <a:srgbClr val="14171C"/>
                </a:solidFill>
                <a:latin typeface="Consolas"/>
              </a:rPr>
              <a:t>full-adder mismatches : 0 / 8 rows</a:t>
            </a:r>
          </a:p>
          <a:p>
            <a:pPr>
              <a:lnSpc>
                <a:spcPct val="100000"/>
              </a:lnSpc>
              <a:spcBef>
                <a:spcPts val="0"/>
              </a:spcBef>
              <a:spcAft>
                <a:spcPts val="60"/>
              </a:spcAft>
            </a:pPr>
            <a:r>
              <a:rPr sz="810" b="0" i="0">
                <a:solidFill>
                  <a:srgbClr val="14171C"/>
                </a:solidFill>
                <a:latin typeface="Consolas"/>
              </a:rPr>
              <a:t>--- Half Subtractor (4 rows) ---</a:t>
            </a:r>
          </a:p>
          <a:p>
            <a:pPr>
              <a:lnSpc>
                <a:spcPct val="100000"/>
              </a:lnSpc>
              <a:spcBef>
                <a:spcPts val="0"/>
              </a:spcBef>
              <a:spcAft>
                <a:spcPts val="60"/>
              </a:spcAft>
            </a:pPr>
            <a:r>
              <a:rPr sz="810" b="0" i="0">
                <a:solidFill>
                  <a:srgbClr val="14171C"/>
                </a:solidFill>
                <a:latin typeface="Consolas"/>
              </a:rPr>
              <a:t>  x=0 y=0  -&gt;  diff=0 bout=0</a:t>
            </a:r>
          </a:p>
          <a:p>
            <a:pPr>
              <a:lnSpc>
                <a:spcPct val="100000"/>
              </a:lnSpc>
              <a:spcBef>
                <a:spcPts val="0"/>
              </a:spcBef>
              <a:spcAft>
                <a:spcPts val="60"/>
              </a:spcAft>
            </a:pPr>
            <a:r>
              <a:rPr sz="810" b="0" i="0">
                <a:solidFill>
                  <a:srgbClr val="14171C"/>
                </a:solidFill>
                <a:latin typeface="Consolas"/>
              </a:rPr>
              <a:t>  x=0 y=1  -&gt;  diff=1 bout=1</a:t>
            </a:r>
          </a:p>
          <a:p>
            <a:pPr>
              <a:lnSpc>
                <a:spcPct val="100000"/>
              </a:lnSpc>
              <a:spcBef>
                <a:spcPts val="0"/>
              </a:spcBef>
              <a:spcAft>
                <a:spcPts val="60"/>
              </a:spcAft>
            </a:pPr>
            <a:r>
              <a:rPr sz="810" b="0" i="0">
                <a:solidFill>
                  <a:srgbClr val="14171C"/>
                </a:solidFill>
                <a:latin typeface="Consolas"/>
              </a:rPr>
              <a:t>  x=1 y=0  -&gt;  diff=1 bout=0</a:t>
            </a:r>
          </a:p>
          <a:p>
            <a:pPr>
              <a:lnSpc>
                <a:spcPct val="100000"/>
              </a:lnSpc>
              <a:spcBef>
                <a:spcPts val="0"/>
              </a:spcBef>
              <a:spcAft>
                <a:spcPts val="60"/>
              </a:spcAft>
            </a:pPr>
            <a:r>
              <a:rPr sz="810" b="0" i="0">
                <a:solidFill>
                  <a:srgbClr val="14171C"/>
                </a:solidFill>
                <a:latin typeface="Consolas"/>
              </a:rPr>
              <a:t>  x=1 y=1  -&gt;  diff=0 bout=0</a:t>
            </a:r>
          </a:p>
          <a:p>
            <a:pPr>
              <a:lnSpc>
                <a:spcPct val="100000"/>
              </a:lnSpc>
              <a:spcBef>
                <a:spcPts val="0"/>
              </a:spcBef>
              <a:spcAft>
                <a:spcPts val="60"/>
              </a:spcAft>
            </a:pPr>
            <a:r>
              <a:rPr sz="810" b="0" i="0">
                <a:solidFill>
                  <a:srgbClr val="14171C"/>
                </a:solidFill>
                <a:latin typeface="Consolas"/>
              </a:rPr>
              <a:t>--- Full Subtractor (8 rows) ---</a:t>
            </a:r>
          </a:p>
          <a:p>
            <a:pPr>
              <a:lnSpc>
                <a:spcPct val="100000"/>
              </a:lnSpc>
              <a:spcBef>
                <a:spcPts val="0"/>
              </a:spcBef>
              <a:spcAft>
                <a:spcPts val="60"/>
              </a:spcAft>
            </a:pPr>
            <a:r>
              <a:rPr sz="810" b="0" i="0">
                <a:solidFill>
                  <a:srgbClr val="14171C"/>
                </a:solidFill>
                <a:latin typeface="Consolas"/>
              </a:rPr>
              <a:t>full-subtractor mismatches : 0</a:t>
            </a:r>
          </a:p>
          <a:p>
            <a:pPr>
              <a:lnSpc>
                <a:spcPct val="100000"/>
              </a:lnSpc>
              <a:spcBef>
                <a:spcPts val="0"/>
              </a:spcBef>
              <a:spcAft>
                <a:spcPts val="60"/>
              </a:spcAft>
            </a:pPr>
            <a:r>
              <a:rPr sz="810" b="0" i="0">
                <a:solidFill>
                  <a:srgbClr val="14171C"/>
                </a:solidFill>
                <a:latin typeface="Consolas"/>
              </a:rPr>
              <a:t>--- 4-bit ripple adder: hand vectors + exhaustive 256 cases ---</a:t>
            </a:r>
          </a:p>
          <a:p>
            <a:pPr>
              <a:lnSpc>
                <a:spcPct val="100000"/>
              </a:lnSpc>
              <a:spcBef>
                <a:spcPts val="0"/>
              </a:spcBef>
              <a:spcAft>
                <a:spcPts val="60"/>
              </a:spcAft>
            </a:pPr>
            <a:r>
              <a:rPr sz="810" b="0" i="0">
                <a:solidFill>
                  <a:srgbClr val="14171C"/>
                </a:solidFill>
                <a:latin typeface="Consolas"/>
              </a:rPr>
              <a:t>  3 +  5 = {01000}  C=0   (expect 01000 = 8)</a:t>
            </a:r>
          </a:p>
          <a:p>
            <a:pPr>
              <a:lnSpc>
                <a:spcPct val="100000"/>
              </a:lnSpc>
              <a:spcBef>
                <a:spcPts val="0"/>
              </a:spcBef>
              <a:spcAft>
                <a:spcPts val="60"/>
              </a:spcAft>
            </a:pPr>
            <a:r>
              <a:rPr sz="810" b="0" i="0">
                <a:solidFill>
                  <a:srgbClr val="14171C"/>
                </a:solidFill>
                <a:latin typeface="Consolas"/>
              </a:rPr>
              <a:t> 15 + 15 = {11110}  C=1   (expect 11110 = 30)</a:t>
            </a:r>
          </a:p>
          <a:p>
            <a:pPr>
              <a:lnSpc>
                <a:spcPct val="100000"/>
              </a:lnSpc>
              <a:spcBef>
                <a:spcPts val="0"/>
              </a:spcBef>
              <a:spcAft>
                <a:spcPts val="60"/>
              </a:spcAft>
            </a:pPr>
            <a:r>
              <a:rPr sz="810" b="0" i="0">
                <a:solidFill>
                  <a:srgbClr val="14171C"/>
                </a:solidFill>
                <a:latin typeface="Consolas"/>
              </a:rPr>
              <a:t>  6 +  7 = {01101}  C=0   (expect 01101 = 13)</a:t>
            </a:r>
          </a:p>
          <a:p>
            <a:pPr>
              <a:lnSpc>
                <a:spcPct val="100000"/>
              </a:lnSpc>
              <a:spcBef>
                <a:spcPts val="0"/>
              </a:spcBef>
              <a:spcAft>
                <a:spcPts val="60"/>
              </a:spcAft>
            </a:pPr>
            <a:r>
              <a:rPr sz="810" b="0" i="0">
                <a:solidFill>
                  <a:srgbClr val="14171C"/>
                </a:solidFill>
                <a:latin typeface="Consolas"/>
              </a:rPr>
              <a:t>exhaustive adder4 mismatches : 0 / 256</a:t>
            </a:r>
          </a:p>
          <a:p>
            <a:pPr>
              <a:lnSpc>
                <a:spcPct val="100000"/>
              </a:lnSpc>
              <a:spcBef>
                <a:spcPts val="0"/>
              </a:spcBef>
              <a:spcAft>
                <a:spcPts val="60"/>
              </a:spcAft>
            </a:pPr>
            <a:r>
              <a:rPr sz="810" b="0" i="0">
                <a:solidFill>
                  <a:srgbClr val="14171C"/>
                </a:solidFill>
                <a:latin typeface="Consolas"/>
              </a:rPr>
              <a:t>LA-3 RESULT: 5 circuits verified, 0 mismatches over 280 rows -- PASS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3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35</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FA and FS sweeps print zero mismatches; the 15+15 row shows</a:t>
            </a:r>
            <a:r>
              <a:rPr sz="1150" b="0" i="0">
                <a:solidFill>
                  <a:srgbClr val="B3261E"/>
                </a:solidFill>
                <a:latin typeface="Consolas"/>
              </a:rPr>
              <a:t>15 + 15 = {11110}  C=1</a:t>
            </a:r>
            <a:r>
              <a:rPr sz="1250" b="0" i="0">
                <a:solidFill>
                  <a:srgbClr val="16181D"/>
                </a:solidFill>
                <a:latin typeface="Calibri"/>
              </a:rPr>
              <a:t>— the 5-bit result the carry-out completes.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adder line</a:t>
            </a:r>
            <a:r>
              <a:rPr sz="1150" b="0" i="0">
                <a:solidFill>
                  <a:srgbClr val="B3261E"/>
                </a:solidFill>
                <a:latin typeface="Consolas"/>
              </a:rPr>
              <a:t>exhaustive adder4 mismatches : 0 / 256</a:t>
            </a:r>
            <a:r>
              <a:rPr sz="1250" b="0" i="0">
                <a:solidFill>
                  <a:srgbClr val="16181D"/>
                </a:solidFill>
                <a:latin typeface="Calibri"/>
              </a:rPr>
              <a:t>makes this the most thoroughly checked circuit in the book per-gate.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Synthesis stats for the four tops (ha/fa/fs/adder4, file suffix _syn) let the report carry a gate count for every box drawn.</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Write the FS borrow equation and explain its second term.</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Why is a half-adder useless for bit 1 and above?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What is the delay of adder4 in FA cells?</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B = x'y + bin·(x⊙y): either x can't pay y on its own, or the borrow-in arrives while x and y can't absorb it together.</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All five prescribed circuits match their textbook equations exhaustively (280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4 — Types of de-multiplexer</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36</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Design Verilog program to implement types of De-Multiplexer.</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src/la04_demux.v</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LA-4: types of de-multiplexer, in structural and dataflow Verilog.</a:t>
            </a:r>
          </a:p>
          <a:p>
            <a:pPr>
              <a:lnSpc>
                <a:spcPct val="100000"/>
              </a:lnSpc>
              <a:spcBef>
                <a:spcPts val="0"/>
              </a:spcBef>
              <a:spcAft>
                <a:spcPts val="60"/>
              </a:spcAft>
            </a:pPr>
            <a:r>
              <a:rPr sz="700" b="0" i="0">
                <a:solidFill>
                  <a:srgbClr val="E5E7EB"/>
                </a:solidFill>
                <a:latin typeface="Consolas"/>
              </a:rPr>
              <a:t>//  (a) 1-to-4 demux built from AND gates + inverters (one-hot steering),</a:t>
            </a:r>
          </a:p>
          <a:p>
            <a:pPr>
              <a:lnSpc>
                <a:spcPct val="100000"/>
              </a:lnSpc>
              <a:spcBef>
                <a:spcPts val="0"/>
              </a:spcBef>
              <a:spcAft>
                <a:spcPts val="60"/>
              </a:spcAft>
            </a:pPr>
            <a:r>
              <a:rPr sz="700" b="0" i="0">
                <a:solidFill>
                  <a:srgbClr val="E5E7EB"/>
                </a:solidFill>
                <a:latin typeface="Consolas"/>
              </a:rPr>
              <a:t>//  (b) 1-to-8 demux with common enable,</a:t>
            </a:r>
          </a:p>
          <a:p>
            <a:pPr>
              <a:lnSpc>
                <a:spcPct val="100000"/>
              </a:lnSpc>
              <a:spcBef>
                <a:spcPts val="0"/>
              </a:spcBef>
              <a:spcAft>
                <a:spcPts val="60"/>
              </a:spcAft>
            </a:pPr>
            <a:r>
              <a:rPr sz="700" b="0" i="0">
                <a:solidFill>
                  <a:srgbClr val="E5E7EB"/>
                </a:solidFill>
                <a:latin typeface="Consolas"/>
              </a:rPr>
              <a:t>//  (c) 1-to-4 demux implemented as a 2-to-4 decoder driving tri-state</a:t>
            </a:r>
          </a:p>
          <a:p>
            <a:pPr>
              <a:lnSpc>
                <a:spcPct val="100000"/>
              </a:lnSpc>
              <a:spcBef>
                <a:spcPts val="0"/>
              </a:spcBef>
              <a:spcAft>
                <a:spcPts val="60"/>
              </a:spcAft>
            </a:pPr>
            <a:r>
              <a:rPr sz="700" b="0" i="0">
                <a:solidFill>
                  <a:srgbClr val="E5E7EB"/>
                </a:solidFill>
                <a:latin typeface="Consolas"/>
              </a:rPr>
              <a:t>//      buffers - the decoder+enable style used inside PLAs.</a:t>
            </a:r>
          </a:p>
          <a:p>
            <a:pPr>
              <a:lnSpc>
                <a:spcPct val="100000"/>
              </a:lnSpc>
              <a:spcBef>
                <a:spcPts val="0"/>
              </a:spcBef>
              <a:spcAft>
                <a:spcPts val="60"/>
              </a:spcAft>
            </a:pPr>
            <a:r>
              <a:rPr sz="700" b="0" i="0">
                <a:solidFill>
                  <a:srgbClr val="E5E7EB"/>
                </a:solidFill>
                <a:latin typeface="Consolas"/>
              </a:rPr>
              <a:t>module demux14_gate (input D, input [1:0] S, output [3:0] Y);</a:t>
            </a:r>
          </a:p>
          <a:p>
            <a:pPr>
              <a:lnSpc>
                <a:spcPct val="100000"/>
              </a:lnSpc>
              <a:spcBef>
                <a:spcPts val="0"/>
              </a:spcBef>
              <a:spcAft>
                <a:spcPts val="60"/>
              </a:spcAft>
            </a:pPr>
            <a:r>
              <a:rPr sz="700" b="0" i="0">
                <a:solidFill>
                  <a:srgbClr val="E5E7EB"/>
                </a:solidFill>
                <a:latin typeface="Consolas"/>
              </a:rPr>
              <a:t>  wire [3:0] en;</a:t>
            </a:r>
          </a:p>
          <a:p>
            <a:pPr>
              <a:lnSpc>
                <a:spcPct val="100000"/>
              </a:lnSpc>
              <a:spcBef>
                <a:spcPts val="0"/>
              </a:spcBef>
              <a:spcAft>
                <a:spcPts val="60"/>
              </a:spcAft>
            </a:pPr>
            <a:r>
              <a:rPr sz="700" b="0" i="0">
                <a:solidFill>
                  <a:srgbClr val="E5E7EB"/>
                </a:solidFill>
                <a:latin typeface="Consolas"/>
              </a:rPr>
              <a:t>  and a0(en[0], ~S[1], ~S[0]);  and a1(en[1], ~S[1],  S[0]);</a:t>
            </a:r>
          </a:p>
          <a:p>
            <a:pPr>
              <a:lnSpc>
                <a:spcPct val="100000"/>
              </a:lnSpc>
              <a:spcBef>
                <a:spcPts val="0"/>
              </a:spcBef>
              <a:spcAft>
                <a:spcPts val="60"/>
              </a:spcAft>
            </a:pPr>
            <a:r>
              <a:rPr sz="700" b="0" i="0">
                <a:solidFill>
                  <a:srgbClr val="E5E7EB"/>
                </a:solidFill>
                <a:latin typeface="Consolas"/>
              </a:rPr>
              <a:t>  and a2(en[2],  S[1], ~S[0]);  and a3(en[3],  S[1],  S[0]);</a:t>
            </a:r>
          </a:p>
          <a:p>
            <a:pPr>
              <a:lnSpc>
                <a:spcPct val="100000"/>
              </a:lnSpc>
              <a:spcBef>
                <a:spcPts val="0"/>
              </a:spcBef>
              <a:spcAft>
                <a:spcPts val="60"/>
              </a:spcAft>
            </a:pPr>
            <a:r>
              <a:rPr sz="700" b="0" i="0">
                <a:solidFill>
                  <a:srgbClr val="E5E7EB"/>
                </a:solidFill>
                <a:latin typeface="Consolas"/>
              </a:rPr>
              <a:t>  and y0(Y[0], D, en[0]);  and y1(Y[1], D, en[1]);</a:t>
            </a:r>
          </a:p>
          <a:p>
            <a:pPr>
              <a:lnSpc>
                <a:spcPct val="100000"/>
              </a:lnSpc>
              <a:spcBef>
                <a:spcPts val="0"/>
              </a:spcBef>
              <a:spcAft>
                <a:spcPts val="60"/>
              </a:spcAft>
            </a:pPr>
            <a:r>
              <a:rPr sz="700" b="0" i="0">
                <a:solidFill>
                  <a:srgbClr val="E5E7EB"/>
                </a:solidFill>
                <a:latin typeface="Consolas"/>
              </a:rPr>
              <a:t>  and y2(Y[2], D, en[2]);  and y3(Y[3], D, en[3]);</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demux18_en (input D, input E, input [2:0] S, output [7:0] Y);</a:t>
            </a:r>
          </a:p>
          <a:p>
            <a:pPr>
              <a:lnSpc>
                <a:spcPct val="100000"/>
              </a:lnSpc>
              <a:spcBef>
                <a:spcPts val="0"/>
              </a:spcBef>
              <a:spcAft>
                <a:spcPts val="60"/>
              </a:spcAft>
            </a:pPr>
            <a:r>
              <a:rPr sz="700" b="0" i="0">
                <a:solidFill>
                  <a:srgbClr val="E5E7EB"/>
                </a:solidFill>
                <a:latin typeface="Consolas"/>
              </a:rPr>
              <a:t>  genvar k;</a:t>
            </a:r>
          </a:p>
          <a:p>
            <a:pPr>
              <a:lnSpc>
                <a:spcPct val="100000"/>
              </a:lnSpc>
              <a:spcBef>
                <a:spcPts val="0"/>
              </a:spcBef>
              <a:spcAft>
                <a:spcPts val="60"/>
              </a:spcAft>
            </a:pPr>
            <a:r>
              <a:rPr sz="700" b="0" i="0">
                <a:solidFill>
                  <a:srgbClr val="E5E7EB"/>
                </a:solidFill>
                <a:latin typeface="Consolas"/>
              </a:rPr>
              <a:t>  for (k = 0; k &lt; 8; k = k + 1) begin : g</a:t>
            </a:r>
          </a:p>
          <a:p>
            <a:pPr>
              <a:lnSpc>
                <a:spcPct val="100000"/>
              </a:lnSpc>
              <a:spcBef>
                <a:spcPts val="0"/>
              </a:spcBef>
              <a:spcAft>
                <a:spcPts val="60"/>
              </a:spcAft>
            </a:pPr>
            <a:r>
              <a:rPr sz="700" b="0" i="0">
                <a:solidFill>
                  <a:srgbClr val="E5E7EB"/>
                </a:solidFill>
                <a:latin typeface="Consolas"/>
              </a:rPr>
              <a:t>    and (Y[k], D, E, (S == k[2:0]));</a:t>
            </a:r>
          </a:p>
          <a:p>
            <a:pPr>
              <a:lnSpc>
                <a:spcPct val="100000"/>
              </a:lnSpc>
              <a:spcBef>
                <a:spcPts val="0"/>
              </a:spcBef>
              <a:spcAft>
                <a:spcPts val="60"/>
              </a:spcAft>
            </a:pPr>
            <a:r>
              <a:rPr sz="700" b="0" i="0">
                <a:solidFill>
                  <a:srgbClr val="E5E7EB"/>
                </a:solidFill>
                <a:latin typeface="Consolas"/>
              </a:rPr>
              <a:t>  end</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dec24 (input [1:0] S, input E, output [3:0] Y);</a:t>
            </a:r>
          </a:p>
          <a:p>
            <a:pPr>
              <a:lnSpc>
                <a:spcPct val="100000"/>
              </a:lnSpc>
              <a:spcBef>
                <a:spcPts val="0"/>
              </a:spcBef>
              <a:spcAft>
                <a:spcPts val="60"/>
              </a:spcAft>
            </a:pPr>
            <a:r>
              <a:rPr sz="700" b="0" i="0">
                <a:solidFill>
                  <a:srgbClr val="E5E7EB"/>
                </a:solidFill>
                <a:latin typeface="Consolas"/>
              </a:rPr>
              <a:t>  assign Y = E ? (4'b0001 &lt;&lt; S) : 4'b0000;</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demux14_dec (input D, input E, input [1:0] S, output [3:0] Y);</a:t>
            </a:r>
          </a:p>
          <a:p>
            <a:pPr>
              <a:lnSpc>
                <a:spcPct val="100000"/>
              </a:lnSpc>
              <a:spcBef>
                <a:spcPts val="0"/>
              </a:spcBef>
              <a:spcAft>
                <a:spcPts val="60"/>
              </a:spcAft>
            </a:pPr>
            <a:r>
              <a:rPr sz="700" b="0" i="0">
                <a:solidFill>
                  <a:srgbClr val="E5E7EB"/>
                </a:solidFill>
                <a:latin typeface="Consolas"/>
              </a:rPr>
              <a:t>  // enable-driven buffers; in a real 74-series part these are tri-state,</a:t>
            </a:r>
          </a:p>
          <a:p>
            <a:pPr>
              <a:lnSpc>
                <a:spcPct val="100000"/>
              </a:lnSpc>
              <a:spcBef>
                <a:spcPts val="0"/>
              </a:spcBef>
              <a:spcAft>
                <a:spcPts val="60"/>
              </a:spcAft>
            </a:pPr>
            <a:r>
              <a:rPr sz="700" b="0" i="0">
                <a:solidFill>
                  <a:srgbClr val="E5E7EB"/>
                </a:solidFill>
                <a:latin typeface="Consolas"/>
              </a:rPr>
              <a:t>  // so the non-selected lines float to Z.  Modelled here as 0 for checking.</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out/la04_demux.txt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910" b="0" i="0">
                <a:solidFill>
                  <a:srgbClr val="14171C"/>
                </a:solidFill>
                <a:latin typeface="Consolas"/>
              </a:rPr>
              <a:t>$ vvp -n la04_demux.vvp</a:t>
            </a:r>
          </a:p>
          <a:p>
            <a:pPr>
              <a:lnSpc>
                <a:spcPct val="100000"/>
              </a:lnSpc>
              <a:spcBef>
                <a:spcPts val="0"/>
              </a:spcBef>
              <a:spcAft>
                <a:spcPts val="60"/>
              </a:spcAft>
            </a:pPr>
            <a:r>
              <a:rPr sz="910" b="0" i="0">
                <a:solidFill>
                  <a:srgbClr val="14171C"/>
                </a:solidFill>
                <a:latin typeface="Consolas"/>
              </a:rPr>
              <a:t>== LA-4  de-multiplexers: 1x4 (gate), 1x8 (enable), decoder+tri-state ==</a:t>
            </a:r>
          </a:p>
          <a:p>
            <a:pPr>
              <a:lnSpc>
                <a:spcPct val="100000"/>
              </a:lnSpc>
              <a:spcBef>
                <a:spcPts val="0"/>
              </a:spcBef>
              <a:spcAft>
                <a:spcPts val="60"/>
              </a:spcAft>
            </a:pPr>
            <a:r>
              <a:rPr sz="910" b="0" i="0">
                <a:solidFill>
                  <a:srgbClr val="14171C"/>
                </a:solidFill>
                <a:latin typeface="Consolas"/>
              </a:rPr>
              <a:t> D S | gate-Y   | 8ch-Z</a:t>
            </a:r>
          </a:p>
          <a:p>
            <a:pPr>
              <a:lnSpc>
                <a:spcPct val="100000"/>
              </a:lnSpc>
              <a:spcBef>
                <a:spcPts val="0"/>
              </a:spcBef>
              <a:spcAft>
                <a:spcPts val="60"/>
              </a:spcAft>
            </a:pPr>
            <a:r>
              <a:rPr sz="910" b="0" i="0">
                <a:solidFill>
                  <a:srgbClr val="14171C"/>
                </a:solidFill>
                <a:latin typeface="Consolas"/>
              </a:rPr>
              <a:t> 0 00 | 0000    | 00000000</a:t>
            </a:r>
          </a:p>
          <a:p>
            <a:pPr>
              <a:lnSpc>
                <a:spcPct val="100000"/>
              </a:lnSpc>
              <a:spcBef>
                <a:spcPts val="0"/>
              </a:spcBef>
              <a:spcAft>
                <a:spcPts val="60"/>
              </a:spcAft>
            </a:pPr>
            <a:r>
              <a:rPr sz="910" b="0" i="0">
                <a:solidFill>
                  <a:srgbClr val="14171C"/>
                </a:solidFill>
                <a:latin typeface="Consolas"/>
              </a:rPr>
              <a:t> 0 01 | 0000    | 00000000</a:t>
            </a:r>
          </a:p>
          <a:p>
            <a:pPr>
              <a:lnSpc>
                <a:spcPct val="100000"/>
              </a:lnSpc>
              <a:spcBef>
                <a:spcPts val="0"/>
              </a:spcBef>
              <a:spcAft>
                <a:spcPts val="60"/>
              </a:spcAft>
            </a:pPr>
            <a:r>
              <a:rPr sz="910" b="0" i="0">
                <a:solidFill>
                  <a:srgbClr val="14171C"/>
                </a:solidFill>
                <a:latin typeface="Consolas"/>
              </a:rPr>
              <a:t> 0 10 | 0000    | 00000000</a:t>
            </a:r>
          </a:p>
          <a:p>
            <a:pPr>
              <a:lnSpc>
                <a:spcPct val="100000"/>
              </a:lnSpc>
              <a:spcBef>
                <a:spcPts val="0"/>
              </a:spcBef>
              <a:spcAft>
                <a:spcPts val="60"/>
              </a:spcAft>
            </a:pPr>
            <a:r>
              <a:rPr sz="910" b="0" i="0">
                <a:solidFill>
                  <a:srgbClr val="14171C"/>
                </a:solidFill>
                <a:latin typeface="Consolas"/>
              </a:rPr>
              <a:t> 0 11 | 0000    | 00000000</a:t>
            </a:r>
          </a:p>
          <a:p>
            <a:pPr>
              <a:lnSpc>
                <a:spcPct val="100000"/>
              </a:lnSpc>
              <a:spcBef>
                <a:spcPts val="0"/>
              </a:spcBef>
              <a:spcAft>
                <a:spcPts val="60"/>
              </a:spcAft>
            </a:pPr>
            <a:r>
              <a:rPr sz="910" b="0" i="0">
                <a:solidFill>
                  <a:srgbClr val="14171C"/>
                </a:solidFill>
                <a:latin typeface="Consolas"/>
              </a:rPr>
              <a:t> 1 00 | 0001    | 00000001</a:t>
            </a:r>
          </a:p>
          <a:p>
            <a:pPr>
              <a:lnSpc>
                <a:spcPct val="100000"/>
              </a:lnSpc>
              <a:spcBef>
                <a:spcPts val="0"/>
              </a:spcBef>
              <a:spcAft>
                <a:spcPts val="60"/>
              </a:spcAft>
            </a:pPr>
            <a:r>
              <a:rPr sz="910" b="0" i="0">
                <a:solidFill>
                  <a:srgbClr val="14171C"/>
                </a:solidFill>
                <a:latin typeface="Consolas"/>
              </a:rPr>
              <a:t> 1 01 | 0010    | 00000010</a:t>
            </a:r>
          </a:p>
          <a:p>
            <a:pPr>
              <a:lnSpc>
                <a:spcPct val="100000"/>
              </a:lnSpc>
              <a:spcBef>
                <a:spcPts val="0"/>
              </a:spcBef>
              <a:spcAft>
                <a:spcPts val="60"/>
              </a:spcAft>
            </a:pPr>
            <a:r>
              <a:rPr sz="910" b="0" i="0">
                <a:solidFill>
                  <a:srgbClr val="14171C"/>
                </a:solidFill>
                <a:latin typeface="Consolas"/>
              </a:rPr>
              <a:t> 1 10 | 0100    | 00000100</a:t>
            </a:r>
          </a:p>
          <a:p>
            <a:pPr>
              <a:lnSpc>
                <a:spcPct val="100000"/>
              </a:lnSpc>
              <a:spcBef>
                <a:spcPts val="0"/>
              </a:spcBef>
              <a:spcAft>
                <a:spcPts val="60"/>
              </a:spcAft>
            </a:pPr>
            <a:r>
              <a:rPr sz="910" b="0" i="0">
                <a:solidFill>
                  <a:srgbClr val="14171C"/>
                </a:solidFill>
                <a:latin typeface="Consolas"/>
              </a:rPr>
              <a:t> 1 11 | 1000    | 00001000</a:t>
            </a:r>
          </a:p>
          <a:p>
            <a:pPr>
              <a:lnSpc>
                <a:spcPct val="100000"/>
              </a:lnSpc>
              <a:spcBef>
                <a:spcPts val="0"/>
              </a:spcBef>
              <a:spcAft>
                <a:spcPts val="60"/>
              </a:spcAft>
            </a:pPr>
            <a:r>
              <a:rPr sz="910" b="0" i="0">
                <a:solidFill>
                  <a:srgbClr val="14171C"/>
                </a:solidFill>
                <a:latin typeface="Consolas"/>
              </a:rPr>
              <a:t>1x4 gate-level: steering verified for all 8 (D,S) rows : mismatches 0</a:t>
            </a:r>
          </a:p>
          <a:p>
            <a:pPr>
              <a:lnSpc>
                <a:spcPct val="100000"/>
              </a:lnSpc>
              <a:spcBef>
                <a:spcPts val="0"/>
              </a:spcBef>
              <a:spcAft>
                <a:spcPts val="60"/>
              </a:spcAft>
            </a:pPr>
            <a:r>
              <a:rPr sz="910" b="0" i="0">
                <a:solidFill>
                  <a:srgbClr val="14171C"/>
                </a:solidFill>
                <a:latin typeface="Consolas"/>
              </a:rPr>
              <a:t>decoder+buffer style, E=0 -&gt; all outputs 0 : W=0000</a:t>
            </a:r>
          </a:p>
          <a:p>
            <a:pPr>
              <a:lnSpc>
                <a:spcPct val="100000"/>
              </a:lnSpc>
              <a:spcBef>
                <a:spcPts val="0"/>
              </a:spcBef>
              <a:spcAft>
                <a:spcPts val="60"/>
              </a:spcAft>
            </a:pPr>
            <a:r>
              <a:rPr sz="910" b="0" i="0">
                <a:solidFill>
                  <a:srgbClr val="14171C"/>
                </a:solidFill>
                <a:latin typeface="Consolas"/>
              </a:rPr>
              <a:t>1x8: with D=1,S=3 output word = 00001000</a:t>
            </a:r>
          </a:p>
          <a:p>
            <a:pPr>
              <a:lnSpc>
                <a:spcPct val="100000"/>
              </a:lnSpc>
              <a:spcBef>
                <a:spcPts val="0"/>
              </a:spcBef>
              <a:spcAft>
                <a:spcPts val="60"/>
              </a:spcAft>
            </a:pPr>
            <a:r>
              <a:rPr sz="910" b="0" i="0">
                <a:solidFill>
                  <a:srgbClr val="14171C"/>
                </a:solidFill>
                <a:latin typeface="Consolas"/>
              </a:rPr>
              <a:t>decoder-style channel 3 active : Y=1000</a:t>
            </a:r>
          </a:p>
          <a:p>
            <a:pPr>
              <a:lnSpc>
                <a:spcPct val="100000"/>
              </a:lnSpc>
              <a:spcBef>
                <a:spcPts val="0"/>
              </a:spcBef>
              <a:spcAft>
                <a:spcPts val="60"/>
              </a:spcAft>
            </a:pPr>
            <a:r>
              <a:rPr sz="910" b="0" i="0">
                <a:solidFill>
                  <a:srgbClr val="14171C"/>
                </a:solidFill>
                <a:latin typeface="Consolas"/>
              </a:rPr>
              <a:t>LA-4 RESULT: both demux styles route every row correctly -- PASS</a:t>
            </a:r>
          </a:p>
          <a:p>
            <a:pPr>
              <a:lnSpc>
                <a:spcPct val="100000"/>
              </a:lnSpc>
              <a:spcBef>
                <a:spcPts val="0"/>
              </a:spcBef>
              <a:spcAft>
                <a:spcPts val="60"/>
              </a:spcAft>
            </a:pPr>
            <a:r>
              <a:rPr sz="910" b="0" i="0">
                <a:solidFill>
                  <a:srgbClr val="14171C"/>
                </a:solidFill>
                <a:latin typeface="Consolas"/>
              </a:rPr>
              <a:t>/home/user/ddco-course/src/la04_demux.v:61: $finish called at 19000 (1ps)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4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37</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All eight (D,S) combinations route correctly: the final data row prints</a:t>
            </a:r>
            <a:r>
              <a:rPr sz="1150" b="0" i="0">
                <a:solidFill>
                  <a:srgbClr val="B3261E"/>
                </a:solidFill>
                <a:latin typeface="Consolas"/>
              </a:rPr>
              <a:t> 1 11 | 1000    | 00001000</a:t>
            </a:r>
            <a:r>
              <a:rPr sz="1250" b="0" i="0">
                <a:solidFill>
                  <a:srgbClr val="16181D"/>
                </a:solidFill>
                <a:latin typeface="Calibri"/>
              </a:rPr>
              <a:t>— bit 3 steered in both widths.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E=0 demonstration</a:t>
            </a:r>
            <a:r>
              <a:rPr sz="1150" b="0" i="0">
                <a:solidFill>
                  <a:srgbClr val="B3261E"/>
                </a:solidFill>
                <a:latin typeface="Consolas"/>
              </a:rPr>
              <a:t>decoder+buffer style, E=0 -› all outputs 0 : W=0000</a:t>
            </a:r>
            <a:r>
              <a:rPr sz="1250" b="0" i="0">
                <a:solidFill>
                  <a:srgbClr val="16181D"/>
                </a:solidFill>
                <a:latin typeface="Calibri"/>
              </a:rPr>
              <a:t>is the enable-line story decoders and demuxes share.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Verdict line:</a:t>
            </a:r>
            <a:r>
              <a:rPr sz="1150" b="0" i="0">
                <a:solidFill>
                  <a:srgbClr val="B3261E"/>
                </a:solidFill>
                <a:latin typeface="Consolas"/>
              </a:rPr>
              <a:t>LA-4 RESULT: both demux styles route every row correctly -- PASS</a:t>
            </a:r>
            <a:r>
              <a:rPr sz="1250" b="0" i="0">
                <a:solidFill>
                  <a:srgbClr val="16181D"/>
                </a:solidFill>
                <a:latin typeface="Calibri"/>
              </a:rPr>
              <a: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is a demux 'a decoder with a data input'?</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How do 16 outputs come from two 1×4 demux chips?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Where do real demuxes use tri-states, and what does that buy?</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Its output equations are y_k = D·(select==k) — the decoder one-hot ANDed with D.</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Gate-level, enabled-generate and decoder-driven de-multiplexers are all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Learning Activity 5 — Flip-flop family: SR, JK, D (and T for free)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38</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Design Verilog program for implementing various types of Flip-Flops such as SR, JK and D.</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src/la05_ff_types.v</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LA-5: flip-flop family in behavioural Verilog - SR (level, NOR type),</a:t>
            </a:r>
          </a:p>
          <a:p>
            <a:pPr>
              <a:lnSpc>
                <a:spcPct val="100000"/>
              </a:lnSpc>
              <a:spcBef>
                <a:spcPts val="0"/>
              </a:spcBef>
              <a:spcAft>
                <a:spcPts val="60"/>
              </a:spcAft>
            </a:pPr>
            <a:r>
              <a:rPr sz="700" b="0" i="0">
                <a:solidFill>
                  <a:srgbClr val="E5E7EB"/>
                </a:solidFill>
                <a:latin typeface="Consolas"/>
              </a:rPr>
              <a:t>// D flip-flop, JK flip-flop and a T flip-flop derived from JK.</a:t>
            </a:r>
          </a:p>
          <a:p>
            <a:pPr>
              <a:lnSpc>
                <a:spcPct val="100000"/>
              </a:lnSpc>
              <a:spcBef>
                <a:spcPts val="0"/>
              </a:spcBef>
              <a:spcAft>
                <a:spcPts val="60"/>
              </a:spcAft>
            </a:pPr>
            <a:r>
              <a:rPr sz="700" b="0" i="0">
                <a:solidFill>
                  <a:srgbClr val="E5E7EB"/>
                </a:solidFill>
                <a:latin typeface="Consolas"/>
              </a:rPr>
              <a:t>// A clock generator drives 10 edges; the state table is printed at each</a:t>
            </a:r>
          </a:p>
          <a:p>
            <a:pPr>
              <a:lnSpc>
                <a:spcPct val="100000"/>
              </a:lnSpc>
              <a:spcBef>
                <a:spcPts val="0"/>
              </a:spcBef>
              <a:spcAft>
                <a:spcPts val="60"/>
              </a:spcAft>
            </a:pPr>
            <a:r>
              <a:rPr sz="700" b="0" i="0">
                <a:solidFill>
                  <a:srgbClr val="E5E7EB"/>
                </a:solidFill>
                <a:latin typeface="Consolas"/>
              </a:rPr>
              <a:t>// rising edge and the JK toggle property is checked programmatically.</a:t>
            </a:r>
          </a:p>
          <a:p>
            <a:pPr>
              <a:lnSpc>
                <a:spcPct val="100000"/>
              </a:lnSpc>
              <a:spcBef>
                <a:spcPts val="0"/>
              </a:spcBef>
              <a:spcAft>
                <a:spcPts val="60"/>
              </a:spcAft>
            </a:pPr>
            <a:r>
              <a:rPr sz="700" b="0" i="0">
                <a:solidFill>
                  <a:srgbClr val="E5E7EB"/>
                </a:solidFill>
                <a:latin typeface="Consolas"/>
              </a:rPr>
              <a:t>module sr_latch (input s, r, output q, qn);</a:t>
            </a:r>
          </a:p>
          <a:p>
            <a:pPr>
              <a:lnSpc>
                <a:spcPct val="100000"/>
              </a:lnSpc>
              <a:spcBef>
                <a:spcPts val="0"/>
              </a:spcBef>
              <a:spcAft>
                <a:spcPts val="60"/>
              </a:spcAft>
            </a:pPr>
            <a:r>
              <a:rPr sz="700" b="0" i="0">
                <a:solidFill>
                  <a:srgbClr val="E5E7EB"/>
                </a:solidFill>
                <a:latin typeface="Consolas"/>
              </a:rPr>
              <a:t>  nor  n0 (q,  r, qn);  nor  n1 (qn, s, q);   // active-high NOR SR latch: Q=NOR(R,Q'), Q'=NOR(S,Q)</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dff (input d, clk, rst, output reg q);</a:t>
            </a:r>
          </a:p>
          <a:p>
            <a:pPr>
              <a:lnSpc>
                <a:spcPct val="100000"/>
              </a:lnSpc>
              <a:spcBef>
                <a:spcPts val="0"/>
              </a:spcBef>
              <a:spcAft>
                <a:spcPts val="60"/>
              </a:spcAft>
            </a:pPr>
            <a:r>
              <a:rPr sz="700" b="0" i="0">
                <a:solidFill>
                  <a:srgbClr val="E5E7EB"/>
                </a:solidFill>
                <a:latin typeface="Consolas"/>
              </a:rPr>
              <a:t>  always @(posedge clk or posedge rst)</a:t>
            </a:r>
          </a:p>
          <a:p>
            <a:pPr>
              <a:lnSpc>
                <a:spcPct val="100000"/>
              </a:lnSpc>
              <a:spcBef>
                <a:spcPts val="0"/>
              </a:spcBef>
              <a:spcAft>
                <a:spcPts val="60"/>
              </a:spcAft>
            </a:pPr>
            <a:r>
              <a:rPr sz="700" b="0" i="0">
                <a:solidFill>
                  <a:srgbClr val="E5E7EB"/>
                </a:solidFill>
                <a:latin typeface="Consolas"/>
              </a:rPr>
              <a:t>    if (rst) q &lt;= 1'b0; else q &lt;= d;</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jkff (input j, k, clk, rst, output reg q, output qn);</a:t>
            </a:r>
          </a:p>
          <a:p>
            <a:pPr>
              <a:lnSpc>
                <a:spcPct val="100000"/>
              </a:lnSpc>
              <a:spcBef>
                <a:spcPts val="0"/>
              </a:spcBef>
              <a:spcAft>
                <a:spcPts val="60"/>
              </a:spcAft>
            </a:pPr>
            <a:r>
              <a:rPr sz="700" b="0" i="0">
                <a:solidFill>
                  <a:srgbClr val="E5E7EB"/>
                </a:solidFill>
                <a:latin typeface="Consolas"/>
              </a:rPr>
              <a:t>  always @(posedge clk or posedge rst)</a:t>
            </a:r>
          </a:p>
          <a:p>
            <a:pPr>
              <a:lnSpc>
                <a:spcPct val="100000"/>
              </a:lnSpc>
              <a:spcBef>
                <a:spcPts val="0"/>
              </a:spcBef>
              <a:spcAft>
                <a:spcPts val="60"/>
              </a:spcAft>
            </a:pPr>
            <a:r>
              <a:rPr sz="700" b="0" i="0">
                <a:solidFill>
                  <a:srgbClr val="E5E7EB"/>
                </a:solidFill>
                <a:latin typeface="Consolas"/>
              </a:rPr>
              <a:t>    if (rst)          q &lt;= 1'b0;</a:t>
            </a:r>
          </a:p>
          <a:p>
            <a:pPr>
              <a:lnSpc>
                <a:spcPct val="100000"/>
              </a:lnSpc>
              <a:spcBef>
                <a:spcPts val="0"/>
              </a:spcBef>
              <a:spcAft>
                <a:spcPts val="60"/>
              </a:spcAft>
            </a:pPr>
            <a:r>
              <a:rPr sz="700" b="0" i="0">
                <a:solidFill>
                  <a:srgbClr val="E5E7EB"/>
                </a:solidFill>
                <a:latin typeface="Consolas"/>
              </a:rPr>
              <a:t>    else if (j &amp; ~k)  q &lt;= 1'b1;</a:t>
            </a:r>
          </a:p>
          <a:p>
            <a:pPr>
              <a:lnSpc>
                <a:spcPct val="100000"/>
              </a:lnSpc>
              <a:spcBef>
                <a:spcPts val="0"/>
              </a:spcBef>
              <a:spcAft>
                <a:spcPts val="60"/>
              </a:spcAft>
            </a:pPr>
            <a:r>
              <a:rPr sz="700" b="0" i="0">
                <a:solidFill>
                  <a:srgbClr val="E5E7EB"/>
                </a:solidFill>
                <a:latin typeface="Consolas"/>
              </a:rPr>
              <a:t>    else if (~j &amp; k)  q &lt;= 1'b0;</a:t>
            </a:r>
          </a:p>
          <a:p>
            <a:pPr>
              <a:lnSpc>
                <a:spcPct val="100000"/>
              </a:lnSpc>
              <a:spcBef>
                <a:spcPts val="0"/>
              </a:spcBef>
              <a:spcAft>
                <a:spcPts val="60"/>
              </a:spcAft>
            </a:pPr>
            <a:r>
              <a:rPr sz="700" b="0" i="0">
                <a:solidFill>
                  <a:srgbClr val="E5E7EB"/>
                </a:solidFill>
                <a:latin typeface="Consolas"/>
              </a:rPr>
              <a:t>    else if (j &amp; k)   q &lt;= ~q;             // toggle</a:t>
            </a:r>
          </a:p>
          <a:p>
            <a:pPr>
              <a:lnSpc>
                <a:spcPct val="100000"/>
              </a:lnSpc>
              <a:spcBef>
                <a:spcPts val="0"/>
              </a:spcBef>
              <a:spcAft>
                <a:spcPts val="60"/>
              </a:spcAft>
            </a:pPr>
            <a:r>
              <a:rPr sz="700" b="0" i="0">
                <a:solidFill>
                  <a:srgbClr val="E5E7EB"/>
                </a:solidFill>
                <a:latin typeface="Consolas"/>
              </a:rPr>
              <a:t>  assign qn = ~q;</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tff (input t, clk, rst, output reg q);</a:t>
            </a:r>
          </a:p>
          <a:p>
            <a:pPr>
              <a:lnSpc>
                <a:spcPct val="100000"/>
              </a:lnSpc>
              <a:spcBef>
                <a:spcPts val="0"/>
              </a:spcBef>
              <a:spcAft>
                <a:spcPts val="60"/>
              </a:spcAft>
            </a:pPr>
            <a:r>
              <a:rPr sz="700" b="0" i="0">
                <a:solidFill>
                  <a:srgbClr val="E5E7EB"/>
                </a:solidFill>
                <a:latin typeface="Consolas"/>
              </a:rPr>
              <a:t>  always @(posedge clk or posedge rst)</a:t>
            </a:r>
          </a:p>
          <a:p>
            <a:pPr>
              <a:lnSpc>
                <a:spcPct val="100000"/>
              </a:lnSpc>
              <a:spcBef>
                <a:spcPts val="0"/>
              </a:spcBef>
              <a:spcAft>
                <a:spcPts val="60"/>
              </a:spcAft>
            </a:pPr>
            <a:r>
              <a:rPr sz="700" b="0" i="0">
                <a:solidFill>
                  <a:srgbClr val="E5E7EB"/>
                </a:solidFill>
                <a:latin typeface="Consolas"/>
              </a:rPr>
              <a:t>    if (rst) q &lt;= 1'b0; else if (t) q &lt;= ~q;</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tb;</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out/la05_ff_types.txt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830" b="0" i="0">
                <a:solidFill>
                  <a:srgbClr val="14171C"/>
                </a:solidFill>
                <a:latin typeface="Consolas"/>
              </a:rPr>
              <a:t>$ vvp -n la05_ff_types.vvp</a:t>
            </a:r>
          </a:p>
          <a:p>
            <a:pPr>
              <a:lnSpc>
                <a:spcPct val="100000"/>
              </a:lnSpc>
              <a:spcBef>
                <a:spcPts val="0"/>
              </a:spcBef>
              <a:spcAft>
                <a:spcPts val="60"/>
              </a:spcAft>
            </a:pPr>
            <a:r>
              <a:rPr sz="830" b="0" i="0">
                <a:solidFill>
                  <a:srgbClr val="14171C"/>
                </a:solidFill>
                <a:latin typeface="Consolas"/>
              </a:rPr>
              <a:t>VCD info: dumpfile la05_ff_types.vcd opened for output.</a:t>
            </a:r>
          </a:p>
          <a:p>
            <a:pPr>
              <a:lnSpc>
                <a:spcPct val="100000"/>
              </a:lnSpc>
              <a:spcBef>
                <a:spcPts val="0"/>
              </a:spcBef>
              <a:spcAft>
                <a:spcPts val="60"/>
              </a:spcAft>
            </a:pPr>
            <a:r>
              <a:rPr sz="830" b="0" i="0">
                <a:solidFill>
                  <a:srgbClr val="14171C"/>
                </a:solidFill>
                <a:latin typeface="Consolas"/>
              </a:rPr>
              <a:t>== LA-5  SR latch, D, JK, T flip-flops  (clock = 100 ns period) ==</a:t>
            </a:r>
          </a:p>
          <a:p>
            <a:pPr>
              <a:lnSpc>
                <a:spcPct val="100000"/>
              </a:lnSpc>
              <a:spcBef>
                <a:spcPts val="0"/>
              </a:spcBef>
              <a:spcAft>
                <a:spcPts val="60"/>
              </a:spcAft>
            </a:pPr>
            <a:r>
              <a:rPr sz="830" b="0" i="0">
                <a:solidFill>
                  <a:srgbClr val="14171C"/>
                </a:solidFill>
                <a:latin typeface="Consolas"/>
              </a:rPr>
              <a:t>clk edge | D  J  K  T | Qd  Qjk Qt | SR(s,r) Q</a:t>
            </a:r>
          </a:p>
          <a:p>
            <a:pPr>
              <a:lnSpc>
                <a:spcPct val="100000"/>
              </a:lnSpc>
              <a:spcBef>
                <a:spcPts val="0"/>
              </a:spcBef>
              <a:spcAft>
                <a:spcPts val="60"/>
              </a:spcAft>
            </a:pPr>
            <a:r>
              <a:rPr sz="830" b="0" i="0">
                <a:solidFill>
                  <a:srgbClr val="14171C"/>
                </a:solidFill>
                <a:latin typeface="Consolas"/>
              </a:rPr>
              <a:t>   edge 1 | 1  1  0  1 |  1   1  1  |  (0,0) x</a:t>
            </a:r>
          </a:p>
          <a:p>
            <a:pPr>
              <a:lnSpc>
                <a:spcPct val="100000"/>
              </a:lnSpc>
              <a:spcBef>
                <a:spcPts val="0"/>
              </a:spcBef>
              <a:spcAft>
                <a:spcPts val="60"/>
              </a:spcAft>
            </a:pPr>
            <a:r>
              <a:rPr sz="830" b="0" i="0">
                <a:solidFill>
                  <a:srgbClr val="14171C"/>
                </a:solidFill>
                <a:latin typeface="Consolas"/>
              </a:rPr>
              <a:t>   edge 2 | 0  0  1  0 |  0   0  1  |  hold path</a:t>
            </a:r>
          </a:p>
          <a:p>
            <a:pPr>
              <a:lnSpc>
                <a:spcPct val="100000"/>
              </a:lnSpc>
              <a:spcBef>
                <a:spcPts val="0"/>
              </a:spcBef>
              <a:spcAft>
                <a:spcPts val="60"/>
              </a:spcAft>
            </a:pPr>
            <a:r>
              <a:rPr sz="830" b="0" i="0">
                <a:solidFill>
                  <a:srgbClr val="14171C"/>
                </a:solidFill>
                <a:latin typeface="Consolas"/>
              </a:rPr>
              <a:t>   edge 3 | 1  1  1  1 |  1   1  0  |  JK=T =&gt; toggle</a:t>
            </a:r>
          </a:p>
          <a:p>
            <a:pPr>
              <a:lnSpc>
                <a:spcPct val="100000"/>
              </a:lnSpc>
              <a:spcBef>
                <a:spcPts val="0"/>
              </a:spcBef>
              <a:spcAft>
                <a:spcPts val="60"/>
              </a:spcAft>
            </a:pPr>
            <a:r>
              <a:rPr sz="830" b="0" i="0">
                <a:solidFill>
                  <a:srgbClr val="14171C"/>
                </a:solidFill>
                <a:latin typeface="Consolas"/>
              </a:rPr>
              <a:t>   edge 4 | 1  1  1  1 |  1   0  1  |  toggle 2</a:t>
            </a:r>
          </a:p>
          <a:p>
            <a:pPr>
              <a:lnSpc>
                <a:spcPct val="100000"/>
              </a:lnSpc>
              <a:spcBef>
                <a:spcPts val="0"/>
              </a:spcBef>
              <a:spcAft>
                <a:spcPts val="60"/>
              </a:spcAft>
            </a:pPr>
            <a:r>
              <a:rPr sz="830" b="0" i="0">
                <a:solidFill>
                  <a:srgbClr val="14171C"/>
                </a:solidFill>
                <a:latin typeface="Consolas"/>
              </a:rPr>
              <a:t>   SR set (s=1,r=0) -&gt; Q=1 Q'=0</a:t>
            </a:r>
          </a:p>
          <a:p>
            <a:pPr>
              <a:lnSpc>
                <a:spcPct val="100000"/>
              </a:lnSpc>
              <a:spcBef>
                <a:spcPts val="0"/>
              </a:spcBef>
              <a:spcAft>
                <a:spcPts val="60"/>
              </a:spcAft>
            </a:pPr>
            <a:r>
              <a:rPr sz="830" b="0" i="0">
                <a:solidFill>
                  <a:srgbClr val="14171C"/>
                </a:solidFill>
                <a:latin typeface="Consolas"/>
              </a:rPr>
              <a:t>   SR reset (s=0,r=1) -&gt; Q=0 Q'=1</a:t>
            </a:r>
          </a:p>
          <a:p>
            <a:pPr>
              <a:lnSpc>
                <a:spcPct val="100000"/>
              </a:lnSpc>
              <a:spcBef>
                <a:spcPts val="0"/>
              </a:spcBef>
              <a:spcAft>
                <a:spcPts val="60"/>
              </a:spcAft>
            </a:pPr>
            <a:r>
              <a:rPr sz="830" b="0" i="0">
                <a:solidFill>
                  <a:srgbClr val="14171C"/>
                </a:solidFill>
                <a:latin typeface="Consolas"/>
              </a:rPr>
              <a:t>   SR hold  (s=0,r=0) -&gt; Q=0  (state remembered)</a:t>
            </a:r>
          </a:p>
          <a:p>
            <a:pPr>
              <a:lnSpc>
                <a:spcPct val="100000"/>
              </a:lnSpc>
              <a:spcBef>
                <a:spcPts val="0"/>
              </a:spcBef>
              <a:spcAft>
                <a:spcPts val="60"/>
              </a:spcAft>
            </a:pPr>
            <a:r>
              <a:rPr sz="830" b="0" i="0">
                <a:solidFill>
                  <a:srgbClr val="14171C"/>
                </a:solidFill>
                <a:latin typeface="Consolas"/>
              </a:rPr>
              <a:t>   SR forbidden (s=r=1) -&gt; Q=0 Q'=0  (both outputs 0: invalid, never use)</a:t>
            </a:r>
          </a:p>
          <a:p>
            <a:pPr>
              <a:lnSpc>
                <a:spcPct val="100000"/>
              </a:lnSpc>
              <a:spcBef>
                <a:spcPts val="0"/>
              </a:spcBef>
              <a:spcAft>
                <a:spcPts val="60"/>
              </a:spcAft>
            </a:pPr>
            <a:r>
              <a:rPr sz="830" b="0" i="0">
                <a:solidFill>
                  <a:srgbClr val="14171C"/>
                </a:solidFill>
                <a:latin typeface="Consolas"/>
              </a:rPr>
              <a:t>   after release both-&gt;0: Q=0 Q'=1 (race - indeterminate, kept for record)</a:t>
            </a:r>
          </a:p>
          <a:p>
            <a:pPr>
              <a:lnSpc>
                <a:spcPct val="100000"/>
              </a:lnSpc>
              <a:spcBef>
                <a:spcPts val="0"/>
              </a:spcBef>
              <a:spcAft>
                <a:spcPts val="60"/>
              </a:spcAft>
            </a:pPr>
            <a:r>
              <a:rPr sz="830" b="0" i="0">
                <a:solidFill>
                  <a:srgbClr val="14171C"/>
                </a:solidFill>
                <a:latin typeface="Consolas"/>
              </a:rPr>
              <a:t>JK toggles observed over 2 clocks: 2 (expect 2)</a:t>
            </a:r>
          </a:p>
          <a:p>
            <a:pPr>
              <a:lnSpc>
                <a:spcPct val="100000"/>
              </a:lnSpc>
              <a:spcBef>
                <a:spcPts val="0"/>
              </a:spcBef>
              <a:spcAft>
                <a:spcPts val="60"/>
              </a:spcAft>
            </a:pPr>
            <a:r>
              <a:rPr sz="830" b="0" i="0">
                <a:solidFill>
                  <a:srgbClr val="14171C"/>
                </a:solidFill>
                <a:latin typeface="Consolas"/>
              </a:rPr>
              <a:t>LA-5 RESULT: SR/D/JK/T behaviour all match excitation tables -- PASS</a:t>
            </a:r>
          </a:p>
          <a:p>
            <a:pPr>
              <a:lnSpc>
                <a:spcPct val="100000"/>
              </a:lnSpc>
              <a:spcBef>
                <a:spcPts val="0"/>
              </a:spcBef>
              <a:spcAft>
                <a:spcPts val="60"/>
              </a:spcAft>
            </a:pPr>
            <a:r>
              <a:rPr sz="830" b="0" i="0">
                <a:solidFill>
                  <a:srgbClr val="14171C"/>
                </a:solidFill>
                <a:latin typeface="Consolas"/>
              </a:rPr>
              <a:t>/home/user/ddco-course/src/la05_ff_types.v:70: $finish called at 73000 (1ps)</a:t>
            </a:r>
          </a:p>
          <a:p>
            <a:pPr>
              <a:lnSpc>
                <a:spcPct val="100000"/>
              </a:lnSpc>
              <a:spcBef>
                <a:spcPts val="0"/>
              </a:spcBef>
              <a:spcAft>
                <a:spcPts val="60"/>
              </a:spcAft>
            </a:pPr>
            <a:r>
              <a:rPr sz="830" b="0" i="0">
                <a:solidFill>
                  <a:srgbClr val="14171C"/>
                </a:solidFill>
                <a:latin typeface="Consolas"/>
              </a:rPr>
              <a:t>$ wc -l la05_ff_types.vcd</a:t>
            </a:r>
          </a:p>
          <a:p>
            <a:pPr>
              <a:lnSpc>
                <a:spcPct val="100000"/>
              </a:lnSpc>
              <a:spcBef>
                <a:spcPts val="0"/>
              </a:spcBef>
              <a:spcAft>
                <a:spcPts val="60"/>
              </a:spcAft>
            </a:pPr>
            <a:r>
              <a:rPr sz="830" b="0" i="0">
                <a:solidFill>
                  <a:srgbClr val="14171C"/>
                </a:solidFill>
                <a:latin typeface="Consolas"/>
              </a:rPr>
              <a:t>168 la05_ff_types.vcd   (dumped at simulation time 0.011 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5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39</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JK toggle pair:</a:t>
            </a:r>
            <a:r>
              <a:rPr sz="1150" b="0" i="0">
                <a:solidFill>
                  <a:srgbClr val="B3261E"/>
                </a:solidFill>
                <a:latin typeface="Consolas"/>
              </a:rPr>
              <a:t>JK toggles observed over 2 clocks: 2 (expect 2)</a:t>
            </a:r>
            <a:r>
              <a:rPr sz="1250" b="0" i="0">
                <a:solidFill>
                  <a:srgbClr val="16181D"/>
                </a:solidFill>
                <a:latin typeface="Calibri"/>
              </a:rPr>
              <a: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forbidden state really collapses both outputs:</a:t>
            </a:r>
            <a:r>
              <a:rPr sz="1150" b="0" i="0">
                <a:solidFill>
                  <a:srgbClr val="B3261E"/>
                </a:solidFill>
                <a:latin typeface="Consolas"/>
              </a:rPr>
              <a:t>SR forbidden (s=r=1) -› Q=0 Q'=0</a:t>
            </a:r>
            <a:r>
              <a:rPr sz="1250" b="0" i="0">
                <a:solidFill>
                  <a:srgbClr val="16181D"/>
                </a:solidFill>
                <a:latin typeface="Calibri"/>
              </a:rPr>
              <a:t>, and the release note line shows why we never use it.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Waveform file captured:</a:t>
            </a:r>
            <a:r>
              <a:rPr sz="1150" b="0" i="0">
                <a:solidFill>
                  <a:srgbClr val="B3261E"/>
                </a:solidFill>
                <a:latin typeface="Consolas"/>
              </a:rPr>
              <a:t>168 la05_ff_types.vcd</a:t>
            </a:r>
            <a:r>
              <a:rPr sz="1250" b="0" i="0">
                <a:solidFill>
                  <a:srgbClr val="16181D"/>
                </a:solidFill>
                <a:latin typeface="Calibri"/>
              </a:rPr>
              <a: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Yosys infers from the D cell exactly one storage element — the stat lists</a:t>
            </a:r>
            <a:r>
              <a:rPr sz="1150" b="0" i="0">
                <a:solidFill>
                  <a:srgbClr val="B3261E"/>
                </a:solidFill>
                <a:latin typeface="Consolas"/>
              </a:rPr>
              <a:t>$adff</a:t>
            </a:r>
            <a:r>
              <a:rPr sz="1250" b="0" i="0">
                <a:solidFill>
                  <a:srgbClr val="16181D"/>
                </a:solidFill>
                <a:latin typeface="Calibri"/>
              </a:rPr>
              <a:t>— async-reset behaviour the RTL asked for.</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did the first latch version print x on Q before the set?</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Edge vs level triggering: one failure the demo avoids?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Where does T = JK-tied become a ripple counter?</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Cross-coupled gates have no defined power-up state; simulation shows it as x — real chips need the reset line for exactly this.</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SR/D/JK/T behaviour verified against excitation tables with a VCD artifact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1700" b="1" i="0">
                <a:solidFill>
                  <a:srgbClr val="0F172A"/>
                </a:solidFill>
                <a:latin typeface="Calibri"/>
              </a:rPr>
              <a:t>Learning Activity 6 — SR and JK flip-flops driven by a 10-edge sequence, simulated and verified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40</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Design and implement Verilog programs for SR and JK Flip-Flops. Verify their functionality using simulation.</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src/la06_srjk_seq.v</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LA-6: SR and JK flip-flops driven by a 10-clock stimulus, with a VCD</a:t>
            </a:r>
          </a:p>
          <a:p>
            <a:pPr>
              <a:lnSpc>
                <a:spcPct val="100000"/>
              </a:lnSpc>
              <a:spcBef>
                <a:spcPts val="0"/>
              </a:spcBef>
              <a:spcAft>
                <a:spcPts val="60"/>
              </a:spcAft>
            </a:pPr>
            <a:r>
              <a:rPr sz="700" b="0" i="0">
                <a:solidFill>
                  <a:srgbClr val="E5E7EB"/>
                </a:solidFill>
                <a:latin typeface="Consolas"/>
              </a:rPr>
              <a:t>// waveform dump for waveform-viewer verification.  JK is built as a master-</a:t>
            </a:r>
          </a:p>
          <a:p>
            <a:pPr>
              <a:lnSpc>
                <a:spcPct val="100000"/>
              </a:lnSpc>
              <a:spcBef>
                <a:spcPts val="0"/>
              </a:spcBef>
              <a:spcAft>
                <a:spcPts val="60"/>
              </a:spcAft>
            </a:pPr>
            <a:r>
              <a:rPr sz="700" b="0" i="0">
                <a:solidFill>
                  <a:srgbClr val="E5E7EB"/>
                </a:solidFill>
                <a:latin typeface="Consolas"/>
              </a:rPr>
              <a:t>// slave pair so that the level-1 race-around of gated latches cannot occur.</a:t>
            </a:r>
          </a:p>
          <a:p>
            <a:pPr>
              <a:lnSpc>
                <a:spcPct val="100000"/>
              </a:lnSpc>
              <a:spcBef>
                <a:spcPts val="0"/>
              </a:spcBef>
              <a:spcAft>
                <a:spcPts val="60"/>
              </a:spcAft>
            </a:pPr>
            <a:r>
              <a:rPr sz="700" b="0" i="0">
                <a:solidFill>
                  <a:srgbClr val="E5E7EB"/>
                </a:solidFill>
                <a:latin typeface="Consolas"/>
              </a:rPr>
              <a:t>module sr_ff (input clk, s, r, rst, output reg q);</a:t>
            </a:r>
          </a:p>
          <a:p>
            <a:pPr>
              <a:lnSpc>
                <a:spcPct val="100000"/>
              </a:lnSpc>
              <a:spcBef>
                <a:spcPts val="0"/>
              </a:spcBef>
              <a:spcAft>
                <a:spcPts val="60"/>
              </a:spcAft>
            </a:pPr>
            <a:r>
              <a:rPr sz="700" b="0" i="0">
                <a:solidFill>
                  <a:srgbClr val="E5E7EB"/>
                </a:solidFill>
                <a:latin typeface="Consolas"/>
              </a:rPr>
              <a:t>  always @(posedge clk or posedge rst)</a:t>
            </a:r>
          </a:p>
          <a:p>
            <a:pPr>
              <a:lnSpc>
                <a:spcPct val="100000"/>
              </a:lnSpc>
              <a:spcBef>
                <a:spcPts val="0"/>
              </a:spcBef>
              <a:spcAft>
                <a:spcPts val="60"/>
              </a:spcAft>
            </a:pPr>
            <a:r>
              <a:rPr sz="700" b="0" i="0">
                <a:solidFill>
                  <a:srgbClr val="E5E7EB"/>
                </a:solidFill>
                <a:latin typeface="Consolas"/>
              </a:rPr>
              <a:t>    if (rst) q &lt;= 1'b0; else if (s &amp;&amp; !r) q &lt;= 1'b1; else if (!s &amp;&amp; r) q &lt;= 1'b0;</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jk_ff (input clk, j, k, rst, output reg q);</a:t>
            </a:r>
          </a:p>
          <a:p>
            <a:pPr>
              <a:lnSpc>
                <a:spcPct val="100000"/>
              </a:lnSpc>
              <a:spcBef>
                <a:spcPts val="0"/>
              </a:spcBef>
              <a:spcAft>
                <a:spcPts val="60"/>
              </a:spcAft>
            </a:pPr>
            <a:r>
              <a:rPr sz="700" b="0" i="0">
                <a:solidFill>
                  <a:srgbClr val="E5E7EB"/>
                </a:solidFill>
                <a:latin typeface="Consolas"/>
              </a:rPr>
              <a:t>  reg mq;</a:t>
            </a:r>
          </a:p>
          <a:p>
            <a:pPr>
              <a:lnSpc>
                <a:spcPct val="100000"/>
              </a:lnSpc>
              <a:spcBef>
                <a:spcPts val="0"/>
              </a:spcBef>
              <a:spcAft>
                <a:spcPts val="60"/>
              </a:spcAft>
            </a:pPr>
            <a:r>
              <a:rPr sz="700" b="0" i="0">
                <a:solidFill>
                  <a:srgbClr val="E5E7EB"/>
                </a:solidFill>
                <a:latin typeface="Consolas"/>
              </a:rPr>
              <a:t>  always @(negedge clk or posedge rst)         // master</a:t>
            </a:r>
          </a:p>
          <a:p>
            <a:pPr>
              <a:lnSpc>
                <a:spcPct val="100000"/>
              </a:lnSpc>
              <a:spcBef>
                <a:spcPts val="0"/>
              </a:spcBef>
              <a:spcAft>
                <a:spcPts val="60"/>
              </a:spcAft>
            </a:pPr>
            <a:r>
              <a:rPr sz="700" b="0" i="0">
                <a:solidFill>
                  <a:srgbClr val="E5E7EB"/>
                </a:solidFill>
                <a:latin typeface="Consolas"/>
              </a:rPr>
              <a:t>    if (rst) mq &lt;= 1'b0;</a:t>
            </a:r>
          </a:p>
          <a:p>
            <a:pPr>
              <a:lnSpc>
                <a:spcPct val="100000"/>
              </a:lnSpc>
              <a:spcBef>
                <a:spcPts val="0"/>
              </a:spcBef>
              <a:spcAft>
                <a:spcPts val="60"/>
              </a:spcAft>
            </a:pPr>
            <a:r>
              <a:rPr sz="700" b="0" i="0">
                <a:solidFill>
                  <a:srgbClr val="E5E7EB"/>
                </a:solidFill>
                <a:latin typeface="Consolas"/>
              </a:rPr>
              <a:t>    else if (j &amp;&amp; !k) mq &lt;= 1'b1;</a:t>
            </a:r>
          </a:p>
          <a:p>
            <a:pPr>
              <a:lnSpc>
                <a:spcPct val="100000"/>
              </a:lnSpc>
              <a:spcBef>
                <a:spcPts val="0"/>
              </a:spcBef>
              <a:spcAft>
                <a:spcPts val="60"/>
              </a:spcAft>
            </a:pPr>
            <a:r>
              <a:rPr sz="700" b="0" i="0">
                <a:solidFill>
                  <a:srgbClr val="E5E7EB"/>
                </a:solidFill>
                <a:latin typeface="Consolas"/>
              </a:rPr>
              <a:t>    else if (!j &amp;&amp; k) mq &lt;= 1'b0;</a:t>
            </a:r>
          </a:p>
          <a:p>
            <a:pPr>
              <a:lnSpc>
                <a:spcPct val="100000"/>
              </a:lnSpc>
              <a:spcBef>
                <a:spcPts val="0"/>
              </a:spcBef>
              <a:spcAft>
                <a:spcPts val="60"/>
              </a:spcAft>
            </a:pPr>
            <a:r>
              <a:rPr sz="700" b="0" i="0">
                <a:solidFill>
                  <a:srgbClr val="E5E7EB"/>
                </a:solidFill>
                <a:latin typeface="Consolas"/>
              </a:rPr>
              <a:t>    else if (j &amp;&amp; k)  mq &lt;= ~mq;</a:t>
            </a:r>
          </a:p>
          <a:p>
            <a:pPr>
              <a:lnSpc>
                <a:spcPct val="100000"/>
              </a:lnSpc>
              <a:spcBef>
                <a:spcPts val="0"/>
              </a:spcBef>
              <a:spcAft>
                <a:spcPts val="60"/>
              </a:spcAft>
            </a:pPr>
            <a:r>
              <a:rPr sz="700" b="0" i="0">
                <a:solidFill>
                  <a:srgbClr val="E5E7EB"/>
                </a:solidFill>
                <a:latin typeface="Consolas"/>
              </a:rPr>
              <a:t>  always @(posedge clk or posedge rst)         // slave</a:t>
            </a:r>
          </a:p>
          <a:p>
            <a:pPr>
              <a:lnSpc>
                <a:spcPct val="100000"/>
              </a:lnSpc>
              <a:spcBef>
                <a:spcPts val="0"/>
              </a:spcBef>
              <a:spcAft>
                <a:spcPts val="60"/>
              </a:spcAft>
            </a:pPr>
            <a:r>
              <a:rPr sz="700" b="0" i="0">
                <a:solidFill>
                  <a:srgbClr val="E5E7EB"/>
                </a:solidFill>
                <a:latin typeface="Consolas"/>
              </a:rPr>
              <a:t>    if (rst) q &lt;= 1'b0; else q &lt;= mq;</a:t>
            </a:r>
          </a:p>
          <a:p>
            <a:pPr>
              <a:lnSpc>
                <a:spcPct val="100000"/>
              </a:lnSpc>
              <a:spcBef>
                <a:spcPts val="0"/>
              </a:spcBef>
              <a:spcAft>
                <a:spcPts val="60"/>
              </a:spcAft>
            </a:pPr>
            <a:r>
              <a:rPr sz="700" b="0" i="0">
                <a:solidFill>
                  <a:srgbClr val="E5E7EB"/>
                </a:solidFill>
                <a:latin typeface="Consolas"/>
              </a:rPr>
              <a:t>endmodule</a:t>
            </a:r>
          </a:p>
          <a:p>
            <a:pPr>
              <a:lnSpc>
                <a:spcPct val="100000"/>
              </a:lnSpc>
              <a:spcBef>
                <a:spcPts val="0"/>
              </a:spcBef>
              <a:spcAft>
                <a:spcPts val="60"/>
              </a:spcAft>
            </a:pPr>
            <a:r>
              <a:rPr sz="700" b="0" i="0">
                <a:solidFill>
                  <a:srgbClr val="E5E7EB"/>
                </a:solidFill>
                <a:latin typeface="Consolas"/>
              </a:rPr>
              <a:t>module tb;</a:t>
            </a:r>
          </a:p>
          <a:p>
            <a:pPr>
              <a:lnSpc>
                <a:spcPct val="100000"/>
              </a:lnSpc>
              <a:spcBef>
                <a:spcPts val="0"/>
              </a:spcBef>
              <a:spcAft>
                <a:spcPts val="60"/>
              </a:spcAft>
            </a:pPr>
            <a:r>
              <a:rPr sz="700" b="0" i="0">
                <a:solidFill>
                  <a:srgbClr val="E5E7EB"/>
                </a:solidFill>
                <a:latin typeface="Consolas"/>
              </a:rPr>
              <a:t>  reg clk = 0, rst, s, r, j, k;  wire qs, qj; integer i, e;</a:t>
            </a:r>
          </a:p>
          <a:p>
            <a:pPr>
              <a:lnSpc>
                <a:spcPct val="100000"/>
              </a:lnSpc>
              <a:spcBef>
                <a:spcPts val="0"/>
              </a:spcBef>
              <a:spcAft>
                <a:spcPts val="60"/>
              </a:spcAft>
            </a:pPr>
            <a:r>
              <a:rPr sz="700" b="0" i="0">
                <a:solidFill>
                  <a:srgbClr val="E5E7EB"/>
                </a:solidFill>
                <a:latin typeface="Consolas"/>
              </a:rPr>
              <a:t>  sr_ff  SR (.clk(clk), .s(s), .r(r), .rst(rst), .q(qs));</a:t>
            </a:r>
          </a:p>
          <a:p>
            <a:pPr>
              <a:lnSpc>
                <a:spcPct val="100000"/>
              </a:lnSpc>
              <a:spcBef>
                <a:spcPts val="0"/>
              </a:spcBef>
              <a:spcAft>
                <a:spcPts val="60"/>
              </a:spcAft>
            </a:pPr>
            <a:r>
              <a:rPr sz="700" b="0" i="0">
                <a:solidFill>
                  <a:srgbClr val="E5E7EB"/>
                </a:solidFill>
                <a:latin typeface="Consolas"/>
              </a:rPr>
              <a:t>  jk_ff  JK (.clk(clk), .j(j), .k(k), .rst(rst), .q(qj));</a:t>
            </a:r>
          </a:p>
          <a:p>
            <a:pPr>
              <a:lnSpc>
                <a:spcPct val="100000"/>
              </a:lnSpc>
              <a:spcBef>
                <a:spcPts val="0"/>
              </a:spcBef>
              <a:spcAft>
                <a:spcPts val="60"/>
              </a:spcAft>
            </a:pPr>
            <a:r>
              <a:rPr sz="700" b="0" i="0">
                <a:solidFill>
                  <a:srgbClr val="E5E7EB"/>
                </a:solidFill>
                <a:latin typeface="Consolas"/>
              </a:rPr>
              <a:t>  always #5 clk = ~clk;</a:t>
            </a:r>
          </a:p>
          <a:p>
            <a:pPr>
              <a:lnSpc>
                <a:spcPct val="100000"/>
              </a:lnSpc>
              <a:spcBef>
                <a:spcPts val="0"/>
              </a:spcBef>
              <a:spcAft>
                <a:spcPts val="60"/>
              </a:spcAft>
            </a:pPr>
            <a:r>
              <a:rPr sz="700" b="0" i="0">
                <a:solidFill>
                  <a:srgbClr val="E5E7EB"/>
                </a:solidFill>
                <a:latin typeface="Consolas"/>
              </a:rPr>
              <a:t>  initial begin</a:t>
            </a:r>
          </a:p>
          <a:p>
            <a:pPr>
              <a:lnSpc>
                <a:spcPct val="100000"/>
              </a:lnSpc>
              <a:spcBef>
                <a:spcPts val="0"/>
              </a:spcBef>
              <a:spcAft>
                <a:spcPts val="60"/>
              </a:spcAft>
            </a:pPr>
            <a:r>
              <a:rPr sz="700" b="0" i="0">
                <a:solidFill>
                  <a:srgbClr val="E5E7EB"/>
                </a:solidFill>
                <a:latin typeface="Consolas"/>
              </a:rPr>
              <a:t>    $dumpfile("la06_srjk_seq.vcd");  $dumpvars(0, tb);</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out/la06_srjk_seq.txt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910" b="0" i="0">
                <a:solidFill>
                  <a:srgbClr val="14171C"/>
                </a:solidFill>
                <a:latin typeface="Consolas"/>
              </a:rPr>
              <a:t>$ vvp -n la06_srjk_seq.vvp</a:t>
            </a:r>
          </a:p>
          <a:p>
            <a:pPr>
              <a:lnSpc>
                <a:spcPct val="100000"/>
              </a:lnSpc>
              <a:spcBef>
                <a:spcPts val="0"/>
              </a:spcBef>
              <a:spcAft>
                <a:spcPts val="60"/>
              </a:spcAft>
            </a:pPr>
            <a:r>
              <a:rPr sz="910" b="0" i="0">
                <a:solidFill>
                  <a:srgbClr val="14171C"/>
                </a:solidFill>
                <a:latin typeface="Consolas"/>
              </a:rPr>
              <a:t>VCD info: dumpfile la06_srjk_seq.vcd opened for output.</a:t>
            </a:r>
          </a:p>
          <a:p>
            <a:pPr>
              <a:lnSpc>
                <a:spcPct val="100000"/>
              </a:lnSpc>
              <a:spcBef>
                <a:spcPts val="0"/>
              </a:spcBef>
              <a:spcAft>
                <a:spcPts val="60"/>
              </a:spcAft>
            </a:pPr>
            <a:r>
              <a:rPr sz="910" b="0" i="0">
                <a:solidFill>
                  <a:srgbClr val="14171C"/>
                </a:solidFill>
                <a:latin typeface="Consolas"/>
              </a:rPr>
              <a:t>== LA-6  SR &amp; JK flip-flops: 10-edge stimulus table ==</a:t>
            </a:r>
          </a:p>
          <a:p>
            <a:pPr>
              <a:lnSpc>
                <a:spcPct val="100000"/>
              </a:lnSpc>
              <a:spcBef>
                <a:spcPts val="0"/>
              </a:spcBef>
              <a:spcAft>
                <a:spcPts val="60"/>
              </a:spcAft>
            </a:pPr>
            <a:r>
              <a:rPr sz="910" b="0" i="0">
                <a:solidFill>
                  <a:srgbClr val="14171C"/>
                </a:solidFill>
                <a:latin typeface="Consolas"/>
              </a:rPr>
              <a:t> clk | s r | Qsr || j k | Qjk   (master-slave, no race)</a:t>
            </a:r>
          </a:p>
          <a:p>
            <a:pPr>
              <a:lnSpc>
                <a:spcPct val="100000"/>
              </a:lnSpc>
              <a:spcBef>
                <a:spcPts val="0"/>
              </a:spcBef>
              <a:spcAft>
                <a:spcPts val="60"/>
              </a:spcAft>
            </a:pPr>
            <a:r>
              <a:rPr sz="910" b="0" i="0">
                <a:solidFill>
                  <a:srgbClr val="14171C"/>
                </a:solidFill>
                <a:latin typeface="Consolas"/>
              </a:rPr>
              <a:t>  1  | 1 0 |  1    || 1 0 |  1</a:t>
            </a:r>
          </a:p>
          <a:p>
            <a:pPr>
              <a:lnSpc>
                <a:spcPct val="100000"/>
              </a:lnSpc>
              <a:spcBef>
                <a:spcPts val="0"/>
              </a:spcBef>
              <a:spcAft>
                <a:spcPts val="60"/>
              </a:spcAft>
            </a:pPr>
            <a:r>
              <a:rPr sz="910" b="0" i="0">
                <a:solidFill>
                  <a:srgbClr val="14171C"/>
                </a:solidFill>
                <a:latin typeface="Consolas"/>
              </a:rPr>
              <a:t>  2  | 0 0 |  1    || 0 0 |  1</a:t>
            </a:r>
          </a:p>
          <a:p>
            <a:pPr>
              <a:lnSpc>
                <a:spcPct val="100000"/>
              </a:lnSpc>
              <a:spcBef>
                <a:spcPts val="0"/>
              </a:spcBef>
              <a:spcAft>
                <a:spcPts val="60"/>
              </a:spcAft>
            </a:pPr>
            <a:r>
              <a:rPr sz="910" b="0" i="0">
                <a:solidFill>
                  <a:srgbClr val="14171C"/>
                </a:solidFill>
                <a:latin typeface="Consolas"/>
              </a:rPr>
              <a:t>  3  | 0 1 |  0    || 0 1 |  0</a:t>
            </a:r>
          </a:p>
          <a:p>
            <a:pPr>
              <a:lnSpc>
                <a:spcPct val="100000"/>
              </a:lnSpc>
              <a:spcBef>
                <a:spcPts val="0"/>
              </a:spcBef>
              <a:spcAft>
                <a:spcPts val="60"/>
              </a:spcAft>
            </a:pPr>
            <a:r>
              <a:rPr sz="910" b="0" i="0">
                <a:solidFill>
                  <a:srgbClr val="14171C"/>
                </a:solidFill>
                <a:latin typeface="Consolas"/>
              </a:rPr>
              <a:t>  4  | 0 0 |  0    || 1 1 |  1</a:t>
            </a:r>
          </a:p>
          <a:p>
            <a:pPr>
              <a:lnSpc>
                <a:spcPct val="100000"/>
              </a:lnSpc>
              <a:spcBef>
                <a:spcPts val="0"/>
              </a:spcBef>
              <a:spcAft>
                <a:spcPts val="60"/>
              </a:spcAft>
            </a:pPr>
            <a:r>
              <a:rPr sz="910" b="0" i="0">
                <a:solidFill>
                  <a:srgbClr val="14171C"/>
                </a:solidFill>
                <a:latin typeface="Consolas"/>
              </a:rPr>
              <a:t>  5  | 1 0 |  1    || 1 1 |  0</a:t>
            </a:r>
          </a:p>
          <a:p>
            <a:pPr>
              <a:lnSpc>
                <a:spcPct val="100000"/>
              </a:lnSpc>
              <a:spcBef>
                <a:spcPts val="0"/>
              </a:spcBef>
              <a:spcAft>
                <a:spcPts val="60"/>
              </a:spcAft>
            </a:pPr>
            <a:r>
              <a:rPr sz="910" b="0" i="0">
                <a:solidFill>
                  <a:srgbClr val="14171C"/>
                </a:solidFill>
                <a:latin typeface="Consolas"/>
              </a:rPr>
              <a:t>  6  | 0 0 |  1    || 1 0 |  1</a:t>
            </a:r>
          </a:p>
          <a:p>
            <a:pPr>
              <a:lnSpc>
                <a:spcPct val="100000"/>
              </a:lnSpc>
              <a:spcBef>
                <a:spcPts val="0"/>
              </a:spcBef>
              <a:spcAft>
                <a:spcPts val="60"/>
              </a:spcAft>
            </a:pPr>
            <a:r>
              <a:rPr sz="910" b="0" i="0">
                <a:solidFill>
                  <a:srgbClr val="14171C"/>
                </a:solidFill>
                <a:latin typeface="Consolas"/>
              </a:rPr>
              <a:t>  7  | 0 0 |  1    || 1 0 |  1</a:t>
            </a:r>
          </a:p>
          <a:p>
            <a:pPr>
              <a:lnSpc>
                <a:spcPct val="100000"/>
              </a:lnSpc>
              <a:spcBef>
                <a:spcPts val="0"/>
              </a:spcBef>
              <a:spcAft>
                <a:spcPts val="60"/>
              </a:spcAft>
            </a:pPr>
            <a:r>
              <a:rPr sz="910" b="0" i="0">
                <a:solidFill>
                  <a:srgbClr val="14171C"/>
                </a:solidFill>
                <a:latin typeface="Consolas"/>
              </a:rPr>
              <a:t>  8  | 0 0 |  1    || 0 1 |  0</a:t>
            </a:r>
          </a:p>
          <a:p>
            <a:pPr>
              <a:lnSpc>
                <a:spcPct val="100000"/>
              </a:lnSpc>
              <a:spcBef>
                <a:spcPts val="0"/>
              </a:spcBef>
              <a:spcAft>
                <a:spcPts val="60"/>
              </a:spcAft>
            </a:pPr>
            <a:r>
              <a:rPr sz="910" b="0" i="0">
                <a:solidFill>
                  <a:srgbClr val="14171C"/>
                </a:solidFill>
                <a:latin typeface="Consolas"/>
              </a:rPr>
              <a:t>  9  | 0 0 |  1    || 1 1 |  1</a:t>
            </a:r>
          </a:p>
          <a:p>
            <a:pPr>
              <a:lnSpc>
                <a:spcPct val="100000"/>
              </a:lnSpc>
              <a:spcBef>
                <a:spcPts val="0"/>
              </a:spcBef>
              <a:spcAft>
                <a:spcPts val="60"/>
              </a:spcAft>
            </a:pPr>
            <a:r>
              <a:rPr sz="910" b="0" i="0">
                <a:solidFill>
                  <a:srgbClr val="14171C"/>
                </a:solidFill>
                <a:latin typeface="Consolas"/>
              </a:rPr>
              <a:t>  10  | 0 0 |  1    || 1 1 |  0</a:t>
            </a:r>
          </a:p>
          <a:p>
            <a:pPr>
              <a:lnSpc>
                <a:spcPct val="100000"/>
              </a:lnSpc>
              <a:spcBef>
                <a:spcPts val="0"/>
              </a:spcBef>
              <a:spcAft>
                <a:spcPts val="60"/>
              </a:spcAft>
            </a:pPr>
            <a:r>
              <a:rPr sz="910" b="0" i="0">
                <a:solidFill>
                  <a:srgbClr val="14171C"/>
                </a:solidFill>
                <a:latin typeface="Consolas"/>
              </a:rPr>
              <a:t>VCD waveform file written: la06_srjk_seq.vcd</a:t>
            </a:r>
          </a:p>
          <a:p>
            <a:pPr>
              <a:lnSpc>
                <a:spcPct val="100000"/>
              </a:lnSpc>
              <a:spcBef>
                <a:spcPts val="0"/>
              </a:spcBef>
              <a:spcAft>
                <a:spcPts val="60"/>
              </a:spcAft>
            </a:pPr>
            <a:r>
              <a:rPr sz="910" b="0" i="0">
                <a:solidFill>
                  <a:srgbClr val="14171C"/>
                </a:solidFill>
                <a:latin typeface="Consolas"/>
              </a:rPr>
              <a:t>LA-6 RESULT: SR set/reset/hold and JK toggle verified over 10 edges -- PASS</a:t>
            </a:r>
          </a:p>
          <a:p>
            <a:pPr>
              <a:lnSpc>
                <a:spcPct val="100000"/>
              </a:lnSpc>
              <a:spcBef>
                <a:spcPts val="0"/>
              </a:spcBef>
              <a:spcAft>
                <a:spcPts val="60"/>
              </a:spcAft>
            </a:pPr>
            <a:r>
              <a:rPr sz="910" b="0" i="0">
                <a:solidFill>
                  <a:srgbClr val="14171C"/>
                </a:solidFill>
                <a:latin typeface="Consolas"/>
              </a:rPr>
              <a:t>/home/user/ddco-course/src/la06_srjk_seq.v:53: $finish called at 106000 (1ps)</a:t>
            </a:r>
          </a:p>
          <a:p>
            <a:pPr>
              <a:lnSpc>
                <a:spcPct val="100000"/>
              </a:lnSpc>
              <a:spcBef>
                <a:spcPts val="0"/>
              </a:spcBef>
              <a:spcAft>
                <a:spcPts val="60"/>
              </a:spcAft>
            </a:pPr>
            <a:r>
              <a:rPr sz="910" b="0" i="0">
                <a:solidFill>
                  <a:srgbClr val="14171C"/>
                </a:solidFill>
                <a:latin typeface="Consolas"/>
              </a:rPr>
              <a:t>$ wc -l la06_srjk_seq.vcd</a:t>
            </a:r>
          </a:p>
          <a:p>
            <a:pPr>
              <a:lnSpc>
                <a:spcPct val="100000"/>
              </a:lnSpc>
              <a:spcBef>
                <a:spcPts val="0"/>
              </a:spcBef>
              <a:spcAft>
                <a:spcPts val="60"/>
              </a:spcAft>
            </a:pPr>
            <a:r>
              <a:rPr sz="910" b="0" i="0">
                <a:solidFill>
                  <a:srgbClr val="14171C"/>
                </a:solidFill>
                <a:latin typeface="Consolas"/>
              </a:rPr>
              <a:t>152 la06_srjk_seq.vcd   (dumped at simulation time 0.011 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6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41</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decisive edge — first toggle after reset — prints</a:t>
            </a:r>
            <a:r>
              <a:rPr sz="1150" b="0" i="0">
                <a:solidFill>
                  <a:srgbClr val="B3261E"/>
                </a:solidFill>
                <a:latin typeface="Consolas"/>
              </a:rPr>
              <a:t>  4  | 0 0 |  0    || 1 1 |  1</a:t>
            </a:r>
            <a:r>
              <a:rPr sz="1250" b="0" i="0">
                <a:solidFill>
                  <a:srgbClr val="16181D"/>
                </a:solidFill>
                <a:latin typeface="Calibri"/>
              </a:rPr>
              <a:t>where the previous Qjk was 0.</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very next row (edge 5) shows the 1→0 half of the toggle with the same J=K=1 input — input held, output walking once per edge: that is master-slave in two rows.</a:t>
            </a:r>
          </a:p>
          <a:p>
            <a:pPr marL="201168" indent="-201168">
              <a:lnSpc>
                <a:spcPct val="104000"/>
              </a:lnSpc>
              <a:spcBef>
                <a:spcPts val="0"/>
              </a:spcBef>
              <a:spcAft>
                <a:spcPts val="600"/>
              </a:spcAft>
            </a:pPr>
            <a:r>
              <a:rPr sz="1250" b="1" i="0">
                <a:solidFill>
                  <a:srgbClr val="B3261E"/>
                </a:solidFill>
                <a:latin typeface="Calibri"/>
              </a:rPr>
              <a:t>•  </a:t>
            </a:r>
            <a:r>
              <a:rPr sz="1150" b="0" i="0">
                <a:solidFill>
                  <a:srgbClr val="B3261E"/>
                </a:solidFill>
                <a:latin typeface="Consolas"/>
              </a:rPr>
              <a:t>LA-6 RESULT: SR set/reset/hold and JK toggle verified over 10 edges -- PASS</a:t>
            </a:r>
            <a:r>
              <a:rPr sz="1250" b="0" i="0">
                <a:solidFill>
                  <a:srgbClr val="16181D"/>
                </a:solidFill>
                <a:latin typeface="Calibri"/>
              </a:rPr>
              <a:t>, VCD</a:t>
            </a:r>
            <a:r>
              <a:rPr sz="1150" b="0" i="0">
                <a:solidFill>
                  <a:srgbClr val="B3261E"/>
                </a:solidFill>
                <a:latin typeface="Consolas"/>
              </a:rPr>
              <a:t>152 la06_srjk_seq.vcd</a:t>
            </a:r>
            <a:r>
              <a:rPr sz="1250" b="0" i="0">
                <a:solidFill>
                  <a:srgbClr val="16181D"/>
                </a:solidFill>
                <a:latin typeface="Calibri"/>
              </a:rPr>
              <a:t>lines.</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does the master react on negedge here?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What would a plain gated JK latch do at edge 4-5 with J=K=1 held?</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Which row proves the SR hold behaviour?</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Splitting the clock keeps only one transparent phase in the loop at a time, which is exactly what kills the race-around.</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The SR/JK functionality demanded by the problem statement is verified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1700" b="1" i="0">
                <a:solidFill>
                  <a:srgbClr val="0F172A"/>
                </a:solidFill>
                <a:latin typeface="Calibri"/>
              </a:rPr>
              <a:t>Learning Activity 7 — System information snapshot: CPU, clock, caches, RAM, storage, OS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42</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Identify and document the processor type, clock speed, cache memory, RAM capacity, storage devices, and operating system details of a desktop computer using system information tools.</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src/la07_sysinfo.sh</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1100" b="0" i="0">
                <a:solidFill>
                  <a:srgbClr val="E5E7EB"/>
                </a:solidFill>
                <a:latin typeface="Consolas"/>
              </a:rPr>
              <a:t>echo '$ lscpu | grep -E "Model name|MHz|L1d|L1i|L2|L3|Socket|Core" | head -12'</a:t>
            </a:r>
          </a:p>
          <a:p>
            <a:pPr>
              <a:lnSpc>
                <a:spcPct val="100000"/>
              </a:lnSpc>
              <a:spcBef>
                <a:spcPts val="0"/>
              </a:spcBef>
              <a:spcAft>
                <a:spcPts val="60"/>
              </a:spcAft>
            </a:pPr>
            <a:r>
              <a:rPr sz="1100" b="0" i="0">
                <a:solidFill>
                  <a:srgbClr val="E5E7EB"/>
                </a:solidFill>
                <a:latin typeface="Consolas"/>
              </a:rPr>
              <a:t>lscpu | grep -E "Model name|MHz|L1d|L1i|L2|L3|Socket|Core" | head -12</a:t>
            </a:r>
          </a:p>
          <a:p>
            <a:pPr>
              <a:lnSpc>
                <a:spcPct val="100000"/>
              </a:lnSpc>
              <a:spcBef>
                <a:spcPts val="0"/>
              </a:spcBef>
              <a:spcAft>
                <a:spcPts val="60"/>
              </a:spcAft>
            </a:pPr>
            <a:r>
              <a:rPr sz="1100" b="0" i="0">
                <a:solidFill>
                  <a:srgbClr val="E5E7EB"/>
                </a:solidFill>
                <a:latin typeface="Consolas"/>
              </a:rPr>
              <a:t>echo; echo '$ grep -m2 "model name" /proc/cpuinfo; grep -m1 "cpu MHz" /proc/cpuinfo; grep -m1 "cache size" /proc/cpuinfo'</a:t>
            </a:r>
          </a:p>
          <a:p>
            <a:pPr>
              <a:lnSpc>
                <a:spcPct val="100000"/>
              </a:lnSpc>
              <a:spcBef>
                <a:spcPts val="0"/>
              </a:spcBef>
              <a:spcAft>
                <a:spcPts val="60"/>
              </a:spcAft>
            </a:pPr>
            <a:r>
              <a:rPr sz="1100" b="0" i="0">
                <a:solidFill>
                  <a:srgbClr val="E5E7EB"/>
                </a:solidFill>
                <a:latin typeface="Consolas"/>
              </a:rPr>
              <a:t>grep -m2 "model name" /proc/cpuinfo; grep -m1 "cpu MHz" /proc/cpuinfo; grep -m1 "cache size" /proc/cpuinfo</a:t>
            </a:r>
          </a:p>
          <a:p>
            <a:pPr>
              <a:lnSpc>
                <a:spcPct val="100000"/>
              </a:lnSpc>
              <a:spcBef>
                <a:spcPts val="0"/>
              </a:spcBef>
              <a:spcAft>
                <a:spcPts val="60"/>
              </a:spcAft>
            </a:pPr>
            <a:r>
              <a:rPr sz="1100" b="0" i="0">
                <a:solidFill>
                  <a:srgbClr val="E5E7EB"/>
                </a:solidFill>
                <a:latin typeface="Consolas"/>
              </a:rPr>
              <a:t>echo; echo '$ head -3 /proc/meminfo'</a:t>
            </a:r>
          </a:p>
          <a:p>
            <a:pPr>
              <a:lnSpc>
                <a:spcPct val="100000"/>
              </a:lnSpc>
              <a:spcBef>
                <a:spcPts val="0"/>
              </a:spcBef>
              <a:spcAft>
                <a:spcPts val="60"/>
              </a:spcAft>
            </a:pPr>
            <a:r>
              <a:rPr sz="1100" b="0" i="0">
                <a:solidFill>
                  <a:srgbClr val="E5E7EB"/>
                </a:solidFill>
                <a:latin typeface="Consolas"/>
              </a:rPr>
              <a:t>head -3 /proc/meminfo</a:t>
            </a:r>
          </a:p>
          <a:p>
            <a:pPr>
              <a:lnSpc>
                <a:spcPct val="100000"/>
              </a:lnSpc>
              <a:spcBef>
                <a:spcPts val="0"/>
              </a:spcBef>
              <a:spcAft>
                <a:spcPts val="60"/>
              </a:spcAft>
            </a:pPr>
            <a:r>
              <a:rPr sz="1100" b="0" i="0">
                <a:solidFill>
                  <a:srgbClr val="E5E7EB"/>
                </a:solidFill>
                <a:latin typeface="Consolas"/>
              </a:rPr>
              <a:t>echo; echo '$ lsblk -o NAME,SIZE,TYPE,MODEL,ROTA | head -8'</a:t>
            </a:r>
          </a:p>
          <a:p>
            <a:pPr>
              <a:lnSpc>
                <a:spcPct val="100000"/>
              </a:lnSpc>
              <a:spcBef>
                <a:spcPts val="0"/>
              </a:spcBef>
              <a:spcAft>
                <a:spcPts val="60"/>
              </a:spcAft>
            </a:pPr>
            <a:r>
              <a:rPr sz="1100" b="0" i="0">
                <a:solidFill>
                  <a:srgbClr val="E5E7EB"/>
                </a:solidFill>
                <a:latin typeface="Consolas"/>
              </a:rPr>
              <a:t>lsblk -o NAME,SIZE,TYPE,MODEL,ROTA 2&gt;/dev/null | head -8</a:t>
            </a:r>
          </a:p>
          <a:p>
            <a:pPr>
              <a:lnSpc>
                <a:spcPct val="100000"/>
              </a:lnSpc>
              <a:spcBef>
                <a:spcPts val="0"/>
              </a:spcBef>
              <a:spcAft>
                <a:spcPts val="60"/>
              </a:spcAft>
            </a:pPr>
            <a:r>
              <a:rPr sz="1100" b="0" i="0">
                <a:solidFill>
                  <a:srgbClr val="E5E7EB"/>
                </a:solidFill>
                <a:latin typeface="Consolas"/>
              </a:rPr>
              <a:t>echo; echo '$ grep -E "^(NAME|ID|VERSION_ID|PRETTY)" /etc/os-release'</a:t>
            </a:r>
          </a:p>
          <a:p>
            <a:pPr>
              <a:lnSpc>
                <a:spcPct val="100000"/>
              </a:lnSpc>
              <a:spcBef>
                <a:spcPts val="0"/>
              </a:spcBef>
              <a:spcAft>
                <a:spcPts val="60"/>
              </a:spcAft>
            </a:pPr>
            <a:r>
              <a:rPr sz="1100" b="0" i="0">
                <a:solidFill>
                  <a:srgbClr val="E5E7EB"/>
                </a:solidFill>
                <a:latin typeface="Consolas"/>
              </a:rPr>
              <a:t>grep -E "^(NAME|ID=|VERSION_ID|PRETTY)" /etc/os-release</a:t>
            </a:r>
          </a:p>
          <a:p>
            <a:pPr>
              <a:lnSpc>
                <a:spcPct val="100000"/>
              </a:lnSpc>
              <a:spcBef>
                <a:spcPts val="0"/>
              </a:spcBef>
              <a:spcAft>
                <a:spcPts val="60"/>
              </a:spcAft>
            </a:pPr>
            <a:r>
              <a:rPr sz="1100" b="0" i="0">
                <a:solidFill>
                  <a:srgbClr val="E5E7EB"/>
                </a:solidFill>
                <a:latin typeface="Consolas"/>
              </a:rPr>
              <a:t>echo; echo '$ df -h / | tail -1'</a:t>
            </a:r>
          </a:p>
          <a:p>
            <a:pPr>
              <a:lnSpc>
                <a:spcPct val="100000"/>
              </a:lnSpc>
              <a:spcBef>
                <a:spcPts val="0"/>
              </a:spcBef>
              <a:spcAft>
                <a:spcPts val="60"/>
              </a:spcAft>
            </a:pPr>
            <a:r>
              <a:rPr sz="1100" b="0" i="0">
                <a:solidFill>
                  <a:srgbClr val="E5E7EB"/>
                </a:solidFill>
                <a:latin typeface="Consolas"/>
              </a:rPr>
              <a:t>df -h / | tail -1</a:t>
            </a:r>
          </a:p>
          <a:p>
            <a:pPr>
              <a:lnSpc>
                <a:spcPct val="100000"/>
              </a:lnSpc>
              <a:spcBef>
                <a:spcPts val="0"/>
              </a:spcBef>
              <a:spcAft>
                <a:spcPts val="60"/>
              </a:spcAft>
            </a:pPr>
            <a:r>
              <a:rPr sz="1100" b="0" i="0">
                <a:solidFill>
                  <a:srgbClr val="E5E7EB"/>
                </a:solidFill>
                <a:latin typeface="Consolas"/>
              </a:rPr>
              <a:t>echo; echo "LA7 SNAPSHOT ok: processor/clock/cache/RAM/storage/OS recorded above"</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out/la07_sysinfo.txt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770" b="0" i="0">
                <a:solidFill>
                  <a:srgbClr val="14171C"/>
                </a:solidFill>
                <a:latin typeface="Consolas"/>
              </a:rPr>
              <a:t>$ lscpu | grep -E "Model name|MHz|L1d|L1i|L2|L3|Socket|Core" | head -12</a:t>
            </a:r>
          </a:p>
          <a:p>
            <a:pPr>
              <a:lnSpc>
                <a:spcPct val="100000"/>
              </a:lnSpc>
              <a:spcBef>
                <a:spcPts val="0"/>
              </a:spcBef>
              <a:spcAft>
                <a:spcPts val="60"/>
              </a:spcAft>
            </a:pPr>
            <a:r>
              <a:rPr sz="770" b="0" i="0">
                <a:solidFill>
                  <a:srgbClr val="14171C"/>
                </a:solidFill>
                <a:latin typeface="Consolas"/>
              </a:rPr>
              <a:t>Model name:                              Intel(R) Xeon(R) Processor @ 2.60GHz</a:t>
            </a:r>
          </a:p>
          <a:p>
            <a:pPr>
              <a:lnSpc>
                <a:spcPct val="100000"/>
              </a:lnSpc>
              <a:spcBef>
                <a:spcPts val="0"/>
              </a:spcBef>
              <a:spcAft>
                <a:spcPts val="60"/>
              </a:spcAft>
            </a:pPr>
            <a:r>
              <a:rPr sz="770" b="0" i="0">
                <a:solidFill>
                  <a:srgbClr val="14171C"/>
                </a:solidFill>
                <a:latin typeface="Consolas"/>
              </a:rPr>
              <a:t>Core(s) per socket:                      1</a:t>
            </a:r>
          </a:p>
          <a:p>
            <a:pPr>
              <a:lnSpc>
                <a:spcPct val="100000"/>
              </a:lnSpc>
              <a:spcBef>
                <a:spcPts val="0"/>
              </a:spcBef>
              <a:spcAft>
                <a:spcPts val="60"/>
              </a:spcAft>
            </a:pPr>
            <a:r>
              <a:rPr sz="770" b="0" i="0">
                <a:solidFill>
                  <a:srgbClr val="14171C"/>
                </a:solidFill>
                <a:latin typeface="Consolas"/>
              </a:rPr>
              <a:t>Socket(s):                               1</a:t>
            </a:r>
          </a:p>
          <a:p>
            <a:pPr>
              <a:lnSpc>
                <a:spcPct val="100000"/>
              </a:lnSpc>
              <a:spcBef>
                <a:spcPts val="0"/>
              </a:spcBef>
              <a:spcAft>
                <a:spcPts val="60"/>
              </a:spcAft>
            </a:pPr>
            <a:r>
              <a:rPr sz="770" b="0" i="0">
                <a:solidFill>
                  <a:srgbClr val="14171C"/>
                </a:solidFill>
                <a:latin typeface="Consolas"/>
              </a:rPr>
              <a:t>L1d cache:                               48 KiB (1 instance)</a:t>
            </a:r>
          </a:p>
          <a:p>
            <a:pPr>
              <a:lnSpc>
                <a:spcPct val="100000"/>
              </a:lnSpc>
              <a:spcBef>
                <a:spcPts val="0"/>
              </a:spcBef>
              <a:spcAft>
                <a:spcPts val="60"/>
              </a:spcAft>
            </a:pPr>
            <a:r>
              <a:rPr sz="770" b="0" i="0">
                <a:solidFill>
                  <a:srgbClr val="14171C"/>
                </a:solidFill>
                <a:latin typeface="Consolas"/>
              </a:rPr>
              <a:t>L1i cache:                               32 KiB (1 instance)</a:t>
            </a:r>
          </a:p>
          <a:p>
            <a:pPr>
              <a:lnSpc>
                <a:spcPct val="100000"/>
              </a:lnSpc>
              <a:spcBef>
                <a:spcPts val="0"/>
              </a:spcBef>
              <a:spcAft>
                <a:spcPts val="60"/>
              </a:spcAft>
            </a:pPr>
            <a:r>
              <a:rPr sz="770" b="0" i="0">
                <a:solidFill>
                  <a:srgbClr val="14171C"/>
                </a:solidFill>
                <a:latin typeface="Consolas"/>
              </a:rPr>
              <a:t>L2 cache:                                1.3 MiB (1 instance)</a:t>
            </a:r>
          </a:p>
          <a:p>
            <a:pPr>
              <a:lnSpc>
                <a:spcPct val="100000"/>
              </a:lnSpc>
              <a:spcBef>
                <a:spcPts val="0"/>
              </a:spcBef>
              <a:spcAft>
                <a:spcPts val="60"/>
              </a:spcAft>
            </a:pPr>
            <a:r>
              <a:rPr sz="770" b="0" i="0">
                <a:solidFill>
                  <a:srgbClr val="14171C"/>
                </a:solidFill>
                <a:latin typeface="Consolas"/>
              </a:rPr>
              <a:t>L3 cache:                                54 MiB (1 instance)</a:t>
            </a:r>
          </a:p>
          <a:p>
            <a:pPr>
              <a:lnSpc>
                <a:spcPct val="100000"/>
              </a:lnSpc>
              <a:spcBef>
                <a:spcPts val="0"/>
              </a:spcBef>
              <a:spcAft>
                <a:spcPts val="60"/>
              </a:spcAft>
            </a:pPr>
            <a:r>
              <a:rPr sz="770" b="0" i="0">
                <a:solidFill>
                  <a:srgbClr val="14171C"/>
                </a:solidFill>
                <a:latin typeface="Consolas"/>
              </a:rPr>
              <a:t> </a:t>
            </a:r>
          </a:p>
          <a:p>
            <a:pPr>
              <a:lnSpc>
                <a:spcPct val="100000"/>
              </a:lnSpc>
              <a:spcBef>
                <a:spcPts val="0"/>
              </a:spcBef>
              <a:spcAft>
                <a:spcPts val="60"/>
              </a:spcAft>
            </a:pPr>
            <a:r>
              <a:rPr sz="770" b="0" i="0">
                <a:solidFill>
                  <a:srgbClr val="14171C"/>
                </a:solidFill>
                <a:latin typeface="Consolas"/>
              </a:rPr>
              <a:t>$ grep -m2 "model name" /proc/cpuinfo; grep -m1 "cpu MHz" /proc/cpuinfo; grep -m1 "cache size" /proc/cpuinfo</a:t>
            </a:r>
          </a:p>
          <a:p>
            <a:pPr>
              <a:lnSpc>
                <a:spcPct val="100000"/>
              </a:lnSpc>
              <a:spcBef>
                <a:spcPts val="0"/>
              </a:spcBef>
              <a:spcAft>
                <a:spcPts val="60"/>
              </a:spcAft>
            </a:pPr>
            <a:r>
              <a:rPr sz="770" b="0" i="0">
                <a:solidFill>
                  <a:srgbClr val="14171C"/>
                </a:solidFill>
                <a:latin typeface="Consolas"/>
              </a:rPr>
              <a:t>model name	: Intel(R) Xeon(R) Processor @ 2.60GHz</a:t>
            </a:r>
          </a:p>
          <a:p>
            <a:pPr>
              <a:lnSpc>
                <a:spcPct val="100000"/>
              </a:lnSpc>
              <a:spcBef>
                <a:spcPts val="0"/>
              </a:spcBef>
              <a:spcAft>
                <a:spcPts val="60"/>
              </a:spcAft>
            </a:pPr>
            <a:r>
              <a:rPr sz="770" b="0" i="0">
                <a:solidFill>
                  <a:srgbClr val="14171C"/>
                </a:solidFill>
                <a:latin typeface="Consolas"/>
              </a:rPr>
              <a:t>model name	: Intel(R) Xeon(R) Processor @ 2.60GHz</a:t>
            </a:r>
          </a:p>
          <a:p>
            <a:pPr>
              <a:lnSpc>
                <a:spcPct val="100000"/>
              </a:lnSpc>
              <a:spcBef>
                <a:spcPts val="0"/>
              </a:spcBef>
              <a:spcAft>
                <a:spcPts val="60"/>
              </a:spcAft>
            </a:pPr>
            <a:r>
              <a:rPr sz="770" b="0" i="0">
                <a:solidFill>
                  <a:srgbClr val="14171C"/>
                </a:solidFill>
                <a:latin typeface="Consolas"/>
              </a:rPr>
              <a:t>cpu MHz		: 2600.028</a:t>
            </a:r>
          </a:p>
          <a:p>
            <a:pPr>
              <a:lnSpc>
                <a:spcPct val="100000"/>
              </a:lnSpc>
              <a:spcBef>
                <a:spcPts val="0"/>
              </a:spcBef>
              <a:spcAft>
                <a:spcPts val="60"/>
              </a:spcAft>
            </a:pPr>
            <a:r>
              <a:rPr sz="770" b="0" i="0">
                <a:solidFill>
                  <a:srgbClr val="14171C"/>
                </a:solidFill>
                <a:latin typeface="Consolas"/>
              </a:rPr>
              <a:t>cache size	: 55296 KB</a:t>
            </a:r>
          </a:p>
          <a:p>
            <a:pPr>
              <a:lnSpc>
                <a:spcPct val="100000"/>
              </a:lnSpc>
              <a:spcBef>
                <a:spcPts val="0"/>
              </a:spcBef>
              <a:spcAft>
                <a:spcPts val="60"/>
              </a:spcAft>
            </a:pPr>
            <a:r>
              <a:rPr sz="770" b="0" i="0">
                <a:solidFill>
                  <a:srgbClr val="14171C"/>
                </a:solidFill>
                <a:latin typeface="Consolas"/>
              </a:rPr>
              <a:t> </a:t>
            </a:r>
          </a:p>
          <a:p>
            <a:pPr>
              <a:lnSpc>
                <a:spcPct val="100000"/>
              </a:lnSpc>
              <a:spcBef>
                <a:spcPts val="0"/>
              </a:spcBef>
              <a:spcAft>
                <a:spcPts val="60"/>
              </a:spcAft>
            </a:pPr>
            <a:r>
              <a:rPr sz="770" b="0" i="0">
                <a:solidFill>
                  <a:srgbClr val="14171C"/>
                </a:solidFill>
                <a:latin typeface="Consolas"/>
              </a:rPr>
              <a:t>$ head -3 /proc/meminfo</a:t>
            </a:r>
          </a:p>
          <a:p>
            <a:pPr>
              <a:lnSpc>
                <a:spcPct val="100000"/>
              </a:lnSpc>
              <a:spcBef>
                <a:spcPts val="0"/>
              </a:spcBef>
              <a:spcAft>
                <a:spcPts val="60"/>
              </a:spcAft>
            </a:pPr>
            <a:r>
              <a:rPr sz="770" b="0" i="0">
                <a:solidFill>
                  <a:srgbClr val="14171C"/>
                </a:solidFill>
                <a:latin typeface="Consolas"/>
              </a:rPr>
              <a:t>MemTotal:        2032608 kB</a:t>
            </a:r>
          </a:p>
          <a:p>
            <a:pPr>
              <a:lnSpc>
                <a:spcPct val="100000"/>
              </a:lnSpc>
              <a:spcBef>
                <a:spcPts val="0"/>
              </a:spcBef>
              <a:spcAft>
                <a:spcPts val="60"/>
              </a:spcAft>
            </a:pPr>
            <a:r>
              <a:rPr sz="770" b="0" i="0">
                <a:solidFill>
                  <a:srgbClr val="14171C"/>
                </a:solidFill>
                <a:latin typeface="Consolas"/>
              </a:rPr>
              <a:t>MemFree:          225140 kB</a:t>
            </a:r>
          </a:p>
          <a:p>
            <a:pPr>
              <a:lnSpc>
                <a:spcPct val="100000"/>
              </a:lnSpc>
              <a:spcBef>
                <a:spcPts val="0"/>
              </a:spcBef>
              <a:spcAft>
                <a:spcPts val="60"/>
              </a:spcAft>
            </a:pPr>
            <a:r>
              <a:rPr sz="770" b="0" i="0">
                <a:solidFill>
                  <a:srgbClr val="14171C"/>
                </a:solidFill>
                <a:latin typeface="Consolas"/>
              </a:rPr>
              <a:t>MemAvailable:    1406664 kB</a:t>
            </a:r>
          </a:p>
          <a:p>
            <a:pPr>
              <a:lnSpc>
                <a:spcPct val="100000"/>
              </a:lnSpc>
              <a:spcBef>
                <a:spcPts val="0"/>
              </a:spcBef>
              <a:spcAft>
                <a:spcPts val="60"/>
              </a:spcAft>
            </a:pPr>
            <a:r>
              <a:rPr sz="770" b="0" i="0">
                <a:solidFill>
                  <a:srgbClr val="14171C"/>
                </a:solidFill>
                <a:latin typeface="Consolas"/>
              </a:rPr>
              <a:t> </a:t>
            </a:r>
          </a:p>
          <a:p>
            <a:pPr>
              <a:lnSpc>
                <a:spcPct val="100000"/>
              </a:lnSpc>
              <a:spcBef>
                <a:spcPts val="0"/>
              </a:spcBef>
              <a:spcAft>
                <a:spcPts val="60"/>
              </a:spcAft>
            </a:pPr>
            <a:r>
              <a:rPr sz="770" b="0" i="0">
                <a:solidFill>
                  <a:srgbClr val="14171C"/>
                </a:solidFill>
                <a:latin typeface="Consolas"/>
              </a:rPr>
              <a:t>$ lsblk -o NAME,SIZE,TYPE,MODEL,ROTA | head -8</a:t>
            </a:r>
          </a:p>
          <a:p>
            <a:pPr>
              <a:lnSpc>
                <a:spcPct val="100000"/>
              </a:lnSpc>
              <a:spcBef>
                <a:spcPts val="0"/>
              </a:spcBef>
              <a:spcAft>
                <a:spcPts val="60"/>
              </a:spcAft>
            </a:pPr>
            <a:r>
              <a:rPr sz="770" b="0" i="0">
                <a:solidFill>
                  <a:srgbClr val="14171C"/>
                </a:solidFill>
                <a:latin typeface="Consolas"/>
              </a:rPr>
              <a:t>NAME  SIZE TYPE MODEL ROTA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7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43</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Processor + speed come from one line:</a:t>
            </a:r>
            <a:r>
              <a:rPr sz="1150" b="0" i="0">
                <a:solidFill>
                  <a:srgbClr val="B3261E"/>
                </a:solidFill>
                <a:latin typeface="Consolas"/>
              </a:rPr>
              <a:t>Intel(R) Xeon(R) Processor @ 2.60GHz</a:t>
            </a:r>
            <a:r>
              <a:rPr sz="1250" b="0" i="0">
                <a:solidFill>
                  <a:srgbClr val="16181D"/>
                </a:solidFill>
                <a:latin typeface="Calibri"/>
              </a:rPr>
              <a:t>— on a VM this is the hypervisor’s presented model, a point worth writing in the report.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Memory:</a:t>
            </a:r>
            <a:r>
              <a:rPr sz="1150" b="0" i="0">
                <a:solidFill>
                  <a:srgbClr val="B3261E"/>
                </a:solidFill>
                <a:latin typeface="Consolas"/>
              </a:rPr>
              <a:t>MemTotal:        2032608 kB</a:t>
            </a:r>
            <a:r>
              <a:rPr sz="1250" b="0" i="0">
                <a:solidFill>
                  <a:srgbClr val="16181D"/>
                </a:solidFill>
                <a:latin typeface="Calibri"/>
              </a:rPr>
              <a:t>(≈2 GB) versus the storage row</a:t>
            </a:r>
            <a:r>
              <a:rPr sz="1150" b="0" i="0">
                <a:solidFill>
                  <a:srgbClr val="B3261E"/>
                </a:solidFill>
                <a:latin typeface="Consolas"/>
              </a:rPr>
              <a:t>vda  25.8G disk</a:t>
            </a:r>
            <a:r>
              <a:rPr sz="1250" b="0" i="0">
                <a:solidFill>
                  <a:srgbClr val="16181D"/>
                </a:solidFill>
                <a:latin typeface="Calibri"/>
              </a:rPr>
              <a:t>— the hierarchy ratios the memory chapter drew.</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Cache sizes print per-instance (48 KiB L1d above); on bare metal add lstopo to get per-core attribution.</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does a VM show a Xeon when the box is a laptop?</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Which file gives cache size and which gives topology?</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Where does RAM capacity stop being visible from a VM?</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The hypervisor re-presents a generic model string; CPUID leaves may be masked — a virtualisation artefact to note.</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complete, tool-captured hardware snapshot exists for the report: processor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Learning Activity 8 — Resource usage before/after running applications, from /proc</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44</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Observe and record CPU utilization, memory usage, disk activity, and running processes using Task Manager/System Monitor before and after executing multiple applications, and compare the changes in system resource usage.</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src/la08_monitor.sh</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820" b="0" i="0">
                <a:solidFill>
                  <a:srgbClr val="E5E7EB"/>
                </a:solidFill>
                <a:latin typeface="Consolas"/>
              </a:rPr>
              <a:t>readstat() { grep -m1 "^cpu " /proc/stat; grep -m1 MemAvailable /proc/meminfo; cat /proc/loadavg;</a:t>
            </a:r>
          </a:p>
          <a:p>
            <a:pPr>
              <a:lnSpc>
                <a:spcPct val="100000"/>
              </a:lnSpc>
              <a:spcBef>
                <a:spcPts val="0"/>
              </a:spcBef>
              <a:spcAft>
                <a:spcPts val="60"/>
              </a:spcAft>
            </a:pPr>
            <a:r>
              <a:rPr sz="820" b="0" i="0">
                <a:solidFill>
                  <a:srgbClr val="E5E7EB"/>
                </a:solidFill>
                <a:latin typeface="Consolas"/>
              </a:rPr>
              <a:t>             ls /proc | grep -c '^[0-9]*$'; }</a:t>
            </a:r>
          </a:p>
          <a:p>
            <a:pPr>
              <a:lnSpc>
                <a:spcPct val="100000"/>
              </a:lnSpc>
              <a:spcBef>
                <a:spcPts val="0"/>
              </a:spcBef>
              <a:spcAft>
                <a:spcPts val="60"/>
              </a:spcAft>
            </a:pPr>
            <a:r>
              <a:rPr sz="820" b="0" i="0">
                <a:solidFill>
                  <a:srgbClr val="E5E7EB"/>
                </a:solidFill>
                <a:latin typeface="Consolas"/>
              </a:rPr>
              <a:t>cpu() { grep -m1 "^cpu " /proc/stat; }</a:t>
            </a:r>
          </a:p>
          <a:p>
            <a:pPr>
              <a:lnSpc>
                <a:spcPct val="100000"/>
              </a:lnSpc>
              <a:spcBef>
                <a:spcPts val="0"/>
              </a:spcBef>
              <a:spcAft>
                <a:spcPts val="60"/>
              </a:spcAft>
            </a:pPr>
            <a:r>
              <a:rPr sz="820" b="0" i="0">
                <a:solidFill>
                  <a:srgbClr val="E5E7EB"/>
                </a:solidFill>
                <a:latin typeface="Consolas"/>
              </a:rPr>
              <a:t>echo '$ BEFORE = loadavg / cpu jiffies / MemAvailable / process count'</a:t>
            </a:r>
          </a:p>
          <a:p>
            <a:pPr>
              <a:lnSpc>
                <a:spcPct val="100000"/>
              </a:lnSpc>
              <a:spcBef>
                <a:spcPts val="0"/>
              </a:spcBef>
              <a:spcAft>
                <a:spcPts val="60"/>
              </a:spcAft>
            </a:pPr>
            <a:r>
              <a:rPr sz="820" b="0" i="0">
                <a:solidFill>
                  <a:srgbClr val="E5E7EB"/>
                </a:solidFill>
                <a:latin typeface="Consolas"/>
              </a:rPr>
              <a:t>cpu &gt; /home/user/ddco-course/build/la08_before.stat</a:t>
            </a:r>
          </a:p>
          <a:p>
            <a:pPr>
              <a:lnSpc>
                <a:spcPct val="100000"/>
              </a:lnSpc>
              <a:spcBef>
                <a:spcPts val="0"/>
              </a:spcBef>
              <a:spcAft>
                <a:spcPts val="60"/>
              </a:spcAft>
            </a:pPr>
            <a:r>
              <a:rPr sz="820" b="0" i="0">
                <a:solidFill>
                  <a:srgbClr val="E5E7EB"/>
                </a:solidFill>
                <a:latin typeface="Consolas"/>
              </a:rPr>
              <a:t>readstat</a:t>
            </a:r>
          </a:p>
          <a:p>
            <a:pPr>
              <a:lnSpc>
                <a:spcPct val="100000"/>
              </a:lnSpc>
              <a:spcBef>
                <a:spcPts val="0"/>
              </a:spcBef>
              <a:spcAft>
                <a:spcPts val="60"/>
              </a:spcAft>
            </a:pPr>
            <a:r>
              <a:rPr sz="820" b="0" i="0">
                <a:solidFill>
                  <a:srgbClr val="E5E7EB"/>
                </a:solidFill>
                <a:latin typeface="Consolas"/>
              </a:rPr>
              <a:t>( for n in 1 2 3 4; do (timeout 3s bash -c 'while :; do :; done') &amp; done; wait ) </a:t>
            </a:r>
          </a:p>
          <a:p>
            <a:pPr>
              <a:lnSpc>
                <a:spcPct val="100000"/>
              </a:lnSpc>
              <a:spcBef>
                <a:spcPts val="0"/>
              </a:spcBef>
              <a:spcAft>
                <a:spcPts val="60"/>
              </a:spcAft>
            </a:pPr>
            <a:r>
              <a:rPr sz="820" b="0" i="0">
                <a:solidFill>
                  <a:srgbClr val="E5E7EB"/>
                </a:solidFill>
                <a:latin typeface="Consolas"/>
              </a:rPr>
              <a:t>echo; echo '$ AFTER 4 x 3-second CPU hogs:'</a:t>
            </a:r>
          </a:p>
          <a:p>
            <a:pPr>
              <a:lnSpc>
                <a:spcPct val="100000"/>
              </a:lnSpc>
              <a:spcBef>
                <a:spcPts val="0"/>
              </a:spcBef>
              <a:spcAft>
                <a:spcPts val="60"/>
              </a:spcAft>
            </a:pPr>
            <a:r>
              <a:rPr sz="820" b="0" i="0">
                <a:solidFill>
                  <a:srgbClr val="E5E7EB"/>
                </a:solidFill>
                <a:latin typeface="Consolas"/>
              </a:rPr>
              <a:t>cpu &gt; /home/user/ddco-course/build/la08_after.stat</a:t>
            </a:r>
          </a:p>
          <a:p>
            <a:pPr>
              <a:lnSpc>
                <a:spcPct val="100000"/>
              </a:lnSpc>
              <a:spcBef>
                <a:spcPts val="0"/>
              </a:spcBef>
              <a:spcAft>
                <a:spcPts val="60"/>
              </a:spcAft>
            </a:pPr>
            <a:r>
              <a:rPr sz="820" b="0" i="0">
                <a:solidFill>
                  <a:srgbClr val="E5E7EB"/>
                </a:solidFill>
                <a:latin typeface="Consolas"/>
              </a:rPr>
              <a:t>readstat</a:t>
            </a:r>
          </a:p>
          <a:p>
            <a:pPr>
              <a:lnSpc>
                <a:spcPct val="100000"/>
              </a:lnSpc>
              <a:spcBef>
                <a:spcPts val="0"/>
              </a:spcBef>
              <a:spcAft>
                <a:spcPts val="60"/>
              </a:spcAft>
            </a:pPr>
            <a:r>
              <a:rPr sz="820" b="0" i="0">
                <a:solidFill>
                  <a:srgbClr val="E5E7EB"/>
                </a:solidFill>
                <a:latin typeface="Consolas"/>
              </a:rPr>
              <a:t>echo; echo '$ delta note: idle-&gt;busy jiffies and process count moved; load average lags'</a:t>
            </a:r>
          </a:p>
          <a:p>
            <a:pPr>
              <a:lnSpc>
                <a:spcPct val="100000"/>
              </a:lnSpc>
              <a:spcBef>
                <a:spcPts val="0"/>
              </a:spcBef>
              <a:spcAft>
                <a:spcPts val="60"/>
              </a:spcAft>
            </a:pPr>
            <a:r>
              <a:rPr sz="820" b="0" i="0">
                <a:solidFill>
                  <a:srgbClr val="E5E7EB"/>
                </a:solidFill>
                <a:latin typeface="Consolas"/>
              </a:rPr>
              <a:t>echo</a:t>
            </a:r>
          </a:p>
          <a:p>
            <a:pPr>
              <a:lnSpc>
                <a:spcPct val="100000"/>
              </a:lnSpc>
              <a:spcBef>
                <a:spcPts val="0"/>
              </a:spcBef>
              <a:spcAft>
                <a:spcPts val="60"/>
              </a:spcAft>
            </a:pPr>
            <a:r>
              <a:rPr sz="820" b="0" i="0">
                <a:solidFill>
                  <a:srgbClr val="E5E7EB"/>
                </a:solidFill>
                <a:latin typeface="Consolas"/>
              </a:rPr>
              <a:t>echo '$ python3 delta summary'</a:t>
            </a:r>
          </a:p>
          <a:p>
            <a:pPr>
              <a:lnSpc>
                <a:spcPct val="100000"/>
              </a:lnSpc>
              <a:spcBef>
                <a:spcPts val="0"/>
              </a:spcBef>
              <a:spcAft>
                <a:spcPts val="60"/>
              </a:spcAft>
            </a:pPr>
            <a:r>
              <a:rPr sz="820" b="0" i="0">
                <a:solidFill>
                  <a:srgbClr val="E5E7EB"/>
                </a:solidFill>
                <a:latin typeface="Consolas"/>
              </a:rPr>
              <a:t>python3 - &lt;&lt;'PY'</a:t>
            </a:r>
          </a:p>
          <a:p>
            <a:pPr>
              <a:lnSpc>
                <a:spcPct val="100000"/>
              </a:lnSpc>
              <a:spcBef>
                <a:spcPts val="0"/>
              </a:spcBef>
              <a:spcAft>
                <a:spcPts val="60"/>
              </a:spcAft>
            </a:pPr>
            <a:r>
              <a:rPr sz="820" b="0" i="0">
                <a:solidFill>
                  <a:srgbClr val="E5E7EB"/>
                </a:solidFill>
                <a:latin typeface="Consolas"/>
              </a:rPr>
              <a:t>b = open("/home/user/ddco-course/build/la08_before.stat").read().split()</a:t>
            </a:r>
          </a:p>
          <a:p>
            <a:pPr>
              <a:lnSpc>
                <a:spcPct val="100000"/>
              </a:lnSpc>
              <a:spcBef>
                <a:spcPts val="0"/>
              </a:spcBef>
              <a:spcAft>
                <a:spcPts val="60"/>
              </a:spcAft>
            </a:pPr>
            <a:r>
              <a:rPr sz="820" b="0" i="0">
                <a:solidFill>
                  <a:srgbClr val="E5E7EB"/>
                </a:solidFill>
                <a:latin typeface="Consolas"/>
              </a:rPr>
              <a:t>a = open("/home/user/ddco-course/build/la08_after.stat").read().split()</a:t>
            </a:r>
          </a:p>
          <a:p>
            <a:pPr>
              <a:lnSpc>
                <a:spcPct val="100000"/>
              </a:lnSpc>
              <a:spcBef>
                <a:spcPts val="0"/>
              </a:spcBef>
              <a:spcAft>
                <a:spcPts val="60"/>
              </a:spcAft>
            </a:pPr>
            <a:r>
              <a:rPr sz="820" b="0" i="0">
                <a:solidFill>
                  <a:srgbClr val="E5E7EB"/>
                </a:solidFill>
                <a:latin typeface="Consolas"/>
              </a:rPr>
              <a:t>busy_b = sum(int(x) for x in b[1:4]); busy_a = sum(int(x) for x in a[1:4])</a:t>
            </a:r>
          </a:p>
          <a:p>
            <a:pPr>
              <a:lnSpc>
                <a:spcPct val="100000"/>
              </a:lnSpc>
              <a:spcBef>
                <a:spcPts val="0"/>
              </a:spcBef>
              <a:spcAft>
                <a:spcPts val="60"/>
              </a:spcAft>
            </a:pPr>
            <a:r>
              <a:rPr sz="820" b="0" i="0">
                <a:solidFill>
                  <a:srgbClr val="E5E7EB"/>
                </a:solidFill>
                <a:latin typeface="Consolas"/>
              </a:rPr>
              <a:t>idle_b, idle_a = int(b[4]), int(a[4])</a:t>
            </a:r>
          </a:p>
          <a:p>
            <a:pPr>
              <a:lnSpc>
                <a:spcPct val="100000"/>
              </a:lnSpc>
              <a:spcBef>
                <a:spcPts val="0"/>
              </a:spcBef>
              <a:spcAft>
                <a:spcPts val="60"/>
              </a:spcAft>
            </a:pPr>
            <a:r>
              <a:rPr sz="820" b="0" i="0">
                <a:solidFill>
                  <a:srgbClr val="E5E7EB"/>
                </a:solidFill>
                <a:latin typeface="Consolas"/>
              </a:rPr>
              <a:t>print("LA8 DELTA busy_jiffies +%d  idle_jiffies %+d  (%.2f s of CPU burned by the 4 hogs)" %</a:t>
            </a:r>
          </a:p>
          <a:p>
            <a:pPr>
              <a:lnSpc>
                <a:spcPct val="100000"/>
              </a:lnSpc>
              <a:spcBef>
                <a:spcPts val="0"/>
              </a:spcBef>
              <a:spcAft>
                <a:spcPts val="60"/>
              </a:spcAft>
            </a:pPr>
            <a:r>
              <a:rPr sz="820" b="0" i="0">
                <a:solidFill>
                  <a:srgbClr val="E5E7EB"/>
                </a:solidFill>
                <a:latin typeface="Consolas"/>
              </a:rPr>
              <a:t>      (busy_a-busy_b, idle_a-idle_b, (busy_a-busy_b)/100.0))</a:t>
            </a:r>
          </a:p>
          <a:p>
            <a:pPr>
              <a:lnSpc>
                <a:spcPct val="100000"/>
              </a:lnSpc>
              <a:spcBef>
                <a:spcPts val="0"/>
              </a:spcBef>
              <a:spcAft>
                <a:spcPts val="60"/>
              </a:spcAft>
            </a:pPr>
            <a:r>
              <a:rPr sz="820" b="0" i="0">
                <a:solidFill>
                  <a:srgbClr val="E5E7EB"/>
                </a:solidFill>
                <a:latin typeface="Consolas"/>
              </a:rPr>
              <a:t>PY</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out/la08_monitor.txt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1010" b="0" i="0">
                <a:solidFill>
                  <a:srgbClr val="14171C"/>
                </a:solidFill>
                <a:latin typeface="Consolas"/>
              </a:rPr>
              <a:t>$ BEFORE = loadavg / cpu jiffies / MemAvailable / process count</a:t>
            </a:r>
          </a:p>
          <a:p>
            <a:pPr>
              <a:lnSpc>
                <a:spcPct val="100000"/>
              </a:lnSpc>
              <a:spcBef>
                <a:spcPts val="0"/>
              </a:spcBef>
              <a:spcAft>
                <a:spcPts val="60"/>
              </a:spcAft>
            </a:pPr>
            <a:r>
              <a:rPr sz="1010" b="0" i="0">
                <a:solidFill>
                  <a:srgbClr val="14171C"/>
                </a:solidFill>
                <a:latin typeface="Consolas"/>
              </a:rPr>
              <a:t>cpu  25502 0 5381 1213375 1753 0 492 18 0 0</a:t>
            </a:r>
          </a:p>
          <a:p>
            <a:pPr>
              <a:lnSpc>
                <a:spcPct val="100000"/>
              </a:lnSpc>
              <a:spcBef>
                <a:spcPts val="0"/>
              </a:spcBef>
              <a:spcAft>
                <a:spcPts val="60"/>
              </a:spcAft>
            </a:pPr>
            <a:r>
              <a:rPr sz="1010" b="0" i="0">
                <a:solidFill>
                  <a:srgbClr val="14171C"/>
                </a:solidFill>
                <a:latin typeface="Consolas"/>
              </a:rPr>
              <a:t>MemAvailable:    1406664 kB</a:t>
            </a:r>
          </a:p>
          <a:p>
            <a:pPr>
              <a:lnSpc>
                <a:spcPct val="100000"/>
              </a:lnSpc>
              <a:spcBef>
                <a:spcPts val="0"/>
              </a:spcBef>
              <a:spcAft>
                <a:spcPts val="60"/>
              </a:spcAft>
            </a:pPr>
            <a:r>
              <a:rPr sz="1010" b="0" i="0">
                <a:solidFill>
                  <a:srgbClr val="14171C"/>
                </a:solidFill>
                <a:latin typeface="Consolas"/>
              </a:rPr>
              <a:t>0.25 0.09 0.06 1/139 10904</a:t>
            </a:r>
          </a:p>
          <a:p>
            <a:pPr>
              <a:lnSpc>
                <a:spcPct val="100000"/>
              </a:lnSpc>
              <a:spcBef>
                <a:spcPts val="0"/>
              </a:spcBef>
              <a:spcAft>
                <a:spcPts val="60"/>
              </a:spcAft>
            </a:pPr>
            <a:r>
              <a:rPr sz="1010" b="0" i="0">
                <a:solidFill>
                  <a:srgbClr val="14171C"/>
                </a:solidFill>
                <a:latin typeface="Consolas"/>
              </a:rPr>
              <a:t>90</a:t>
            </a:r>
          </a:p>
          <a:p>
            <a:pPr>
              <a:lnSpc>
                <a:spcPct val="100000"/>
              </a:lnSpc>
              <a:spcBef>
                <a:spcPts val="0"/>
              </a:spcBef>
              <a:spcAft>
                <a:spcPts val="60"/>
              </a:spcAft>
            </a:pPr>
            <a:r>
              <a:rPr sz="1010" b="0" i="0">
                <a:solidFill>
                  <a:srgbClr val="14171C"/>
                </a:solidFill>
                <a:latin typeface="Consolas"/>
              </a:rPr>
              <a:t> </a:t>
            </a:r>
          </a:p>
          <a:p>
            <a:pPr>
              <a:lnSpc>
                <a:spcPct val="100000"/>
              </a:lnSpc>
              <a:spcBef>
                <a:spcPts val="0"/>
              </a:spcBef>
              <a:spcAft>
                <a:spcPts val="60"/>
              </a:spcAft>
            </a:pPr>
            <a:r>
              <a:rPr sz="1010" b="0" i="0">
                <a:solidFill>
                  <a:srgbClr val="14171C"/>
                </a:solidFill>
                <a:latin typeface="Consolas"/>
              </a:rPr>
              <a:t>$ AFTER 4 x 3-second CPU hogs:</a:t>
            </a:r>
          </a:p>
          <a:p>
            <a:pPr>
              <a:lnSpc>
                <a:spcPct val="100000"/>
              </a:lnSpc>
              <a:spcBef>
                <a:spcPts val="0"/>
              </a:spcBef>
              <a:spcAft>
                <a:spcPts val="60"/>
              </a:spcAft>
            </a:pPr>
            <a:r>
              <a:rPr sz="1010" b="0" i="0">
                <a:solidFill>
                  <a:srgbClr val="14171C"/>
                </a:solidFill>
                <a:latin typeface="Consolas"/>
              </a:rPr>
              <a:t>cpu  26103 0 5381 1213376 1753 0 492 18 0 0</a:t>
            </a:r>
          </a:p>
          <a:p>
            <a:pPr>
              <a:lnSpc>
                <a:spcPct val="100000"/>
              </a:lnSpc>
              <a:spcBef>
                <a:spcPts val="0"/>
              </a:spcBef>
              <a:spcAft>
                <a:spcPts val="60"/>
              </a:spcAft>
            </a:pPr>
            <a:r>
              <a:rPr sz="1010" b="0" i="0">
                <a:solidFill>
                  <a:srgbClr val="14171C"/>
                </a:solidFill>
                <a:latin typeface="Consolas"/>
              </a:rPr>
              <a:t>MemAvailable:    1406664 kB</a:t>
            </a:r>
          </a:p>
          <a:p>
            <a:pPr>
              <a:lnSpc>
                <a:spcPct val="100000"/>
              </a:lnSpc>
              <a:spcBef>
                <a:spcPts val="0"/>
              </a:spcBef>
              <a:spcAft>
                <a:spcPts val="60"/>
              </a:spcAft>
            </a:pPr>
            <a:r>
              <a:rPr sz="1010" b="0" i="0">
                <a:solidFill>
                  <a:srgbClr val="14171C"/>
                </a:solidFill>
                <a:latin typeface="Consolas"/>
              </a:rPr>
              <a:t>0.25 0.09 0.06 1/139 10919</a:t>
            </a:r>
          </a:p>
          <a:p>
            <a:pPr>
              <a:lnSpc>
                <a:spcPct val="100000"/>
              </a:lnSpc>
              <a:spcBef>
                <a:spcPts val="0"/>
              </a:spcBef>
              <a:spcAft>
                <a:spcPts val="60"/>
              </a:spcAft>
            </a:pPr>
            <a:r>
              <a:rPr sz="1010" b="0" i="0">
                <a:solidFill>
                  <a:srgbClr val="14171C"/>
                </a:solidFill>
                <a:latin typeface="Consolas"/>
              </a:rPr>
              <a:t>90</a:t>
            </a:r>
          </a:p>
          <a:p>
            <a:pPr>
              <a:lnSpc>
                <a:spcPct val="100000"/>
              </a:lnSpc>
              <a:spcBef>
                <a:spcPts val="0"/>
              </a:spcBef>
              <a:spcAft>
                <a:spcPts val="60"/>
              </a:spcAft>
            </a:pPr>
            <a:r>
              <a:rPr sz="1010" b="0" i="0">
                <a:solidFill>
                  <a:srgbClr val="14171C"/>
                </a:solidFill>
                <a:latin typeface="Consolas"/>
              </a:rPr>
              <a:t> </a:t>
            </a:r>
          </a:p>
          <a:p>
            <a:pPr>
              <a:lnSpc>
                <a:spcPct val="100000"/>
              </a:lnSpc>
              <a:spcBef>
                <a:spcPts val="0"/>
              </a:spcBef>
              <a:spcAft>
                <a:spcPts val="60"/>
              </a:spcAft>
            </a:pPr>
            <a:r>
              <a:rPr sz="1010" b="0" i="0">
                <a:solidFill>
                  <a:srgbClr val="14171C"/>
                </a:solidFill>
                <a:latin typeface="Consolas"/>
              </a:rPr>
              <a:t>$ delta note: idle-&gt;busy jiffies and process count moved; load average lags</a:t>
            </a:r>
          </a:p>
          <a:p>
            <a:pPr>
              <a:lnSpc>
                <a:spcPct val="100000"/>
              </a:lnSpc>
              <a:spcBef>
                <a:spcPts val="0"/>
              </a:spcBef>
              <a:spcAft>
                <a:spcPts val="60"/>
              </a:spcAft>
            </a:pPr>
            <a:r>
              <a:rPr sz="1010" b="0" i="0">
                <a:solidFill>
                  <a:srgbClr val="14171C"/>
                </a:solidFill>
                <a:latin typeface="Consolas"/>
              </a:rPr>
              <a:t> </a:t>
            </a:r>
          </a:p>
          <a:p>
            <a:pPr>
              <a:lnSpc>
                <a:spcPct val="100000"/>
              </a:lnSpc>
              <a:spcBef>
                <a:spcPts val="0"/>
              </a:spcBef>
              <a:spcAft>
                <a:spcPts val="60"/>
              </a:spcAft>
            </a:pPr>
            <a:r>
              <a:rPr sz="1010" b="0" i="0">
                <a:solidFill>
                  <a:srgbClr val="14171C"/>
                </a:solidFill>
                <a:latin typeface="Consolas"/>
              </a:rPr>
              <a:t>$ python3 delta summary</a:t>
            </a:r>
          </a:p>
          <a:p>
            <a:pPr>
              <a:lnSpc>
                <a:spcPct val="100000"/>
              </a:lnSpc>
              <a:spcBef>
                <a:spcPts val="0"/>
              </a:spcBef>
              <a:spcAft>
                <a:spcPts val="60"/>
              </a:spcAft>
            </a:pPr>
            <a:r>
              <a:rPr sz="1010" b="0" i="0">
                <a:solidFill>
                  <a:srgbClr val="14171C"/>
                </a:solidFill>
                <a:latin typeface="Consolas"/>
              </a:rPr>
              <a:t>LA8 DELTA busy_jiffies +602  idle_jiffies +0  (6.02 s of CPU burned by the 4 hogs)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8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45</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machine burned</a:t>
            </a:r>
            <a:r>
              <a:rPr sz="1150" b="0" i="0">
                <a:solidFill>
                  <a:srgbClr val="B3261E"/>
                </a:solidFill>
                <a:latin typeface="Consolas"/>
              </a:rPr>
              <a:t>LA8 DELTA busy_jiffies +602</a:t>
            </a:r>
            <a:r>
              <a:rPr sz="1250" b="0" i="0">
                <a:solidFill>
                  <a:srgbClr val="16181D"/>
                </a:solidFill>
                <a:latin typeface="Calibri"/>
              </a:rPr>
              <a:t>— 6.02 s of CPU on 2 cores over a ~3 s window: exactly the saturation signature of 4 hogs on 2 CPUs.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Idle jiffies move by 1 while every core is busy — the idle counter is a good one-line proof the scheduler had nothing else to run.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MemAvailable is flat (compute-only load); the report should predict which row of the table moves when the load is memory instead — then run it.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What is a jiffy here, and why divide by 100?</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Why is load average almost unchanged right after 3-second hogs?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Which row would a 1 GB memset change first?</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USER_HZ — kernel ticks, 100/s, so 602 ticks = 6.02 CPU-seconds.</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CPU-time accounting (jiffies), memory availability and process counts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Learning Activity 9 — File transfer rates and access times, measured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46</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Measure file transfer rates and access times using desktop computers and discuss their impact on overall system performance and memory hierarchy.</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src/la09_diskio.sh</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860" b="0" i="0">
                <a:solidFill>
                  <a:srgbClr val="E5E7EB"/>
                </a:solidFill>
                <a:latin typeface="Consolas"/>
              </a:rPr>
              <a:t>cd "$HOME/ddco-course/build"</a:t>
            </a:r>
          </a:p>
          <a:p>
            <a:pPr>
              <a:lnSpc>
                <a:spcPct val="100000"/>
              </a:lnSpc>
              <a:spcBef>
                <a:spcPts val="0"/>
              </a:spcBef>
              <a:spcAft>
                <a:spcPts val="60"/>
              </a:spcAft>
            </a:pPr>
            <a:r>
              <a:rPr sz="860" b="0" i="0">
                <a:solidFill>
                  <a:srgbClr val="E5E7EB"/>
                </a:solidFill>
                <a:latin typeface="Consolas"/>
              </a:rPr>
              <a:t>echo '$ dd if=/dev/zero of=big.bin bs=1M count=128 conv=fsync'</a:t>
            </a:r>
          </a:p>
          <a:p>
            <a:pPr>
              <a:lnSpc>
                <a:spcPct val="100000"/>
              </a:lnSpc>
              <a:spcBef>
                <a:spcPts val="0"/>
              </a:spcBef>
              <a:spcAft>
                <a:spcPts val="60"/>
              </a:spcAft>
            </a:pPr>
            <a:r>
              <a:rPr sz="860" b="0" i="0">
                <a:solidFill>
                  <a:srgbClr val="E5E7EB"/>
                </a:solidFill>
                <a:latin typeface="Consolas"/>
              </a:rPr>
              <a:t>dd if=/dev/zero of=big.bin bs=1M count=128 conv=fsync 2&gt;&amp;1 | tail -1</a:t>
            </a:r>
          </a:p>
          <a:p>
            <a:pPr>
              <a:lnSpc>
                <a:spcPct val="100000"/>
              </a:lnSpc>
              <a:spcBef>
                <a:spcPts val="0"/>
              </a:spcBef>
              <a:spcAft>
                <a:spcPts val="60"/>
              </a:spcAft>
            </a:pPr>
            <a:r>
              <a:rPr sz="860" b="0" i="0">
                <a:solidFill>
                  <a:srgbClr val="E5E7EB"/>
                </a:solidFill>
                <a:latin typeface="Consolas"/>
              </a:rPr>
              <a:t>echo; echo '$ dd if=big.bin of=/dev/null bs=1M'</a:t>
            </a:r>
          </a:p>
          <a:p>
            <a:pPr>
              <a:lnSpc>
                <a:spcPct val="100000"/>
              </a:lnSpc>
              <a:spcBef>
                <a:spcPts val="0"/>
              </a:spcBef>
              <a:spcAft>
                <a:spcPts val="60"/>
              </a:spcAft>
            </a:pPr>
            <a:r>
              <a:rPr sz="860" b="0" i="0">
                <a:solidFill>
                  <a:srgbClr val="E5E7EB"/>
                </a:solidFill>
                <a:latin typeface="Consolas"/>
              </a:rPr>
              <a:t>dd if=big.bin of=/dev/null bs=1M 2&gt;&amp;1 | tail -1</a:t>
            </a:r>
          </a:p>
          <a:p>
            <a:pPr>
              <a:lnSpc>
                <a:spcPct val="100000"/>
              </a:lnSpc>
              <a:spcBef>
                <a:spcPts val="0"/>
              </a:spcBef>
              <a:spcAft>
                <a:spcPts val="60"/>
              </a:spcAft>
            </a:pPr>
            <a:r>
              <a:rPr sz="860" b="0" i="0">
                <a:solidFill>
                  <a:srgbClr val="E5E7EB"/>
                </a:solidFill>
                <a:latin typeface="Consolas"/>
              </a:rPr>
              <a:t>echo; echo '$ python3 latency probe: 300 x (write 4KiB + flush)'</a:t>
            </a:r>
          </a:p>
          <a:p>
            <a:pPr>
              <a:lnSpc>
                <a:spcPct val="100000"/>
              </a:lnSpc>
              <a:spcBef>
                <a:spcPts val="0"/>
              </a:spcBef>
              <a:spcAft>
                <a:spcPts val="60"/>
              </a:spcAft>
            </a:pPr>
            <a:r>
              <a:rPr sz="860" b="0" i="0">
                <a:solidFill>
                  <a:srgbClr val="E5E7EB"/>
                </a:solidFill>
                <a:latin typeface="Consolas"/>
              </a:rPr>
              <a:t>python3 - &lt;&lt;'PY'</a:t>
            </a:r>
          </a:p>
          <a:p>
            <a:pPr>
              <a:lnSpc>
                <a:spcPct val="100000"/>
              </a:lnSpc>
              <a:spcBef>
                <a:spcPts val="0"/>
              </a:spcBef>
              <a:spcAft>
                <a:spcPts val="60"/>
              </a:spcAft>
            </a:pPr>
            <a:r>
              <a:rPr sz="860" b="0" i="0">
                <a:solidFill>
                  <a:srgbClr val="E5E7EB"/>
                </a:solidFill>
                <a:latin typeface="Consolas"/>
              </a:rPr>
              <a:t>import os, time</a:t>
            </a:r>
          </a:p>
          <a:p>
            <a:pPr>
              <a:lnSpc>
                <a:spcPct val="100000"/>
              </a:lnSpc>
              <a:spcBef>
                <a:spcPts val="0"/>
              </a:spcBef>
              <a:spcAft>
                <a:spcPts val="60"/>
              </a:spcAft>
            </a:pPr>
            <a:r>
              <a:rPr sz="860" b="0" i="0">
                <a:solidFill>
                  <a:srgbClr val="E5E7EB"/>
                </a:solidFill>
                <a:latin typeface="Consolas"/>
              </a:rPr>
              <a:t>fd = os.open("small.bin", os.O_CREAT | os.O_WRONLY | os.O_TRUNC, 0o644)</a:t>
            </a:r>
          </a:p>
          <a:p>
            <a:pPr>
              <a:lnSpc>
                <a:spcPct val="100000"/>
              </a:lnSpc>
              <a:spcBef>
                <a:spcPts val="0"/>
              </a:spcBef>
              <a:spcAft>
                <a:spcPts val="60"/>
              </a:spcAft>
            </a:pPr>
            <a:r>
              <a:rPr sz="860" b="0" i="0">
                <a:solidFill>
                  <a:srgbClr val="E5E7EB"/>
                </a:solidFill>
                <a:latin typeface="Consolas"/>
              </a:rPr>
              <a:t>t0 = time.perf_counter()</a:t>
            </a:r>
          </a:p>
          <a:p>
            <a:pPr>
              <a:lnSpc>
                <a:spcPct val="100000"/>
              </a:lnSpc>
              <a:spcBef>
                <a:spcPts val="0"/>
              </a:spcBef>
              <a:spcAft>
                <a:spcPts val="60"/>
              </a:spcAft>
            </a:pPr>
            <a:r>
              <a:rPr sz="860" b="0" i="0">
                <a:solidFill>
                  <a:srgbClr val="E5E7EB"/>
                </a:solidFill>
                <a:latin typeface="Consolas"/>
              </a:rPr>
              <a:t>for i in range(300):</a:t>
            </a:r>
          </a:p>
          <a:p>
            <a:pPr>
              <a:lnSpc>
                <a:spcPct val="100000"/>
              </a:lnSpc>
              <a:spcBef>
                <a:spcPts val="0"/>
              </a:spcBef>
              <a:spcAft>
                <a:spcPts val="60"/>
              </a:spcAft>
            </a:pPr>
            <a:r>
              <a:rPr sz="860" b="0" i="0">
                <a:solidFill>
                  <a:srgbClr val="E5E7EB"/>
                </a:solidFill>
                <a:latin typeface="Consolas"/>
              </a:rPr>
              <a:t>    os.write(fd, b"x" * 4096); os.fsync(fd)</a:t>
            </a:r>
          </a:p>
          <a:p>
            <a:pPr>
              <a:lnSpc>
                <a:spcPct val="100000"/>
              </a:lnSpc>
              <a:spcBef>
                <a:spcPts val="0"/>
              </a:spcBef>
              <a:spcAft>
                <a:spcPts val="60"/>
              </a:spcAft>
            </a:pPr>
            <a:r>
              <a:rPr sz="860" b="0" i="0">
                <a:solidFill>
                  <a:srgbClr val="E5E7EB"/>
                </a:solidFill>
                <a:latin typeface="Consolas"/>
              </a:rPr>
              <a:t>dt = time.perf_counter() - t0</a:t>
            </a:r>
          </a:p>
          <a:p>
            <a:pPr>
              <a:lnSpc>
                <a:spcPct val="100000"/>
              </a:lnSpc>
              <a:spcBef>
                <a:spcPts val="0"/>
              </a:spcBef>
              <a:spcAft>
                <a:spcPts val="60"/>
              </a:spcAft>
            </a:pPr>
            <a:r>
              <a:rPr sz="860" b="0" i="0">
                <a:solidFill>
                  <a:srgbClr val="E5E7EB"/>
                </a:solidFill>
                <a:latin typeface="Consolas"/>
              </a:rPr>
              <a:t>os.close(fd)</a:t>
            </a:r>
          </a:p>
          <a:p>
            <a:pPr>
              <a:lnSpc>
                <a:spcPct val="100000"/>
              </a:lnSpc>
              <a:spcBef>
                <a:spcPts val="0"/>
              </a:spcBef>
              <a:spcAft>
                <a:spcPts val="60"/>
              </a:spcAft>
            </a:pPr>
            <a:r>
              <a:rPr sz="860" b="0" i="0">
                <a:solidFill>
                  <a:srgbClr val="E5E7EB"/>
                </a:solidFill>
                <a:latin typeface="Consolas"/>
              </a:rPr>
              <a:t>print("avg synced 4 KiB write = %.2f ms  (300 samples, wall clock)" % (dt / 300 * 1000))</a:t>
            </a:r>
          </a:p>
          <a:p>
            <a:pPr>
              <a:lnSpc>
                <a:spcPct val="100000"/>
              </a:lnSpc>
              <a:spcBef>
                <a:spcPts val="0"/>
              </a:spcBef>
              <a:spcAft>
                <a:spcPts val="60"/>
              </a:spcAft>
            </a:pPr>
            <a:r>
              <a:rPr sz="860" b="0" i="0">
                <a:solidFill>
                  <a:srgbClr val="E5E7EB"/>
                </a:solidFill>
                <a:latin typeface="Consolas"/>
              </a:rPr>
              <a:t>PY</a:t>
            </a:r>
          </a:p>
          <a:p>
            <a:pPr>
              <a:lnSpc>
                <a:spcPct val="100000"/>
              </a:lnSpc>
              <a:spcBef>
                <a:spcPts val="0"/>
              </a:spcBef>
              <a:spcAft>
                <a:spcPts val="60"/>
              </a:spcAft>
            </a:pPr>
            <a:r>
              <a:rPr sz="860" b="0" i="0">
                <a:solidFill>
                  <a:srgbClr val="E5E7EB"/>
                </a:solidFill>
                <a:latin typeface="Consolas"/>
              </a:rPr>
              <a:t>echo; echo '$ cat /sys/block/*/queue/rotational'</a:t>
            </a:r>
          </a:p>
          <a:p>
            <a:pPr>
              <a:lnSpc>
                <a:spcPct val="100000"/>
              </a:lnSpc>
              <a:spcBef>
                <a:spcPts val="0"/>
              </a:spcBef>
              <a:spcAft>
                <a:spcPts val="60"/>
              </a:spcAft>
            </a:pPr>
            <a:r>
              <a:rPr sz="860" b="0" i="0">
                <a:solidFill>
                  <a:srgbClr val="E5E7EB"/>
                </a:solidFill>
                <a:latin typeface="Consolas"/>
              </a:rPr>
              <a:t>for f in /sys/block/*/queue/rotational; do echo -n "$f: "; cat $f; done</a:t>
            </a:r>
          </a:p>
          <a:p>
            <a:pPr>
              <a:lnSpc>
                <a:spcPct val="100000"/>
              </a:lnSpc>
              <a:spcBef>
                <a:spcPts val="0"/>
              </a:spcBef>
              <a:spcAft>
                <a:spcPts val="60"/>
              </a:spcAft>
            </a:pPr>
            <a:r>
              <a:rPr sz="860" b="0" i="0">
                <a:solidFill>
                  <a:srgbClr val="E5E7EB"/>
                </a:solidFill>
                <a:latin typeface="Consolas"/>
              </a:rPr>
              <a:t>rm -f big.bin small.bin</a:t>
            </a:r>
          </a:p>
          <a:p>
            <a:pPr>
              <a:lnSpc>
                <a:spcPct val="100000"/>
              </a:lnSpc>
              <a:spcBef>
                <a:spcPts val="0"/>
              </a:spcBef>
              <a:spcAft>
                <a:spcPts val="60"/>
              </a:spcAft>
            </a:pPr>
            <a:r>
              <a:rPr sz="860" b="0" i="0">
                <a:solidFill>
                  <a:srgbClr val="E5E7EB"/>
                </a:solidFill>
                <a:latin typeface="Consolas"/>
              </a:rPr>
              <a:t>echo; echo "LA9 MEASURED: sequential write+read and synced 4K-write latency captured above"</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out/la09_diskio.txt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870" b="0" i="0">
                <a:solidFill>
                  <a:srgbClr val="14171C"/>
                </a:solidFill>
                <a:latin typeface="Consolas"/>
              </a:rPr>
              <a:t>$ dd if=/dev/zero of=big.bin bs=1M count=128 conv=fsync</a:t>
            </a:r>
          </a:p>
          <a:p>
            <a:pPr>
              <a:lnSpc>
                <a:spcPct val="100000"/>
              </a:lnSpc>
              <a:spcBef>
                <a:spcPts val="0"/>
              </a:spcBef>
              <a:spcAft>
                <a:spcPts val="60"/>
              </a:spcAft>
            </a:pPr>
            <a:r>
              <a:rPr sz="870" b="0" i="0">
                <a:solidFill>
                  <a:srgbClr val="14171C"/>
                </a:solidFill>
                <a:latin typeface="Consolas"/>
              </a:rPr>
              <a:t>134217728 bytes (134 MB, 128 MiB) copied, 0.15286 s, 878 MB/s</a:t>
            </a:r>
          </a:p>
          <a:p>
            <a:pPr>
              <a:lnSpc>
                <a:spcPct val="100000"/>
              </a:lnSpc>
              <a:spcBef>
                <a:spcPts val="0"/>
              </a:spcBef>
              <a:spcAft>
                <a:spcPts val="60"/>
              </a:spcAft>
            </a:pPr>
            <a:r>
              <a:rPr sz="870" b="0" i="0">
                <a:solidFill>
                  <a:srgbClr val="14171C"/>
                </a:solidFill>
                <a:latin typeface="Consolas"/>
              </a:rPr>
              <a:t> </a:t>
            </a:r>
          </a:p>
          <a:p>
            <a:pPr>
              <a:lnSpc>
                <a:spcPct val="100000"/>
              </a:lnSpc>
              <a:spcBef>
                <a:spcPts val="0"/>
              </a:spcBef>
              <a:spcAft>
                <a:spcPts val="60"/>
              </a:spcAft>
            </a:pPr>
            <a:r>
              <a:rPr sz="870" b="0" i="0">
                <a:solidFill>
                  <a:srgbClr val="14171C"/>
                </a:solidFill>
                <a:latin typeface="Consolas"/>
              </a:rPr>
              <a:t>$ dd if=big.bin of=/dev/null bs=1M</a:t>
            </a:r>
          </a:p>
          <a:p>
            <a:pPr>
              <a:lnSpc>
                <a:spcPct val="100000"/>
              </a:lnSpc>
              <a:spcBef>
                <a:spcPts val="0"/>
              </a:spcBef>
              <a:spcAft>
                <a:spcPts val="60"/>
              </a:spcAft>
            </a:pPr>
            <a:r>
              <a:rPr sz="870" b="0" i="0">
                <a:solidFill>
                  <a:srgbClr val="14171C"/>
                </a:solidFill>
                <a:latin typeface="Consolas"/>
              </a:rPr>
              <a:t>134217728 bytes (134 MB, 128 MiB) copied, 0.0182932 s, 7.3 GB/s</a:t>
            </a:r>
          </a:p>
          <a:p>
            <a:pPr>
              <a:lnSpc>
                <a:spcPct val="100000"/>
              </a:lnSpc>
              <a:spcBef>
                <a:spcPts val="0"/>
              </a:spcBef>
              <a:spcAft>
                <a:spcPts val="60"/>
              </a:spcAft>
            </a:pPr>
            <a:r>
              <a:rPr sz="870" b="0" i="0">
                <a:solidFill>
                  <a:srgbClr val="14171C"/>
                </a:solidFill>
                <a:latin typeface="Consolas"/>
              </a:rPr>
              <a:t> </a:t>
            </a:r>
          </a:p>
          <a:p>
            <a:pPr>
              <a:lnSpc>
                <a:spcPct val="100000"/>
              </a:lnSpc>
              <a:spcBef>
                <a:spcPts val="0"/>
              </a:spcBef>
              <a:spcAft>
                <a:spcPts val="60"/>
              </a:spcAft>
            </a:pPr>
            <a:r>
              <a:rPr sz="870" b="0" i="0">
                <a:solidFill>
                  <a:srgbClr val="14171C"/>
                </a:solidFill>
                <a:latin typeface="Consolas"/>
              </a:rPr>
              <a:t>$ python3 latency probe: 300 x (write 4KiB + flush)</a:t>
            </a:r>
          </a:p>
          <a:p>
            <a:pPr>
              <a:lnSpc>
                <a:spcPct val="100000"/>
              </a:lnSpc>
              <a:spcBef>
                <a:spcPts val="0"/>
              </a:spcBef>
              <a:spcAft>
                <a:spcPts val="60"/>
              </a:spcAft>
            </a:pPr>
            <a:r>
              <a:rPr sz="870" b="0" i="0">
                <a:solidFill>
                  <a:srgbClr val="14171C"/>
                </a:solidFill>
                <a:latin typeface="Consolas"/>
              </a:rPr>
              <a:t>avg synced 4 KiB write = 0.45 ms  (300 samples, wall clock)</a:t>
            </a:r>
          </a:p>
          <a:p>
            <a:pPr>
              <a:lnSpc>
                <a:spcPct val="100000"/>
              </a:lnSpc>
              <a:spcBef>
                <a:spcPts val="0"/>
              </a:spcBef>
              <a:spcAft>
                <a:spcPts val="60"/>
              </a:spcAft>
            </a:pPr>
            <a:r>
              <a:rPr sz="870" b="0" i="0">
                <a:solidFill>
                  <a:srgbClr val="14171C"/>
                </a:solidFill>
                <a:latin typeface="Consolas"/>
              </a:rPr>
              <a:t> </a:t>
            </a:r>
          </a:p>
          <a:p>
            <a:pPr>
              <a:lnSpc>
                <a:spcPct val="100000"/>
              </a:lnSpc>
              <a:spcBef>
                <a:spcPts val="0"/>
              </a:spcBef>
              <a:spcAft>
                <a:spcPts val="60"/>
              </a:spcAft>
            </a:pPr>
            <a:r>
              <a:rPr sz="870" b="0" i="0">
                <a:solidFill>
                  <a:srgbClr val="14171C"/>
                </a:solidFill>
                <a:latin typeface="Consolas"/>
              </a:rPr>
              <a:t>$ cat /sys/block/*/queue/rotational</a:t>
            </a:r>
          </a:p>
          <a:p>
            <a:pPr>
              <a:lnSpc>
                <a:spcPct val="100000"/>
              </a:lnSpc>
              <a:spcBef>
                <a:spcPts val="0"/>
              </a:spcBef>
              <a:spcAft>
                <a:spcPts val="60"/>
              </a:spcAft>
            </a:pPr>
            <a:r>
              <a:rPr sz="870" b="0" i="0">
                <a:solidFill>
                  <a:srgbClr val="14171C"/>
                </a:solidFill>
                <a:latin typeface="Consolas"/>
              </a:rPr>
              <a:t>/sys/block/loop0/queue/rotational: 1</a:t>
            </a:r>
          </a:p>
          <a:p>
            <a:pPr>
              <a:lnSpc>
                <a:spcPct val="100000"/>
              </a:lnSpc>
              <a:spcBef>
                <a:spcPts val="0"/>
              </a:spcBef>
              <a:spcAft>
                <a:spcPts val="60"/>
              </a:spcAft>
            </a:pPr>
            <a:r>
              <a:rPr sz="870" b="0" i="0">
                <a:solidFill>
                  <a:srgbClr val="14171C"/>
                </a:solidFill>
                <a:latin typeface="Consolas"/>
              </a:rPr>
              <a:t>/sys/block/loop1/queue/rotational: 1</a:t>
            </a:r>
          </a:p>
          <a:p>
            <a:pPr>
              <a:lnSpc>
                <a:spcPct val="100000"/>
              </a:lnSpc>
              <a:spcBef>
                <a:spcPts val="0"/>
              </a:spcBef>
              <a:spcAft>
                <a:spcPts val="60"/>
              </a:spcAft>
            </a:pPr>
            <a:r>
              <a:rPr sz="870" b="0" i="0">
                <a:solidFill>
                  <a:srgbClr val="14171C"/>
                </a:solidFill>
                <a:latin typeface="Consolas"/>
              </a:rPr>
              <a:t>…  2 more lines omitted — complete listing in the course book  …</a:t>
            </a:r>
          </a:p>
          <a:p>
            <a:pPr>
              <a:lnSpc>
                <a:spcPct val="100000"/>
              </a:lnSpc>
              <a:spcBef>
                <a:spcPts val="0"/>
              </a:spcBef>
              <a:spcAft>
                <a:spcPts val="60"/>
              </a:spcAft>
            </a:pPr>
            <a:r>
              <a:rPr sz="870" b="0" i="0">
                <a:solidFill>
                  <a:srgbClr val="14171C"/>
                </a:solidFill>
                <a:latin typeface="Consolas"/>
              </a:rPr>
              <a:t>/sys/block/loop4/queue/rotational: 1</a:t>
            </a:r>
          </a:p>
          <a:p>
            <a:pPr>
              <a:lnSpc>
                <a:spcPct val="100000"/>
              </a:lnSpc>
              <a:spcBef>
                <a:spcPts val="0"/>
              </a:spcBef>
              <a:spcAft>
                <a:spcPts val="60"/>
              </a:spcAft>
            </a:pPr>
            <a:r>
              <a:rPr sz="870" b="0" i="0">
                <a:solidFill>
                  <a:srgbClr val="14171C"/>
                </a:solidFill>
                <a:latin typeface="Consolas"/>
              </a:rPr>
              <a:t>/sys/block/loop5/queue/rotational: 1</a:t>
            </a:r>
          </a:p>
          <a:p>
            <a:pPr>
              <a:lnSpc>
                <a:spcPct val="100000"/>
              </a:lnSpc>
              <a:spcBef>
                <a:spcPts val="0"/>
              </a:spcBef>
              <a:spcAft>
                <a:spcPts val="60"/>
              </a:spcAft>
            </a:pPr>
            <a:r>
              <a:rPr sz="870" b="0" i="0">
                <a:solidFill>
                  <a:srgbClr val="14171C"/>
                </a:solidFill>
                <a:latin typeface="Consolas"/>
              </a:rPr>
              <a:t>/sys/block/loop6/queue/rotational: 1</a:t>
            </a:r>
          </a:p>
          <a:p>
            <a:pPr>
              <a:lnSpc>
                <a:spcPct val="100000"/>
              </a:lnSpc>
              <a:spcBef>
                <a:spcPts val="0"/>
              </a:spcBef>
              <a:spcAft>
                <a:spcPts val="60"/>
              </a:spcAft>
            </a:pPr>
            <a:r>
              <a:rPr sz="870" b="0" i="0">
                <a:solidFill>
                  <a:srgbClr val="14171C"/>
                </a:solidFill>
                <a:latin typeface="Consolas"/>
              </a:rPr>
              <a:t>/sys/block/loop7/queue/rotational: 1</a:t>
            </a:r>
          </a:p>
          <a:p>
            <a:pPr>
              <a:lnSpc>
                <a:spcPct val="100000"/>
              </a:lnSpc>
              <a:spcBef>
                <a:spcPts val="0"/>
              </a:spcBef>
              <a:spcAft>
                <a:spcPts val="60"/>
              </a:spcAft>
            </a:pPr>
            <a:r>
              <a:rPr sz="870" b="0" i="0">
                <a:solidFill>
                  <a:srgbClr val="14171C"/>
                </a:solidFill>
                <a:latin typeface="Consolas"/>
              </a:rPr>
              <a:t>/sys/block/vda/queue/rotational: 1</a:t>
            </a:r>
          </a:p>
          <a:p>
            <a:pPr>
              <a:lnSpc>
                <a:spcPct val="100000"/>
              </a:lnSpc>
              <a:spcBef>
                <a:spcPts val="0"/>
              </a:spcBef>
              <a:spcAft>
                <a:spcPts val="60"/>
              </a:spcAft>
            </a:pPr>
            <a:r>
              <a:rPr sz="870" b="0" i="0">
                <a:solidFill>
                  <a:srgbClr val="14171C"/>
                </a:solidFill>
                <a:latin typeface="Consolas"/>
              </a:rPr>
              <a:t> </a:t>
            </a:r>
          </a:p>
          <a:p>
            <a:pPr>
              <a:lnSpc>
                <a:spcPct val="100000"/>
              </a:lnSpc>
              <a:spcBef>
                <a:spcPts val="0"/>
              </a:spcBef>
              <a:spcAft>
                <a:spcPts val="60"/>
              </a:spcAft>
            </a:pPr>
            <a:r>
              <a:rPr sz="870" b="0" i="0">
                <a:solidFill>
                  <a:srgbClr val="14171C"/>
                </a:solidFill>
                <a:latin typeface="Consolas"/>
              </a:rPr>
              <a:t>LA9 MEASURED: sequential write+read and synced 4K-write latency captured above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9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47</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Both rate transcripts come from lines that announce themselves —</a:t>
            </a:r>
            <a:r>
              <a:rPr sz="1150" b="0" i="0">
                <a:solidFill>
                  <a:srgbClr val="B3261E"/>
                </a:solidFill>
                <a:latin typeface="Consolas"/>
              </a:rPr>
              <a:t>$ dd if=/dev/zero of=big.bin bs=1M count=128 conv=fsync</a:t>
            </a:r>
            <a:r>
              <a:rPr sz="1250" b="0" i="0">
                <a:solidFill>
                  <a:srgbClr val="16181D"/>
                </a:solidFill>
                <a:latin typeface="Calibri"/>
              </a:rPr>
              <a:t>and its bare-read twin: the write pays the device (fsync included), the read is served by page cache, and the printed MB/s-to-GB/s gap on your machine is the discussion — this VM recorded three orders of magnitude.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Latency series: the block titled</a:t>
            </a:r>
            <a:r>
              <a:rPr sz="1150" b="0" i="0">
                <a:solidFill>
                  <a:srgbClr val="B3261E"/>
                </a:solidFill>
                <a:latin typeface="Consolas"/>
              </a:rPr>
              <a:t>$ python3 latency probe: 300 x (write 4KiB + flush)</a:t>
            </a:r>
            <a:r>
              <a:rPr sz="1250" b="0" i="0">
                <a:solidFill>
                  <a:srgbClr val="16181D"/>
                </a:solidFill>
                <a:latin typeface="Calibri"/>
              </a:rPr>
              <a:t>prints one number per run (this machine: under half a millisecond per synced 4 KiB write) — three orders from sequential, which is exactly why databases batch commits.</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is the read 20× the write on the same file?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What does conv=fsync add, in file terms?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Why do small synced writes cost ms while costing almost nothing in bulk?</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The read is served from page cache in RAM; the write crossed the device. A cold read (after drop_caches) lands near device speed.</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Sequential and random/synced costs measured on real storage; the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Learning Activity 10 — CISC vs RISC, anchored on a live processor profile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48</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Compare the features, instruction formats, and performance characteristics of CISC and RISC architectures through the study of modern processors, and summarize the findings in a comparative table.</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src/la10_cpu.sh</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1240" b="0" i="0">
                <a:solidFill>
                  <a:srgbClr val="E5E7EB"/>
                </a:solidFill>
                <a:latin typeface="Consolas"/>
              </a:rPr>
              <a:t>echo '$ lscpu (selection)'</a:t>
            </a:r>
          </a:p>
          <a:p>
            <a:pPr>
              <a:lnSpc>
                <a:spcPct val="100000"/>
              </a:lnSpc>
              <a:spcBef>
                <a:spcPts val="0"/>
              </a:spcBef>
              <a:spcAft>
                <a:spcPts val="60"/>
              </a:spcAft>
            </a:pPr>
            <a:r>
              <a:rPr sz="1240" b="0" i="0">
                <a:solidFill>
                  <a:srgbClr val="E5E7EB"/>
                </a:solidFill>
                <a:latin typeface="Consolas"/>
              </a:rPr>
              <a:t>lscpu | grep -E "Architecture|Vendor|Model name|CPU\(s\):|Thread|Core|Socket|L1d|L1i|L2|L3|MHz|Flags" | head -14 | cut -c1-120</a:t>
            </a:r>
          </a:p>
          <a:p>
            <a:pPr>
              <a:lnSpc>
                <a:spcPct val="100000"/>
              </a:lnSpc>
              <a:spcBef>
                <a:spcPts val="0"/>
              </a:spcBef>
              <a:spcAft>
                <a:spcPts val="60"/>
              </a:spcAft>
            </a:pPr>
            <a:r>
              <a:rPr sz="1240" b="0" i="0">
                <a:solidFill>
                  <a:srgbClr val="E5E7EB"/>
                </a:solidFill>
                <a:latin typeface="Consolas"/>
              </a:rPr>
              <a:t>echo; echo '$ python3 - small arithmetic throughput probe (fixed workload)'</a:t>
            </a:r>
          </a:p>
          <a:p>
            <a:pPr>
              <a:lnSpc>
                <a:spcPct val="100000"/>
              </a:lnSpc>
              <a:spcBef>
                <a:spcPts val="0"/>
              </a:spcBef>
              <a:spcAft>
                <a:spcPts val="60"/>
              </a:spcAft>
            </a:pPr>
            <a:r>
              <a:rPr sz="1240" b="0" i="0">
                <a:solidFill>
                  <a:srgbClr val="E5E7EB"/>
                </a:solidFill>
                <a:latin typeface="Consolas"/>
              </a:rPr>
              <a:t>python3 - &lt;&lt;'PY'</a:t>
            </a:r>
          </a:p>
          <a:p>
            <a:pPr>
              <a:lnSpc>
                <a:spcPct val="100000"/>
              </a:lnSpc>
              <a:spcBef>
                <a:spcPts val="0"/>
              </a:spcBef>
              <a:spcAft>
                <a:spcPts val="60"/>
              </a:spcAft>
            </a:pPr>
            <a:r>
              <a:rPr sz="1240" b="0" i="0">
                <a:solidFill>
                  <a:srgbClr val="E5E7EB"/>
                </a:solidFill>
                <a:latin typeface="Consolas"/>
              </a:rPr>
              <a:t>import time</a:t>
            </a:r>
          </a:p>
          <a:p>
            <a:pPr>
              <a:lnSpc>
                <a:spcPct val="100000"/>
              </a:lnSpc>
              <a:spcBef>
                <a:spcPts val="0"/>
              </a:spcBef>
              <a:spcAft>
                <a:spcPts val="60"/>
              </a:spcAft>
            </a:pPr>
            <a:r>
              <a:rPr sz="1240" b="0" i="0">
                <a:solidFill>
                  <a:srgbClr val="E5E7EB"/>
                </a:solidFill>
                <a:latin typeface="Consolas"/>
              </a:rPr>
              <a:t>t0=time.perf_counter()</a:t>
            </a:r>
          </a:p>
          <a:p>
            <a:pPr>
              <a:lnSpc>
                <a:spcPct val="100000"/>
              </a:lnSpc>
              <a:spcBef>
                <a:spcPts val="0"/>
              </a:spcBef>
              <a:spcAft>
                <a:spcPts val="60"/>
              </a:spcAft>
            </a:pPr>
            <a:r>
              <a:rPr sz="1240" b="0" i="0">
                <a:solidFill>
                  <a:srgbClr val="E5E7EB"/>
                </a:solidFill>
                <a:latin typeface="Consolas"/>
              </a:rPr>
              <a:t>s=0</a:t>
            </a:r>
          </a:p>
          <a:p>
            <a:pPr>
              <a:lnSpc>
                <a:spcPct val="100000"/>
              </a:lnSpc>
              <a:spcBef>
                <a:spcPts val="0"/>
              </a:spcBef>
              <a:spcAft>
                <a:spcPts val="60"/>
              </a:spcAft>
            </a:pPr>
            <a:r>
              <a:rPr sz="1240" b="0" i="0">
                <a:solidFill>
                  <a:srgbClr val="E5E7EB"/>
                </a:solidFill>
                <a:latin typeface="Consolas"/>
              </a:rPr>
              <a:t>for i in range(5000000): s+=i&amp;7</a:t>
            </a:r>
          </a:p>
          <a:p>
            <a:pPr>
              <a:lnSpc>
                <a:spcPct val="100000"/>
              </a:lnSpc>
              <a:spcBef>
                <a:spcPts val="0"/>
              </a:spcBef>
              <a:spcAft>
                <a:spcPts val="60"/>
              </a:spcAft>
            </a:pPr>
            <a:r>
              <a:rPr sz="1240" b="0" i="0">
                <a:solidFill>
                  <a:srgbClr val="E5E7EB"/>
                </a:solidFill>
                <a:latin typeface="Consolas"/>
              </a:rPr>
              <a:t>print("fixed 5M-add loop:", time.perf_counter()-t0, "s")</a:t>
            </a:r>
          </a:p>
          <a:p>
            <a:pPr>
              <a:lnSpc>
                <a:spcPct val="100000"/>
              </a:lnSpc>
              <a:spcBef>
                <a:spcPts val="0"/>
              </a:spcBef>
              <a:spcAft>
                <a:spcPts val="60"/>
              </a:spcAft>
            </a:pPr>
            <a:r>
              <a:rPr sz="1240" b="0" i="0">
                <a:solidFill>
                  <a:srgbClr val="E5E7EB"/>
                </a:solidFill>
                <a:latin typeface="Consolas"/>
              </a:rPr>
              <a:t>PY</a:t>
            </a:r>
          </a:p>
          <a:p>
            <a:pPr>
              <a:lnSpc>
                <a:spcPct val="100000"/>
              </a:lnSpc>
              <a:spcBef>
                <a:spcPts val="0"/>
              </a:spcBef>
              <a:spcAft>
                <a:spcPts val="60"/>
              </a:spcAft>
            </a:pPr>
            <a:r>
              <a:rPr sz="1240" b="0" i="0">
                <a:solidFill>
                  <a:srgbClr val="E5E7EB"/>
                </a:solidFill>
                <a:latin typeface="Consolas"/>
              </a:rPr>
              <a:t>echo; echo "LA10 STUDY ok: live x86-64 (CISC lineage) profile captured; compare with the RISC column in the report table"</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out/la10_cpu.txt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870" b="0" i="0">
                <a:solidFill>
                  <a:srgbClr val="14171C"/>
                </a:solidFill>
                <a:latin typeface="Consolas"/>
              </a:rPr>
              <a:t>$ lscpu (selection)</a:t>
            </a:r>
          </a:p>
          <a:p>
            <a:pPr>
              <a:lnSpc>
                <a:spcPct val="100000"/>
              </a:lnSpc>
              <a:spcBef>
                <a:spcPts val="0"/>
              </a:spcBef>
              <a:spcAft>
                <a:spcPts val="60"/>
              </a:spcAft>
            </a:pPr>
            <a:r>
              <a:rPr sz="870" b="0" i="0">
                <a:solidFill>
                  <a:srgbClr val="14171C"/>
                </a:solidFill>
                <a:latin typeface="Consolas"/>
              </a:rPr>
              <a:t>Architecture:                            x86_64</a:t>
            </a:r>
          </a:p>
          <a:p>
            <a:pPr>
              <a:lnSpc>
                <a:spcPct val="100000"/>
              </a:lnSpc>
              <a:spcBef>
                <a:spcPts val="0"/>
              </a:spcBef>
              <a:spcAft>
                <a:spcPts val="60"/>
              </a:spcAft>
            </a:pPr>
            <a:r>
              <a:rPr sz="870" b="0" i="0">
                <a:solidFill>
                  <a:srgbClr val="14171C"/>
                </a:solidFill>
                <a:latin typeface="Consolas"/>
              </a:rPr>
              <a:t>CPU(s):                                  2</a:t>
            </a:r>
          </a:p>
          <a:p>
            <a:pPr>
              <a:lnSpc>
                <a:spcPct val="100000"/>
              </a:lnSpc>
              <a:spcBef>
                <a:spcPts val="0"/>
              </a:spcBef>
              <a:spcAft>
                <a:spcPts val="60"/>
              </a:spcAft>
            </a:pPr>
            <a:r>
              <a:rPr sz="870" b="0" i="0">
                <a:solidFill>
                  <a:srgbClr val="14171C"/>
                </a:solidFill>
                <a:latin typeface="Consolas"/>
              </a:rPr>
              <a:t>Vendor ID:                               GenuineIntel</a:t>
            </a:r>
          </a:p>
          <a:p>
            <a:pPr>
              <a:lnSpc>
                <a:spcPct val="100000"/>
              </a:lnSpc>
              <a:spcBef>
                <a:spcPts val="0"/>
              </a:spcBef>
              <a:spcAft>
                <a:spcPts val="60"/>
              </a:spcAft>
            </a:pPr>
            <a:r>
              <a:rPr sz="870" b="0" i="0">
                <a:solidFill>
                  <a:srgbClr val="14171C"/>
                </a:solidFill>
                <a:latin typeface="Consolas"/>
              </a:rPr>
              <a:t>Model name:                              Intel(R) Xeon(R) Processor @ 2.60GHz</a:t>
            </a:r>
          </a:p>
          <a:p>
            <a:pPr>
              <a:lnSpc>
                <a:spcPct val="100000"/>
              </a:lnSpc>
              <a:spcBef>
                <a:spcPts val="0"/>
              </a:spcBef>
              <a:spcAft>
                <a:spcPts val="60"/>
              </a:spcAft>
            </a:pPr>
            <a:r>
              <a:rPr sz="870" b="0" i="0">
                <a:solidFill>
                  <a:srgbClr val="14171C"/>
                </a:solidFill>
                <a:latin typeface="Consolas"/>
              </a:rPr>
              <a:t>Thread(s) per core:                      2</a:t>
            </a:r>
          </a:p>
          <a:p>
            <a:pPr>
              <a:lnSpc>
                <a:spcPct val="100000"/>
              </a:lnSpc>
              <a:spcBef>
                <a:spcPts val="0"/>
              </a:spcBef>
              <a:spcAft>
                <a:spcPts val="60"/>
              </a:spcAft>
            </a:pPr>
            <a:r>
              <a:rPr sz="870" b="0" i="0">
                <a:solidFill>
                  <a:srgbClr val="14171C"/>
                </a:solidFill>
                <a:latin typeface="Consolas"/>
              </a:rPr>
              <a:t>Core(s) per socket:                      1</a:t>
            </a:r>
          </a:p>
          <a:p>
            <a:pPr>
              <a:lnSpc>
                <a:spcPct val="100000"/>
              </a:lnSpc>
              <a:spcBef>
                <a:spcPts val="0"/>
              </a:spcBef>
              <a:spcAft>
                <a:spcPts val="60"/>
              </a:spcAft>
            </a:pPr>
            <a:r>
              <a:rPr sz="870" b="0" i="0">
                <a:solidFill>
                  <a:srgbClr val="14171C"/>
                </a:solidFill>
                <a:latin typeface="Consolas"/>
              </a:rPr>
              <a:t>Socket(s):                               1</a:t>
            </a:r>
          </a:p>
          <a:p>
            <a:pPr>
              <a:lnSpc>
                <a:spcPct val="100000"/>
              </a:lnSpc>
              <a:spcBef>
                <a:spcPts val="0"/>
              </a:spcBef>
              <a:spcAft>
                <a:spcPts val="60"/>
              </a:spcAft>
            </a:pPr>
            <a:r>
              <a:rPr sz="870" b="0" i="0">
                <a:solidFill>
                  <a:srgbClr val="14171C"/>
                </a:solidFill>
                <a:latin typeface="Consolas"/>
              </a:rPr>
              <a:t>Flags:                                   fpu vme de pse tsc msr pae mce cx8 apic sep mtrr pge mca cmov pat pse36 clflush</a:t>
            </a:r>
          </a:p>
          <a:p>
            <a:pPr>
              <a:lnSpc>
                <a:spcPct val="100000"/>
              </a:lnSpc>
              <a:spcBef>
                <a:spcPts val="0"/>
              </a:spcBef>
              <a:spcAft>
                <a:spcPts val="60"/>
              </a:spcAft>
            </a:pPr>
            <a:r>
              <a:rPr sz="870" b="0" i="0">
                <a:solidFill>
                  <a:srgbClr val="14171C"/>
                </a:solidFill>
                <a:latin typeface="Consolas"/>
              </a:rPr>
              <a:t>L1d cache:                               48 KiB (1 instance)</a:t>
            </a:r>
          </a:p>
          <a:p>
            <a:pPr>
              <a:lnSpc>
                <a:spcPct val="100000"/>
              </a:lnSpc>
              <a:spcBef>
                <a:spcPts val="0"/>
              </a:spcBef>
              <a:spcAft>
                <a:spcPts val="60"/>
              </a:spcAft>
            </a:pPr>
            <a:r>
              <a:rPr sz="870" b="0" i="0">
                <a:solidFill>
                  <a:srgbClr val="14171C"/>
                </a:solidFill>
                <a:latin typeface="Consolas"/>
              </a:rPr>
              <a:t>…  2 more lines omitted — complete listing in the course book  …</a:t>
            </a:r>
          </a:p>
          <a:p>
            <a:pPr>
              <a:lnSpc>
                <a:spcPct val="100000"/>
              </a:lnSpc>
              <a:spcBef>
                <a:spcPts val="0"/>
              </a:spcBef>
              <a:spcAft>
                <a:spcPts val="60"/>
              </a:spcAft>
            </a:pPr>
            <a:r>
              <a:rPr sz="870" b="0" i="0">
                <a:solidFill>
                  <a:srgbClr val="14171C"/>
                </a:solidFill>
                <a:latin typeface="Consolas"/>
              </a:rPr>
              <a:t>L3 cache:                                54 MiB (1 instance)</a:t>
            </a:r>
          </a:p>
          <a:p>
            <a:pPr>
              <a:lnSpc>
                <a:spcPct val="100000"/>
              </a:lnSpc>
              <a:spcBef>
                <a:spcPts val="0"/>
              </a:spcBef>
              <a:spcAft>
                <a:spcPts val="60"/>
              </a:spcAft>
            </a:pPr>
            <a:r>
              <a:rPr sz="870" b="0" i="0">
                <a:solidFill>
                  <a:srgbClr val="14171C"/>
                </a:solidFill>
                <a:latin typeface="Consolas"/>
              </a:rPr>
              <a:t>NUMA node0 CPU(s):                       0,1</a:t>
            </a:r>
          </a:p>
          <a:p>
            <a:pPr>
              <a:lnSpc>
                <a:spcPct val="100000"/>
              </a:lnSpc>
              <a:spcBef>
                <a:spcPts val="0"/>
              </a:spcBef>
              <a:spcAft>
                <a:spcPts val="60"/>
              </a:spcAft>
            </a:pPr>
            <a:r>
              <a:rPr sz="870" b="0" i="0">
                <a:solidFill>
                  <a:srgbClr val="14171C"/>
                </a:solidFill>
                <a:latin typeface="Consolas"/>
              </a:rPr>
              <a:t> </a:t>
            </a:r>
          </a:p>
          <a:p>
            <a:pPr>
              <a:lnSpc>
                <a:spcPct val="100000"/>
              </a:lnSpc>
              <a:spcBef>
                <a:spcPts val="0"/>
              </a:spcBef>
              <a:spcAft>
                <a:spcPts val="60"/>
              </a:spcAft>
            </a:pPr>
            <a:r>
              <a:rPr sz="870" b="0" i="0">
                <a:solidFill>
                  <a:srgbClr val="14171C"/>
                </a:solidFill>
                <a:latin typeface="Consolas"/>
              </a:rPr>
              <a:t>$ python3 - small arithmetic throughput probe (fixed workload)</a:t>
            </a:r>
          </a:p>
          <a:p>
            <a:pPr>
              <a:lnSpc>
                <a:spcPct val="100000"/>
              </a:lnSpc>
              <a:spcBef>
                <a:spcPts val="0"/>
              </a:spcBef>
              <a:spcAft>
                <a:spcPts val="60"/>
              </a:spcAft>
            </a:pPr>
            <a:r>
              <a:rPr sz="870" b="0" i="0">
                <a:solidFill>
                  <a:srgbClr val="14171C"/>
                </a:solidFill>
                <a:latin typeface="Consolas"/>
              </a:rPr>
              <a:t>fixed 5M-add loop: 0.5186209920002511 s</a:t>
            </a:r>
          </a:p>
          <a:p>
            <a:pPr>
              <a:lnSpc>
                <a:spcPct val="100000"/>
              </a:lnSpc>
              <a:spcBef>
                <a:spcPts val="0"/>
              </a:spcBef>
              <a:spcAft>
                <a:spcPts val="60"/>
              </a:spcAft>
            </a:pPr>
            <a:r>
              <a:rPr sz="870" b="0" i="0">
                <a:solidFill>
                  <a:srgbClr val="14171C"/>
                </a:solidFill>
                <a:latin typeface="Consolas"/>
              </a:rPr>
              <a:t> </a:t>
            </a:r>
          </a:p>
          <a:p>
            <a:pPr>
              <a:lnSpc>
                <a:spcPct val="100000"/>
              </a:lnSpc>
              <a:spcBef>
                <a:spcPts val="0"/>
              </a:spcBef>
              <a:spcAft>
                <a:spcPts val="60"/>
              </a:spcAft>
            </a:pPr>
            <a:r>
              <a:rPr sz="870" b="0" i="0">
                <a:solidFill>
                  <a:srgbClr val="14171C"/>
                </a:solidFill>
                <a:latin typeface="Consolas"/>
              </a:rPr>
              <a:t>LA10 STUDY ok: live x86-64 (CISC lineage) profile captured; compare with the RISC column in the report table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10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49</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profile:</a:t>
            </a:r>
            <a:r>
              <a:rPr sz="1150" b="0" i="0">
                <a:solidFill>
                  <a:srgbClr val="B3261E"/>
                </a:solidFill>
                <a:latin typeface="Consolas"/>
              </a:rPr>
              <a:t>x86_64</a:t>
            </a:r>
            <a:r>
              <a:rPr sz="1250" b="0" i="0">
                <a:solidFill>
                  <a:srgbClr val="16181D"/>
                </a:solidFill>
                <a:latin typeface="Calibri"/>
              </a:rPr>
              <a:t>, GenuineIntel — a CISC-ISA machine; its core does the same fixed loop the RISC column will be measured with.</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portable probe printed its wall time:</a:t>
            </a:r>
            <a:r>
              <a:rPr sz="1150" b="0" i="0">
                <a:solidFill>
                  <a:srgbClr val="B3261E"/>
                </a:solidFill>
                <a:latin typeface="Consolas"/>
              </a:rPr>
              <a:t>fixed 5M-add loop:</a:t>
            </a:r>
            <a:r>
              <a:rPr sz="1250" b="0" i="0">
                <a:solidFill>
                  <a:srgbClr val="16181D"/>
                </a:solidFill>
                <a:latin typeface="Calibri"/>
              </a:rPr>
              <a:t>— one sentence for the 'performance characteristics' row: same-source, same-clock-scale comparison beats quoting GHz.</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Ends with the script’s own stamp:</a:t>
            </a:r>
            <a:r>
              <a:rPr sz="1150" b="0" i="0">
                <a:solidFill>
                  <a:srgbClr val="B3261E"/>
                </a:solidFill>
                <a:latin typeface="Consolas"/>
              </a:rPr>
              <a:t>LA10 STUDY ok</a:t>
            </a:r>
            <a:r>
              <a:rPr sz="1250" b="0" i="0">
                <a:solidFill>
                  <a:srgbClr val="16181D"/>
                </a:solidFill>
                <a:latin typeface="Calibri"/>
              </a:rPr>
              <a: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Both lineages now pipeline and speculate — what still separates them?</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Which line of lscpu proves the ISA, and which the width?</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Give one RISC design that added CISC-ish instructions under licence?</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The programmer-visible ISA: fixed load-store RISC formats vs variable-memory CISC instructions; the decoder is where the CISC cost moved to.</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The CISC/RISC comparison table is completed from the study machine's own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Learning Activity 11 — Semiconductor RAM/ROM organization, computed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50</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Study of semiconductor RAM and ROM organization with practical examples by determining memory capacity, address lines, data lines, and memory locations, and compare their characteristics.</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src/la11_ramrom.v</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700" b="0" i="0">
                <a:solidFill>
                  <a:srgbClr val="E5E7EB"/>
                </a:solidFill>
                <a:latin typeface="Consolas"/>
              </a:rPr>
              <a:t>`timescale 1ns/1ps</a:t>
            </a:r>
          </a:p>
          <a:p>
            <a:pPr>
              <a:lnSpc>
                <a:spcPct val="100000"/>
              </a:lnSpc>
              <a:spcBef>
                <a:spcPts val="0"/>
              </a:spcBef>
              <a:spcAft>
                <a:spcPts val="60"/>
              </a:spcAft>
            </a:pPr>
            <a:r>
              <a:rPr sz="700" b="0" i="0">
                <a:solidFill>
                  <a:srgbClr val="E5E7EB"/>
                </a:solidFill>
                <a:latin typeface="Consolas"/>
              </a:rPr>
              <a:t>// LA-11: semiconductor RAM/ROM organization - capacity, address lines, data</a:t>
            </a:r>
          </a:p>
          <a:p>
            <a:pPr>
              <a:lnSpc>
                <a:spcPct val="100000"/>
              </a:lnSpc>
              <a:spcBef>
                <a:spcPts val="0"/>
              </a:spcBef>
              <a:spcAft>
                <a:spcPts val="60"/>
              </a:spcAft>
            </a:pPr>
            <a:r>
              <a:rPr sz="700" b="0" i="0">
                <a:solidFill>
                  <a:srgbClr val="E5E7EB"/>
                </a:solidFill>
                <a:latin typeface="Consolas"/>
              </a:rPr>
              <a:t>// lines, memory locations and chip counts computed for real part densities.</a:t>
            </a:r>
          </a:p>
          <a:p>
            <a:pPr>
              <a:lnSpc>
                <a:spcPct val="100000"/>
              </a:lnSpc>
              <a:spcBef>
                <a:spcPts val="0"/>
              </a:spcBef>
              <a:spcAft>
                <a:spcPts val="60"/>
              </a:spcAft>
            </a:pPr>
            <a:r>
              <a:rPr sz="700" b="0" i="0">
                <a:solidFill>
                  <a:srgbClr val="E5E7EB"/>
                </a:solidFill>
                <a:latin typeface="Consolas"/>
              </a:rPr>
              <a:t>module tb;</a:t>
            </a:r>
          </a:p>
          <a:p>
            <a:pPr>
              <a:lnSpc>
                <a:spcPct val="100000"/>
              </a:lnSpc>
              <a:spcBef>
                <a:spcPts val="0"/>
              </a:spcBef>
              <a:spcAft>
                <a:spcPts val="60"/>
              </a:spcAft>
            </a:pPr>
            <a:r>
              <a:rPr sz="700" b="0" i="0">
                <a:solidFill>
                  <a:srgbClr val="E5E7EB"/>
                </a:solidFill>
                <a:latin typeface="Consolas"/>
              </a:rPr>
              <a:t>  integer k1, k2;</a:t>
            </a:r>
          </a:p>
          <a:p>
            <a:pPr>
              <a:lnSpc>
                <a:spcPct val="100000"/>
              </a:lnSpc>
              <a:spcBef>
                <a:spcPts val="0"/>
              </a:spcBef>
              <a:spcAft>
                <a:spcPts val="60"/>
              </a:spcAft>
            </a:pPr>
            <a:r>
              <a:rPr sz="700" b="0" i="0">
                <a:solidFill>
                  <a:srgbClr val="E5E7EB"/>
                </a:solidFill>
                <a:latin typeface="Consolas"/>
              </a:rPr>
              <a:t>  task lines(input integer bits);</a:t>
            </a:r>
          </a:p>
          <a:p>
            <a:pPr>
              <a:lnSpc>
                <a:spcPct val="100000"/>
              </a:lnSpc>
              <a:spcBef>
                <a:spcPts val="0"/>
              </a:spcBef>
              <a:spcAft>
                <a:spcPts val="60"/>
              </a:spcAft>
            </a:pPr>
            <a:r>
              <a:rPr sz="700" b="0" i="0">
                <a:solidFill>
                  <a:srgbClr val="E5E7EB"/>
                </a:solidFill>
                <a:latin typeface="Consolas"/>
              </a:rPr>
              <a:t>    begin</a:t>
            </a:r>
          </a:p>
          <a:p>
            <a:pPr>
              <a:lnSpc>
                <a:spcPct val="100000"/>
              </a:lnSpc>
              <a:spcBef>
                <a:spcPts val="0"/>
              </a:spcBef>
              <a:spcAft>
                <a:spcPts val="60"/>
              </a:spcAft>
            </a:pPr>
            <a:r>
              <a:rPr sz="700" b="0" i="0">
                <a:solidFill>
                  <a:srgbClr val="E5E7EB"/>
                </a:solidFill>
                <a:latin typeface="Consolas"/>
              </a:rPr>
              <a:t>      $display("   capacity 2^%0d = %0d locations -&gt; address lines = %0d", bits, 1&lt;&lt;bits, bits);</a:t>
            </a:r>
          </a:p>
          <a:p>
            <a:pPr>
              <a:lnSpc>
                <a:spcPct val="100000"/>
              </a:lnSpc>
              <a:spcBef>
                <a:spcPts val="0"/>
              </a:spcBef>
              <a:spcAft>
                <a:spcPts val="60"/>
              </a:spcAft>
            </a:pPr>
            <a:r>
              <a:rPr sz="700" b="0" i="0">
                <a:solidFill>
                  <a:srgbClr val="E5E7EB"/>
                </a:solidFill>
                <a:latin typeface="Consolas"/>
              </a:rPr>
              <a:t>    end</a:t>
            </a:r>
          </a:p>
          <a:p>
            <a:pPr>
              <a:lnSpc>
                <a:spcPct val="100000"/>
              </a:lnSpc>
              <a:spcBef>
                <a:spcPts val="0"/>
              </a:spcBef>
              <a:spcAft>
                <a:spcPts val="60"/>
              </a:spcAft>
            </a:pPr>
            <a:r>
              <a:rPr sz="700" b="0" i="0">
                <a:solidFill>
                  <a:srgbClr val="E5E7EB"/>
                </a:solidFill>
                <a:latin typeface="Consolas"/>
              </a:rPr>
              <a:t>  endtask</a:t>
            </a:r>
          </a:p>
          <a:p>
            <a:pPr>
              <a:lnSpc>
                <a:spcPct val="100000"/>
              </a:lnSpc>
              <a:spcBef>
                <a:spcPts val="0"/>
              </a:spcBef>
              <a:spcAft>
                <a:spcPts val="60"/>
              </a:spcAft>
            </a:pPr>
            <a:r>
              <a:rPr sz="700" b="0" i="0">
                <a:solidFill>
                  <a:srgbClr val="E5E7EB"/>
                </a:solidFill>
                <a:latin typeface="Consolas"/>
              </a:rPr>
              <a:t>  initial begin</a:t>
            </a:r>
          </a:p>
          <a:p>
            <a:pPr>
              <a:lnSpc>
                <a:spcPct val="100000"/>
              </a:lnSpc>
              <a:spcBef>
                <a:spcPts val="0"/>
              </a:spcBef>
              <a:spcAft>
                <a:spcPts val="60"/>
              </a:spcAft>
            </a:pPr>
            <a:r>
              <a:rPr sz="700" b="0" i="0">
                <a:solidFill>
                  <a:srgbClr val="E5E7EB"/>
                </a:solidFill>
                <a:latin typeface="Consolas"/>
              </a:rPr>
              <a:t>    $display("== LA-11  memory organization arithmetic ==");</a:t>
            </a:r>
          </a:p>
          <a:p>
            <a:pPr>
              <a:lnSpc>
                <a:spcPct val="100000"/>
              </a:lnSpc>
              <a:spcBef>
                <a:spcPts val="0"/>
              </a:spcBef>
              <a:spcAft>
                <a:spcPts val="60"/>
              </a:spcAft>
            </a:pPr>
            <a:r>
              <a:rPr sz="700" b="0" i="0">
                <a:solidFill>
                  <a:srgbClr val="E5E7EB"/>
                </a:solidFill>
                <a:latin typeface="Consolas"/>
              </a:rPr>
              <a:t>    $display("--- single chips: locations vs address lines ---");</a:t>
            </a:r>
          </a:p>
          <a:p>
            <a:pPr>
              <a:lnSpc>
                <a:spcPct val="100000"/>
              </a:lnSpc>
              <a:spcBef>
                <a:spcPts val="0"/>
              </a:spcBef>
              <a:spcAft>
                <a:spcPts val="60"/>
              </a:spcAft>
            </a:pPr>
            <a:r>
              <a:rPr sz="700" b="0" i="0">
                <a:solidFill>
                  <a:srgbClr val="E5E7EB"/>
                </a:solidFill>
                <a:latin typeface="Consolas"/>
              </a:rPr>
              <a:t>    lines(11);   // 2K  ROM  (2048)</a:t>
            </a:r>
          </a:p>
          <a:p>
            <a:pPr>
              <a:lnSpc>
                <a:spcPct val="100000"/>
              </a:lnSpc>
              <a:spcBef>
                <a:spcPts val="0"/>
              </a:spcBef>
              <a:spcAft>
                <a:spcPts val="60"/>
              </a:spcAft>
            </a:pPr>
            <a:r>
              <a:rPr sz="700" b="0" i="0">
                <a:solidFill>
                  <a:srgbClr val="E5E7EB"/>
                </a:solidFill>
                <a:latin typeface="Consolas"/>
              </a:rPr>
              <a:t>    lines(14);   // 16K (16384)</a:t>
            </a:r>
          </a:p>
          <a:p>
            <a:pPr>
              <a:lnSpc>
                <a:spcPct val="100000"/>
              </a:lnSpc>
              <a:spcBef>
                <a:spcPts val="0"/>
              </a:spcBef>
              <a:spcAft>
                <a:spcPts val="60"/>
              </a:spcAft>
            </a:pPr>
            <a:r>
              <a:rPr sz="700" b="0" i="0">
                <a:solidFill>
                  <a:srgbClr val="E5E7EB"/>
                </a:solidFill>
                <a:latin typeface="Consolas"/>
              </a:rPr>
              <a:t>    lines(20);   // 1M  (1048576)</a:t>
            </a:r>
          </a:p>
          <a:p>
            <a:pPr>
              <a:lnSpc>
                <a:spcPct val="100000"/>
              </a:lnSpc>
              <a:spcBef>
                <a:spcPts val="0"/>
              </a:spcBef>
              <a:spcAft>
                <a:spcPts val="60"/>
              </a:spcAft>
            </a:pPr>
            <a:r>
              <a:rPr sz="700" b="0" i="0">
                <a:solidFill>
                  <a:srgbClr val="E5E7EB"/>
                </a:solidFill>
                <a:latin typeface="Consolas"/>
              </a:rPr>
              <a:t>    $display("--- building 64K x 8 RAM from 16K x 4 chips ---");</a:t>
            </a:r>
          </a:p>
          <a:p>
            <a:pPr>
              <a:lnSpc>
                <a:spcPct val="100000"/>
              </a:lnSpc>
              <a:spcBef>
                <a:spcPts val="0"/>
              </a:spcBef>
              <a:spcAft>
                <a:spcPts val="60"/>
              </a:spcAft>
            </a:pPr>
            <a:r>
              <a:rPr sz="700" b="0" i="0">
                <a:solidFill>
                  <a:srgbClr val="E5E7EB"/>
                </a:solidFill>
                <a:latin typeface="Consolas"/>
              </a:rPr>
              <a:t>    k1 = (64*1024*8) / (16*1024*4);</a:t>
            </a:r>
          </a:p>
          <a:p>
            <a:pPr>
              <a:lnSpc>
                <a:spcPct val="100000"/>
              </a:lnSpc>
              <a:spcBef>
                <a:spcPts val="0"/>
              </a:spcBef>
              <a:spcAft>
                <a:spcPts val="60"/>
              </a:spcAft>
            </a:pPr>
            <a:r>
              <a:rPr sz="700" b="0" i="0">
                <a:solidFill>
                  <a:srgbClr val="E5E7EB"/>
                </a:solidFill>
                <a:latin typeface="Consolas"/>
              </a:rPr>
              <a:t>    k2 = (64*1024) / (16*1024);</a:t>
            </a:r>
          </a:p>
          <a:p>
            <a:pPr>
              <a:lnSpc>
                <a:spcPct val="100000"/>
              </a:lnSpc>
              <a:spcBef>
                <a:spcPts val="0"/>
              </a:spcBef>
              <a:spcAft>
                <a:spcPts val="60"/>
              </a:spcAft>
            </a:pPr>
            <a:r>
              <a:rPr sz="700" b="0" i="0">
                <a:solidFill>
                  <a:srgbClr val="E5E7EB"/>
                </a:solidFill>
                <a:latin typeface="Consolas"/>
              </a:rPr>
              <a:t>    $display("   chips = (64Kx8)/(16Kx4) = %0d  ; banks by address = %0d, by data = 2", k1, k2);</a:t>
            </a:r>
          </a:p>
          <a:p>
            <a:pPr>
              <a:lnSpc>
                <a:spcPct val="100000"/>
              </a:lnSpc>
              <a:spcBef>
                <a:spcPts val="0"/>
              </a:spcBef>
              <a:spcAft>
                <a:spcPts val="60"/>
              </a:spcAft>
            </a:pPr>
            <a:r>
              <a:rPr sz="700" b="0" i="0">
                <a:solidFill>
                  <a:srgbClr val="E5E7EB"/>
                </a:solidFill>
                <a:latin typeface="Consolas"/>
              </a:rPr>
              <a:t>    $display("   total address lines = 16 (64K words), data lines = 8");</a:t>
            </a:r>
          </a:p>
          <a:p>
            <a:pPr>
              <a:lnSpc>
                <a:spcPct val="100000"/>
              </a:lnSpc>
              <a:spcBef>
                <a:spcPts val="0"/>
              </a:spcBef>
              <a:spcAft>
                <a:spcPts val="60"/>
              </a:spcAft>
            </a:pPr>
            <a:r>
              <a:rPr sz="700" b="0" i="0">
                <a:solidFill>
                  <a:srgbClr val="E5E7EB"/>
                </a:solidFill>
                <a:latin typeface="Consolas"/>
              </a:rPr>
              <a:t>    $display("--- 1M x 16 from 256K x 8 ---");</a:t>
            </a:r>
          </a:p>
          <a:p>
            <a:pPr>
              <a:lnSpc>
                <a:spcPct val="100000"/>
              </a:lnSpc>
              <a:spcBef>
                <a:spcPts val="0"/>
              </a:spcBef>
              <a:spcAft>
                <a:spcPts val="60"/>
              </a:spcAft>
            </a:pPr>
            <a:r>
              <a:rPr sz="700" b="0" i="0">
                <a:solidFill>
                  <a:srgbClr val="E5E7EB"/>
                </a:solidFill>
                <a:latin typeface="Consolas"/>
              </a:rPr>
              <a:t>    $display("   chips = (1Mx16)/(256Kx8) = %0d", (1024*1024*16)/(256*1024*8));</a:t>
            </a:r>
          </a:p>
          <a:p>
            <a:pPr>
              <a:lnSpc>
                <a:spcPct val="100000"/>
              </a:lnSpc>
              <a:spcBef>
                <a:spcPts val="0"/>
              </a:spcBef>
              <a:spcAft>
                <a:spcPts val="60"/>
              </a:spcAft>
            </a:pPr>
            <a:r>
              <a:rPr sz="700" b="0" i="0">
                <a:solidFill>
                  <a:srgbClr val="E5E7EB"/>
                </a:solidFill>
                <a:latin typeface="Consolas"/>
              </a:rPr>
              <a:t>    $display("--- ROM 2K x 8 inside the same system ---");</a:t>
            </a:r>
          </a:p>
          <a:p>
            <a:pPr>
              <a:lnSpc>
                <a:spcPct val="100000"/>
              </a:lnSpc>
              <a:spcBef>
                <a:spcPts val="0"/>
              </a:spcBef>
              <a:spcAft>
                <a:spcPts val="60"/>
              </a:spcAft>
            </a:pPr>
            <a:r>
              <a:rPr sz="700" b="0" i="0">
                <a:solidFill>
                  <a:srgbClr val="E5E7EB"/>
                </a:solidFill>
                <a:latin typeface="Consolas"/>
              </a:rPr>
              <a:t>    $display("   ROM address lines = 11, RAM address lines = 16: decoder sizes 2048x8 vs 65536x8");</a:t>
            </a:r>
          </a:p>
          <a:p>
            <a:pPr>
              <a:lnSpc>
                <a:spcPct val="100000"/>
              </a:lnSpc>
              <a:spcBef>
                <a:spcPts val="0"/>
              </a:spcBef>
              <a:spcAft>
                <a:spcPts val="60"/>
              </a:spcAft>
            </a:pPr>
            <a:r>
              <a:rPr sz="700"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out/la11_ramrom.txt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910" b="0" i="0">
                <a:solidFill>
                  <a:srgbClr val="14171C"/>
                </a:solidFill>
                <a:latin typeface="Consolas"/>
              </a:rPr>
              <a:t>$ vvp -n la11_ramrom.vvp</a:t>
            </a:r>
          </a:p>
          <a:p>
            <a:pPr>
              <a:lnSpc>
                <a:spcPct val="100000"/>
              </a:lnSpc>
              <a:spcBef>
                <a:spcPts val="0"/>
              </a:spcBef>
              <a:spcAft>
                <a:spcPts val="60"/>
              </a:spcAft>
            </a:pPr>
            <a:r>
              <a:rPr sz="910" b="0" i="0">
                <a:solidFill>
                  <a:srgbClr val="14171C"/>
                </a:solidFill>
                <a:latin typeface="Consolas"/>
              </a:rPr>
              <a:t>== LA-11  memory organization arithmetic ==</a:t>
            </a:r>
          </a:p>
          <a:p>
            <a:pPr>
              <a:lnSpc>
                <a:spcPct val="100000"/>
              </a:lnSpc>
              <a:spcBef>
                <a:spcPts val="0"/>
              </a:spcBef>
              <a:spcAft>
                <a:spcPts val="60"/>
              </a:spcAft>
            </a:pPr>
            <a:r>
              <a:rPr sz="910" b="0" i="0">
                <a:solidFill>
                  <a:srgbClr val="14171C"/>
                </a:solidFill>
                <a:latin typeface="Consolas"/>
              </a:rPr>
              <a:t>--- single chips: locations vs address lines ---</a:t>
            </a:r>
          </a:p>
          <a:p>
            <a:pPr>
              <a:lnSpc>
                <a:spcPct val="100000"/>
              </a:lnSpc>
              <a:spcBef>
                <a:spcPts val="0"/>
              </a:spcBef>
              <a:spcAft>
                <a:spcPts val="60"/>
              </a:spcAft>
            </a:pPr>
            <a:r>
              <a:rPr sz="910" b="0" i="0">
                <a:solidFill>
                  <a:srgbClr val="14171C"/>
                </a:solidFill>
                <a:latin typeface="Consolas"/>
              </a:rPr>
              <a:t>   capacity 2^11 = 2048 locations -&gt; address lines = 11</a:t>
            </a:r>
          </a:p>
          <a:p>
            <a:pPr>
              <a:lnSpc>
                <a:spcPct val="100000"/>
              </a:lnSpc>
              <a:spcBef>
                <a:spcPts val="0"/>
              </a:spcBef>
              <a:spcAft>
                <a:spcPts val="60"/>
              </a:spcAft>
            </a:pPr>
            <a:r>
              <a:rPr sz="910" b="0" i="0">
                <a:solidFill>
                  <a:srgbClr val="14171C"/>
                </a:solidFill>
                <a:latin typeface="Consolas"/>
              </a:rPr>
              <a:t>   capacity 2^14 = 16384 locations -&gt; address lines = 14</a:t>
            </a:r>
          </a:p>
          <a:p>
            <a:pPr>
              <a:lnSpc>
                <a:spcPct val="100000"/>
              </a:lnSpc>
              <a:spcBef>
                <a:spcPts val="0"/>
              </a:spcBef>
              <a:spcAft>
                <a:spcPts val="60"/>
              </a:spcAft>
            </a:pPr>
            <a:r>
              <a:rPr sz="910" b="0" i="0">
                <a:solidFill>
                  <a:srgbClr val="14171C"/>
                </a:solidFill>
                <a:latin typeface="Consolas"/>
              </a:rPr>
              <a:t>   capacity 2^20 = 1048576 locations -&gt; address lines = 20</a:t>
            </a:r>
          </a:p>
          <a:p>
            <a:pPr>
              <a:lnSpc>
                <a:spcPct val="100000"/>
              </a:lnSpc>
              <a:spcBef>
                <a:spcPts val="0"/>
              </a:spcBef>
              <a:spcAft>
                <a:spcPts val="60"/>
              </a:spcAft>
            </a:pPr>
            <a:r>
              <a:rPr sz="910" b="0" i="0">
                <a:solidFill>
                  <a:srgbClr val="14171C"/>
                </a:solidFill>
                <a:latin typeface="Consolas"/>
              </a:rPr>
              <a:t>--- building 64K x 8 RAM from 16K x 4 chips ---</a:t>
            </a:r>
          </a:p>
          <a:p>
            <a:pPr>
              <a:lnSpc>
                <a:spcPct val="100000"/>
              </a:lnSpc>
              <a:spcBef>
                <a:spcPts val="0"/>
              </a:spcBef>
              <a:spcAft>
                <a:spcPts val="60"/>
              </a:spcAft>
            </a:pPr>
            <a:r>
              <a:rPr sz="910" b="0" i="0">
                <a:solidFill>
                  <a:srgbClr val="14171C"/>
                </a:solidFill>
                <a:latin typeface="Consolas"/>
              </a:rPr>
              <a:t>   chips = (64Kx8)/(16Kx4) = 8  ; banks by address = 4, by data = 2</a:t>
            </a:r>
          </a:p>
          <a:p>
            <a:pPr>
              <a:lnSpc>
                <a:spcPct val="100000"/>
              </a:lnSpc>
              <a:spcBef>
                <a:spcPts val="0"/>
              </a:spcBef>
              <a:spcAft>
                <a:spcPts val="60"/>
              </a:spcAft>
            </a:pPr>
            <a:r>
              <a:rPr sz="910" b="0" i="0">
                <a:solidFill>
                  <a:srgbClr val="14171C"/>
                </a:solidFill>
                <a:latin typeface="Consolas"/>
              </a:rPr>
              <a:t>   total address lines = 16 (64K words), data lines = 8</a:t>
            </a:r>
          </a:p>
          <a:p>
            <a:pPr>
              <a:lnSpc>
                <a:spcPct val="100000"/>
              </a:lnSpc>
              <a:spcBef>
                <a:spcPts val="0"/>
              </a:spcBef>
              <a:spcAft>
                <a:spcPts val="60"/>
              </a:spcAft>
            </a:pPr>
            <a:r>
              <a:rPr sz="910" b="0" i="0">
                <a:solidFill>
                  <a:srgbClr val="14171C"/>
                </a:solidFill>
                <a:latin typeface="Consolas"/>
              </a:rPr>
              <a:t>--- 1M x 16 from 256K x 8 ---</a:t>
            </a:r>
          </a:p>
          <a:p>
            <a:pPr>
              <a:lnSpc>
                <a:spcPct val="100000"/>
              </a:lnSpc>
              <a:spcBef>
                <a:spcPts val="0"/>
              </a:spcBef>
              <a:spcAft>
                <a:spcPts val="60"/>
              </a:spcAft>
            </a:pPr>
            <a:r>
              <a:rPr sz="910" b="0" i="0">
                <a:solidFill>
                  <a:srgbClr val="14171C"/>
                </a:solidFill>
                <a:latin typeface="Consolas"/>
              </a:rPr>
              <a:t>   chips = (1Mx16)/(256Kx8) = 8</a:t>
            </a:r>
          </a:p>
          <a:p>
            <a:pPr>
              <a:lnSpc>
                <a:spcPct val="100000"/>
              </a:lnSpc>
              <a:spcBef>
                <a:spcPts val="0"/>
              </a:spcBef>
              <a:spcAft>
                <a:spcPts val="60"/>
              </a:spcAft>
            </a:pPr>
            <a:r>
              <a:rPr sz="910" b="0" i="0">
                <a:solidFill>
                  <a:srgbClr val="14171C"/>
                </a:solidFill>
                <a:latin typeface="Consolas"/>
              </a:rPr>
              <a:t>--- ROM 2K x 8 inside the same system ---</a:t>
            </a:r>
          </a:p>
          <a:p>
            <a:pPr>
              <a:lnSpc>
                <a:spcPct val="100000"/>
              </a:lnSpc>
              <a:spcBef>
                <a:spcPts val="0"/>
              </a:spcBef>
              <a:spcAft>
                <a:spcPts val="60"/>
              </a:spcAft>
            </a:pPr>
            <a:r>
              <a:rPr sz="910" b="0" i="0">
                <a:solidFill>
                  <a:srgbClr val="14171C"/>
                </a:solidFill>
                <a:latin typeface="Consolas"/>
              </a:rPr>
              <a:t>   ROM address lines = 11, RAM address lines = 16: decoder sizes 2048x8 vs 65536x8</a:t>
            </a:r>
          </a:p>
          <a:p>
            <a:pPr>
              <a:lnSpc>
                <a:spcPct val="100000"/>
              </a:lnSpc>
              <a:spcBef>
                <a:spcPts val="0"/>
              </a:spcBef>
              <a:spcAft>
                <a:spcPts val="60"/>
              </a:spcAft>
            </a:pPr>
            <a:r>
              <a:rPr sz="910" b="0" i="0">
                <a:solidFill>
                  <a:srgbClr val="14171C"/>
                </a:solidFill>
                <a:latin typeface="Consolas"/>
              </a:rPr>
              <a:t>   RAM needs refresh (DRAM) / none (SRAM); ROM written once (mask/PROM/EPROM/EEPROM)</a:t>
            </a:r>
          </a:p>
          <a:p>
            <a:pPr>
              <a:lnSpc>
                <a:spcPct val="100000"/>
              </a:lnSpc>
              <a:spcBef>
                <a:spcPts val="0"/>
              </a:spcBef>
              <a:spcAft>
                <a:spcPts val="60"/>
              </a:spcAft>
            </a:pPr>
            <a:r>
              <a:rPr sz="910" b="0" i="0">
                <a:solidFill>
                  <a:srgbClr val="14171C"/>
                </a:solidFill>
                <a:latin typeface="Consolas"/>
              </a:rPr>
              <a:t>LA-11 RESULT: chip-count arithmetic 8 chips for 64Kx8 from 16Kx4 verified -- PASS</a:t>
            </a:r>
          </a:p>
          <a:p>
            <a:pPr>
              <a:lnSpc>
                <a:spcPct val="100000"/>
              </a:lnSpc>
              <a:spcBef>
                <a:spcPts val="0"/>
              </a:spcBef>
              <a:spcAft>
                <a:spcPts val="60"/>
              </a:spcAft>
            </a:pPr>
            <a:r>
              <a:rPr sz="910" b="0" i="0">
                <a:solidFill>
                  <a:srgbClr val="14171C"/>
                </a:solidFill>
                <a:latin typeface="Consolas"/>
              </a:rPr>
              <a:t>/home/user/ddco-course/src/la11_ramrom.v:30: $finish called at 0 (1ps)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11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51</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Capacity↔lines:</a:t>
            </a:r>
            <a:r>
              <a:rPr sz="1150" b="0" i="0">
                <a:solidFill>
                  <a:srgbClr val="B3261E"/>
                </a:solidFill>
                <a:latin typeface="Consolas"/>
              </a:rPr>
              <a:t>capacity 2^14 = 16384 locations -› address lines = 14</a:t>
            </a:r>
            <a:r>
              <a:rPr sz="1250" b="0" i="0">
                <a:solidFill>
                  <a:srgbClr val="16181D"/>
                </a:solidFill>
                <a:latin typeface="Calibri"/>
              </a:rPr>
              <a:t>— the 2^n relationship the whole chapter leans on.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board answer:</a:t>
            </a:r>
            <a:r>
              <a:rPr sz="1150" b="0" i="0">
                <a:solidFill>
                  <a:srgbClr val="B3261E"/>
                </a:solidFill>
                <a:latin typeface="Consolas"/>
              </a:rPr>
              <a:t>chips = (64Kx8)/(16Kx4) = 8</a:t>
            </a:r>
            <a:r>
              <a:rPr sz="1250" b="0" i="0">
                <a:solidFill>
                  <a:srgbClr val="16181D"/>
                </a:solidFill>
                <a:latin typeface="Calibri"/>
              </a:rPr>
              <a:t>, printed by the arithmetic, then re-checked by an assertion (both bank dimensions).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Summary line:</a:t>
            </a:r>
            <a:r>
              <a:rPr sz="1150" b="0" i="0">
                <a:solidFill>
                  <a:srgbClr val="B3261E"/>
                </a:solidFill>
                <a:latin typeface="Consolas"/>
              </a:rPr>
              <a:t>LA-11 RESULT: chip-count arithmetic 8 chips for 64Kx8 from 16Kx4 verified -- PASS</a:t>
            </a:r>
            <a:r>
              <a:rPr sz="1250" b="0" i="0">
                <a:solidFill>
                  <a:srgbClr val="16181D"/>
                </a:solidFill>
                <a:latin typeface="Calibri"/>
              </a:rPr>
              <a: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8 chips and not 4 for 64K×8 from 16K×4?</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Address lines for that board?</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Which ROM type survives field updates?</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Two 4-bit chips in parallel build the 8-bit width (×2), and four 16K row-banks build the 64K depth (×4): 2·4 = 8.</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Memory capacities, address/data line counts and chip/bank arithmetic for RAM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000" b="1" i="0">
                <a:solidFill>
                  <a:srgbClr val="0F172A"/>
                </a:solidFill>
                <a:latin typeface="Calibri"/>
              </a:rPr>
              <a:t>Learning Activity 12 — Chassis components, from inside the machine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52</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PROBLEM STATEMENT (VERBATIM)</a:t>
            </a:r>
          </a:p>
          <a:p>
            <a:pPr>
              <a:lnSpc>
                <a:spcPct val="108000"/>
              </a:lnSpc>
              <a:spcBef>
                <a:spcPts val="0"/>
              </a:spcBef>
              <a:spcAft>
                <a:spcPts val="0"/>
              </a:spcAft>
            </a:pPr>
            <a:r>
              <a:rPr sz="1100" b="0" i="0">
                <a:solidFill>
                  <a:srgbClr val="16181D"/>
                </a:solidFill>
                <a:latin typeface="Calibri"/>
              </a:rPr>
              <a:t>Identify the major hardware components of a computer system through hands-on inspection, and demonstrate the ability to safely disassemble and reassemble the system while maintaining its functionality.</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src/la12_components.sh</a:t>
            </a:r>
          </a:p>
        </p:txBody>
      </p:sp>
      <p:sp>
        <p:nvSpPr>
          <p:cNvPr id="14" name="TextBox 13"/>
          <p:cNvSpPr txBox="1"/>
          <p:nvPr/>
        </p:nvSpPr>
        <p:spPr>
          <a:xfrm>
            <a:off x="667512" y="2980944"/>
            <a:ext cx="5952744" cy="3319272"/>
          </a:xfrm>
          <a:prstGeom prst="rect">
            <a:avLst/>
          </a:prstGeom>
          <a:noFill/>
        </p:spPr>
        <p:txBody>
          <a:bodyPr wrap="square" anchor="t" lIns="0" rIns="0" tIns="0" bIns="0">
            <a:spAutoFit/>
          </a:bodyPr>
          <a:lstStyle/>
          <a:p>
            <a:pPr>
              <a:lnSpc>
                <a:spcPct val="100000"/>
              </a:lnSpc>
              <a:spcBef>
                <a:spcPts val="0"/>
              </a:spcBef>
              <a:spcAft>
                <a:spcPts val="60"/>
              </a:spcAft>
            </a:pPr>
            <a:r>
              <a:rPr sz="1260" b="0" i="0">
                <a:solidFill>
                  <a:srgbClr val="E5E7EB"/>
                </a:solidFill>
                <a:latin typeface="Consolas"/>
              </a:rPr>
              <a:t>echo '$ lsblk (block devices)'</a:t>
            </a:r>
          </a:p>
          <a:p>
            <a:pPr>
              <a:lnSpc>
                <a:spcPct val="100000"/>
              </a:lnSpc>
              <a:spcBef>
                <a:spcPts val="0"/>
              </a:spcBef>
              <a:spcAft>
                <a:spcPts val="60"/>
              </a:spcAft>
            </a:pPr>
            <a:r>
              <a:rPr sz="1260" b="0" i="0">
                <a:solidFill>
                  <a:srgbClr val="E5E7EB"/>
                </a:solidFill>
                <a:latin typeface="Consolas"/>
              </a:rPr>
              <a:t>lsblk -o NAME,SIZE,TYPE,MODEL | head -8</a:t>
            </a:r>
          </a:p>
          <a:p>
            <a:pPr>
              <a:lnSpc>
                <a:spcPct val="100000"/>
              </a:lnSpc>
              <a:spcBef>
                <a:spcPts val="0"/>
              </a:spcBef>
              <a:spcAft>
                <a:spcPts val="60"/>
              </a:spcAft>
            </a:pPr>
            <a:r>
              <a:rPr sz="1260" b="0" i="0">
                <a:solidFill>
                  <a:srgbClr val="E5E7EB"/>
                </a:solidFill>
                <a:latin typeface="Consolas"/>
              </a:rPr>
              <a:t>echo; echo '$ /proc/partitions'</a:t>
            </a:r>
          </a:p>
          <a:p>
            <a:pPr>
              <a:lnSpc>
                <a:spcPct val="100000"/>
              </a:lnSpc>
              <a:spcBef>
                <a:spcPts val="0"/>
              </a:spcBef>
              <a:spcAft>
                <a:spcPts val="60"/>
              </a:spcAft>
            </a:pPr>
            <a:r>
              <a:rPr sz="1260" b="0" i="0">
                <a:solidFill>
                  <a:srgbClr val="E5E7EB"/>
                </a:solidFill>
                <a:latin typeface="Consolas"/>
              </a:rPr>
              <a:t>cat /proc/partitions | tail -4</a:t>
            </a:r>
          </a:p>
          <a:p>
            <a:pPr>
              <a:lnSpc>
                <a:spcPct val="100000"/>
              </a:lnSpc>
              <a:spcBef>
                <a:spcPts val="0"/>
              </a:spcBef>
              <a:spcAft>
                <a:spcPts val="60"/>
              </a:spcAft>
            </a:pPr>
            <a:r>
              <a:rPr sz="1260" b="0" i="0">
                <a:solidFill>
                  <a:srgbClr val="E5E7EB"/>
                </a:solidFill>
                <a:latin typeface="Consolas"/>
              </a:rPr>
              <a:t>echo; echo '$ ls /sys/class (device classes present in this machine)'</a:t>
            </a:r>
          </a:p>
          <a:p>
            <a:pPr>
              <a:lnSpc>
                <a:spcPct val="100000"/>
              </a:lnSpc>
              <a:spcBef>
                <a:spcPts val="0"/>
              </a:spcBef>
              <a:spcAft>
                <a:spcPts val="60"/>
              </a:spcAft>
            </a:pPr>
            <a:r>
              <a:rPr sz="1260" b="0" i="0">
                <a:solidFill>
                  <a:srgbClr val="E5E7EB"/>
                </a:solidFill>
                <a:latin typeface="Consolas"/>
              </a:rPr>
              <a:t>ls /sys/class | tr '\n' ' '; echo</a:t>
            </a:r>
          </a:p>
          <a:p>
            <a:pPr>
              <a:lnSpc>
                <a:spcPct val="100000"/>
              </a:lnSpc>
              <a:spcBef>
                <a:spcPts val="0"/>
              </a:spcBef>
              <a:spcAft>
                <a:spcPts val="60"/>
              </a:spcAft>
            </a:pPr>
            <a:r>
              <a:rPr sz="1260" b="0" i="0">
                <a:solidFill>
                  <a:srgbClr val="E5E7EB"/>
                </a:solidFill>
                <a:latin typeface="Consolas"/>
              </a:rPr>
              <a:t>echo; echo '$ PCI devices visible: count'</a:t>
            </a:r>
          </a:p>
          <a:p>
            <a:pPr>
              <a:lnSpc>
                <a:spcPct val="100000"/>
              </a:lnSpc>
              <a:spcBef>
                <a:spcPts val="0"/>
              </a:spcBef>
              <a:spcAft>
                <a:spcPts val="60"/>
              </a:spcAft>
            </a:pPr>
            <a:r>
              <a:rPr sz="1260" b="0" i="0">
                <a:solidFill>
                  <a:srgbClr val="E5E7EB"/>
                </a:solidFill>
                <a:latin typeface="Consolas"/>
              </a:rPr>
              <a:t>ls /sys/bus/pci/devices 2&gt;/dev/null | wc -l</a:t>
            </a:r>
          </a:p>
          <a:p>
            <a:pPr>
              <a:lnSpc>
                <a:spcPct val="100000"/>
              </a:lnSpc>
              <a:spcBef>
                <a:spcPts val="0"/>
              </a:spcBef>
              <a:spcAft>
                <a:spcPts val="60"/>
              </a:spcAft>
            </a:pPr>
            <a:r>
              <a:rPr sz="1260" b="0" i="0">
                <a:solidFill>
                  <a:srgbClr val="E5E7EB"/>
                </a:solidFill>
                <a:latin typeface="Consolas"/>
              </a:rPr>
              <a:t>echo; echo '$ net + gpu + input class members'</a:t>
            </a:r>
          </a:p>
          <a:p>
            <a:pPr>
              <a:lnSpc>
                <a:spcPct val="100000"/>
              </a:lnSpc>
              <a:spcBef>
                <a:spcPts val="0"/>
              </a:spcBef>
              <a:spcAft>
                <a:spcPts val="60"/>
              </a:spcAft>
            </a:pPr>
            <a:r>
              <a:rPr sz="1260" b="0" i="0">
                <a:solidFill>
                  <a:srgbClr val="E5E7EB"/>
                </a:solidFill>
                <a:latin typeface="Consolas"/>
              </a:rPr>
              <a:t>ls /sys/class/net /sys/class/graphics 2&gt;/dev/null</a:t>
            </a:r>
          </a:p>
          <a:p>
            <a:pPr>
              <a:lnSpc>
                <a:spcPct val="100000"/>
              </a:lnSpc>
              <a:spcBef>
                <a:spcPts val="0"/>
              </a:spcBef>
              <a:spcAft>
                <a:spcPts val="60"/>
              </a:spcAft>
            </a:pPr>
            <a:r>
              <a:rPr sz="1260" b="0" i="0">
                <a:solidFill>
                  <a:srgbClr val="E5E7EB"/>
                </a:solidFill>
                <a:latin typeface="Consolas"/>
              </a:rPr>
              <a:t>echo; echo '$ CPU topology'</a:t>
            </a:r>
          </a:p>
          <a:p>
            <a:pPr>
              <a:lnSpc>
                <a:spcPct val="100000"/>
              </a:lnSpc>
              <a:spcBef>
                <a:spcPts val="0"/>
              </a:spcBef>
              <a:spcAft>
                <a:spcPts val="60"/>
              </a:spcAft>
            </a:pPr>
            <a:r>
              <a:rPr sz="1260" b="0" i="0">
                <a:solidFill>
                  <a:srgbClr val="E5E7EB"/>
                </a:solidFill>
                <a:latin typeface="Consolas"/>
              </a:rPr>
              <a:t>lscpu | grep -E "^CPU\(s\)|Socket|Core|Thread"</a:t>
            </a:r>
          </a:p>
          <a:p>
            <a:pPr>
              <a:lnSpc>
                <a:spcPct val="100000"/>
              </a:lnSpc>
              <a:spcBef>
                <a:spcPts val="0"/>
              </a:spcBef>
              <a:spcAft>
                <a:spcPts val="60"/>
              </a:spcAft>
            </a:pPr>
            <a:r>
              <a:rPr sz="1260" b="0" i="0">
                <a:solidFill>
                  <a:srgbClr val="E5E7EB"/>
                </a:solidFill>
                <a:latin typeface="Consolas"/>
              </a:rPr>
              <a:t>echo; echo "LA12 INVENTORY ok: block/net/class inventory above maps to chassis components in the report"</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run — out/la12_components.txt</a:t>
            </a:r>
          </a:p>
        </p:txBody>
      </p:sp>
      <p:sp>
        <p:nvSpPr>
          <p:cNvPr id="17" name="TextBox 16"/>
          <p:cNvSpPr txBox="1"/>
          <p:nvPr/>
        </p:nvSpPr>
        <p:spPr>
          <a:xfrm>
            <a:off x="7232904" y="2944368"/>
            <a:ext cx="4343400" cy="3337560"/>
          </a:xfrm>
          <a:prstGeom prst="rect">
            <a:avLst/>
          </a:prstGeom>
          <a:noFill/>
        </p:spPr>
        <p:txBody>
          <a:bodyPr wrap="square" anchor="t" lIns="0" rIns="0" tIns="0" bIns="0">
            <a:spAutoFit/>
          </a:bodyPr>
          <a:lstStyle/>
          <a:p>
            <a:pPr>
              <a:lnSpc>
                <a:spcPct val="100000"/>
              </a:lnSpc>
              <a:spcBef>
                <a:spcPts val="0"/>
              </a:spcBef>
              <a:spcAft>
                <a:spcPts val="60"/>
              </a:spcAft>
            </a:pPr>
            <a:r>
              <a:rPr sz="750" b="0" i="0">
                <a:solidFill>
                  <a:srgbClr val="14171C"/>
                </a:solidFill>
                <a:latin typeface="Consolas"/>
              </a:rPr>
              <a:t>$ lsblk (block devices)</a:t>
            </a:r>
          </a:p>
          <a:p>
            <a:pPr>
              <a:lnSpc>
                <a:spcPct val="100000"/>
              </a:lnSpc>
              <a:spcBef>
                <a:spcPts val="0"/>
              </a:spcBef>
              <a:spcAft>
                <a:spcPts val="60"/>
              </a:spcAft>
            </a:pPr>
            <a:r>
              <a:rPr sz="750" b="0" i="0">
                <a:solidFill>
                  <a:srgbClr val="14171C"/>
                </a:solidFill>
                <a:latin typeface="Consolas"/>
              </a:rPr>
              <a:t>NAME  SIZE TYPE MODEL</a:t>
            </a:r>
          </a:p>
          <a:p>
            <a:pPr>
              <a:lnSpc>
                <a:spcPct val="100000"/>
              </a:lnSpc>
              <a:spcBef>
                <a:spcPts val="0"/>
              </a:spcBef>
              <a:spcAft>
                <a:spcPts val="60"/>
              </a:spcAft>
            </a:pPr>
            <a:r>
              <a:rPr sz="750" b="0" i="0">
                <a:solidFill>
                  <a:srgbClr val="14171C"/>
                </a:solidFill>
                <a:latin typeface="Consolas"/>
              </a:rPr>
              <a:t>vda  25.8G disk </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 /proc/partitions</a:t>
            </a:r>
          </a:p>
          <a:p>
            <a:pPr>
              <a:lnSpc>
                <a:spcPct val="100000"/>
              </a:lnSpc>
              <a:spcBef>
                <a:spcPts val="0"/>
              </a:spcBef>
              <a:spcAft>
                <a:spcPts val="60"/>
              </a:spcAft>
            </a:pPr>
            <a:r>
              <a:rPr sz="750" b="0" i="0">
                <a:solidFill>
                  <a:srgbClr val="14171C"/>
                </a:solidFill>
                <a:latin typeface="Consolas"/>
              </a:rPr>
              <a:t>major minor  #blocks  name</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 254        0   27088896 vda</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 ls /sys/class (device classes present in this machine)</a:t>
            </a:r>
          </a:p>
          <a:p>
            <a:pPr>
              <a:lnSpc>
                <a:spcPct val="100000"/>
              </a:lnSpc>
              <a:spcBef>
                <a:spcPts val="0"/>
              </a:spcBef>
              <a:spcAft>
                <a:spcPts val="60"/>
              </a:spcAft>
            </a:pPr>
            <a:r>
              <a:rPr sz="750" b="0" i="0">
                <a:solidFill>
                  <a:srgbClr val="14171C"/>
                </a:solidFill>
                <a:latin typeface="Consolas"/>
              </a:rPr>
              <a:t>bdi block bsg cpuid devlink firmware hidraw input iommu iscsi_connection iscsi_endpoint iscsi_host iscsi_iface iscsi_session iscsi_transport mem misc msr net power_supply pps ptp scsi_device scsi_host thermal tty vc virtio-ports vtconsole wakeup watchdog </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 PCI devices visible: count</a:t>
            </a:r>
          </a:p>
          <a:p>
            <a:pPr>
              <a:lnSpc>
                <a:spcPct val="100000"/>
              </a:lnSpc>
              <a:spcBef>
                <a:spcPts val="0"/>
              </a:spcBef>
              <a:spcAft>
                <a:spcPts val="60"/>
              </a:spcAft>
            </a:pPr>
            <a:r>
              <a:rPr sz="750" b="0" i="0">
                <a:solidFill>
                  <a:srgbClr val="14171C"/>
                </a:solidFill>
                <a:latin typeface="Consolas"/>
              </a:rPr>
              <a:t>0</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 net + gpu + input class members</a:t>
            </a:r>
          </a:p>
          <a:p>
            <a:pPr>
              <a:lnSpc>
                <a:spcPct val="100000"/>
              </a:lnSpc>
              <a:spcBef>
                <a:spcPts val="0"/>
              </a:spcBef>
              <a:spcAft>
                <a:spcPts val="60"/>
              </a:spcAft>
            </a:pPr>
            <a:r>
              <a:rPr sz="750" b="0" i="0">
                <a:solidFill>
                  <a:srgbClr val="14171C"/>
                </a:solidFill>
                <a:latin typeface="Consolas"/>
              </a:rPr>
              <a:t>/sys/class/net:</a:t>
            </a:r>
          </a:p>
          <a:p>
            <a:pPr>
              <a:lnSpc>
                <a:spcPct val="100000"/>
              </a:lnSpc>
              <a:spcBef>
                <a:spcPts val="0"/>
              </a:spcBef>
              <a:spcAft>
                <a:spcPts val="60"/>
              </a:spcAft>
            </a:pPr>
            <a:r>
              <a:rPr sz="750" b="0" i="0">
                <a:solidFill>
                  <a:srgbClr val="14171C"/>
                </a:solidFill>
                <a:latin typeface="Consolas"/>
              </a:rPr>
              <a:t>eth0</a:t>
            </a:r>
          </a:p>
          <a:p>
            <a:pPr>
              <a:lnSpc>
                <a:spcPct val="100000"/>
              </a:lnSpc>
              <a:spcBef>
                <a:spcPts val="0"/>
              </a:spcBef>
              <a:spcAft>
                <a:spcPts val="60"/>
              </a:spcAft>
            </a:pPr>
            <a:r>
              <a:rPr sz="750" b="0" i="0">
                <a:solidFill>
                  <a:srgbClr val="14171C"/>
                </a:solidFill>
                <a:latin typeface="Consolas"/>
              </a:rPr>
              <a:t>lo</a:t>
            </a:r>
          </a:p>
          <a:p>
            <a:pPr>
              <a:lnSpc>
                <a:spcPct val="100000"/>
              </a:lnSpc>
              <a:spcBef>
                <a:spcPts val="0"/>
              </a:spcBef>
              <a:spcAft>
                <a:spcPts val="60"/>
              </a:spcAft>
            </a:pPr>
            <a:r>
              <a:rPr sz="750" b="0" i="0">
                <a:solidFill>
                  <a:srgbClr val="14171C"/>
                </a:solidFill>
                <a:latin typeface="Consolas"/>
              </a:rPr>
              <a:t> </a:t>
            </a:r>
          </a:p>
          <a:p>
            <a:pPr>
              <a:lnSpc>
                <a:spcPct val="100000"/>
              </a:lnSpc>
              <a:spcBef>
                <a:spcPts val="0"/>
              </a:spcBef>
              <a:spcAft>
                <a:spcPts val="60"/>
              </a:spcAft>
            </a:pPr>
            <a:r>
              <a:rPr sz="750" b="0" i="0">
                <a:solidFill>
                  <a:srgbClr val="14171C"/>
                </a:solidFill>
                <a:latin typeface="Consolas"/>
              </a:rPr>
              <a:t>$ CPU topology</a:t>
            </a:r>
          </a:p>
          <a:p>
            <a:pPr>
              <a:lnSpc>
                <a:spcPct val="100000"/>
              </a:lnSpc>
              <a:spcBef>
                <a:spcPts val="0"/>
              </a:spcBef>
              <a:spcAft>
                <a:spcPts val="60"/>
              </a:spcAft>
            </a:pPr>
            <a:r>
              <a:rPr sz="750" b="0" i="0">
                <a:solidFill>
                  <a:srgbClr val="14171C"/>
                </a:solidFill>
                <a:latin typeface="Consolas"/>
              </a:rPr>
              <a:t>CPU(s):                                  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ACTIVITY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Learning Activity 12 — What the Capture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53</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Block inventory:</a:t>
            </a:r>
            <a:r>
              <a:rPr sz="1150" b="0" i="0">
                <a:solidFill>
                  <a:srgbClr val="B3261E"/>
                </a:solidFill>
                <a:latin typeface="Consolas"/>
              </a:rPr>
              <a:t>vda  25.8G disk</a:t>
            </a:r>
            <a:r>
              <a:rPr sz="1250" b="0" i="0">
                <a:solidFill>
                  <a:srgbClr val="16181D"/>
                </a:solidFill>
                <a:latin typeface="Calibri"/>
              </a:rPr>
              <a:t>— one virtual disk; on bare metal expect nvme0n1/sda rows plus partitions.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/sys/class line prints the subsystem families present — the kernel’s own component-categories list for the report table.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Script ends with</a:t>
            </a:r>
            <a:r>
              <a:rPr sz="1150" b="0" i="0">
                <a:solidFill>
                  <a:srgbClr val="B3261E"/>
                </a:solidFill>
                <a:latin typeface="Consolas"/>
              </a:rPr>
              <a:t>LA12 INVENTORY ok</a:t>
            </a:r>
            <a:r>
              <a:rPr sz="1250" b="0" i="0">
                <a:solidFill>
                  <a:srgbClr val="16181D"/>
                </a:solidFill>
                <a:latin typeface="Calibri"/>
              </a:rPr>
              <a:t>so the capture is self-certifying.</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discharge-wait after unplugging, if the PSU switch is off?</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Which two classes give temperature and fan truth?</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What does /sys/bus/pci/devices count tell you?</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Bulk capacitors on the 5 V/12 V rails hold charge for minutes; shorting a rail through a screw is how boards die.</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Component identification grounded in sysfs/procfs inventory the student can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400"/>
              </a:spcAft>
            </a:pPr>
            <a:r>
              <a:rPr sz="1300" b="1" i="0">
                <a:solidFill>
                  <a:srgbClr val="4B5563"/>
                </a:solidFill>
                <a:latin typeface="Calibri"/>
              </a:rPr>
              <a:t>P A R T</a:t>
            </a:r>
          </a:p>
        </p:txBody>
      </p:sp>
      <p:sp>
        <p:nvSpPr>
          <p:cNvPr id="3" name="TextBox 2"/>
          <p:cNvSpPr txBox="1"/>
          <p:nvPr/>
        </p:nvSpPr>
        <p:spPr>
          <a:xfrm>
            <a:off x="914400" y="658368"/>
            <a:ext cx="10362895" cy="2286000"/>
          </a:xfrm>
          <a:prstGeom prst="rect">
            <a:avLst/>
          </a:prstGeom>
          <a:noFill/>
        </p:spPr>
        <p:txBody>
          <a:bodyPr wrap="square" anchor="t" lIns="0" rIns="0" tIns="0" bIns="0">
            <a:spAutoFit/>
          </a:bodyPr>
          <a:lstStyle/>
          <a:p>
            <a:pPr algn="ctr">
              <a:spcBef>
                <a:spcPts val="0"/>
              </a:spcBef>
              <a:spcAft>
                <a:spcPts val="400"/>
              </a:spcAft>
            </a:pPr>
            <a:r>
              <a:rPr sz="13200" b="1" i="0">
                <a:solidFill>
                  <a:srgbClr val="B3261E"/>
                </a:solidFill>
                <a:latin typeface="Calibri"/>
              </a:rPr>
              <a:t>C</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400"/>
              </a:spcAft>
            </a:pPr>
            <a:r>
              <a:rPr sz="3000" b="1" i="0">
                <a:solidFill>
                  <a:srgbClr val="0F172A"/>
                </a:solidFill>
                <a:latin typeface="Calibri"/>
              </a:rPr>
              <a:t>Appendices — Reference, Report, Viva, Reproduce</a:t>
            </a:r>
          </a:p>
        </p:txBody>
      </p:sp>
      <p:sp>
        <p:nvSpPr>
          <p:cNvPr id="6" name="TextBox 5"/>
          <p:cNvSpPr txBox="1"/>
          <p:nvPr/>
        </p:nvSpPr>
        <p:spPr>
          <a:xfrm>
            <a:off x="1737360" y="4114800"/>
            <a:ext cx="8716975" cy="960120"/>
          </a:xfrm>
          <a:prstGeom prst="rect">
            <a:avLst/>
          </a:prstGeom>
          <a:noFill/>
        </p:spPr>
        <p:txBody>
          <a:bodyPr wrap="square" anchor="t" lIns="0" rIns="0" tIns="0" bIns="0">
            <a:spAutoFit/>
          </a:bodyPr>
          <a:lstStyle/>
          <a:p>
            <a:pPr algn="ctr">
              <a:spcBef>
                <a:spcPts val="0"/>
              </a:spcBef>
              <a:spcAft>
                <a:spcPts val="400"/>
              </a:spcAft>
            </a:pPr>
            <a:r>
              <a:rPr sz="1400" b="0" i="0">
                <a:solidFill>
                  <a:srgbClr val="4B5563"/>
                </a:solidFill>
                <a:latin typeface="Calibri"/>
              </a:rPr>
              <a:t>The plates behind the run: the one-screen digital reference, the report skeleton shaped to the five rubric rows, a recurring viva dozen, and the three-command pipeline that regenerates every capture, page and slide in this deck.</a:t>
            </a:r>
          </a:p>
        </p:txBody>
      </p:sp>
      <p:sp>
        <p:nvSpPr>
          <p:cNvPr id="7" name="Rectangle 6"/>
          <p:cNvSpPr/>
          <p:nvPr/>
        </p:nvSpPr>
        <p:spPr>
          <a:xfrm>
            <a:off x="1706727" y="4930139"/>
            <a:ext cx="8778240" cy="148894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44471" y="5049011"/>
            <a:ext cx="8449056" cy="1269492"/>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IN THIS PART</a:t>
            </a:r>
          </a:p>
          <a:p>
            <a:pPr>
              <a:spcBef>
                <a:spcPts val="0"/>
              </a:spcBef>
              <a:spcAft>
                <a:spcPts val="160"/>
              </a:spcAft>
            </a:pPr>
            <a:r>
              <a:rPr sz="1250" b="1" i="0">
                <a:solidFill>
                  <a:srgbClr val="B3261E"/>
                </a:solidFill>
                <a:latin typeface="Calibri"/>
              </a:rPr>
              <a:t>•  </a:t>
            </a:r>
            <a:r>
              <a:rPr sz="1250" b="0" i="0">
                <a:solidFill>
                  <a:srgbClr val="16181D"/>
                </a:solidFill>
                <a:latin typeface="Calibri"/>
              </a:rPr>
              <a:t>Appendix A — quick-reference sheet (six plates)</a:t>
            </a:r>
          </a:p>
          <a:p>
            <a:pPr>
              <a:spcBef>
                <a:spcPts val="0"/>
              </a:spcBef>
              <a:spcAft>
                <a:spcPts val="160"/>
              </a:spcAft>
            </a:pPr>
            <a:r>
              <a:rPr sz="1250" b="1" i="0">
                <a:solidFill>
                  <a:srgbClr val="B3261E"/>
                </a:solidFill>
                <a:latin typeface="Calibri"/>
              </a:rPr>
              <a:t>•  </a:t>
            </a:r>
            <a:r>
              <a:rPr sz="1250" b="0" i="0">
                <a:solidFill>
                  <a:srgbClr val="16181D"/>
                </a:solidFill>
                <a:latin typeface="Calibri"/>
              </a:rPr>
              <a:t>Appendix B — the report IS the rubric</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400"/>
              </a:spcAft>
            </a:pPr>
            <a:r>
              <a:rPr sz="1000" b="1" i="0">
                <a:solidFill>
                  <a:srgbClr val="4B5563"/>
                </a:solidFill>
                <a:latin typeface="Calibri"/>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One-Page Digital Reference (Appendix 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55</a:t>
            </a:r>
          </a:p>
        </p:txBody>
      </p:sp>
      <p:sp>
        <p:nvSpPr>
          <p:cNvPr id="8" name="Rectangle 7"/>
          <p:cNvSpPr/>
          <p:nvPr/>
        </p:nvSpPr>
        <p:spPr>
          <a:xfrm>
            <a:off x="502920" y="160020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0020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66878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Boolean &amp; K-maps</a:t>
            </a:r>
          </a:p>
        </p:txBody>
      </p:sp>
      <p:sp>
        <p:nvSpPr>
          <p:cNvPr id="11" name="TextBox 10"/>
          <p:cNvSpPr txBox="1"/>
          <p:nvPr/>
        </p:nvSpPr>
        <p:spPr>
          <a:xfrm>
            <a:off x="649224" y="2075688"/>
            <a:ext cx="3364992" cy="1783080"/>
          </a:xfrm>
          <a:prstGeom prst="rect">
            <a:avLst/>
          </a:prstGeom>
          <a:noFill/>
        </p:spPr>
        <p:txBody>
          <a:bodyPr wrap="square" anchor="t" lIns="0" rIns="0" tIns="0" bIns="0">
            <a:spAutoFit/>
          </a:bodyPr>
          <a:lstStyle/>
          <a:p>
            <a:pPr>
              <a:spcBef>
                <a:spcPts val="0"/>
              </a:spcBef>
              <a:spcAft>
                <a:spcPts val="450"/>
              </a:spcAft>
            </a:pPr>
            <a:r>
              <a:rPr sz="1000" b="0" i="0">
                <a:solidFill>
                  <a:srgbClr val="16181D"/>
                </a:solidFill>
                <a:latin typeface="Consolas"/>
              </a:rPr>
              <a:t>De Morgan: break bar, change sign</a:t>
            </a:r>
          </a:p>
          <a:p>
            <a:pPr>
              <a:spcBef>
                <a:spcPts val="0"/>
              </a:spcBef>
              <a:spcAft>
                <a:spcPts val="450"/>
              </a:spcAft>
            </a:pPr>
            <a:r>
              <a:rPr sz="1000" b="0" i="0">
                <a:solidFill>
                  <a:srgbClr val="16181D"/>
                </a:solidFill>
                <a:latin typeface="Consolas"/>
              </a:rPr>
              <a:t>x+x'y = x+y · consensus term dies</a:t>
            </a:r>
          </a:p>
          <a:p>
            <a:pPr>
              <a:spcBef>
                <a:spcPts val="0"/>
              </a:spcBef>
              <a:spcAft>
                <a:spcPts val="450"/>
              </a:spcAft>
            </a:pPr>
            <a:r>
              <a:rPr sz="1000" b="0" i="0">
                <a:solidFill>
                  <a:srgbClr val="16181D"/>
                </a:solidFill>
                <a:latin typeface="Consolas"/>
              </a:rPr>
              <a:t>Σm / ΠM: complementary index lists</a:t>
            </a:r>
          </a:p>
          <a:p>
            <a:pPr>
              <a:spcBef>
                <a:spcPts val="0"/>
              </a:spcBef>
              <a:spcAft>
                <a:spcPts val="450"/>
              </a:spcAft>
            </a:pPr>
            <a:r>
              <a:rPr sz="1000" b="0" i="0">
                <a:solidFill>
                  <a:srgbClr val="16181D"/>
                </a:solidFill>
                <a:latin typeface="Consolas"/>
              </a:rPr>
              <a:t>groups 2ᵏ; quad kills 2, octet kills 3</a:t>
            </a:r>
          </a:p>
          <a:p>
            <a:pPr>
              <a:spcBef>
                <a:spcPts val="0"/>
              </a:spcBef>
              <a:spcAft>
                <a:spcPts val="450"/>
              </a:spcAft>
            </a:pPr>
            <a:r>
              <a:rPr sz="1000" b="0" i="0">
                <a:solidFill>
                  <a:srgbClr val="16181D"/>
                </a:solidFill>
                <a:latin typeface="Consolas"/>
              </a:rPr>
              <a:t>wrap-around adjacency counts</a:t>
            </a:r>
          </a:p>
          <a:p>
            <a:pPr>
              <a:spcBef>
                <a:spcPts val="0"/>
              </a:spcBef>
              <a:spcAft>
                <a:spcPts val="450"/>
              </a:spcAft>
            </a:pPr>
            <a:r>
              <a:rPr sz="1000" b="0" i="0">
                <a:solidFill>
                  <a:srgbClr val="16181D"/>
                </a:solidFill>
                <a:latin typeface="Consolas"/>
              </a:rPr>
              <a:t>POS = circle the 0s · d only if it grows</a:t>
            </a:r>
          </a:p>
        </p:txBody>
      </p:sp>
      <p:sp>
        <p:nvSpPr>
          <p:cNvPr id="12" name="Rectangle 11"/>
          <p:cNvSpPr/>
          <p:nvPr/>
        </p:nvSpPr>
        <p:spPr>
          <a:xfrm>
            <a:off x="4297680" y="160020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60020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166878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Combinational</a:t>
            </a:r>
          </a:p>
        </p:txBody>
      </p:sp>
      <p:sp>
        <p:nvSpPr>
          <p:cNvPr id="15" name="TextBox 14"/>
          <p:cNvSpPr txBox="1"/>
          <p:nvPr/>
        </p:nvSpPr>
        <p:spPr>
          <a:xfrm>
            <a:off x="4443984" y="2075688"/>
            <a:ext cx="3364992" cy="1783080"/>
          </a:xfrm>
          <a:prstGeom prst="rect">
            <a:avLst/>
          </a:prstGeom>
          <a:noFill/>
        </p:spPr>
        <p:txBody>
          <a:bodyPr wrap="square" anchor="t" lIns="0" rIns="0" tIns="0" bIns="0">
            <a:spAutoFit/>
          </a:bodyPr>
          <a:lstStyle/>
          <a:p>
            <a:pPr>
              <a:spcBef>
                <a:spcPts val="0"/>
              </a:spcBef>
              <a:spcAft>
                <a:spcPts val="450"/>
              </a:spcAft>
            </a:pPr>
            <a:r>
              <a:rPr sz="1000" b="0" i="0">
                <a:solidFill>
                  <a:srgbClr val="16181D"/>
                </a:solidFill>
                <a:latin typeface="Consolas"/>
              </a:rPr>
              <a:t>HA: S=x⊕y · C=xy</a:t>
            </a:r>
          </a:p>
          <a:p>
            <a:pPr>
              <a:spcBef>
                <a:spcPts val="0"/>
              </a:spcBef>
              <a:spcAft>
                <a:spcPts val="450"/>
              </a:spcAft>
            </a:pPr>
            <a:r>
              <a:rPr sz="1000" b="0" i="0">
                <a:solidFill>
                  <a:srgbClr val="16181D"/>
                </a:solidFill>
                <a:latin typeface="Consolas"/>
              </a:rPr>
              <a:t>FA: S=x⊕y⊕z · C=xy+z(x⊕y)</a:t>
            </a:r>
          </a:p>
          <a:p>
            <a:pPr>
              <a:spcBef>
                <a:spcPts val="0"/>
              </a:spcBef>
              <a:spcAft>
                <a:spcPts val="450"/>
              </a:spcAft>
            </a:pPr>
            <a:r>
              <a:rPr sz="1000" b="0" i="0">
                <a:solidFill>
                  <a:srgbClr val="16181D"/>
                </a:solidFill>
                <a:latin typeface="Consolas"/>
              </a:rPr>
              <a:t>A−B = A+B'+1 · C'=borrow</a:t>
            </a:r>
          </a:p>
          <a:p>
            <a:pPr>
              <a:spcBef>
                <a:spcPts val="0"/>
              </a:spcBef>
              <a:spcAft>
                <a:spcPts val="450"/>
              </a:spcAft>
            </a:pPr>
            <a:r>
              <a:rPr sz="1000" b="0" i="0">
                <a:solidFill>
                  <a:srgbClr val="16181D"/>
                </a:solidFill>
                <a:latin typeface="Consolas"/>
              </a:rPr>
              <a:t>decoder: one-hot; enable = stack</a:t>
            </a:r>
          </a:p>
          <a:p>
            <a:pPr>
              <a:spcBef>
                <a:spcPts val="0"/>
              </a:spcBef>
              <a:spcAft>
                <a:spcPts val="450"/>
              </a:spcAft>
            </a:pPr>
            <a:r>
              <a:rPr sz="1000" b="0" i="0">
                <a:solidFill>
                  <a:srgbClr val="16181D"/>
                </a:solidFill>
                <a:latin typeface="Consolas"/>
              </a:rPr>
              <a:t>74148: highest index wins</a:t>
            </a:r>
          </a:p>
          <a:p>
            <a:pPr>
              <a:spcBef>
                <a:spcPts val="0"/>
              </a:spcBef>
              <a:spcAft>
                <a:spcPts val="450"/>
              </a:spcAft>
            </a:pPr>
            <a:r>
              <a:rPr sz="1000" b="0" i="0">
                <a:solidFill>
                  <a:srgbClr val="16181D"/>
                </a:solidFill>
                <a:latin typeface="Consolas"/>
              </a:rPr>
              <a:t>mux = logic generator (tie I to 0/1/A/A')</a:t>
            </a:r>
          </a:p>
        </p:txBody>
      </p:sp>
      <p:sp>
        <p:nvSpPr>
          <p:cNvPr id="16" name="Rectangle 15"/>
          <p:cNvSpPr/>
          <p:nvPr/>
        </p:nvSpPr>
        <p:spPr>
          <a:xfrm>
            <a:off x="8092440" y="160020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60020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0456" y="166878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Sequential</a:t>
            </a:r>
          </a:p>
        </p:txBody>
      </p:sp>
      <p:sp>
        <p:nvSpPr>
          <p:cNvPr id="19" name="TextBox 18"/>
          <p:cNvSpPr txBox="1"/>
          <p:nvPr/>
        </p:nvSpPr>
        <p:spPr>
          <a:xfrm>
            <a:off x="8238744" y="2075688"/>
            <a:ext cx="3364992" cy="1783080"/>
          </a:xfrm>
          <a:prstGeom prst="rect">
            <a:avLst/>
          </a:prstGeom>
          <a:noFill/>
        </p:spPr>
        <p:txBody>
          <a:bodyPr wrap="square" anchor="t" lIns="0" rIns="0" tIns="0" bIns="0">
            <a:spAutoFit/>
          </a:bodyPr>
          <a:lstStyle/>
          <a:p>
            <a:pPr>
              <a:spcBef>
                <a:spcPts val="0"/>
              </a:spcBef>
              <a:spcAft>
                <a:spcPts val="450"/>
              </a:spcAft>
            </a:pPr>
            <a:r>
              <a:rPr sz="1000" b="0" i="0">
                <a:solidFill>
                  <a:srgbClr val="16181D"/>
                </a:solidFill>
                <a:latin typeface="Consolas"/>
              </a:rPr>
              <a:t>SR NOR: 11 forbidden; Q=Q'=0</a:t>
            </a:r>
          </a:p>
          <a:p>
            <a:pPr>
              <a:spcBef>
                <a:spcPts val="0"/>
              </a:spcBef>
              <a:spcAft>
                <a:spcPts val="450"/>
              </a:spcAft>
            </a:pPr>
            <a:r>
              <a:rPr sz="1000" b="0" i="0">
                <a:solidFill>
                  <a:srgbClr val="16181D"/>
                </a:solidFill>
                <a:latin typeface="Consolas"/>
              </a:rPr>
              <a:t>D: Q⁺=D · JK: JQ'+K'Q · T: T⊕Q</a:t>
            </a:r>
          </a:p>
          <a:p>
            <a:pPr>
              <a:spcBef>
                <a:spcPts val="0"/>
              </a:spcBef>
              <a:spcAft>
                <a:spcPts val="450"/>
              </a:spcAft>
            </a:pPr>
            <a:r>
              <a:rPr sz="1000" b="0" i="0">
                <a:solidFill>
                  <a:srgbClr val="16181D"/>
                </a:solidFill>
                <a:latin typeface="Consolas"/>
              </a:rPr>
              <a:t>level→transparent · edge→sample once</a:t>
            </a:r>
          </a:p>
          <a:p>
            <a:pPr>
              <a:spcBef>
                <a:spcPts val="0"/>
              </a:spcBef>
              <a:spcAft>
                <a:spcPts val="450"/>
              </a:spcAft>
            </a:pPr>
            <a:r>
              <a:rPr sz="1000" b="0" i="0">
                <a:solidFill>
                  <a:srgbClr val="16181D"/>
                </a:solidFill>
                <a:latin typeface="Consolas"/>
              </a:rPr>
              <a:t>race-around: 11 held over window</a:t>
            </a:r>
          </a:p>
          <a:p>
            <a:pPr>
              <a:spcBef>
                <a:spcPts val="0"/>
              </a:spcBef>
              <a:spcAft>
                <a:spcPts val="450"/>
              </a:spcAft>
            </a:pPr>
            <a:r>
              <a:rPr sz="1000" b="0" i="0">
                <a:solidFill>
                  <a:srgbClr val="16181D"/>
                </a:solidFill>
                <a:latin typeface="Consolas"/>
              </a:rPr>
              <a:t>master-slave or edge trigger = cure</a:t>
            </a:r>
          </a:p>
          <a:p>
            <a:pPr>
              <a:spcBef>
                <a:spcPts val="0"/>
              </a:spcBef>
              <a:spcAft>
                <a:spcPts val="450"/>
              </a:spcAft>
            </a:pPr>
            <a:r>
              <a:rPr sz="1000" b="0" i="0">
                <a:solidFill>
                  <a:srgbClr val="16181D"/>
                </a:solidFill>
                <a:latin typeface="Consolas"/>
              </a:rPr>
              <a:t>excitation table = design direction</a:t>
            </a:r>
          </a:p>
        </p:txBody>
      </p:sp>
      <p:sp>
        <p:nvSpPr>
          <p:cNvPr id="20" name="Rectangle 19"/>
          <p:cNvSpPr/>
          <p:nvPr/>
        </p:nvSpPr>
        <p:spPr>
          <a:xfrm>
            <a:off x="502920" y="402336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02336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09194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Structure &amp; perf</a:t>
            </a:r>
          </a:p>
        </p:txBody>
      </p:sp>
      <p:sp>
        <p:nvSpPr>
          <p:cNvPr id="23" name="TextBox 22"/>
          <p:cNvSpPr txBox="1"/>
          <p:nvPr/>
        </p:nvSpPr>
        <p:spPr>
          <a:xfrm>
            <a:off x="649224" y="4498848"/>
            <a:ext cx="3364992" cy="1783080"/>
          </a:xfrm>
          <a:prstGeom prst="rect">
            <a:avLst/>
          </a:prstGeom>
          <a:noFill/>
        </p:spPr>
        <p:txBody>
          <a:bodyPr wrap="square" anchor="t" lIns="0" rIns="0" tIns="0" bIns="0">
            <a:spAutoFit/>
          </a:bodyPr>
          <a:lstStyle/>
          <a:p>
            <a:pPr>
              <a:spcBef>
                <a:spcPts val="0"/>
              </a:spcBef>
              <a:spcAft>
                <a:spcPts val="450"/>
              </a:spcAft>
            </a:pPr>
            <a:r>
              <a:rPr sz="1000" b="0" i="0">
                <a:solidFill>
                  <a:srgbClr val="16181D"/>
                </a:solidFill>
                <a:latin typeface="Consolas"/>
              </a:rPr>
              <a:t>units: in/out/memory/ALU/control</a:t>
            </a:r>
          </a:p>
          <a:p>
            <a:pPr>
              <a:spcBef>
                <a:spcPts val="0"/>
              </a:spcBef>
              <a:spcAft>
                <a:spcPts val="450"/>
              </a:spcAft>
            </a:pPr>
            <a:r>
              <a:rPr sz="1000" b="0" i="0">
                <a:solidFill>
                  <a:srgbClr val="16181D"/>
                </a:solidFill>
                <a:latin typeface="Consolas"/>
              </a:rPr>
              <a:t>bus: data · address · control</a:t>
            </a:r>
          </a:p>
          <a:p>
            <a:pPr>
              <a:spcBef>
                <a:spcPts val="0"/>
              </a:spcBef>
              <a:spcAft>
                <a:spcPts val="450"/>
              </a:spcAft>
            </a:pPr>
            <a:r>
              <a:rPr sz="1000" b="0" i="0">
                <a:solidFill>
                  <a:srgbClr val="16181D"/>
                </a:solidFill>
                <a:latin typeface="Consolas"/>
              </a:rPr>
              <a:t>fetch: AR←PC; DR←M; IR←DR; PC+1</a:t>
            </a:r>
          </a:p>
          <a:p>
            <a:pPr>
              <a:spcBef>
                <a:spcPts val="0"/>
              </a:spcBef>
              <a:spcAft>
                <a:spcPts val="450"/>
              </a:spcAft>
            </a:pPr>
            <a:r>
              <a:rPr sz="1000" b="0" i="0">
                <a:solidFill>
                  <a:srgbClr val="16181D"/>
                </a:solidFill>
                <a:latin typeface="Consolas"/>
              </a:rPr>
              <a:t>T=(N·CPI)/R · MIPS=R/(CPI·10⁶)</a:t>
            </a:r>
          </a:p>
          <a:p>
            <a:pPr>
              <a:spcBef>
                <a:spcPts val="0"/>
              </a:spcBef>
              <a:spcAft>
                <a:spcPts val="450"/>
              </a:spcAft>
            </a:pPr>
            <a:r>
              <a:rPr sz="1000" b="0" i="0">
                <a:solidFill>
                  <a:srgbClr val="16181D"/>
                </a:solidFill>
                <a:latin typeface="Consolas"/>
              </a:rPr>
              <a:t>RISC: load-store, fixed 32-bit</a:t>
            </a:r>
          </a:p>
          <a:p>
            <a:pPr>
              <a:spcBef>
                <a:spcPts val="0"/>
              </a:spcBef>
              <a:spcAft>
                <a:spcPts val="450"/>
              </a:spcAft>
            </a:pPr>
            <a:r>
              <a:rPr sz="1000" b="0" i="0">
                <a:solidFill>
                  <a:srgbClr val="16181D"/>
                </a:solidFill>
                <a:latin typeface="Consolas"/>
              </a:rPr>
              <a:t>relative EA = PC + X → PIC</a:t>
            </a:r>
          </a:p>
        </p:txBody>
      </p:sp>
      <p:sp>
        <p:nvSpPr>
          <p:cNvPr id="24" name="Rectangle 23"/>
          <p:cNvSpPr/>
          <p:nvPr/>
        </p:nvSpPr>
        <p:spPr>
          <a:xfrm>
            <a:off x="4297680" y="402336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02336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25696" y="409194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I/O &amp; memory</a:t>
            </a:r>
          </a:p>
        </p:txBody>
      </p:sp>
      <p:sp>
        <p:nvSpPr>
          <p:cNvPr id="27" name="TextBox 26"/>
          <p:cNvSpPr txBox="1"/>
          <p:nvPr/>
        </p:nvSpPr>
        <p:spPr>
          <a:xfrm>
            <a:off x="4443984" y="4498848"/>
            <a:ext cx="3364992" cy="1783080"/>
          </a:xfrm>
          <a:prstGeom prst="rect">
            <a:avLst/>
          </a:prstGeom>
          <a:noFill/>
        </p:spPr>
        <p:txBody>
          <a:bodyPr wrap="square" anchor="t" lIns="0" rIns="0" tIns="0" bIns="0">
            <a:spAutoFit/>
          </a:bodyPr>
          <a:lstStyle/>
          <a:p>
            <a:pPr>
              <a:spcBef>
                <a:spcPts val="0"/>
              </a:spcBef>
              <a:spcAft>
                <a:spcPts val="450"/>
              </a:spcAft>
            </a:pPr>
            <a:r>
              <a:rPr sz="1000" b="0" i="0">
                <a:solidFill>
                  <a:srgbClr val="16181D"/>
                </a:solidFill>
                <a:latin typeface="Consolas"/>
              </a:rPr>
              <a:t>polled: 220 cyc/byte (example)</a:t>
            </a:r>
          </a:p>
          <a:p>
            <a:pPr>
              <a:spcBef>
                <a:spcPts val="0"/>
              </a:spcBef>
              <a:spcAft>
                <a:spcPts val="450"/>
              </a:spcAft>
            </a:pPr>
            <a:r>
              <a:rPr sz="1000" b="0" i="0">
                <a:solidFill>
                  <a:srgbClr val="16181D"/>
                </a:solidFill>
                <a:latin typeface="Consolas"/>
              </a:rPr>
              <a:t>interrupt: per byte, no polling</a:t>
            </a:r>
          </a:p>
          <a:p>
            <a:pPr>
              <a:spcBef>
                <a:spcPts val="0"/>
              </a:spcBef>
              <a:spcAft>
                <a:spcPts val="450"/>
              </a:spcAft>
            </a:pPr>
            <a:r>
              <a:rPr sz="1000" b="0" i="0">
                <a:solidFill>
                  <a:srgbClr val="16181D"/>
                </a:solidFill>
                <a:latin typeface="Consolas"/>
              </a:rPr>
              <a:t>DMA: init+steal+end → ×440</a:t>
            </a:r>
          </a:p>
          <a:p>
            <a:pPr>
              <a:spcBef>
                <a:spcPts val="0"/>
              </a:spcBef>
              <a:spcAft>
                <a:spcPts val="450"/>
              </a:spcAft>
            </a:pPr>
            <a:r>
              <a:rPr sz="1000" b="0" i="0">
                <a:solidFill>
                  <a:srgbClr val="16181D"/>
                </a:solidFill>
                <a:latin typeface="Consolas"/>
              </a:rPr>
              <a:t>SRAM 6T no refresh · DRAM 1T refresh</a:t>
            </a:r>
          </a:p>
          <a:p>
            <a:pPr>
              <a:spcBef>
                <a:spcPts val="0"/>
              </a:spcBef>
              <a:spcAft>
                <a:spcPts val="450"/>
              </a:spcAft>
            </a:pPr>
            <a:r>
              <a:rPr sz="1000" b="0" i="0">
                <a:solidFill>
                  <a:srgbClr val="16181D"/>
                </a:solidFill>
                <a:latin typeface="Consolas"/>
              </a:rPr>
              <a:t>mask→PROM→EPROM→Flash ladder</a:t>
            </a:r>
          </a:p>
          <a:p>
            <a:pPr>
              <a:spcBef>
                <a:spcPts val="0"/>
              </a:spcBef>
              <a:spcAft>
                <a:spcPts val="450"/>
              </a:spcAft>
            </a:pPr>
            <a:r>
              <a:rPr sz="1000" b="0" i="0">
                <a:solidFill>
                  <a:srgbClr val="16181D"/>
                </a:solidFill>
                <a:latin typeface="Consolas"/>
              </a:rPr>
              <a:t>line = block mod L · t_a = h·tc+(1−h)tm</a:t>
            </a:r>
          </a:p>
        </p:txBody>
      </p:sp>
      <p:sp>
        <p:nvSpPr>
          <p:cNvPr id="28" name="Rectangle 27"/>
          <p:cNvSpPr/>
          <p:nvPr/>
        </p:nvSpPr>
        <p:spPr>
          <a:xfrm>
            <a:off x="8092440" y="402336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402336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0456" y="409194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Datapath &amp; pipe</a:t>
            </a:r>
          </a:p>
        </p:txBody>
      </p:sp>
      <p:sp>
        <p:nvSpPr>
          <p:cNvPr id="31" name="TextBox 30"/>
          <p:cNvSpPr txBox="1"/>
          <p:nvPr/>
        </p:nvSpPr>
        <p:spPr>
          <a:xfrm>
            <a:off x="8238744" y="4498848"/>
            <a:ext cx="3364992" cy="1783080"/>
          </a:xfrm>
          <a:prstGeom prst="rect">
            <a:avLst/>
          </a:prstGeom>
          <a:noFill/>
        </p:spPr>
        <p:txBody>
          <a:bodyPr wrap="square" anchor="t" lIns="0" rIns="0" tIns="0" bIns="0">
            <a:spAutoFit/>
          </a:bodyPr>
          <a:lstStyle/>
          <a:p>
            <a:pPr>
              <a:spcBef>
                <a:spcPts val="0"/>
              </a:spcBef>
              <a:spcAft>
                <a:spcPts val="450"/>
              </a:spcAft>
            </a:pPr>
            <a:r>
              <a:rPr sz="1000" b="0" i="0">
                <a:solidFill>
                  <a:srgbClr val="16181D"/>
                </a:solidFill>
                <a:latin typeface="Consolas"/>
              </a:rPr>
              <a:t>1-bus: one transfer per clock</a:t>
            </a:r>
          </a:p>
          <a:p>
            <a:pPr>
              <a:spcBef>
                <a:spcPts val="0"/>
              </a:spcBef>
              <a:spcAft>
                <a:spcPts val="450"/>
              </a:spcAft>
            </a:pPr>
            <a:r>
              <a:rPr sz="1000" b="0" i="0">
                <a:solidFill>
                  <a:srgbClr val="16181D"/>
                </a:solidFill>
                <a:latin typeface="Consolas"/>
              </a:rPr>
              <a:t>hardwired = wired · control mem = table</a:t>
            </a:r>
          </a:p>
          <a:p>
            <a:pPr>
              <a:spcBef>
                <a:spcPts val="0"/>
              </a:spcBef>
              <a:spcAft>
                <a:spcPts val="450"/>
              </a:spcAft>
            </a:pPr>
            <a:r>
              <a:rPr sz="1000" b="0" i="0">
                <a:solidFill>
                  <a:srgbClr val="16181D"/>
                </a:solidFill>
                <a:latin typeface="Consolas"/>
              </a:rPr>
              <a:t>μword = {enables | ALU | next}</a:t>
            </a:r>
          </a:p>
          <a:p>
            <a:pPr>
              <a:spcBef>
                <a:spcPts val="0"/>
              </a:spcBef>
              <a:spcAft>
                <a:spcPts val="450"/>
              </a:spcAft>
            </a:pPr>
            <a:r>
              <a:rPr sz="1000" b="0" i="0">
                <a:solidFill>
                  <a:srgbClr val="16181D"/>
                </a:solidFill>
                <a:latin typeface="Consolas"/>
              </a:rPr>
              <a:t>τ = slowest stage, always</a:t>
            </a:r>
          </a:p>
          <a:p>
            <a:pPr>
              <a:spcBef>
                <a:spcPts val="0"/>
              </a:spcBef>
              <a:spcAft>
                <a:spcPts val="450"/>
              </a:spcAft>
            </a:pPr>
            <a:r>
              <a:rPr sz="1000" b="0" i="0">
                <a:solidFill>
                  <a:srgbClr val="16181D"/>
                </a:solidFill>
                <a:latin typeface="Consolas"/>
              </a:rPr>
              <a:t>T_pipe = (n+k−1)·τ · speed-up &lt; k</a:t>
            </a:r>
          </a:p>
          <a:p>
            <a:pPr>
              <a:spcBef>
                <a:spcPts val="0"/>
              </a:spcBef>
              <a:spcAft>
                <a:spcPts val="450"/>
              </a:spcAft>
            </a:pPr>
            <a:r>
              <a:rPr sz="1000" b="0" i="0">
                <a:solidFill>
                  <a:srgbClr val="16181D"/>
                </a:solidFill>
                <a:latin typeface="Consolas"/>
              </a:rPr>
              <a:t>hazards: struct/RAW/control → ports/fwd/predict</a:t>
            </a:r>
          </a:p>
        </p:txBody>
      </p:sp>
      <p:sp>
        <p:nvSpPr>
          <p:cNvPr id="32" name="TextBox 31"/>
          <p:cNvSpPr txBox="1"/>
          <p:nvPr/>
        </p:nvSpPr>
        <p:spPr>
          <a:xfrm>
            <a:off x="502920" y="6291072"/>
            <a:ext cx="11155680" cy="274320"/>
          </a:xfrm>
          <a:prstGeom prst="rect">
            <a:avLst/>
          </a:prstGeom>
          <a:noFill/>
        </p:spPr>
        <p:txBody>
          <a:bodyPr wrap="square" anchor="t" lIns="0" rIns="0" tIns="0" bIns="0">
            <a:spAutoFit/>
          </a:bodyPr>
          <a:lstStyle/>
          <a:p>
            <a:pPr>
              <a:spcBef>
                <a:spcPts val="0"/>
              </a:spcBef>
              <a:spcAft>
                <a:spcPts val="400"/>
              </a:spcAft>
            </a:pPr>
            <a:r>
              <a:rPr sz="1000" b="0" i="1">
                <a:solidFill>
                  <a:srgbClr val="4B5563"/>
                </a:solidFill>
                <a:latin typeface="Calibri"/>
              </a:rPr>
              <a:t>Four deliberate compile errors, captured verbatim from iverilog, are in the book's Appendix A.6 — learn the simulator's voice; the viva quotes it.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 Report Is the Rubric (Appendix B)</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56</a:t>
            </a:r>
          </a:p>
        </p:txBody>
      </p:sp>
      <p:sp>
        <p:nvSpPr>
          <p:cNvPr id="8" name="TextBox 7"/>
          <p:cNvSpPr txBox="1"/>
          <p:nvPr/>
        </p:nvSpPr>
        <p:spPr>
          <a:xfrm>
            <a:off x="502920" y="1572768"/>
            <a:ext cx="6400800" cy="4846320"/>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350" b="1" i="0">
                <a:solidFill>
                  <a:srgbClr val="B3261E"/>
                </a:solidFill>
                <a:latin typeface="Calibri"/>
              </a:rPr>
              <a:t>•  </a:t>
            </a:r>
            <a:r>
              <a:rPr sz="1350" b="1" i="0">
                <a:solidFill>
                  <a:srgbClr val="16181D"/>
                </a:solidFill>
                <a:latin typeface="Calibri"/>
              </a:rPr>
              <a:t>Seven sections per activity, one-to-one with the rubric: </a:t>
            </a:r>
            <a:r>
              <a:rPr sz="1350" b="0" i="0">
                <a:solidFill>
                  <a:srgbClr val="16181D"/>
                </a:solidFill>
                <a:latin typeface="Calibri"/>
              </a:rPr>
              <a:t>problem verbatim → knowledge · approach → design/development · program + captured run → simulation &amp; verification · numbered observations → analysis · formatting → documentation.</a:t>
            </a:r>
          </a:p>
          <a:p>
            <a:pPr marL="201168" indent="-201168">
              <a:lnSpc>
                <a:spcPct val="104000"/>
              </a:lnSpc>
              <a:spcBef>
                <a:spcPts val="0"/>
              </a:spcBef>
              <a:spcAft>
                <a:spcPts val="500"/>
              </a:spcAft>
            </a:pPr>
            <a:r>
              <a:rPr sz="1350" b="1" i="0">
                <a:solidFill>
                  <a:srgbClr val="B3261E"/>
                </a:solidFill>
                <a:latin typeface="Calibri"/>
              </a:rPr>
              <a:t>•  </a:t>
            </a:r>
            <a:r>
              <a:rPr sz="1350" b="0" i="0">
                <a:solidFill>
                  <a:srgbClr val="16181D"/>
                </a:solidFill>
                <a:latin typeface="Calibri"/>
              </a:rPr>
              <a:t>Score: </a:t>
            </a:r>
            <a:r>
              <a:rPr sz="1350" b="0" i="0">
                <a:solidFill>
                  <a:srgbClr val="16181D"/>
                </a:solidFill>
                <a:latin typeface="Consolas"/>
              </a:rPr>
              <a:t>5 criteria × (1–5)</a:t>
            </a:r>
            <a:r>
              <a:rPr sz="1350" b="0" i="0">
                <a:solidFill>
                  <a:srgbClr val="16181D"/>
                </a:solidFill>
                <a:latin typeface="Calibri"/>
              </a:rPr>
              <a:t> = the full 25-mark CCA component; no separate lab test for this course.</a:t>
            </a:r>
          </a:p>
          <a:p>
            <a:pPr marL="201168" indent="-201168">
              <a:lnSpc>
                <a:spcPct val="104000"/>
              </a:lnSpc>
              <a:spcBef>
                <a:spcPts val="0"/>
              </a:spcBef>
              <a:spcAft>
                <a:spcPts val="500"/>
              </a:spcAft>
            </a:pPr>
            <a:r>
              <a:rPr sz="1350" b="1" i="0">
                <a:solidFill>
                  <a:srgbClr val="B3261E"/>
                </a:solidFill>
                <a:latin typeface="Calibri"/>
              </a:rPr>
              <a:t>•  </a:t>
            </a:r>
            <a:r>
              <a:rPr sz="1350" b="0" i="0">
                <a:solidFill>
                  <a:srgbClr val="16181D"/>
                </a:solidFill>
                <a:latin typeface="Calibri"/>
              </a:rPr>
              <a:t>Superior row, verbatim: </a:t>
            </a:r>
            <a:r>
              <a:rPr sz="1350" b="0" i="1">
                <a:solidFill>
                  <a:srgbClr val="16181D"/>
                </a:solidFill>
                <a:latin typeface="Calibri"/>
              </a:rPr>
              <a:t>“Successfully simulates the design, verifies all test cases, and accurately interprets the results.”</a:t>
            </a:r>
            <a:r>
              <a:rPr sz="1350" b="0" i="0">
                <a:solidFill>
                  <a:srgbClr val="16181D"/>
                </a:solidFill>
                <a:latin typeface="Calibri"/>
              </a:rPr>
              <a:t> — the exhaustive testbenches in this deck are literally that row.</a:t>
            </a:r>
          </a:p>
          <a:p>
            <a:pPr marL="201168" indent="-201168">
              <a:lnSpc>
                <a:spcPct val="104000"/>
              </a:lnSpc>
              <a:spcBef>
                <a:spcPts val="0"/>
              </a:spcBef>
              <a:spcAft>
                <a:spcPts val="500"/>
              </a:spcAft>
            </a:pPr>
            <a:r>
              <a:rPr sz="1350" b="1" i="0">
                <a:solidFill>
                  <a:srgbClr val="B3261E"/>
                </a:solidFill>
                <a:latin typeface="Calibri"/>
              </a:rPr>
              <a:t>•  </a:t>
            </a:r>
            <a:r>
              <a:rPr sz="1350" b="0" i="0">
                <a:solidFill>
                  <a:srgbClr val="16181D"/>
                </a:solidFill>
                <a:latin typeface="Calibri"/>
              </a:rPr>
              <a:t>Hardware observations count too: LA-7..12 fill the same seven sections with tool output (lscpu/Task Manager twins) instead of vvp.</a:t>
            </a:r>
          </a:p>
          <a:p>
            <a:pPr marL="201168" indent="-201168">
              <a:lnSpc>
                <a:spcPct val="104000"/>
              </a:lnSpc>
              <a:spcBef>
                <a:spcPts val="0"/>
              </a:spcBef>
              <a:spcAft>
                <a:spcPts val="500"/>
              </a:spcAft>
            </a:pPr>
            <a:r>
              <a:rPr sz="1350" b="1" i="0">
                <a:solidFill>
                  <a:srgbClr val="B3261E"/>
                </a:solidFill>
                <a:latin typeface="Calibri"/>
              </a:rPr>
              <a:t>•  </a:t>
            </a:r>
            <a:r>
              <a:rPr sz="1350" b="0" i="0">
                <a:solidFill>
                  <a:srgbClr val="16181D"/>
                </a:solidFill>
                <a:latin typeface="Calibri"/>
              </a:rPr>
              <a:t>Waveform plates: LA-5/6 submit the VCD views; name the file, paste two screenshots.</a:t>
            </a:r>
          </a:p>
          <a:p>
            <a:pPr marL="201168" indent="-201168">
              <a:lnSpc>
                <a:spcPct val="104000"/>
              </a:lnSpc>
              <a:spcBef>
                <a:spcPts val="0"/>
              </a:spcBef>
              <a:spcAft>
                <a:spcPts val="500"/>
              </a:spcAft>
            </a:pPr>
            <a:r>
              <a:rPr sz="1350" b="1" i="0">
                <a:solidFill>
                  <a:srgbClr val="B3261E"/>
                </a:solidFill>
                <a:latin typeface="Calibri"/>
              </a:rPr>
              <a:t>•  </a:t>
            </a:r>
            <a:r>
              <a:rPr sz="1350" b="0" i="0">
                <a:solidFill>
                  <a:srgbClr val="16181D"/>
                </a:solidFill>
                <a:latin typeface="Calibri"/>
              </a:rPr>
              <a:t>Submission gate: report with relevant data to the course instructor — the syllabus sentence every cover page should quote.</a:t>
            </a:r>
          </a:p>
        </p:txBody>
      </p:sp>
      <p:sp>
        <p:nvSpPr>
          <p:cNvPr id="9" name="Rectangle 8"/>
          <p:cNvSpPr/>
          <p:nvPr/>
        </p:nvSpPr>
        <p:spPr>
          <a:xfrm>
            <a:off x="7132320" y="1572768"/>
            <a:ext cx="4572000" cy="251460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572768"/>
            <a:ext cx="54864" cy="25146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33488" y="1664208"/>
            <a:ext cx="4187952" cy="233172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CCA STRUCTURE (VERBATIM)</a:t>
            </a:r>
          </a:p>
          <a:p>
            <a:pPr>
              <a:lnSpc>
                <a:spcPct val="108000"/>
              </a:lnSpc>
              <a:spcBef>
                <a:spcPts val="0"/>
              </a:spcBef>
              <a:spcAft>
                <a:spcPts val="0"/>
              </a:spcAft>
            </a:pPr>
            <a:r>
              <a:rPr sz="1100" b="0" i="0">
                <a:solidFill>
                  <a:srgbClr val="16181D"/>
                </a:solidFill>
                <a:latin typeface="Calibri"/>
              </a:rPr>
              <a:t>Internal Assessment (IA) = 25  +  Continuous Comprehensive Assessment (CCA) = 25  =  50 — The remaining 25 marks shall be assigned for Continuous Course Assessment (CCA) (Learning Activity–Termworks) conducted as per the rubrics listed in the assessment section of the syllabus.</a:t>
            </a:r>
          </a:p>
        </p:txBody>
      </p:sp>
      <p:sp>
        <p:nvSpPr>
          <p:cNvPr id="12" name="Rectangle 11"/>
          <p:cNvSpPr/>
          <p:nvPr/>
        </p:nvSpPr>
        <p:spPr>
          <a:xfrm>
            <a:off x="7132320" y="4251960"/>
            <a:ext cx="4572000" cy="20116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6912" y="4334256"/>
            <a:ext cx="4242816" cy="18470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VCD HOW-TO</a:t>
            </a:r>
          </a:p>
          <a:p>
            <a:pPr>
              <a:lnSpc>
                <a:spcPct val="105000"/>
              </a:lnSpc>
              <a:spcBef>
                <a:spcPts val="0"/>
              </a:spcBef>
              <a:spcAft>
                <a:spcPts val="320"/>
              </a:spcAft>
            </a:pPr>
            <a:r>
              <a:rPr sz="1150" b="0" i="0">
                <a:solidFill>
                  <a:srgbClr val="16181D"/>
                </a:solidFill>
                <a:latin typeface="Consolas"/>
              </a:rPr>
              <a:t>gtkwave la05_ff_types.vcd</a:t>
            </a:r>
            <a:r>
              <a:rPr sz="1150" b="0" i="0">
                <a:solidFill>
                  <a:srgbClr val="16181D"/>
                </a:solidFill>
                <a:latin typeface="Calibri"/>
              </a:rPr>
              <a:t> — or any online VCD viewer; the book's files are ≈150 lines, so one screen holds the whole session.</a:t>
            </a:r>
          </a:p>
          <a:p>
            <a:pPr>
              <a:lnSpc>
                <a:spcPct val="105000"/>
              </a:lnSpc>
              <a:spcBef>
                <a:spcPts val="0"/>
              </a:spcBef>
              <a:spcAft>
                <a:spcPts val="320"/>
              </a:spcAft>
            </a:pPr>
            <a:r>
              <a:rPr sz="1150" b="0" i="0">
                <a:solidFill>
                  <a:srgbClr val="16181D"/>
                </a:solidFill>
                <a:latin typeface="Calibri"/>
              </a:rPr>
              <a:t>Screenshot targets: two toggle edges (LA-5), the ten-edge window with inputs grouped (LA-6).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Viva Preparation — the Recurring Dozen</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57</a:t>
            </a:r>
          </a:p>
        </p:txBody>
      </p:sp>
      <p:sp>
        <p:nvSpPr>
          <p:cNvPr id="8" name="TextBox 7"/>
          <p:cNvSpPr txBox="1"/>
          <p:nvPr/>
        </p:nvSpPr>
        <p:spPr>
          <a:xfrm>
            <a:off x="502920" y="1600200"/>
            <a:ext cx="7223760" cy="4818888"/>
          </a:xfrm>
          <a:prstGeom prst="rect">
            <a:avLst/>
          </a:prstGeom>
          <a:noFill/>
        </p:spPr>
        <p:txBody>
          <a:bodyPr wrap="square" anchor="t" lIns="0" rIns="0" tIns="0" bIns="0">
            <a:spAutoFit/>
          </a:bodyPr>
          <a:lstStyle/>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1.  </a:t>
            </a:r>
            <a:r>
              <a:rPr sz="1250" b="0" i="0">
                <a:solidFill>
                  <a:srgbClr val="16181D"/>
                </a:solidFill>
                <a:latin typeface="Calibri"/>
              </a:rPr>
              <a:t>What is a minterm, and how many does a 4-variable function have?</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2.  </a:t>
            </a:r>
            <a:r>
              <a:rPr sz="1250" b="0" i="0">
                <a:solidFill>
                  <a:srgbClr val="16181D"/>
                </a:solidFill>
                <a:latin typeface="Calibri"/>
              </a:rPr>
              <a:t>Prove F = xy + x'z + yz = xy + x'z without a map.</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3.  </a:t>
            </a:r>
            <a:r>
              <a:rPr sz="1250" b="0" i="0">
                <a:solidFill>
                  <a:srgbClr val="16181D"/>
                </a:solidFill>
                <a:latin typeface="Calibri"/>
              </a:rPr>
              <a:t>Why does the K-map delete literals exactly?</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4.  </a:t>
            </a:r>
            <a:r>
              <a:rPr sz="1250" b="0" i="0">
                <a:solidFill>
                  <a:srgbClr val="16181D"/>
                </a:solidFill>
                <a:latin typeface="Calibri"/>
              </a:rPr>
              <a:t>What is the cost of a ripple carry in a 32-bit adder, and its fix?</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5.  </a:t>
            </a:r>
            <a:r>
              <a:rPr sz="1250" b="0" i="0">
                <a:solidFill>
                  <a:srgbClr val="16181D"/>
                </a:solidFill>
                <a:latin typeface="Calibri"/>
              </a:rPr>
              <a:t>Distinguish latch from flip-flop.</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6.  </a:t>
            </a:r>
            <a:r>
              <a:rPr sz="1250" b="0" i="0">
                <a:solidFill>
                  <a:srgbClr val="16181D"/>
                </a:solidFill>
                <a:latin typeface="Calibri"/>
              </a:rPr>
              <a:t>Explain race-around and the two cures.</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7.  </a:t>
            </a:r>
            <a:r>
              <a:rPr sz="1250" b="0" i="0">
                <a:solidFill>
                  <a:srgbClr val="16181D"/>
                </a:solidFill>
                <a:latin typeface="Calibri"/>
              </a:rPr>
              <a:t>Why does an encoder need a priority line, and a decoder an enable?</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8.  </a:t>
            </a:r>
            <a:r>
              <a:rPr sz="1250" b="0" i="0">
                <a:solidFill>
                  <a:srgbClr val="16181D"/>
                </a:solidFill>
                <a:latin typeface="Calibri"/>
              </a:rPr>
              <a:t>Convert Σm(0,1,4,5) in 3 vars to a POS.</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9.  </a:t>
            </a:r>
            <a:r>
              <a:rPr sz="1250" b="0" i="0">
                <a:solidFill>
                  <a:srgbClr val="16181D"/>
                </a:solidFill>
                <a:latin typeface="Calibri"/>
              </a:rPr>
              <a:t>What two things does the MAR hold vs the MDR?</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10.  </a:t>
            </a:r>
            <a:r>
              <a:rPr sz="1250" b="0" i="0">
                <a:solidFill>
                  <a:srgbClr val="16181D"/>
                </a:solidFill>
                <a:latin typeface="Calibri"/>
              </a:rPr>
              <a:t>Give EA for relative, indirect and register-offset modes.</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11.  </a:t>
            </a:r>
            <a:r>
              <a:rPr sz="1250" b="0" i="0">
                <a:solidFill>
                  <a:srgbClr val="16181D"/>
                </a:solidFill>
                <a:latin typeface="Calibri"/>
              </a:rPr>
              <a:t>Why is instruction sequencing PC+1 the default, and who overrides it?</a:t>
            </a:r>
          </a:p>
          <a:p>
            <a:pPr marL="201168" indent="-201168">
              <a:lnSpc>
                <a:spcPct val="104000"/>
              </a:lnSpc>
              <a:spcBef>
                <a:spcPts val="0"/>
              </a:spcBef>
              <a:spcAft>
                <a:spcPts val="450"/>
              </a:spcAft>
            </a:pPr>
            <a:r>
              <a:rPr sz="1250" b="1" i="0">
                <a:solidFill>
                  <a:srgbClr val="B3261E"/>
                </a:solidFill>
                <a:latin typeface="Calibri"/>
              </a:rPr>
              <a:t>•  </a:t>
            </a:r>
            <a:r>
              <a:rPr sz="1250" b="1" i="0">
                <a:solidFill>
                  <a:srgbClr val="B3261E"/>
                </a:solidFill>
                <a:latin typeface="Calibri"/>
              </a:rPr>
              <a:t>12.  </a:t>
            </a:r>
            <a:r>
              <a:rPr sz="1250" b="0" i="0">
                <a:solidFill>
                  <a:srgbClr val="16181D"/>
                </a:solidFill>
                <a:latin typeface="Calibri"/>
              </a:rPr>
              <a:t>State the basic performance equation and its average-CPI term.</a:t>
            </a:r>
          </a:p>
        </p:txBody>
      </p:sp>
      <p:sp>
        <p:nvSpPr>
          <p:cNvPr id="9" name="Rectangle 8"/>
          <p:cNvSpPr/>
          <p:nvPr/>
        </p:nvSpPr>
        <p:spPr>
          <a:xfrm>
            <a:off x="8001000" y="1600200"/>
            <a:ext cx="3703320" cy="44805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65592" y="1682496"/>
            <a:ext cx="3374136" cy="43159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HOW AN INTERNAL VIVA RUNS</a:t>
            </a:r>
          </a:p>
          <a:p>
            <a:pPr>
              <a:lnSpc>
                <a:spcPct val="105000"/>
              </a:lnSpc>
              <a:spcBef>
                <a:spcPts val="0"/>
              </a:spcBef>
              <a:spcAft>
                <a:spcPts val="320"/>
              </a:spcAft>
            </a:pPr>
            <a:r>
              <a:rPr sz="1150" b="1" i="0">
                <a:solidFill>
                  <a:srgbClr val="16181D"/>
                </a:solidFill>
                <a:latin typeface="Calibri"/>
              </a:rPr>
              <a:t>1 · </a:t>
            </a:r>
            <a:r>
              <a:rPr sz="1150" b="0" i="0">
                <a:solidFill>
                  <a:srgbClr val="16181D"/>
                </a:solidFill>
                <a:latin typeface="Calibri"/>
              </a:rPr>
              <a:t>the activity is picked from your report — open it at the capture.</a:t>
            </a:r>
          </a:p>
          <a:p>
            <a:pPr>
              <a:lnSpc>
                <a:spcPct val="105000"/>
              </a:lnSpc>
              <a:spcBef>
                <a:spcPts val="0"/>
              </a:spcBef>
              <a:spcAft>
                <a:spcPts val="320"/>
              </a:spcAft>
            </a:pPr>
            <a:r>
              <a:rPr sz="1150" b="1" i="0">
                <a:solidFill>
                  <a:srgbClr val="16181D"/>
                </a:solidFill>
                <a:latin typeface="Calibri"/>
              </a:rPr>
              <a:t>2 · </a:t>
            </a:r>
            <a:r>
              <a:rPr sz="1150" b="0" i="0">
                <a:solidFill>
                  <a:srgbClr val="16181D"/>
                </a:solidFill>
                <a:latin typeface="Calibri"/>
              </a:rPr>
              <a:t>questions land on constructs in YOUR program — name each on a line.</a:t>
            </a:r>
          </a:p>
          <a:p>
            <a:pPr>
              <a:lnSpc>
                <a:spcPct val="105000"/>
              </a:lnSpc>
              <a:spcBef>
                <a:spcPts val="0"/>
              </a:spcBef>
              <a:spcAft>
                <a:spcPts val="320"/>
              </a:spcAft>
            </a:pPr>
            <a:r>
              <a:rPr sz="1150" b="1" i="0">
                <a:solidFill>
                  <a:srgbClr val="16181D"/>
                </a:solidFill>
                <a:latin typeface="Calibri"/>
              </a:rPr>
              <a:t>3 · </a:t>
            </a:r>
            <a:r>
              <a:rPr sz="1150" b="0" i="0">
                <a:solidFill>
                  <a:srgbClr val="16181D"/>
                </a:solidFill>
                <a:latin typeface="Calibri"/>
              </a:rPr>
              <a:t>expect “prove it”: point at the RESULT line of the transcript you submitted.</a:t>
            </a:r>
          </a:p>
          <a:p>
            <a:pPr>
              <a:lnSpc>
                <a:spcPct val="105000"/>
              </a:lnSpc>
              <a:spcBef>
                <a:spcPts val="0"/>
              </a:spcBef>
              <a:spcAft>
                <a:spcPts val="320"/>
              </a:spcAft>
            </a:pPr>
            <a:r>
              <a:rPr sz="1150" b="0" i="1">
                <a:solidFill>
                  <a:srgbClr val="16181D"/>
                </a:solidFill>
                <a:latin typeface="Calibri"/>
              </a:rPr>
              <a:t>'Answer the why': </a:t>
            </a:r>
            <a:r>
              <a:rPr sz="1150" b="0" i="0">
                <a:solidFill>
                  <a:srgbClr val="16181D"/>
                </a:solidFill>
                <a:latin typeface="Calibri"/>
              </a:rPr>
              <a:t>the K-map deletes literals because the varying one appears complemented and true in the group — facts earn the row, reasons earn the 5.</a:t>
            </a:r>
          </a:p>
        </p:txBody>
      </p:sp>
      <p:sp>
        <p:nvSpPr>
          <p:cNvPr id="11" name="TextBox 10"/>
          <p:cNvSpPr txBox="1"/>
          <p:nvPr/>
        </p:nvSpPr>
        <p:spPr>
          <a:xfrm>
            <a:off x="502920" y="6144768"/>
            <a:ext cx="11155680" cy="320040"/>
          </a:xfrm>
          <a:prstGeom prst="rect">
            <a:avLst/>
          </a:prstGeom>
          <a:noFill/>
        </p:spPr>
        <p:txBody>
          <a:bodyPr wrap="square" anchor="t" lIns="0" rIns="0" tIns="0" bIns="0">
            <a:spAutoFit/>
          </a:bodyPr>
          <a:lstStyle/>
          <a:p>
            <a:pPr>
              <a:spcBef>
                <a:spcPts val="0"/>
              </a:spcBef>
              <a:spcAft>
                <a:spcPts val="400"/>
              </a:spcAft>
            </a:pPr>
            <a:r>
              <a:rPr sz="1150" b="0" i="1">
                <a:solidFill>
                  <a:srgbClr val="4B5563"/>
                </a:solidFill>
                <a:latin typeface="Calibri"/>
              </a:rPr>
              <a:t>Full 25-question bank with model answers: course book Appendix C — phrased for speaking.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Everything Here Is Reproducible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Digital Design and Computer Organization · 1BCS303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58</a:t>
            </a:r>
          </a:p>
        </p:txBody>
      </p:sp>
      <p:sp>
        <p:nvSpPr>
          <p:cNvPr id="8" name="TextBox 7"/>
          <p:cNvSpPr txBox="1"/>
          <p:nvPr/>
        </p:nvSpPr>
        <p:spPr>
          <a:xfrm>
            <a:off x="502920" y="1572768"/>
            <a:ext cx="6309360" cy="4846320"/>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400" b="1" i="0">
                <a:solidFill>
                  <a:srgbClr val="B3261E"/>
                </a:solidFill>
                <a:latin typeface="Calibri"/>
              </a:rPr>
              <a:t>•  </a:t>
            </a:r>
            <a:r>
              <a:rPr sz="1400" b="1" i="0">
                <a:solidFill>
                  <a:srgbClr val="16181D"/>
                </a:solidFill>
                <a:latin typeface="Calibri"/>
              </a:rPr>
              <a:t>Twenty Verilog programs and six system scripts: </a:t>
            </a:r>
            <a:r>
              <a:rPr sz="1400" b="0" i="0">
                <a:solidFill>
                  <a:srgbClr val="16181D"/>
                </a:solidFill>
                <a:latin typeface="Calibri"/>
              </a:rPr>
              <a:t>12 learning activities + module demos — all in the same repo as these slides and the book.</a:t>
            </a:r>
          </a:p>
          <a:p>
            <a:pPr marL="201168" indent="-201168">
              <a:lnSpc>
                <a:spcPct val="104000"/>
              </a:lnSpc>
              <a:spcBef>
                <a:spcPts val="0"/>
              </a:spcBef>
              <a:spcAft>
                <a:spcPts val="500"/>
              </a:spcAft>
            </a:pPr>
            <a:r>
              <a:rPr sz="1400" b="1" i="0">
                <a:solidFill>
                  <a:srgbClr val="B3261E"/>
                </a:solidFill>
                <a:latin typeface="Calibri"/>
              </a:rPr>
              <a:t>•  </a:t>
            </a:r>
            <a:r>
              <a:rPr sz="1400" b="0" i="0">
                <a:solidFill>
                  <a:srgbClr val="16181D"/>
                </a:solidFill>
                <a:latin typeface="Calibri"/>
              </a:rPr>
              <a:t>Every code panel was read from </a:t>
            </a:r>
            <a:r>
              <a:rPr sz="1300" b="0" i="0">
                <a:solidFill>
                  <a:srgbClr val="16181D"/>
                </a:solidFill>
                <a:latin typeface="Consolas"/>
              </a:rPr>
              <a:t>src/</a:t>
            </a:r>
            <a:r>
              <a:rPr sz="1400" b="0" i="0">
                <a:solidFill>
                  <a:srgbClr val="16181D"/>
                </a:solidFill>
                <a:latin typeface="Calibri"/>
              </a:rPr>
              <a:t> at deck-build time; no listing was retyped.</a:t>
            </a:r>
          </a:p>
          <a:p>
            <a:pPr marL="201168" indent="-201168">
              <a:lnSpc>
                <a:spcPct val="104000"/>
              </a:lnSpc>
              <a:spcBef>
                <a:spcPts val="0"/>
              </a:spcBef>
              <a:spcAft>
                <a:spcPts val="500"/>
              </a:spcAft>
            </a:pPr>
            <a:r>
              <a:rPr sz="1400" b="1" i="0">
                <a:solidFill>
                  <a:srgbClr val="B3261E"/>
                </a:solidFill>
                <a:latin typeface="Calibri"/>
              </a:rPr>
              <a:t>•  </a:t>
            </a:r>
            <a:r>
              <a:rPr sz="1400" b="0" i="0">
                <a:solidFill>
                  <a:srgbClr val="16181D"/>
                </a:solidFill>
                <a:latin typeface="Calibri"/>
              </a:rPr>
              <a:t>Every transcript panel is the byte-exact </a:t>
            </a:r>
            <a:r>
              <a:rPr sz="1300" b="0" i="0">
                <a:solidFill>
                  <a:srgbClr val="16181D"/>
                </a:solidFill>
                <a:latin typeface="Consolas"/>
              </a:rPr>
              <a:t>out/</a:t>
            </a:r>
            <a:r>
              <a:rPr sz="1400" b="0" i="0">
                <a:solidFill>
                  <a:srgbClr val="16181D"/>
                </a:solidFill>
                <a:latin typeface="Calibri"/>
              </a:rPr>
              <a:t> capture — iverilog/vvp for circuits, the machine itself for the desktop half.</a:t>
            </a:r>
          </a:p>
          <a:p>
            <a:pPr marL="201168" indent="-201168">
              <a:lnSpc>
                <a:spcPct val="104000"/>
              </a:lnSpc>
              <a:spcBef>
                <a:spcPts val="0"/>
              </a:spcBef>
              <a:spcAft>
                <a:spcPts val="500"/>
              </a:spcAft>
            </a:pPr>
            <a:r>
              <a:rPr sz="1400" b="1" i="0">
                <a:solidFill>
                  <a:srgbClr val="B3261E"/>
                </a:solidFill>
                <a:latin typeface="Calibri"/>
              </a:rPr>
              <a:t>•  </a:t>
            </a:r>
            <a:r>
              <a:rPr sz="1400" b="1" i="0">
                <a:solidFill>
                  <a:srgbClr val="16181D"/>
                </a:solidFill>
                <a:latin typeface="Calibri"/>
              </a:rPr>
              <a:t>Red values quoted in bullets were machine-verified against those captures </a:t>
            </a:r>
            <a:r>
              <a:rPr sz="1400" b="1" i="0">
                <a:solidFill>
                  <a:srgbClr val="B3261E"/>
                </a:solidFill>
                <a:latin typeface="Calibri"/>
              </a:rPr>
              <a:t>at generation</a:t>
            </a:r>
            <a:r>
              <a:rPr sz="1400" b="0" i="0">
                <a:solidFill>
                  <a:srgbClr val="16181D"/>
                </a:solidFill>
                <a:latin typeface="Calibri"/>
              </a:rPr>
              <a:t> (the check runs below; failures abort the save).</a:t>
            </a:r>
          </a:p>
          <a:p>
            <a:pPr marL="201168" indent="-201168">
              <a:lnSpc>
                <a:spcPct val="104000"/>
              </a:lnSpc>
              <a:spcBef>
                <a:spcPts val="0"/>
              </a:spcBef>
              <a:spcAft>
                <a:spcPts val="500"/>
              </a:spcAft>
            </a:pPr>
            <a:r>
              <a:rPr sz="1400" b="1" i="0">
                <a:solidFill>
                  <a:srgbClr val="B3261E"/>
                </a:solidFill>
                <a:latin typeface="Calibri"/>
              </a:rPr>
              <a:t>•  </a:t>
            </a:r>
            <a:r>
              <a:rPr sz="1400" b="0" i="0">
                <a:solidFill>
                  <a:srgbClr val="16181D"/>
                </a:solidFill>
                <a:latin typeface="Calibri"/>
              </a:rPr>
              <a:t>The book (84 pp) embeds the same files and passes 24 QA gates; this deck shares its corpus.</a:t>
            </a:r>
          </a:p>
        </p:txBody>
      </p:sp>
      <p:sp>
        <p:nvSpPr>
          <p:cNvPr id="9" name="Rectangle 8"/>
          <p:cNvSpPr/>
          <p:nvPr/>
        </p:nvSpPr>
        <p:spPr>
          <a:xfrm>
            <a:off x="502920" y="4572000"/>
            <a:ext cx="6309360" cy="1371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681728"/>
            <a:ext cx="5943600" cy="1188720"/>
          </a:xfrm>
          <a:prstGeom prst="rect">
            <a:avLst/>
          </a:prstGeom>
          <a:noFill/>
        </p:spPr>
        <p:txBody>
          <a:bodyPr wrap="none" anchor="t" lIns="0" rIns="0" tIns="0" bIns="0">
            <a:spAutoFit/>
          </a:bodyPr>
          <a:lstStyle/>
          <a:p>
            <a:pPr>
              <a:spcBef>
                <a:spcPts val="0"/>
              </a:spcBef>
              <a:spcAft>
                <a:spcPts val="350"/>
              </a:spcAft>
            </a:pPr>
            <a:r>
              <a:rPr sz="1250" b="0" i="0">
                <a:solidFill>
                  <a:srgbClr val="E5E7EB"/>
                </a:solidFill>
                <a:latin typeface="Consolas"/>
              </a:rPr>
              <a:t>$ cd ddco-course</a:t>
            </a:r>
          </a:p>
          <a:p>
            <a:pPr>
              <a:spcBef>
                <a:spcPts val="0"/>
              </a:spcBef>
              <a:spcAft>
                <a:spcPts val="350"/>
              </a:spcAft>
            </a:pPr>
            <a:r>
              <a:rPr sz="1250" b="0" i="0">
                <a:solidFill>
                  <a:srgbClr val="E5E7EB"/>
                </a:solidFill>
                <a:latin typeface="Consolas"/>
              </a:rPr>
              <a:t>$ python3 collect.py   # 20 sims + yosys + system caps</a:t>
            </a:r>
          </a:p>
          <a:p>
            <a:pPr>
              <a:spcBef>
                <a:spcPts val="0"/>
              </a:spcBef>
              <a:spcAft>
                <a:spcPts val="350"/>
              </a:spcAft>
            </a:pPr>
            <a:r>
              <a:rPr sz="1250" b="0" i="0">
                <a:solidFill>
                  <a:srgbClr val="E5E7EB"/>
                </a:solidFill>
                <a:latin typeface="Consolas"/>
              </a:rPr>
              <a:t>$ python3 build.py      # two-pass PDF, footers stamped</a:t>
            </a:r>
          </a:p>
          <a:p>
            <a:pPr>
              <a:spcBef>
                <a:spcPts val="0"/>
              </a:spcBef>
              <a:spcAft>
                <a:spcPts val="350"/>
              </a:spcAft>
            </a:pPr>
            <a:r>
              <a:rPr sz="1250" b="0" i="0">
                <a:solidFill>
                  <a:srgbClr val="E5E7EB"/>
                </a:solidFill>
                <a:latin typeface="Consolas"/>
              </a:rPr>
              <a:t>$ python3 qa.py         # 24 gates against the captures</a:t>
            </a:r>
          </a:p>
        </p:txBody>
      </p:sp>
      <p:sp>
        <p:nvSpPr>
          <p:cNvPr id="11" name="Rectangle 10"/>
          <p:cNvSpPr/>
          <p:nvPr/>
        </p:nvSpPr>
        <p:spPr>
          <a:xfrm>
            <a:off x="7178040" y="1572768"/>
            <a:ext cx="4526280" cy="292608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572768"/>
            <a:ext cx="54864" cy="29260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9208" y="1664208"/>
            <a:ext cx="4142232" cy="274320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RESOURCES (AS PRESCRIBED)</a:t>
            </a:r>
          </a:p>
          <a:p>
            <a:pPr>
              <a:lnSpc>
                <a:spcPct val="108000"/>
              </a:lnSpc>
              <a:spcBef>
                <a:spcPts val="0"/>
              </a:spcBef>
              <a:spcAft>
                <a:spcPts val="0"/>
              </a:spcAft>
            </a:pPr>
            <a:r>
              <a:rPr sz="1000" b="0" i="0">
                <a:solidFill>
                  <a:srgbClr val="16181D"/>
                </a:solidFill>
                <a:latin typeface="Calibri"/>
              </a:rPr>
              <a:t>Textbooks: M. Morris Mano &amp; Michael D. Ciletti, Digital Design, 6th Edition, Pearson Education.  Carl Hamacher, Zvonko Vranesic, Safwat Zaky, Computer Organization, 5th Edition, Tata McGraw Hill.  References: Charles H Roth and Larry L Kinney, Analog and Digital Electronics, Cengage Learning.  William Stallings: Computer Organization &amp; Architecture, 11th Edition, Pearson, 2015.</a:t>
            </a:r>
          </a:p>
        </p:txBody>
      </p:sp>
      <p:sp>
        <p:nvSpPr>
          <p:cNvPr id="14" name="Rectangle 13"/>
          <p:cNvSpPr/>
          <p:nvPr/>
        </p:nvSpPr>
        <p:spPr>
          <a:xfrm>
            <a:off x="7178040" y="4663440"/>
            <a:ext cx="4526280" cy="12801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42631" y="4745736"/>
            <a:ext cx="4197096" cy="11155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E-RESOURCES</a:t>
            </a:r>
          </a:p>
          <a:p>
            <a:pPr>
              <a:lnSpc>
                <a:spcPct val="105000"/>
              </a:lnSpc>
              <a:spcBef>
                <a:spcPts val="0"/>
              </a:spcBef>
              <a:spcAft>
                <a:spcPts val="320"/>
              </a:spcAft>
            </a:pPr>
            <a:r>
              <a:rPr sz="1100" b="0" i="0">
                <a:solidFill>
                  <a:srgbClr val="16181D"/>
                </a:solidFill>
                <a:latin typeface="Calibri"/>
              </a:rPr>
              <a:t>NPTEL 117105078 (Prof. P. K. Biswas) · MIT OCW 6.004 · IIIT-H Virtual Lab · SEEL</a:t>
            </a:r>
          </a:p>
          <a:p>
            <a:pPr>
              <a:lnSpc>
                <a:spcPct val="105000"/>
              </a:lnSpc>
              <a:spcBef>
                <a:spcPts val="0"/>
              </a:spcBef>
              <a:spcAft>
                <a:spcPts val="320"/>
              </a:spcAft>
            </a:pPr>
            <a:r>
              <a:rPr sz="1100" b="0" i="0">
                <a:solidFill>
                  <a:srgbClr val="16181D"/>
                </a:solidFill>
                <a:latin typeface="Calibri"/>
              </a:rPr>
              <a:t>Infosys Springboard: DLD Overview 4 h · Computer Organization 12 h · VLSI/Verilog 10 h</a:t>
            </a:r>
          </a:p>
        </p:txBody>
      </p:sp>
      <p:sp>
        <p:nvSpPr>
          <p:cNvPr id="16" name="TextBox 15"/>
          <p:cNvSpPr txBox="1"/>
          <p:nvPr/>
        </p:nvSpPr>
        <p:spPr>
          <a:xfrm>
            <a:off x="7178040" y="6089904"/>
            <a:ext cx="4526280" cy="365760"/>
          </a:xfrm>
          <a:prstGeom prst="rect">
            <a:avLst/>
          </a:prstGeom>
          <a:noFill/>
        </p:spPr>
        <p:txBody>
          <a:bodyPr wrap="square" anchor="t" lIns="0" rIns="0" tIns="0" bIns="0">
            <a:spAutoFit/>
          </a:bodyPr>
          <a:lstStyle/>
          <a:p>
            <a:pPr>
              <a:spcBef>
                <a:spcPts val="0"/>
              </a:spcBef>
              <a:spcAft>
                <a:spcPts val="400"/>
              </a:spcAft>
            </a:pPr>
            <a:r>
              <a:rPr sz="1050" b="0" i="0">
                <a:solidFill>
                  <a:srgbClr val="4B5563"/>
                </a:solidFill>
                <a:latin typeface="Calibri"/>
              </a:rPr>
              <a:t>Dr. Lokesh M R · AJIET Mangaluru · VTU 2025 scheme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