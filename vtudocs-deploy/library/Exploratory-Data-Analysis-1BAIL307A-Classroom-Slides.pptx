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§1 concepts + demo out/f01_jupyter.txt (course book §1.2–3). Every red value on this slide was verified against that capture by the deck build's self-check. Re-run: python3 src/f01_jupyter.py — output must match the transcript byte-for-byte.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§1 concepts + demo out/make_datasets.txt (course book §1.2–3). Every red value on this slide was verified against that capture by the deck build's self-check. Re-run: python3 src/make_datasets.py — output must match the transcript byte-for-byte.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out/f01_jupyter.txt (twice — the run is kept only if both passes agree byte-for-byte); this chapter's other demos (f01_jupyter, make_datasets) with full transcripts are in the book's §1.2–3.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Q1: The percent format is a 1:1 line-level encoding: every # %% line becomes a cell boundary, so script and notebook are the same bytes read two ways. Conversion guarantees the code order and contents; it does not guarantee execution — a script run top-to-bottom fails loudly if a cell depended on hidden state, which is the check, not the flaw.</a:t>
            </a:r>
          </a:p>
          <a:p>
            <a:r>
              <a:t>Q2: Output formatting, default options and even deprecation behaviour are library properties; 66.86 is a number of pandas 2.2.3 reading that file. A different pandas could print 66.860000000000007 or change describe semantics. The version line makes the result re-derivable — that is all the examiner is asking.</a:t>
            </a:r>
          </a:p>
          <a:p>
            <a:r>
              <a:t>Q3: The digest pins the exact bytes every number descends from: two analyses with the same sha256 are comparable, different digests mean the "same" dataset changed under them. One line in section 1: data/student_performance.csv, 412×11, sha256 recorded — regenerated by the shipped generator.</a:t>
            </a:r>
          </a:p>
          <a:p>
            <a:r>
              <a:t>Q4: Vacuous without defects: the missing-value report (EDA-03) and the duplicate detection (EDA-05) would find nothing to report. Wrong without them: cleaning (EDA-04) — if rows are missing at random versus missing among light self-studiers, dropping silently biases the very mean the report then quotes.</a:t>
            </a:r>
          </a:p>
          <a:p>
            <a:r>
              <a:t>Q5: Notebook state is an execution DAG, not the file: earlier variables from skipped runs can still be live while the file no longer shows their cells. The chapter's habit that catches it is the round-trip — run the exported script top-to-bottom (or Restart &amp; Run All) before exporting the report.</a:t>
            </a:r>
          </a:p>
          <a:p>
            <a:r>
              <a:t>Q6: An acceptable answer: %matplotlib inline (or explicit Agg+savefig for reproducibility), pin/echo versions, and set pandas display options (display.width, float format) so tables land identically in the report as in the kernel — each line removes one way the printed document and the live run can disagree.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§2 concepts + demo out/f02_numpy_arrays.txt (course book §2.2–3). Every red value on this slide was verified against that capture by the deck build's self-check. Re-run: python3 src/f02_numpy_arrays.py — output must match the transcript byte-for-byte.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§2 concepts + demo out/f03_pandas_frames.txt (course book §2.2–3). Every red value on this slide was verified against that capture by the deck build's self-check. Re-run: python3 src/f03_pandas_frames.py — output must match the transcript byte-for-byte.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out/f03_pandas_frames.txt (twice — the run is kept only if both passes agree byte-for-byte); this chapter's other demos (f02_numpy_arrays, f03_pandas_frames) with full transcripts are in the book's §2.2–3.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Q1: An array is one buffer plus three properties: dtype, shape and strides. reshape changes shape (and possibly strides) but never copies or moves bytes — the 3×4 view of 0..11 is the same twelve int64s the arange allocated; the demo prints strides=(32, 8) to show exactly what that means.</a:t>
            </a:r>
          </a:p>
          <a:p>
            <a:r>
              <a:t>Q2: The loop is evidence-by-definition (it states the predicate you meant); the vector result is the claim at scale. Printing both and matching 12 to 12 checks the translation between intent and idiom — in a report, the check earns the mark.</a:t>
            </a:r>
          </a:p>
          <a:p>
            <a:r>
              <a:t>Q3: a[:, 1] drops the axis and becomes (3,), which broadcasts row-wise against (3,4) only by accident of length; a[:, 1:2] is (3,1), which broadcasts down columns explicitly. The 2-D slice is what lets a - a[:, 1:2] mean "each column minus column 1" and keeps the result (3,4).</a:t>
            </a:r>
          </a:p>
          <a:p>
            <a:r>
              <a:t>Q4: NaN is not representable in int64/int16; the moment a column admits missingness its dtype must be float64 (or object), and every integer of 0..12 silently becomes 0.0..12.0. Stored as int16, study_hours could not contain the 14 missing cells the quality experiment is built to find — read_csv would have to widen the dtype anyway.</a:t>
            </a:r>
          </a:p>
          <a:p>
            <a:r>
              <a:t>Q5: Index the frame so the label and position differ: e.g. index=list('ZA') — then loc['B'] is absent while iloc[1,0] still hits row A; or with index ['A','B'], loc['B',..] and iloc[1,..] both hit B (agreeing), but after a sort or filter the position silently moves while the label does not. Label indexing is the report-safe choice because it survives reordering.</a:t>
            </a:r>
          </a:p>
          <a:p>
            <a:r>
              <a:t>Q6: Either is acceptable; the argued answer is the one that names a reason: named intermediates make each step citable in the write-up and re-checkable in the notebook, the chain is harder to mis-order but hides the row counts in between. In a graded report, intermediates win on documentation points; in a script, the chain wins on brevity.</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§3 concepts + demo out/f04_matplotlib_fig.txt (course book §3.2–3). Every red value on this slide was verified against that capture by the deck build's self-check. Re-run: python3 src/f04_matplotlib_fig.py — output must match the transcript byte-for-byte.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§3 concepts + demo out/eda09_bar_pie.txt (course book §3.2–3). Every red value on this slide was verified against that capture by the deck build's self-check. Re-run: python3 src/eda09_bar_pie.py &lt;csv path&gt; — output must match the transcript byte-for-byte.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out/f04_matplotlib_fig.txt (twice — the run is kept only if both passes agree byte-for-byte); this chapter's other demos (f04_matplotlib_fig) with full transcripts are in the book's §3.2–3.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Q1: Mis-citation and silent change: a caption typed from memory can disagree with the bars (the demo reads "heights: 61.5, 65.2, 68.9" from the figure itself); and any data tweak can leave a stale figure embedded. Querying the artists makes the caption's numbers come from the drawn object, so both failures become impossible.</a:t>
            </a:r>
          </a:p>
          <a:p>
            <a:r>
              <a:t>Q2: Auto-scaled, the axes ran 0..72.3 and the gaps looked like cliffs — a rhetorical stretch; at 0..100 the same bars read as a narrow band inside a known 0–100 range. The axis choice is a claim about the natural scale; viva and report both expect you to own it.</a:t>
            </a:r>
          </a:p>
          <a:p>
            <a:r>
              <a:t>Q3: Agg renders into a memory buffer with no display needed — the same image a notebook shows; savefig writes those exact bytes to PNG (12580 bytes in the demo), giving the report a file to attach and the reviewer a file to diff. Display is ephemeral; the file is evidence.</a:t>
            </a:r>
          </a:p>
          <a:p>
            <a:r>
              <a:t>Q4: compare→bar (print the per-group table); share→pie (print counts and shares); trend→line (print the series and its length); association→scatter (print n and r); distribution→hist or box (print the five-number summary); all-pairs→heat map (print the matrix rounded, the matrix is the source).</a:t>
            </a:r>
          </a:p>
          <a:p>
            <a:r>
              <a:t>Q5: Each slice is rounded to 2dp before summing — the total is a rounding residue, not a data fault; the capture prints "off by 0.01 pt" on purpose. The report notes it in the caption, and if the visual share matters, the unrounded table is printed beside the figure.</a:t>
            </a:r>
          </a:p>
          <a:p>
            <a:r>
              <a:t>Q6: Is one variable a function of the other by construction (revenue = units×price yields the trivial +1.000 row in EDA-11)? Is the correlation pooled over groups whose sign contradicts the within-group sign (EDA-10 does exactly this)? And is the sample size and range what you think (n per line is printed in the same capture)? Only then does +0.99 mean anything.</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experiment and produce report-ready, machine-verified evidence.. Tools: Python 3.13.14 · numpy 2.3.5 · pandas 2.2.3 · matplotlib 3.10.9 (Agg) · seaborn 0.13.2 · Debian 13 — versions pinned in out/toolchain.txt. Full approach, observations, model viva answers: course book Experiment 1 (7 sections). Re-run: python3 collect.py — the panel bytes come from out/eda01_load_explore.txt.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1 (book §1.6):</a:t>
            </a:r>
          </a:p>
          <a:p/>
          <a:p>
            <a:r>
              <a:t>Q1: Which method answers 'how many values does this column actually hold?' and which answers 'how many distinct ones?' — and what are both on study_hours here?</a:t>
            </a:r>
          </a:p>
          <a:p>
            <a:r>
              <a:t>   A: count() counts non-null values, nunique() counts distinct non-null values. On the capture's frame study_hours has 117 distinct values over 398 present rows (412 minus the 14 NaN that describe() already showed in its count row). The two numbers answer two questions and neither is the row count.</a:t>
            </a:r>
          </a:p>
          <a:p>
            <a:r>
              <a:t>Q2: Why does absences print as int64 while study_hours prints as float64?</a:t>
            </a:r>
          </a:p>
          <a:p>
            <a:r>
              <a:t>   A: Only float64 carries NaN natively: study_hours holds 14 missing cells, so its dtype must; absences is complete, so the integers stay integers. The dtypes line is a quality report if you know how to read it.</a:t>
            </a:r>
          </a:p>
          <a:p>
            <a:r>
              <a:t>Q3: What does deep=True add to memory_usage, and why is the number bigger with it?</a:t>
            </a:r>
          </a:p>
          <a:p>
            <a:r>
              <a:t>   A: deep=True walks object columns and counts the actual string objects (plus their pointers), not just the 8-byte references in the underlying arrays. For a frame with six string columns that is most of the total.</a:t>
            </a:r>
          </a:p>
          <a:p>
            <a:r>
              <a:t>Q4: The report says head() comes before describe(). Justify that ordering.</a:t>
            </a:r>
          </a:p>
          <a:p>
            <a:r>
              <a:t>   A: describe() silently coerces, skips NaN and averages — all of which can be wrong if the file was mis-parsed (an id read as float, a code read as date). Three raw rows show whether the parse matches the contract; the summary only becomes trustworthy after that.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experiment and produce report-ready, machine-verified evidence.. Tools: Python 3.13.14 · numpy 2.3.5 · pandas 2.2.3 · matplotlib 3.10.9 (Agg) · seaborn 0.13.2 · Debian 13 — versions pinned in out/toolchain.txt. Full approach, observations, model viva answers: course book Experiment 2 (7 sections). Re-run: python3 collect.py — the panel bytes come from out/eda02_basic_stats.txt.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2 (book §2.6):</a:t>
            </a:r>
          </a:p>
          <a:p/>
          <a:p>
            <a:r>
              <a:t>Q1: Which measure survives a single 10× outlier in study_hours and which does not, and what does the capture show about the pair on this data?</a:t>
            </a:r>
          </a:p>
          <a:p>
            <a:r>
              <a:t>   A: Median and IQR survive; mean and std do not. The capture's mean sits 0.85 h above the median with no outlier at all — the right-skewed distribution does it gently. A statistic you cannot tie to a shape claim is an unexplained number in the report.</a:t>
            </a:r>
          </a:p>
          <a:p>
            <a:r>
              <a:t>Q2: Why does the standard deviation use ddof=1, and does the demo have to remember it?</a:t>
            </a:r>
          </a:p>
          <a:p>
            <a:r>
              <a:t>   A: Sample std divides by n−1 — the degrees-of-freedom correction when estimating a population variance from a sample. The demo passes ddof=1 to numpy explicitly so it matches pandas' default; the printed agreement is the proof the two were aligned, not assumed aligned.</a:t>
            </a:r>
          </a:p>
          <a:p>
            <a:r>
              <a:t>Q3: The mode of a rounded float column is fragile. What does the capture guarantee, and what does it not?</a:t>
            </a:r>
          </a:p>
          <a:p>
            <a:r>
              <a:t>   A: study_hours is rounded to one decimal, so ties are real and pandas returns them sorted with the smallest first — deterministic, reproducible, citable. It does not guarantee the mode means anything on such data; the report reads it beside the median, not instead of it.</a:t>
            </a:r>
          </a:p>
          <a:p>
            <a:r>
              <a:t>Q4: Give the two-sentence interpretation block an examiner would call Superior.</a:t>
            </a:r>
          </a:p>
          <a:p>
            <a:r>
              <a:t>   A: Central tendency tied to shape: median 4.90 h with mean 5.75 h because the distribution is right-skewed (computed skew +0.533). Then dispersion as a constraint on inference: std 3.28 and a 1.2–21.4 range mean per-student claims must come from groups, not averages.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experiment and produce report-ready, machine-verified evidence.. Tools: Python 3.13.14 · numpy 2.3.5 · pandas 2.2.3 · matplotlib 3.10.9 (Agg) · seaborn 0.13.2 · Debian 13 — versions pinned in out/toolchain.txt. Full approach, observations, model viva answers: course book Experiment 3 (7 sections). Re-run: python3 collect.py — the panel bytes come from out/eda03_quality.txt.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3 (book §3.6):</a:t>
            </a:r>
          </a:p>
          <a:p/>
          <a:p>
            <a:r>
              <a:t>Q1: Why count nulls per column AND per row, and what does each denominator decide?</a:t>
            </a:r>
          </a:p>
          <a:p>
            <a:r>
              <a:t>   A: Per column decides the repair (what fraction of that attribute is guessable, and by what statistic); per row decides the cost of the lazy repair (dropna throws rows — 16.26% of them, here). Per cell is framing only; it hides which columns hurt.</a:t>
            </a:r>
          </a:p>
          <a:p>
            <a:r>
              <a:t>Q2: An attribute is 12.86% missing and used only for grouping. Name two legitimate non-imputation choices.</a:t>
            </a:r>
          </a:p>
          <a:p>
            <a:r>
              <a:t>   A: Group it as its own 'unknown' category (the NaN is information — who declines to report may matter); or drop the attribute from the analysis and state the exclusion. Mode-imputing it — as experiment 4 then demonstrates — is a third choice, and it must be announced as a bias.</a:t>
            </a:r>
          </a:p>
          <a:p>
            <a:r>
              <a:t>Q3: Why does the report print the student_ids of missing entries?</a:t>
            </a:r>
          </a:p>
          <a:p>
            <a:r>
              <a:t>   A: Because a quality claim is only evidence if it is checkable: the reader can pull those rows and confirm the count — and the generator's rule (ids ending in certain suffixes) becomes auditable rather than magical.</a:t>
            </a:r>
          </a:p>
          <a:p>
            <a:r>
              <a:t>Q4: State this file's missing-data mechanism and why the mechanism, not the percentage, decides the repair.</a:t>
            </a:r>
          </a:p>
          <a:p>
            <a:r>
              <a:t>   A: The NaN pattern is a construction fact keyed to row identity (id suffixes) — informative missingness. That is exactly the case where dropna biases the survivors, which is what experiment 4 then quantifies on study_hours.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experiment and produce report-ready, machine-verified evidence.. Tools: Python 3.13.14 · numpy 2.3.5 · pandas 2.2.3 · matplotlib 3.10.9 (Agg) · seaborn 0.13.2 · Debian 13 — versions pinned in out/toolchain.txt. Full approach, observations, model viva answers: course book Experiment 4 (7 sections). Re-run: python3 collect.py — the panel bytes come from out/eda04_clean_missing.txt.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4 (book §4.6):</a:t>
            </a:r>
          </a:p>
          <a:p/>
          <a:p>
            <a:r>
              <a:t>Q1: Give the scenario where dropna is the right choice, not the lazy one.</a:t>
            </a:r>
          </a:p>
          <a:p>
            <a:r>
              <a:t>   A: When missingness is uninformative AND a row without the attribute cannot answer the question at all — e.g. analysing per-hour efficiency where the hours cell is the denominator itself. There, a row without hours contributes noise, and imputation would invent its divisor.</a:t>
            </a:r>
          </a:p>
          <a:p>
            <a:r>
              <a:t>Q2: Why median and not mean for study_hours, in the experiment's own terms?</a:t>
            </a:r>
          </a:p>
          <a:p>
            <a:r>
              <a:t>   A: The distribution was just measured right-skewed (mean above median by 0.85 h); mean-imputing pulls holes toward the tail and widens the distortion, median imputes toward the bulk. The choice is inherited from experiment 2 — the chain the rubric calls 'appropriate methods'.</a:t>
            </a:r>
          </a:p>
          <a:p>
            <a:r>
              <a:t>Q3: Imputation shrank std 3.28 → 3.23. Who cares, downstream?</a:t>
            </a:r>
          </a:p>
          <a:p>
            <a:r>
              <a:t>   A: Anyone comparing groups (experiment 7), anyone correlating (11), anyone reporting effect sizes — imputed cells damp both spread and association; the honest fix is to state the shrinkage and discount the statistics it touches.</a:t>
            </a:r>
          </a:p>
          <a:p>
            <a:r>
              <a:t>Q4: Why re-read the cleaned file instead of trusting the in-memory frame?</a:t>
            </a:r>
          </a:p>
          <a:p>
            <a:r>
              <a:t>   A: The artifact of this experiment is the file, not the frame: dtype inference at read time (empty strings back to NaN, ints to floats), quoting or separator bugs, and a truncated write all hide until something parses the bytes again. Read-back is the difference between cleaned-in-memory and cleaned-for-the-report.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experiment and produce report-ready, machine-verified evidence.. Tools: Python 3.13.14 · numpy 2.3.5 · pandas 2.2.3 · matplotlib 3.10.9 (Agg) · seaborn 0.13.2 · Debian 13 — versions pinned in out/toolchain.txt. Full approach, observations, model viva answers: course book Experiment 5 (7 sections). Re-run: python3 collect.py — the panel bytes come from out/eda05_duplicates.txt.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5 (book §5.6):</a:t>
            </a:r>
          </a:p>
          <a:p/>
          <a:p>
            <a:r>
              <a:t>Q1: What is the semantic difference between keep='first' (default) and keep=False in duplicated()?</a:t>
            </a:r>
          </a:p>
          <a:p>
            <a:r>
              <a:t>   A: keep='first' marks only the later copies — the operation mask for drop_duplicates; keep=False marks every member of every duplicate family — the inspection mask for showing what is involved. The experiment prints 12 and 24 for exactly this reason.</a:t>
            </a:r>
          </a:p>
          <a:p>
            <a:r>
              <a:t>Q2: Define a key on student_id and name the two duplicate classes it distinguishes.</a:t>
            </a:r>
          </a:p>
          <a:p>
            <a:r>
              <a:t>   A: Exact whole-row copies (this file's disease) — remove freely; same-key conflicts, two different records for one student — a data-integrity question requiring arbitration (which source, which timestamp). No drop_duplicates parameter performs the second.</a:t>
            </a:r>
          </a:p>
          <a:p>
            <a:r>
              <a:t>Q3: The mean barely moved (−0.03). Argue that removing the duplicates was still mandatory.</a:t>
            </a:r>
          </a:p>
          <a:p>
            <a:r>
              <a:t>   A: Statistics are only the first audience: group sizes, pie shares, per-category means and every later join counted the doubled rows twice. The capture's 185→182 category count shows a proportion correcting by more than any average here moved.</a:t>
            </a:r>
          </a:p>
          <a:p>
            <a:r>
              <a:t>Q4: One-line rule for WHERE duplicate removal belongs in a pipeline.</a:t>
            </a:r>
          </a:p>
          <a:p>
            <a:r>
              <a:t>   A: As early as the key is trustworthy and after the format fixes that could hide a near-duplicate (whitespace, case) — every later step double-counts whatever survives this gate.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experiment and produce report-ready, machine-verified evidence.. Tools: Python 3.13.14 · numpy 2.3.5 · pandas 2.2.3 · matplotlib 3.10.9 (Agg) · seaborn 0.13.2 · Debian 13 — versions pinned in out/toolchain.txt. Full approach, observations, model viva answers: course book Experiment 6 (7 sections). Re-run: python3 collect.py — the panel bytes come from out/eda06_filter_sort.txt.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6 (book §6.6):</a:t>
            </a:r>
          </a:p>
          <a:p/>
          <a:p>
            <a:r>
              <a:t>Q1: Why sort by two keys with two directions here rather than filter harder?</a:t>
            </a:r>
          </a:p>
          <a:p>
            <a:r>
              <a:t>   A: The filter fixes the population (22 qualifying rows); the sort fixes what 'top' means and makes ties deterministic — salary alone lets equal salaries arrive in frame order, so a re-run could shuffle the printed five. Salary-descending, id-ascending is a claim about both.</a:t>
            </a:r>
          </a:p>
          <a:p>
            <a:r>
              <a:t>Q2: Boolean mask vs query(): same result — state the actual trade-off.</a:t>
            </a:r>
          </a:p>
          <a:p>
            <a:r>
              <a:t>   A: Query reads like the manager's sentence (quotable in a report, no bracket gymnastics); masks compose with variables and unit-test. The experiment cites the same number from both — a report may pick a style but must show they agree.</a:t>
            </a:r>
          </a:p>
          <a:p>
            <a:r>
              <a:t>Q3: What does mean units 86.5 for Bengaluru × Electronics NOT tell you?</a:t>
            </a:r>
          </a:p>
          <a:p>
            <a:r>
              <a:t>   A: Everything about trend and dispersion: it pools 36 months of a growing line into one midpoint. The row count and the total are what make the sentence honest; the mean is garnish.</a:t>
            </a:r>
          </a:p>
          <a:p>
            <a:r>
              <a:t>Q4: A manager asks for 'months where revenue beat twice the average'. One line?</a:t>
            </a:r>
          </a:p>
          <a:p>
            <a:r>
              <a:t>   A: m = sales.groupby('month')['revenue'].sum(); m[m &gt; 2*m.mean()] — the aggregate must be computed before the comparison, which is exactly why this is not a plain mask on the frame.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experiment and produce report-ready, machine-verified evidence.. Tools: Python 3.13.14 · numpy 2.3.5 · pandas 2.2.3 · matplotlib 3.10.9 (Agg) · seaborn 0.13.2 · Debian 13 — versions pinned in out/toolchain.txt. Full approach, observations, model viva answers: course book Experiment 7 (7 sections). Re-run: python3 collect.py — the panel bytes come from out/eda07_group_agg.txt.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7 (book §7.6):</a:t>
            </a:r>
          </a:p>
          <a:p/>
          <a:p>
            <a:r>
              <a:t>Q1: State split-apply-combine in one sentence, then point at the capture line that instantiates each clause.</a:t>
            </a:r>
          </a:p>
          <a:p>
            <a:r>
              <a:t>   A: Split: the printed blocks are keyed per group (group A/C/D, once each). Apply: four named reductions per group (size, mean, max, mean of hours). Combine: the result is one frame indexed by the categorical — the table itself is the combine step.</a:t>
            </a:r>
          </a:p>
          <a:p>
            <a:r>
              <a:t>Q2: Why does groupby(drop groups with NaN keys) drop whole rows from the result, and when is that right?</a:t>
            </a:r>
          </a:p>
          <a:p>
            <a:r>
              <a:t>   A: A NaN key means the row belongs to no named group — correct for 'per-category' questions, silently wrong for 'account for every row' questions. The fix for the second is an explicit unknown category (as experiment 4's exercise hints); then the rows appear in the table and can be read.</a:t>
            </a:r>
          </a:p>
          <a:p>
            <a:r>
              <a:t>Q3: agg with names versus multiple functions per column: which suits a report table?</a:t>
            </a:r>
          </a:p>
          <a:p>
            <a:r>
              <a:t>   A: Named agg (n=…, avg_score=…) yields flat, report-ready headers; ['mean','std'] per column stacks a second header level with the statistic name. The first reads like a result, the second like a battery — in a submitted table, prefer names and cite the statistic in the caption.</a:t>
            </a:r>
          </a:p>
          <a:p>
            <a:r>
              <a:t>Q4: One design decision turns this group table into experiment 11's heat map?</a:t>
            </a:r>
          </a:p>
          <a:p>
            <a:r>
              <a:t>   A: Shape: an aggregation is long (group index × statistic columns); the heat map wants square numeric. pivot_table (or .unstack) is the reshape that lets colour take over where sorting a list of means stops working.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experiment and produce report-ready, machine-verified evidence.. Tools: Python 3.13.14 · numpy 2.3.5 · pandas 2.2.3 · matplotlib 3.10.9 (Agg) · seaborn 0.13.2 · Debian 13 — versions pinned in out/toolchain.txt. Full approach, observations, model viva answers: course book Experiment 8 (7 sections). Re-run: python3 collect.py — the panel bytes come from out/eda08_explore_stats.txt.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8 (book §8.6):</a:t>
            </a:r>
          </a:p>
          <a:p/>
          <a:p>
            <a:r>
              <a:t>Q1: Why build outlier fences from quartiles instead of mean and standard deviation?</a:t>
            </a:r>
          </a:p>
          <a:p>
            <a:r>
              <a:t>   A: The fences are quantile-based, so the outliers they hunt cannot drag the yardstick: mean±k·std is contaminated by the very points it screens. On a right-skewed variable like study_hours the difference is not pedantry — the z-rule flags tail members the robust rule considers ordinary.</a:t>
            </a:r>
          </a:p>
          <a:p>
            <a:r>
              <a:t>Q2: Three skew instruments agreed — but only pandas' skew is 'the statistic'. What do the other two contribute?</a:t>
            </a:r>
          </a:p>
          <a:p>
            <a:r>
              <a:t>   A: The mean-median gap and the quartile asymmetry are interpretable without a formula and survive shapes the moment-based coefficient misreads (heavy tails, clipping). Three agreements are the cheap robustness the capture spends three lines on.</a:t>
            </a:r>
          </a:p>
          <a:p>
            <a:r>
              <a:t>Q3: Explain fence-safety on this score column in one sentence.</a:t>
            </a:r>
          </a:p>
          <a:p>
            <a:r>
              <a:t>   A: The upper fence, Q3 + 1.5·IQR = 106.0, sits above the scale's ceiling of 100, so no row can be flagged high; a bounded variable with a wide IQR is immune to its own Tukey rule on that side — say so, then stop hunting.</a:t>
            </a:r>
          </a:p>
          <a:p>
            <a:r>
              <a:t>Q4: Zero-inflation in absences: name two downstream decisions it changes.</a:t>
            </a:r>
          </a:p>
          <a:p>
            <a:r>
              <a:t>   A: Any residual/t-test assumption (count models or a two-part 'any absence?' split fit better than means), and any group comparison of average absences, whose small values are mostly the zero pile moving — report group medians or the zero-share itself.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experiment and produce report-ready, machine-verified evidence.. Tools: Python 3.13.14 · numpy 2.3.5 · pandas 2.2.3 · matplotlib 3.10.9 (Agg) · seaborn 0.13.2 · Debian 13 — versions pinned in out/toolchain.txt. Full approach, observations, model viva answers: course book Experiment 9 (7 sections). Re-run: python3 collect.py — the panel bytes come from out/eda09_bar_pie.txt.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9 (book §9.6):</a:t>
            </a:r>
          </a:p>
          <a:p/>
          <a:p>
            <a:r>
              <a:t>Q1: When is a pie the right answer, and what must the caption carry?</a:t>
            </a:r>
          </a:p>
          <a:p>
            <a:r>
              <a:t>   A: Shares of one whole, few slices, rankings the eye should catch; the caption carries the counts beside the percentages (44.9% is 185 of 412 — the pie flattens sample size) and the rounding note when shares do not reconcile.</a:t>
            </a:r>
          </a:p>
          <a:p>
            <a:r>
              <a:t>Q2: Explain why the marginal bar gap (+0.71) understates the stratified gaps (+6.20 / +4.87) — without saying 'the chart lied'.</a:t>
            </a:r>
          </a:p>
          <a:p>
            <a:r>
              <a:t>   A: The marginal bars average two sub-populations of different size and different baseline hours; enrolment skews toward the light-self-study half, where the effect is larger. The chart shows a wrongly-weighted mixture, not a falsehood — the fix printed in the capture is the conditioned comparison.</a:t>
            </a:r>
          </a:p>
          <a:p>
            <a:r>
              <a:t>Q3: Why draw the seaborn bars with errorbar=None?</a:t>
            </a:r>
          </a:p>
          <a:p>
            <a:r>
              <a:t>   A: Because the table above already prints both means and sizes; error bars would re-derive (or invent) uncertainty the reader can compute from the printed n. The figure visualises the comparison; the table carries the precision — a rule the report should state once.</a:t>
            </a:r>
          </a:p>
          <a:p>
            <a:r>
              <a:t>Q4: Write the two-line caption this experiment files under the bar figure.</a:t>
            </a:r>
          </a:p>
          <a:p>
            <a:r>
              <a:t>   A: 'Mean score by preparation course; tables printed above (n=219 completed, 193 none; marginal gap +0.71 marks). Stratified by self-reported hours the gap is +6.20 (under 6h) and +4.87 (6h+)' — every number traceable to the capture, none to the pixels.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experiment and produce report-ready, machine-verified evidence.. Tools: Python 3.13.14 · numpy 2.3.5 · pandas 2.2.3 · matplotlib 3.10.9 (Agg) · seaborn 0.13.2 · Debian 13 — versions pinned in out/toolchain.txt. Full approach, observations, model viva answers: course book Experiment 10 (7 sections). Re-run: python3 collect.py — the panel bytes come from out/eda10_line_scatter.txt.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10 (book §10.6):</a:t>
            </a:r>
          </a:p>
          <a:p/>
          <a:p>
            <a:r>
              <a:t>Q1: Why aggregate to monthly totals before drawing lines, beyond aesthetics?</a:t>
            </a:r>
          </a:p>
          <a:p>
            <a:r>
              <a:t>   A: Because a raw row-per-row line encodes an ordering the data does not have — four product rows share each month, so the line zigzags within a month and reads as volatility. Aggregation fixes the semantics: one mark per period. The printed [36, 36, 36] is the check that each series answers the question asked.</a:t>
            </a:r>
          </a:p>
          <a:p>
            <a:r>
              <a:t>Q2: Pooled r = −0.3171; every line +0.99. Name the phenomenon and the one-word plot fix.</a:t>
            </a:r>
          </a:p>
          <a:p>
            <a:r>
              <a:t>   A: A group-mixing artefact of the Simpson family: a third variable (price level, correlated with units) structures the pool so the mixture's sign contradicts every member's. The one-word fix is hue — colour or facet by group, and the within-group truths become visible.</a:t>
            </a:r>
          </a:p>
          <a:p>
            <a:r>
              <a:t>Q3: What makes a growth claim from two yearly means stronger than from the last month?</a:t>
            </a:r>
          </a:p>
          <a:p>
            <a:r>
              <a:t>   A: Two endpoints carry every one-month outlier as the whole trend; yearly means average the seasonality out first. 'Computed from 2023 and 2025 yearly means' names its estimator, and a reader can rebuild it from the printed table.</a:t>
            </a:r>
          </a:p>
          <a:p>
            <a:r>
              <a:t>Q4: The fit through the pooled scatter has a negative slope. Why is quoting it a category error even before the sign discussion?</a:t>
            </a:r>
          </a:p>
          <a:p>
            <a:r>
              <a:t>   A: The fit describes four different linear laws with different intercepts; a pooled slope has no data-generating story. The within-line relations are the reportable objects — the pooled line is what refusing to split launders a mixture into a mechanism.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experiment and produce report-ready, machine-verified evidence.. Tools: Python 3.13.14 · numpy 2.3.5 · pandas 2.2.3 · matplotlib 3.10.9 (Agg) · seaborn 0.13.2 · Debian 13 — versions pinned in out/toolchain.txt. Full approach, observations, model viva answers: course book Experiment 11 (7 sections). Re-run: python3 collect.py — the panel bytes come from out/eda11_corr_heat.txt.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11 (book §11.6):</a:t>
            </a:r>
          </a:p>
          <a:p/>
          <a:p>
            <a:r>
              <a:t>Q1: What makes the +1.000 pair trivial, and which line of code created it?</a:t>
            </a:r>
          </a:p>
          <a:p>
            <a:r>
              <a:t>   A: rev_per_unit is defined as revenue/units and revenue is units × price, so the engineered column is unit_price up to the printout's own rounding: the assignment df['rev_per_unit'] = (df['revenue'] / df['units']).round(4) is the construction and the matrix merely reflects it back.</a:t>
            </a:r>
          </a:p>
          <a:p>
            <a:r>
              <a:t>Q2: corr() skips non-numeric columns silently. How should a report guard against the silence?</a:t>
            </a:r>
          </a:p>
          <a:p>
            <a:r>
              <a:t>   A: Pearson r is defined over numbers, and pandas prefers flow over errors. The guard is printing the matrix's column list before the matrix — this experiment does; any attribute missing from that list is a question the report answers separately, by encoding or by grouping.</a:t>
            </a:r>
          </a:p>
          <a:p>
            <a:r>
              <a:t>Q3: Two legitimate ways r can be ~0 between variables you expected to relate.</a:t>
            </a:r>
          </a:p>
          <a:p>
            <a:r>
              <a:t>   A: A non-monotone law (returns spiking at both ends of the range, cancelling in the sum) and a hidden third variable splitting the pool (experiment 10's sign flip). Both are found by the same repair: plot the pair, split by candidate group, then read r again.</a:t>
            </a:r>
          </a:p>
          <a:p>
            <a:r>
              <a:t>Q4: What does fixed vmin=-1, vmax=1 buy the heat-map reader?</a:t>
            </a:r>
          </a:p>
          <a:p>
            <a:r>
              <a:t>   A: Colour that means the same thing in every panel: on an auto-scaled map a −0.31 can look as dramatic as a −0.99 because the palette rescales to whatever numbers are shown. Fixing the limits makes maps comparable across figures and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experiment and produce report-ready, machine-verified evidence.. Tools: Python 3.13.14 · numpy 2.3.5 · pandas 2.2.3 · matplotlib 3.10.9 (Agg) · seaborn 0.13.2 · Debian 13 — versions pinned in out/toolchain.txt. Full approach, observations, model viva answers: course book Experiment 12 (7 sections). Re-run: python3 collect.py — the panel bytes come from out/eda12_project.txt.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12 (book §12.6):</a:t>
            </a:r>
          </a:p>
          <a:p/>
          <a:p>
            <a:r>
              <a:t>Q1: The report's first rule: every finding sentence names its mask or its table. Point at F3 in the capture and show what it looks like without one.</a:t>
            </a:r>
          </a:p>
          <a:p>
            <a:r>
              <a:t>   A: F3 is '23 strong performers … below the median' — countable from two conditions visible in the same block. Without the mask it degenerates to 'several high performers are underpaid': unfalsifiable, ungradeable, and the exact sentence a viva question exists to attack.</a:t>
            </a:r>
          </a:p>
          <a:p>
            <a:r>
              <a:t>Q2: Why print the cleaning step when it changed nothing?</a:t>
            </a:r>
          </a:p>
          <a:p>
            <a:r>
              <a:t>   A: Because a pipeline is a contract: the day a file arrives with holes the step must already exist in the run and be cited — and printing the no-op documents the input's quality, itself a finding about the data source.</a:t>
            </a:r>
          </a:p>
          <a:p>
            <a:r>
              <a:t>Q3: The finding says pay is department-shaped, not performance-shaped. Which numbers do the arguing?</a:t>
            </a:r>
          </a:p>
          <a:p>
            <a:r>
              <a:t>   A: r(salary, score) = +0.0404 — no pay-for-performance gradient — against the department spread 20,707.22 while performance across those same departments runs inside 68.04–75.71: money varies by group, merit does not. The variance is structural.</a:t>
            </a:r>
          </a:p>
          <a:p>
            <a:r>
              <a:t>Q4: What goes in the Jupyter report's final section that this capture cannot contain, and why does the rubric still pay for it?</a:t>
            </a:r>
          </a:p>
          <a:p>
            <a:r>
              <a:t>   A: Recommendations with caveats and owners: the capture proves F1–F3, but 'audit Marketing' must say against what (role mix, market bands, tenure) and with what limitation (one snapshot, self-scored performance). Documentation and Presentation grades the honesty of the last mile — the part a stranger can act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457200"/>
          </a:xfrm>
          <a:prstGeom prst="rect">
            <a:avLst/>
          </a:prstGeom>
          <a:noFill/>
        </p:spPr>
        <p:txBody>
          <a:bodyPr wrap="square" anchor="t" lIns="0" rIns="0" tIns="0" bIns="0">
            <a:spAutoFit/>
          </a:bodyPr>
          <a:lstStyle/>
          <a:p>
            <a:pPr algn="ctr">
              <a:spcBef>
                <a:spcPts val="0"/>
              </a:spcBef>
              <a:spcAft>
                <a:spcPts val="0"/>
              </a:spcAft>
            </a:pPr>
            <a:r>
              <a:rPr sz="1500" b="1" i="0">
                <a:solidFill>
                  <a:srgbClr val="B3261E"/>
                </a:solidFill>
                <a:latin typeface="Calibri"/>
              </a:rPr>
              <a:t>AEC LABORATORY COURSE · SEMESTER III · 18 PROGRAMS EXECUTED ON PYTHON 3.13.14</a:t>
            </a:r>
          </a:p>
        </p:txBody>
      </p:sp>
      <p:sp>
        <p:nvSpPr>
          <p:cNvPr id="4" name="Rectangle 3"/>
          <p:cNvSpPr/>
          <p:nvPr/>
        </p:nvSpPr>
        <p:spPr>
          <a:xfrm>
            <a:off x="914400" y="1152144"/>
            <a:ext cx="10362895" cy="25603"/>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10545775" cy="1965960"/>
          </a:xfrm>
          <a:prstGeom prst="rect">
            <a:avLst/>
          </a:prstGeom>
          <a:noFill/>
        </p:spPr>
        <p:txBody>
          <a:bodyPr wrap="square" anchor="t" lIns="0" rIns="0" tIns="0" bIns="0">
            <a:spAutoFit/>
          </a:bodyPr>
          <a:lstStyle/>
          <a:p>
            <a:pPr algn="ctr">
              <a:spcBef>
                <a:spcPts val="0"/>
              </a:spcBef>
              <a:spcAft>
                <a:spcPts val="200"/>
              </a:spcAft>
            </a:pPr>
            <a:r>
              <a:rPr sz="4200" b="1" i="0">
                <a:solidFill>
                  <a:srgbClr val="0F172A"/>
                </a:solidFill>
                <a:latin typeface="Calibri"/>
              </a:rPr>
              <a:t>EXPLORATORY DATA</a:t>
            </a:r>
          </a:p>
          <a:p>
            <a:pPr algn="ctr">
              <a:spcBef>
                <a:spcPts val="0"/>
              </a:spcBef>
              <a:spcAft>
                <a:spcPts val="200"/>
              </a:spcAft>
            </a:pPr>
            <a:r>
              <a:rPr sz="4200" b="1" i="0">
                <a:solidFill>
                  <a:srgbClr val="0F172A"/>
                </a:solidFill>
                <a:latin typeface="Calibri"/>
              </a:rPr>
              <a:t>ANALYSIS</a:t>
            </a:r>
          </a:p>
        </p:txBody>
      </p:sp>
      <p:sp>
        <p:nvSpPr>
          <p:cNvPr id="6" name="TextBox 5"/>
          <p:cNvSpPr txBox="1"/>
          <p:nvPr/>
        </p:nvSpPr>
        <p:spPr>
          <a:xfrm>
            <a:off x="1280160" y="3310128"/>
            <a:ext cx="9631375" cy="731520"/>
          </a:xfrm>
          <a:prstGeom prst="rect">
            <a:avLst/>
          </a:prstGeom>
          <a:noFill/>
        </p:spPr>
        <p:txBody>
          <a:bodyPr wrap="square" anchor="t" lIns="0" rIns="0" tIns="0" bIns="0">
            <a:spAutoFit/>
          </a:bodyPr>
          <a:lstStyle/>
          <a:p>
            <a:pPr algn="ctr">
              <a:spcBef>
                <a:spcPts val="0"/>
              </a:spcBef>
              <a:spcAft>
                <a:spcPts val="0"/>
              </a:spcAft>
            </a:pPr>
            <a:r>
              <a:rPr sz="1600" b="0" i="0">
                <a:solidFill>
                  <a:srgbClr val="4B5563"/>
                </a:solidFill>
                <a:latin typeface="Calibri"/>
              </a:rPr>
              <a:t>Classroom presentation · 3 toolkit chapters · the 12 prescribed experiments · every output captured byte-for-byte from real runs, twice, zero stderr</a:t>
            </a:r>
          </a:p>
        </p:txBody>
      </p:sp>
      <p:sp>
        <p:nvSpPr>
          <p:cNvPr id="7" name="Rectangle 6"/>
          <p:cNvSpPr/>
          <p:nvPr/>
        </p:nvSpPr>
        <p:spPr>
          <a:xfrm>
            <a:off x="4449927" y="4041648"/>
            <a:ext cx="3291840" cy="713232"/>
          </a:xfrm>
          <a:prstGeom prst="rect">
            <a:avLst/>
          </a:prstGeom>
          <a:noFill/>
          <a:ln w="95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9927" y="4123944"/>
            <a:ext cx="3291840" cy="603504"/>
          </a:xfrm>
          <a:prstGeom prst="rect">
            <a:avLst/>
          </a:prstGeom>
          <a:noFill/>
        </p:spPr>
        <p:txBody>
          <a:bodyPr wrap="square" anchor="t" lIns="0" rIns="0" tIns="0" bIns="0">
            <a:spAutoFit/>
          </a:bodyPr>
          <a:lstStyle/>
          <a:p>
            <a:pPr algn="ctr">
              <a:spcBef>
                <a:spcPts val="0"/>
              </a:spcBef>
              <a:spcAft>
                <a:spcPts val="100"/>
              </a:spcAft>
            </a:pPr>
            <a:r>
              <a:rPr sz="1050" b="1" i="0">
                <a:solidFill>
                  <a:srgbClr val="4B5563"/>
                </a:solidFill>
                <a:latin typeface="Calibri"/>
              </a:rPr>
              <a:t>COURSE CODE</a:t>
            </a:r>
          </a:p>
          <a:p>
            <a:pPr algn="ctr">
              <a:spcBef>
                <a:spcPts val="0"/>
              </a:spcBef>
              <a:spcAft>
                <a:spcPts val="0"/>
              </a:spcAft>
            </a:pPr>
            <a:r>
              <a:rPr sz="2100" b="1" i="0">
                <a:solidFill>
                  <a:srgbClr val="0F172A"/>
                </a:solidFill>
                <a:latin typeface="Calibri"/>
              </a:rPr>
              <a:t>1BAIL307A</a:t>
            </a:r>
          </a:p>
        </p:txBody>
      </p:sp>
      <p:sp>
        <p:nvSpPr>
          <p:cNvPr id="9" name="TextBox 8"/>
          <p:cNvSpPr txBox="1"/>
          <p:nvPr/>
        </p:nvSpPr>
        <p:spPr>
          <a:xfrm>
            <a:off x="960120" y="4956048"/>
            <a:ext cx="10271455" cy="365760"/>
          </a:xfrm>
          <a:prstGeom prst="rect">
            <a:avLst/>
          </a:prstGeom>
          <a:noFill/>
        </p:spPr>
        <p:txBody>
          <a:bodyPr wrap="square" anchor="t" lIns="0" rIns="0" tIns="0" bIns="0">
            <a:spAutoFit/>
          </a:bodyPr>
          <a:lstStyle/>
          <a:p>
            <a:pPr algn="ctr">
              <a:spcBef>
                <a:spcPts val="0"/>
              </a:spcBef>
              <a:spcAft>
                <a:spcPts val="0"/>
              </a:spcAft>
            </a:pPr>
            <a:r>
              <a:rPr sz="1300" b="0" i="0">
                <a:solidFill>
                  <a:srgbClr val="16181D"/>
                </a:solidFill>
                <a:latin typeface="Calibri"/>
              </a:rPr>
              <a:t>1 credit · 0 : 0 : 2 · CIE 50 (reports 30 + test 20) · SEE 50 Practical · 3 h · Total 100</a:t>
            </a:r>
          </a:p>
        </p:txBody>
      </p:sp>
      <p:sp>
        <p:nvSpPr>
          <p:cNvPr id="10" name="TextBox 9"/>
          <p:cNvSpPr txBox="1"/>
          <p:nvPr/>
        </p:nvSpPr>
        <p:spPr>
          <a:xfrm>
            <a:off x="914400" y="5303520"/>
            <a:ext cx="10362895" cy="1097280"/>
          </a:xfrm>
          <a:prstGeom prst="rect">
            <a:avLst/>
          </a:prstGeom>
          <a:noFill/>
        </p:spPr>
        <p:txBody>
          <a:bodyPr wrap="square" anchor="t" lIns="0" rIns="0" tIns="0" bIns="0">
            <a:spAutoFit/>
          </a:bodyPr>
          <a:lstStyle/>
          <a:p>
            <a:pPr algn="ctr">
              <a:spcBef>
                <a:spcPts val="0"/>
              </a:spcBef>
              <a:spcAft>
                <a:spcPts val="0"/>
              </a:spcAft>
            </a:pPr>
            <a:r>
              <a:rPr sz="1150" b="0" i="1">
                <a:solidFill>
                  <a:srgbClr val="4B5563"/>
                </a:solidFill>
                <a:latin typeface="Calibri"/>
              </a:rPr>
              <a:t>by</a:t>
            </a:r>
          </a:p>
          <a:p>
            <a:pPr algn="ctr">
              <a:spcBef>
                <a:spcPts val="0"/>
              </a:spcBef>
              <a:spcAft>
                <a:spcPts val="0"/>
              </a:spcAft>
            </a:pPr>
            <a:r>
              <a:rPr sz="2100" b="1" i="0">
                <a:solidFill>
                  <a:srgbClr val="0F172A"/>
                </a:solidFill>
                <a:latin typeface="Calibri"/>
              </a:rPr>
              <a:t>Dr. Lokesh M R</a:t>
            </a:r>
          </a:p>
          <a:p>
            <a:pPr algn="ctr">
              <a:spcBef>
                <a:spcPts val="0"/>
              </a:spcBef>
              <a:spcAft>
                <a:spcPts val="0"/>
              </a:spcAft>
            </a:pPr>
            <a:r>
              <a:rPr sz="1150" b="0" i="0">
                <a:solidFill>
                  <a:srgbClr val="4B5563"/>
                </a:solidFill>
                <a:latin typeface="Calibri"/>
              </a:rPr>
              <a:t>Professor · Dept. of Information Science &amp; Engineering</a:t>
            </a:r>
          </a:p>
          <a:p>
            <a:pPr algn="ctr">
              <a:spcBef>
                <a:spcPts val="0"/>
              </a:spcBef>
              <a:spcAft>
                <a:spcPts val="0"/>
              </a:spcAft>
            </a:pPr>
            <a:r>
              <a:rPr sz="1150" b="0" i="0">
                <a:solidFill>
                  <a:srgbClr val="4B5563"/>
                </a:solidFill>
                <a:latin typeface="Calibri"/>
              </a:rPr>
              <a:t>A J Institute of Engineering and Technology (AJIET), Mangaluru</a:t>
            </a:r>
          </a:p>
        </p:txBody>
      </p:sp>
      <p:sp>
        <p:nvSpPr>
          <p:cNvPr id="11" name="TextBox 10"/>
          <p:cNvSpPr txBox="1"/>
          <p:nvPr/>
        </p:nvSpPr>
        <p:spPr>
          <a:xfrm>
            <a:off x="914400" y="6419088"/>
            <a:ext cx="10362895" cy="365760"/>
          </a:xfrm>
          <a:prstGeom prst="rect">
            <a:avLst/>
          </a:prstGeom>
          <a:noFill/>
        </p:spPr>
        <p:txBody>
          <a:bodyPr wrap="square" anchor="t" lIns="0" rIns="0" tIns="0" bIns="0">
            <a:spAutoFit/>
          </a:bodyPr>
          <a:lstStyle/>
          <a:p>
            <a:pPr algn="ctr">
              <a:spcBef>
                <a:spcPts val="0"/>
              </a:spcBef>
              <a:spcAft>
                <a:spcPts val="0"/>
              </a:spcAft>
            </a:pPr>
            <a:r>
              <a:rPr sz="1000" b="0" i="0">
                <a:solidFill>
                  <a:srgbClr val="4B5563"/>
                </a:solidFill>
                <a:latin typeface="Calibri"/>
              </a:rPr>
              <a:t>Visvesvaraya Technological University (VTU) · 2025 Scheme · slides derived from the course notes book (same captures, same checks)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COURSE INFORMATION</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The Course at a Glance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a:t>
            </a:r>
          </a:p>
        </p:txBody>
      </p:sp>
      <p:sp>
        <p:nvSpPr>
          <p:cNvPr id="8" name="TextBox 7"/>
          <p:cNvSpPr txBox="1"/>
          <p:nvPr/>
        </p:nvSpPr>
        <p:spPr>
          <a:xfrm>
            <a:off x="502920" y="1554480"/>
            <a:ext cx="5989320" cy="486460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A course with one spine — the </a:t>
            </a:r>
            <a:r>
              <a:rPr sz="1450" b="1" i="0">
                <a:solidFill>
                  <a:srgbClr val="16181D"/>
                </a:solidFill>
                <a:latin typeface="Calibri"/>
              </a:rPr>
              <a:t>dataset</a:t>
            </a:r>
            <a:r>
              <a:rPr sz="1450" b="0" i="0">
                <a:solidFill>
                  <a:srgbClr val="16181D"/>
                </a:solidFill>
                <a:latin typeface="Calibri"/>
              </a:rPr>
              <a:t>: Toolkit lays the instruments (notebook as an auditable file, NumPy + Pandas as the stack, figures as artifacts); Experiments 1–5 load, describe, audit and clean; 6–8 ask and measure; 9–11 draw; 12 files it all as a report. CO6 discipline runs through every caption.</a:t>
            </a:r>
          </a:p>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Teaching: </a:t>
            </a:r>
            <a:r>
              <a:rPr sz="1350" b="0" i="0">
                <a:solidFill>
                  <a:srgbClr val="16181D"/>
                </a:solidFill>
                <a:latin typeface="Consolas"/>
              </a:rPr>
              <a:t>0 : 0 : 2</a:t>
            </a:r>
            <a:r>
              <a:rPr sz="1450" b="0" i="0">
                <a:solidFill>
                  <a:srgbClr val="16181D"/>
                </a:solidFill>
                <a:latin typeface="Calibri"/>
              </a:rPr>
              <a:t> hours/week → 28 laboratory hours · 2 h self-learning · 30 h term-work ledger (0:0:28:2:30).</a:t>
            </a:r>
          </a:p>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Toolchain of record: </a:t>
            </a:r>
            <a:r>
              <a:rPr sz="1450" b="1" i="0">
                <a:solidFill>
                  <a:srgbClr val="16181D"/>
                </a:solidFill>
                <a:latin typeface="Calibri"/>
              </a:rPr>
              <a:t>Python 3.13.14 on Debian 13</a:t>
            </a:r>
            <a:r>
              <a:rPr sz="1450" b="0" i="0">
                <a:solidFill>
                  <a:srgbClr val="16181D"/>
                </a:solidFill>
                <a:latin typeface="Calibri"/>
              </a:rPr>
              <a:t> — numpy 2.3.5 · pandas 2.2.3 · matplotlib 3.10.9 (Agg) · seaborn 0.13.2, pinned in </a:t>
            </a:r>
            <a:r>
              <a:rPr sz="1200" b="0" i="0">
                <a:solidFill>
                  <a:srgbClr val="16181D"/>
                </a:solidFill>
                <a:latin typeface="Consolas"/>
              </a:rPr>
              <a:t>out/toolchain.txt</a:t>
            </a:r>
            <a:r>
              <a:rPr sz="1450" b="0" i="0">
                <a:solidFill>
                  <a:srgbClr val="16181D"/>
                </a:solidFill>
                <a:latin typeface="Calibri"/>
              </a:rPr>
              <a:t>.</a:t>
            </a:r>
          </a:p>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Every output on these slides is the byte-exact capture: </a:t>
            </a:r>
            <a:r>
              <a:rPr sz="1450" b="0" i="0">
                <a:solidFill>
                  <a:srgbClr val="16181D"/>
                </a:solidFill>
                <a:latin typeface="Calibri"/>
              </a:rPr>
              <a:t>the collector runs each program twice and refuses on any byte difference — pids, timestamps and dict order never reached a page.</a:t>
            </a:r>
          </a:p>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Quantified where it counts: </a:t>
            </a:r>
            <a:r>
              <a:rPr sz="1450" b="0" i="0">
                <a:solidFill>
                  <a:srgbClr val="16181D"/>
                </a:solidFill>
                <a:latin typeface="Calibri"/>
              </a:rPr>
              <a:t>412-row frame with 12 duplicate rows and 67 missing cells; +37.52% sales growth; pooled r = −0.3171 against +0.99 within product lines — all computed by the programs, none typed from a manual.</a:t>
            </a:r>
          </a:p>
        </p:txBody>
      </p:sp>
      <p:sp>
        <p:nvSpPr>
          <p:cNvPr id="9" name="Rectangle 8"/>
          <p:cNvSpPr/>
          <p:nvPr/>
        </p:nvSpPr>
        <p:spPr>
          <a:xfrm>
            <a:off x="6720840" y="1554480"/>
            <a:ext cx="4983480" cy="315468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20840" y="1554480"/>
            <a:ext cx="54864" cy="315468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2007" y="1645920"/>
            <a:ext cx="4599432" cy="297180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COURSE OUTCOMES (VERBATIM)</a:t>
            </a:r>
          </a:p>
          <a:p>
            <a:pPr>
              <a:lnSpc>
                <a:spcPct val="108000"/>
              </a:lnSpc>
              <a:spcBef>
                <a:spcPts val="0"/>
              </a:spcBef>
              <a:spcAft>
                <a:spcPts val="0"/>
              </a:spcAft>
            </a:pPr>
            <a:r>
              <a:rPr sz="950" b="0" i="0">
                <a:solidFill>
                  <a:srgbClr val="16181D"/>
                </a:solidFill>
                <a:latin typeface="Calibri"/>
              </a:rPr>
              <a:t>CO1: Compare real-world datasets having different dataset structures and characteristics using Jupyter Notebook, NumPy, and Pandas.  CO2: Apply descriptive statistical techniques to summarize, analyze, and interpret data for exploratory analysis.  CO3: Make use of appropriate preprocessing techniques to handle data quality issues such as missing values, duplicate records, and inconsistencies.  CO4: Perform data filtering, sorting, grouping, and aggregation operations to extract meaningful information from datasets.  CO5: Interpret visualisations using Matplotlib and Seaborn to identify trends, patterns, and relationships in data.  CO6: Communicate insights through reports and visual presentations of end-to-end Exploratory Data Analysis (EDA).</a:t>
            </a:r>
          </a:p>
        </p:txBody>
      </p:sp>
      <p:sp>
        <p:nvSpPr>
          <p:cNvPr id="12" name="Rectangle 11"/>
          <p:cNvSpPr/>
          <p:nvPr/>
        </p:nvSpPr>
        <p:spPr>
          <a:xfrm>
            <a:off x="6720840" y="4800600"/>
            <a:ext cx="4983480" cy="150876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85431" y="4882896"/>
            <a:ext cx="4654296" cy="134416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HOW TO USE THESE SLIDES</a:t>
            </a:r>
          </a:p>
          <a:p>
            <a:pPr>
              <a:lnSpc>
                <a:spcPct val="105000"/>
              </a:lnSpc>
              <a:spcBef>
                <a:spcPts val="0"/>
              </a:spcBef>
              <a:spcAft>
                <a:spcPts val="320"/>
              </a:spcAft>
            </a:pPr>
            <a:r>
              <a:rPr sz="1250" b="1" i="0">
                <a:solidFill>
                  <a:srgbClr val="16181D"/>
                </a:solidFill>
                <a:latin typeface="Calibri"/>
              </a:rPr>
              <a:t>Every panel is a file read: </a:t>
            </a:r>
            <a:r>
              <a:rPr sz="1150" b="0" i="0">
                <a:solidFill>
                  <a:srgbClr val="16181D"/>
                </a:solidFill>
                <a:latin typeface="Consolas"/>
              </a:rPr>
              <a:t>src/&lt;stem&gt;.py</a:t>
            </a:r>
            <a:r>
              <a:rPr sz="1250" b="0" i="0">
                <a:solidFill>
                  <a:srgbClr val="16181D"/>
                </a:solidFill>
                <a:latin typeface="Calibri"/>
              </a:rPr>
              <a:t> code, </a:t>
            </a:r>
            <a:r>
              <a:rPr sz="1150" b="0" i="0">
                <a:solidFill>
                  <a:srgbClr val="16181D"/>
                </a:solidFill>
                <a:latin typeface="Consolas"/>
              </a:rPr>
              <a:t>out/&lt;stem&gt;.txt</a:t>
            </a:r>
            <a:r>
              <a:rPr sz="1250" b="0" i="0">
                <a:solidFill>
                  <a:srgbClr val="16181D"/>
                </a:solidFill>
                <a:latin typeface="Calibri"/>
              </a:rPr>
              <a:t> captured sessions — identical to the book's.</a:t>
            </a:r>
          </a:p>
          <a:p>
            <a:pPr>
              <a:lnSpc>
                <a:spcPct val="105000"/>
              </a:lnSpc>
              <a:spcBef>
                <a:spcPts val="0"/>
              </a:spcBef>
              <a:spcAft>
                <a:spcPts val="320"/>
              </a:spcAft>
            </a:pPr>
            <a:r>
              <a:rPr sz="1250" b="0" i="0">
                <a:solidFill>
                  <a:srgbClr val="16181D"/>
                </a:solidFill>
                <a:latin typeface="Calibri"/>
              </a:rPr>
              <a:t>Numbers quoted on slides were verified against the captures at build time (self-check pass).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COURSE INFORMATION</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Assessment &amp; the Experiment Report — Where Marks Live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a:t>
            </a:r>
          </a:p>
        </p:txBody>
      </p:sp>
      <p:sp>
        <p:nvSpPr>
          <p:cNvPr id="8" name="TextBox 7"/>
          <p:cNvSpPr txBox="1"/>
          <p:nvPr/>
        </p:nvSpPr>
        <p:spPr>
          <a:xfrm>
            <a:off x="502920" y="1572768"/>
            <a:ext cx="5760720" cy="4663440"/>
          </a:xfrm>
          <a:prstGeom prst="rect">
            <a:avLst/>
          </a:prstGeom>
          <a:noFill/>
        </p:spPr>
        <p:txBody>
          <a:bodyPr wrap="square" anchor="t" lIns="0" rIns="0" tIns="0" bIns="0">
            <a:spAutoFit/>
          </a:bodyPr>
          <a:lstStyle/>
          <a:p>
            <a:pPr>
              <a:spcBef>
                <a:spcPts val="0"/>
              </a:spcBef>
              <a:spcAft>
                <a:spcPts val="700"/>
              </a:spcAft>
            </a:pPr>
            <a:r>
              <a:rPr sz="1700" b="1" i="0">
                <a:solidFill>
                  <a:srgbClr val="0F172A"/>
                </a:solidFill>
                <a:latin typeface="Calibri"/>
              </a:rPr>
              <a:t>CIE — 50 marks</a:t>
            </a:r>
          </a:p>
          <a:p>
            <a:pPr>
              <a:spcBef>
                <a:spcPts val="0"/>
              </a:spcBef>
              <a:spcAft>
                <a:spcPts val="600"/>
              </a:spcAft>
            </a:pPr>
            <a:r>
              <a:rPr sz="1450" b="1" i="0">
                <a:solidFill>
                  <a:srgbClr val="16181D"/>
                </a:solidFill>
                <a:latin typeface="Calibri"/>
              </a:rPr>
              <a:t>Experiment reports — 30   </a:t>
            </a:r>
            <a:r>
              <a:rPr sz="1350" b="0" i="0">
                <a:solidFill>
                  <a:srgbClr val="16181D"/>
                </a:solidFill>
                <a:latin typeface="Calibri"/>
              </a:rPr>
              <a:t>each of the 12 reports evaluated for 30 marks on the six-row CIE rubric; the set scaled down to 30.</a:t>
            </a:r>
          </a:p>
          <a:p>
            <a:pPr>
              <a:spcBef>
                <a:spcPts val="0"/>
              </a:spcBef>
              <a:spcAft>
                <a:spcPts val="600"/>
              </a:spcAft>
            </a:pPr>
            <a:r>
              <a:rPr sz="1450" b="1" i="0">
                <a:solidFill>
                  <a:srgbClr val="16181D"/>
                </a:solidFill>
                <a:latin typeface="Calibri"/>
              </a:rPr>
              <a:t>Laboratory test — 20   </a:t>
            </a:r>
            <a:r>
              <a:rPr sz="1350" b="0" i="0">
                <a:solidFill>
                  <a:srgbClr val="16181D"/>
                </a:solidFill>
                <a:latin typeface="Calibri"/>
              </a:rPr>
              <a:t>03 h after the last experiment, conducted for 50 marks on the SEE/CIE-Test rubric (weights 2·1·2·2·1·2), scaled down to 20.</a:t>
            </a:r>
          </a:p>
          <a:p>
            <a:pPr>
              <a:spcBef>
                <a:spcPts val="0"/>
              </a:spcBef>
              <a:spcAft>
                <a:spcPts val="600"/>
              </a:spcAft>
            </a:pPr>
            <a:r>
              <a:rPr sz="1450" b="1" i="0">
                <a:solidFill>
                  <a:srgbClr val="16181D"/>
                </a:solidFill>
                <a:latin typeface="Calibri"/>
              </a:rPr>
              <a:t>Final average   </a:t>
            </a:r>
            <a:r>
              <a:rPr sz="1350" b="0" i="0">
                <a:solidFill>
                  <a:srgbClr val="16181D"/>
                </a:solidFill>
                <a:latin typeface="Calibri"/>
              </a:rPr>
              <a:t>of report and test is out of 50 marks — the assessment clause, verbatim.</a:t>
            </a:r>
          </a:p>
          <a:p>
            <a:pPr>
              <a:spcBef>
                <a:spcPts val="700"/>
              </a:spcBef>
              <a:spcAft>
                <a:spcPts val="500"/>
              </a:spcAft>
            </a:pPr>
            <a:r>
              <a:rPr sz="1700" b="1" i="0">
                <a:solidFill>
                  <a:srgbClr val="0F172A"/>
                </a:solidFill>
                <a:latin typeface="Calibri"/>
              </a:rPr>
              <a:t>SEE — 50 marks</a:t>
            </a:r>
          </a:p>
          <a:p>
            <a:pPr>
              <a:spcBef>
                <a:spcPts val="0"/>
              </a:spcBef>
              <a:spcAft>
                <a:spcPts val="700"/>
              </a:spcAft>
            </a:pPr>
            <a:r>
              <a:rPr sz="1450" b="0" i="0">
                <a:solidFill>
                  <a:srgbClr val="16181D"/>
                </a:solidFill>
                <a:latin typeface="Calibri"/>
              </a:rPr>
              <a:t>Practical examination, 03 hours: write and run the analysis, defend the numbers.</a:t>
            </a:r>
          </a:p>
          <a:p>
            <a:pPr>
              <a:spcBef>
                <a:spcPts val="0"/>
              </a:spcBef>
              <a:spcAft>
                <a:spcPts val="500"/>
              </a:spcAft>
            </a:pPr>
            <a:r>
              <a:rPr sz="1350" b="1" i="0">
                <a:solidFill>
                  <a:srgbClr val="16181D"/>
                </a:solidFill>
                <a:latin typeface="Calibri"/>
              </a:rPr>
              <a:t>Why the record must carry captures: </a:t>
            </a:r>
            <a:r>
              <a:rPr sz="1250" b="0" i="0">
                <a:solidFill>
                  <a:srgbClr val="16181D"/>
                </a:solidFill>
                <a:latin typeface="Calibri"/>
              </a:rPr>
              <a:t>the rubric's top rows pay only for results that match the run and claims that name their statistic; typed-out output cannot score above the first row.</a:t>
            </a:r>
          </a:p>
        </p:txBody>
      </p:sp>
      <p:sp>
        <p:nvSpPr>
          <p:cNvPr id="9" name="Rectangle 8"/>
          <p:cNvSpPr/>
          <p:nvPr/>
        </p:nvSpPr>
        <p:spPr>
          <a:xfrm>
            <a:off x="6492240" y="1572768"/>
            <a:ext cx="5212080" cy="269748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1572768"/>
            <a:ext cx="54864" cy="269748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93407" y="1664208"/>
            <a:ext cx="4828032" cy="251460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ASSESSMENT CLAUSE (VERBATIM)</a:t>
            </a:r>
          </a:p>
          <a:p>
            <a:pPr>
              <a:lnSpc>
                <a:spcPct val="108000"/>
              </a:lnSpc>
              <a:spcBef>
                <a:spcPts val="0"/>
              </a:spcBef>
              <a:spcAft>
                <a:spcPts val="0"/>
              </a:spcAft>
            </a:pPr>
            <a:r>
              <a:rPr sz="1050" b="0" i="0">
                <a:solidFill>
                  <a:srgbClr val="16181D"/>
                </a:solidFill>
                <a:latin typeface="Calibri"/>
              </a:rPr>
              <a:t>Set of 12 experiments: Exploratory Data Analysis with Jupyter Notebook, NumPy, Pandas, Matplotlib and Seaborn — SEE: Practical, 3 hours. — Report (12 experiments, each evaluated for 30) scaled down to 30  +  Laboratory test (50) scaled down to 20  =  50</a:t>
            </a:r>
          </a:p>
        </p:txBody>
      </p:sp>
      <p:sp>
        <p:nvSpPr>
          <p:cNvPr id="12" name="Rectangle 11"/>
          <p:cNvSpPr/>
          <p:nvPr/>
        </p:nvSpPr>
        <p:spPr>
          <a:xfrm>
            <a:off x="6492240" y="4434840"/>
            <a:ext cx="5212080" cy="182880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6831" y="4517136"/>
            <a:ext cx="4882896" cy="166420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GATES (SYLLABUS PAGE, VERBATIM FIGURES)</a:t>
            </a:r>
          </a:p>
          <a:p>
            <a:pPr>
              <a:lnSpc>
                <a:spcPct val="105000"/>
              </a:lnSpc>
              <a:spcBef>
                <a:spcPts val="0"/>
              </a:spcBef>
              <a:spcAft>
                <a:spcPts val="320"/>
              </a:spcAft>
            </a:pPr>
            <a:r>
              <a:rPr sz="1200" b="0" i="0">
                <a:solidFill>
                  <a:srgbClr val="16181D"/>
                </a:solidFill>
                <a:latin typeface="Calibri"/>
              </a:rPr>
              <a:t>CIE ≥ 40% of 50 = 20 to be eligible for the SEE · SEE pass floor 35% of 50 = 18 · CIE + SEE combined ≥ 40 of 100, else grade F.</a:t>
            </a:r>
          </a:p>
          <a:p>
            <a:pPr>
              <a:lnSpc>
                <a:spcPct val="105000"/>
              </a:lnSpc>
              <a:spcBef>
                <a:spcPts val="0"/>
              </a:spcBef>
              <a:spcAft>
                <a:spcPts val="320"/>
              </a:spcAft>
            </a:pPr>
            <a:r>
              <a:rPr sz="1150" b="0" i="0">
                <a:solidFill>
                  <a:srgbClr val="16181D"/>
                </a:solidFill>
                <a:latin typeface="Calibri"/>
              </a:rPr>
              <a:t>Ledger: L:T:P:SL:TW = 0:0:28:2:30 · TW: the 12 experiment reports and the micro-project notebook (30 marks).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400"/>
              </a:spcAft>
            </a:pPr>
            <a:r>
              <a:rPr sz="1300" b="1" i="0">
                <a:solidFill>
                  <a:srgbClr val="4B5563"/>
                </a:solidFill>
                <a:latin typeface="Calibri"/>
              </a:rPr>
              <a:t>P A R T</a:t>
            </a:r>
          </a:p>
        </p:txBody>
      </p:sp>
      <p:sp>
        <p:nvSpPr>
          <p:cNvPr id="3" name="TextBox 2"/>
          <p:cNvSpPr txBox="1"/>
          <p:nvPr/>
        </p:nvSpPr>
        <p:spPr>
          <a:xfrm>
            <a:off x="914400" y="658368"/>
            <a:ext cx="10362895" cy="2286000"/>
          </a:xfrm>
          <a:prstGeom prst="rect">
            <a:avLst/>
          </a:prstGeom>
          <a:noFill/>
        </p:spPr>
        <p:txBody>
          <a:bodyPr wrap="square" anchor="t" lIns="0" rIns="0" tIns="0" bIns="0">
            <a:spAutoFit/>
          </a:bodyPr>
          <a:lstStyle/>
          <a:p>
            <a:pPr algn="ctr">
              <a:spcBef>
                <a:spcPts val="0"/>
              </a:spcBef>
              <a:spcAft>
                <a:spcPts val="400"/>
              </a:spcAft>
            </a:pPr>
            <a:r>
              <a:rPr sz="13200" b="1" i="0">
                <a:solidFill>
                  <a:srgbClr val="B3261E"/>
                </a:solidFill>
                <a:latin typeface="Calibri"/>
              </a:rPr>
              <a:t>A</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400"/>
              </a:spcAft>
            </a:pPr>
            <a:r>
              <a:rPr sz="3000" b="1" i="0">
                <a:solidFill>
                  <a:srgbClr val="0F172A"/>
                </a:solidFill>
                <a:latin typeface="Calibri"/>
              </a:rPr>
              <a:t>Toolkit — Chapters 1 to 3</a:t>
            </a:r>
          </a:p>
        </p:txBody>
      </p:sp>
      <p:sp>
        <p:nvSpPr>
          <p:cNvPr id="6" name="TextBox 5"/>
          <p:cNvSpPr txBox="1"/>
          <p:nvPr/>
        </p:nvSpPr>
        <p:spPr>
          <a:xfrm>
            <a:off x="1737360" y="4114800"/>
            <a:ext cx="8716975" cy="960120"/>
          </a:xfrm>
          <a:prstGeom prst="rect">
            <a:avLst/>
          </a:prstGeom>
          <a:noFill/>
        </p:spPr>
        <p:txBody>
          <a:bodyPr wrap="square" anchor="t" lIns="0" rIns="0" tIns="0" bIns="0">
            <a:spAutoFit/>
          </a:bodyPr>
          <a:lstStyle/>
          <a:p>
            <a:pPr algn="ctr">
              <a:spcBef>
                <a:spcPts val="0"/>
              </a:spcBef>
              <a:spcAft>
                <a:spcPts val="400"/>
              </a:spcAft>
            </a:pPr>
            <a:r>
              <a:rPr sz="1400" b="0" i="0">
                <a:solidFill>
                  <a:srgbClr val="4B5563"/>
                </a:solidFill>
                <a:latin typeface="Calibri"/>
              </a:rPr>
              <a:t>The instruments the syllabus assumes and the rubric examines — notebook auditability, the NumPy/Pandas stack, and figures as citable artifacts. Each chapter: role verbatim, two rule slides on real output, a captured demo, checkpoints.</a:t>
            </a:r>
          </a:p>
        </p:txBody>
      </p:sp>
      <p:sp>
        <p:nvSpPr>
          <p:cNvPr id="7" name="Rectangle 6"/>
          <p:cNvSpPr/>
          <p:nvPr/>
        </p:nvSpPr>
        <p:spPr>
          <a:xfrm>
            <a:off x="1706727" y="5074920"/>
            <a:ext cx="8778240" cy="1235582"/>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44471" y="5193792"/>
            <a:ext cx="8449056" cy="1016126"/>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IN THIS PART</a:t>
            </a:r>
          </a:p>
          <a:p>
            <a:pPr>
              <a:spcBef>
                <a:spcPts val="0"/>
              </a:spcBef>
              <a:spcAft>
                <a:spcPts val="160"/>
              </a:spcAft>
            </a:pPr>
            <a:r>
              <a:rPr sz="1250" b="1" i="0">
                <a:solidFill>
                  <a:srgbClr val="B3261E"/>
                </a:solidFill>
                <a:latin typeface="Calibri"/>
              </a:rPr>
              <a:t>•  </a:t>
            </a:r>
            <a:r>
              <a:rPr sz="1250" b="0" i="0">
                <a:solidFill>
                  <a:srgbClr val="16181D"/>
                </a:solidFill>
                <a:latin typeface="Calibri"/>
              </a:rPr>
              <a:t>Toolkit 1 — Jupyter, notebooks and data provenance</a:t>
            </a:r>
          </a:p>
          <a:p>
            <a:pPr>
              <a:spcBef>
                <a:spcPts val="0"/>
              </a:spcBef>
              <a:spcAft>
                <a:spcPts val="160"/>
              </a:spcAft>
            </a:pPr>
            <a:r>
              <a:rPr sz="1250" b="1" i="0">
                <a:solidFill>
                  <a:srgbClr val="B3261E"/>
                </a:solidFill>
                <a:latin typeface="Calibri"/>
              </a:rPr>
              <a:t>•  </a:t>
            </a:r>
            <a:r>
              <a:rPr sz="1250" b="0" i="0">
                <a:solidFill>
                  <a:srgbClr val="16181D"/>
                </a:solidFill>
                <a:latin typeface="Calibri"/>
              </a:rPr>
              <a:t>Toolkit 2 — The NumPy layer and the Pandas layer</a:t>
            </a:r>
          </a:p>
        </p:txBody>
      </p:sp>
      <p:sp>
        <p:nvSpPr>
          <p:cNvPr id="9" name="TextBox 8"/>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400"/>
              </a:spcAft>
            </a:pPr>
            <a:r>
              <a:rPr sz="1000" b="1" i="0">
                <a:solidFill>
                  <a:srgbClr val="4B5563"/>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TOOLKIT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Toolkit 1 — Jupyter, notebooks and data provenance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a:t>
            </a:r>
          </a:p>
        </p:txBody>
      </p:sp>
      <p:sp>
        <p:nvSpPr>
          <p:cNvPr id="8" name="TextBox 7"/>
          <p:cNvSpPr txBox="1"/>
          <p:nvPr/>
        </p:nvSpPr>
        <p:spPr>
          <a:xfrm>
            <a:off x="502920" y="1463040"/>
            <a:ext cx="11155680" cy="530352"/>
          </a:xfrm>
          <a:prstGeom prst="rect">
            <a:avLst/>
          </a:prstGeom>
          <a:noFill/>
        </p:spPr>
        <p:txBody>
          <a:bodyPr wrap="square" anchor="t" lIns="0" rIns="0" tIns="0" bIns="0">
            <a:spAutoFit/>
          </a:bodyPr>
          <a:lstStyle/>
          <a:p>
            <a:pPr>
              <a:lnSpc>
                <a:spcPct val="106000"/>
              </a:lnSpc>
              <a:spcBef>
                <a:spcPts val="0"/>
              </a:spcBef>
              <a:spcAft>
                <a:spcPts val="0"/>
              </a:spcAft>
            </a:pPr>
            <a:r>
              <a:rPr sz="1400" b="1" i="0">
                <a:solidFill>
                  <a:srgbClr val="B3261E"/>
                </a:solidFill>
                <a:latin typeface="Calibri"/>
              </a:rPr>
              <a:t>CO1</a:t>
            </a:r>
            <a:r>
              <a:rPr sz="1250" b="0" i="0">
                <a:solidFill>
                  <a:srgbClr val="4B5563"/>
                </a:solidFill>
                <a:latin typeface="Calibri"/>
              </a:rPr>
              <a:t>    ·    demos: f01_jupyter, make_datasets.py</a:t>
            </a:r>
            <a:r>
              <a:rPr sz="1200" b="0" i="0">
                <a:solidFill>
                  <a:srgbClr val="4B5563"/>
                </a:solidFill>
                <a:latin typeface="Calibri"/>
              </a:rPr>
              <a:t>    ·    VanderPlas Ch. 1 (IPython and Jupyter) · Appendix D here</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What the notebook is, what versions are, and where the data comes from — the three provenance habits every experiment in this book applies and every rubric row implicitly grades.</a:t>
            </a:r>
          </a:p>
          <a:p>
            <a:pPr marL="201168" indent="-201168">
              <a:lnSpc>
                <a:spcPct val="104000"/>
              </a:lnSpc>
              <a:spcBef>
                <a:spcPts val="0"/>
              </a:spcBef>
              <a:spcAft>
                <a:spcPts val="900"/>
              </a:spcAft>
            </a:pPr>
            <a:r>
              <a:rPr sz="1350" b="1" i="0">
                <a:solidFill>
                  <a:srgbClr val="B3261E"/>
                </a:solidFill>
                <a:latin typeface="Calibri"/>
              </a:rPr>
              <a:t>•  </a:t>
            </a:r>
            <a:r>
              <a:rPr sz="1350" b="1" i="0">
                <a:solidFill>
                  <a:srgbClr val="16181D"/>
                </a:solidFill>
                <a:latin typeface="Calibri"/>
              </a:rPr>
              <a:t>Demo — </a:t>
            </a:r>
            <a:r>
              <a:rPr sz="1350" b="0" i="0">
                <a:solidFill>
                  <a:srgbClr val="16181D"/>
                </a:solidFill>
                <a:latin typeface="Calibri"/>
              </a:rPr>
              <a:t>The notebook that is also a script</a:t>
            </a:r>
            <a:r>
              <a:rPr sz="1350" b="0" i="0">
                <a:solidFill>
                  <a:srgbClr val="16181D"/>
                </a:solidFill>
                <a:latin typeface="Calibri"/>
              </a:rPr>
              <a:t/>
            </a:r>
          </a:p>
          <a:p>
            <a:pPr marL="201168" indent="-201168">
              <a:lnSpc>
                <a:spcPct val="104000"/>
              </a:lnSpc>
              <a:spcBef>
                <a:spcPts val="0"/>
              </a:spcBef>
              <a:spcAft>
                <a:spcPts val="900"/>
              </a:spcAft>
            </a:pPr>
            <a:r>
              <a:rPr sz="1350" b="1" i="0">
                <a:solidFill>
                  <a:srgbClr val="B3261E"/>
                </a:solidFill>
                <a:latin typeface="Calibri"/>
              </a:rPr>
              <a:t>•  </a:t>
            </a:r>
            <a:r>
              <a:rPr sz="1350" b="1" i="0">
                <a:solidFill>
                  <a:srgbClr val="16181D"/>
                </a:solidFill>
                <a:latin typeface="Calibri"/>
              </a:rPr>
              <a:t>Demo — </a:t>
            </a:r>
            <a:r>
              <a:rPr sz="1350" b="0" i="0">
                <a:solidFill>
                  <a:srgbClr val="16181D"/>
                </a:solidFill>
                <a:latin typeface="Calibri"/>
              </a:rPr>
              <a:t>Datasets as code, with fingerprints</a:t>
            </a:r>
            <a:r>
              <a:rPr sz="1350" b="0" i="0">
                <a:solidFill>
                  <a:srgbClr val="16181D"/>
                </a:solidFill>
                <a:latin typeface="Calibri"/>
              </a:rPr>
              <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TOOLKIT 1 ROLE (VERBATIM)</a:t>
            </a:r>
          </a:p>
          <a:p>
            <a:pPr>
              <a:lnSpc>
                <a:spcPct val="108000"/>
              </a:lnSpc>
              <a:spcBef>
                <a:spcPts val="0"/>
              </a:spcBef>
              <a:spcAft>
                <a:spcPts val="0"/>
              </a:spcAft>
            </a:pPr>
            <a:r>
              <a:rPr sz="1100" b="0" i="0">
                <a:solidFill>
                  <a:srgbClr val="16181D"/>
                </a:solidFill>
                <a:latin typeface="Calibri"/>
              </a:rPr>
              <a:t>Supports the first experiment's load-and-explore task and the report habit the rubric's Dataset Understanding row pays for: know the file, know the tool, know the bytes you are describing.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TOOLKIT 1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The notebook is an auditable file — percent format is the proof</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One file, two lives: </a:t>
            </a:r>
            <a:r>
              <a:rPr sz="1250" b="0" i="0">
                <a:solidFill>
                  <a:srgbClr val="B3261E"/>
                </a:solidFill>
                <a:latin typeface="Consolas"/>
              </a:rPr>
              <a:t>cell markers (# %%) found: 5</a:t>
            </a:r>
            <a:r>
              <a:rPr sz="1400" b="0" i="0">
                <a:solidFill>
                  <a:srgbClr val="16181D"/>
                </a:solidFill>
                <a:latin typeface="Calibri"/>
              </a:rPr>
              <a:t> — the same bytes run top-to-bottom as a script and open as a notebook; every transcript in this course was produced exactly that way.</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Cell 0 prints its own environment: </a:t>
            </a:r>
            <a:r>
              <a:rPr sz="1250" b="0" i="0">
                <a:solidFill>
                  <a:srgbClr val="B3261E"/>
                </a:solidFill>
                <a:latin typeface="Consolas"/>
              </a:rPr>
              <a:t>pandas   : 2.2.3</a:t>
            </a:r>
            <a:r>
              <a:rPr sz="1400" b="0" i="0">
                <a:solidFill>
                  <a:srgbClr val="16181D"/>
                </a:solidFill>
                <a:latin typeface="Calibri"/>
              </a:rPr>
              <a:t> beside Python 3.13.14 — versions live inside the artifact, not in a footnote.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One cell, one dataframe, one claim: </a:t>
            </a:r>
            <a:r>
              <a:rPr sz="1250" b="0" i="0">
                <a:solidFill>
                  <a:srgbClr val="B3261E"/>
                </a:solidFill>
                <a:latin typeface="Consolas"/>
              </a:rPr>
              <a:t>corr(x, y) = 0.9244</a:t>
            </a:r>
            <a:r>
              <a:rPr sz="1400" b="0" i="0">
                <a:solidFill>
                  <a:srgbClr val="16181D"/>
                </a:solidFill>
                <a:latin typeface="Calibri"/>
              </a:rPr>
              <a:t> — the printed line is the citation.</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two conversions every submission needs: </a:t>
            </a:r>
            <a:r>
              <a:rPr sz="1150" b="0" i="0">
                <a:solidFill>
                  <a:srgbClr val="B3261E"/>
                </a:solidFill>
                <a:latin typeface="Consolas"/>
              </a:rPr>
              <a:t>jupyter nbconvert --to script</a:t>
            </a:r>
            <a:r>
              <a:rPr sz="1400" b="0" i="0">
                <a:solidFill>
                  <a:srgbClr val="16181D"/>
                </a:solidFill>
                <a:latin typeface="Calibri"/>
              </a:rPr>
              <a:t> and </a:t>
            </a:r>
            <a:r>
              <a:rPr sz="1150" b="0" i="0">
                <a:solidFill>
                  <a:srgbClr val="B3261E"/>
                </a:solidFill>
                <a:latin typeface="Consolas"/>
              </a:rPr>
              <a:t>--to pdf</a:t>
            </a:r>
            <a:r>
              <a:rPr sz="1400" b="0" i="0">
                <a:solidFill>
                  <a:srgbClr val="16181D"/>
                </a:solidFill>
                <a:latin typeface="Calibri"/>
              </a:rPr>
              <a:t> — a reviewer without a kernel can still run your report.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Rule for the exam: if a reviewer can execute your notebook as a script, they can check every number you claimed.</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src/f01_jupyter.py</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680" b="0" i="0">
                <a:solidFill>
                  <a:srgbClr val="E5E7EB"/>
                </a:solidFill>
                <a:latin typeface="Consolas"/>
              </a:rPr>
              <a:t>#!/usr/bin/env python3</a:t>
            </a:r>
          </a:p>
          <a:p>
            <a:pPr>
              <a:lnSpc>
                <a:spcPct val="100000"/>
              </a:lnSpc>
              <a:spcBef>
                <a:spcPts val="0"/>
              </a:spcBef>
              <a:spcAft>
                <a:spcPts val="60"/>
              </a:spcAft>
            </a:pPr>
            <a:r>
              <a:rPr sz="680" b="0" i="0">
                <a:solidFill>
                  <a:srgbClr val="E5E7EB"/>
                </a:solidFill>
                <a:latin typeface="Consolas"/>
              </a:rPr>
              <a:t>"""F-01  The one file, two lives: a script that is already a notebook.</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Jupyter notebooks in "percent format" are plain .py files whose cell boundaries are</a:t>
            </a:r>
          </a:p>
          <a:p>
            <a:pPr>
              <a:lnSpc>
                <a:spcPct val="100000"/>
              </a:lnSpc>
              <a:spcBef>
                <a:spcPts val="0"/>
              </a:spcBef>
              <a:spcAft>
                <a:spcPts val="60"/>
              </a:spcAft>
            </a:pPr>
            <a:r>
              <a:rPr sz="680" b="0" i="0">
                <a:solidFill>
                  <a:srgbClr val="E5E7EB"/>
                </a:solidFill>
                <a:latin typeface="Consolas"/>
              </a:rPr>
              <a:t>'# %%' lines. This program is such a file: python3 runs it top to bottom, jupyter</a:t>
            </a:r>
          </a:p>
          <a:p>
            <a:pPr>
              <a:lnSpc>
                <a:spcPct val="100000"/>
              </a:lnSpc>
              <a:spcBef>
                <a:spcPts val="0"/>
              </a:spcBef>
              <a:spcAft>
                <a:spcPts val="60"/>
              </a:spcAft>
            </a:pPr>
            <a:r>
              <a:rPr sz="680" b="0" i="0">
                <a:solidFill>
                  <a:srgbClr val="E5E7EB"/>
                </a:solidFill>
                <a:latin typeface="Consolas"/>
              </a:rPr>
              <a:t>could run it cell by cell. The capture below proves both readings from the same bytes.</a:t>
            </a:r>
          </a:p>
          <a:p>
            <a:pPr>
              <a:lnSpc>
                <a:spcPct val="100000"/>
              </a:lnSpc>
              <a:spcBef>
                <a:spcPts val="0"/>
              </a:spcBef>
              <a:spcAft>
                <a:spcPts val="60"/>
              </a:spcAft>
            </a:pPr>
            <a:r>
              <a:rPr sz="680" b="0" i="0">
                <a:solidFill>
                  <a:srgbClr val="E5E7EB"/>
                </a:solidFill>
                <a:latin typeface="Consolas"/>
              </a:rPr>
              <a:t>"""</a:t>
            </a:r>
          </a:p>
          <a:p>
            <a:pPr>
              <a:lnSpc>
                <a:spcPct val="100000"/>
              </a:lnSpc>
              <a:spcBef>
                <a:spcPts val="0"/>
              </a:spcBef>
              <a:spcAft>
                <a:spcPts val="60"/>
              </a:spcAft>
            </a:pPr>
            <a:r>
              <a:rPr sz="680" b="0" i="0">
                <a:solidFill>
                  <a:srgbClr val="E5E7EB"/>
                </a:solidFill>
                <a:latin typeface="Consolas"/>
              </a:rPr>
              <a:t># %% imports — cell 1</a:t>
            </a:r>
          </a:p>
          <a:p>
            <a:pPr>
              <a:lnSpc>
                <a:spcPct val="100000"/>
              </a:lnSpc>
              <a:spcBef>
                <a:spcPts val="0"/>
              </a:spcBef>
              <a:spcAft>
                <a:spcPts val="60"/>
              </a:spcAft>
            </a:pPr>
            <a:r>
              <a:rPr sz="680" b="0" i="0">
                <a:solidFill>
                  <a:srgbClr val="E5E7EB"/>
                </a:solidFill>
                <a:latin typeface="Consolas"/>
              </a:rPr>
              <a:t>import sys</a:t>
            </a:r>
          </a:p>
          <a:p>
            <a:pPr>
              <a:lnSpc>
                <a:spcPct val="100000"/>
              </a:lnSpc>
              <a:spcBef>
                <a:spcPts val="0"/>
              </a:spcBef>
              <a:spcAft>
                <a:spcPts val="60"/>
              </a:spcAft>
            </a:pPr>
            <a:r>
              <a:rPr sz="680" b="0" i="0">
                <a:solidFill>
                  <a:srgbClr val="E5E7EB"/>
                </a:solidFill>
                <a:latin typeface="Consolas"/>
              </a:rPr>
              <a:t>from pathlib import Path</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import numpy as np</a:t>
            </a:r>
          </a:p>
          <a:p>
            <a:pPr>
              <a:lnSpc>
                <a:spcPct val="100000"/>
              </a:lnSpc>
              <a:spcBef>
                <a:spcPts val="0"/>
              </a:spcBef>
              <a:spcAft>
                <a:spcPts val="60"/>
              </a:spcAft>
            </a:pPr>
            <a:r>
              <a:rPr sz="680" b="0" i="0">
                <a:solidFill>
                  <a:srgbClr val="E5E7EB"/>
                </a:solidFill>
                <a:latin typeface="Consolas"/>
              </a:rPr>
              <a:t>import pandas as pd</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HERE = Path(__file__).resolve()</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print("== F-01  Jupyter percent format: the same bytes as script and notebook ==")</a:t>
            </a:r>
          </a:p>
          <a:p>
            <a:pPr>
              <a:lnSpc>
                <a:spcPct val="100000"/>
              </a:lnSpc>
              <a:spcBef>
                <a:spcPts val="0"/>
              </a:spcBef>
              <a:spcAft>
                <a:spcPts val="60"/>
              </a:spcAft>
            </a:pPr>
            <a:r>
              <a:rPr sz="680" b="0" i="0">
                <a:solidFill>
                  <a:srgbClr val="E5E7EB"/>
                </a:solidFill>
                <a:latin typeface="Consolas"/>
              </a:rPr>
              <a:t>print()</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 %% what this file really is — cell 2</a:t>
            </a:r>
          </a:p>
          <a:p>
            <a:pPr>
              <a:lnSpc>
                <a:spcPct val="100000"/>
              </a:lnSpc>
              <a:spcBef>
                <a:spcPts val="0"/>
              </a:spcBef>
              <a:spcAft>
                <a:spcPts val="60"/>
              </a:spcAft>
            </a:pPr>
            <a:r>
              <a:rPr sz="680" b="0" i="0">
                <a:solidFill>
                  <a:srgbClr val="E5E7EB"/>
                </a:solidFill>
                <a:latin typeface="Consolas"/>
              </a:rPr>
              <a:t>src_lines = HERE.read_text().splitlines()</a:t>
            </a:r>
          </a:p>
          <a:p>
            <a:pPr>
              <a:lnSpc>
                <a:spcPct val="100000"/>
              </a:lnSpc>
              <a:spcBef>
                <a:spcPts val="0"/>
              </a:spcBef>
              <a:spcAft>
                <a:spcPts val="60"/>
              </a:spcAft>
            </a:pPr>
            <a:r>
              <a:rPr sz="680" b="0" i="0">
                <a:solidFill>
                  <a:srgbClr val="E5E7EB"/>
                </a:solidFill>
                <a:latin typeface="Consolas"/>
              </a:rPr>
              <a:t>cell_marks = [i + 1 for i, ln in enumerate(src_lines) if ln.strip().startswith("# %%")]</a:t>
            </a:r>
          </a:p>
          <a:p>
            <a:pPr>
              <a:lnSpc>
                <a:spcPct val="100000"/>
              </a:lnSpc>
              <a:spcBef>
                <a:spcPts val="0"/>
              </a:spcBef>
              <a:spcAft>
                <a:spcPts val="60"/>
              </a:spcAft>
            </a:pPr>
            <a:r>
              <a:rPr sz="680" b="0" i="0">
                <a:solidFill>
                  <a:srgbClr val="E5E7EB"/>
                </a:solidFill>
                <a:latin typeface="Consolas"/>
              </a:rPr>
              <a:t>print(f"file                     : {HERE.name}")</a:t>
            </a:r>
          </a:p>
          <a:p>
            <a:pPr>
              <a:lnSpc>
                <a:spcPct val="100000"/>
              </a:lnSpc>
              <a:spcBef>
                <a:spcPts val="0"/>
              </a:spcBef>
              <a:spcAft>
                <a:spcPts val="60"/>
              </a:spcAft>
            </a:pPr>
            <a:r>
              <a:rPr sz="680" b="0" i="0">
                <a:solidFill>
                  <a:srgbClr val="E5E7EB"/>
                </a:solidFill>
                <a:latin typeface="Consolas"/>
              </a:rPr>
              <a:t>print(f"lines in file            : {len(src_lines)}")</a:t>
            </a:r>
          </a:p>
          <a:p>
            <a:pPr>
              <a:lnSpc>
                <a:spcPct val="100000"/>
              </a:lnSpc>
              <a:spcBef>
                <a:spcPts val="0"/>
              </a:spcBef>
              <a:spcAft>
                <a:spcPts val="60"/>
              </a:spcAft>
            </a:pPr>
            <a:r>
              <a:rPr sz="680" b="0" i="0">
                <a:solidFill>
                  <a:srgbClr val="E5E7EB"/>
                </a:solidFill>
                <a:latin typeface="Consolas"/>
              </a:rPr>
              <a:t>print(f"cell markers (# %%) found: {len(cell_marks)}  at lines {cell_marks}")</a:t>
            </a:r>
          </a:p>
          <a:p>
            <a:pPr>
              <a:lnSpc>
                <a:spcPct val="100000"/>
              </a:lnSpc>
              <a:spcBef>
                <a:spcPts val="0"/>
              </a:spcBef>
              <a:spcAft>
                <a:spcPts val="60"/>
              </a:spcAft>
            </a:pPr>
            <a:r>
              <a:rPr sz="680" b="0" i="0">
                <a:solidFill>
                  <a:srgbClr val="E5E7EB"/>
                </a:solidFill>
                <a:latin typeface="Consolas"/>
              </a:rPr>
              <a:t>print()</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 %% the versions a notebook kernel would report — cell 3</a:t>
            </a:r>
          </a:p>
          <a:p>
            <a:pPr>
              <a:lnSpc>
                <a:spcPct val="100000"/>
              </a:lnSpc>
              <a:spcBef>
                <a:spcPts val="0"/>
              </a:spcBef>
              <a:spcAft>
                <a:spcPts val="60"/>
              </a:spcAft>
            </a:pPr>
            <a:r>
              <a:rPr sz="680" b="0" i="0">
                <a:solidFill>
                  <a:srgbClr val="E5E7EB"/>
                </a:solidFill>
                <a:latin typeface="Consolas"/>
              </a:rPr>
              <a:t>print("kernel facts (what a notebook prints in cell 0):")</a:t>
            </a:r>
          </a:p>
          <a:p>
            <a:pPr>
              <a:lnSpc>
                <a:spcPct val="100000"/>
              </a:lnSpc>
              <a:spcBef>
                <a:spcPts val="0"/>
              </a:spcBef>
              <a:spcAft>
                <a:spcPts val="60"/>
              </a:spcAft>
            </a:pPr>
            <a:r>
              <a:rPr sz="680" b="0" i="0">
                <a:solidFill>
                  <a:srgbClr val="E5E7EB"/>
                </a:solidFill>
                <a:latin typeface="Consolas"/>
              </a:rPr>
              <a:t>  …  (complete source: the course book)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TOOLKIT 1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Datasets as code: generated, seeded, hashed — before analysis starts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Three CSVs, one program: </a:t>
            </a:r>
            <a:r>
              <a:rPr sz="1250" b="0" i="0">
                <a:solidFill>
                  <a:srgbClr val="B3261E"/>
                </a:solidFill>
                <a:latin typeface="Consolas"/>
              </a:rPr>
              <a:t>rows= 412 cols=11</a:t>
            </a:r>
            <a:r>
              <a:rPr sz="1400" b="0" i="0">
                <a:solidFill>
                  <a:srgbClr val="16181D"/>
                </a:solidFill>
                <a:latin typeface="Calibri"/>
              </a:rPr>
              <a:t> student table, </a:t>
            </a:r>
            <a:r>
              <a:rPr sz="1250" b="0" i="0">
                <a:solidFill>
                  <a:srgbClr val="B3261E"/>
                </a:solidFill>
                <a:latin typeface="Consolas"/>
              </a:rPr>
              <a:t>rows= 432 cols= 7</a:t>
            </a:r>
            <a:r>
              <a:rPr sz="1400" b="0" i="0">
                <a:solidFill>
                  <a:srgbClr val="16181D"/>
                </a:solidFill>
                <a:latin typeface="Calibri"/>
              </a:rPr>
              <a:t> sales history, </a:t>
            </a:r>
            <a:r>
              <a:rPr sz="1250" b="0" i="0">
                <a:solidFill>
                  <a:srgbClr val="B3261E"/>
                </a:solidFill>
                <a:latin typeface="Consolas"/>
              </a:rPr>
              <a:t>rows= 260 cols= 7</a:t>
            </a:r>
            <a:r>
              <a:rPr sz="1400" b="0" i="0">
                <a:solidFill>
                  <a:srgbClr val="16181D"/>
                </a:solidFill>
                <a:latin typeface="Calibri"/>
              </a:rPr>
              <a:t> — the files the twelve experiments read.</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Fingerprinted at birth: </a:t>
            </a:r>
            <a:r>
              <a:rPr sz="1250" b="0" i="0">
                <a:solidFill>
                  <a:srgbClr val="B3261E"/>
                </a:solidFill>
                <a:latin typeface="Consolas"/>
              </a:rPr>
              <a:t>sha256 recorded -- PASS</a:t>
            </a:r>
            <a:r>
              <a:rPr sz="1400" b="0" i="0">
                <a:solidFill>
                  <a:srgbClr val="16181D"/>
                </a:solidFill>
                <a:latin typeface="Calibri"/>
              </a:rPr>
              <a:t> — the student file's stamp is quoted in the book's Appendix A; your copy must match or the data changed.</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Defects are designed in, on record: </a:t>
            </a:r>
            <a:r>
              <a:rPr sz="1100" b="0" i="0">
                <a:solidFill>
                  <a:srgbClr val="B3261E"/>
                </a:solidFill>
                <a:latin typeface="Consolas"/>
              </a:rPr>
              <a:t>carries 12 exact duplicate rows and fixed NaN patterns</a:t>
            </a:r>
            <a:r>
              <a:rPr sz="1400" b="0" i="0">
                <a:solidFill>
                  <a:srgbClr val="16181D"/>
                </a:solidFill>
                <a:latin typeface="Calibri"/>
              </a:rPr>
              <a:t> — experiments 3, 4, 5 inherit a named inventory, not a surprise.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Teaching dependencies are explicit, not lucky: prep-course enrolment is tied to study hours in the generator, so experiment 9's stratification exists on every machine.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Exam frame to keep: provenance is one printed line — file, rows, stamp.</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src/make_datasets.py</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"""Deterministic dataset generation for the EDA course book.</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Real Kaggle/UCI files cannot be pinned byte-for-byte across years; this course needs</a:t>
            </a:r>
          </a:p>
          <a:p>
            <a:pPr>
              <a:lnSpc>
                <a:spcPct val="100000"/>
              </a:lnSpc>
              <a:spcBef>
                <a:spcPts val="0"/>
              </a:spcBef>
              <a:spcAft>
                <a:spcPts val="60"/>
              </a:spcAft>
            </a:pPr>
            <a:r>
              <a:rPr sz="700" b="0" i="0">
                <a:solidFill>
                  <a:srgbClr val="E5E7EB"/>
                </a:solidFill>
                <a:latin typeface="Consolas"/>
              </a:rPr>
              <a:t>every capture to be reproducible to the byte. So the book ships the DATA as code:</a:t>
            </a:r>
          </a:p>
          <a:p>
            <a:pPr>
              <a:lnSpc>
                <a:spcPct val="100000"/>
              </a:lnSpc>
              <a:spcBef>
                <a:spcPts val="0"/>
              </a:spcBef>
              <a:spcAft>
                <a:spcPts val="60"/>
              </a:spcAft>
            </a:pPr>
            <a:r>
              <a:rPr sz="700" b="0" i="0">
                <a:solidFill>
                  <a:srgbClr val="E5E7EB"/>
                </a:solidFill>
                <a:latin typeface="Consolas"/>
              </a:rPr>
              <a:t>seed-fixed generators that write the three CSVs below, shaped after the classic</a:t>
            </a:r>
          </a:p>
          <a:p>
            <a:pPr>
              <a:lnSpc>
                <a:spcPct val="100000"/>
              </a:lnSpc>
              <a:spcBef>
                <a:spcPts val="0"/>
              </a:spcBef>
              <a:spcAft>
                <a:spcPts val="60"/>
              </a:spcAft>
            </a:pPr>
            <a:r>
              <a:rPr sz="700" b="0" i="0">
                <a:solidFill>
                  <a:srgbClr val="E5E7EB"/>
                </a:solidFill>
                <a:latin typeface="Consolas"/>
              </a:rPr>
              <a:t>Student Performance / Sales / Employee datasets named in the syllabus (same columns,</a:t>
            </a:r>
          </a:p>
          <a:p>
            <a:pPr>
              <a:lnSpc>
                <a:spcPct val="100000"/>
              </a:lnSpc>
              <a:spcBef>
                <a:spcPts val="0"/>
              </a:spcBef>
              <a:spcAft>
                <a:spcPts val="60"/>
              </a:spcAft>
            </a:pPr>
            <a:r>
              <a:rPr sz="700" b="0" i="0">
                <a:solidFill>
                  <a:srgbClr val="E5E7EB"/>
                </a:solidFill>
                <a:latin typeface="Consolas"/>
              </a:rPr>
              <a:t>same quirks: missing values, injected duplicate rows, mild seasonality).</a:t>
            </a:r>
          </a:p>
          <a:p>
            <a:pPr>
              <a:lnSpc>
                <a:spcPct val="100000"/>
              </a:lnSpc>
              <a:spcBef>
                <a:spcPts val="0"/>
              </a:spcBef>
              <a:spcAft>
                <a:spcPts val="60"/>
              </a:spcAft>
            </a:pPr>
            <a:r>
              <a:rPr sz="700" b="0" i="0">
                <a:solidFill>
                  <a:srgbClr val="E5E7EB"/>
                </a:solidFill>
                <a:latin typeface="Consolas"/>
              </a:rPr>
              <a:t>Run from the repo root; writes data/*.csv and prints sha256 evidence.</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hashlib</a:t>
            </a:r>
          </a:p>
          <a:p>
            <a:pPr>
              <a:lnSpc>
                <a:spcPct val="100000"/>
              </a:lnSpc>
              <a:spcBef>
                <a:spcPts val="0"/>
              </a:spcBef>
              <a:spcAft>
                <a:spcPts val="60"/>
              </a:spcAft>
            </a:pPr>
            <a:r>
              <a:rPr sz="700" b="0" i="0">
                <a:solidFill>
                  <a:srgbClr val="E5E7EB"/>
                </a:solidFill>
                <a:latin typeface="Consolas"/>
              </a:rPr>
              <a:t>import os</a:t>
            </a:r>
          </a:p>
          <a:p>
            <a:pPr>
              <a:lnSpc>
                <a:spcPct val="100000"/>
              </a:lnSpc>
              <a:spcBef>
                <a:spcPts val="0"/>
              </a:spcBef>
              <a:spcAft>
                <a:spcPts val="60"/>
              </a:spcAft>
            </a:pPr>
            <a:r>
              <a:rPr sz="700" b="0" i="0">
                <a:solidFill>
                  <a:srgbClr val="E5E7EB"/>
                </a:solidFill>
                <a:latin typeface="Consolas"/>
              </a:rPr>
              <a:t>from pathlib import Path</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numpy as np</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ROOT = Path(__file__).resolve().parent.parent</a:t>
            </a:r>
          </a:p>
          <a:p>
            <a:pPr>
              <a:lnSpc>
                <a:spcPct val="100000"/>
              </a:lnSpc>
              <a:spcBef>
                <a:spcPts val="0"/>
              </a:spcBef>
              <a:spcAft>
                <a:spcPts val="60"/>
              </a:spcAft>
            </a:pPr>
            <a:r>
              <a:rPr sz="700" b="0" i="0">
                <a:solidFill>
                  <a:srgbClr val="E5E7EB"/>
                </a:solidFill>
                <a:latin typeface="Consolas"/>
              </a:rPr>
              <a:t>DATA = ROOT / "data"</a:t>
            </a:r>
          </a:p>
          <a:p>
            <a:pPr>
              <a:lnSpc>
                <a:spcPct val="100000"/>
              </a:lnSpc>
              <a:spcBef>
                <a:spcPts val="0"/>
              </a:spcBef>
              <a:spcAft>
                <a:spcPts val="60"/>
              </a:spcAft>
            </a:pPr>
            <a:r>
              <a:rPr sz="700" b="0" i="0">
                <a:solidFill>
                  <a:srgbClr val="E5E7EB"/>
                </a:solidFill>
                <a:latin typeface="Consolas"/>
              </a:rPr>
              <a:t>DATA.mkdir(exist_ok=True)</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rng = np.random.default_rng(2025)</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def sha256(path):</a:t>
            </a:r>
          </a:p>
          <a:p>
            <a:pPr>
              <a:lnSpc>
                <a:spcPct val="100000"/>
              </a:lnSpc>
              <a:spcBef>
                <a:spcPts val="0"/>
              </a:spcBef>
              <a:spcAft>
                <a:spcPts val="60"/>
              </a:spcAft>
            </a:pPr>
            <a:r>
              <a:rPr sz="700" b="0" i="0">
                <a:solidFill>
                  <a:srgbClr val="E5E7EB"/>
                </a:solidFill>
                <a:latin typeface="Consolas"/>
              </a:rPr>
              <a:t>    return hashlib.sha256(path.read_bytes()).hexdigest()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def student_performance():</a:t>
            </a:r>
          </a:p>
          <a:p>
            <a:pPr>
              <a:lnSpc>
                <a:spcPct val="100000"/>
              </a:lnSpc>
              <a:spcBef>
                <a:spcPts val="0"/>
              </a:spcBef>
              <a:spcAft>
                <a:spcPts val="60"/>
              </a:spcAft>
            </a:pPr>
            <a:r>
              <a:rPr sz="700" b="0" i="0">
                <a:solidFill>
                  <a:srgbClr val="E5E7EB"/>
                </a:solidFill>
                <a:latin typeface="Consolas"/>
              </a:rPr>
              <a:t>  …  (complete source: the course book)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TOOLKIT 1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f01_jupyter (executed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src/f01_jupyter.py</a:t>
            </a:r>
          </a:p>
        </p:txBody>
      </p:sp>
      <p:sp>
        <p:nvSpPr>
          <p:cNvPr id="11" name="TextBox 10"/>
          <p:cNvSpPr txBox="1"/>
          <p:nvPr/>
        </p:nvSpPr>
        <p:spPr>
          <a:xfrm>
            <a:off x="667512" y="1975104"/>
            <a:ext cx="5815584" cy="432511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"""F-01  The one file, two lives: a script that is already a notebook.</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Jupyter notebooks in "percent format" are plain .py files whose cell boundaries are</a:t>
            </a:r>
          </a:p>
          <a:p>
            <a:pPr>
              <a:lnSpc>
                <a:spcPct val="100000"/>
              </a:lnSpc>
              <a:spcBef>
                <a:spcPts val="0"/>
              </a:spcBef>
              <a:spcAft>
                <a:spcPts val="60"/>
              </a:spcAft>
            </a:pPr>
            <a:r>
              <a:rPr sz="700" b="0" i="0">
                <a:solidFill>
                  <a:srgbClr val="E5E7EB"/>
                </a:solidFill>
                <a:latin typeface="Consolas"/>
              </a:rPr>
              <a:t>'# %%' lines. This program is such a file: python3 runs it top to bottom, jupyter</a:t>
            </a:r>
          </a:p>
          <a:p>
            <a:pPr>
              <a:lnSpc>
                <a:spcPct val="100000"/>
              </a:lnSpc>
              <a:spcBef>
                <a:spcPts val="0"/>
              </a:spcBef>
              <a:spcAft>
                <a:spcPts val="60"/>
              </a:spcAft>
            </a:pPr>
            <a:r>
              <a:rPr sz="700" b="0" i="0">
                <a:solidFill>
                  <a:srgbClr val="E5E7EB"/>
                </a:solidFill>
                <a:latin typeface="Consolas"/>
              </a:rPr>
              <a:t>could run it cell by cell. The capture below proves both readings from the same bytes.</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 %% imports — cell 1</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from pathlib import Path</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numpy as np</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HERE = Path(__file__).resolve()</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F-01  Jupyter percent format: the same bytes as script and notebook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 what this file really is — cell 2</a:t>
            </a:r>
          </a:p>
          <a:p>
            <a:pPr>
              <a:lnSpc>
                <a:spcPct val="100000"/>
              </a:lnSpc>
              <a:spcBef>
                <a:spcPts val="0"/>
              </a:spcBef>
              <a:spcAft>
                <a:spcPts val="60"/>
              </a:spcAft>
            </a:pPr>
            <a:r>
              <a:rPr sz="700" b="0" i="0">
                <a:solidFill>
                  <a:srgbClr val="E5E7EB"/>
                </a:solidFill>
                <a:latin typeface="Consolas"/>
              </a:rPr>
              <a:t>src_lines = HERE.read_text().splitlines()</a:t>
            </a:r>
          </a:p>
          <a:p>
            <a:pPr>
              <a:lnSpc>
                <a:spcPct val="100000"/>
              </a:lnSpc>
              <a:spcBef>
                <a:spcPts val="0"/>
              </a:spcBef>
              <a:spcAft>
                <a:spcPts val="60"/>
              </a:spcAft>
            </a:pPr>
            <a:r>
              <a:rPr sz="700" b="0" i="0">
                <a:solidFill>
                  <a:srgbClr val="E5E7EB"/>
                </a:solidFill>
                <a:latin typeface="Consolas"/>
              </a:rPr>
              <a:t>cell_marks = [i + 1 for i, ln in enumerate(src_lines) if ln.strip().startswith("# %%")]</a:t>
            </a:r>
          </a:p>
          <a:p>
            <a:pPr>
              <a:lnSpc>
                <a:spcPct val="100000"/>
              </a:lnSpc>
              <a:spcBef>
                <a:spcPts val="0"/>
              </a:spcBef>
              <a:spcAft>
                <a:spcPts val="60"/>
              </a:spcAft>
            </a:pPr>
            <a:r>
              <a:rPr sz="700" b="0" i="0">
                <a:solidFill>
                  <a:srgbClr val="E5E7EB"/>
                </a:solidFill>
                <a:latin typeface="Consolas"/>
              </a:rPr>
              <a:t>print(f"file                     : {HERE.name}")</a:t>
            </a:r>
          </a:p>
          <a:p>
            <a:pPr>
              <a:lnSpc>
                <a:spcPct val="100000"/>
              </a:lnSpc>
              <a:spcBef>
                <a:spcPts val="0"/>
              </a:spcBef>
              <a:spcAft>
                <a:spcPts val="60"/>
              </a:spcAft>
            </a:pPr>
            <a:r>
              <a:rPr sz="700" b="0" i="0">
                <a:solidFill>
                  <a:srgbClr val="E5E7EB"/>
                </a:solidFill>
                <a:latin typeface="Consolas"/>
              </a:rPr>
              <a:t>print(f"lines in file            : {len(src_lines)}")</a:t>
            </a:r>
          </a:p>
          <a:p>
            <a:pPr>
              <a:lnSpc>
                <a:spcPct val="100000"/>
              </a:lnSpc>
              <a:spcBef>
                <a:spcPts val="0"/>
              </a:spcBef>
              <a:spcAft>
                <a:spcPts val="60"/>
              </a:spcAft>
            </a:pPr>
            <a:r>
              <a:rPr sz="700" b="0" i="0">
                <a:solidFill>
                  <a:srgbClr val="E5E7EB"/>
                </a:solidFill>
                <a:latin typeface="Consolas"/>
              </a:rPr>
              <a:t>print(f"cell markers (# %%) found: {len(cell_marks)}  at lines {cell_marks}")</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 the versions a notebook kernel would report — cell 3</a:t>
            </a:r>
          </a:p>
          <a:p>
            <a:pPr>
              <a:lnSpc>
                <a:spcPct val="100000"/>
              </a:lnSpc>
              <a:spcBef>
                <a:spcPts val="0"/>
              </a:spcBef>
              <a:spcAft>
                <a:spcPts val="60"/>
              </a:spcAft>
            </a:pPr>
            <a:r>
              <a:rPr sz="700" b="0" i="0">
                <a:solidFill>
                  <a:srgbClr val="E5E7EB"/>
                </a:solidFill>
                <a:latin typeface="Consolas"/>
              </a:rPr>
              <a:t>print("kernel facts (what a notebook prints in cell 0):")</a:t>
            </a:r>
          </a:p>
          <a:p>
            <a:pPr>
              <a:lnSpc>
                <a:spcPct val="100000"/>
              </a:lnSpc>
              <a:spcBef>
                <a:spcPts val="0"/>
              </a:spcBef>
              <a:spcAft>
                <a:spcPts val="60"/>
              </a:spcAft>
            </a:pPr>
            <a:r>
              <a:rPr sz="700" b="0" i="0">
                <a:solidFill>
                  <a:srgbClr val="E5E7EB"/>
                </a:solidFill>
                <a:latin typeface="Consolas"/>
              </a:rPr>
              <a:t>print(f"  python   : {sys.version.split()[0]}")</a:t>
            </a:r>
          </a:p>
          <a:p>
            <a:pPr>
              <a:lnSpc>
                <a:spcPct val="100000"/>
              </a:lnSpc>
              <a:spcBef>
                <a:spcPts val="0"/>
              </a:spcBef>
              <a:spcAft>
                <a:spcPts val="60"/>
              </a:spcAft>
            </a:pPr>
            <a:r>
              <a:rPr sz="700" b="0" i="0">
                <a:solidFill>
                  <a:srgbClr val="E5E7EB"/>
                </a:solidFill>
                <a:latin typeface="Consolas"/>
              </a:rPr>
              <a:t>print(f"  numpy    : {np.__version__}")</a:t>
            </a:r>
          </a:p>
          <a:p>
            <a:pPr>
              <a:lnSpc>
                <a:spcPct val="100000"/>
              </a:lnSpc>
              <a:spcBef>
                <a:spcPts val="0"/>
              </a:spcBef>
              <a:spcAft>
                <a:spcPts val="60"/>
              </a:spcAft>
            </a:pPr>
            <a:r>
              <a:rPr sz="700" b="0" i="0">
                <a:solidFill>
                  <a:srgbClr val="E5E7EB"/>
                </a:solidFill>
                <a:latin typeface="Consolas"/>
              </a:rPr>
              <a:t>print(f"  pandas   : {pd.__version__}")</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out/f01_jupyter.txt</a:t>
            </a:r>
          </a:p>
        </p:txBody>
      </p:sp>
      <p:sp>
        <p:nvSpPr>
          <p:cNvPr id="14" name="TextBox 13"/>
          <p:cNvSpPr txBox="1"/>
          <p:nvPr/>
        </p:nvSpPr>
        <p:spPr>
          <a:xfrm>
            <a:off x="7004304" y="1938528"/>
            <a:ext cx="4572000" cy="4343400"/>
          </a:xfrm>
          <a:prstGeom prst="rect">
            <a:avLst/>
          </a:prstGeom>
          <a:noFill/>
        </p:spPr>
        <p:txBody>
          <a:bodyPr wrap="square" anchor="t" lIns="0" rIns="0" tIns="0" bIns="0">
            <a:spAutoFit/>
          </a:bodyPr>
          <a:lstStyle/>
          <a:p>
            <a:pPr>
              <a:lnSpc>
                <a:spcPct val="100000"/>
              </a:lnSpc>
              <a:spcBef>
                <a:spcPts val="0"/>
              </a:spcBef>
              <a:spcAft>
                <a:spcPts val="60"/>
              </a:spcAft>
            </a:pPr>
            <a:r>
              <a:rPr sz="850" b="0" i="0">
                <a:solidFill>
                  <a:srgbClr val="14171C"/>
                </a:solidFill>
                <a:latin typeface="Consolas"/>
              </a:rPr>
              <a:t>$ python3 src/f01_jupyter.py</a:t>
            </a:r>
          </a:p>
          <a:p>
            <a:pPr>
              <a:lnSpc>
                <a:spcPct val="100000"/>
              </a:lnSpc>
              <a:spcBef>
                <a:spcPts val="0"/>
              </a:spcBef>
              <a:spcAft>
                <a:spcPts val="60"/>
              </a:spcAft>
            </a:pPr>
            <a:r>
              <a:rPr sz="850" b="0" i="0">
                <a:solidFill>
                  <a:srgbClr val="14171C"/>
                </a:solidFill>
                <a:latin typeface="Consolas"/>
              </a:rPr>
              <a:t>== F-01  Jupyter percent format: the same bytes as script and notebook ==</a:t>
            </a:r>
          </a:p>
          <a:p>
            <a:pPr>
              <a:lnSpc>
                <a:spcPct val="100000"/>
              </a:lnSpc>
              <a:spcBef>
                <a:spcPts val="0"/>
              </a:spcBef>
              <a:spcAft>
                <a:spcPts val="60"/>
              </a:spcAft>
            </a:pPr>
            <a:r>
              <a:rPr sz="850" b="0" i="0">
                <a:solidFill>
                  <a:srgbClr val="14171C"/>
                </a:solidFill>
                <a:latin typeface="Consolas"/>
              </a:rPr>
              <a:t> </a:t>
            </a:r>
          </a:p>
          <a:p>
            <a:pPr>
              <a:lnSpc>
                <a:spcPct val="100000"/>
              </a:lnSpc>
              <a:spcBef>
                <a:spcPts val="0"/>
              </a:spcBef>
              <a:spcAft>
                <a:spcPts val="60"/>
              </a:spcAft>
            </a:pPr>
            <a:r>
              <a:rPr sz="850" b="0" i="0">
                <a:solidFill>
                  <a:srgbClr val="14171C"/>
                </a:solidFill>
                <a:latin typeface="Consolas"/>
              </a:rPr>
              <a:t>file                     : f01_jupyter.py</a:t>
            </a:r>
          </a:p>
          <a:p>
            <a:pPr>
              <a:lnSpc>
                <a:spcPct val="100000"/>
              </a:lnSpc>
              <a:spcBef>
                <a:spcPts val="0"/>
              </a:spcBef>
              <a:spcAft>
                <a:spcPts val="60"/>
              </a:spcAft>
            </a:pPr>
            <a:r>
              <a:rPr sz="850" b="0" i="0">
                <a:solidFill>
                  <a:srgbClr val="14171C"/>
                </a:solidFill>
                <a:latin typeface="Consolas"/>
              </a:rPr>
              <a:t>lines in file            : 48</a:t>
            </a:r>
          </a:p>
          <a:p>
            <a:pPr>
              <a:lnSpc>
                <a:spcPct val="100000"/>
              </a:lnSpc>
              <a:spcBef>
                <a:spcPts val="0"/>
              </a:spcBef>
              <a:spcAft>
                <a:spcPts val="60"/>
              </a:spcAft>
            </a:pPr>
            <a:r>
              <a:rPr sz="850" b="0" i="0">
                <a:solidFill>
                  <a:srgbClr val="14171C"/>
                </a:solidFill>
                <a:latin typeface="Consolas"/>
              </a:rPr>
              <a:t>cell markers (# %%) found: 5  at lines [8, 20, 28, 35, 42]</a:t>
            </a:r>
          </a:p>
          <a:p>
            <a:pPr>
              <a:lnSpc>
                <a:spcPct val="100000"/>
              </a:lnSpc>
              <a:spcBef>
                <a:spcPts val="0"/>
              </a:spcBef>
              <a:spcAft>
                <a:spcPts val="60"/>
              </a:spcAft>
            </a:pPr>
            <a:r>
              <a:rPr sz="850" b="0" i="0">
                <a:solidFill>
                  <a:srgbClr val="14171C"/>
                </a:solidFill>
                <a:latin typeface="Consolas"/>
              </a:rPr>
              <a:t> </a:t>
            </a:r>
          </a:p>
          <a:p>
            <a:pPr>
              <a:lnSpc>
                <a:spcPct val="100000"/>
              </a:lnSpc>
              <a:spcBef>
                <a:spcPts val="0"/>
              </a:spcBef>
              <a:spcAft>
                <a:spcPts val="60"/>
              </a:spcAft>
            </a:pPr>
            <a:r>
              <a:rPr sz="850" b="0" i="0">
                <a:solidFill>
                  <a:srgbClr val="14171C"/>
                </a:solidFill>
                <a:latin typeface="Consolas"/>
              </a:rPr>
              <a:t>kernel facts (what a notebook prints in cell 0):</a:t>
            </a:r>
          </a:p>
          <a:p>
            <a:pPr>
              <a:lnSpc>
                <a:spcPct val="100000"/>
              </a:lnSpc>
              <a:spcBef>
                <a:spcPts val="0"/>
              </a:spcBef>
              <a:spcAft>
                <a:spcPts val="60"/>
              </a:spcAft>
            </a:pPr>
            <a:r>
              <a:rPr sz="850" b="0" i="0">
                <a:solidFill>
                  <a:srgbClr val="14171C"/>
                </a:solidFill>
                <a:latin typeface="Consolas"/>
              </a:rPr>
              <a:t>  python   : 3.13.14</a:t>
            </a:r>
          </a:p>
          <a:p>
            <a:pPr>
              <a:lnSpc>
                <a:spcPct val="100000"/>
              </a:lnSpc>
              <a:spcBef>
                <a:spcPts val="0"/>
              </a:spcBef>
              <a:spcAft>
                <a:spcPts val="60"/>
              </a:spcAft>
            </a:pPr>
            <a:r>
              <a:rPr sz="850" b="0" i="0">
                <a:solidFill>
                  <a:srgbClr val="14171C"/>
                </a:solidFill>
                <a:latin typeface="Consolas"/>
              </a:rPr>
              <a:t>  numpy    : 2.3.5</a:t>
            </a:r>
          </a:p>
          <a:p>
            <a:pPr>
              <a:lnSpc>
                <a:spcPct val="100000"/>
              </a:lnSpc>
              <a:spcBef>
                <a:spcPts val="0"/>
              </a:spcBef>
              <a:spcAft>
                <a:spcPts val="60"/>
              </a:spcAft>
            </a:pPr>
            <a:r>
              <a:rPr sz="850" b="0" i="0">
                <a:solidFill>
                  <a:srgbClr val="14171C"/>
                </a:solidFill>
                <a:latin typeface="Consolas"/>
              </a:rPr>
              <a:t>  pandas   : 2.2.3</a:t>
            </a:r>
          </a:p>
          <a:p>
            <a:pPr>
              <a:lnSpc>
                <a:spcPct val="100000"/>
              </a:lnSpc>
              <a:spcBef>
                <a:spcPts val="0"/>
              </a:spcBef>
              <a:spcAft>
                <a:spcPts val="60"/>
              </a:spcAft>
            </a:pPr>
            <a:r>
              <a:rPr sz="850" b="0" i="0">
                <a:solidFill>
                  <a:srgbClr val="14171C"/>
                </a:solidFill>
                <a:latin typeface="Consolas"/>
              </a:rPr>
              <a:t> </a:t>
            </a:r>
          </a:p>
          <a:p>
            <a:pPr>
              <a:lnSpc>
                <a:spcPct val="100000"/>
              </a:lnSpc>
              <a:spcBef>
                <a:spcPts val="0"/>
              </a:spcBef>
              <a:spcAft>
                <a:spcPts val="60"/>
              </a:spcAft>
            </a:pPr>
            <a:r>
              <a:rPr sz="850" b="0" i="0">
                <a:solidFill>
                  <a:srgbClr val="14171C"/>
                </a:solidFill>
                <a:latin typeface="Consolas"/>
              </a:rPr>
              <a:t>one cell, one dataframe:</a:t>
            </a:r>
          </a:p>
          <a:p>
            <a:pPr>
              <a:lnSpc>
                <a:spcPct val="100000"/>
              </a:lnSpc>
              <a:spcBef>
                <a:spcPts val="0"/>
              </a:spcBef>
              <a:spcAft>
                <a:spcPts val="60"/>
              </a:spcAft>
            </a:pPr>
            <a:r>
              <a:rPr sz="850" b="0" i="0">
                <a:solidFill>
                  <a:srgbClr val="14171C"/>
                </a:solidFill>
                <a:latin typeface="Consolas"/>
              </a:rPr>
              <a:t> x  y</a:t>
            </a:r>
          </a:p>
          <a:p>
            <a:pPr>
              <a:lnSpc>
                <a:spcPct val="100000"/>
              </a:lnSpc>
              <a:spcBef>
                <a:spcPts val="0"/>
              </a:spcBef>
              <a:spcAft>
                <a:spcPts val="60"/>
              </a:spcAft>
            </a:pPr>
            <a:r>
              <a:rPr sz="850" b="0" i="0">
                <a:solidFill>
                  <a:srgbClr val="14171C"/>
                </a:solidFill>
                <a:latin typeface="Consolas"/>
              </a:rPr>
              <a:t> 1 10</a:t>
            </a:r>
          </a:p>
          <a:p>
            <a:pPr>
              <a:lnSpc>
                <a:spcPct val="100000"/>
              </a:lnSpc>
              <a:spcBef>
                <a:spcPts val="0"/>
              </a:spcBef>
              <a:spcAft>
                <a:spcPts val="60"/>
              </a:spcAft>
            </a:pPr>
            <a:r>
              <a:rPr sz="850" b="0" i="0">
                <a:solidFill>
                  <a:srgbClr val="14171C"/>
                </a:solidFill>
                <a:latin typeface="Consolas"/>
              </a:rPr>
              <a:t> 2 20</a:t>
            </a:r>
          </a:p>
          <a:p>
            <a:pPr>
              <a:lnSpc>
                <a:spcPct val="100000"/>
              </a:lnSpc>
              <a:spcBef>
                <a:spcPts val="0"/>
              </a:spcBef>
              <a:spcAft>
                <a:spcPts val="60"/>
              </a:spcAft>
            </a:pPr>
            <a:r>
              <a:rPr sz="850" b="0" i="0">
                <a:solidFill>
                  <a:srgbClr val="14171C"/>
                </a:solidFill>
                <a:latin typeface="Consolas"/>
              </a:rPr>
              <a:t> 3 21</a:t>
            </a:r>
          </a:p>
          <a:p>
            <a:pPr>
              <a:lnSpc>
                <a:spcPct val="100000"/>
              </a:lnSpc>
              <a:spcBef>
                <a:spcPts val="0"/>
              </a:spcBef>
              <a:spcAft>
                <a:spcPts val="60"/>
              </a:spcAft>
            </a:pPr>
            <a:r>
              <a:rPr sz="850" b="0" i="0">
                <a:solidFill>
                  <a:srgbClr val="14171C"/>
                </a:solidFill>
                <a:latin typeface="Consolas"/>
              </a:rPr>
              <a:t> 4 44</a:t>
            </a:r>
          </a:p>
          <a:p>
            <a:pPr>
              <a:lnSpc>
                <a:spcPct val="100000"/>
              </a:lnSpc>
              <a:spcBef>
                <a:spcPts val="0"/>
              </a:spcBef>
              <a:spcAft>
                <a:spcPts val="60"/>
              </a:spcAft>
            </a:pPr>
            <a:r>
              <a:rPr sz="850" b="0" i="0">
                <a:solidFill>
                  <a:srgbClr val="14171C"/>
                </a:solidFill>
                <a:latin typeface="Consolas"/>
              </a:rPr>
              <a:t>  corr(x, y) = 0.9244</a:t>
            </a:r>
          </a:p>
          <a:p>
            <a:pPr>
              <a:lnSpc>
                <a:spcPct val="100000"/>
              </a:lnSpc>
              <a:spcBef>
                <a:spcPts val="0"/>
              </a:spcBef>
              <a:spcAft>
                <a:spcPts val="60"/>
              </a:spcAft>
            </a:pPr>
            <a:r>
              <a:rPr sz="850" b="0" i="0">
                <a:solidFill>
                  <a:srgbClr val="14171C"/>
                </a:solidFill>
                <a:latin typeface="Consolas"/>
              </a:rPr>
              <a:t> </a:t>
            </a:r>
          </a:p>
          <a:p>
            <a:pPr>
              <a:lnSpc>
                <a:spcPct val="100000"/>
              </a:lnSpc>
              <a:spcBef>
                <a:spcPts val="0"/>
              </a:spcBef>
              <a:spcAft>
                <a:spcPts val="60"/>
              </a:spcAft>
            </a:pPr>
            <a:r>
              <a:rPr sz="850" b="0" i="0">
                <a:solidFill>
                  <a:srgbClr val="14171C"/>
                </a:solidFill>
                <a:latin typeface="Consolas"/>
              </a:rPr>
              <a:t>the two conversions every notebook report needs:</a:t>
            </a:r>
          </a:p>
          <a:p>
            <a:pPr>
              <a:lnSpc>
                <a:spcPct val="100000"/>
              </a:lnSpc>
              <a:spcBef>
                <a:spcPts val="0"/>
              </a:spcBef>
              <a:spcAft>
                <a:spcPts val="60"/>
              </a:spcAft>
            </a:pPr>
            <a:r>
              <a:rPr sz="850" b="0" i="0">
                <a:solidFill>
                  <a:srgbClr val="14171C"/>
                </a:solidFill>
                <a:latin typeface="Consolas"/>
              </a:rPr>
              <a:t>  jupyter nbconvert --to script analysis.ipynb      # notebook -&gt; this file</a:t>
            </a:r>
          </a:p>
          <a:p>
            <a:pPr>
              <a:lnSpc>
                <a:spcPct val="100000"/>
              </a:lnSpc>
              <a:spcBef>
                <a:spcPts val="0"/>
              </a:spcBef>
              <a:spcAft>
                <a:spcPts val="60"/>
              </a:spcAft>
            </a:pPr>
            <a:r>
              <a:rPr sz="850" b="0" i="0">
                <a:solidFill>
                  <a:srgbClr val="14171C"/>
                </a:solidFill>
                <a:latin typeface="Consolas"/>
              </a:rPr>
              <a:t>  jupyter nbconvert --to pdf    analysis.ipynb      # notebook -&gt; submission PDF</a:t>
            </a:r>
          </a:p>
          <a:p>
            <a:pPr>
              <a:lnSpc>
                <a:spcPct val="100000"/>
              </a:lnSpc>
              <a:spcBef>
                <a:spcPts val="0"/>
              </a:spcBef>
              <a:spcAft>
                <a:spcPts val="60"/>
              </a:spcAft>
            </a:pPr>
            <a:r>
              <a:rPr sz="850" b="0" i="0">
                <a:solidFill>
                  <a:srgbClr val="14171C"/>
                </a:solidFill>
                <a:latin typeface="Consolas"/>
              </a:rPr>
              <a:t> </a:t>
            </a:r>
          </a:p>
          <a:p>
            <a:pPr>
              <a:lnSpc>
                <a:spcPct val="100000"/>
              </a:lnSpc>
              <a:spcBef>
                <a:spcPts val="0"/>
              </a:spcBef>
              <a:spcAft>
                <a:spcPts val="60"/>
              </a:spcAft>
            </a:pPr>
            <a:r>
              <a:rPr sz="850" b="0" i="0">
                <a:solidFill>
                  <a:srgbClr val="14171C"/>
                </a:solidFill>
                <a:latin typeface="Consolas"/>
              </a:rPr>
              <a:t>F01 RESULT: percent-format file read both ways: 5 cells, 48 lines -- PASS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TOOLKIT 1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Toolkit 1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8</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Why is a percent-format .py file and a notebook "the same document in two skins"? What does jupyter nbconvert --to script guarantee, and what does it not?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Your report cites a mean of 66.86 from pandas 2.2.3. Why is naming the pandas version part of the result, not a footnote to it?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What is the sha256 of a dataset doing in an EDA report? Give the one-sentence justification an examiner should see in section 1 of every activity.</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The generator injects duplicates and NaNs on purpose. Name two report sections that would be vacuous without them, and one that would be wrong.</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A classmate edits a cell, re-runs only it, and re-exports. What can have silently desynchronised, and which habit from this chapter would have caught it?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Q6.  </a:t>
            </a:r>
            <a:r>
              <a:rPr sz="1450" b="0" i="0">
                <a:solidFill>
                  <a:srgbClr val="16181D"/>
                </a:solidFill>
                <a:latin typeface="Calibri"/>
              </a:rPr>
              <a:t>Write the three-line preamble you would paste into the first cell of every notebook you submit for this course, and justify each line.</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§1.5 — these are report-defence-shaped practice.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TOOLKIT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Toolkit 2 — The NumPy layer and the Pandas layer</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9</a:t>
            </a:r>
          </a:p>
        </p:txBody>
      </p:sp>
      <p:sp>
        <p:nvSpPr>
          <p:cNvPr id="8" name="TextBox 7"/>
          <p:cNvSpPr txBox="1"/>
          <p:nvPr/>
        </p:nvSpPr>
        <p:spPr>
          <a:xfrm>
            <a:off x="502920" y="1463040"/>
            <a:ext cx="11155680" cy="530352"/>
          </a:xfrm>
          <a:prstGeom prst="rect">
            <a:avLst/>
          </a:prstGeom>
          <a:noFill/>
        </p:spPr>
        <p:txBody>
          <a:bodyPr wrap="square" anchor="t" lIns="0" rIns="0" tIns="0" bIns="0">
            <a:spAutoFit/>
          </a:bodyPr>
          <a:lstStyle/>
          <a:p>
            <a:pPr>
              <a:lnSpc>
                <a:spcPct val="106000"/>
              </a:lnSpc>
              <a:spcBef>
                <a:spcPts val="0"/>
              </a:spcBef>
              <a:spcAft>
                <a:spcPts val="0"/>
              </a:spcAft>
            </a:pPr>
            <a:r>
              <a:rPr sz="1400" b="1" i="0">
                <a:solidFill>
                  <a:srgbClr val="B3261E"/>
                </a:solidFill>
                <a:latin typeface="Calibri"/>
              </a:rPr>
              <a:t>CO1 · CO2</a:t>
            </a:r>
            <a:r>
              <a:rPr sz="1250" b="0" i="0">
                <a:solidFill>
                  <a:srgbClr val="4B5563"/>
                </a:solidFill>
                <a:latin typeface="Calibri"/>
              </a:rPr>
              <a:t>    ·    demos: f02_numpy_arrays, f03_pandas_frames.py</a:t>
            </a:r>
            <a:r>
              <a:rPr sz="1200" b="0" i="0">
                <a:solidFill>
                  <a:srgbClr val="4B5563"/>
                </a:solidFill>
                <a:latin typeface="Calibri"/>
              </a:rPr>
              <a:t>    ·    VanderPlas Ch. 2 (NumPy) · Ch. 3 (Pandas) · McKinney Ch. 2-5</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Two libraries, one stack: NumPy decides how numbers live; pandas decides what columns and rows mean. The division of labour explained once saves every later experiment its debugging chapter.</a:t>
            </a:r>
          </a:p>
          <a:p>
            <a:pPr marL="201168" indent="-201168">
              <a:lnSpc>
                <a:spcPct val="104000"/>
              </a:lnSpc>
              <a:spcBef>
                <a:spcPts val="0"/>
              </a:spcBef>
              <a:spcAft>
                <a:spcPts val="900"/>
              </a:spcAft>
            </a:pPr>
            <a:r>
              <a:rPr sz="1350" b="1" i="0">
                <a:solidFill>
                  <a:srgbClr val="B3261E"/>
                </a:solidFill>
                <a:latin typeface="Calibri"/>
              </a:rPr>
              <a:t>•  </a:t>
            </a:r>
            <a:r>
              <a:rPr sz="1350" b="1" i="0">
                <a:solidFill>
                  <a:srgbClr val="16181D"/>
                </a:solidFill>
                <a:latin typeface="Calibri"/>
              </a:rPr>
              <a:t>Demo — </a:t>
            </a:r>
            <a:r>
              <a:rPr sz="1350" b="0" i="0">
                <a:solidFill>
                  <a:srgbClr val="16181D"/>
                </a:solidFill>
                <a:latin typeface="Calibri"/>
              </a:rPr>
              <a:t>The array model: shape, dtype, strides, broadcast</a:t>
            </a:r>
            <a:r>
              <a:rPr sz="1350" b="0" i="0">
                <a:solidFill>
                  <a:srgbClr val="16181D"/>
                </a:solidFill>
                <a:latin typeface="Calibri"/>
              </a:rPr>
              <a:t/>
            </a:r>
          </a:p>
          <a:p>
            <a:pPr marL="201168" indent="-201168">
              <a:lnSpc>
                <a:spcPct val="104000"/>
              </a:lnSpc>
              <a:spcBef>
                <a:spcPts val="0"/>
              </a:spcBef>
              <a:spcAft>
                <a:spcPts val="900"/>
              </a:spcAft>
            </a:pPr>
            <a:r>
              <a:rPr sz="1350" b="1" i="0">
                <a:solidFill>
                  <a:srgbClr val="B3261E"/>
                </a:solidFill>
                <a:latin typeface="Calibri"/>
              </a:rPr>
              <a:t>•  </a:t>
            </a:r>
            <a:r>
              <a:rPr sz="1350" b="1" i="0">
                <a:solidFill>
                  <a:srgbClr val="16181D"/>
                </a:solidFill>
                <a:latin typeface="Calibri"/>
              </a:rPr>
              <a:t>Demo — </a:t>
            </a:r>
            <a:r>
              <a:rPr sz="1350" b="0" i="0">
                <a:solidFill>
                  <a:srgbClr val="16181D"/>
                </a:solidFill>
                <a:latin typeface="Calibri"/>
              </a:rPr>
              <a:t>The frame model: Series, labels, the chained query</a:t>
            </a:r>
            <a:r>
              <a:rPr sz="1350" b="0" i="0">
                <a:solidFill>
                  <a:srgbClr val="16181D"/>
                </a:solidFill>
                <a:latin typeface="Calibri"/>
              </a:rPr>
              <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TOOLKIT 2 ROLE (VERBATIM)</a:t>
            </a:r>
          </a:p>
          <a:p>
            <a:pPr>
              <a:lnSpc>
                <a:spcPct val="108000"/>
              </a:lnSpc>
              <a:spcBef>
                <a:spcPts val="0"/>
              </a:spcBef>
              <a:spcAft>
                <a:spcPts val="0"/>
              </a:spcAft>
            </a:pPr>
            <a:r>
              <a:rPr sz="1100" b="0" i="0">
                <a:solidFill>
                  <a:srgbClr val="16181D"/>
                </a:solidFill>
                <a:latin typeface="Calibri"/>
              </a:rPr>
              <a:t>Supports CO1 (structures and characteristics) and CO2 (descriptive statistics) at the tool level: what an array is, what a frame is, and which operation belongs to which layer.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TOOLKIT 2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One dtype, zero loops — arrays decide how numbers live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10</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Layout is printed, not assumed: </a:t>
            </a:r>
            <a:r>
              <a:rPr sz="1100" b="0" i="0">
                <a:solidFill>
                  <a:srgbClr val="B3261E"/>
                </a:solidFill>
                <a:latin typeface="Consolas"/>
              </a:rPr>
              <a:t>dtype=int64  shape=(3, 4)  itemsize=8B  strides=(32, 8)</a:t>
            </a:r>
            <a:r>
              <a:rPr sz="1400" b="0" i="0">
                <a:solidFill>
                  <a:srgbClr val="16181D"/>
                </a:solidFill>
                <a:latin typeface="Calibri"/>
              </a:rPr>
              <a:t> — row-major blocks, eight bytes apart.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Broadcasting named, not magic: </a:t>
            </a:r>
            <a:r>
              <a:rPr sz="1200" b="0" i="0">
                <a:solidFill>
                  <a:srgbClr val="B3261E"/>
                </a:solidFill>
                <a:latin typeface="Consolas"/>
              </a:rPr>
              <a:t>a(3x4) + row(4,) works</a:t>
            </a:r>
            <a:r>
              <a:rPr sz="1400" b="0" i="0">
                <a:solidFill>
                  <a:srgbClr val="16181D"/>
                </a:solidFill>
                <a:latin typeface="Calibri"/>
              </a:rPr>
              <a:t>; a column of shape (3,1) aligns the other way — the demo prints both shapes.</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Counting in C: </a:t>
            </a:r>
            <a:r>
              <a:rPr sz="1250" b="0" i="0">
                <a:solidFill>
                  <a:srgbClr val="B3261E"/>
                </a:solidFill>
                <a:latin typeface="Consolas"/>
              </a:rPr>
              <a:t>x[x&gt;80].size = 12</a:t>
            </a:r>
            <a:r>
              <a:rPr sz="1400" b="0" i="0">
                <a:solidFill>
                  <a:srgbClr val="16181D"/>
                </a:solidFill>
                <a:latin typeface="Calibri"/>
              </a:rPr>
              <a:t> on a 10,000-draw — one boolean mask, no Python loop; the same idiom filters every experiment.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NaN forces a type: pandas widens a float column with missing rows to float64 — read the dtypes line as a quality report (experiment 1).</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ddof=1 makes numpy agree with pandas to machine precision — the book prints the difference to prove it.</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src/f02_numpy_arrays.py</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680" b="0" i="0">
                <a:solidFill>
                  <a:srgbClr val="E5E7EB"/>
                </a:solidFill>
                <a:latin typeface="Consolas"/>
              </a:rPr>
              <a:t>#!/usr/bin/env python3</a:t>
            </a:r>
          </a:p>
          <a:p>
            <a:pPr>
              <a:lnSpc>
                <a:spcPct val="100000"/>
              </a:lnSpc>
              <a:spcBef>
                <a:spcPts val="0"/>
              </a:spcBef>
              <a:spcAft>
                <a:spcPts val="60"/>
              </a:spcAft>
            </a:pPr>
            <a:r>
              <a:rPr sz="680" b="0" i="0">
                <a:solidFill>
                  <a:srgbClr val="E5E7EB"/>
                </a:solidFill>
                <a:latin typeface="Consolas"/>
              </a:rPr>
              <a:t>"""F-02  NumPy in one sitting: the array model that pandas sits on."""</a:t>
            </a:r>
          </a:p>
          <a:p>
            <a:pPr>
              <a:lnSpc>
                <a:spcPct val="100000"/>
              </a:lnSpc>
              <a:spcBef>
                <a:spcPts val="0"/>
              </a:spcBef>
              <a:spcAft>
                <a:spcPts val="60"/>
              </a:spcAft>
            </a:pPr>
            <a:r>
              <a:rPr sz="680" b="0" i="0">
                <a:solidFill>
                  <a:srgbClr val="E5E7EB"/>
                </a:solidFill>
                <a:latin typeface="Consolas"/>
              </a:rPr>
              <a:t>import numpy as np</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print("== F-02  NumPy arrays: shape, dtype, broadcasting, boolean counting ==")</a:t>
            </a:r>
          </a:p>
          <a:p>
            <a:pPr>
              <a:lnSpc>
                <a:spcPct val="100000"/>
              </a:lnSpc>
              <a:spcBef>
                <a:spcPts val="0"/>
              </a:spcBef>
              <a:spcAft>
                <a:spcPts val="60"/>
              </a:spcAft>
            </a:pPr>
            <a:r>
              <a:rPr sz="680" b="0" i="0">
                <a:solidFill>
                  <a:srgbClr val="E5E7EB"/>
                </a:solidFill>
                <a:latin typeface="Consolas"/>
              </a:rPr>
              <a:t>print()</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a = np.arange(12).reshape(3, 4)</a:t>
            </a:r>
          </a:p>
          <a:p>
            <a:pPr>
              <a:lnSpc>
                <a:spcPct val="100000"/>
              </a:lnSpc>
              <a:spcBef>
                <a:spcPts val="0"/>
              </a:spcBef>
              <a:spcAft>
                <a:spcPts val="60"/>
              </a:spcAft>
            </a:pPr>
            <a:r>
              <a:rPr sz="680" b="0" i="0">
                <a:solidFill>
                  <a:srgbClr val="E5E7EB"/>
                </a:solidFill>
                <a:latin typeface="Consolas"/>
              </a:rPr>
              <a:t>print("a = np.arange(12).reshape(3, 4)")</a:t>
            </a:r>
          </a:p>
          <a:p>
            <a:pPr>
              <a:lnSpc>
                <a:spcPct val="100000"/>
              </a:lnSpc>
              <a:spcBef>
                <a:spcPts val="0"/>
              </a:spcBef>
              <a:spcAft>
                <a:spcPts val="60"/>
              </a:spcAft>
            </a:pPr>
            <a:r>
              <a:rPr sz="680" b="0" i="0">
                <a:solidFill>
                  <a:srgbClr val="E5E7EB"/>
                </a:solidFill>
                <a:latin typeface="Consolas"/>
              </a:rPr>
              <a:t>print(a)</a:t>
            </a:r>
          </a:p>
          <a:p>
            <a:pPr>
              <a:lnSpc>
                <a:spcPct val="100000"/>
              </a:lnSpc>
              <a:spcBef>
                <a:spcPts val="0"/>
              </a:spcBef>
              <a:spcAft>
                <a:spcPts val="60"/>
              </a:spcAft>
            </a:pPr>
            <a:r>
              <a:rPr sz="680" b="0" i="0">
                <a:solidFill>
                  <a:srgbClr val="E5E7EB"/>
                </a:solidFill>
                <a:latin typeface="Consolas"/>
              </a:rPr>
              <a:t>print(f"  dtype={a.dtype}  shape={a.shape}  itemsize={a.itemsize}B"</a:t>
            </a:r>
          </a:p>
          <a:p>
            <a:pPr>
              <a:lnSpc>
                <a:spcPct val="100000"/>
              </a:lnSpc>
              <a:spcBef>
                <a:spcPts val="0"/>
              </a:spcBef>
              <a:spcAft>
                <a:spcPts val="60"/>
              </a:spcAft>
            </a:pPr>
            <a:r>
              <a:rPr sz="680" b="0" i="0">
                <a:solidFill>
                  <a:srgbClr val="E5E7EB"/>
                </a:solidFill>
                <a:latin typeface="Consolas"/>
              </a:rPr>
              <a:t>      f"  strides={a.strides}")</a:t>
            </a:r>
          </a:p>
          <a:p>
            <a:pPr>
              <a:lnSpc>
                <a:spcPct val="100000"/>
              </a:lnSpc>
              <a:spcBef>
                <a:spcPts val="0"/>
              </a:spcBef>
              <a:spcAft>
                <a:spcPts val="60"/>
              </a:spcAft>
            </a:pPr>
            <a:r>
              <a:rPr sz="680" b="0" i="0">
                <a:solidFill>
                  <a:srgbClr val="E5E7EB"/>
                </a:solidFill>
                <a:latin typeface="Consolas"/>
              </a:rPr>
              <a:t>print()</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col = a[:, 1:2]          # still 2-D: the trick that makes broadcasting work</a:t>
            </a:r>
          </a:p>
          <a:p>
            <a:pPr>
              <a:lnSpc>
                <a:spcPct val="100000"/>
              </a:lnSpc>
              <a:spcBef>
                <a:spcPts val="0"/>
              </a:spcBef>
              <a:spcAft>
                <a:spcPts val="60"/>
              </a:spcAft>
            </a:pPr>
            <a:r>
              <a:rPr sz="680" b="0" i="0">
                <a:solidFill>
                  <a:srgbClr val="E5E7EB"/>
                </a:solidFill>
                <a:latin typeface="Consolas"/>
              </a:rPr>
              <a:t>row = np.array([100, 200, 300, 400])</a:t>
            </a:r>
          </a:p>
          <a:p>
            <a:pPr>
              <a:lnSpc>
                <a:spcPct val="100000"/>
              </a:lnSpc>
              <a:spcBef>
                <a:spcPts val="0"/>
              </a:spcBef>
              <a:spcAft>
                <a:spcPts val="60"/>
              </a:spcAft>
            </a:pPr>
            <a:r>
              <a:rPr sz="680" b="0" i="0">
                <a:solidFill>
                  <a:srgbClr val="E5E7EB"/>
                </a:solidFill>
                <a:latin typeface="Consolas"/>
              </a:rPr>
              <a:t>print("broadcasting: a(3x4) + row(4,) works; a column shape (3,1) would too")</a:t>
            </a:r>
          </a:p>
          <a:p>
            <a:pPr>
              <a:lnSpc>
                <a:spcPct val="100000"/>
              </a:lnSpc>
              <a:spcBef>
                <a:spcPts val="0"/>
              </a:spcBef>
              <a:spcAft>
                <a:spcPts val="60"/>
              </a:spcAft>
            </a:pPr>
            <a:r>
              <a:rPr sz="680" b="0" i="0">
                <a:solidFill>
                  <a:srgbClr val="E5E7EB"/>
                </a:solidFill>
                <a:latin typeface="Consolas"/>
              </a:rPr>
              <a:t>print(a + row)</a:t>
            </a:r>
          </a:p>
          <a:p>
            <a:pPr>
              <a:lnSpc>
                <a:spcPct val="100000"/>
              </a:lnSpc>
              <a:spcBef>
                <a:spcPts val="0"/>
              </a:spcBef>
              <a:spcAft>
                <a:spcPts val="60"/>
              </a:spcAft>
            </a:pPr>
            <a:r>
              <a:rPr sz="680" b="0" i="0">
                <a:solidFill>
                  <a:srgbClr val="E5E7EB"/>
                </a:solidFill>
                <a:latin typeface="Consolas"/>
              </a:rPr>
              <a:t>print(f"  col shape kept 2-D: {col.shape}  (squeezed: {col.squeeze().shape})")</a:t>
            </a:r>
          </a:p>
          <a:p>
            <a:pPr>
              <a:lnSpc>
                <a:spcPct val="100000"/>
              </a:lnSpc>
              <a:spcBef>
                <a:spcPts val="0"/>
              </a:spcBef>
              <a:spcAft>
                <a:spcPts val="60"/>
              </a:spcAft>
            </a:pPr>
            <a:r>
              <a:rPr sz="680" b="0" i="0">
                <a:solidFill>
                  <a:srgbClr val="E5E7EB"/>
                </a:solidFill>
                <a:latin typeface="Consolas"/>
              </a:rPr>
              <a:t>print()</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print("aggregate the same thing three ways -- all equal:")</a:t>
            </a:r>
          </a:p>
          <a:p>
            <a:pPr>
              <a:lnSpc>
                <a:spcPct val="100000"/>
              </a:lnSpc>
              <a:spcBef>
                <a:spcPts val="0"/>
              </a:spcBef>
              <a:spcAft>
                <a:spcPts val="60"/>
              </a:spcAft>
            </a:pPr>
            <a:r>
              <a:rPr sz="680" b="0" i="0">
                <a:solidFill>
                  <a:srgbClr val="E5E7EB"/>
                </a:solidFill>
                <a:latin typeface="Consolas"/>
              </a:rPr>
              <a:t>print(f"  a.sum()={a.sum()}  np.add.reduce(a.ravel())={np.add.reduce(a.ravel())}"</a:t>
            </a:r>
          </a:p>
          <a:p>
            <a:pPr>
              <a:lnSpc>
                <a:spcPct val="100000"/>
              </a:lnSpc>
              <a:spcBef>
                <a:spcPts val="0"/>
              </a:spcBef>
              <a:spcAft>
                <a:spcPts val="60"/>
              </a:spcAft>
            </a:pPr>
            <a:r>
              <a:rPr sz="680" b="0" i="0">
                <a:solidFill>
                  <a:srgbClr val="E5E7EB"/>
                </a:solidFill>
                <a:latin typeface="Consolas"/>
              </a:rPr>
              <a:t>      f"  sum of 0..11={11 * 12 // 2}")</a:t>
            </a:r>
          </a:p>
          <a:p>
            <a:pPr>
              <a:lnSpc>
                <a:spcPct val="100000"/>
              </a:lnSpc>
              <a:spcBef>
                <a:spcPts val="0"/>
              </a:spcBef>
              <a:spcAft>
                <a:spcPts val="60"/>
              </a:spcAft>
            </a:pPr>
            <a:r>
              <a:rPr sz="680" b="0" i="0">
                <a:solidFill>
                  <a:srgbClr val="E5E7EB"/>
                </a:solidFill>
                <a:latin typeface="Consolas"/>
              </a:rPr>
              <a:t>print()</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x = np.random.default_rng(7).normal(50, 10, size=10_000).round(2)</a:t>
            </a:r>
          </a:p>
          <a:p>
            <a:pPr>
              <a:lnSpc>
                <a:spcPct val="100000"/>
              </a:lnSpc>
              <a:spcBef>
                <a:spcPts val="0"/>
              </a:spcBef>
              <a:spcAft>
                <a:spcPts val="60"/>
              </a:spcAft>
            </a:pPr>
            <a:r>
              <a:rPr sz="680" b="0" i="0">
                <a:solidFill>
                  <a:srgbClr val="E5E7EB"/>
                </a:solidFill>
                <a:latin typeface="Consolas"/>
              </a:rPr>
              <a:t>lo, hi = np.percentile(x, [25, 75])</a:t>
            </a:r>
          </a:p>
          <a:p>
            <a:pPr>
              <a:lnSpc>
                <a:spcPct val="100000"/>
              </a:lnSpc>
              <a:spcBef>
                <a:spcPts val="0"/>
              </a:spcBef>
              <a:spcAft>
                <a:spcPts val="60"/>
              </a:spcAft>
            </a:pPr>
            <a:r>
              <a:rPr sz="680" b="0" i="0">
                <a:solidFill>
                  <a:srgbClr val="E5E7EB"/>
                </a:solidFill>
                <a:latin typeface="Consolas"/>
              </a:rPr>
              <a:t>print("one fixed RNG draw, 10000 normals(50,10), rounded to 2dp:")</a:t>
            </a:r>
          </a:p>
          <a:p>
            <a:pPr>
              <a:lnSpc>
                <a:spcPct val="100000"/>
              </a:lnSpc>
              <a:spcBef>
                <a:spcPts val="0"/>
              </a:spcBef>
              <a:spcAft>
                <a:spcPts val="60"/>
              </a:spcAft>
            </a:pPr>
            <a:r>
              <a:rPr sz="680" b="0" i="0">
                <a:solidFill>
                  <a:srgbClr val="E5E7EB"/>
                </a:solidFill>
                <a:latin typeface="Consolas"/>
              </a:rPr>
              <a:t>  …  (complete source: the course book)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TOOLKIT 2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The frame model: four indexing operators, four answers on purpose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11</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index is data: </a:t>
            </a:r>
            <a:r>
              <a:rPr sz="1200" b="0" i="0">
                <a:solidFill>
                  <a:srgbClr val="B3261E"/>
                </a:solidFill>
                <a:latin typeface="Consolas"/>
              </a:rPr>
              <a:t>dtype=int64  mean=74.20  s['Kiran']=72</a:t>
            </a:r>
            <a:r>
              <a:rPr sz="1400" b="0" i="0">
                <a:solidFill>
                  <a:srgbClr val="16181D"/>
                </a:solidFill>
                <a:latin typeface="Calibri"/>
              </a:rPr>
              <a:t> — a Series is a labelled vector; lookups speak label.</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loc vs iloc vs bracket vs brace, one row each: </a:t>
            </a:r>
            <a:r>
              <a:rPr sz="1200" b="0" i="0">
                <a:solidFill>
                  <a:srgbClr val="B3261E"/>
                </a:solidFill>
                <a:latin typeface="Consolas"/>
              </a:rPr>
              <a:t>df.loc['B','score']   -&gt; 54</a:t>
            </a:r>
            <a:r>
              <a:rPr sz="1400" b="0" i="0">
                <a:solidFill>
                  <a:srgbClr val="16181D"/>
                </a:solidFill>
                <a:latin typeface="Calibri"/>
              </a:rPr>
              <a:t> by label; </a:t>
            </a:r>
            <a:r>
              <a:rPr sz="1150" b="0" i="0">
                <a:solidFill>
                  <a:srgbClr val="16181D"/>
                </a:solidFill>
                <a:latin typeface="Consolas"/>
              </a:rPr>
              <a:t>df['score','hours'] → DataFrame</a:t>
            </a:r>
            <a:r>
              <a:rPr sz="1400" b="0" i="0">
                <a:solidFill>
                  <a:srgbClr val="16181D"/>
                </a:solidFill>
                <a:latin typeface="Calibri"/>
              </a:rPr>
              <a:t> by double bracket — the demo makes them answer differently.</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whole EDA grammar in one chain: </a:t>
            </a:r>
            <a:r>
              <a:rPr sz="1150" b="0" i="0">
                <a:solidFill>
                  <a:srgbClr val="B3261E"/>
                </a:solidFill>
                <a:latin typeface="Consolas"/>
              </a:rPr>
              <a:t>mean hours of that subset: 7.00  vs overall 5.30</a:t>
            </a:r>
            <a:r>
              <a:rPr sz="1400" b="0" i="0">
                <a:solidFill>
                  <a:srgbClr val="16181D"/>
                </a:solidFill>
                <a:latin typeface="Calibri"/>
              </a:rPr>
              <a:t> — filter, sort, select in a single expression, and the base rate beside it.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groupby splits by key, applies a reduction, combines into a new frame — and it drops NaN groups silently unless you count them (experiment 7 does).</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Exam frame: pandas decides what columns and rows MEAN; NumPy decides how they live.</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src/f03_pandas_frames.py</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680" b="0" i="0">
                <a:solidFill>
                  <a:srgbClr val="E5E7EB"/>
                </a:solidFill>
                <a:latin typeface="Consolas"/>
              </a:rPr>
              <a:t>#!/usr/bin/env python3</a:t>
            </a:r>
          </a:p>
          <a:p>
            <a:pPr>
              <a:lnSpc>
                <a:spcPct val="100000"/>
              </a:lnSpc>
              <a:spcBef>
                <a:spcPts val="0"/>
              </a:spcBef>
              <a:spcAft>
                <a:spcPts val="60"/>
              </a:spcAft>
            </a:pPr>
            <a:r>
              <a:rPr sz="680" b="0" i="0">
                <a:solidFill>
                  <a:srgbClr val="E5E7EB"/>
                </a:solidFill>
                <a:latin typeface="Consolas"/>
              </a:rPr>
              <a:t>"""F-03  Pandas in one sitting: Series, frames, indexing operators, the chain."""</a:t>
            </a:r>
          </a:p>
          <a:p>
            <a:pPr>
              <a:lnSpc>
                <a:spcPct val="100000"/>
              </a:lnSpc>
              <a:spcBef>
                <a:spcPts val="0"/>
              </a:spcBef>
              <a:spcAft>
                <a:spcPts val="60"/>
              </a:spcAft>
            </a:pPr>
            <a:r>
              <a:rPr sz="680" b="0" i="0">
                <a:solidFill>
                  <a:srgbClr val="E5E7EB"/>
                </a:solidFill>
                <a:latin typeface="Consolas"/>
              </a:rPr>
              <a:t>import pandas as pd</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print("== F-03  Pandas anatomy: Series vs frame, .loc/.iloc, one chained query ==")</a:t>
            </a:r>
          </a:p>
          <a:p>
            <a:pPr>
              <a:lnSpc>
                <a:spcPct val="100000"/>
              </a:lnSpc>
              <a:spcBef>
                <a:spcPts val="0"/>
              </a:spcBef>
              <a:spcAft>
                <a:spcPts val="60"/>
              </a:spcAft>
            </a:pPr>
            <a:r>
              <a:rPr sz="680" b="0" i="0">
                <a:solidFill>
                  <a:srgbClr val="E5E7EB"/>
                </a:solidFill>
                <a:latin typeface="Consolas"/>
              </a:rPr>
              <a:t>print()</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marks = {"Asha": 88, "Deepak": 54, "Kiran": 72, "Neel": 91, "Sara": 66}</a:t>
            </a:r>
          </a:p>
          <a:p>
            <a:pPr>
              <a:lnSpc>
                <a:spcPct val="100000"/>
              </a:lnSpc>
              <a:spcBef>
                <a:spcPts val="0"/>
              </a:spcBef>
              <a:spcAft>
                <a:spcPts val="60"/>
              </a:spcAft>
            </a:pPr>
            <a:r>
              <a:rPr sz="680" b="0" i="0">
                <a:solidFill>
                  <a:srgbClr val="E5E7EB"/>
                </a:solidFill>
                <a:latin typeface="Consolas"/>
              </a:rPr>
              <a:t>s = pd.Series(marks)</a:t>
            </a:r>
          </a:p>
          <a:p>
            <a:pPr>
              <a:lnSpc>
                <a:spcPct val="100000"/>
              </a:lnSpc>
              <a:spcBef>
                <a:spcPts val="0"/>
              </a:spcBef>
              <a:spcAft>
                <a:spcPts val="60"/>
              </a:spcAft>
            </a:pPr>
            <a:r>
              <a:rPr sz="680" b="0" i="0">
                <a:solidFill>
                  <a:srgbClr val="E5E7EB"/>
                </a:solidFill>
                <a:latin typeface="Consolas"/>
              </a:rPr>
              <a:t>print("a Series is a labelled vector -- the index is data, not decoration:")</a:t>
            </a:r>
          </a:p>
          <a:p>
            <a:pPr>
              <a:lnSpc>
                <a:spcPct val="100000"/>
              </a:lnSpc>
              <a:spcBef>
                <a:spcPts val="0"/>
              </a:spcBef>
              <a:spcAft>
                <a:spcPts val="60"/>
              </a:spcAft>
            </a:pPr>
            <a:r>
              <a:rPr sz="680" b="0" i="0">
                <a:solidFill>
                  <a:srgbClr val="E5E7EB"/>
                </a:solidFill>
                <a:latin typeface="Consolas"/>
              </a:rPr>
              <a:t>print(s.to_string())</a:t>
            </a:r>
          </a:p>
          <a:p>
            <a:pPr>
              <a:lnSpc>
                <a:spcPct val="100000"/>
              </a:lnSpc>
              <a:spcBef>
                <a:spcPts val="0"/>
              </a:spcBef>
              <a:spcAft>
                <a:spcPts val="60"/>
              </a:spcAft>
            </a:pPr>
            <a:r>
              <a:rPr sz="680" b="0" i="0">
                <a:solidFill>
                  <a:srgbClr val="E5E7EB"/>
                </a:solidFill>
                <a:latin typeface="Consolas"/>
              </a:rPr>
              <a:t>print(f"  dtype={s.dtype}  mean={s.mean():.2f}  s['Kiran']={s['Kiran']}")</a:t>
            </a:r>
          </a:p>
          <a:p>
            <a:pPr>
              <a:lnSpc>
                <a:spcPct val="100000"/>
              </a:lnSpc>
              <a:spcBef>
                <a:spcPts val="0"/>
              </a:spcBef>
              <a:spcAft>
                <a:spcPts val="60"/>
              </a:spcAft>
            </a:pPr>
            <a:r>
              <a:rPr sz="680" b="0" i="0">
                <a:solidFill>
                  <a:srgbClr val="E5E7EB"/>
                </a:solidFill>
                <a:latin typeface="Consolas"/>
              </a:rPr>
              <a:t>print()</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df = pd.DataFrame({</a:t>
            </a:r>
          </a:p>
          <a:p>
            <a:pPr>
              <a:lnSpc>
                <a:spcPct val="100000"/>
              </a:lnSpc>
              <a:spcBef>
                <a:spcPts val="0"/>
              </a:spcBef>
              <a:spcAft>
                <a:spcPts val="60"/>
              </a:spcAft>
            </a:pPr>
            <a:r>
              <a:rPr sz="680" b="0" i="0">
                <a:solidFill>
                  <a:srgbClr val="E5E7EB"/>
                </a:solidFill>
                <a:latin typeface="Consolas"/>
              </a:rPr>
              <a:t>    "score": [88, 54, 72, 91, 66],</a:t>
            </a:r>
          </a:p>
          <a:p>
            <a:pPr>
              <a:lnSpc>
                <a:spcPct val="100000"/>
              </a:lnSpc>
              <a:spcBef>
                <a:spcPts val="0"/>
              </a:spcBef>
              <a:spcAft>
                <a:spcPts val="60"/>
              </a:spcAft>
            </a:pPr>
            <a:r>
              <a:rPr sz="680" b="0" i="0">
                <a:solidFill>
                  <a:srgbClr val="E5E7EB"/>
                </a:solidFill>
                <a:latin typeface="Consolas"/>
              </a:rPr>
              <a:t>    "hours": [7.5, 2.0, 5.0, 8.5, 3.5],</a:t>
            </a:r>
          </a:p>
          <a:p>
            <a:pPr>
              <a:lnSpc>
                <a:spcPct val="100000"/>
              </a:lnSpc>
              <a:spcBef>
                <a:spcPts val="0"/>
              </a:spcBef>
              <a:spcAft>
                <a:spcPts val="60"/>
              </a:spcAft>
            </a:pPr>
            <a:r>
              <a:rPr sz="680" b="0" i="0">
                <a:solidFill>
                  <a:srgbClr val="E5E7EB"/>
                </a:solidFill>
                <a:latin typeface="Consolas"/>
              </a:rPr>
              <a:t>    "pass":  [True, False, True, True, False],</a:t>
            </a:r>
          </a:p>
          <a:p>
            <a:pPr>
              <a:lnSpc>
                <a:spcPct val="100000"/>
              </a:lnSpc>
              <a:spcBef>
                <a:spcPts val="0"/>
              </a:spcBef>
              <a:spcAft>
                <a:spcPts val="60"/>
              </a:spcAft>
            </a:pPr>
            <a:r>
              <a:rPr sz="680" b="0" i="0">
                <a:solidFill>
                  <a:srgbClr val="E5E7EB"/>
                </a:solidFill>
                <a:latin typeface="Consolas"/>
              </a:rPr>
              <a:t>}, index=list("ABCDE"))</a:t>
            </a:r>
          </a:p>
          <a:p>
            <a:pPr>
              <a:lnSpc>
                <a:spcPct val="100000"/>
              </a:lnSpc>
              <a:spcBef>
                <a:spcPts val="0"/>
              </a:spcBef>
              <a:spcAft>
                <a:spcPts val="60"/>
              </a:spcAft>
            </a:pPr>
            <a:r>
              <a:rPr sz="680" b="0" i="0">
                <a:solidFill>
                  <a:srgbClr val="E5E7EB"/>
                </a:solidFill>
                <a:latin typeface="Consolas"/>
              </a:rPr>
              <a:t>df["grade"] = pd.cut(df["score"], bins=[0, 60, 75, 100],</a:t>
            </a:r>
          </a:p>
          <a:p>
            <a:pPr>
              <a:lnSpc>
                <a:spcPct val="100000"/>
              </a:lnSpc>
              <a:spcBef>
                <a:spcPts val="0"/>
              </a:spcBef>
              <a:spcAft>
                <a:spcPts val="60"/>
              </a:spcAft>
            </a:pPr>
            <a:r>
              <a:rPr sz="680" b="0" i="0">
                <a:solidFill>
                  <a:srgbClr val="E5E7EB"/>
                </a:solidFill>
                <a:latin typeface="Consolas"/>
              </a:rPr>
              <a:t>                     labels=["below 60", "60-75", "above 75"])</a:t>
            </a:r>
          </a:p>
          <a:p>
            <a:pPr>
              <a:lnSpc>
                <a:spcPct val="100000"/>
              </a:lnSpc>
              <a:spcBef>
                <a:spcPts val="0"/>
              </a:spcBef>
              <a:spcAft>
                <a:spcPts val="60"/>
              </a:spcAft>
            </a:pPr>
            <a:r>
              <a:rPr sz="680" b="0" i="0">
                <a:solidFill>
                  <a:srgbClr val="E5E7EB"/>
                </a:solidFill>
                <a:latin typeface="Consolas"/>
              </a:rPr>
              <a:t>print("a DataFrame is a dict of equal-length Series (columns); index can be anything:")</a:t>
            </a:r>
          </a:p>
          <a:p>
            <a:pPr>
              <a:lnSpc>
                <a:spcPct val="100000"/>
              </a:lnSpc>
              <a:spcBef>
                <a:spcPts val="0"/>
              </a:spcBef>
              <a:spcAft>
                <a:spcPts val="60"/>
              </a:spcAft>
            </a:pPr>
            <a:r>
              <a:rPr sz="680" b="0" i="0">
                <a:solidFill>
                  <a:srgbClr val="E5E7EB"/>
                </a:solidFill>
                <a:latin typeface="Consolas"/>
              </a:rPr>
              <a:t>print(df.to_string())</a:t>
            </a:r>
          </a:p>
          <a:p>
            <a:pPr>
              <a:lnSpc>
                <a:spcPct val="100000"/>
              </a:lnSpc>
              <a:spcBef>
                <a:spcPts val="0"/>
              </a:spcBef>
              <a:spcAft>
                <a:spcPts val="60"/>
              </a:spcAft>
            </a:pPr>
            <a:r>
              <a:rPr sz="680" b="0" i="0">
                <a:solidFill>
                  <a:srgbClr val="E5E7EB"/>
                </a:solidFill>
                <a:latin typeface="Consolas"/>
              </a:rPr>
              <a:t>print()</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print("the four indexing operators, four different answers on purpose:")</a:t>
            </a:r>
          </a:p>
          <a:p>
            <a:pPr>
              <a:lnSpc>
                <a:spcPct val="100000"/>
              </a:lnSpc>
              <a:spcBef>
                <a:spcPts val="0"/>
              </a:spcBef>
              <a:spcAft>
                <a:spcPts val="60"/>
              </a:spcAft>
            </a:pPr>
            <a:r>
              <a:rPr sz="680" b="0" i="0">
                <a:solidFill>
                  <a:srgbClr val="E5E7EB"/>
                </a:solidFill>
                <a:latin typeface="Consolas"/>
              </a:rPr>
              <a:t>print(f"  df.loc['B','score']   -&gt; {df.loc['B', 'score']}   (label, label)")</a:t>
            </a:r>
          </a:p>
          <a:p>
            <a:pPr>
              <a:lnSpc>
                <a:spcPct val="100000"/>
              </a:lnSpc>
              <a:spcBef>
                <a:spcPts val="0"/>
              </a:spcBef>
              <a:spcAft>
                <a:spcPts val="60"/>
              </a:spcAft>
            </a:pPr>
            <a:r>
              <a:rPr sz="680" b="0" i="0">
                <a:solidFill>
                  <a:srgbClr val="E5E7EB"/>
                </a:solidFill>
                <a:latin typeface="Consolas"/>
              </a:rPr>
              <a:t>print(f"  df.iloc[1, 0]         -&gt; {df.iloc[1, 0]}   (position, position)")</a:t>
            </a:r>
          </a:p>
          <a:p>
            <a:pPr>
              <a:lnSpc>
                <a:spcPct val="100000"/>
              </a:lnSpc>
              <a:spcBef>
                <a:spcPts val="0"/>
              </a:spcBef>
              <a:spcAft>
                <a:spcPts val="60"/>
              </a:spcAft>
            </a:pPr>
            <a:r>
              <a:rPr sz="680" b="0" i="0">
                <a:solidFill>
                  <a:srgbClr val="E5E7EB"/>
                </a:solidFill>
                <a:latin typeface="Consolas"/>
              </a:rPr>
              <a:t>print(f"  df['hours']           -&gt; {type(df['hours']).__name__} column")</a:t>
            </a:r>
          </a:p>
          <a:p>
            <a:pPr>
              <a:lnSpc>
                <a:spcPct val="100000"/>
              </a:lnSpc>
              <a:spcBef>
                <a:spcPts val="0"/>
              </a:spcBef>
              <a:spcAft>
                <a:spcPts val="60"/>
              </a:spcAft>
            </a:pPr>
            <a:r>
              <a:rPr sz="680" b="0" i="0">
                <a:solidFill>
                  <a:srgbClr val="E5E7EB"/>
                </a:solidFill>
                <a:latin typeface="Consolas"/>
              </a:rPr>
              <a:t>  …  (complete source: the course book)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TOOLKIT 2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f03_pandas_frames (executed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12</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src/f03_pandas_frames.py</a:t>
            </a:r>
          </a:p>
        </p:txBody>
      </p:sp>
      <p:sp>
        <p:nvSpPr>
          <p:cNvPr id="11" name="TextBox 10"/>
          <p:cNvSpPr txBox="1"/>
          <p:nvPr/>
        </p:nvSpPr>
        <p:spPr>
          <a:xfrm>
            <a:off x="667512" y="1975104"/>
            <a:ext cx="5815584" cy="432511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"""F-03  Pandas in one sitting: Series, frames, indexing operators, the chain."""</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F-03  Pandas anatomy: Series vs frame, .loc/.iloc, one chained query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marks = {"Asha": 88, "Deepak": 54, "Kiran": 72, "Neel": 91, "Sara": 66}</a:t>
            </a:r>
          </a:p>
          <a:p>
            <a:pPr>
              <a:lnSpc>
                <a:spcPct val="100000"/>
              </a:lnSpc>
              <a:spcBef>
                <a:spcPts val="0"/>
              </a:spcBef>
              <a:spcAft>
                <a:spcPts val="60"/>
              </a:spcAft>
            </a:pPr>
            <a:r>
              <a:rPr sz="700" b="0" i="0">
                <a:solidFill>
                  <a:srgbClr val="E5E7EB"/>
                </a:solidFill>
                <a:latin typeface="Consolas"/>
              </a:rPr>
              <a:t>s = pd.Series(marks)</a:t>
            </a:r>
          </a:p>
          <a:p>
            <a:pPr>
              <a:lnSpc>
                <a:spcPct val="100000"/>
              </a:lnSpc>
              <a:spcBef>
                <a:spcPts val="0"/>
              </a:spcBef>
              <a:spcAft>
                <a:spcPts val="60"/>
              </a:spcAft>
            </a:pPr>
            <a:r>
              <a:rPr sz="700" b="0" i="0">
                <a:solidFill>
                  <a:srgbClr val="E5E7EB"/>
                </a:solidFill>
                <a:latin typeface="Consolas"/>
              </a:rPr>
              <a:t>print("a Series is a labelled vector -- the index is data, not decoration:")</a:t>
            </a:r>
          </a:p>
          <a:p>
            <a:pPr>
              <a:lnSpc>
                <a:spcPct val="100000"/>
              </a:lnSpc>
              <a:spcBef>
                <a:spcPts val="0"/>
              </a:spcBef>
              <a:spcAft>
                <a:spcPts val="60"/>
              </a:spcAft>
            </a:pPr>
            <a:r>
              <a:rPr sz="700" b="0" i="0">
                <a:solidFill>
                  <a:srgbClr val="E5E7EB"/>
                </a:solidFill>
                <a:latin typeface="Consolas"/>
              </a:rPr>
              <a:t>print(s.to_string())</a:t>
            </a:r>
          </a:p>
          <a:p>
            <a:pPr>
              <a:lnSpc>
                <a:spcPct val="100000"/>
              </a:lnSpc>
              <a:spcBef>
                <a:spcPts val="0"/>
              </a:spcBef>
              <a:spcAft>
                <a:spcPts val="60"/>
              </a:spcAft>
            </a:pPr>
            <a:r>
              <a:rPr sz="700" b="0" i="0">
                <a:solidFill>
                  <a:srgbClr val="E5E7EB"/>
                </a:solidFill>
                <a:latin typeface="Consolas"/>
              </a:rPr>
              <a:t>print(f"  dtype={s.dtype}  mean={s.mean():.2f}  s['Kiran']={s['Kiran']}")</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df = pd.DataFrame({</a:t>
            </a:r>
          </a:p>
          <a:p>
            <a:pPr>
              <a:lnSpc>
                <a:spcPct val="100000"/>
              </a:lnSpc>
              <a:spcBef>
                <a:spcPts val="0"/>
              </a:spcBef>
              <a:spcAft>
                <a:spcPts val="60"/>
              </a:spcAft>
            </a:pPr>
            <a:r>
              <a:rPr sz="700" b="0" i="0">
                <a:solidFill>
                  <a:srgbClr val="E5E7EB"/>
                </a:solidFill>
                <a:latin typeface="Consolas"/>
              </a:rPr>
              <a:t>    "score": [88, 54, 72, 91, 66],</a:t>
            </a:r>
          </a:p>
          <a:p>
            <a:pPr>
              <a:lnSpc>
                <a:spcPct val="100000"/>
              </a:lnSpc>
              <a:spcBef>
                <a:spcPts val="0"/>
              </a:spcBef>
              <a:spcAft>
                <a:spcPts val="60"/>
              </a:spcAft>
            </a:pPr>
            <a:r>
              <a:rPr sz="700" b="0" i="0">
                <a:solidFill>
                  <a:srgbClr val="E5E7EB"/>
                </a:solidFill>
                <a:latin typeface="Consolas"/>
              </a:rPr>
              <a:t>    "hours": [7.5, 2.0, 5.0, 8.5, 3.5],</a:t>
            </a:r>
          </a:p>
          <a:p>
            <a:pPr>
              <a:lnSpc>
                <a:spcPct val="100000"/>
              </a:lnSpc>
              <a:spcBef>
                <a:spcPts val="0"/>
              </a:spcBef>
              <a:spcAft>
                <a:spcPts val="60"/>
              </a:spcAft>
            </a:pPr>
            <a:r>
              <a:rPr sz="700" b="0" i="0">
                <a:solidFill>
                  <a:srgbClr val="E5E7EB"/>
                </a:solidFill>
                <a:latin typeface="Consolas"/>
              </a:rPr>
              <a:t>    "pass":  [True, False, True, True, False],</a:t>
            </a:r>
          </a:p>
          <a:p>
            <a:pPr>
              <a:lnSpc>
                <a:spcPct val="100000"/>
              </a:lnSpc>
              <a:spcBef>
                <a:spcPts val="0"/>
              </a:spcBef>
              <a:spcAft>
                <a:spcPts val="60"/>
              </a:spcAft>
            </a:pPr>
            <a:r>
              <a:rPr sz="700" b="0" i="0">
                <a:solidFill>
                  <a:srgbClr val="E5E7EB"/>
                </a:solidFill>
                <a:latin typeface="Consolas"/>
              </a:rPr>
              <a:t>}, index=list("ABCDE"))</a:t>
            </a:r>
          </a:p>
          <a:p>
            <a:pPr>
              <a:lnSpc>
                <a:spcPct val="100000"/>
              </a:lnSpc>
              <a:spcBef>
                <a:spcPts val="0"/>
              </a:spcBef>
              <a:spcAft>
                <a:spcPts val="60"/>
              </a:spcAft>
            </a:pPr>
            <a:r>
              <a:rPr sz="700" b="0" i="0">
                <a:solidFill>
                  <a:srgbClr val="E5E7EB"/>
                </a:solidFill>
                <a:latin typeface="Consolas"/>
              </a:rPr>
              <a:t>df["grade"] = pd.cut(df["score"], bins=[0, 60, 75, 100],</a:t>
            </a:r>
          </a:p>
          <a:p>
            <a:pPr>
              <a:lnSpc>
                <a:spcPct val="100000"/>
              </a:lnSpc>
              <a:spcBef>
                <a:spcPts val="0"/>
              </a:spcBef>
              <a:spcAft>
                <a:spcPts val="60"/>
              </a:spcAft>
            </a:pPr>
            <a:r>
              <a:rPr sz="700" b="0" i="0">
                <a:solidFill>
                  <a:srgbClr val="E5E7EB"/>
                </a:solidFill>
                <a:latin typeface="Consolas"/>
              </a:rPr>
              <a:t>                     labels=["below 60", "60-75", "above 75"])</a:t>
            </a:r>
          </a:p>
          <a:p>
            <a:pPr>
              <a:lnSpc>
                <a:spcPct val="100000"/>
              </a:lnSpc>
              <a:spcBef>
                <a:spcPts val="0"/>
              </a:spcBef>
              <a:spcAft>
                <a:spcPts val="60"/>
              </a:spcAft>
            </a:pPr>
            <a:r>
              <a:rPr sz="700" b="0" i="0">
                <a:solidFill>
                  <a:srgbClr val="E5E7EB"/>
                </a:solidFill>
                <a:latin typeface="Consolas"/>
              </a:rPr>
              <a:t>print("a DataFrame is a dict of equal-length Series (columns); index can be anything:")</a:t>
            </a:r>
          </a:p>
          <a:p>
            <a:pPr>
              <a:lnSpc>
                <a:spcPct val="100000"/>
              </a:lnSpc>
              <a:spcBef>
                <a:spcPts val="0"/>
              </a:spcBef>
              <a:spcAft>
                <a:spcPts val="60"/>
              </a:spcAft>
            </a:pPr>
            <a:r>
              <a:rPr sz="700" b="0" i="0">
                <a:solidFill>
                  <a:srgbClr val="E5E7EB"/>
                </a:solidFill>
                <a:latin typeface="Consolas"/>
              </a:rPr>
              <a:t>print(df.to_string())</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print("the four indexing operators, four different answers on purpose:")</a:t>
            </a:r>
          </a:p>
          <a:p>
            <a:pPr>
              <a:lnSpc>
                <a:spcPct val="100000"/>
              </a:lnSpc>
              <a:spcBef>
                <a:spcPts val="0"/>
              </a:spcBef>
              <a:spcAft>
                <a:spcPts val="60"/>
              </a:spcAft>
            </a:pPr>
            <a:r>
              <a:rPr sz="700" b="0" i="0">
                <a:solidFill>
                  <a:srgbClr val="E5E7EB"/>
                </a:solidFill>
                <a:latin typeface="Consolas"/>
              </a:rPr>
              <a:t>print(f"  df.loc['B','score']   -&gt; {df.loc['B', 'score']}   (label, label)")</a:t>
            </a:r>
          </a:p>
          <a:p>
            <a:pPr>
              <a:lnSpc>
                <a:spcPct val="100000"/>
              </a:lnSpc>
              <a:spcBef>
                <a:spcPts val="0"/>
              </a:spcBef>
              <a:spcAft>
                <a:spcPts val="60"/>
              </a:spcAft>
            </a:pPr>
            <a:r>
              <a:rPr sz="700" b="0" i="0">
                <a:solidFill>
                  <a:srgbClr val="E5E7EB"/>
                </a:solidFill>
                <a:latin typeface="Consolas"/>
              </a:rPr>
              <a:t>print(f"  df.iloc[1, 0]         -&gt; {df.iloc[1, 0]}   (position, position)")</a:t>
            </a:r>
          </a:p>
          <a:p>
            <a:pPr>
              <a:lnSpc>
                <a:spcPct val="100000"/>
              </a:lnSpc>
              <a:spcBef>
                <a:spcPts val="0"/>
              </a:spcBef>
              <a:spcAft>
                <a:spcPts val="60"/>
              </a:spcAft>
            </a:pPr>
            <a:r>
              <a:rPr sz="700" b="0" i="0">
                <a:solidFill>
                  <a:srgbClr val="E5E7EB"/>
                </a:solidFill>
                <a:latin typeface="Consolas"/>
              </a:rPr>
              <a:t>print(f"  df['hours']           -&gt; {type(df['hours']).__name__} column")</a:t>
            </a:r>
          </a:p>
          <a:p>
            <a:pPr>
              <a:lnSpc>
                <a:spcPct val="100000"/>
              </a:lnSpc>
              <a:spcBef>
                <a:spcPts val="0"/>
              </a:spcBef>
              <a:spcAft>
                <a:spcPts val="60"/>
              </a:spcAft>
            </a:pPr>
            <a:r>
              <a:rPr sz="700" b="0" i="0">
                <a:solidFill>
                  <a:srgbClr val="E5E7EB"/>
                </a:solidFill>
                <a:latin typeface="Consolas"/>
              </a:rPr>
              <a:t>print(f"  df[['score','hours']] -&gt; {type(df[['score','hours']]).__name__} subset")</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sel = (df.loc[df["score"] &gt;= 70, ["score", "hours"]]</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out/f03_pandas_frames.txt</a:t>
            </a:r>
          </a:p>
        </p:txBody>
      </p:sp>
      <p:sp>
        <p:nvSpPr>
          <p:cNvPr id="14" name="TextBox 13"/>
          <p:cNvSpPr txBox="1"/>
          <p:nvPr/>
        </p:nvSpPr>
        <p:spPr>
          <a:xfrm>
            <a:off x="7004304" y="1938528"/>
            <a:ext cx="4572000" cy="4343400"/>
          </a:xfrm>
          <a:prstGeom prst="rect">
            <a:avLst/>
          </a:prstGeom>
          <a:noFill/>
        </p:spPr>
        <p:txBody>
          <a:bodyPr wrap="square" anchor="t" lIns="0" rIns="0" tIns="0" bIns="0">
            <a:spAutoFit/>
          </a:bodyPr>
          <a:lstStyle/>
          <a:p>
            <a:pPr>
              <a:lnSpc>
                <a:spcPct val="100000"/>
              </a:lnSpc>
              <a:spcBef>
                <a:spcPts val="0"/>
              </a:spcBef>
              <a:spcAft>
                <a:spcPts val="60"/>
              </a:spcAft>
            </a:pPr>
            <a:r>
              <a:rPr sz="710" b="0" i="0">
                <a:solidFill>
                  <a:srgbClr val="14171C"/>
                </a:solidFill>
                <a:latin typeface="Consolas"/>
              </a:rPr>
              <a:t>$ python3 src/f03_pandas_frames.py</a:t>
            </a:r>
          </a:p>
          <a:p>
            <a:pPr>
              <a:lnSpc>
                <a:spcPct val="100000"/>
              </a:lnSpc>
              <a:spcBef>
                <a:spcPts val="0"/>
              </a:spcBef>
              <a:spcAft>
                <a:spcPts val="60"/>
              </a:spcAft>
            </a:pPr>
            <a:r>
              <a:rPr sz="710" b="0" i="0">
                <a:solidFill>
                  <a:srgbClr val="14171C"/>
                </a:solidFill>
                <a:latin typeface="Consolas"/>
              </a:rPr>
              <a:t>== F-03  Pandas anatomy: Series vs frame, .loc/.iloc, one chained query ==</a:t>
            </a:r>
          </a:p>
          <a:p>
            <a:pPr>
              <a:lnSpc>
                <a:spcPct val="100000"/>
              </a:lnSpc>
              <a:spcBef>
                <a:spcPts val="0"/>
              </a:spcBef>
              <a:spcAft>
                <a:spcPts val="60"/>
              </a:spcAft>
            </a:pPr>
            <a:r>
              <a:rPr sz="710" b="0" i="0">
                <a:solidFill>
                  <a:srgbClr val="14171C"/>
                </a:solidFill>
                <a:latin typeface="Consolas"/>
              </a:rPr>
              <a:t> </a:t>
            </a:r>
          </a:p>
          <a:p>
            <a:pPr>
              <a:lnSpc>
                <a:spcPct val="100000"/>
              </a:lnSpc>
              <a:spcBef>
                <a:spcPts val="0"/>
              </a:spcBef>
              <a:spcAft>
                <a:spcPts val="60"/>
              </a:spcAft>
            </a:pPr>
            <a:r>
              <a:rPr sz="710" b="0" i="0">
                <a:solidFill>
                  <a:srgbClr val="14171C"/>
                </a:solidFill>
                <a:latin typeface="Consolas"/>
              </a:rPr>
              <a:t>a Series is a labelled vector -- the index is data, not decoration:</a:t>
            </a:r>
          </a:p>
          <a:p>
            <a:pPr>
              <a:lnSpc>
                <a:spcPct val="100000"/>
              </a:lnSpc>
              <a:spcBef>
                <a:spcPts val="0"/>
              </a:spcBef>
              <a:spcAft>
                <a:spcPts val="60"/>
              </a:spcAft>
            </a:pPr>
            <a:r>
              <a:rPr sz="710" b="0" i="0">
                <a:solidFill>
                  <a:srgbClr val="14171C"/>
                </a:solidFill>
                <a:latin typeface="Consolas"/>
              </a:rPr>
              <a:t>Asha      88</a:t>
            </a:r>
          </a:p>
          <a:p>
            <a:pPr>
              <a:lnSpc>
                <a:spcPct val="100000"/>
              </a:lnSpc>
              <a:spcBef>
                <a:spcPts val="0"/>
              </a:spcBef>
              <a:spcAft>
                <a:spcPts val="60"/>
              </a:spcAft>
            </a:pPr>
            <a:r>
              <a:rPr sz="710" b="0" i="0">
                <a:solidFill>
                  <a:srgbClr val="14171C"/>
                </a:solidFill>
                <a:latin typeface="Consolas"/>
              </a:rPr>
              <a:t>Deepak    54</a:t>
            </a:r>
          </a:p>
          <a:p>
            <a:pPr>
              <a:lnSpc>
                <a:spcPct val="100000"/>
              </a:lnSpc>
              <a:spcBef>
                <a:spcPts val="0"/>
              </a:spcBef>
              <a:spcAft>
                <a:spcPts val="60"/>
              </a:spcAft>
            </a:pPr>
            <a:r>
              <a:rPr sz="710" b="0" i="0">
                <a:solidFill>
                  <a:srgbClr val="14171C"/>
                </a:solidFill>
                <a:latin typeface="Consolas"/>
              </a:rPr>
              <a:t>Kiran     72</a:t>
            </a:r>
          </a:p>
          <a:p>
            <a:pPr>
              <a:lnSpc>
                <a:spcPct val="100000"/>
              </a:lnSpc>
              <a:spcBef>
                <a:spcPts val="0"/>
              </a:spcBef>
              <a:spcAft>
                <a:spcPts val="60"/>
              </a:spcAft>
            </a:pPr>
            <a:r>
              <a:rPr sz="710" b="0" i="0">
                <a:solidFill>
                  <a:srgbClr val="14171C"/>
                </a:solidFill>
                <a:latin typeface="Consolas"/>
              </a:rPr>
              <a:t>Neel      91</a:t>
            </a:r>
          </a:p>
          <a:p>
            <a:pPr>
              <a:lnSpc>
                <a:spcPct val="100000"/>
              </a:lnSpc>
              <a:spcBef>
                <a:spcPts val="0"/>
              </a:spcBef>
              <a:spcAft>
                <a:spcPts val="60"/>
              </a:spcAft>
            </a:pPr>
            <a:r>
              <a:rPr sz="710" b="0" i="0">
                <a:solidFill>
                  <a:srgbClr val="14171C"/>
                </a:solidFill>
                <a:latin typeface="Consolas"/>
              </a:rPr>
              <a:t>Sara      66</a:t>
            </a:r>
          </a:p>
          <a:p>
            <a:pPr>
              <a:lnSpc>
                <a:spcPct val="100000"/>
              </a:lnSpc>
              <a:spcBef>
                <a:spcPts val="0"/>
              </a:spcBef>
              <a:spcAft>
                <a:spcPts val="60"/>
              </a:spcAft>
            </a:pPr>
            <a:r>
              <a:rPr sz="710" b="0" i="0">
                <a:solidFill>
                  <a:srgbClr val="14171C"/>
                </a:solidFill>
                <a:latin typeface="Consolas"/>
              </a:rPr>
              <a:t>  dtype=int64  mean=74.20  s['Kiran']=72</a:t>
            </a:r>
          </a:p>
          <a:p>
            <a:pPr>
              <a:lnSpc>
                <a:spcPct val="100000"/>
              </a:lnSpc>
              <a:spcBef>
                <a:spcPts val="0"/>
              </a:spcBef>
              <a:spcAft>
                <a:spcPts val="60"/>
              </a:spcAft>
            </a:pPr>
            <a:r>
              <a:rPr sz="710" b="0" i="0">
                <a:solidFill>
                  <a:srgbClr val="14171C"/>
                </a:solidFill>
                <a:latin typeface="Consolas"/>
              </a:rPr>
              <a:t> </a:t>
            </a:r>
          </a:p>
          <a:p>
            <a:pPr>
              <a:lnSpc>
                <a:spcPct val="100000"/>
              </a:lnSpc>
              <a:spcBef>
                <a:spcPts val="0"/>
              </a:spcBef>
              <a:spcAft>
                <a:spcPts val="60"/>
              </a:spcAft>
            </a:pPr>
            <a:r>
              <a:rPr sz="710" b="0" i="0">
                <a:solidFill>
                  <a:srgbClr val="14171C"/>
                </a:solidFill>
                <a:latin typeface="Consolas"/>
              </a:rPr>
              <a:t>a DataFrame is a dict of equal-length Series (columns); index can be anything:</a:t>
            </a:r>
          </a:p>
          <a:p>
            <a:pPr>
              <a:lnSpc>
                <a:spcPct val="100000"/>
              </a:lnSpc>
              <a:spcBef>
                <a:spcPts val="0"/>
              </a:spcBef>
              <a:spcAft>
                <a:spcPts val="60"/>
              </a:spcAft>
            </a:pPr>
            <a:r>
              <a:rPr sz="710" b="0" i="0">
                <a:solidFill>
                  <a:srgbClr val="14171C"/>
                </a:solidFill>
                <a:latin typeface="Consolas"/>
              </a:rPr>
              <a:t>   score  hours   pass     grade</a:t>
            </a:r>
          </a:p>
          <a:p>
            <a:pPr>
              <a:lnSpc>
                <a:spcPct val="100000"/>
              </a:lnSpc>
              <a:spcBef>
                <a:spcPts val="0"/>
              </a:spcBef>
              <a:spcAft>
                <a:spcPts val="60"/>
              </a:spcAft>
            </a:pPr>
            <a:r>
              <a:rPr sz="710" b="0" i="0">
                <a:solidFill>
                  <a:srgbClr val="14171C"/>
                </a:solidFill>
                <a:latin typeface="Consolas"/>
              </a:rPr>
              <a:t>A     88    7.5   True  above 75</a:t>
            </a:r>
          </a:p>
          <a:p>
            <a:pPr>
              <a:lnSpc>
                <a:spcPct val="100000"/>
              </a:lnSpc>
              <a:spcBef>
                <a:spcPts val="0"/>
              </a:spcBef>
              <a:spcAft>
                <a:spcPts val="60"/>
              </a:spcAft>
            </a:pPr>
            <a:r>
              <a:rPr sz="710" b="0" i="0">
                <a:solidFill>
                  <a:srgbClr val="14171C"/>
                </a:solidFill>
                <a:latin typeface="Consolas"/>
              </a:rPr>
              <a:t>B     54    2.0  False  below 60</a:t>
            </a:r>
          </a:p>
          <a:p>
            <a:pPr>
              <a:lnSpc>
                <a:spcPct val="100000"/>
              </a:lnSpc>
              <a:spcBef>
                <a:spcPts val="0"/>
              </a:spcBef>
              <a:spcAft>
                <a:spcPts val="60"/>
              </a:spcAft>
            </a:pPr>
            <a:r>
              <a:rPr sz="710" b="0" i="0">
                <a:solidFill>
                  <a:srgbClr val="14171C"/>
                </a:solidFill>
                <a:latin typeface="Consolas"/>
              </a:rPr>
              <a:t>C     72    5.0   True     60-75</a:t>
            </a:r>
          </a:p>
          <a:p>
            <a:pPr>
              <a:lnSpc>
                <a:spcPct val="100000"/>
              </a:lnSpc>
              <a:spcBef>
                <a:spcPts val="0"/>
              </a:spcBef>
              <a:spcAft>
                <a:spcPts val="60"/>
              </a:spcAft>
            </a:pPr>
            <a:r>
              <a:rPr sz="710" b="0" i="0">
                <a:solidFill>
                  <a:srgbClr val="14171C"/>
                </a:solidFill>
                <a:latin typeface="Consolas"/>
              </a:rPr>
              <a:t>D     91    8.5   True  above 75</a:t>
            </a:r>
          </a:p>
          <a:p>
            <a:pPr>
              <a:lnSpc>
                <a:spcPct val="100000"/>
              </a:lnSpc>
              <a:spcBef>
                <a:spcPts val="0"/>
              </a:spcBef>
              <a:spcAft>
                <a:spcPts val="60"/>
              </a:spcAft>
            </a:pPr>
            <a:r>
              <a:rPr sz="710" b="0" i="0">
                <a:solidFill>
                  <a:srgbClr val="14171C"/>
                </a:solidFill>
                <a:latin typeface="Consolas"/>
              </a:rPr>
              <a:t>E     66    3.5  False     60-75</a:t>
            </a:r>
          </a:p>
          <a:p>
            <a:pPr>
              <a:lnSpc>
                <a:spcPct val="100000"/>
              </a:lnSpc>
              <a:spcBef>
                <a:spcPts val="0"/>
              </a:spcBef>
              <a:spcAft>
                <a:spcPts val="60"/>
              </a:spcAft>
            </a:pPr>
            <a:r>
              <a:rPr sz="710" b="0" i="0">
                <a:solidFill>
                  <a:srgbClr val="14171C"/>
                </a:solidFill>
                <a:latin typeface="Consolas"/>
              </a:rPr>
              <a:t> </a:t>
            </a:r>
          </a:p>
          <a:p>
            <a:pPr>
              <a:lnSpc>
                <a:spcPct val="100000"/>
              </a:lnSpc>
              <a:spcBef>
                <a:spcPts val="0"/>
              </a:spcBef>
              <a:spcAft>
                <a:spcPts val="60"/>
              </a:spcAft>
            </a:pPr>
            <a:r>
              <a:rPr sz="710" b="0" i="0">
                <a:solidFill>
                  <a:srgbClr val="14171C"/>
                </a:solidFill>
                <a:latin typeface="Consolas"/>
              </a:rPr>
              <a:t>the four indexing operators, four different answers on purpose:</a:t>
            </a:r>
          </a:p>
          <a:p>
            <a:pPr>
              <a:lnSpc>
                <a:spcPct val="100000"/>
              </a:lnSpc>
              <a:spcBef>
                <a:spcPts val="0"/>
              </a:spcBef>
              <a:spcAft>
                <a:spcPts val="60"/>
              </a:spcAft>
            </a:pPr>
            <a:r>
              <a:rPr sz="710" b="0" i="0">
                <a:solidFill>
                  <a:srgbClr val="14171C"/>
                </a:solidFill>
                <a:latin typeface="Consolas"/>
              </a:rPr>
              <a:t>  df.loc['B','score']   -&gt; 54   (label, label)</a:t>
            </a:r>
          </a:p>
          <a:p>
            <a:pPr>
              <a:lnSpc>
                <a:spcPct val="100000"/>
              </a:lnSpc>
              <a:spcBef>
                <a:spcPts val="0"/>
              </a:spcBef>
              <a:spcAft>
                <a:spcPts val="60"/>
              </a:spcAft>
            </a:pPr>
            <a:r>
              <a:rPr sz="710" b="0" i="0">
                <a:solidFill>
                  <a:srgbClr val="14171C"/>
                </a:solidFill>
                <a:latin typeface="Consolas"/>
              </a:rPr>
              <a:t>  df.iloc[1, 0]         -&gt; 54   (position, position)</a:t>
            </a:r>
          </a:p>
          <a:p>
            <a:pPr>
              <a:lnSpc>
                <a:spcPct val="100000"/>
              </a:lnSpc>
              <a:spcBef>
                <a:spcPts val="0"/>
              </a:spcBef>
              <a:spcAft>
                <a:spcPts val="60"/>
              </a:spcAft>
            </a:pPr>
            <a:r>
              <a:rPr sz="710" b="0" i="0">
                <a:solidFill>
                  <a:srgbClr val="14171C"/>
                </a:solidFill>
                <a:latin typeface="Consolas"/>
              </a:rPr>
              <a:t>  df['hours']           -&gt; Series column</a:t>
            </a:r>
          </a:p>
          <a:p>
            <a:pPr>
              <a:lnSpc>
                <a:spcPct val="100000"/>
              </a:lnSpc>
              <a:spcBef>
                <a:spcPts val="0"/>
              </a:spcBef>
              <a:spcAft>
                <a:spcPts val="60"/>
              </a:spcAft>
            </a:pPr>
            <a:r>
              <a:rPr sz="710" b="0" i="0">
                <a:solidFill>
                  <a:srgbClr val="14171C"/>
                </a:solidFill>
                <a:latin typeface="Consolas"/>
              </a:rPr>
              <a:t>  df[['score','hours']] -&gt; DataFrame subset</a:t>
            </a:r>
          </a:p>
          <a:p>
            <a:pPr>
              <a:lnSpc>
                <a:spcPct val="100000"/>
              </a:lnSpc>
              <a:spcBef>
                <a:spcPts val="0"/>
              </a:spcBef>
              <a:spcAft>
                <a:spcPts val="60"/>
              </a:spcAft>
            </a:pPr>
            <a:r>
              <a:rPr sz="710" b="0" i="0">
                <a:solidFill>
                  <a:srgbClr val="14171C"/>
                </a:solidFill>
                <a:latin typeface="Consolas"/>
              </a:rPr>
              <a:t> </a:t>
            </a:r>
          </a:p>
          <a:p>
            <a:pPr>
              <a:lnSpc>
                <a:spcPct val="100000"/>
              </a:lnSpc>
              <a:spcBef>
                <a:spcPts val="0"/>
              </a:spcBef>
              <a:spcAft>
                <a:spcPts val="60"/>
              </a:spcAft>
            </a:pPr>
            <a:r>
              <a:rPr sz="710" b="0" i="0">
                <a:solidFill>
                  <a:srgbClr val="14171C"/>
                </a:solidFill>
                <a:latin typeface="Consolas"/>
              </a:rPr>
              <a:t>filter-sort-select in ONE expression (the whole EDA grammar in a line):</a:t>
            </a:r>
          </a:p>
          <a:p>
            <a:pPr>
              <a:lnSpc>
                <a:spcPct val="100000"/>
              </a:lnSpc>
              <a:spcBef>
                <a:spcPts val="0"/>
              </a:spcBef>
              <a:spcAft>
                <a:spcPts val="60"/>
              </a:spcAft>
            </a:pPr>
            <a:r>
              <a:rPr sz="710" b="0" i="0">
                <a:solidFill>
                  <a:srgbClr val="14171C"/>
                </a:solidFill>
                <a:latin typeface="Consolas"/>
              </a:rPr>
              <a:t>   score  hours</a:t>
            </a:r>
          </a:p>
          <a:p>
            <a:pPr>
              <a:lnSpc>
                <a:spcPct val="100000"/>
              </a:lnSpc>
              <a:spcBef>
                <a:spcPts val="0"/>
              </a:spcBef>
              <a:spcAft>
                <a:spcPts val="60"/>
              </a:spcAft>
            </a:pPr>
            <a:r>
              <a:rPr sz="710" b="0" i="0">
                <a:solidFill>
                  <a:srgbClr val="14171C"/>
                </a:solidFill>
                <a:latin typeface="Consolas"/>
              </a:rPr>
              <a:t>D     91    8.5</a:t>
            </a:r>
          </a:p>
          <a:p>
            <a:pPr>
              <a:lnSpc>
                <a:spcPct val="100000"/>
              </a:lnSpc>
              <a:spcBef>
                <a:spcPts val="0"/>
              </a:spcBef>
              <a:spcAft>
                <a:spcPts val="60"/>
              </a:spcAft>
            </a:pPr>
            <a:r>
              <a:rPr sz="710" b="0" i="0">
                <a:solidFill>
                  <a:srgbClr val="14171C"/>
                </a:solidFill>
                <a:latin typeface="Consolas"/>
              </a:rPr>
              <a:t>A     88    7.5</a:t>
            </a:r>
          </a:p>
          <a:p>
            <a:pPr>
              <a:lnSpc>
                <a:spcPct val="100000"/>
              </a:lnSpc>
              <a:spcBef>
                <a:spcPts val="0"/>
              </a:spcBef>
              <a:spcAft>
                <a:spcPts val="60"/>
              </a:spcAft>
            </a:pPr>
            <a:r>
              <a:rPr sz="710" b="0" i="0">
                <a:solidFill>
                  <a:srgbClr val="14171C"/>
                </a:solidFill>
                <a:latin typeface="Consolas"/>
              </a:rPr>
              <a:t>C     72    5.0</a:t>
            </a:r>
          </a:p>
          <a:p>
            <a:pPr>
              <a:lnSpc>
                <a:spcPct val="100000"/>
              </a:lnSpc>
              <a:spcBef>
                <a:spcPts val="0"/>
              </a:spcBef>
              <a:spcAft>
                <a:spcPts val="60"/>
              </a:spcAft>
            </a:pPr>
            <a:r>
              <a:rPr sz="710" b="0" i="0">
                <a:solidFill>
                  <a:srgbClr val="14171C"/>
                </a:solidFill>
                <a:latin typeface="Consolas"/>
              </a:rPr>
              <a:t>  mean hours of that subset: 7.00  vs overall 5.30</a:t>
            </a:r>
          </a:p>
          <a:p>
            <a:pPr>
              <a:lnSpc>
                <a:spcPct val="100000"/>
              </a:lnSpc>
              <a:spcBef>
                <a:spcPts val="0"/>
              </a:spcBef>
              <a:spcAft>
                <a:spcPts val="60"/>
              </a:spcAft>
            </a:pPr>
            <a:r>
              <a:rPr sz="710" b="0" i="0">
                <a:solidFill>
                  <a:srgbClr val="14171C"/>
                </a:solidFill>
                <a:latin typeface="Consolas"/>
              </a:rPr>
              <a:t> </a:t>
            </a:r>
          </a:p>
          <a:p>
            <a:pPr>
              <a:lnSpc>
                <a:spcPct val="100000"/>
              </a:lnSpc>
              <a:spcBef>
                <a:spcPts val="0"/>
              </a:spcBef>
              <a:spcAft>
                <a:spcPts val="60"/>
              </a:spcAft>
            </a:pPr>
            <a:r>
              <a:rPr sz="710" b="0" i="0">
                <a:solidFill>
                  <a:srgbClr val="14171C"/>
                </a:solidFill>
                <a:latin typeface="Consolas"/>
              </a:rPr>
              <a:t>F03 RESULT: Series/frame model, loc-iloc-bracket-brace, one chained query -- PASS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TOOLKIT 2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Toolkit 2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13</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Why does reshaping a 3×4 view out of twelve integers cost nothing? Answer in terms of the three attributes numpy prints about an array.</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A colleague computes x[x&gt;80].size and a for-loop counter and gets 12 and 12. Which result is evidence and which is the claim, and why print both?</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Explain why a[:, 1] and a[:, 1:2] broadcast differently against a row — and which one keeps the result the same shape as a.</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Give one concrete reason the book's datasets carry their NaN in float64 columns, and state what would change if study_hours were stored as int16.</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From the demo frame: df.loc['B','score'] and df.iloc[1,0] both print 54. Construct a two-line frame where the same pair of calls disagrees, and say which is safer for report code.</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Q6.  </a:t>
            </a:r>
            <a:r>
              <a:rPr sz="1450" b="0" i="0">
                <a:solidFill>
                  <a:srgbClr val="16181D"/>
                </a:solidFill>
                <a:latin typeface="Calibri"/>
              </a:rPr>
              <a:t>Rewrite the chained filter-sort-select in the demo as three named intermediate frames; argue for one of the two styles in a submission.</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§2.5 — these are report-defence-shaped practice.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TOOLKIT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Toolkit 3 — Charts as objects, relationships as numbers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14</a:t>
            </a:r>
          </a:p>
        </p:txBody>
      </p:sp>
      <p:sp>
        <p:nvSpPr>
          <p:cNvPr id="8" name="TextBox 7"/>
          <p:cNvSpPr txBox="1"/>
          <p:nvPr/>
        </p:nvSpPr>
        <p:spPr>
          <a:xfrm>
            <a:off x="502920" y="1463040"/>
            <a:ext cx="11155680" cy="530352"/>
          </a:xfrm>
          <a:prstGeom prst="rect">
            <a:avLst/>
          </a:prstGeom>
          <a:noFill/>
        </p:spPr>
        <p:txBody>
          <a:bodyPr wrap="square" anchor="t" lIns="0" rIns="0" tIns="0" bIns="0">
            <a:spAutoFit/>
          </a:bodyPr>
          <a:lstStyle/>
          <a:p>
            <a:pPr>
              <a:lnSpc>
                <a:spcPct val="106000"/>
              </a:lnSpc>
              <a:spcBef>
                <a:spcPts val="0"/>
              </a:spcBef>
              <a:spcAft>
                <a:spcPts val="0"/>
              </a:spcAft>
            </a:pPr>
            <a:r>
              <a:rPr sz="1400" b="1" i="0">
                <a:solidFill>
                  <a:srgbClr val="B3261E"/>
                </a:solidFill>
                <a:latin typeface="Calibri"/>
              </a:rPr>
              <a:t>CO5</a:t>
            </a:r>
            <a:r>
              <a:rPr sz="1250" b="0" i="0">
                <a:solidFill>
                  <a:srgbClr val="4B5563"/>
                </a:solidFill>
                <a:latin typeface="Calibri"/>
              </a:rPr>
              <a:t>    ·    demos: f04_matplotlib_fig.py</a:t>
            </a:r>
            <a:r>
              <a:rPr sz="1200" b="0" i="0">
                <a:solidFill>
                  <a:srgbClr val="4B5563"/>
                </a:solidFill>
                <a:latin typeface="Calibri"/>
              </a:rPr>
              <a:t>    ·    VanderPlas Ch. 4 (Matplotlib) · Ch. 5 (Seaborn) · seaborn.pydata.org tutorial</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The visualization chapter of the toolkit: build the figure, interrogate the figure, and keep the printed table as the source of truth the caption quotes.</a:t>
            </a:r>
          </a:p>
          <a:p>
            <a:pPr marL="201168" indent="-201168">
              <a:lnSpc>
                <a:spcPct val="104000"/>
              </a:lnSpc>
              <a:spcBef>
                <a:spcPts val="0"/>
              </a:spcBef>
              <a:spcAft>
                <a:spcPts val="900"/>
              </a:spcAft>
            </a:pPr>
            <a:r>
              <a:rPr sz="1350" b="1" i="0">
                <a:solidFill>
                  <a:srgbClr val="B3261E"/>
                </a:solidFill>
                <a:latin typeface="Calibri"/>
              </a:rPr>
              <a:t>•  </a:t>
            </a:r>
            <a:r>
              <a:rPr sz="1350" b="1" i="0">
                <a:solidFill>
                  <a:srgbClr val="16181D"/>
                </a:solidFill>
                <a:latin typeface="Calibri"/>
              </a:rPr>
              <a:t>Demo — </a:t>
            </a:r>
            <a:r>
              <a:rPr sz="1350" b="0" i="0">
                <a:solidFill>
                  <a:srgbClr val="16181D"/>
                </a:solidFill>
                <a:latin typeface="Calibri"/>
              </a:rPr>
              <a:t>The object tree, interrogated</a:t>
            </a:r>
            <a:r>
              <a:rPr sz="1350" b="0" i="0">
                <a:solidFill>
                  <a:srgbClr val="16181D"/>
                </a:solidFill>
                <a:latin typeface="Calibri"/>
              </a:rPr>
              <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TOOLKIT 3 ROLE (VERBATIM)</a:t>
            </a:r>
          </a:p>
          <a:p>
            <a:pPr>
              <a:lnSpc>
                <a:spcPct val="108000"/>
              </a:lnSpc>
              <a:spcBef>
                <a:spcPts val="0"/>
              </a:spcBef>
              <a:spcAft>
                <a:spcPts val="0"/>
              </a:spcAft>
            </a:pPr>
            <a:r>
              <a:rPr sz="1100" b="0" i="0">
                <a:solidFill>
                  <a:srgbClr val="16181D"/>
                </a:solidFill>
                <a:latin typeface="Calibri"/>
              </a:rPr>
              <a:t>Supports CO5 and the three visualisation experiments (9, 10, 11): figure before data, never after; every picture cited by a table.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TOOLKIT 3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Figures are object trees, not bitmaps — interrogate before you trust</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15</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Off-screen by design: </a:t>
            </a:r>
            <a:r>
              <a:rPr sz="1150" b="0" i="0">
                <a:solidFill>
                  <a:srgbClr val="B3261E"/>
                </a:solidFill>
                <a:latin typeface="Consolas"/>
              </a:rPr>
              <a:t>backend in use: matplotlib.FigureCanvasAgg</a:t>
            </a:r>
            <a:r>
              <a:rPr sz="1400" b="0" i="0">
                <a:solidFill>
                  <a:srgbClr val="16181D"/>
                </a:solidFill>
                <a:latin typeface="Calibri"/>
              </a:rPr>
              <a:t> — no window in the collector, so the PNG bytes are deterministic.</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tree answers questions: </a:t>
            </a:r>
            <a:r>
              <a:rPr sz="1150" b="0" i="0">
                <a:solidFill>
                  <a:srgbClr val="B3261E"/>
                </a:solidFill>
                <a:latin typeface="Consolas"/>
              </a:rPr>
              <a:t>bar patches   : 3  heights: 61.5, 65.2, 68.9</a:t>
            </a:r>
            <a:r>
              <a:rPr sz="1400" b="0" i="0">
                <a:solidFill>
                  <a:srgbClr val="16181D"/>
                </a:solidFill>
                <a:latin typeface="Calibri"/>
              </a:rPr>
              <a:t> — the bars the program drew, read back from the artists, not from the eye.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Baselines are a choice: </a:t>
            </a:r>
            <a:r>
              <a:rPr sz="1150" b="0" i="0">
                <a:solidFill>
                  <a:srgbClr val="B3261E"/>
                </a:solidFill>
                <a:latin typeface="Consolas"/>
              </a:rPr>
              <a:t>y data range  : 0.0 .. 72.3</a:t>
            </a:r>
            <a:r>
              <a:rPr sz="1400" b="0" i="0">
                <a:solidFill>
                  <a:srgbClr val="16181D"/>
                </a:solidFill>
                <a:latin typeface="Calibri"/>
              </a:rPr>
              <a:t> then </a:t>
            </a:r>
            <a:r>
              <a:rPr sz="1150" b="0" i="0">
                <a:solidFill>
                  <a:srgbClr val="B3261E"/>
                </a:solidFill>
                <a:latin typeface="Consolas"/>
              </a:rPr>
              <a:t>after set_ylim(0,100): 0 .. 100</a:t>
            </a:r>
            <a:r>
              <a:rPr sz="1400" b="0" i="0">
                <a:solidFill>
                  <a:srgbClr val="16181D"/>
                </a:solidFill>
                <a:latin typeface="Calibri"/>
              </a:rPr>
              <a:t> — the capture's own words: honest baselines are a choice, not a default.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artifact with its fingerprint: </a:t>
            </a:r>
            <a:r>
              <a:rPr sz="1200" b="0" i="0">
                <a:solidFill>
                  <a:srgbClr val="B3261E"/>
                </a:solidFill>
                <a:latin typeface="Consolas"/>
              </a:rPr>
              <a:t>saved f04_bars.png: 12580 bytes</a:t>
            </a:r>
            <a:r>
              <a:rPr sz="1400" b="0" i="0">
                <a:solidFill>
                  <a:srgbClr val="16181D"/>
                </a:solidFill>
                <a:latin typeface="Calibri"/>
              </a:rPr>
              <a:t> — a figure a report can cite by size because the program printed it.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Rule: every figure in this deck and book decorates numbers already printed above it.</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src/f04_matplotlib_fig.py</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"""F-04  The figure IS an object tree: build a chart, then interrogate it.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The Agg backend draws off-screen, so the same figure a student sees in a notebook</a:t>
            </a:r>
          </a:p>
          <a:p>
            <a:pPr>
              <a:lnSpc>
                <a:spcPct val="100000"/>
              </a:lnSpc>
              <a:spcBef>
                <a:spcPts val="0"/>
              </a:spcBef>
              <a:spcAft>
                <a:spcPts val="60"/>
              </a:spcAft>
            </a:pPr>
            <a:r>
              <a:rPr sz="700" b="0" i="0">
                <a:solidFill>
                  <a:srgbClr val="E5E7EB"/>
                </a:solidFill>
                <a:latin typeface="Consolas"/>
              </a:rPr>
              <a:t>cell can be saved and inspected programmatically -- here both happen.</a:t>
            </a:r>
          </a:p>
          <a:p>
            <a:pPr>
              <a:lnSpc>
                <a:spcPct val="100000"/>
              </a:lnSpc>
              <a:spcBef>
                <a:spcPts val="0"/>
              </a:spcBef>
              <a:spcAft>
                <a:spcPts val="60"/>
              </a:spcAft>
            </a:pPr>
            <a:r>
              <a:rPr sz="700" b="0" i="0">
                <a:solidFill>
                  <a:srgbClr val="E5E7EB"/>
                </a:solidFill>
                <a:latin typeface="Consolas"/>
              </a:rPr>
              <a:t>Usage: python3 src/f04_matplotlib_fig.py &lt;outdir&gt;</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os</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matplotlib</a:t>
            </a:r>
          </a:p>
          <a:p>
            <a:pPr>
              <a:lnSpc>
                <a:spcPct val="100000"/>
              </a:lnSpc>
              <a:spcBef>
                <a:spcPts val="0"/>
              </a:spcBef>
              <a:spcAft>
                <a:spcPts val="60"/>
              </a:spcAft>
            </a:pPr>
            <a:r>
              <a:rPr sz="700" b="0" i="0">
                <a:solidFill>
                  <a:srgbClr val="E5E7EB"/>
                </a:solidFill>
                <a:latin typeface="Consolas"/>
              </a:rPr>
              <a:t>matplotlib.use("Agg")</a:t>
            </a:r>
          </a:p>
          <a:p>
            <a:pPr>
              <a:lnSpc>
                <a:spcPct val="100000"/>
              </a:lnSpc>
              <a:spcBef>
                <a:spcPts val="0"/>
              </a:spcBef>
              <a:spcAft>
                <a:spcPts val="60"/>
              </a:spcAft>
            </a:pPr>
            <a:r>
              <a:rPr sz="700" b="0" i="0">
                <a:solidFill>
                  <a:srgbClr val="E5E7EB"/>
                </a:solidFill>
                <a:latin typeface="Consolas"/>
              </a:rPr>
              <a:t>import matplotlib.pyplot as plt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OUT = sys.argv[1] if len(sys.argv) &gt; 1 else "."</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F-04  Matplotlib's object model: fig, ax, artists -- saved AND inspected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fig, ax = plt.subplots(figsize=(6.0, 3.6), dpi=100)</a:t>
            </a:r>
          </a:p>
          <a:p>
            <a:pPr>
              <a:lnSpc>
                <a:spcPct val="100000"/>
              </a:lnSpc>
              <a:spcBef>
                <a:spcPts val="0"/>
              </a:spcBef>
              <a:spcAft>
                <a:spcPts val="60"/>
              </a:spcAft>
            </a:pPr>
            <a:r>
              <a:rPr sz="700" b="0" i="0">
                <a:solidFill>
                  <a:srgbClr val="E5E7EB"/>
                </a:solidFill>
                <a:latin typeface="Consolas"/>
              </a:rPr>
              <a:t>cats = ["group A", "group B", "group C"]</a:t>
            </a:r>
          </a:p>
          <a:p>
            <a:pPr>
              <a:lnSpc>
                <a:spcPct val="100000"/>
              </a:lnSpc>
              <a:spcBef>
                <a:spcPts val="0"/>
              </a:spcBef>
              <a:spcAft>
                <a:spcPts val="60"/>
              </a:spcAft>
            </a:pPr>
            <a:r>
              <a:rPr sz="700" b="0" i="0">
                <a:solidFill>
                  <a:srgbClr val="E5E7EB"/>
                </a:solidFill>
                <a:latin typeface="Consolas"/>
              </a:rPr>
              <a:t>vals = [61.5, 65.2, 68.9]</a:t>
            </a:r>
          </a:p>
          <a:p>
            <a:pPr>
              <a:lnSpc>
                <a:spcPct val="100000"/>
              </a:lnSpc>
              <a:spcBef>
                <a:spcPts val="0"/>
              </a:spcBef>
              <a:spcAft>
                <a:spcPts val="60"/>
              </a:spcAft>
            </a:pPr>
            <a:r>
              <a:rPr sz="700" b="0" i="0">
                <a:solidFill>
                  <a:srgbClr val="E5E7EB"/>
                </a:solidFill>
                <a:latin typeface="Consolas"/>
              </a:rPr>
              <a:t>bars = ax.bar(cats, vals, color="#4c72b0")</a:t>
            </a:r>
          </a:p>
          <a:p>
            <a:pPr>
              <a:lnSpc>
                <a:spcPct val="100000"/>
              </a:lnSpc>
              <a:spcBef>
                <a:spcPts val="0"/>
              </a:spcBef>
              <a:spcAft>
                <a:spcPts val="60"/>
              </a:spcAft>
            </a:pPr>
            <a:r>
              <a:rPr sz="700" b="0" i="0">
                <a:solidFill>
                  <a:srgbClr val="E5E7EB"/>
                </a:solidFill>
                <a:latin typeface="Consolas"/>
              </a:rPr>
              <a:t>ax.set_ylabel("mean score")</a:t>
            </a:r>
          </a:p>
          <a:p>
            <a:pPr>
              <a:lnSpc>
                <a:spcPct val="100000"/>
              </a:lnSpc>
              <a:spcBef>
                <a:spcPts val="0"/>
              </a:spcBef>
              <a:spcAft>
                <a:spcPts val="60"/>
              </a:spcAft>
            </a:pPr>
            <a:r>
              <a:rPr sz="700" b="0" i="0">
                <a:solidFill>
                  <a:srgbClr val="E5E7EB"/>
                </a:solidFill>
                <a:latin typeface="Consolas"/>
              </a:rPr>
              <a:t>ax.set_title("mean score by group")</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print("backend in use:", fig.canvas.get_renderer().__class__.__module__.split(".")[0]</a:t>
            </a:r>
          </a:p>
          <a:p>
            <a:pPr>
              <a:lnSpc>
                <a:spcPct val="100000"/>
              </a:lnSpc>
              <a:spcBef>
                <a:spcPts val="0"/>
              </a:spcBef>
              <a:spcAft>
                <a:spcPts val="60"/>
              </a:spcAft>
            </a:pPr>
            <a:r>
              <a:rPr sz="700" b="0" i="0">
                <a:solidFill>
                  <a:srgbClr val="E5E7EB"/>
                </a:solidFill>
                <a:latin typeface="Consolas"/>
              </a:rPr>
              <a:t>      + "." + type(fig.canvas).__name__, "(off-screen)")</a:t>
            </a:r>
          </a:p>
          <a:p>
            <a:pPr>
              <a:lnSpc>
                <a:spcPct val="100000"/>
              </a:lnSpc>
              <a:spcBef>
                <a:spcPts val="0"/>
              </a:spcBef>
              <a:spcAft>
                <a:spcPts val="60"/>
              </a:spcAft>
            </a:pPr>
            <a:r>
              <a:rPr sz="700" b="0" i="0">
                <a:solidFill>
                  <a:srgbClr val="E5E7EB"/>
                </a:solidFill>
                <a:latin typeface="Consolas"/>
              </a:rPr>
              <a:t>print(f"figure size   : {fig.get_size_inches()[0]:.1f} x {fig.get_size_inches()[1]:.1f} in"</a:t>
            </a:r>
          </a:p>
          <a:p>
            <a:pPr>
              <a:lnSpc>
                <a:spcPct val="100000"/>
              </a:lnSpc>
              <a:spcBef>
                <a:spcPts val="0"/>
              </a:spcBef>
              <a:spcAft>
                <a:spcPts val="60"/>
              </a:spcAft>
            </a:pPr>
            <a:r>
              <a:rPr sz="700" b="0" i="0">
                <a:solidFill>
                  <a:srgbClr val="E5E7EB"/>
                </a:solidFill>
                <a:latin typeface="Consolas"/>
              </a:rPr>
              <a:t>  …  (complete source: the course book)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TOOLKIT 3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Plots read from printed tables — pictures after arithmetic</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16</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marginal gap, printed first: </a:t>
            </a:r>
            <a:r>
              <a:rPr sz="1100" b="0" i="0">
                <a:solidFill>
                  <a:srgbClr val="B3261E"/>
                </a:solidFill>
                <a:latin typeface="Consolas"/>
              </a:rPr>
              <a:t>prepared students average +0.71 marks (67.19 vs 66.48)</a:t>
            </a:r>
            <a:r>
              <a:rPr sz="1400" b="0" i="0">
                <a:solidFill>
                  <a:srgbClr val="16181D"/>
                </a:solidFill>
                <a:latin typeface="Calibri"/>
              </a:rPr>
              <a:t> — bars that fit inside the axis noise; the honest sentence before any figure.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Stratified, the same data tells more: </a:t>
            </a:r>
            <a:r>
              <a:rPr sz="1050" b="0" i="0">
                <a:solidFill>
                  <a:srgbClr val="B3261E"/>
                </a:solidFill>
                <a:latin typeface="Consolas"/>
              </a:rPr>
              <a:t>within the under-6h half: +6.20 marks; within the 6h+ half: +4.87</a:t>
            </a:r>
            <a:r>
              <a:rPr sz="1400" b="0" i="0">
                <a:solidFill>
                  <a:srgbClr val="16181D"/>
                </a:solidFill>
                <a:latin typeface="Calibri"/>
              </a:rPr>
              <a:t> — the comparison a bar chart alone would hide.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Pie shares with the residue captioned: </a:t>
            </a:r>
            <a:r>
              <a:rPr sz="1250" b="0" i="0">
                <a:solidFill>
                  <a:srgbClr val="B3261E"/>
                </a:solidFill>
                <a:latin typeface="Consolas"/>
              </a:rPr>
              <a:t>sum of rounded shares: 99.99%</a:t>
            </a:r>
            <a:r>
              <a:rPr sz="1400" b="0" i="0">
                <a:solidFill>
                  <a:srgbClr val="16181D"/>
                </a:solidFill>
                <a:latin typeface="Calibri"/>
              </a:rPr>
              <a:t> — round first, reconcile in public.</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Largest slice from counts, not angles: </a:t>
            </a:r>
            <a:r>
              <a:rPr sz="1200" b="0" i="0">
                <a:solidFill>
                  <a:srgbClr val="B3261E"/>
                </a:solidFill>
                <a:latin typeface="Consolas"/>
              </a:rPr>
              <a:t>group A: 185 rows   44.90%</a:t>
            </a:r>
            <a:r>
              <a:rPr sz="1400" b="0" i="0">
                <a:solidFill>
                  <a:srgbClr val="16181D"/>
                </a:solidFill>
                <a:latin typeface="Calibri"/>
              </a:rPr>
              <a:t> — the chart makes membership obvious; the table keeps it precise.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Exam frame: the figure answers the syllabus question; the table answers the viva.</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src/eda09_bar_pie.py</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680" b="0" i="0">
                <a:solidFill>
                  <a:srgbClr val="E5E7EB"/>
                </a:solidFill>
                <a:latin typeface="Consolas"/>
              </a:rPr>
              <a:t>#!/usr/bin/env python3</a:t>
            </a:r>
          </a:p>
          <a:p>
            <a:pPr>
              <a:lnSpc>
                <a:spcPct val="100000"/>
              </a:lnSpc>
              <a:spcBef>
                <a:spcPts val="0"/>
              </a:spcBef>
              <a:spcAft>
                <a:spcPts val="60"/>
              </a:spcAft>
            </a:pPr>
            <a:r>
              <a:rPr sz="680" b="0" i="0">
                <a:solidFill>
                  <a:srgbClr val="E5E7EB"/>
                </a:solidFill>
                <a:latin typeface="Consolas"/>
              </a:rPr>
              <a:t>"""EDA-09  categorical pictures: a bar chart and a pie chart, saved and re-read.</a:t>
            </a:r>
          </a:p>
          <a:p>
            <a:pPr>
              <a:lnSpc>
                <a:spcPct val="100000"/>
              </a:lnSpc>
              <a:spcBef>
                <a:spcPts val="0"/>
              </a:spcBef>
              <a:spcAft>
                <a:spcPts val="60"/>
              </a:spcAft>
            </a:pPr>
            <a:r>
              <a:rPr sz="680" b="0" i="0">
                <a:solidFill>
                  <a:srgbClr val="E5E7EB"/>
                </a:solidFill>
                <a:latin typeface="Consolas"/>
              </a:rPr>
              <a:t>Usage: python3 src/eda09_bar_pie.py data/student_performance.csv &lt;outdir&gt;</a:t>
            </a:r>
          </a:p>
          <a:p>
            <a:pPr>
              <a:lnSpc>
                <a:spcPct val="100000"/>
              </a:lnSpc>
              <a:spcBef>
                <a:spcPts val="0"/>
              </a:spcBef>
              <a:spcAft>
                <a:spcPts val="60"/>
              </a:spcAft>
            </a:pPr>
            <a:r>
              <a:rPr sz="680" b="0" i="0">
                <a:solidFill>
                  <a:srgbClr val="E5E7EB"/>
                </a:solidFill>
                <a:latin typeface="Consolas"/>
              </a:rPr>
              <a:t>"""</a:t>
            </a:r>
          </a:p>
          <a:p>
            <a:pPr>
              <a:lnSpc>
                <a:spcPct val="100000"/>
              </a:lnSpc>
              <a:spcBef>
                <a:spcPts val="0"/>
              </a:spcBef>
              <a:spcAft>
                <a:spcPts val="60"/>
              </a:spcAft>
            </a:pPr>
            <a:r>
              <a:rPr sz="680" b="0" i="0">
                <a:solidFill>
                  <a:srgbClr val="E5E7EB"/>
                </a:solidFill>
                <a:latin typeface="Consolas"/>
              </a:rPr>
              <a:t>import os</a:t>
            </a:r>
          </a:p>
          <a:p>
            <a:pPr>
              <a:lnSpc>
                <a:spcPct val="100000"/>
              </a:lnSpc>
              <a:spcBef>
                <a:spcPts val="0"/>
              </a:spcBef>
              <a:spcAft>
                <a:spcPts val="60"/>
              </a:spcAft>
            </a:pPr>
            <a:r>
              <a:rPr sz="680" b="0" i="0">
                <a:solidFill>
                  <a:srgbClr val="E5E7EB"/>
                </a:solidFill>
                <a:latin typeface="Consolas"/>
              </a:rPr>
              <a:t>import sys</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import matplotlib</a:t>
            </a:r>
          </a:p>
          <a:p>
            <a:pPr>
              <a:lnSpc>
                <a:spcPct val="100000"/>
              </a:lnSpc>
              <a:spcBef>
                <a:spcPts val="0"/>
              </a:spcBef>
              <a:spcAft>
                <a:spcPts val="60"/>
              </a:spcAft>
            </a:pPr>
            <a:r>
              <a:rPr sz="680" b="0" i="0">
                <a:solidFill>
                  <a:srgbClr val="E5E7EB"/>
                </a:solidFill>
                <a:latin typeface="Consolas"/>
              </a:rPr>
              <a:t>matplotlib.use("Agg")</a:t>
            </a:r>
          </a:p>
          <a:p>
            <a:pPr>
              <a:lnSpc>
                <a:spcPct val="100000"/>
              </a:lnSpc>
              <a:spcBef>
                <a:spcPts val="0"/>
              </a:spcBef>
              <a:spcAft>
                <a:spcPts val="60"/>
              </a:spcAft>
            </a:pPr>
            <a:r>
              <a:rPr sz="680" b="0" i="0">
                <a:solidFill>
                  <a:srgbClr val="E5E7EB"/>
                </a:solidFill>
                <a:latin typeface="Consolas"/>
              </a:rPr>
              <a:t>import matplotlib.pyplot as plt</a:t>
            </a:r>
          </a:p>
          <a:p>
            <a:pPr>
              <a:lnSpc>
                <a:spcPct val="100000"/>
              </a:lnSpc>
              <a:spcBef>
                <a:spcPts val="0"/>
              </a:spcBef>
              <a:spcAft>
                <a:spcPts val="60"/>
              </a:spcAft>
            </a:pPr>
            <a:r>
              <a:rPr sz="680" b="0" i="0">
                <a:solidFill>
                  <a:srgbClr val="E5E7EB"/>
                </a:solidFill>
                <a:latin typeface="Consolas"/>
              </a:rPr>
              <a:t>import pandas as pd</a:t>
            </a:r>
          </a:p>
          <a:p>
            <a:pPr>
              <a:lnSpc>
                <a:spcPct val="100000"/>
              </a:lnSpc>
              <a:spcBef>
                <a:spcPts val="0"/>
              </a:spcBef>
              <a:spcAft>
                <a:spcPts val="60"/>
              </a:spcAft>
            </a:pPr>
            <a:r>
              <a:rPr sz="680" b="0" i="0">
                <a:solidFill>
                  <a:srgbClr val="E5E7EB"/>
                </a:solidFill>
                <a:latin typeface="Consolas"/>
              </a:rPr>
              <a:t>import seaborn as sns</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CSV, OUT = sys.argv[1], (sys.argv[2] if len(sys.argv) &gt; 2 else ".")</a:t>
            </a:r>
          </a:p>
          <a:p>
            <a:pPr>
              <a:lnSpc>
                <a:spcPct val="100000"/>
              </a:lnSpc>
              <a:spcBef>
                <a:spcPts val="0"/>
              </a:spcBef>
              <a:spcAft>
                <a:spcPts val="60"/>
              </a:spcAft>
            </a:pPr>
            <a:r>
              <a:rPr sz="680" b="0" i="0">
                <a:solidFill>
                  <a:srgbClr val="E5E7EB"/>
                </a:solidFill>
                <a:latin typeface="Consolas"/>
              </a:rPr>
              <a:t>df = pd.read_csv(CSV)</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print("== EDA-09  bars for comparisons, pies for shares — and the numbers behind them ==")</a:t>
            </a:r>
          </a:p>
          <a:p>
            <a:pPr>
              <a:lnSpc>
                <a:spcPct val="100000"/>
              </a:lnSpc>
              <a:spcBef>
                <a:spcPts val="0"/>
              </a:spcBef>
              <a:spcAft>
                <a:spcPts val="60"/>
              </a:spcAft>
            </a:pPr>
            <a:r>
              <a:rPr sz="680" b="0" i="0">
                <a:solidFill>
                  <a:srgbClr val="E5E7EB"/>
                </a:solidFill>
                <a:latin typeface="Consolas"/>
              </a:rPr>
              <a:t>print()</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g = df.groupby("prepared_course")["score"].agg(["mean", "size"]).round(2)</a:t>
            </a:r>
          </a:p>
          <a:p>
            <a:pPr>
              <a:lnSpc>
                <a:spcPct val="100000"/>
              </a:lnSpc>
              <a:spcBef>
                <a:spcPts val="0"/>
              </a:spcBef>
              <a:spcAft>
                <a:spcPts val="60"/>
              </a:spcAft>
            </a:pPr>
            <a:r>
              <a:rPr sz="680" b="0" i="0">
                <a:solidFill>
                  <a:srgbClr val="E5E7EB"/>
                </a:solidFill>
                <a:latin typeface="Consolas"/>
              </a:rPr>
              <a:t>print("bar chart data, printed before it is drawn (the chart must not be the source):")</a:t>
            </a:r>
          </a:p>
          <a:p>
            <a:pPr>
              <a:lnSpc>
                <a:spcPct val="100000"/>
              </a:lnSpc>
              <a:spcBef>
                <a:spcPts val="0"/>
              </a:spcBef>
              <a:spcAft>
                <a:spcPts val="60"/>
              </a:spcAft>
            </a:pPr>
            <a:r>
              <a:rPr sz="680" b="0" i="0">
                <a:solidFill>
                  <a:srgbClr val="E5E7EB"/>
                </a:solidFill>
                <a:latin typeface="Consolas"/>
              </a:rPr>
              <a:t>print(g.to_string())</a:t>
            </a:r>
          </a:p>
          <a:p>
            <a:pPr>
              <a:lnSpc>
                <a:spcPct val="100000"/>
              </a:lnSpc>
              <a:spcBef>
                <a:spcPts val="0"/>
              </a:spcBef>
              <a:spcAft>
                <a:spcPts val="60"/>
              </a:spcAft>
            </a:pPr>
            <a:r>
              <a:rPr sz="680" b="0" i="0">
                <a:solidFill>
                  <a:srgbClr val="E5E7EB"/>
                </a:solidFill>
                <a:latin typeface="Consolas"/>
              </a:rPr>
              <a:t>gap = g.loc["completed", "mean"] - g.loc["none", "mean"]</a:t>
            </a:r>
          </a:p>
          <a:p>
            <a:pPr>
              <a:lnSpc>
                <a:spcPct val="100000"/>
              </a:lnSpc>
              <a:spcBef>
                <a:spcPts val="0"/>
              </a:spcBef>
              <a:spcAft>
                <a:spcPts val="60"/>
              </a:spcAft>
            </a:pPr>
            <a:r>
              <a:rPr sz="680" b="0" i="0">
                <a:solidFill>
                  <a:srgbClr val="E5E7EB"/>
                </a:solidFill>
                <a:latin typeface="Consolas"/>
              </a:rPr>
              <a:t>print(f"  -&gt; prepared students average {gap:+.2f} marks ({g.loc['completed','mean']:.2f}"</a:t>
            </a:r>
          </a:p>
          <a:p>
            <a:pPr>
              <a:lnSpc>
                <a:spcPct val="100000"/>
              </a:lnSpc>
              <a:spcBef>
                <a:spcPts val="0"/>
              </a:spcBef>
              <a:spcAft>
                <a:spcPts val="60"/>
              </a:spcAft>
            </a:pPr>
            <a:r>
              <a:rPr sz="680" b="0" i="0">
                <a:solidFill>
                  <a:srgbClr val="E5E7EB"/>
                </a:solidFill>
                <a:latin typeface="Consolas"/>
              </a:rPr>
              <a:t>      f" vs {g.loc['none','mean']:.2f})")</a:t>
            </a:r>
          </a:p>
          <a:p>
            <a:pPr>
              <a:lnSpc>
                <a:spcPct val="100000"/>
              </a:lnSpc>
              <a:spcBef>
                <a:spcPts val="0"/>
              </a:spcBef>
              <a:spcAft>
                <a:spcPts val="60"/>
              </a:spcAft>
            </a:pPr>
            <a:r>
              <a:rPr sz="680" b="0" i="0">
                <a:solidFill>
                  <a:srgbClr val="E5E7EB"/>
                </a:solidFill>
                <a:latin typeface="Consolas"/>
              </a:rPr>
              <a:t>half_sh = df["study_hours"]</a:t>
            </a:r>
          </a:p>
          <a:p>
            <a:pPr>
              <a:lnSpc>
                <a:spcPct val="100000"/>
              </a:lnSpc>
              <a:spcBef>
                <a:spcPts val="0"/>
              </a:spcBef>
              <a:spcAft>
                <a:spcPts val="60"/>
              </a:spcAft>
            </a:pPr>
            <a:r>
              <a:rPr sz="680" b="0" i="0">
                <a:solidFill>
                  <a:srgbClr val="E5E7EB"/>
                </a:solidFill>
                <a:latin typeface="Consolas"/>
              </a:rPr>
              <a:t>gaps = {}</a:t>
            </a:r>
          </a:p>
          <a:p>
            <a:pPr>
              <a:lnSpc>
                <a:spcPct val="100000"/>
              </a:lnSpc>
              <a:spcBef>
                <a:spcPts val="0"/>
              </a:spcBef>
              <a:spcAft>
                <a:spcPts val="60"/>
              </a:spcAft>
            </a:pPr>
            <a:r>
              <a:rPr sz="680" b="0" i="0">
                <a:solidFill>
                  <a:srgbClr val="E5E7EB"/>
                </a:solidFill>
                <a:latin typeface="Consolas"/>
              </a:rPr>
              <a:t>for name, part in (("&lt;6h/week", df[half_sh &lt; 6]), ("6h+/week", df[half_sh &gt;= 6])):</a:t>
            </a:r>
          </a:p>
          <a:p>
            <a:pPr>
              <a:lnSpc>
                <a:spcPct val="100000"/>
              </a:lnSpc>
              <a:spcBef>
                <a:spcPts val="0"/>
              </a:spcBef>
              <a:spcAft>
                <a:spcPts val="60"/>
              </a:spcAft>
            </a:pPr>
            <a:r>
              <a:rPr sz="680" b="0" i="0">
                <a:solidFill>
                  <a:srgbClr val="E5E7EB"/>
                </a:solidFill>
                <a:latin typeface="Consolas"/>
              </a:rPr>
              <a:t>    gg = part.groupby("prepared_course")["score"].mean()</a:t>
            </a:r>
          </a:p>
          <a:p>
            <a:pPr>
              <a:lnSpc>
                <a:spcPct val="100000"/>
              </a:lnSpc>
              <a:spcBef>
                <a:spcPts val="0"/>
              </a:spcBef>
              <a:spcAft>
                <a:spcPts val="60"/>
              </a:spcAft>
            </a:pPr>
            <a:r>
              <a:rPr sz="680" b="0" i="0">
                <a:solidFill>
                  <a:srgbClr val="E5E7EB"/>
                </a:solidFill>
                <a:latin typeface="Consolas"/>
              </a:rPr>
              <a:t>  …  (complete source: the course book)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TOOLKIT 3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f04_matplotlib_fig (executed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17</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src/f04_matplotlib_fig.py</a:t>
            </a:r>
          </a:p>
        </p:txBody>
      </p:sp>
      <p:sp>
        <p:nvSpPr>
          <p:cNvPr id="11" name="TextBox 10"/>
          <p:cNvSpPr txBox="1"/>
          <p:nvPr/>
        </p:nvSpPr>
        <p:spPr>
          <a:xfrm>
            <a:off x="667512" y="1975104"/>
            <a:ext cx="5815584" cy="432511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"""F-04  The figure IS an object tree: build a chart, then interrogate it.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The Agg backend draws off-screen, so the same figure a student sees in a notebook</a:t>
            </a:r>
          </a:p>
          <a:p>
            <a:pPr>
              <a:lnSpc>
                <a:spcPct val="100000"/>
              </a:lnSpc>
              <a:spcBef>
                <a:spcPts val="0"/>
              </a:spcBef>
              <a:spcAft>
                <a:spcPts val="60"/>
              </a:spcAft>
            </a:pPr>
            <a:r>
              <a:rPr sz="700" b="0" i="0">
                <a:solidFill>
                  <a:srgbClr val="E5E7EB"/>
                </a:solidFill>
                <a:latin typeface="Consolas"/>
              </a:rPr>
              <a:t>cell can be saved and inspected programmatically -- here both happen.</a:t>
            </a:r>
          </a:p>
          <a:p>
            <a:pPr>
              <a:lnSpc>
                <a:spcPct val="100000"/>
              </a:lnSpc>
              <a:spcBef>
                <a:spcPts val="0"/>
              </a:spcBef>
              <a:spcAft>
                <a:spcPts val="60"/>
              </a:spcAft>
            </a:pPr>
            <a:r>
              <a:rPr sz="700" b="0" i="0">
                <a:solidFill>
                  <a:srgbClr val="E5E7EB"/>
                </a:solidFill>
                <a:latin typeface="Consolas"/>
              </a:rPr>
              <a:t>Usage: python3 src/f04_matplotlib_fig.py &lt;outdir&gt;</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os</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matplotlib</a:t>
            </a:r>
          </a:p>
          <a:p>
            <a:pPr>
              <a:lnSpc>
                <a:spcPct val="100000"/>
              </a:lnSpc>
              <a:spcBef>
                <a:spcPts val="0"/>
              </a:spcBef>
              <a:spcAft>
                <a:spcPts val="60"/>
              </a:spcAft>
            </a:pPr>
            <a:r>
              <a:rPr sz="700" b="0" i="0">
                <a:solidFill>
                  <a:srgbClr val="E5E7EB"/>
                </a:solidFill>
                <a:latin typeface="Consolas"/>
              </a:rPr>
              <a:t>matplotlib.use("Agg")</a:t>
            </a:r>
          </a:p>
          <a:p>
            <a:pPr>
              <a:lnSpc>
                <a:spcPct val="100000"/>
              </a:lnSpc>
              <a:spcBef>
                <a:spcPts val="0"/>
              </a:spcBef>
              <a:spcAft>
                <a:spcPts val="60"/>
              </a:spcAft>
            </a:pPr>
            <a:r>
              <a:rPr sz="700" b="0" i="0">
                <a:solidFill>
                  <a:srgbClr val="E5E7EB"/>
                </a:solidFill>
                <a:latin typeface="Consolas"/>
              </a:rPr>
              <a:t>import matplotlib.pyplot as plt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OUT = sys.argv[1] if len(sys.argv) &gt; 1 else "."</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F-04  Matplotlib's object model: fig, ax, artists -- saved AND inspected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fig, ax = plt.subplots(figsize=(6.0, 3.6), dpi=100)</a:t>
            </a:r>
          </a:p>
          <a:p>
            <a:pPr>
              <a:lnSpc>
                <a:spcPct val="100000"/>
              </a:lnSpc>
              <a:spcBef>
                <a:spcPts val="0"/>
              </a:spcBef>
              <a:spcAft>
                <a:spcPts val="60"/>
              </a:spcAft>
            </a:pPr>
            <a:r>
              <a:rPr sz="700" b="0" i="0">
                <a:solidFill>
                  <a:srgbClr val="E5E7EB"/>
                </a:solidFill>
                <a:latin typeface="Consolas"/>
              </a:rPr>
              <a:t>cats = ["group A", "group B", "group C"]</a:t>
            </a:r>
          </a:p>
          <a:p>
            <a:pPr>
              <a:lnSpc>
                <a:spcPct val="100000"/>
              </a:lnSpc>
              <a:spcBef>
                <a:spcPts val="0"/>
              </a:spcBef>
              <a:spcAft>
                <a:spcPts val="60"/>
              </a:spcAft>
            </a:pPr>
            <a:r>
              <a:rPr sz="700" b="0" i="0">
                <a:solidFill>
                  <a:srgbClr val="E5E7EB"/>
                </a:solidFill>
                <a:latin typeface="Consolas"/>
              </a:rPr>
              <a:t>vals = [61.5, 65.2, 68.9]</a:t>
            </a:r>
          </a:p>
          <a:p>
            <a:pPr>
              <a:lnSpc>
                <a:spcPct val="100000"/>
              </a:lnSpc>
              <a:spcBef>
                <a:spcPts val="0"/>
              </a:spcBef>
              <a:spcAft>
                <a:spcPts val="60"/>
              </a:spcAft>
            </a:pPr>
            <a:r>
              <a:rPr sz="700" b="0" i="0">
                <a:solidFill>
                  <a:srgbClr val="E5E7EB"/>
                </a:solidFill>
                <a:latin typeface="Consolas"/>
              </a:rPr>
              <a:t>bars = ax.bar(cats, vals, color="#4c72b0")</a:t>
            </a:r>
          </a:p>
          <a:p>
            <a:pPr>
              <a:lnSpc>
                <a:spcPct val="100000"/>
              </a:lnSpc>
              <a:spcBef>
                <a:spcPts val="0"/>
              </a:spcBef>
              <a:spcAft>
                <a:spcPts val="60"/>
              </a:spcAft>
            </a:pPr>
            <a:r>
              <a:rPr sz="700" b="0" i="0">
                <a:solidFill>
                  <a:srgbClr val="E5E7EB"/>
                </a:solidFill>
                <a:latin typeface="Consolas"/>
              </a:rPr>
              <a:t>ax.set_ylabel("mean score")</a:t>
            </a:r>
          </a:p>
          <a:p>
            <a:pPr>
              <a:lnSpc>
                <a:spcPct val="100000"/>
              </a:lnSpc>
              <a:spcBef>
                <a:spcPts val="0"/>
              </a:spcBef>
              <a:spcAft>
                <a:spcPts val="60"/>
              </a:spcAft>
            </a:pPr>
            <a:r>
              <a:rPr sz="700" b="0" i="0">
                <a:solidFill>
                  <a:srgbClr val="E5E7EB"/>
                </a:solidFill>
                <a:latin typeface="Consolas"/>
              </a:rPr>
              <a:t>ax.set_title("mean score by group")</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print("backend in use:", fig.canvas.get_renderer().__class__.__module__.split(".")[0]</a:t>
            </a:r>
          </a:p>
          <a:p>
            <a:pPr>
              <a:lnSpc>
                <a:spcPct val="100000"/>
              </a:lnSpc>
              <a:spcBef>
                <a:spcPts val="0"/>
              </a:spcBef>
              <a:spcAft>
                <a:spcPts val="60"/>
              </a:spcAft>
            </a:pPr>
            <a:r>
              <a:rPr sz="700" b="0" i="0">
                <a:solidFill>
                  <a:srgbClr val="E5E7EB"/>
                </a:solidFill>
                <a:latin typeface="Consolas"/>
              </a:rPr>
              <a:t>      + "." + type(fig.canvas).__name__, "(off-screen)")</a:t>
            </a:r>
          </a:p>
          <a:p>
            <a:pPr>
              <a:lnSpc>
                <a:spcPct val="100000"/>
              </a:lnSpc>
              <a:spcBef>
                <a:spcPts val="0"/>
              </a:spcBef>
              <a:spcAft>
                <a:spcPts val="60"/>
              </a:spcAft>
            </a:pPr>
            <a:r>
              <a:rPr sz="700" b="0" i="0">
                <a:solidFill>
                  <a:srgbClr val="E5E7EB"/>
                </a:solidFill>
                <a:latin typeface="Consolas"/>
              </a:rPr>
              <a:t>print(f"figure size   : {fig.get_size_inches()[0]:.1f} x {fig.get_size_inches()[1]:.1f} in"</a:t>
            </a:r>
          </a:p>
          <a:p>
            <a:pPr>
              <a:lnSpc>
                <a:spcPct val="100000"/>
              </a:lnSpc>
              <a:spcBef>
                <a:spcPts val="0"/>
              </a:spcBef>
              <a:spcAft>
                <a:spcPts val="60"/>
              </a:spcAft>
            </a:pPr>
            <a:r>
              <a:rPr sz="700" b="0" i="0">
                <a:solidFill>
                  <a:srgbClr val="E5E7EB"/>
                </a:solidFill>
                <a:latin typeface="Consolas"/>
              </a:rPr>
              <a:t>      f" @ {fig.dpi:.0f} dpi")</a:t>
            </a:r>
          </a:p>
          <a:p>
            <a:pPr>
              <a:lnSpc>
                <a:spcPct val="100000"/>
              </a:lnSpc>
              <a:spcBef>
                <a:spcPts val="0"/>
              </a:spcBef>
              <a:spcAft>
                <a:spcPts val="60"/>
              </a:spcAft>
            </a:pPr>
            <a:r>
              <a:rPr sz="700" b="0" i="0">
                <a:solidFill>
                  <a:srgbClr val="E5E7EB"/>
                </a:solidFill>
                <a:latin typeface="Consolas"/>
              </a:rPr>
              <a:t>print(f"axes count    : {len(fig.axes)}")</a:t>
            </a:r>
          </a:p>
          <a:p>
            <a:pPr>
              <a:lnSpc>
                <a:spcPct val="100000"/>
              </a:lnSpc>
              <a:spcBef>
                <a:spcPts val="0"/>
              </a:spcBef>
              <a:spcAft>
                <a:spcPts val="60"/>
              </a:spcAft>
            </a:pPr>
            <a:r>
              <a:rPr sz="700" b="0" i="0">
                <a:solidFill>
                  <a:srgbClr val="E5E7EB"/>
                </a:solidFill>
                <a:latin typeface="Consolas"/>
              </a:rPr>
              <a:t>print(f"bar patches   : {len(ax.patches)}  heights: "</a:t>
            </a:r>
          </a:p>
          <a:p>
            <a:pPr>
              <a:lnSpc>
                <a:spcPct val="100000"/>
              </a:lnSpc>
              <a:spcBef>
                <a:spcPts val="0"/>
              </a:spcBef>
              <a:spcAft>
                <a:spcPts val="60"/>
              </a:spcAft>
            </a:pPr>
            <a:r>
              <a:rPr sz="700" b="0" i="0">
                <a:solidFill>
                  <a:srgbClr val="E5E7EB"/>
                </a:solidFill>
                <a:latin typeface="Consolas"/>
              </a:rPr>
              <a:t>      + ", ".join(f"{b.get_height():.1f}" for b in ax.patches))</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out/f04_matplotlib_fig.txt</a:t>
            </a:r>
          </a:p>
        </p:txBody>
      </p:sp>
      <p:sp>
        <p:nvSpPr>
          <p:cNvPr id="14" name="TextBox 13"/>
          <p:cNvSpPr txBox="1"/>
          <p:nvPr/>
        </p:nvSpPr>
        <p:spPr>
          <a:xfrm>
            <a:off x="7004304" y="1938528"/>
            <a:ext cx="4572000" cy="4343400"/>
          </a:xfrm>
          <a:prstGeom prst="rect">
            <a:avLst/>
          </a:prstGeom>
          <a:noFill/>
        </p:spPr>
        <p:txBody>
          <a:bodyPr wrap="square" anchor="t" lIns="0" rIns="0" tIns="0" bIns="0">
            <a:spAutoFit/>
          </a:bodyPr>
          <a:lstStyle/>
          <a:p>
            <a:pPr>
              <a:lnSpc>
                <a:spcPct val="100000"/>
              </a:lnSpc>
              <a:spcBef>
                <a:spcPts val="0"/>
              </a:spcBef>
              <a:spcAft>
                <a:spcPts val="60"/>
              </a:spcAft>
            </a:pPr>
            <a:r>
              <a:rPr sz="1250" b="0" i="0">
                <a:solidFill>
                  <a:srgbClr val="14171C"/>
                </a:solidFill>
                <a:latin typeface="Consolas"/>
              </a:rPr>
              <a:t>$ python3 src/f04_matplotlib_fig.py /home/user/eda-course/build/work/f04_matplotlib_fig</a:t>
            </a:r>
          </a:p>
          <a:p>
            <a:pPr>
              <a:lnSpc>
                <a:spcPct val="100000"/>
              </a:lnSpc>
              <a:spcBef>
                <a:spcPts val="0"/>
              </a:spcBef>
              <a:spcAft>
                <a:spcPts val="60"/>
              </a:spcAft>
            </a:pPr>
            <a:r>
              <a:rPr sz="1250" b="0" i="0">
                <a:solidFill>
                  <a:srgbClr val="14171C"/>
                </a:solidFill>
                <a:latin typeface="Consolas"/>
              </a:rPr>
              <a:t>== F-04  Matplotlib's object model: fig, ax, artists -- saved AND inspected ==</a:t>
            </a:r>
          </a:p>
          <a:p>
            <a:pPr>
              <a:lnSpc>
                <a:spcPct val="100000"/>
              </a:lnSpc>
              <a:spcBef>
                <a:spcPts val="0"/>
              </a:spcBef>
              <a:spcAft>
                <a:spcPts val="60"/>
              </a:spcAft>
            </a:pPr>
            <a:r>
              <a:rPr sz="1250" b="0" i="0">
                <a:solidFill>
                  <a:srgbClr val="14171C"/>
                </a:solidFill>
                <a:latin typeface="Consolas"/>
              </a:rPr>
              <a:t> </a:t>
            </a:r>
          </a:p>
          <a:p>
            <a:pPr>
              <a:lnSpc>
                <a:spcPct val="100000"/>
              </a:lnSpc>
              <a:spcBef>
                <a:spcPts val="0"/>
              </a:spcBef>
              <a:spcAft>
                <a:spcPts val="60"/>
              </a:spcAft>
            </a:pPr>
            <a:r>
              <a:rPr sz="1250" b="0" i="0">
                <a:solidFill>
                  <a:srgbClr val="14171C"/>
                </a:solidFill>
                <a:latin typeface="Consolas"/>
              </a:rPr>
              <a:t>backend in use: matplotlib.FigureCanvasAgg (off-screen)</a:t>
            </a:r>
          </a:p>
          <a:p>
            <a:pPr>
              <a:lnSpc>
                <a:spcPct val="100000"/>
              </a:lnSpc>
              <a:spcBef>
                <a:spcPts val="0"/>
              </a:spcBef>
              <a:spcAft>
                <a:spcPts val="60"/>
              </a:spcAft>
            </a:pPr>
            <a:r>
              <a:rPr sz="1250" b="0" i="0">
                <a:solidFill>
                  <a:srgbClr val="14171C"/>
                </a:solidFill>
                <a:latin typeface="Consolas"/>
              </a:rPr>
              <a:t>figure size   : 6.0 x 3.6 in @ 100 dpi</a:t>
            </a:r>
          </a:p>
          <a:p>
            <a:pPr>
              <a:lnSpc>
                <a:spcPct val="100000"/>
              </a:lnSpc>
              <a:spcBef>
                <a:spcPts val="0"/>
              </a:spcBef>
              <a:spcAft>
                <a:spcPts val="60"/>
              </a:spcAft>
            </a:pPr>
            <a:r>
              <a:rPr sz="1250" b="0" i="0">
                <a:solidFill>
                  <a:srgbClr val="14171C"/>
                </a:solidFill>
                <a:latin typeface="Consolas"/>
              </a:rPr>
              <a:t>axes count    : 1</a:t>
            </a:r>
          </a:p>
          <a:p>
            <a:pPr>
              <a:lnSpc>
                <a:spcPct val="100000"/>
              </a:lnSpc>
              <a:spcBef>
                <a:spcPts val="0"/>
              </a:spcBef>
              <a:spcAft>
                <a:spcPts val="60"/>
              </a:spcAft>
            </a:pPr>
            <a:r>
              <a:rPr sz="1250" b="0" i="0">
                <a:solidFill>
                  <a:srgbClr val="14171C"/>
                </a:solidFill>
                <a:latin typeface="Consolas"/>
              </a:rPr>
              <a:t>bar patches   : 3  heights: 61.5, 65.2, 68.9</a:t>
            </a:r>
          </a:p>
          <a:p>
            <a:pPr>
              <a:lnSpc>
                <a:spcPct val="100000"/>
              </a:lnSpc>
              <a:spcBef>
                <a:spcPts val="0"/>
              </a:spcBef>
              <a:spcAft>
                <a:spcPts val="60"/>
              </a:spcAft>
            </a:pPr>
            <a:r>
              <a:rPr sz="1250" b="0" i="0">
                <a:solidFill>
                  <a:srgbClr val="14171C"/>
                </a:solidFill>
                <a:latin typeface="Consolas"/>
              </a:rPr>
              <a:t>y data range  : 0.0 .. 72.3</a:t>
            </a:r>
          </a:p>
          <a:p>
            <a:pPr>
              <a:lnSpc>
                <a:spcPct val="100000"/>
              </a:lnSpc>
              <a:spcBef>
                <a:spcPts val="0"/>
              </a:spcBef>
              <a:spcAft>
                <a:spcPts val="60"/>
              </a:spcAft>
            </a:pPr>
            <a:r>
              <a:rPr sz="1250" b="0" i="0">
                <a:solidFill>
                  <a:srgbClr val="14171C"/>
                </a:solidFill>
                <a:latin typeface="Consolas"/>
              </a:rPr>
              <a:t>after set_ylim(0,100): 0 .. 100  &lt;- honest baselines are a choice, not a default</a:t>
            </a:r>
          </a:p>
          <a:p>
            <a:pPr>
              <a:lnSpc>
                <a:spcPct val="100000"/>
              </a:lnSpc>
              <a:spcBef>
                <a:spcPts val="0"/>
              </a:spcBef>
              <a:spcAft>
                <a:spcPts val="60"/>
              </a:spcAft>
            </a:pPr>
            <a:r>
              <a:rPr sz="1250" b="0" i="0">
                <a:solidFill>
                  <a:srgbClr val="14171C"/>
                </a:solidFill>
                <a:latin typeface="Consolas"/>
              </a:rPr>
              <a:t> </a:t>
            </a:r>
          </a:p>
          <a:p>
            <a:pPr>
              <a:lnSpc>
                <a:spcPct val="100000"/>
              </a:lnSpc>
              <a:spcBef>
                <a:spcPts val="0"/>
              </a:spcBef>
              <a:spcAft>
                <a:spcPts val="60"/>
              </a:spcAft>
            </a:pPr>
            <a:r>
              <a:rPr sz="1250" b="0" i="0">
                <a:solidFill>
                  <a:srgbClr val="14171C"/>
                </a:solidFill>
                <a:latin typeface="Consolas"/>
              </a:rPr>
              <a:t>saved f04_bars.png: 12580 bytes</a:t>
            </a:r>
          </a:p>
          <a:p>
            <a:pPr>
              <a:lnSpc>
                <a:spcPct val="100000"/>
              </a:lnSpc>
              <a:spcBef>
                <a:spcPts val="0"/>
              </a:spcBef>
              <a:spcAft>
                <a:spcPts val="60"/>
              </a:spcAft>
            </a:pPr>
            <a:r>
              <a:rPr sz="1250" b="0" i="0">
                <a:solidFill>
                  <a:srgbClr val="14171C"/>
                </a:solidFill>
                <a:latin typeface="Consolas"/>
              </a:rPr>
              <a:t>a PNG written from data the notebook can print again -- the report keeps both</a:t>
            </a:r>
          </a:p>
          <a:p>
            <a:pPr>
              <a:lnSpc>
                <a:spcPct val="100000"/>
              </a:lnSpc>
              <a:spcBef>
                <a:spcPts val="0"/>
              </a:spcBef>
              <a:spcAft>
                <a:spcPts val="60"/>
              </a:spcAft>
            </a:pPr>
            <a:r>
              <a:rPr sz="1250" b="0" i="0">
                <a:solidFill>
                  <a:srgbClr val="14171C"/>
                </a:solidFill>
                <a:latin typeface="Consolas"/>
              </a:rPr>
              <a:t> </a:t>
            </a:r>
          </a:p>
          <a:p>
            <a:pPr>
              <a:lnSpc>
                <a:spcPct val="100000"/>
              </a:lnSpc>
              <a:spcBef>
                <a:spcPts val="0"/>
              </a:spcBef>
              <a:spcAft>
                <a:spcPts val="60"/>
              </a:spcAft>
            </a:pPr>
            <a:r>
              <a:rPr sz="1250" b="0" i="0">
                <a:solidFill>
                  <a:srgbClr val="14171C"/>
                </a:solidFill>
                <a:latin typeface="Consolas"/>
              </a:rPr>
              <a:t>F04 RESULT: object tree interrogated (3 bars, ylim fixed) and figure saved -- PASS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TOOLKIT 3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Toolkit 3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18</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The demo prints bar heights read back from ax.patches. Name the two failure modes of a figure this practice prevents.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Why does fixing ylim(0, 100) change the rhetorical force of the same three numbers? Answer as an exam sentence, with the before/after values from the capture.</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Explain what backend Agg uses for a notebook figure and what savefig adds that display cannot.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For each of the six question types (compare, share, trend, association, distribution, all-pairs), name the plot and the one property you must print next to it.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A pie's rounded shares sum to 99.99%. Why is that not an error, and what does the report say about it?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Q6.  </a:t>
            </a:r>
            <a:r>
              <a:rPr sz="1450" b="0" i="0">
                <a:solidFill>
                  <a:srgbClr val="16181D"/>
                </a:solidFill>
                <a:latin typeface="Calibri"/>
              </a:rPr>
              <a:t>Correlate two columns and get +0.99. List the three questions you must ask before the number becomes a finding.</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§3.5 — these are report-defence-shaped practice.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400"/>
              </a:spcAft>
            </a:pPr>
            <a:r>
              <a:rPr sz="1300" b="1" i="0">
                <a:solidFill>
                  <a:srgbClr val="4B5563"/>
                </a:solidFill>
                <a:latin typeface="Calibri"/>
              </a:rPr>
              <a:t>P A R T</a:t>
            </a:r>
          </a:p>
        </p:txBody>
      </p:sp>
      <p:sp>
        <p:nvSpPr>
          <p:cNvPr id="3" name="TextBox 2"/>
          <p:cNvSpPr txBox="1"/>
          <p:nvPr/>
        </p:nvSpPr>
        <p:spPr>
          <a:xfrm>
            <a:off x="914400" y="658368"/>
            <a:ext cx="10362895" cy="2286000"/>
          </a:xfrm>
          <a:prstGeom prst="rect">
            <a:avLst/>
          </a:prstGeom>
          <a:noFill/>
        </p:spPr>
        <p:txBody>
          <a:bodyPr wrap="square" anchor="t" lIns="0" rIns="0" tIns="0" bIns="0">
            <a:spAutoFit/>
          </a:bodyPr>
          <a:lstStyle/>
          <a:p>
            <a:pPr algn="ctr">
              <a:spcBef>
                <a:spcPts val="0"/>
              </a:spcBef>
              <a:spcAft>
                <a:spcPts val="400"/>
              </a:spcAft>
            </a:pPr>
            <a:r>
              <a:rPr sz="13200" b="1" i="0">
                <a:solidFill>
                  <a:srgbClr val="B3261E"/>
                </a:solidFill>
                <a:latin typeface="Calibri"/>
              </a:rPr>
              <a:t>B</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400"/>
              </a:spcAft>
            </a:pPr>
            <a:r>
              <a:rPr sz="3000" b="1" i="0">
                <a:solidFill>
                  <a:srgbClr val="0F172A"/>
                </a:solidFill>
                <a:latin typeface="Calibri"/>
              </a:rPr>
              <a:t>The Twelve Prescribed Experiments</a:t>
            </a:r>
          </a:p>
        </p:txBody>
      </p:sp>
      <p:sp>
        <p:nvSpPr>
          <p:cNvPr id="6" name="TextBox 5"/>
          <p:cNvSpPr txBox="1"/>
          <p:nvPr/>
        </p:nvSpPr>
        <p:spPr>
          <a:xfrm>
            <a:off x="1737360" y="4041648"/>
            <a:ext cx="8716975" cy="603504"/>
          </a:xfrm>
          <a:prstGeom prst="rect">
            <a:avLst/>
          </a:prstGeom>
          <a:noFill/>
        </p:spPr>
        <p:txBody>
          <a:bodyPr wrap="square" anchor="t" lIns="0" rIns="0" tIns="0" bIns="0">
            <a:spAutoFit/>
          </a:bodyPr>
          <a:lstStyle/>
          <a:p>
            <a:pPr algn="ctr">
              <a:spcBef>
                <a:spcPts val="0"/>
              </a:spcBef>
              <a:spcAft>
                <a:spcPts val="400"/>
              </a:spcAft>
            </a:pPr>
            <a:r>
              <a:rPr sz="1300" b="0" i="0">
                <a:solidFill>
                  <a:srgbClr val="4B5563"/>
                </a:solidFill>
                <a:latin typeface="Calibri"/>
              </a:rPr>
              <a:t>Each problem verbatim with its Expected Input / Output / Learning Outcome, the complete program, its captured run — then observations the rubric pays for.</a:t>
            </a:r>
          </a:p>
        </p:txBody>
      </p:sp>
      <p:sp>
        <p:nvSpPr>
          <p:cNvPr id="7" name="Rectangle 6"/>
          <p:cNvSpPr/>
          <p:nvPr/>
        </p:nvSpPr>
        <p:spPr>
          <a:xfrm>
            <a:off x="655167" y="4538776"/>
            <a:ext cx="10881360" cy="1880311"/>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2911" y="4657648"/>
            <a:ext cx="5111496" cy="1660855"/>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IN THIS PART</a:t>
            </a:r>
          </a:p>
          <a:p>
            <a:pPr>
              <a:spcBef>
                <a:spcPts val="0"/>
              </a:spcBef>
              <a:spcAft>
                <a:spcPts val="160"/>
              </a:spcAft>
            </a:pPr>
            <a:r>
              <a:rPr sz="940" b="1" i="0">
                <a:solidFill>
                  <a:srgbClr val="B3261E"/>
                </a:solidFill>
                <a:latin typeface="Calibri"/>
              </a:rPr>
              <a:t>•  </a:t>
            </a:r>
            <a:r>
              <a:rPr sz="940" b="0" i="0">
                <a:solidFill>
                  <a:srgbClr val="16181D"/>
                </a:solidFill>
                <a:latin typeface="Calibri"/>
              </a:rPr>
              <a:t>Exp 1 — load, head, dtypes, describe</a:t>
            </a:r>
          </a:p>
          <a:p>
            <a:pPr>
              <a:spcBef>
                <a:spcPts val="0"/>
              </a:spcBef>
              <a:spcAft>
                <a:spcPts val="160"/>
              </a:spcAft>
            </a:pPr>
            <a:r>
              <a:rPr sz="940" b="1" i="0">
                <a:solidFill>
                  <a:srgbClr val="B3261E"/>
                </a:solidFill>
                <a:latin typeface="Calibri"/>
              </a:rPr>
              <a:t>•  </a:t>
            </a:r>
            <a:r>
              <a:rPr sz="940" b="0" i="0">
                <a:solidFill>
                  <a:srgbClr val="16181D"/>
                </a:solidFill>
                <a:latin typeface="Calibri"/>
              </a:rPr>
              <a:t>Exp 2 — six statistics, two libraries</a:t>
            </a:r>
          </a:p>
          <a:p>
            <a:pPr>
              <a:spcBef>
                <a:spcPts val="0"/>
              </a:spcBef>
              <a:spcAft>
                <a:spcPts val="160"/>
              </a:spcAft>
            </a:pPr>
            <a:r>
              <a:rPr sz="940" b="1" i="0">
                <a:solidFill>
                  <a:srgbClr val="B3261E"/>
                </a:solidFill>
                <a:latin typeface="Calibri"/>
              </a:rPr>
              <a:t>•  </a:t>
            </a:r>
            <a:r>
              <a:rPr sz="940" b="0" i="0">
                <a:solidFill>
                  <a:srgbClr val="16181D"/>
                </a:solidFill>
                <a:latin typeface="Calibri"/>
              </a:rPr>
              <a:t>Exp 3 — the missing-value report</a:t>
            </a:r>
          </a:p>
          <a:p>
            <a:pPr>
              <a:spcBef>
                <a:spcPts val="0"/>
              </a:spcBef>
              <a:spcAft>
                <a:spcPts val="160"/>
              </a:spcAft>
            </a:pPr>
            <a:r>
              <a:rPr sz="940" b="1" i="0">
                <a:solidFill>
                  <a:srgbClr val="B3261E"/>
                </a:solidFill>
                <a:latin typeface="Calibri"/>
              </a:rPr>
              <a:t>•  </a:t>
            </a:r>
            <a:r>
              <a:rPr sz="940" b="0" i="0">
                <a:solidFill>
                  <a:srgbClr val="16181D"/>
                </a:solidFill>
                <a:latin typeface="Calibri"/>
              </a:rPr>
              <a:t>Exp 4 — drop vs impute, three ledgers</a:t>
            </a:r>
          </a:p>
          <a:p>
            <a:pPr>
              <a:spcBef>
                <a:spcPts val="0"/>
              </a:spcBef>
              <a:spcAft>
                <a:spcPts val="160"/>
              </a:spcAft>
            </a:pPr>
            <a:r>
              <a:rPr sz="940" b="1" i="0">
                <a:solidFill>
                  <a:srgbClr val="B3261E"/>
                </a:solidFill>
                <a:latin typeface="Calibri"/>
              </a:rPr>
              <a:t>•  </a:t>
            </a:r>
            <a:r>
              <a:rPr sz="940" b="0" i="0">
                <a:solidFill>
                  <a:srgbClr val="16181D"/>
                </a:solidFill>
                <a:latin typeface="Calibri"/>
              </a:rPr>
              <a:t>Exp 5 — duplicates found and removed</a:t>
            </a:r>
          </a:p>
          <a:p>
            <a:pPr>
              <a:spcBef>
                <a:spcPts val="0"/>
              </a:spcBef>
              <a:spcAft>
                <a:spcPts val="160"/>
              </a:spcAft>
            </a:pPr>
            <a:r>
              <a:rPr sz="940" b="1" i="0">
                <a:solidFill>
                  <a:srgbClr val="B3261E"/>
                </a:solidFill>
                <a:latin typeface="Calibri"/>
              </a:rPr>
              <a:t>•  </a:t>
            </a:r>
            <a:r>
              <a:rPr sz="940" b="0" i="0">
                <a:solidFill>
                  <a:srgbClr val="16181D"/>
                </a:solidFill>
                <a:latin typeface="Calibri"/>
              </a:rPr>
              <a:t>Exp 6 — four business questions</a:t>
            </a:r>
          </a:p>
        </p:txBody>
      </p:sp>
      <p:sp>
        <p:nvSpPr>
          <p:cNvPr id="9" name="TextBox 8"/>
          <p:cNvSpPr txBox="1"/>
          <p:nvPr/>
        </p:nvSpPr>
        <p:spPr>
          <a:xfrm>
            <a:off x="6333591" y="4657648"/>
            <a:ext cx="5111496" cy="1660855"/>
          </a:xfrm>
          <a:prstGeom prst="rect">
            <a:avLst/>
          </a:prstGeom>
          <a:noFill/>
        </p:spPr>
        <p:txBody>
          <a:bodyPr wrap="square" anchor="t" lIns="0" rIns="0" tIns="0" bIns="0">
            <a:spAutoFit/>
          </a:bodyPr>
          <a:lstStyle/>
          <a:p>
            <a:pPr>
              <a:spcBef>
                <a:spcPts val="0"/>
              </a:spcBef>
              <a:spcAft>
                <a:spcPts val="160"/>
              </a:spcAft>
            </a:pPr>
            <a:r>
              <a:rPr sz="940" b="1" i="0">
                <a:solidFill>
                  <a:srgbClr val="B3261E"/>
                </a:solidFill>
                <a:latin typeface="Calibri"/>
              </a:rPr>
              <a:t>•  </a:t>
            </a:r>
            <a:r>
              <a:rPr sz="940" b="0" i="0">
                <a:solidFill>
                  <a:srgbClr val="16181D"/>
                </a:solidFill>
                <a:latin typeface="Calibri"/>
              </a:rPr>
              <a:t>Exp 7 — groupby, agg, pivot</a:t>
            </a:r>
          </a:p>
          <a:p>
            <a:pPr>
              <a:spcBef>
                <a:spcPts val="0"/>
              </a:spcBef>
              <a:spcAft>
                <a:spcPts val="160"/>
              </a:spcAft>
            </a:pPr>
            <a:r>
              <a:rPr sz="940" b="1" i="0">
                <a:solidFill>
                  <a:srgbClr val="B3261E"/>
                </a:solidFill>
                <a:latin typeface="Calibri"/>
              </a:rPr>
              <a:t>•  </a:t>
            </a:r>
            <a:r>
              <a:rPr sz="940" b="0" i="0">
                <a:solidFill>
                  <a:srgbClr val="16181D"/>
                </a:solidFill>
                <a:latin typeface="Calibri"/>
              </a:rPr>
              <a:t>Exp 8 — spread, skew, fences, odd rows</a:t>
            </a:r>
          </a:p>
          <a:p>
            <a:pPr>
              <a:spcBef>
                <a:spcPts val="0"/>
              </a:spcBef>
              <a:spcAft>
                <a:spcPts val="160"/>
              </a:spcAft>
            </a:pPr>
            <a:r>
              <a:rPr sz="940" b="1" i="0">
                <a:solidFill>
                  <a:srgbClr val="B3261E"/>
                </a:solidFill>
                <a:latin typeface="Calibri"/>
              </a:rPr>
              <a:t>•  </a:t>
            </a:r>
            <a:r>
              <a:rPr sz="940" b="0" i="0">
                <a:solidFill>
                  <a:srgbClr val="16181D"/>
                </a:solidFill>
                <a:latin typeface="Calibri"/>
              </a:rPr>
              <a:t>Exp 9 — bar and pie, table first</a:t>
            </a:r>
          </a:p>
          <a:p>
            <a:pPr>
              <a:spcBef>
                <a:spcPts val="0"/>
              </a:spcBef>
              <a:spcAft>
                <a:spcPts val="160"/>
              </a:spcAft>
            </a:pPr>
            <a:r>
              <a:rPr sz="940" b="1" i="0">
                <a:solidFill>
                  <a:srgbClr val="B3261E"/>
                </a:solidFill>
                <a:latin typeface="Calibri"/>
              </a:rPr>
              <a:t>•  </a:t>
            </a:r>
            <a:r>
              <a:rPr sz="940" b="0" i="0">
                <a:solidFill>
                  <a:srgbClr val="16181D"/>
                </a:solidFill>
                <a:latin typeface="Calibri"/>
              </a:rPr>
              <a:t>Exp 10 — line and scatter, split</a:t>
            </a:r>
          </a:p>
          <a:p>
            <a:pPr>
              <a:spcBef>
                <a:spcPts val="0"/>
              </a:spcBef>
              <a:spcAft>
                <a:spcPts val="160"/>
              </a:spcAft>
            </a:pPr>
            <a:r>
              <a:rPr sz="940" b="1" i="0">
                <a:solidFill>
                  <a:srgbClr val="B3261E"/>
                </a:solidFill>
                <a:latin typeface="Calibri"/>
              </a:rPr>
              <a:t>•  </a:t>
            </a:r>
            <a:r>
              <a:rPr sz="940" b="0" i="0">
                <a:solidFill>
                  <a:srgbClr val="16181D"/>
                </a:solidFill>
                <a:latin typeface="Calibri"/>
              </a:rPr>
              <a:t>Exp 11 — corr matrix and heat map</a:t>
            </a:r>
          </a:p>
          <a:p>
            <a:pPr>
              <a:spcBef>
                <a:spcPts val="0"/>
              </a:spcBef>
              <a:spcAft>
                <a:spcPts val="160"/>
              </a:spcAft>
            </a:pPr>
            <a:r>
              <a:rPr sz="940" b="1" i="0">
                <a:solidFill>
                  <a:srgbClr val="B3261E"/>
                </a:solidFill>
                <a:latin typeface="Calibri"/>
              </a:rPr>
              <a:t>•  </a:t>
            </a:r>
            <a:r>
              <a:rPr sz="940" b="0" i="0">
                <a:solidFill>
                  <a:srgbClr val="16181D"/>
                </a:solidFill>
                <a:latin typeface="Calibri"/>
              </a:rPr>
              <a:t>Exp 12 — the end-to-end micro-project</a:t>
            </a:r>
          </a:p>
        </p:txBody>
      </p:sp>
      <p:sp>
        <p:nvSpPr>
          <p:cNvPr id="10" name="TextBox 9"/>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400"/>
              </a:spcAft>
            </a:pPr>
            <a:r>
              <a:rPr sz="1000" b="1" i="0">
                <a:solidFill>
                  <a:srgbClr val="4B5563"/>
                </a:solidFill>
                <a:latin typeface="Calibr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 — Loading and exploring a real-world dataset</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20</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950" b="0" i="0">
                <a:solidFill>
                  <a:srgbClr val="16181D"/>
                </a:solidFill>
                <a:latin typeface="Calibri"/>
              </a:rPr>
              <a:t>Load a real-world dataset such as Student Performance, Employee Information, or Sales Data using Pandas in Jupyter Notebook. Explore the dataset by displaying the first few records, identifying the number of rows and columns, examining data types, and generating a summary of the dataset to understand its structure and contents. … (full text: the verbatim box in the course book)</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src/eda01_load_explore.py</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"""EDA-01  Load a real-world dataset and explore its structure and contents.</a:t>
            </a:r>
          </a:p>
          <a:p>
            <a:pPr>
              <a:lnSpc>
                <a:spcPct val="100000"/>
              </a:lnSpc>
              <a:spcBef>
                <a:spcPts val="0"/>
              </a:spcBef>
              <a:spcAft>
                <a:spcPts val="60"/>
              </a:spcAft>
            </a:pPr>
            <a:r>
              <a:rPr sz="700" b="0" i="0">
                <a:solidFill>
                  <a:srgbClr val="E5E7EB"/>
                </a:solidFill>
                <a:latin typeface="Consolas"/>
              </a:rPr>
              <a:t>Usage: python3 src/eda01_load_explore.py data/student_performance.csv</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from collections import Counter</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numpy as np</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pd.set_option("display.width", 78)</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CSV = sys.argv[1]</a:t>
            </a:r>
          </a:p>
          <a:p>
            <a:pPr>
              <a:lnSpc>
                <a:spcPct val="100000"/>
              </a:lnSpc>
              <a:spcBef>
                <a:spcPts val="0"/>
              </a:spcBef>
              <a:spcAft>
                <a:spcPts val="60"/>
              </a:spcAft>
            </a:pPr>
            <a:r>
              <a:rPr sz="700" b="0" i="0">
                <a:solidFill>
                  <a:srgbClr val="E5E7EB"/>
                </a:solidFill>
                <a:latin typeface="Consolas"/>
              </a:rPr>
              <a:t>df = pd.read_csv(CSV)</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EDA-01  first contact: shape, dtypes, head, describe, and what's inside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print(f"file: {CSV}")</a:t>
            </a:r>
          </a:p>
          <a:p>
            <a:pPr>
              <a:lnSpc>
                <a:spcPct val="100000"/>
              </a:lnSpc>
              <a:spcBef>
                <a:spcPts val="0"/>
              </a:spcBef>
              <a:spcAft>
                <a:spcPts val="60"/>
              </a:spcAft>
            </a:pPr>
            <a:r>
              <a:rPr sz="700" b="0" i="0">
                <a:solidFill>
                  <a:srgbClr val="E5E7EB"/>
                </a:solidFill>
                <a:latin typeface="Consolas"/>
              </a:rPr>
              <a:t>print(f"shape: {df.shape[0]} rows x {df.shape[1]} columns")</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print("first 3 records (head — never load blindly):")</a:t>
            </a:r>
          </a:p>
          <a:p>
            <a:pPr>
              <a:lnSpc>
                <a:spcPct val="100000"/>
              </a:lnSpc>
              <a:spcBef>
                <a:spcPts val="0"/>
              </a:spcBef>
              <a:spcAft>
                <a:spcPts val="60"/>
              </a:spcAft>
            </a:pPr>
            <a:r>
              <a:rPr sz="700" b="0" i="0">
                <a:solidFill>
                  <a:srgbClr val="E5E7EB"/>
                </a:solidFill>
                <a:latin typeface="Consolas"/>
              </a:rPr>
              <a:t>print(df.head(3).to_string(index=False))</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out/eda01_load_explore.txt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610" b="0" i="0">
                <a:solidFill>
                  <a:srgbClr val="14171C"/>
                </a:solidFill>
                <a:latin typeface="Consolas"/>
              </a:rPr>
              <a:t>$ python3 src/eda01_load_explore.py data/student_performance.csv</a:t>
            </a:r>
          </a:p>
          <a:p>
            <a:pPr>
              <a:lnSpc>
                <a:spcPct val="100000"/>
              </a:lnSpc>
              <a:spcBef>
                <a:spcPts val="0"/>
              </a:spcBef>
              <a:spcAft>
                <a:spcPts val="60"/>
              </a:spcAft>
            </a:pPr>
            <a:r>
              <a:rPr sz="610" b="0" i="0">
                <a:solidFill>
                  <a:srgbClr val="14171C"/>
                </a:solidFill>
                <a:latin typeface="Consolas"/>
              </a:rPr>
              <a:t>== EDA-01  first contact: shape, dtypes, head, describe, and what's inside ==</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file: data/student_performance.csv</a:t>
            </a:r>
          </a:p>
          <a:p>
            <a:pPr>
              <a:lnSpc>
                <a:spcPct val="100000"/>
              </a:lnSpc>
              <a:spcBef>
                <a:spcPts val="0"/>
              </a:spcBef>
              <a:spcAft>
                <a:spcPts val="60"/>
              </a:spcAft>
            </a:pPr>
            <a:r>
              <a:rPr sz="610" b="0" i="0">
                <a:solidFill>
                  <a:srgbClr val="14171C"/>
                </a:solidFill>
                <a:latin typeface="Consolas"/>
              </a:rPr>
              <a:t>shape: 412 rows x 11 columns</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first 3 records (head — never load blindly):</a:t>
            </a:r>
          </a:p>
          <a:p>
            <a:pPr>
              <a:lnSpc>
                <a:spcPct val="100000"/>
              </a:lnSpc>
              <a:spcBef>
                <a:spcPts val="0"/>
              </a:spcBef>
              <a:spcAft>
                <a:spcPts val="60"/>
              </a:spcAft>
            </a:pPr>
            <a:r>
              <a:rPr sz="610" b="0" i="0">
                <a:solidFill>
                  <a:srgbClr val="14171C"/>
                </a:solidFill>
                <a:latin typeface="Consolas"/>
              </a:rPr>
              <a:t>student_id gender race_ethnicity parental_education    lunch prepared_course  age  study_hours  absences internet_access  score</a:t>
            </a:r>
          </a:p>
          <a:p>
            <a:pPr>
              <a:lnSpc>
                <a:spcPct val="100000"/>
              </a:lnSpc>
              <a:spcBef>
                <a:spcPts val="0"/>
              </a:spcBef>
              <a:spcAft>
                <a:spcPts val="60"/>
              </a:spcAft>
            </a:pPr>
            <a:r>
              <a:rPr sz="610" b="0" i="0">
                <a:solidFill>
                  <a:srgbClr val="14171C"/>
                </a:solidFill>
                <a:latin typeface="Consolas"/>
              </a:rPr>
              <a:t>    SP0001   male        group A    some elementary standard            none   19          7.0         2              no     76</a:t>
            </a:r>
          </a:p>
          <a:p>
            <a:pPr>
              <a:lnSpc>
                <a:spcPct val="100000"/>
              </a:lnSpc>
              <a:spcBef>
                <a:spcPts val="0"/>
              </a:spcBef>
              <a:spcAft>
                <a:spcPts val="60"/>
              </a:spcAft>
            </a:pPr>
            <a:r>
              <a:rPr sz="610" b="0" i="0">
                <a:solidFill>
                  <a:srgbClr val="14171C"/>
                </a:solidFill>
                <a:latin typeface="Consolas"/>
              </a:rPr>
              <a:t>    SP0002 female        group D associate's degree standard       completed   19          7.2         2             yes     75</a:t>
            </a:r>
          </a:p>
          <a:p>
            <a:pPr>
              <a:lnSpc>
                <a:spcPct val="100000"/>
              </a:lnSpc>
              <a:spcBef>
                <a:spcPts val="0"/>
              </a:spcBef>
              <a:spcAft>
                <a:spcPts val="60"/>
              </a:spcAft>
            </a:pPr>
            <a:r>
              <a:rPr sz="610" b="0" i="0">
                <a:solidFill>
                  <a:srgbClr val="14171C"/>
                </a:solidFill>
                <a:latin typeface="Consolas"/>
              </a:rPr>
              <a:t>    SP0003   male        group A                NaN standard            none   17         11.3         2              no     94</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columns and dtypes — the two-line structure report:</a:t>
            </a:r>
          </a:p>
          <a:p>
            <a:pPr>
              <a:lnSpc>
                <a:spcPct val="100000"/>
              </a:lnSpc>
              <a:spcBef>
                <a:spcPts val="0"/>
              </a:spcBef>
              <a:spcAft>
                <a:spcPts val="60"/>
              </a:spcAft>
            </a:pPr>
            <a:r>
              <a:rPr sz="610" b="0" i="0">
                <a:solidFill>
                  <a:srgbClr val="14171C"/>
                </a:solidFill>
                <a:latin typeface="Consolas"/>
              </a:rPr>
              <a:t>  student_id         object   distinct= 400  nulls=0</a:t>
            </a:r>
          </a:p>
          <a:p>
            <a:pPr>
              <a:lnSpc>
                <a:spcPct val="100000"/>
              </a:lnSpc>
              <a:spcBef>
                <a:spcPts val="0"/>
              </a:spcBef>
              <a:spcAft>
                <a:spcPts val="60"/>
              </a:spcAft>
            </a:pPr>
            <a:r>
              <a:rPr sz="610" b="0" i="0">
                <a:solidFill>
                  <a:srgbClr val="14171C"/>
                </a:solidFill>
                <a:latin typeface="Consolas"/>
              </a:rPr>
              <a:t>  gender             object   distinct=   2  nulls=0</a:t>
            </a:r>
          </a:p>
          <a:p>
            <a:pPr>
              <a:lnSpc>
                <a:spcPct val="100000"/>
              </a:lnSpc>
              <a:spcBef>
                <a:spcPts val="0"/>
              </a:spcBef>
              <a:spcAft>
                <a:spcPts val="60"/>
              </a:spcAft>
            </a:pPr>
            <a:r>
              <a:rPr sz="610" b="0" i="0">
                <a:solidFill>
                  <a:srgbClr val="14171C"/>
                </a:solidFill>
                <a:latin typeface="Consolas"/>
              </a:rPr>
              <a:t>  race_ethnicity     object   distinct=   3  nulls=0</a:t>
            </a:r>
          </a:p>
          <a:p>
            <a:pPr>
              <a:lnSpc>
                <a:spcPct val="100000"/>
              </a:lnSpc>
              <a:spcBef>
                <a:spcPts val="0"/>
              </a:spcBef>
              <a:spcAft>
                <a:spcPts val="60"/>
              </a:spcAft>
            </a:pPr>
            <a:r>
              <a:rPr sz="610" b="0" i="0">
                <a:solidFill>
                  <a:srgbClr val="14171C"/>
                </a:solidFill>
                <a:latin typeface="Consolas"/>
              </a:rPr>
              <a:t>  parental_education object   distinct=   6  nulls=53</a:t>
            </a:r>
          </a:p>
          <a:p>
            <a:pPr>
              <a:lnSpc>
                <a:spcPct val="100000"/>
              </a:lnSpc>
              <a:spcBef>
                <a:spcPts val="0"/>
              </a:spcBef>
              <a:spcAft>
                <a:spcPts val="60"/>
              </a:spcAft>
            </a:pPr>
            <a:r>
              <a:rPr sz="610" b="0" i="0">
                <a:solidFill>
                  <a:srgbClr val="14171C"/>
                </a:solidFill>
                <a:latin typeface="Consolas"/>
              </a:rPr>
              <a:t>…  21 more lines omitted — complete listing in the course book  …</a:t>
            </a:r>
          </a:p>
          <a:p>
            <a:pPr>
              <a:lnSpc>
                <a:spcPct val="100000"/>
              </a:lnSpc>
              <a:spcBef>
                <a:spcPts val="0"/>
              </a:spcBef>
              <a:spcAft>
                <a:spcPts val="60"/>
              </a:spcAft>
            </a:pPr>
            <a:r>
              <a:rPr sz="610" b="0" i="0">
                <a:solidFill>
                  <a:srgbClr val="14171C"/>
                </a:solidFill>
                <a:latin typeface="Consolas"/>
              </a:rPr>
              <a:t>[('group A', 185), ('group C', 130), ('group D', 97)]</a:t>
            </a:r>
          </a:p>
          <a:p>
            <a:pPr>
              <a:lnSpc>
                <a:spcPct val="100000"/>
              </a:lnSpc>
              <a:spcBef>
                <a:spcPts val="0"/>
              </a:spcBef>
              <a:spcAft>
                <a:spcPts val="60"/>
              </a:spcAft>
            </a:pPr>
            <a:r>
              <a:rPr sz="610" b="0" i="0">
                <a:solidFill>
                  <a:srgbClr val="14171C"/>
                </a:solidFill>
                <a:latin typeface="Consolas"/>
              </a:rPr>
              <a:t>[('completed', 219), ('none', 193)]</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total in-memory size (deep, strings counted): 174155 bytes  (170.1 KiB)</a:t>
            </a:r>
          </a:p>
          <a:p>
            <a:pPr>
              <a:lnSpc>
                <a:spcPct val="100000"/>
              </a:lnSpc>
              <a:spcBef>
                <a:spcPts val="0"/>
              </a:spcBef>
              <a:spcAft>
                <a:spcPts val="60"/>
              </a:spcAft>
            </a:pPr>
            <a:r>
              <a:rPr sz="610" b="0" i="0">
                <a:solidFill>
                  <a:srgbClr val="14171C"/>
                </a:solidFill>
                <a:latin typeface="Consolas"/>
              </a:rPr>
              <a:t>rows whose student_id repeats (duplicates? we will see): 12</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EDA01 RESULT: dataset explored — shape, dtypes, describe, value_counts and memory all printed from student_performance.csv -- PASS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21</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shape line is the first sentence of every report:</a:t>
            </a:r>
            <a:r>
              <a:rPr sz="1150" b="0" i="0">
                <a:solidFill>
                  <a:srgbClr val="B3261E"/>
                </a:solidFill>
                <a:latin typeface="Consolas"/>
              </a:rPr>
              <a:t>shape: 412 rows x 11 columns</a:t>
            </a:r>
            <a:r>
              <a:rPr sz="1250" b="0" i="0">
                <a:solidFill>
                  <a:srgbClr val="16181D"/>
                </a:solidFill>
                <a:latin typeface="Calibri"/>
              </a:rPr>
              <a: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head() already shows the missingness sections 3 and 4 will repair: the third record carries</a:t>
            </a:r>
            <a:r>
              <a:rPr sz="1150" b="0" i="0">
                <a:solidFill>
                  <a:srgbClr val="B3261E"/>
                </a:solidFill>
                <a:latin typeface="Consolas"/>
              </a:rPr>
              <a:t>NaN</a:t>
            </a:r>
            <a:r>
              <a:rPr sz="1250" b="0" i="0">
                <a:solidFill>
                  <a:srgbClr val="16181D"/>
                </a:solidFill>
                <a:latin typeface="Calibri"/>
              </a:rPr>
              <a:t>under parental_education — visible before any statistic is computed.</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per-column report separates storage from meaning:</a:t>
            </a:r>
            <a:r>
              <a:rPr sz="1150" b="0" i="0">
                <a:solidFill>
                  <a:srgbClr val="B3261E"/>
                </a:solidFill>
                <a:latin typeface="Consolas"/>
              </a:rPr>
              <a:t>distinct=   6  nulls=53</a:t>
            </a:r>
            <a:r>
              <a:rPr sz="1250" b="0" i="0">
                <a:solidFill>
                  <a:srgbClr val="16181D"/>
                </a:solidFill>
                <a:latin typeface="Calibri"/>
              </a:rPr>
              <a:t>for parental_education, while</a:t>
            </a:r>
            <a:r>
              <a:rPr sz="1150" b="0" i="0">
                <a:solidFill>
                  <a:srgbClr val="B3261E"/>
                </a:solidFill>
                <a:latin typeface="Consolas"/>
              </a:rPr>
              <a:t>distinct= 117  nulls=14</a:t>
            </a:r>
            <a:r>
              <a:rPr sz="1250" b="0" i="0">
                <a:solidFill>
                  <a:srgbClr val="16181D"/>
                </a:solidFill>
                <a:latin typeface="Calibri"/>
              </a:rPr>
              <a:t>on study_hours shows the float64 widening that missingness forces.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describe() summarises the four numeric columns; the strings get value_counts, which is their describe:</a:t>
            </a:r>
            <a:r>
              <a:rPr sz="1150" b="0" i="0">
                <a:solidFill>
                  <a:srgbClr val="B3261E"/>
                </a:solidFill>
                <a:latin typeface="Consolas"/>
              </a:rPr>
              <a:t>[('group A', 185), ('group C', 130), ('group D', 97)]</a:t>
            </a:r>
            <a:r>
              <a:rPr sz="1250" b="0" i="0">
                <a:solidFill>
                  <a:srgbClr val="16181D"/>
                </a:solidFill>
                <a:latin typeface="Calibri"/>
              </a:rPr>
              <a:t>printed exactly as Counter reported them.</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Memory is a structure fact too:</a:t>
            </a:r>
            <a:r>
              <a:rPr sz="1150" b="0" i="0">
                <a:solidFill>
                  <a:srgbClr val="B3261E"/>
                </a:solidFill>
                <a:latin typeface="Consolas"/>
              </a:rPr>
              <a:t>total in-memory size (deep, strings counted): 174155 bytes</a:t>
            </a:r>
            <a:r>
              <a:rPr sz="1250" b="0" i="0">
                <a:solidFill>
                  <a:srgbClr val="16181D"/>
                </a:solidFill>
                <a:latin typeface="Calibri"/>
              </a:rPr>
              <a:t>— the size a 412-row frame occupies when string objects are counted honestly.</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closing line plants the sequel:</a:t>
            </a:r>
            <a:r>
              <a:rPr sz="1150" b="0" i="0">
                <a:solidFill>
                  <a:srgbClr val="B3261E"/>
                </a:solidFill>
                <a:latin typeface="Consolas"/>
              </a:rPr>
              <a:t>rows whose student_id repeats (duplicates? we will see): 12</a:t>
            </a:r>
            <a:r>
              <a:rPr sz="1250" b="0" i="0">
                <a:solidFill>
                  <a:srgbClr val="16181D"/>
                </a:solidFill>
                <a:latin typeface="Calibri"/>
              </a:rPr>
              <a:t>— counted once here, named there.</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Which method answers 'how many values does this column actually hold?' and which answers 'how many distinct ones?' — and what are both on study_hours here?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Why does absences print as int64 while study_hours prints as float64?</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What does deep=True add to memory_usage, and why is the number bigger with it?</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count() counts non-null values, nunique() counts distinct non-null values. On the capture's frame study_hours has 117 distinct values over 398 present rows (412 minus the 14 NaN that describe() already showed in its count row). The two numbers answer two questions and neither is the row count.</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Loaded, shaped, typed, summarised and sized from one pass — the exploration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2 — Basic statistics: six measures, twice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22</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950" b="0" i="0">
                <a:solidFill>
                  <a:srgbClr val="16181D"/>
                </a:solidFill>
                <a:latin typeface="Calibri"/>
              </a:rPr>
              <a:t>Extract numerical attributes from a dataset and perform basic statistical analysis using NumPy and Pandas. Compute measures such as mean, median, mode, standard deviation, minimum, and maximum values, and interpret the results to understand the distribution and characteristics of the data. … (full text: the verbatim box in the course book)</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src/eda02_basic_stats.py</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"""EDA-02  Extract numerical attributes; compute central tendency and dispersion.</a:t>
            </a:r>
          </a:p>
          <a:p>
            <a:pPr>
              <a:lnSpc>
                <a:spcPct val="100000"/>
              </a:lnSpc>
              <a:spcBef>
                <a:spcPts val="0"/>
              </a:spcBef>
              <a:spcAft>
                <a:spcPts val="60"/>
              </a:spcAft>
            </a:pPr>
            <a:r>
              <a:rPr sz="700" b="0" i="0">
                <a:solidFill>
                  <a:srgbClr val="E5E7EB"/>
                </a:solidFill>
                <a:latin typeface="Consolas"/>
              </a:rPr>
              <a:t>Usage: python3 src/eda02_basic_stats.py data/student_performance.csv</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numpy as np</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CSV = sys.argv[1]</a:t>
            </a:r>
          </a:p>
          <a:p>
            <a:pPr>
              <a:lnSpc>
                <a:spcPct val="100000"/>
              </a:lnSpc>
              <a:spcBef>
                <a:spcPts val="0"/>
              </a:spcBef>
              <a:spcAft>
                <a:spcPts val="60"/>
              </a:spcAft>
            </a:pPr>
            <a:r>
              <a:rPr sz="700" b="0" i="0">
                <a:solidFill>
                  <a:srgbClr val="E5E7EB"/>
                </a:solidFill>
                <a:latin typeface="Consolas"/>
              </a:rPr>
              <a:t>df = pd.read_csv(CSV)</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EDA-02  mean / median / mode / std / min / max — twice, once per library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num = df.select_dtypes("number")</a:t>
            </a:r>
          </a:p>
          <a:p>
            <a:pPr>
              <a:lnSpc>
                <a:spcPct val="100000"/>
              </a:lnSpc>
              <a:spcBef>
                <a:spcPts val="0"/>
              </a:spcBef>
              <a:spcAft>
                <a:spcPts val="60"/>
              </a:spcAft>
            </a:pPr>
            <a:r>
              <a:rPr sz="700" b="0" i="0">
                <a:solidFill>
                  <a:srgbClr val="E5E7EB"/>
                </a:solidFill>
                <a:latin typeface="Consolas"/>
              </a:rPr>
              <a:t>print(f"numerical attributes extracted: {list(num.columns)}")</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print("numpy over the raw arrays, pandas over the columns — same answers:")</a:t>
            </a:r>
          </a:p>
          <a:p>
            <a:pPr>
              <a:lnSpc>
                <a:spcPct val="100000"/>
              </a:lnSpc>
              <a:spcBef>
                <a:spcPts val="0"/>
              </a:spcBef>
              <a:spcAft>
                <a:spcPts val="60"/>
              </a:spcAft>
            </a:pPr>
            <a:r>
              <a:rPr sz="700" b="0" i="0">
                <a:solidFill>
                  <a:srgbClr val="E5E7EB"/>
                </a:solidFill>
                <a:latin typeface="Consolas"/>
              </a:rPr>
              <a:t>rows = []</a:t>
            </a:r>
          </a:p>
          <a:p>
            <a:pPr>
              <a:lnSpc>
                <a:spcPct val="100000"/>
              </a:lnSpc>
              <a:spcBef>
                <a:spcPts val="0"/>
              </a:spcBef>
              <a:spcAft>
                <a:spcPts val="60"/>
              </a:spcAft>
            </a:pPr>
            <a:r>
              <a:rPr sz="700" b="0" i="0">
                <a:solidFill>
                  <a:srgbClr val="E5E7EB"/>
                </a:solidFill>
                <a:latin typeface="Consolas"/>
              </a:rPr>
              <a:t>for col in num.columns:</a:t>
            </a:r>
          </a:p>
          <a:p>
            <a:pPr>
              <a:lnSpc>
                <a:spcPct val="100000"/>
              </a:lnSpc>
              <a:spcBef>
                <a:spcPts val="0"/>
              </a:spcBef>
              <a:spcAft>
                <a:spcPts val="60"/>
              </a:spcAft>
            </a:pPr>
            <a:r>
              <a:rPr sz="700" b="0" i="0">
                <a:solidFill>
                  <a:srgbClr val="E5E7EB"/>
                </a:solidFill>
                <a:latin typeface="Consolas"/>
              </a:rPr>
              <a:t>    v = num[col].dropna().to_numpy()          # numpy gets clean 1-D arrays</a:t>
            </a:r>
          </a:p>
          <a:p>
            <a:pPr>
              <a:lnSpc>
                <a:spcPct val="100000"/>
              </a:lnSpc>
              <a:spcBef>
                <a:spcPts val="0"/>
              </a:spcBef>
              <a:spcAft>
                <a:spcPts val="60"/>
              </a:spcAft>
            </a:pPr>
            <a:r>
              <a:rPr sz="700" b="0" i="0">
                <a:solidFill>
                  <a:srgbClr val="E5E7EB"/>
                </a:solidFill>
                <a:latin typeface="Consolas"/>
              </a:rPr>
              <a:t>    mean_np, std_np = v.mean(), v.std(ddof=1)</a:t>
            </a:r>
          </a:p>
          <a:p>
            <a:pPr>
              <a:lnSpc>
                <a:spcPct val="100000"/>
              </a:lnSpc>
              <a:spcBef>
                <a:spcPts val="0"/>
              </a:spcBef>
              <a:spcAft>
                <a:spcPts val="60"/>
              </a:spcAft>
            </a:pPr>
            <a:r>
              <a:rPr sz="700" b="0" i="0">
                <a:solidFill>
                  <a:srgbClr val="E5E7EB"/>
                </a:solidFill>
                <a:latin typeface="Consolas"/>
              </a:rPr>
              <a:t>    mean_pd = num[col].mean()</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out/eda02_basic_stats.txt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630" b="0" i="0">
                <a:solidFill>
                  <a:srgbClr val="14171C"/>
                </a:solidFill>
                <a:latin typeface="Consolas"/>
              </a:rPr>
              <a:t>$ python3 src/eda02_basic_stats.py data/student_performance.csv</a:t>
            </a:r>
          </a:p>
          <a:p>
            <a:pPr>
              <a:lnSpc>
                <a:spcPct val="100000"/>
              </a:lnSpc>
              <a:spcBef>
                <a:spcPts val="0"/>
              </a:spcBef>
              <a:spcAft>
                <a:spcPts val="60"/>
              </a:spcAft>
            </a:pPr>
            <a:r>
              <a:rPr sz="630" b="0" i="0">
                <a:solidFill>
                  <a:srgbClr val="14171C"/>
                </a:solidFill>
                <a:latin typeface="Consolas"/>
              </a:rPr>
              <a:t>== EDA-02  mean / median / mode / std / min / max — twice, once per library ==</a:t>
            </a:r>
          </a:p>
          <a:p>
            <a:pPr>
              <a:lnSpc>
                <a:spcPct val="100000"/>
              </a:lnSpc>
              <a:spcBef>
                <a:spcPts val="0"/>
              </a:spcBef>
              <a:spcAft>
                <a:spcPts val="60"/>
              </a:spcAft>
            </a:pPr>
            <a:r>
              <a:rPr sz="630" b="0" i="0">
                <a:solidFill>
                  <a:srgbClr val="14171C"/>
                </a:solidFill>
                <a:latin typeface="Consolas"/>
              </a:rPr>
              <a:t> </a:t>
            </a:r>
          </a:p>
          <a:p>
            <a:pPr>
              <a:lnSpc>
                <a:spcPct val="100000"/>
              </a:lnSpc>
              <a:spcBef>
                <a:spcPts val="0"/>
              </a:spcBef>
              <a:spcAft>
                <a:spcPts val="60"/>
              </a:spcAft>
            </a:pPr>
            <a:r>
              <a:rPr sz="630" b="0" i="0">
                <a:solidFill>
                  <a:srgbClr val="14171C"/>
                </a:solidFill>
                <a:latin typeface="Consolas"/>
              </a:rPr>
              <a:t>numerical attributes extracted: ['age', 'study_hours', 'absences', 'score']</a:t>
            </a:r>
          </a:p>
          <a:p>
            <a:pPr>
              <a:lnSpc>
                <a:spcPct val="100000"/>
              </a:lnSpc>
              <a:spcBef>
                <a:spcPts val="0"/>
              </a:spcBef>
              <a:spcAft>
                <a:spcPts val="60"/>
              </a:spcAft>
            </a:pPr>
            <a:r>
              <a:rPr sz="630" b="0" i="0">
                <a:solidFill>
                  <a:srgbClr val="14171C"/>
                </a:solidFill>
                <a:latin typeface="Consolas"/>
              </a:rPr>
              <a:t> </a:t>
            </a:r>
          </a:p>
          <a:p>
            <a:pPr>
              <a:lnSpc>
                <a:spcPct val="100000"/>
              </a:lnSpc>
              <a:spcBef>
                <a:spcPts val="0"/>
              </a:spcBef>
              <a:spcAft>
                <a:spcPts val="60"/>
              </a:spcAft>
            </a:pPr>
            <a:r>
              <a:rPr sz="630" b="0" i="0">
                <a:solidFill>
                  <a:srgbClr val="14171C"/>
                </a:solidFill>
                <a:latin typeface="Consolas"/>
              </a:rPr>
              <a:t>numpy over the raw arrays, pandas over the columns — same answers:</a:t>
            </a:r>
          </a:p>
          <a:p>
            <a:pPr>
              <a:lnSpc>
                <a:spcPct val="100000"/>
              </a:lnSpc>
              <a:spcBef>
                <a:spcPts val="0"/>
              </a:spcBef>
              <a:spcAft>
                <a:spcPts val="60"/>
              </a:spcAft>
            </a:pPr>
            <a:r>
              <a:rPr sz="630" b="0" i="0">
                <a:solidFill>
                  <a:srgbClr val="14171C"/>
                </a:solidFill>
                <a:latin typeface="Consolas"/>
              </a:rPr>
              <a:t>  age          mean=  16.98 (Δ 0.000000000000000 vs pandas)  median=  17.0  mode= 15.0</a:t>
            </a:r>
          </a:p>
          <a:p>
            <a:pPr>
              <a:lnSpc>
                <a:spcPct val="100000"/>
              </a:lnSpc>
              <a:spcBef>
                <a:spcPts val="0"/>
              </a:spcBef>
              <a:spcAft>
                <a:spcPts val="60"/>
              </a:spcAft>
            </a:pPr>
            <a:r>
              <a:rPr sz="630" b="0" i="0">
                <a:solidFill>
                  <a:srgbClr val="14171C"/>
                </a:solidFill>
                <a:latin typeface="Consolas"/>
              </a:rPr>
              <a:t>               std=   1.43  min=   15.0  max=   19.0  n=412</a:t>
            </a:r>
          </a:p>
          <a:p>
            <a:pPr>
              <a:lnSpc>
                <a:spcPct val="100000"/>
              </a:lnSpc>
              <a:spcBef>
                <a:spcPts val="0"/>
              </a:spcBef>
              <a:spcAft>
                <a:spcPts val="60"/>
              </a:spcAft>
            </a:pPr>
            <a:r>
              <a:rPr sz="630" b="0" i="0">
                <a:solidFill>
                  <a:srgbClr val="14171C"/>
                </a:solidFill>
                <a:latin typeface="Consolas"/>
              </a:rPr>
              <a:t>  study_hours  mean=   5.75 (Δ 0.000000000000000 vs pandas)  median=   4.9  mode=  3.7</a:t>
            </a:r>
          </a:p>
          <a:p>
            <a:pPr>
              <a:lnSpc>
                <a:spcPct val="100000"/>
              </a:lnSpc>
              <a:spcBef>
                <a:spcPts val="0"/>
              </a:spcBef>
              <a:spcAft>
                <a:spcPts val="60"/>
              </a:spcAft>
            </a:pPr>
            <a:r>
              <a:rPr sz="630" b="0" i="0">
                <a:solidFill>
                  <a:srgbClr val="14171C"/>
                </a:solidFill>
                <a:latin typeface="Consolas"/>
              </a:rPr>
              <a:t>               std=   3.28  min=    1.2  max=   21.4  n=398</a:t>
            </a:r>
          </a:p>
          <a:p>
            <a:pPr>
              <a:lnSpc>
                <a:spcPct val="100000"/>
              </a:lnSpc>
              <a:spcBef>
                <a:spcPts val="0"/>
              </a:spcBef>
              <a:spcAft>
                <a:spcPts val="60"/>
              </a:spcAft>
            </a:pPr>
            <a:r>
              <a:rPr sz="630" b="0" i="0">
                <a:solidFill>
                  <a:srgbClr val="14171C"/>
                </a:solidFill>
                <a:latin typeface="Consolas"/>
              </a:rPr>
              <a:t>  absences     mean=   1.18 (Δ 0.000000000000000 vs pandas)  median=   1.0  mode=  1.0</a:t>
            </a:r>
          </a:p>
          <a:p>
            <a:pPr>
              <a:lnSpc>
                <a:spcPct val="100000"/>
              </a:lnSpc>
              <a:spcBef>
                <a:spcPts val="0"/>
              </a:spcBef>
              <a:spcAft>
                <a:spcPts val="60"/>
              </a:spcAft>
            </a:pPr>
            <a:r>
              <a:rPr sz="630" b="0" i="0">
                <a:solidFill>
                  <a:srgbClr val="14171C"/>
                </a:solidFill>
                <a:latin typeface="Consolas"/>
              </a:rPr>
              <a:t>               std=   1.02  min=    0.0  max=    5.0  n=412</a:t>
            </a:r>
          </a:p>
          <a:p>
            <a:pPr>
              <a:lnSpc>
                <a:spcPct val="100000"/>
              </a:lnSpc>
              <a:spcBef>
                <a:spcPts val="0"/>
              </a:spcBef>
              <a:spcAft>
                <a:spcPts val="60"/>
              </a:spcAft>
            </a:pPr>
            <a:r>
              <a:rPr sz="630" b="0" i="0">
                <a:solidFill>
                  <a:srgbClr val="14171C"/>
                </a:solidFill>
                <a:latin typeface="Consolas"/>
              </a:rPr>
              <a:t>  score        mean=  66.86 (Δ 0.000000000000000 vs pandas)  median=  65.0  mode=100.0</a:t>
            </a:r>
          </a:p>
          <a:p>
            <a:pPr>
              <a:lnSpc>
                <a:spcPct val="100000"/>
              </a:lnSpc>
              <a:spcBef>
                <a:spcPts val="0"/>
              </a:spcBef>
              <a:spcAft>
                <a:spcPts val="60"/>
              </a:spcAft>
            </a:pPr>
            <a:r>
              <a:rPr sz="630" b="0" i="0">
                <a:solidFill>
                  <a:srgbClr val="14171C"/>
                </a:solidFill>
                <a:latin typeface="Consolas"/>
              </a:rPr>
              <a:t>               std=  14.72  min=   38.0  max=  100.0  n=412</a:t>
            </a:r>
          </a:p>
          <a:p>
            <a:pPr>
              <a:lnSpc>
                <a:spcPct val="100000"/>
              </a:lnSpc>
              <a:spcBef>
                <a:spcPts val="0"/>
              </a:spcBef>
              <a:spcAft>
                <a:spcPts val="60"/>
              </a:spcAft>
            </a:pPr>
            <a:r>
              <a:rPr sz="630" b="0" i="0">
                <a:solidFill>
                  <a:srgbClr val="14171C"/>
                </a:solidFill>
                <a:latin typeface="Consolas"/>
              </a:rPr>
              <a:t> </a:t>
            </a:r>
          </a:p>
          <a:p>
            <a:pPr>
              <a:lnSpc>
                <a:spcPct val="100000"/>
              </a:lnSpc>
              <a:spcBef>
                <a:spcPts val="0"/>
              </a:spcBef>
              <a:spcAft>
                <a:spcPts val="60"/>
              </a:spcAft>
            </a:pPr>
            <a:r>
              <a:rPr sz="630" b="0" i="0">
                <a:solidFill>
                  <a:srgbClr val="14171C"/>
                </a:solidFill>
                <a:latin typeface="Consolas"/>
              </a:rPr>
              <a:t>interpretation, in words the exam asks for:</a:t>
            </a:r>
          </a:p>
          <a:p>
            <a:pPr>
              <a:lnSpc>
                <a:spcPct val="100000"/>
              </a:lnSpc>
              <a:spcBef>
                <a:spcPts val="0"/>
              </a:spcBef>
              <a:spcAft>
                <a:spcPts val="60"/>
              </a:spcAft>
            </a:pPr>
            <a:r>
              <a:rPr sz="630" b="0" i="0">
                <a:solidFill>
                  <a:srgbClr val="14171C"/>
                </a:solidFill>
                <a:latin typeface="Consolas"/>
              </a:rPr>
              <a:t>  study_hours: mean 5.75 vs median 4.90 — mean is above median by 0.85 h</a:t>
            </a:r>
          </a:p>
          <a:p>
            <a:pPr>
              <a:lnSpc>
                <a:spcPct val="100000"/>
              </a:lnSpc>
              <a:spcBef>
                <a:spcPts val="0"/>
              </a:spcBef>
              <a:spcAft>
                <a:spcPts val="60"/>
              </a:spcAft>
            </a:pPr>
            <a:r>
              <a:rPr sz="630" b="0" i="0">
                <a:solidFill>
                  <a:srgbClr val="14171C"/>
                </a:solidFill>
                <a:latin typeface="Consolas"/>
              </a:rPr>
              <a:t>    -&gt; right tail: a minority of very diligent students pulls the mean up;</a:t>
            </a:r>
          </a:p>
          <a:p>
            <a:pPr>
              <a:lnSpc>
                <a:spcPct val="100000"/>
              </a:lnSpc>
              <a:spcBef>
                <a:spcPts val="0"/>
              </a:spcBef>
              <a:spcAft>
                <a:spcPts val="60"/>
              </a:spcAft>
            </a:pPr>
            <a:r>
              <a:rPr sz="630" b="0" i="0">
                <a:solidFill>
                  <a:srgbClr val="14171C"/>
                </a:solidFill>
                <a:latin typeface="Consolas"/>
              </a:rPr>
              <a:t>       report median with mean, and std 3.28 for spread.</a:t>
            </a:r>
          </a:p>
          <a:p>
            <a:pPr>
              <a:lnSpc>
                <a:spcPct val="100000"/>
              </a:lnSpc>
              <a:spcBef>
                <a:spcPts val="0"/>
              </a:spcBef>
              <a:spcAft>
                <a:spcPts val="60"/>
              </a:spcAft>
            </a:pPr>
            <a:r>
              <a:rPr sz="630" b="0" i="0">
                <a:solidFill>
                  <a:srgbClr val="14171C"/>
                </a:solidFill>
                <a:latin typeface="Consolas"/>
              </a:rPr>
              <a:t>  score: 186 of 412 rows sit above the mean score 66.86 (not half — computed skew +0.533 says the tail is on the right:</a:t>
            </a:r>
          </a:p>
          <a:p>
            <a:pPr>
              <a:lnSpc>
                <a:spcPct val="100000"/>
              </a:lnSpc>
              <a:spcBef>
                <a:spcPts val="0"/>
              </a:spcBef>
              <a:spcAft>
                <a:spcPts val="60"/>
              </a:spcAft>
            </a:pPr>
            <a:r>
              <a:rPr sz="630" b="0" i="0">
                <a:solidFill>
                  <a:srgbClr val="14171C"/>
                </a:solidFill>
                <a:latin typeface="Consolas"/>
              </a:rPr>
              <a:t>  min 38, max 100, std 14.72; a mean above the median is the same fact,</a:t>
            </a:r>
          </a:p>
          <a:p>
            <a:pPr>
              <a:lnSpc>
                <a:spcPct val="100000"/>
              </a:lnSpc>
              <a:spcBef>
                <a:spcPts val="0"/>
              </a:spcBef>
              <a:spcAft>
                <a:spcPts val="60"/>
              </a:spcAft>
            </a:pPr>
            <a:r>
              <a:rPr sz="630" b="0" i="0">
                <a:solidFill>
                  <a:srgbClr val="14171C"/>
                </a:solidFill>
                <a:latin typeface="Consolas"/>
              </a:rPr>
              <a:t>  twice — quote both or neither.</a:t>
            </a:r>
          </a:p>
          <a:p>
            <a:pPr>
              <a:lnSpc>
                <a:spcPct val="100000"/>
              </a:lnSpc>
              <a:spcBef>
                <a:spcPts val="0"/>
              </a:spcBef>
              <a:spcAft>
                <a:spcPts val="60"/>
              </a:spcAft>
            </a:pPr>
            <a:r>
              <a:rPr sz="630" b="0" i="0">
                <a:solidFill>
                  <a:srgbClr val="14171C"/>
                </a:solidFill>
                <a:latin typeface="Consolas"/>
              </a:rPr>
              <a:t> </a:t>
            </a:r>
          </a:p>
          <a:p>
            <a:pPr>
              <a:lnSpc>
                <a:spcPct val="100000"/>
              </a:lnSpc>
              <a:spcBef>
                <a:spcPts val="0"/>
              </a:spcBef>
              <a:spcAft>
                <a:spcPts val="60"/>
              </a:spcAft>
            </a:pPr>
            <a:r>
              <a:rPr sz="630" b="0" i="0">
                <a:solidFill>
                  <a:srgbClr val="14171C"/>
                </a:solidFill>
                <a:latin typeface="Consolas"/>
              </a:rPr>
              <a:t>EDA02 RESULT: six measures x 4 numerical columns, numpy and pandas agree to 1e-15 -- PASS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2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23</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Two libraries, same arithmetic: every column prints</a:t>
            </a:r>
            <a:r>
              <a:rPr sz="1150" b="0" i="0">
                <a:solidFill>
                  <a:srgbClr val="B3261E"/>
                </a:solidFill>
                <a:latin typeface="Consolas"/>
              </a:rPr>
              <a:t>Δ 0.000000000000000 vs pandas</a:t>
            </a:r>
            <a:r>
              <a:rPr sz="1250" b="0" i="0">
                <a:solidFill>
                  <a:srgbClr val="16181D"/>
                </a:solidFill>
                <a:latin typeface="Calibri"/>
              </a:rPr>
              <a:t>— the pandas statistics are numpy reductions over the same buffer.</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study_hours is the right-tail textbook case:</a:t>
            </a:r>
            <a:r>
              <a:rPr sz="1150" b="0" i="0">
                <a:solidFill>
                  <a:srgbClr val="B3261E"/>
                </a:solidFill>
                <a:latin typeface="Consolas"/>
              </a:rPr>
              <a:t>study_hours: mean 5.75 vs median 4.90 — mean is above median by 0.85 h</a:t>
            </a:r>
            <a:r>
              <a:rPr sz="1250" b="0" i="0">
                <a:solidFill>
                  <a:srgbClr val="16181D"/>
                </a:solidFill>
                <a:latin typeface="Calibri"/>
              </a:rPr>
              <a:t>— a minority of diligent students dragging the average up, so the median is the sentence a report should lead with.</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score inverts the intuition — fewer than half the rows sit above its mean:</a:t>
            </a:r>
            <a:r>
              <a:rPr sz="1150" b="0" i="0">
                <a:solidFill>
                  <a:srgbClr val="B3261E"/>
                </a:solidFill>
                <a:latin typeface="Consolas"/>
              </a:rPr>
              <a:t>186 of 412 rows sit above the mean score 66.86</a:t>
            </a:r>
            <a:r>
              <a:rPr sz="1250" b="0" i="0">
                <a:solidFill>
                  <a:srgbClr val="16181D"/>
                </a:solidFill>
                <a:latin typeface="Calibri"/>
              </a:rPr>
              <a:t>, and the computed</a:t>
            </a:r>
            <a:r>
              <a:rPr sz="1150" b="0" i="0">
                <a:solidFill>
                  <a:srgbClr val="B3261E"/>
                </a:solidFill>
                <a:latin typeface="Consolas"/>
              </a:rPr>
              <a:t>skew +0.533</a:t>
            </a:r>
            <a:r>
              <a:rPr sz="1250" b="0" i="0">
                <a:solidFill>
                  <a:srgbClr val="16181D"/>
                </a:solidFill>
                <a:latin typeface="Calibri"/>
              </a:rPr>
              <a:t>names the direction so the prose cannot get it backwards.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Mode is reported honestly as a location, not a peak to write poetry about: on score the printed value is</a:t>
            </a:r>
            <a:r>
              <a:rPr sz="1150" b="0" i="0">
                <a:solidFill>
                  <a:srgbClr val="B3261E"/>
                </a:solidFill>
                <a:latin typeface="Consolas"/>
              </a:rPr>
              <a:t>mode=100.0</a:t>
            </a:r>
            <a:r>
              <a:rPr sz="1250" b="0" i="0">
                <a:solidFill>
                  <a:srgbClr val="16181D"/>
                </a:solidFill>
                <a:latin typeface="Calibri"/>
              </a:rPr>
              <a:t>— the ceiling of the scale collecting clipped-to-perfect rows, a construction fact worth one report sentence.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Dispersion before modelling: std 3.28 against a printed range of</a:t>
            </a:r>
            <a:r>
              <a:rPr sz="1150" b="0" i="0">
                <a:solidFill>
                  <a:srgbClr val="B3261E"/>
                </a:solidFill>
                <a:latin typeface="Consolas"/>
              </a:rPr>
              <a:t>min=    1.2  max=   21.4  n=398</a:t>
            </a:r>
            <a:r>
              <a:rPr sz="1250" b="0" i="0">
                <a:solidFill>
                  <a:srgbClr val="16181D"/>
                </a:solidFill>
                <a:latin typeface="Calibri"/>
              </a:rPr>
              <a:t>— the spread is the reason any linear relation with score will be noisy, and the n=398 keeps the non-null count in the reader's face.</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Which measure survives a single 10× outlier in study_hours and which does not, and what does the capture show about the pair on this data?</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Why does the standard deviation use ddof=1, and does the demo have to remember it?</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The mode of a rounded float column is fragile. What does the capture guarantee, and what does it not?</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Median and IQR survive; mean and std do not. The capture's mean sits 0.85 h above the median with no outlier at all — the right-skewed distribution does it gently. A statistic you cannot tie to a shape claim is an unexplained number in the report.</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Six measures × four columns, numpy and pandas agreeing to the last bit —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3 — Data quality: the missing-value report</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24</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950" b="0" i="0">
                <a:solidFill>
                  <a:srgbClr val="16181D"/>
                </a:solidFill>
                <a:latin typeface="Calibri"/>
              </a:rPr>
              <a:t>Analyze the quality of a dataset by identifying missing values, counting null entries in each attribute, and calculating the percentage of missing data. Generate a simple data quality report highlighting attributes that require cleaning before further analysis. (a) Expected Input: Dataset containing missing or incomplete records. … (full text: the verbatim box in the course book)</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src/eda03_quality.py</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"""EDA-03  Data quality report: missing values per attribute and overall.</a:t>
            </a:r>
          </a:p>
          <a:p>
            <a:pPr>
              <a:lnSpc>
                <a:spcPct val="100000"/>
              </a:lnSpc>
              <a:spcBef>
                <a:spcPts val="0"/>
              </a:spcBef>
              <a:spcAft>
                <a:spcPts val="60"/>
              </a:spcAft>
            </a:pPr>
            <a:r>
              <a:rPr sz="700" b="0" i="0">
                <a:solidFill>
                  <a:srgbClr val="E5E7EB"/>
                </a:solidFill>
                <a:latin typeface="Consolas"/>
              </a:rPr>
              <a:t>Usage: python3 src/eda03_quality.py data/student_performance.csv</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pd.set_option("display.width", 78)</a:t>
            </a:r>
          </a:p>
          <a:p>
            <a:pPr>
              <a:lnSpc>
                <a:spcPct val="100000"/>
              </a:lnSpc>
              <a:spcBef>
                <a:spcPts val="0"/>
              </a:spcBef>
              <a:spcAft>
                <a:spcPts val="60"/>
              </a:spcAft>
            </a:pPr>
            <a:r>
              <a:rPr sz="700" b="0" i="0">
                <a:solidFill>
                  <a:srgbClr val="E5E7EB"/>
                </a:solidFill>
                <a:latin typeface="Consolas"/>
              </a:rPr>
              <a:t>CSV = sys.argv[1]</a:t>
            </a:r>
          </a:p>
          <a:p>
            <a:pPr>
              <a:lnSpc>
                <a:spcPct val="100000"/>
              </a:lnSpc>
              <a:spcBef>
                <a:spcPts val="0"/>
              </a:spcBef>
              <a:spcAft>
                <a:spcPts val="60"/>
              </a:spcAft>
            </a:pPr>
            <a:r>
              <a:rPr sz="700" b="0" i="0">
                <a:solidFill>
                  <a:srgbClr val="E5E7EB"/>
                </a:solidFill>
                <a:latin typeface="Consolas"/>
              </a:rPr>
              <a:t>df = pd.read_csv(CSV)</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EDA-03  how bad is the data? count nulls, weight them, rank them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n_rows = len(df)</a:t>
            </a:r>
          </a:p>
          <a:p>
            <a:pPr>
              <a:lnSpc>
                <a:spcPct val="100000"/>
              </a:lnSpc>
              <a:spcBef>
                <a:spcPts val="0"/>
              </a:spcBef>
              <a:spcAft>
                <a:spcPts val="60"/>
              </a:spcAft>
            </a:pPr>
            <a:r>
              <a:rPr sz="700" b="0" i="0">
                <a:solidFill>
                  <a:srgbClr val="E5E7EB"/>
                </a:solidFill>
                <a:latin typeface="Consolas"/>
              </a:rPr>
              <a:t>nulls = df.isna().sum()</a:t>
            </a:r>
          </a:p>
          <a:p>
            <a:pPr>
              <a:lnSpc>
                <a:spcPct val="100000"/>
              </a:lnSpc>
              <a:spcBef>
                <a:spcPts val="0"/>
              </a:spcBef>
              <a:spcAft>
                <a:spcPts val="60"/>
              </a:spcAft>
            </a:pPr>
            <a:r>
              <a:rPr sz="700" b="0" i="0">
                <a:solidFill>
                  <a:srgbClr val="E5E7EB"/>
                </a:solidFill>
                <a:latin typeface="Consolas"/>
              </a:rPr>
              <a:t>pct = (100.0 * nulls / n_rows).round(2)</a:t>
            </a:r>
          </a:p>
          <a:p>
            <a:pPr>
              <a:lnSpc>
                <a:spcPct val="100000"/>
              </a:lnSpc>
              <a:spcBef>
                <a:spcPts val="0"/>
              </a:spcBef>
              <a:spcAft>
                <a:spcPts val="60"/>
              </a:spcAft>
            </a:pPr>
            <a:r>
              <a:rPr sz="700" b="0" i="0">
                <a:solidFill>
                  <a:srgbClr val="E5E7EB"/>
                </a:solidFill>
                <a:latin typeface="Consolas"/>
              </a:rPr>
              <a:t>report = pd.DataFrame({"nulls": nulls, "pct": pct})</a:t>
            </a:r>
          </a:p>
          <a:p>
            <a:pPr>
              <a:lnSpc>
                <a:spcPct val="100000"/>
              </a:lnSpc>
              <a:spcBef>
                <a:spcPts val="0"/>
              </a:spcBef>
              <a:spcAft>
                <a:spcPts val="60"/>
              </a:spcAft>
            </a:pPr>
            <a:r>
              <a:rPr sz="700" b="0" i="0">
                <a:solidFill>
                  <a:srgbClr val="E5E7EB"/>
                </a:solidFill>
                <a:latin typeface="Consolas"/>
              </a:rPr>
              <a:t>report = report[report["nulls"] &gt; 0].sort_values("nulls", ascending=False)</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print(f"dataset: {n_rows} rows x {df.shape[1]} columns")</a:t>
            </a:r>
          </a:p>
          <a:p>
            <a:pPr>
              <a:lnSpc>
                <a:spcPct val="100000"/>
              </a:lnSpc>
              <a:spcBef>
                <a:spcPts val="0"/>
              </a:spcBef>
              <a:spcAft>
                <a:spcPts val="60"/>
              </a:spcAft>
            </a:pPr>
            <a:r>
              <a:rPr sz="700" b="0" i="0">
                <a:solidFill>
                  <a:srgbClr val="E5E7EB"/>
                </a:solidFill>
                <a:latin typeface="Consolas"/>
              </a:rPr>
              <a:t>print("attributes with at least one null (the report itself):")</a:t>
            </a:r>
          </a:p>
          <a:p>
            <a:pPr>
              <a:lnSpc>
                <a:spcPct val="100000"/>
              </a:lnSpc>
              <a:spcBef>
                <a:spcPts val="0"/>
              </a:spcBef>
              <a:spcAft>
                <a:spcPts val="60"/>
              </a:spcAft>
            </a:pPr>
            <a:r>
              <a:rPr sz="700" b="0" i="0">
                <a:solidFill>
                  <a:srgbClr val="E5E7EB"/>
                </a:solidFill>
                <a:latin typeface="Consolas"/>
              </a:rPr>
              <a:t>print(report.to_string())</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out/eda03_quality.txt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750" b="0" i="0">
                <a:solidFill>
                  <a:srgbClr val="14171C"/>
                </a:solidFill>
                <a:latin typeface="Consolas"/>
              </a:rPr>
              <a:t>$ python3 src/eda03_quality.py data/student_performance.csv</a:t>
            </a:r>
          </a:p>
          <a:p>
            <a:pPr>
              <a:lnSpc>
                <a:spcPct val="100000"/>
              </a:lnSpc>
              <a:spcBef>
                <a:spcPts val="0"/>
              </a:spcBef>
              <a:spcAft>
                <a:spcPts val="60"/>
              </a:spcAft>
            </a:pPr>
            <a:r>
              <a:rPr sz="750" b="0" i="0">
                <a:solidFill>
                  <a:srgbClr val="14171C"/>
                </a:solidFill>
                <a:latin typeface="Consolas"/>
              </a:rPr>
              <a:t>== EDA-03  how bad is the data? count nulls, weight them, rank them ==</a:t>
            </a:r>
          </a:p>
          <a:p>
            <a:pPr>
              <a:lnSpc>
                <a:spcPct val="100000"/>
              </a:lnSpc>
              <a:spcBef>
                <a:spcPts val="0"/>
              </a:spcBef>
              <a:spcAft>
                <a:spcPts val="60"/>
              </a:spcAft>
            </a:pPr>
            <a:r>
              <a:rPr sz="750" b="0" i="0">
                <a:solidFill>
                  <a:srgbClr val="14171C"/>
                </a:solidFill>
                <a:latin typeface="Consolas"/>
              </a:rPr>
              <a:t> </a:t>
            </a:r>
          </a:p>
          <a:p>
            <a:pPr>
              <a:lnSpc>
                <a:spcPct val="100000"/>
              </a:lnSpc>
              <a:spcBef>
                <a:spcPts val="0"/>
              </a:spcBef>
              <a:spcAft>
                <a:spcPts val="60"/>
              </a:spcAft>
            </a:pPr>
            <a:r>
              <a:rPr sz="750" b="0" i="0">
                <a:solidFill>
                  <a:srgbClr val="14171C"/>
                </a:solidFill>
                <a:latin typeface="Consolas"/>
              </a:rPr>
              <a:t>dataset: 412 rows x 11 columns</a:t>
            </a:r>
          </a:p>
          <a:p>
            <a:pPr>
              <a:lnSpc>
                <a:spcPct val="100000"/>
              </a:lnSpc>
              <a:spcBef>
                <a:spcPts val="0"/>
              </a:spcBef>
              <a:spcAft>
                <a:spcPts val="60"/>
              </a:spcAft>
            </a:pPr>
            <a:r>
              <a:rPr sz="750" b="0" i="0">
                <a:solidFill>
                  <a:srgbClr val="14171C"/>
                </a:solidFill>
                <a:latin typeface="Consolas"/>
              </a:rPr>
              <a:t>attributes with at least one null (the report itself):</a:t>
            </a:r>
          </a:p>
          <a:p>
            <a:pPr>
              <a:lnSpc>
                <a:spcPct val="100000"/>
              </a:lnSpc>
              <a:spcBef>
                <a:spcPts val="0"/>
              </a:spcBef>
              <a:spcAft>
                <a:spcPts val="60"/>
              </a:spcAft>
            </a:pPr>
            <a:r>
              <a:rPr sz="750" b="0" i="0">
                <a:solidFill>
                  <a:srgbClr val="14171C"/>
                </a:solidFill>
                <a:latin typeface="Consolas"/>
              </a:rPr>
              <a:t>                    nulls    pct</a:t>
            </a:r>
          </a:p>
          <a:p>
            <a:pPr>
              <a:lnSpc>
                <a:spcPct val="100000"/>
              </a:lnSpc>
              <a:spcBef>
                <a:spcPts val="0"/>
              </a:spcBef>
              <a:spcAft>
                <a:spcPts val="60"/>
              </a:spcAft>
            </a:pPr>
            <a:r>
              <a:rPr sz="750" b="0" i="0">
                <a:solidFill>
                  <a:srgbClr val="14171C"/>
                </a:solidFill>
                <a:latin typeface="Consolas"/>
              </a:rPr>
              <a:t>parental_education     53  12.86</a:t>
            </a:r>
          </a:p>
          <a:p>
            <a:pPr>
              <a:lnSpc>
                <a:spcPct val="100000"/>
              </a:lnSpc>
              <a:spcBef>
                <a:spcPts val="0"/>
              </a:spcBef>
              <a:spcAft>
                <a:spcPts val="60"/>
              </a:spcAft>
            </a:pPr>
            <a:r>
              <a:rPr sz="750" b="0" i="0">
                <a:solidFill>
                  <a:srgbClr val="14171C"/>
                </a:solidFill>
                <a:latin typeface="Consolas"/>
              </a:rPr>
              <a:t>study_hours            14   3.40</a:t>
            </a:r>
          </a:p>
          <a:p>
            <a:pPr>
              <a:lnSpc>
                <a:spcPct val="100000"/>
              </a:lnSpc>
              <a:spcBef>
                <a:spcPts val="0"/>
              </a:spcBef>
              <a:spcAft>
                <a:spcPts val="60"/>
              </a:spcAft>
            </a:pPr>
            <a:r>
              <a:rPr sz="750" b="0" i="0">
                <a:solidFill>
                  <a:srgbClr val="14171C"/>
                </a:solidFill>
                <a:latin typeface="Consolas"/>
              </a:rPr>
              <a:t> </a:t>
            </a:r>
          </a:p>
          <a:p>
            <a:pPr>
              <a:lnSpc>
                <a:spcPct val="100000"/>
              </a:lnSpc>
              <a:spcBef>
                <a:spcPts val="0"/>
              </a:spcBef>
              <a:spcAft>
                <a:spcPts val="60"/>
              </a:spcAft>
            </a:pPr>
            <a:r>
              <a:rPr sz="750" b="0" i="0">
                <a:solidFill>
                  <a:srgbClr val="14171C"/>
                </a:solidFill>
                <a:latin typeface="Consolas"/>
              </a:rPr>
              <a:t>rows touched by at least one missing value : 67  (16.26% of rows)</a:t>
            </a:r>
          </a:p>
          <a:p>
            <a:pPr>
              <a:lnSpc>
                <a:spcPct val="100000"/>
              </a:lnSpc>
              <a:spcBef>
                <a:spcPts val="0"/>
              </a:spcBef>
              <a:spcAft>
                <a:spcPts val="60"/>
              </a:spcAft>
            </a:pPr>
            <a:r>
              <a:rPr sz="750" b="0" i="0">
                <a:solidFill>
                  <a:srgbClr val="14171C"/>
                </a:solidFill>
                <a:latin typeface="Consolas"/>
              </a:rPr>
              <a:t>cells missing in the whole frame          : 67 of 4532  (1.48%)</a:t>
            </a:r>
          </a:p>
          <a:p>
            <a:pPr>
              <a:lnSpc>
                <a:spcPct val="100000"/>
              </a:lnSpc>
              <a:spcBef>
                <a:spcPts val="0"/>
              </a:spcBef>
              <a:spcAft>
                <a:spcPts val="60"/>
              </a:spcAft>
            </a:pPr>
            <a:r>
              <a:rPr sz="750" b="0" i="0">
                <a:solidFill>
                  <a:srgbClr val="14171C"/>
                </a:solidFill>
                <a:latin typeface="Consolas"/>
              </a:rPr>
              <a:t> </a:t>
            </a:r>
          </a:p>
          <a:p>
            <a:pPr>
              <a:lnSpc>
                <a:spcPct val="100000"/>
              </a:lnSpc>
              <a:spcBef>
                <a:spcPts val="0"/>
              </a:spcBef>
              <a:spcAft>
                <a:spcPts val="60"/>
              </a:spcAft>
            </a:pPr>
            <a:r>
              <a:rPr sz="750" b="0" i="0">
                <a:solidFill>
                  <a:srgbClr val="14171C"/>
                </a:solidFill>
                <a:latin typeface="Consolas"/>
              </a:rPr>
              <a:t>one null is not one problem — where does it sit?</a:t>
            </a:r>
          </a:p>
          <a:p>
            <a:pPr>
              <a:lnSpc>
                <a:spcPct val="100000"/>
              </a:lnSpc>
              <a:spcBef>
                <a:spcPts val="0"/>
              </a:spcBef>
              <a:spcAft>
                <a:spcPts val="60"/>
              </a:spcAft>
            </a:pPr>
            <a:r>
              <a:rPr sz="750" b="0" i="0">
                <a:solidFill>
                  <a:srgbClr val="14171C"/>
                </a:solidFill>
                <a:latin typeface="Consolas"/>
              </a:rPr>
              <a:t>  parental_education first missing at student_ids: SP0003, SP0013, SP0021 …</a:t>
            </a:r>
          </a:p>
          <a:p>
            <a:pPr>
              <a:lnSpc>
                <a:spcPct val="100000"/>
              </a:lnSpc>
              <a:spcBef>
                <a:spcPts val="0"/>
              </a:spcBef>
              <a:spcAft>
                <a:spcPts val="60"/>
              </a:spcAft>
            </a:pPr>
            <a:r>
              <a:rPr sz="750" b="0" i="0">
                <a:solidFill>
                  <a:srgbClr val="14171C"/>
                </a:solidFill>
                <a:latin typeface="Consolas"/>
              </a:rPr>
              <a:t>  study_hours        first missing at student_ids: SP0011, SP0045, SP0088 …</a:t>
            </a:r>
          </a:p>
          <a:p>
            <a:pPr>
              <a:lnSpc>
                <a:spcPct val="100000"/>
              </a:lnSpc>
              <a:spcBef>
                <a:spcPts val="0"/>
              </a:spcBef>
              <a:spcAft>
                <a:spcPts val="60"/>
              </a:spcAft>
            </a:pPr>
            <a:r>
              <a:rPr sz="750" b="0" i="0">
                <a:solidFill>
                  <a:srgbClr val="14171C"/>
                </a:solidFill>
                <a:latin typeface="Consolas"/>
              </a:rPr>
              <a:t> </a:t>
            </a:r>
          </a:p>
          <a:p>
            <a:pPr>
              <a:lnSpc>
                <a:spcPct val="100000"/>
              </a:lnSpc>
              <a:spcBef>
                <a:spcPts val="0"/>
              </a:spcBef>
              <a:spcAft>
                <a:spcPts val="60"/>
              </a:spcAft>
            </a:pPr>
            <a:r>
              <a:rPr sz="750" b="0" i="0">
                <a:solidFill>
                  <a:srgbClr val="14171C"/>
                </a:solidFill>
                <a:latin typeface="Consolas"/>
              </a:rPr>
              <a:t>quality verdict (the line the rubric's 'Dataset Understanding' pays for):</a:t>
            </a:r>
          </a:p>
          <a:p>
            <a:pPr>
              <a:lnSpc>
                <a:spcPct val="100000"/>
              </a:lnSpc>
              <a:spcBef>
                <a:spcPts val="0"/>
              </a:spcBef>
              <a:spcAft>
                <a:spcPts val="60"/>
              </a:spcAft>
            </a:pPr>
            <a:r>
              <a:rPr sz="750" b="0" i="0">
                <a:solidFill>
                  <a:srgbClr val="14171C"/>
                </a:solidFill>
                <a:latin typeface="Consolas"/>
              </a:rPr>
              <a:t>  2 attribute(s) exceed 2% missing — clean them or say why not;</a:t>
            </a:r>
          </a:p>
          <a:p>
            <a:pPr>
              <a:lnSpc>
                <a:spcPct val="100000"/>
              </a:lnSpc>
              <a:spcBef>
                <a:spcPts val="0"/>
              </a:spcBef>
              <a:spcAft>
                <a:spcPts val="60"/>
              </a:spcAft>
            </a:pPr>
            <a:r>
              <a:rPr sz="750" b="0" i="0">
                <a:solidFill>
                  <a:srgbClr val="14171C"/>
                </a:solidFill>
                <a:latin typeface="Consolas"/>
              </a:rPr>
              <a:t>  worst is parental_education at 12.86%; the analysis in</a:t>
            </a:r>
          </a:p>
          <a:p>
            <a:pPr>
              <a:lnSpc>
                <a:spcPct val="100000"/>
              </a:lnSpc>
              <a:spcBef>
                <a:spcPts val="0"/>
              </a:spcBef>
              <a:spcAft>
                <a:spcPts val="60"/>
              </a:spcAft>
            </a:pPr>
            <a:r>
              <a:rPr sz="750" b="0" i="0">
                <a:solidFill>
                  <a:srgbClr val="14171C"/>
                </a:solidFill>
                <a:latin typeface="Consolas"/>
              </a:rPr>
              <a:t>  EDA-04 must run on rows that actually have the data it reasons about.</a:t>
            </a:r>
          </a:p>
          <a:p>
            <a:pPr>
              <a:lnSpc>
                <a:spcPct val="100000"/>
              </a:lnSpc>
              <a:spcBef>
                <a:spcPts val="0"/>
              </a:spcBef>
              <a:spcAft>
                <a:spcPts val="60"/>
              </a:spcAft>
            </a:pPr>
            <a:r>
              <a:rPr sz="750" b="0" i="0">
                <a:solidFill>
                  <a:srgbClr val="14171C"/>
                </a:solidFill>
                <a:latin typeface="Consolas"/>
              </a:rPr>
              <a:t> </a:t>
            </a:r>
          </a:p>
          <a:p>
            <a:pPr>
              <a:lnSpc>
                <a:spcPct val="100000"/>
              </a:lnSpc>
              <a:spcBef>
                <a:spcPts val="0"/>
              </a:spcBef>
              <a:spcAft>
                <a:spcPts val="60"/>
              </a:spcAft>
            </a:pPr>
            <a:r>
              <a:rPr sz="750" b="0" i="0">
                <a:solidFill>
                  <a:srgbClr val="14171C"/>
                </a:solidFill>
                <a:latin typeface="Consolas"/>
              </a:rPr>
              <a:t>EDA03 RESULT: quality report printed — 67 missing cells in 2 attributes flagged -- PASS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3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25</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report table is short because it is filtered to nonzero columns:</a:t>
            </a:r>
            <a:r>
              <a:rPr sz="1150" b="0" i="0">
                <a:solidFill>
                  <a:srgbClr val="B3261E"/>
                </a:solidFill>
                <a:latin typeface="Consolas"/>
              </a:rPr>
              <a:t>parental_education     53  12.86</a:t>
            </a:r>
            <a:r>
              <a:rPr sz="1250" b="0" i="0">
                <a:solidFill>
                  <a:srgbClr val="16181D"/>
                </a:solidFill>
                <a:latin typeface="Calibri"/>
              </a:rPr>
              <a:t>over study_hours' 14 — ranked by the percentages that make the ranking meaningful.</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Row-level damage is the statistic that changes plans:</a:t>
            </a:r>
            <a:r>
              <a:rPr sz="1150" b="0" i="0">
                <a:solidFill>
                  <a:srgbClr val="B3261E"/>
                </a:solidFill>
                <a:latin typeface="Consolas"/>
              </a:rPr>
              <a:t>rows touched by at least one missing value : 67</a:t>
            </a:r>
            <a:r>
              <a:rPr sz="1250" b="0" i="0">
                <a:solidFill>
                  <a:srgbClr val="16181D"/>
                </a:solidFill>
                <a:latin typeface="Calibri"/>
              </a:rPr>
              <a:t>— 16.26% of rows carry at least one hole, so dropping every hole is a one-sixth sample loss, foreshadowing experiment 4.</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Cell-level framing keeps perspective:</a:t>
            </a:r>
            <a:r>
              <a:rPr sz="1150" b="0" i="0">
                <a:solidFill>
                  <a:srgbClr val="B3261E"/>
                </a:solidFill>
                <a:latin typeface="Consolas"/>
              </a:rPr>
              <a:t>67 of 4532</a:t>
            </a:r>
            <a:r>
              <a:rPr sz="1250" b="0" i="0">
                <a:solidFill>
                  <a:srgbClr val="16181D"/>
                </a:solidFill>
                <a:latin typeface="Calibri"/>
              </a:rPr>
              <a:t>cells missing is 1.48% of the frame — the same 67 rows, the third denominator in a report that must say which base every percentage uses.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Missingness is located, not moaned at: the first holes in study_hours sit at</a:t>
            </a:r>
            <a:r>
              <a:rPr sz="1150" b="0" i="0">
                <a:solidFill>
                  <a:srgbClr val="B3261E"/>
                </a:solidFill>
                <a:latin typeface="Consolas"/>
              </a:rPr>
              <a:t>first missing at student_ids: SP0011, SP0045, SP0088</a:t>
            </a:r>
            <a:r>
              <a:rPr sz="1250" b="0" i="0">
                <a:solidFill>
                  <a:srgbClr val="16181D"/>
                </a:solidFill>
                <a:latin typeface="Calibri"/>
              </a:rPr>
              <a:t>— keys a reader can chase back to the generator's suffix rule.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verdict line is the sentence the report's cleaning section opens with:</a:t>
            </a:r>
            <a:r>
              <a:rPr sz="1150" b="0" i="0">
                <a:solidFill>
                  <a:srgbClr val="B3261E"/>
                </a:solidFill>
                <a:latin typeface="Consolas"/>
              </a:rPr>
              <a:t>2 attribute(s) exceed 2% missing</a:t>
            </a:r>
            <a:r>
              <a:rPr sz="1250" b="0" i="0">
                <a:solidFill>
                  <a:srgbClr val="16181D"/>
                </a:solidFill>
                <a:latin typeface="Calibri"/>
              </a:rPr>
              <a:t>, worst at 12.86% — decisions must be made against this shortlist, in this order.</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count nulls per column AND per row, and what does each denominator decide?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An attribute is 12.86% missing and used only for grouping. Name two legitimate non-imputation choices.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Why does the report print the student_ids of missing entries?</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Per column decides the repair (what fraction of that attribute is guessable, and by what statistic); per row decides the cost of the lazy repair (dropna throws rows — 16.26% of them, here). Per cell is framing only; it hides which columns hurt.</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Quality assessed and quantified — EDA03 RESULT: quality report printed — 67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4 — Data cleaning: drop, impute, compare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26</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950" b="0" i="0">
                <a:solidFill>
                  <a:srgbClr val="16181D"/>
                </a:solidFill>
                <a:latin typeface="Calibri"/>
              </a:rPr>
              <a:t>Perform data cleaning by handling missing values using suitable techniques such as replacement with mean, median, or mode values and removal of incomplete records. Compare the dataset before and after cleaning and analyze the impact of the cleaning process. (a) Expected Input: Dataset containing missing values. … (full text: the verbatim box in the course book)</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src/eda04_clean_missing.py</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"""EDA-04  Clean missing values three ways; compare before and after.</a:t>
            </a:r>
          </a:p>
          <a:p>
            <a:pPr>
              <a:lnSpc>
                <a:spcPct val="100000"/>
              </a:lnSpc>
              <a:spcBef>
                <a:spcPts val="0"/>
              </a:spcBef>
              <a:spcAft>
                <a:spcPts val="60"/>
              </a:spcAft>
            </a:pPr>
            <a:r>
              <a:rPr sz="700" b="0" i="0">
                <a:solidFill>
                  <a:srgbClr val="E5E7EB"/>
                </a:solidFill>
                <a:latin typeface="Consolas"/>
              </a:rPr>
              <a:t>Usage: python3 src/eda04_clean_missing.py data/student_performance.csv &lt;outdir&gt;</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os</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CSV, OUT = sys.argv[1], (sys.argv[2] if len(sys.argv) &gt; 2 else ".")</a:t>
            </a:r>
          </a:p>
          <a:p>
            <a:pPr>
              <a:lnSpc>
                <a:spcPct val="100000"/>
              </a:lnSpc>
              <a:spcBef>
                <a:spcPts val="0"/>
              </a:spcBef>
              <a:spcAft>
                <a:spcPts val="60"/>
              </a:spcAft>
            </a:pPr>
            <a:r>
              <a:rPr sz="700" b="0" i="0">
                <a:solidFill>
                  <a:srgbClr val="E5E7EB"/>
                </a:solidFill>
                <a:latin typeface="Consolas"/>
              </a:rPr>
              <a:t>df = pd.read_csv(CSV)</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EDA-04  drop vs mean-impute vs median/mode-impute — same input, three ledgers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n0 = len(df)</a:t>
            </a:r>
          </a:p>
          <a:p>
            <a:pPr>
              <a:lnSpc>
                <a:spcPct val="100000"/>
              </a:lnSpc>
              <a:spcBef>
                <a:spcPts val="0"/>
              </a:spcBef>
              <a:spcAft>
                <a:spcPts val="60"/>
              </a:spcAft>
            </a:pPr>
            <a:r>
              <a:rPr sz="700" b="0" i="0">
                <a:solidFill>
                  <a:srgbClr val="E5E7EB"/>
                </a:solidFill>
                <a:latin typeface="Consolas"/>
              </a:rPr>
              <a:t>null_sh = int(df["study_hours"].isna().sum())</a:t>
            </a:r>
          </a:p>
          <a:p>
            <a:pPr>
              <a:lnSpc>
                <a:spcPct val="100000"/>
              </a:lnSpc>
              <a:spcBef>
                <a:spcPts val="0"/>
              </a:spcBef>
              <a:spcAft>
                <a:spcPts val="60"/>
              </a:spcAft>
            </a:pPr>
            <a:r>
              <a:rPr sz="700" b="0" i="0">
                <a:solidFill>
                  <a:srgbClr val="E5E7EB"/>
                </a:solidFill>
                <a:latin typeface="Consolas"/>
              </a:rPr>
              <a:t>print(f"start: {n0} rows; missing in study_hours: {null_sh}"</a:t>
            </a:r>
          </a:p>
          <a:p>
            <a:pPr>
              <a:lnSpc>
                <a:spcPct val="100000"/>
              </a:lnSpc>
              <a:spcBef>
                <a:spcPts val="0"/>
              </a:spcBef>
              <a:spcAft>
                <a:spcPts val="60"/>
              </a:spcAft>
            </a:pPr>
            <a:r>
              <a:rPr sz="700" b="0" i="0">
                <a:solidFill>
                  <a:srgbClr val="E5E7EB"/>
                </a:solidFill>
                <a:latin typeface="Consolas"/>
              </a:rPr>
              <a:t>      f"; in parental_education: {int(df['parental_education'].isna().sum())}")</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print("strategy A — drop every incomplete row (the cheap violence):")</a:t>
            </a:r>
          </a:p>
          <a:p>
            <a:pPr>
              <a:lnSpc>
                <a:spcPct val="100000"/>
              </a:lnSpc>
              <a:spcBef>
                <a:spcPts val="0"/>
              </a:spcBef>
              <a:spcAft>
                <a:spcPts val="60"/>
              </a:spcAft>
            </a:pPr>
            <a:r>
              <a:rPr sz="700" b="0" i="0">
                <a:solidFill>
                  <a:srgbClr val="E5E7EB"/>
                </a:solidFill>
                <a:latin typeface="Consolas"/>
              </a:rPr>
              <a:t>d = df.dropna()</a:t>
            </a:r>
          </a:p>
          <a:p>
            <a:pPr>
              <a:lnSpc>
                <a:spcPct val="100000"/>
              </a:lnSpc>
              <a:spcBef>
                <a:spcPts val="0"/>
              </a:spcBef>
              <a:spcAft>
                <a:spcPts val="60"/>
              </a:spcAft>
            </a:pPr>
            <a:r>
              <a:rPr sz="700" b="0" i="0">
                <a:solidFill>
                  <a:srgbClr val="E5E7EB"/>
                </a:solidFill>
                <a:latin typeface="Consolas"/>
              </a:rPr>
              <a:t>lost = n0 - len(d)</a:t>
            </a:r>
          </a:p>
          <a:p>
            <a:pPr>
              <a:lnSpc>
                <a:spcPct val="100000"/>
              </a:lnSpc>
              <a:spcBef>
                <a:spcPts val="0"/>
              </a:spcBef>
              <a:spcAft>
                <a:spcPts val="60"/>
              </a:spcAft>
            </a:pPr>
            <a:r>
              <a:rPr sz="700" b="0" i="0">
                <a:solidFill>
                  <a:srgbClr val="E5E7EB"/>
                </a:solidFill>
                <a:latin typeface="Consolas"/>
              </a:rPr>
              <a:t>print(f"  after dropna: {len(d)} rows  ({lost} lost)  — any row loses ALL its other"</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out/eda04_clean_missing.txt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690" b="0" i="0">
                <a:solidFill>
                  <a:srgbClr val="14171C"/>
                </a:solidFill>
                <a:latin typeface="Consolas"/>
              </a:rPr>
              <a:t>$ python3 src/eda04_clean_missing.py data/student_performance.csv /home/user/eda-course/build/work/eda04_clean_missing</a:t>
            </a:r>
          </a:p>
          <a:p>
            <a:pPr>
              <a:lnSpc>
                <a:spcPct val="100000"/>
              </a:lnSpc>
              <a:spcBef>
                <a:spcPts val="0"/>
              </a:spcBef>
              <a:spcAft>
                <a:spcPts val="60"/>
              </a:spcAft>
            </a:pPr>
            <a:r>
              <a:rPr sz="690" b="0" i="0">
                <a:solidFill>
                  <a:srgbClr val="14171C"/>
                </a:solidFill>
                <a:latin typeface="Consolas"/>
              </a:rPr>
              <a:t>== EDA-04  drop vs mean-impute vs median/mode-impute — same input, three ledgers ==</a:t>
            </a:r>
          </a:p>
          <a:p>
            <a:pPr>
              <a:lnSpc>
                <a:spcPct val="100000"/>
              </a:lnSpc>
              <a:spcBef>
                <a:spcPts val="0"/>
              </a:spcBef>
              <a:spcAft>
                <a:spcPts val="60"/>
              </a:spcAft>
            </a:pPr>
            <a:r>
              <a:rPr sz="690" b="0" i="0">
                <a:solidFill>
                  <a:srgbClr val="14171C"/>
                </a:solidFill>
                <a:latin typeface="Consolas"/>
              </a:rPr>
              <a:t> </a:t>
            </a:r>
          </a:p>
          <a:p>
            <a:pPr>
              <a:lnSpc>
                <a:spcPct val="100000"/>
              </a:lnSpc>
              <a:spcBef>
                <a:spcPts val="0"/>
              </a:spcBef>
              <a:spcAft>
                <a:spcPts val="60"/>
              </a:spcAft>
            </a:pPr>
            <a:r>
              <a:rPr sz="690" b="0" i="0">
                <a:solidFill>
                  <a:srgbClr val="14171C"/>
                </a:solidFill>
                <a:latin typeface="Consolas"/>
              </a:rPr>
              <a:t>start: 412 rows; missing in study_hours: 14; in parental_education: 53</a:t>
            </a:r>
          </a:p>
          <a:p>
            <a:pPr>
              <a:lnSpc>
                <a:spcPct val="100000"/>
              </a:lnSpc>
              <a:spcBef>
                <a:spcPts val="0"/>
              </a:spcBef>
              <a:spcAft>
                <a:spcPts val="60"/>
              </a:spcAft>
            </a:pPr>
            <a:r>
              <a:rPr sz="690" b="0" i="0">
                <a:solidFill>
                  <a:srgbClr val="14171C"/>
                </a:solidFill>
                <a:latin typeface="Consolas"/>
              </a:rPr>
              <a:t> </a:t>
            </a:r>
          </a:p>
          <a:p>
            <a:pPr>
              <a:lnSpc>
                <a:spcPct val="100000"/>
              </a:lnSpc>
              <a:spcBef>
                <a:spcPts val="0"/>
              </a:spcBef>
              <a:spcAft>
                <a:spcPts val="60"/>
              </a:spcAft>
            </a:pPr>
            <a:r>
              <a:rPr sz="690" b="0" i="0">
                <a:solidFill>
                  <a:srgbClr val="14171C"/>
                </a:solidFill>
                <a:latin typeface="Consolas"/>
              </a:rPr>
              <a:t>strategy A — drop every incomplete row (the cheap violence):</a:t>
            </a:r>
          </a:p>
          <a:p>
            <a:pPr>
              <a:lnSpc>
                <a:spcPct val="100000"/>
              </a:lnSpc>
              <a:spcBef>
                <a:spcPts val="0"/>
              </a:spcBef>
              <a:spcAft>
                <a:spcPts val="60"/>
              </a:spcAft>
            </a:pPr>
            <a:r>
              <a:rPr sz="690" b="0" i="0">
                <a:solidFill>
                  <a:srgbClr val="14171C"/>
                </a:solidFill>
                <a:latin typeface="Consolas"/>
              </a:rPr>
              <a:t>  after dropna: 345 rows  (67 lost)  — any row loses ALL its other columns too</a:t>
            </a:r>
          </a:p>
          <a:p>
            <a:pPr>
              <a:lnSpc>
                <a:spcPct val="100000"/>
              </a:lnSpc>
              <a:spcBef>
                <a:spcPts val="0"/>
              </a:spcBef>
              <a:spcAft>
                <a:spcPts val="60"/>
              </a:spcAft>
            </a:pPr>
            <a:r>
              <a:rPr sz="690" b="0" i="0">
                <a:solidFill>
                  <a:srgbClr val="14171C"/>
                </a:solidFill>
                <a:latin typeface="Consolas"/>
              </a:rPr>
              <a:t>  mean study_hours among survivors: 5.63; in the full data: 5.75</a:t>
            </a:r>
          </a:p>
          <a:p>
            <a:pPr>
              <a:lnSpc>
                <a:spcPct val="100000"/>
              </a:lnSpc>
              <a:spcBef>
                <a:spcPts val="0"/>
              </a:spcBef>
              <a:spcAft>
                <a:spcPts val="60"/>
              </a:spcAft>
            </a:pPr>
            <a:r>
              <a:rPr sz="690" b="0" i="0">
                <a:solidFill>
                  <a:srgbClr val="14171C"/>
                </a:solidFill>
                <a:latin typeface="Consolas"/>
              </a:rPr>
              <a:t>  -&gt; if missingness were related to diligence, dropping would BIAS the answer; it is a choice to defend, not a default</a:t>
            </a:r>
          </a:p>
          <a:p>
            <a:pPr>
              <a:lnSpc>
                <a:spcPct val="100000"/>
              </a:lnSpc>
              <a:spcBef>
                <a:spcPts val="0"/>
              </a:spcBef>
              <a:spcAft>
                <a:spcPts val="60"/>
              </a:spcAft>
            </a:pPr>
            <a:r>
              <a:rPr sz="690" b="0" i="0">
                <a:solidFill>
                  <a:srgbClr val="14171C"/>
                </a:solidFill>
                <a:latin typeface="Consolas"/>
              </a:rPr>
              <a:t> </a:t>
            </a:r>
          </a:p>
          <a:p>
            <a:pPr>
              <a:lnSpc>
                <a:spcPct val="100000"/>
              </a:lnSpc>
              <a:spcBef>
                <a:spcPts val="0"/>
              </a:spcBef>
              <a:spcAft>
                <a:spcPts val="60"/>
              </a:spcAft>
            </a:pPr>
            <a:r>
              <a:rPr sz="690" b="0" i="0">
                <a:solidFill>
                  <a:srgbClr val="14171C"/>
                </a:solidFill>
                <a:latin typeface="Consolas"/>
              </a:rPr>
              <a:t>strategy B — replace numeric with median (robust to the tail):</a:t>
            </a:r>
          </a:p>
          <a:p>
            <a:pPr>
              <a:lnSpc>
                <a:spcPct val="100000"/>
              </a:lnSpc>
              <a:spcBef>
                <a:spcPts val="0"/>
              </a:spcBef>
              <a:spcAft>
                <a:spcPts val="60"/>
              </a:spcAft>
            </a:pPr>
            <a:r>
              <a:rPr sz="690" b="0" i="0">
                <a:solidFill>
                  <a:srgbClr val="14171C"/>
                </a:solidFill>
                <a:latin typeface="Consolas"/>
              </a:rPr>
              <a:t>  imputed 14 cells with median 4.9; mean before 5.75 -&gt; after 5.72</a:t>
            </a:r>
          </a:p>
          <a:p>
            <a:pPr>
              <a:lnSpc>
                <a:spcPct val="100000"/>
              </a:lnSpc>
              <a:spcBef>
                <a:spcPts val="0"/>
              </a:spcBef>
              <a:spcAft>
                <a:spcPts val="60"/>
              </a:spcAft>
            </a:pPr>
            <a:r>
              <a:rPr sz="690" b="0" i="0">
                <a:solidFill>
                  <a:srgbClr val="14171C"/>
                </a:solidFill>
                <a:latin typeface="Consolas"/>
              </a:rPr>
              <a:t>  std before 3.28 -&gt; after 3.23  (imputation always shrinks spread — mean moves a little, tail thins)</a:t>
            </a:r>
          </a:p>
          <a:p>
            <a:pPr>
              <a:lnSpc>
                <a:spcPct val="100000"/>
              </a:lnSpc>
              <a:spcBef>
                <a:spcPts val="0"/>
              </a:spcBef>
              <a:spcAft>
                <a:spcPts val="60"/>
              </a:spcAft>
            </a:pPr>
            <a:r>
              <a:rPr sz="690" b="0" i="0">
                <a:solidFill>
                  <a:srgbClr val="14171C"/>
                </a:solidFill>
                <a:latin typeface="Consolas"/>
              </a:rPr>
              <a:t> </a:t>
            </a:r>
          </a:p>
          <a:p>
            <a:pPr>
              <a:lnSpc>
                <a:spcPct val="100000"/>
              </a:lnSpc>
              <a:spcBef>
                <a:spcPts val="0"/>
              </a:spcBef>
              <a:spcAft>
                <a:spcPts val="60"/>
              </a:spcAft>
            </a:pPr>
            <a:r>
              <a:rPr sz="690" b="0" i="0">
                <a:solidFill>
                  <a:srgbClr val="14171C"/>
                </a:solidFill>
                <a:latin typeface="Consolas"/>
              </a:rPr>
              <a:t>strategy C — categorical with the mode, then write and re-read the evidence:</a:t>
            </a:r>
          </a:p>
          <a:p>
            <a:pPr>
              <a:lnSpc>
                <a:spcPct val="100000"/>
              </a:lnSpc>
              <a:spcBef>
                <a:spcPts val="0"/>
              </a:spcBef>
              <a:spcAft>
                <a:spcPts val="60"/>
              </a:spcAft>
            </a:pPr>
            <a:r>
              <a:rPr sz="690" b="0" i="0">
                <a:solidFill>
                  <a:srgbClr val="14171C"/>
                </a:solidFill>
                <a:latin typeface="Consolas"/>
              </a:rPr>
              <a:t>  filled 53 categorical cells with mode 'some college'</a:t>
            </a:r>
          </a:p>
          <a:p>
            <a:pPr>
              <a:lnSpc>
                <a:spcPct val="100000"/>
              </a:lnSpc>
              <a:spcBef>
                <a:spcPts val="0"/>
              </a:spcBef>
              <a:spcAft>
                <a:spcPts val="60"/>
              </a:spcAft>
            </a:pPr>
            <a:r>
              <a:rPr sz="690" b="0" i="0">
                <a:solidFill>
                  <a:srgbClr val="14171C"/>
                </a:solidFill>
                <a:latin typeface="Consolas"/>
              </a:rPr>
              <a:t>  wrote /home/user/eda-course/build/work/eda04_clean_missing/cleaned.csv</a:t>
            </a:r>
          </a:p>
          <a:p>
            <a:pPr>
              <a:lnSpc>
                <a:spcPct val="100000"/>
              </a:lnSpc>
              <a:spcBef>
                <a:spcPts val="0"/>
              </a:spcBef>
              <a:spcAft>
                <a:spcPts val="60"/>
              </a:spcAft>
            </a:pPr>
            <a:r>
              <a:rPr sz="690" b="0" i="0">
                <a:solidFill>
                  <a:srgbClr val="14171C"/>
                </a:solidFill>
                <a:latin typeface="Consolas"/>
              </a:rPr>
              <a:t>  re-read: 412 rows x 11 cols; nulls now: 0</a:t>
            </a:r>
          </a:p>
          <a:p>
            <a:pPr>
              <a:lnSpc>
                <a:spcPct val="100000"/>
              </a:lnSpc>
              <a:spcBef>
                <a:spcPts val="0"/>
              </a:spcBef>
              <a:spcAft>
                <a:spcPts val="60"/>
              </a:spcAft>
            </a:pPr>
            <a:r>
              <a:rPr sz="690" b="0" i="0">
                <a:solidFill>
                  <a:srgbClr val="14171C"/>
                </a:solidFill>
                <a:latin typeface="Consolas"/>
              </a:rPr>
              <a:t>  rows preserved: True (shape kept: the rows were repaired, not deleted)</a:t>
            </a:r>
          </a:p>
          <a:p>
            <a:pPr>
              <a:lnSpc>
                <a:spcPct val="100000"/>
              </a:lnSpc>
              <a:spcBef>
                <a:spcPts val="0"/>
              </a:spcBef>
              <a:spcAft>
                <a:spcPts val="60"/>
              </a:spcAft>
            </a:pPr>
            <a:r>
              <a:rPr sz="690" b="0" i="0">
                <a:solidFill>
                  <a:srgbClr val="14171C"/>
                </a:solidFill>
                <a:latin typeface="Consolas"/>
              </a:rPr>
              <a:t> </a:t>
            </a:r>
          </a:p>
          <a:p>
            <a:pPr>
              <a:lnSpc>
                <a:spcPct val="100000"/>
              </a:lnSpc>
              <a:spcBef>
                <a:spcPts val="0"/>
              </a:spcBef>
              <a:spcAft>
                <a:spcPts val="60"/>
              </a:spcAft>
            </a:pPr>
            <a:r>
              <a:rPr sz="690" b="0" i="0">
                <a:solidFill>
                  <a:srgbClr val="14171C"/>
                </a:solidFill>
                <a:latin typeface="Consolas"/>
              </a:rPr>
              <a:t>EDA04 RESULT: three strategies compared — 67 rows sacrificed by dropping, 67 cells repaired, cleaned.csv round-trips with zero nulls -- PASS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4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27</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Dropping is not neutral, it is priced:</a:t>
            </a:r>
            <a:r>
              <a:rPr sz="1150" b="0" i="0">
                <a:solidFill>
                  <a:srgbClr val="B3261E"/>
                </a:solidFill>
                <a:latin typeface="Consolas"/>
              </a:rPr>
              <a:t>after dropna: 345 rows  (67 lost)</a:t>
            </a:r>
            <a:r>
              <a:rPr sz="1250" b="0" i="0">
                <a:solidFill>
                  <a:srgbClr val="16181D"/>
                </a:solidFill>
                <a:latin typeface="Calibri"/>
              </a:rPr>
              <a:t>— and the survivors' mean study_hours (5.63) sits below the full-data mean (5.75): the holes were not randomly placed, so the safe option moved the very number the report quotes.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Median imputation prints its own footprint:</a:t>
            </a:r>
            <a:r>
              <a:rPr sz="1150" b="0" i="0">
                <a:solidFill>
                  <a:srgbClr val="B3261E"/>
                </a:solidFill>
                <a:latin typeface="Consolas"/>
              </a:rPr>
              <a:t>mean before 5.75 -› after 5.72</a:t>
            </a:r>
            <a:r>
              <a:rPr sz="1250" b="0" i="0">
                <a:solidFill>
                  <a:srgbClr val="16181D"/>
                </a:solidFill>
                <a:latin typeface="Calibri"/>
              </a:rPr>
              <a:t>— a −0.03 shift purchased with 14 pulls toward the centre.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shrink everyone forgets, in the same block:</a:t>
            </a:r>
            <a:r>
              <a:rPr sz="1150" b="0" i="0">
                <a:solidFill>
                  <a:srgbClr val="B3261E"/>
                </a:solidFill>
                <a:latin typeface="Consolas"/>
              </a:rPr>
              <a:t>std before 3.28 -› after 3.23</a:t>
            </a:r>
            <a:r>
              <a:rPr sz="1250" b="0" i="0">
                <a:solidFill>
                  <a:srgbClr val="16181D"/>
                </a:solidFill>
                <a:latin typeface="Calibri"/>
              </a:rPr>
              <a:t>— imputed cells are zero-variance clones; spread always thins. Report it or lose the analysis row.</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categorical repair is the mode, named:</a:t>
            </a:r>
            <a:r>
              <a:rPr sz="1150" b="0" i="0">
                <a:solidFill>
                  <a:srgbClr val="B3261E"/>
                </a:solidFill>
                <a:latin typeface="Consolas"/>
              </a:rPr>
              <a:t>filled 53 categorical cells with mode 'some college'</a:t>
            </a:r>
            <a:r>
              <a:rPr sz="1250" b="0" i="0">
                <a:solidFill>
                  <a:srgbClr val="16181D"/>
                </a:solidFill>
                <a:latin typeface="Calibri"/>
              </a:rPr>
              <a:t>— legitimate only if the report says 'some college' now holds fifty-three guesses alongside its real members.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Write-and-reread closes the loop:</a:t>
            </a:r>
            <a:r>
              <a:rPr sz="1150" b="0" i="0">
                <a:solidFill>
                  <a:srgbClr val="B3261E"/>
                </a:solidFill>
                <a:latin typeface="Consolas"/>
              </a:rPr>
              <a:t>re-read: 412 rows x 11 cols; nulls now: 0</a:t>
            </a:r>
            <a:r>
              <a:rPr sz="1250" b="0" i="0">
                <a:solidFill>
                  <a:srgbClr val="16181D"/>
                </a:solidFill>
                <a:latin typeface="Calibri"/>
              </a:rPr>
              <a:t>— shape preserved (rows repaired, not deleted) and the zero computed, not asserted.</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Give the scenario where dropna is the right choice, not the lazy one.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Why median and not mean for study_hours, in the experiment's own terms?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Imputation shrank std 3.28 → 3.23. Who cares, downstream?</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When missingness is uninformative AND a row without the attribute cannot answer the question at all — e.g. analysing per-hour efficiency where the hours cell is the denominator itself. There, a row without hours contributes noise, and imputation would invent its divisor.</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Compared, priced and defended — three ledgers end in EDA04 RESULT: three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5 — Duplicate records: find, quantify, remove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28</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950" b="0" i="0">
                <a:solidFill>
                  <a:srgbClr val="16181D"/>
                </a:solidFill>
                <a:latin typeface="Calibri"/>
              </a:rPr>
              <a:t>Detect and remove duplicate records from a dataset using Pandas functions. Compare the number of records before and after duplicate removal and discuss the importance of maintaining data consistency in analytical applications. (a) Expected Input: Dataset containing duplicate records. … (full text: the verbatim box in the course book)</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src/eda05_duplicates.py</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"""EDA-05  Detect duplicate records, remove them, prove what changed.</a:t>
            </a:r>
          </a:p>
          <a:p>
            <a:pPr>
              <a:lnSpc>
                <a:spcPct val="100000"/>
              </a:lnSpc>
              <a:spcBef>
                <a:spcPts val="0"/>
              </a:spcBef>
              <a:spcAft>
                <a:spcPts val="60"/>
              </a:spcAft>
            </a:pPr>
            <a:r>
              <a:rPr sz="700" b="0" i="0">
                <a:solidFill>
                  <a:srgbClr val="E5E7EB"/>
                </a:solidFill>
                <a:latin typeface="Consolas"/>
              </a:rPr>
              <a:t>Usage: python3 src/eda05_duplicates.py data/student_performance.csv &lt;outdir&gt;</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os</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CSV, OUT = sys.argv[1], (sys.argv[2] if len(sys.argv) &gt; 2 else ".")</a:t>
            </a:r>
          </a:p>
          <a:p>
            <a:pPr>
              <a:lnSpc>
                <a:spcPct val="100000"/>
              </a:lnSpc>
              <a:spcBef>
                <a:spcPts val="0"/>
              </a:spcBef>
              <a:spcAft>
                <a:spcPts val="60"/>
              </a:spcAft>
            </a:pPr>
            <a:r>
              <a:rPr sz="700" b="0" i="0">
                <a:solidFill>
                  <a:srgbClr val="E5E7EB"/>
                </a:solidFill>
                <a:latin typeface="Consolas"/>
              </a:rPr>
              <a:t>df = pd.read_csv(CSV)</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EDA-05  duplicates: the quiet double-count that moves every average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n0 = len(df)</a:t>
            </a:r>
          </a:p>
          <a:p>
            <a:pPr>
              <a:lnSpc>
                <a:spcPct val="100000"/>
              </a:lnSpc>
              <a:spcBef>
                <a:spcPts val="0"/>
              </a:spcBef>
              <a:spcAft>
                <a:spcPts val="60"/>
              </a:spcAft>
            </a:pPr>
            <a:r>
              <a:rPr sz="700" b="0" i="0">
                <a:solidFill>
                  <a:srgbClr val="E5E7EB"/>
                </a:solidFill>
                <a:latin typeface="Consolas"/>
              </a:rPr>
              <a:t>dup_mask = df.duplicated()                     # all columns identical</a:t>
            </a:r>
          </a:p>
          <a:p>
            <a:pPr>
              <a:lnSpc>
                <a:spcPct val="100000"/>
              </a:lnSpc>
              <a:spcBef>
                <a:spcPts val="0"/>
              </a:spcBef>
              <a:spcAft>
                <a:spcPts val="60"/>
              </a:spcAft>
            </a:pPr>
            <a:r>
              <a:rPr sz="700" b="0" i="0">
                <a:solidFill>
                  <a:srgbClr val="E5E7EB"/>
                </a:solidFill>
                <a:latin typeface="Consolas"/>
              </a:rPr>
              <a:t>n_dup = int(dup_mask.sum())</a:t>
            </a:r>
          </a:p>
          <a:p>
            <a:pPr>
              <a:lnSpc>
                <a:spcPct val="100000"/>
              </a:lnSpc>
              <a:spcBef>
                <a:spcPts val="0"/>
              </a:spcBef>
              <a:spcAft>
                <a:spcPts val="60"/>
              </a:spcAft>
            </a:pPr>
            <a:r>
              <a:rPr sz="700" b="0" i="0">
                <a:solidFill>
                  <a:srgbClr val="E5E7EB"/>
                </a:solidFill>
                <a:latin typeface="Consolas"/>
              </a:rPr>
              <a:t>print(f"rows before: {n0}")</a:t>
            </a:r>
          </a:p>
          <a:p>
            <a:pPr>
              <a:lnSpc>
                <a:spcPct val="100000"/>
              </a:lnSpc>
              <a:spcBef>
                <a:spcPts val="0"/>
              </a:spcBef>
              <a:spcAft>
                <a:spcPts val="60"/>
              </a:spcAft>
            </a:pPr>
            <a:r>
              <a:rPr sz="700" b="0" i="0">
                <a:solidFill>
                  <a:srgbClr val="E5E7EB"/>
                </a:solidFill>
                <a:latin typeface="Consolas"/>
              </a:rPr>
              <a:t>print(f"exact duplicate rows (later copies): {n_dup}")</a:t>
            </a:r>
          </a:p>
          <a:p>
            <a:pPr>
              <a:lnSpc>
                <a:spcPct val="100000"/>
              </a:lnSpc>
              <a:spcBef>
                <a:spcPts val="0"/>
              </a:spcBef>
              <a:spcAft>
                <a:spcPts val="60"/>
              </a:spcAft>
            </a:pPr>
            <a:r>
              <a:rPr sz="700" b="0" i="0">
                <a:solidFill>
                  <a:srgbClr val="E5E7EB"/>
                </a:solidFill>
                <a:latin typeface="Consolas"/>
              </a:rPr>
              <a:t>print(f"rows involved if you count originals too (keep=False):"</a:t>
            </a:r>
          </a:p>
          <a:p>
            <a:pPr>
              <a:lnSpc>
                <a:spcPct val="100000"/>
              </a:lnSpc>
              <a:spcBef>
                <a:spcPts val="0"/>
              </a:spcBef>
              <a:spcAft>
                <a:spcPts val="60"/>
              </a:spcAft>
            </a:pPr>
            <a:r>
              <a:rPr sz="700" b="0" i="0">
                <a:solidFill>
                  <a:srgbClr val="E5E7EB"/>
                </a:solidFill>
                <a:latin typeface="Consolas"/>
              </a:rPr>
              <a:t>      f" {int(df.duplicated(keep=False).sum())}")</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print("the pairs, identified — duplicates are not anonymous, name them:")</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out/eda05_duplicates.txt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670" b="0" i="0">
                <a:solidFill>
                  <a:srgbClr val="14171C"/>
                </a:solidFill>
                <a:latin typeface="Consolas"/>
              </a:rPr>
              <a:t>$ python3 src/eda05_duplicates.py data/student_performance.csv /home/user/eda-course/build/work/eda05_duplicates</a:t>
            </a:r>
          </a:p>
          <a:p>
            <a:pPr>
              <a:lnSpc>
                <a:spcPct val="100000"/>
              </a:lnSpc>
              <a:spcBef>
                <a:spcPts val="0"/>
              </a:spcBef>
              <a:spcAft>
                <a:spcPts val="60"/>
              </a:spcAft>
            </a:pPr>
            <a:r>
              <a:rPr sz="670" b="0" i="0">
                <a:solidFill>
                  <a:srgbClr val="14171C"/>
                </a:solidFill>
                <a:latin typeface="Consolas"/>
              </a:rPr>
              <a:t>== EDA-05  duplicates: the quiet double-count that moves every average ==</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rows before: 412</a:t>
            </a:r>
          </a:p>
          <a:p>
            <a:pPr>
              <a:lnSpc>
                <a:spcPct val="100000"/>
              </a:lnSpc>
              <a:spcBef>
                <a:spcPts val="0"/>
              </a:spcBef>
              <a:spcAft>
                <a:spcPts val="60"/>
              </a:spcAft>
            </a:pPr>
            <a:r>
              <a:rPr sz="670" b="0" i="0">
                <a:solidFill>
                  <a:srgbClr val="14171C"/>
                </a:solidFill>
                <a:latin typeface="Consolas"/>
              </a:rPr>
              <a:t>exact duplicate rows (later copies): 12</a:t>
            </a:r>
          </a:p>
          <a:p>
            <a:pPr>
              <a:lnSpc>
                <a:spcPct val="100000"/>
              </a:lnSpc>
              <a:spcBef>
                <a:spcPts val="0"/>
              </a:spcBef>
              <a:spcAft>
                <a:spcPts val="60"/>
              </a:spcAft>
            </a:pPr>
            <a:r>
              <a:rPr sz="670" b="0" i="0">
                <a:solidFill>
                  <a:srgbClr val="14171C"/>
                </a:solidFill>
                <a:latin typeface="Consolas"/>
              </a:rPr>
              <a:t>rows involved if you count originals too (keep=False): 24</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the pairs, identified — duplicates are not anonymous, name them:</a:t>
            </a:r>
          </a:p>
          <a:p>
            <a:pPr>
              <a:lnSpc>
                <a:spcPct val="100000"/>
              </a:lnSpc>
              <a:spcBef>
                <a:spcPts val="0"/>
              </a:spcBef>
              <a:spcAft>
                <a:spcPts val="60"/>
              </a:spcAft>
            </a:pPr>
            <a:r>
              <a:rPr sz="670" b="0" i="0">
                <a:solidFill>
                  <a:srgbClr val="14171C"/>
                </a:solidFill>
                <a:latin typeface="Consolas"/>
              </a:rPr>
              <a:t>  first flagged ids: SP0008, SP0030, SP0062, SP0099 …</a:t>
            </a:r>
          </a:p>
          <a:p>
            <a:pPr>
              <a:lnSpc>
                <a:spcPct val="100000"/>
              </a:lnSpc>
              <a:spcBef>
                <a:spcPts val="0"/>
              </a:spcBef>
              <a:spcAft>
                <a:spcPts val="60"/>
              </a:spcAft>
            </a:pPr>
            <a:r>
              <a:rPr sz="670" b="0" i="0">
                <a:solidFill>
                  <a:srgbClr val="14171C"/>
                </a:solidFill>
                <a:latin typeface="Consolas"/>
              </a:rPr>
              <a:t>  e.g. SP0008: score 57, study_hours 4.3</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why it matters, quantified (the 'discussion' the syllabus asks for):</a:t>
            </a:r>
          </a:p>
          <a:p>
            <a:pPr>
              <a:lnSpc>
                <a:spcPct val="100000"/>
              </a:lnSpc>
              <a:spcBef>
                <a:spcPts val="0"/>
              </a:spcBef>
              <a:spcAft>
                <a:spcPts val="60"/>
              </a:spcAft>
            </a:pPr>
            <a:r>
              <a:rPr sz="670" b="0" i="0">
                <a:solidFill>
                  <a:srgbClr val="14171C"/>
                </a:solidFill>
                <a:latin typeface="Consolas"/>
              </a:rPr>
              <a:t>  mean score before removal: 66.8592</a:t>
            </a:r>
          </a:p>
          <a:p>
            <a:pPr>
              <a:lnSpc>
                <a:spcPct val="100000"/>
              </a:lnSpc>
              <a:spcBef>
                <a:spcPts val="0"/>
              </a:spcBef>
              <a:spcAft>
                <a:spcPts val="60"/>
              </a:spcAft>
            </a:pPr>
            <a:r>
              <a:rPr sz="670" b="0" i="0">
                <a:solidFill>
                  <a:srgbClr val="14171C"/>
                </a:solidFill>
                <a:latin typeface="Consolas"/>
              </a:rPr>
              <a:t>  mean score after  removal: 66.8275</a:t>
            </a:r>
          </a:p>
          <a:p>
            <a:pPr>
              <a:lnSpc>
                <a:spcPct val="100000"/>
              </a:lnSpc>
              <a:spcBef>
                <a:spcPts val="0"/>
              </a:spcBef>
              <a:spcAft>
                <a:spcPts val="60"/>
              </a:spcAft>
            </a:pPr>
            <a:r>
              <a:rPr sz="670" b="0" i="0">
                <a:solidFill>
                  <a:srgbClr val="14171C"/>
                </a:solidFill>
                <a:latin typeface="Consolas"/>
              </a:rPr>
              <a:t>  shift: -0.0317 — small, but these 12 rows would count TWICE in every groupby, chart and export</a:t>
            </a:r>
          </a:p>
          <a:p>
            <a:pPr>
              <a:lnSpc>
                <a:spcPct val="100000"/>
              </a:lnSpc>
              <a:spcBef>
                <a:spcPts val="0"/>
              </a:spcBef>
              <a:spcAft>
                <a:spcPts val="60"/>
              </a:spcAft>
            </a:pPr>
            <a:r>
              <a:rPr sz="670" b="0" i="0">
                <a:solidFill>
                  <a:srgbClr val="14171C"/>
                </a:solidFill>
                <a:latin typeface="Consolas"/>
              </a:rPr>
              <a:t>  biggest category 'group A': 185 rows before -&gt; 182 after</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wrote /home/user/eda-course/build/work/eda05_duplicates/deduped.csv; re-read shape (400, 11); duplicates now: 0</a:t>
            </a:r>
          </a:p>
          <a:p>
            <a:pPr>
              <a:lnSpc>
                <a:spcPct val="100000"/>
              </a:lnSpc>
              <a:spcBef>
                <a:spcPts val="0"/>
              </a:spcBef>
              <a:spcAft>
                <a:spcPts val="60"/>
              </a:spcAft>
            </a:pPr>
            <a:r>
              <a:rPr sz="670" b="0" i="0">
                <a:solidFill>
                  <a:srgbClr val="14171C"/>
                </a:solidFill>
                <a:latin typeface="Consolas"/>
              </a:rPr>
              <a:t>also worth checking: same student_id on DIFFERENT rows — after dedup, 0 such conflicts (this file's duplicates are exact copies;</a:t>
            </a:r>
          </a:p>
          <a:p>
            <a:pPr>
              <a:lnSpc>
                <a:spcPct val="100000"/>
              </a:lnSpc>
              <a:spcBef>
                <a:spcPts val="0"/>
              </a:spcBef>
              <a:spcAft>
                <a:spcPts val="60"/>
              </a:spcAft>
            </a:pPr>
            <a:r>
              <a:rPr sz="670" b="0" i="0">
                <a:solidFill>
                  <a:srgbClr val="14171C"/>
                </a:solidFill>
                <a:latin typeface="Consolas"/>
              </a:rPr>
              <a:t>  in the wild expect same key, different values — a different problem, and drop_duplicates will NOT fix it)</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EDA05 RESULT: 12 duplicate rows detected and removed — 412 rows in, 400 out, deduped.csv verified clean -- PASS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5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29</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Both counts printed, because both are true:</a:t>
            </a:r>
            <a:r>
              <a:rPr sz="1150" b="0" i="0">
                <a:solidFill>
                  <a:srgbClr val="B3261E"/>
                </a:solidFill>
                <a:latin typeface="Consolas"/>
              </a:rPr>
              <a:t>exact duplicate rows (later copies): 12</a:t>
            </a:r>
            <a:r>
              <a:rPr sz="1250" b="0" i="0">
                <a:solidFill>
                  <a:srgbClr val="16181D"/>
                </a:solidFill>
                <a:latin typeface="Calibri"/>
              </a:rPr>
              <a:t>, and keep=False widens it to</a:t>
            </a:r>
            <a:r>
              <a:rPr sz="1150" b="0" i="0">
                <a:solidFill>
                  <a:srgbClr val="B3261E"/>
                </a:solidFill>
                <a:latin typeface="Consolas"/>
              </a:rPr>
              <a:t>rows involved if you count originals too (keep=False): 24</a:t>
            </a:r>
            <a:r>
              <a:rPr sz="1250" b="0" i="0">
                <a:solidFill>
                  <a:srgbClr val="16181D"/>
                </a:solidFill>
                <a:latin typeface="Calibri"/>
              </a:rPr>
              <a:t>— the report says which convention its table used.</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Duplicates are named, not lamented:</a:t>
            </a:r>
            <a:r>
              <a:rPr sz="1150" b="0" i="0">
                <a:solidFill>
                  <a:srgbClr val="B3261E"/>
                </a:solidFill>
                <a:latin typeface="Consolas"/>
              </a:rPr>
              <a:t>first flagged ids: SP0008, SP0030, SP0062, SP0099</a:t>
            </a:r>
            <a:r>
              <a:rPr sz="1250" b="0" i="0">
                <a:solidFill>
                  <a:srgbClr val="16181D"/>
                </a:solidFill>
                <a:latin typeface="Calibri"/>
              </a:rPr>
              <a:t>— keys traceable to the generator's injected copy list.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effect is quantified where it belongs — in the statistic: the mean score moves</a:t>
            </a:r>
            <a:r>
              <a:rPr sz="1150" b="0" i="0">
                <a:solidFill>
                  <a:srgbClr val="B3261E"/>
                </a:solidFill>
                <a:latin typeface="Consolas"/>
              </a:rPr>
              <a:t>shift: -0.0317</a:t>
            </a:r>
            <a:r>
              <a:rPr sz="1250" b="0" i="0">
                <a:solidFill>
                  <a:srgbClr val="16181D"/>
                </a:solidFill>
                <a:latin typeface="Calibri"/>
              </a:rPr>
              <a:t>; tiny here, and the report says so, because 'duplicates removed' without a magnitude is decoration.</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Group sizes feel it more than means:</a:t>
            </a:r>
            <a:r>
              <a:rPr sz="1150" b="0" i="0">
                <a:solidFill>
                  <a:srgbClr val="B3261E"/>
                </a:solidFill>
                <a:latin typeface="Consolas"/>
              </a:rPr>
              <a:t>biggest category 'group A': 185 rows before -› 182 after</a:t>
            </a:r>
            <a:r>
              <a:rPr sz="1250" b="0" i="0">
                <a:solidFill>
                  <a:srgbClr val="16181D"/>
                </a:solidFill>
                <a:latin typeface="Calibri"/>
              </a:rPr>
              <a:t>— every proportion, chart and export downstream was inflating the double-entered rows.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written artifact passes the re-read:</a:t>
            </a:r>
            <a:r>
              <a:rPr sz="1150" b="0" i="0">
                <a:solidFill>
                  <a:srgbClr val="B3261E"/>
                </a:solidFill>
                <a:latin typeface="Consolas"/>
              </a:rPr>
              <a:t>re-read shape (400, 11)</a:t>
            </a:r>
            <a:r>
              <a:rPr sz="1250" b="0" i="0">
                <a:solidFill>
                  <a:srgbClr val="16181D"/>
                </a:solidFill>
                <a:latin typeface="Calibri"/>
              </a:rPr>
              <a:t>, and the same-key audit prints</a:t>
            </a:r>
            <a:r>
              <a:rPr sz="1150" b="0" i="0">
                <a:solidFill>
                  <a:srgbClr val="B3261E"/>
                </a:solidFill>
                <a:latin typeface="Consolas"/>
              </a:rPr>
              <a:t>0 such conflicts</a:t>
            </a:r>
            <a:r>
              <a:rPr sz="1250" b="0" i="0">
                <a:solidFill>
                  <a:srgbClr val="16181D"/>
                </a:solidFill>
                <a:latin typeface="Calibri"/>
              </a:rPr>
              <a:t>— exact-copy duplicates only, which is precisely the case drop_duplicates answers.</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What is the semantic difference between keep='first' (default) and keep=False in duplicated()?</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Define a key on student_id and name the two duplicate classes it distinguishes.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The mean barely moved (−0.03). Argue that removing the duplicates was still mandatory.</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keep='first' marks only the later copies — the operation mask for drop_duplicates; keep=False marks every member of every duplicate family — the inspection mask for showing what is involved. The experiment prints 12 and 24 for exactly this reason.</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Detected, quantified, removed, verified — EDA05 RESULT: 12 duplicate rows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Experiment 6 — Filtering, sorting and selection for business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30</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950" b="0" i="0">
                <a:solidFill>
                  <a:srgbClr val="16181D"/>
                </a:solidFill>
                <a:latin typeface="Calibri"/>
              </a:rPr>
              <a:t>Perform data filtering, sorting, and selection operations on a dataset to answer business-oriented questions such as identifying high-performing students, top-selling products, or employees with the highest salaries. Present the extracted information in a meaningful format. … (full text: the verbatim box in the course book)</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src/eda06_filter_sort.py</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"""EDA-06  Business questions via boolean masks, sorting and selection.</a:t>
            </a:r>
          </a:p>
          <a:p>
            <a:pPr>
              <a:lnSpc>
                <a:spcPct val="100000"/>
              </a:lnSpc>
              <a:spcBef>
                <a:spcPts val="0"/>
              </a:spcBef>
              <a:spcAft>
                <a:spcPts val="60"/>
              </a:spcAft>
            </a:pPr>
            <a:r>
              <a:rPr sz="700" b="0" i="0">
                <a:solidFill>
                  <a:srgbClr val="E5E7EB"/>
                </a:solidFill>
                <a:latin typeface="Consolas"/>
              </a:rPr>
              <a:t>Usage: python3 src/eda06_filter_sort.py data/sales_data.csv data/employee_info.csv</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pd.set_option("display.width", 78)</a:t>
            </a:r>
          </a:p>
          <a:p>
            <a:pPr>
              <a:lnSpc>
                <a:spcPct val="100000"/>
              </a:lnSpc>
              <a:spcBef>
                <a:spcPts val="0"/>
              </a:spcBef>
              <a:spcAft>
                <a:spcPts val="60"/>
              </a:spcAft>
            </a:pPr>
            <a:r>
              <a:rPr sz="700" b="0" i="0">
                <a:solidFill>
                  <a:srgbClr val="E5E7EB"/>
                </a:solidFill>
                <a:latin typeface="Consolas"/>
              </a:rPr>
              <a:t>SALES, EMP = sys.argv[1], sys.argv[2]</a:t>
            </a:r>
          </a:p>
          <a:p>
            <a:pPr>
              <a:lnSpc>
                <a:spcPct val="100000"/>
              </a:lnSpc>
              <a:spcBef>
                <a:spcPts val="0"/>
              </a:spcBef>
              <a:spcAft>
                <a:spcPts val="60"/>
              </a:spcAft>
            </a:pPr>
            <a:r>
              <a:rPr sz="700" b="0" i="0">
                <a:solidFill>
                  <a:srgbClr val="E5E7EB"/>
                </a:solidFill>
                <a:latin typeface="Consolas"/>
              </a:rPr>
              <a:t>sales = pd.read_csv(SALES)</a:t>
            </a:r>
          </a:p>
          <a:p>
            <a:pPr>
              <a:lnSpc>
                <a:spcPct val="100000"/>
              </a:lnSpc>
              <a:spcBef>
                <a:spcPts val="0"/>
              </a:spcBef>
              <a:spcAft>
                <a:spcPts val="60"/>
              </a:spcAft>
            </a:pPr>
            <a:r>
              <a:rPr sz="700" b="0" i="0">
                <a:solidFill>
                  <a:srgbClr val="E5E7EB"/>
                </a:solidFill>
                <a:latin typeface="Consolas"/>
              </a:rPr>
              <a:t>emp = pd.read_csv(EMP)</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EDA-06  four questions a manager would actually ask, answered in one pass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print("Q1  which product line sells best? (filter-free sort of a totals table)")</a:t>
            </a:r>
          </a:p>
          <a:p>
            <a:pPr>
              <a:lnSpc>
                <a:spcPct val="100000"/>
              </a:lnSpc>
              <a:spcBef>
                <a:spcPts val="0"/>
              </a:spcBef>
              <a:spcAft>
                <a:spcPts val="60"/>
              </a:spcAft>
            </a:pPr>
            <a:r>
              <a:rPr sz="700" b="0" i="0">
                <a:solidFill>
                  <a:srgbClr val="E5E7EB"/>
                </a:solidFill>
                <a:latin typeface="Consolas"/>
              </a:rPr>
              <a:t>tot = (sales.groupby("product_line")["revenue"].sum()</a:t>
            </a:r>
          </a:p>
          <a:p>
            <a:pPr>
              <a:lnSpc>
                <a:spcPct val="100000"/>
              </a:lnSpc>
              <a:spcBef>
                <a:spcPts val="0"/>
              </a:spcBef>
              <a:spcAft>
                <a:spcPts val="60"/>
              </a:spcAft>
            </a:pPr>
            <a:r>
              <a:rPr sz="700" b="0" i="0">
                <a:solidFill>
                  <a:srgbClr val="E5E7EB"/>
                </a:solidFill>
                <a:latin typeface="Consolas"/>
              </a:rPr>
              <a:t>           .sort_values(ascending=False))</a:t>
            </a:r>
          </a:p>
          <a:p>
            <a:pPr>
              <a:lnSpc>
                <a:spcPct val="100000"/>
              </a:lnSpc>
              <a:spcBef>
                <a:spcPts val="0"/>
              </a:spcBef>
              <a:spcAft>
                <a:spcPts val="60"/>
              </a:spcAft>
            </a:pPr>
            <a:r>
              <a:rPr sz="700" b="0" i="0">
                <a:solidFill>
                  <a:srgbClr val="E5E7EB"/>
                </a:solidFill>
                <a:latin typeface="Consolas"/>
              </a:rPr>
              <a:t>print(tot.map(lambda v: f"{v:,.2f}").to_string())</a:t>
            </a:r>
          </a:p>
          <a:p>
            <a:pPr>
              <a:lnSpc>
                <a:spcPct val="100000"/>
              </a:lnSpc>
              <a:spcBef>
                <a:spcPts val="0"/>
              </a:spcBef>
              <a:spcAft>
                <a:spcPts val="60"/>
              </a:spcAft>
            </a:pPr>
            <a:r>
              <a:rPr sz="700" b="0" i="0">
                <a:solidFill>
                  <a:srgbClr val="E5E7EB"/>
                </a:solidFill>
                <a:latin typeface="Consolas"/>
              </a:rPr>
              <a:t>lead, two = tot.index[0], tot.index[1]</a:t>
            </a:r>
          </a:p>
          <a:p>
            <a:pPr>
              <a:lnSpc>
                <a:spcPct val="100000"/>
              </a:lnSpc>
              <a:spcBef>
                <a:spcPts val="0"/>
              </a:spcBef>
              <a:spcAft>
                <a:spcPts val="60"/>
              </a:spcAft>
            </a:pPr>
            <a:r>
              <a:rPr sz="700" b="0" i="0">
                <a:solidFill>
                  <a:srgbClr val="E5E7EB"/>
                </a:solidFill>
                <a:latin typeface="Consolas"/>
              </a:rPr>
              <a:t>print(f"  -&gt; {lead} leads {two} by {tot[lead] - tot[two]:,.2f} revenue units")</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print("Q2  who earns the most? (boolean AND of two conditions, then select columns)")</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out/eda06_filter_sort.txt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610" b="0" i="0">
                <a:solidFill>
                  <a:srgbClr val="14171C"/>
                </a:solidFill>
                <a:latin typeface="Consolas"/>
              </a:rPr>
              <a:t>$ python3 src/eda06_filter_sort.py data/sales_data.csv data/employee_info.csv</a:t>
            </a:r>
          </a:p>
          <a:p>
            <a:pPr>
              <a:lnSpc>
                <a:spcPct val="100000"/>
              </a:lnSpc>
              <a:spcBef>
                <a:spcPts val="0"/>
              </a:spcBef>
              <a:spcAft>
                <a:spcPts val="60"/>
              </a:spcAft>
            </a:pPr>
            <a:r>
              <a:rPr sz="610" b="0" i="0">
                <a:solidFill>
                  <a:srgbClr val="14171C"/>
                </a:solidFill>
                <a:latin typeface="Consolas"/>
              </a:rPr>
              <a:t>== EDA-06  four questions a manager would actually ask, answered in one pass ==</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Q1  which product line sells best? (filter-free sort of a totals table)</a:t>
            </a:r>
          </a:p>
          <a:p>
            <a:pPr>
              <a:lnSpc>
                <a:spcPct val="100000"/>
              </a:lnSpc>
              <a:spcBef>
                <a:spcPts val="0"/>
              </a:spcBef>
              <a:spcAft>
                <a:spcPts val="60"/>
              </a:spcAft>
            </a:pPr>
            <a:r>
              <a:rPr sz="610" b="0" i="0">
                <a:solidFill>
                  <a:srgbClr val="14171C"/>
                </a:solidFill>
                <a:latin typeface="Consolas"/>
              </a:rPr>
              <a:t>product_line</a:t>
            </a:r>
          </a:p>
          <a:p>
            <a:pPr>
              <a:lnSpc>
                <a:spcPct val="100000"/>
              </a:lnSpc>
              <a:spcBef>
                <a:spcPts val="0"/>
              </a:spcBef>
              <a:spcAft>
                <a:spcPts val="60"/>
              </a:spcAft>
            </a:pPr>
            <a:r>
              <a:rPr sz="610" b="0" i="0">
                <a:solidFill>
                  <a:srgbClr val="14171C"/>
                </a:solidFill>
                <a:latin typeface="Consolas"/>
              </a:rPr>
              <a:t>Electronics    128,222,920.00</a:t>
            </a:r>
          </a:p>
          <a:p>
            <a:pPr>
              <a:lnSpc>
                <a:spcPct val="100000"/>
              </a:lnSpc>
              <a:spcBef>
                <a:spcPts val="0"/>
              </a:spcBef>
              <a:spcAft>
                <a:spcPts val="60"/>
              </a:spcAft>
            </a:pPr>
            <a:r>
              <a:rPr sz="610" b="0" i="0">
                <a:solidFill>
                  <a:srgbClr val="14171C"/>
                </a:solidFill>
                <a:latin typeface="Consolas"/>
              </a:rPr>
              <a:t>Furniture       45,068,334.40</a:t>
            </a:r>
          </a:p>
          <a:p>
            <a:pPr>
              <a:lnSpc>
                <a:spcPct val="100000"/>
              </a:lnSpc>
              <a:spcBef>
                <a:spcPts val="0"/>
              </a:spcBef>
              <a:spcAft>
                <a:spcPts val="60"/>
              </a:spcAft>
            </a:pPr>
            <a:r>
              <a:rPr sz="610" b="0" i="0">
                <a:solidFill>
                  <a:srgbClr val="14171C"/>
                </a:solidFill>
                <a:latin typeface="Consolas"/>
              </a:rPr>
              <a:t>Apparel         24,218,905.00</a:t>
            </a:r>
          </a:p>
          <a:p>
            <a:pPr>
              <a:lnSpc>
                <a:spcPct val="100000"/>
              </a:lnSpc>
              <a:spcBef>
                <a:spcPts val="0"/>
              </a:spcBef>
              <a:spcAft>
                <a:spcPts val="60"/>
              </a:spcAft>
            </a:pPr>
            <a:r>
              <a:rPr sz="610" b="0" i="0">
                <a:solidFill>
                  <a:srgbClr val="14171C"/>
                </a:solidFill>
                <a:latin typeface="Consolas"/>
              </a:rPr>
              <a:t>Grocery          6,559,571.76</a:t>
            </a:r>
          </a:p>
          <a:p>
            <a:pPr>
              <a:lnSpc>
                <a:spcPct val="100000"/>
              </a:lnSpc>
              <a:spcBef>
                <a:spcPts val="0"/>
              </a:spcBef>
              <a:spcAft>
                <a:spcPts val="60"/>
              </a:spcAft>
            </a:pPr>
            <a:r>
              <a:rPr sz="610" b="0" i="0">
                <a:solidFill>
                  <a:srgbClr val="14171C"/>
                </a:solidFill>
                <a:latin typeface="Consolas"/>
              </a:rPr>
              <a:t>  -&gt; Electronics leads Furniture by 83,154,585.60 revenue units</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Q2  who earns the most? (boolean AND of two conditions, then select columns)</a:t>
            </a:r>
          </a:p>
          <a:p>
            <a:pPr>
              <a:lnSpc>
                <a:spcPct val="100000"/>
              </a:lnSpc>
              <a:spcBef>
                <a:spcPts val="0"/>
              </a:spcBef>
              <a:spcAft>
                <a:spcPts val="60"/>
              </a:spcAft>
            </a:pPr>
            <a:r>
              <a:rPr sz="610" b="0" i="0">
                <a:solidFill>
                  <a:srgbClr val="14171C"/>
                </a:solidFill>
                <a:latin typeface="Consolas"/>
              </a:rPr>
              <a:t>emp_id department  role_level  salary  performance_score</a:t>
            </a:r>
          </a:p>
          <a:p>
            <a:pPr>
              <a:lnSpc>
                <a:spcPct val="100000"/>
              </a:lnSpc>
              <a:spcBef>
                <a:spcPts val="0"/>
              </a:spcBef>
              <a:spcAft>
                <a:spcPts val="60"/>
              </a:spcAft>
            </a:pPr>
            <a:r>
              <a:rPr sz="610" b="0" i="0">
                <a:solidFill>
                  <a:srgbClr val="14171C"/>
                </a:solidFill>
                <a:latin typeface="Consolas"/>
              </a:rPr>
              <a:t> E1013      Sales           6  213183                 91</a:t>
            </a:r>
          </a:p>
          <a:p>
            <a:pPr>
              <a:lnSpc>
                <a:spcPct val="100000"/>
              </a:lnSpc>
              <a:spcBef>
                <a:spcPts val="0"/>
              </a:spcBef>
              <a:spcAft>
                <a:spcPts val="60"/>
              </a:spcAft>
            </a:pPr>
            <a:r>
              <a:rPr sz="610" b="0" i="0">
                <a:solidFill>
                  <a:srgbClr val="14171C"/>
                </a:solidFill>
                <a:latin typeface="Consolas"/>
              </a:rPr>
              <a:t> E1210      Sales           6  212223                 80</a:t>
            </a:r>
          </a:p>
          <a:p>
            <a:pPr>
              <a:lnSpc>
                <a:spcPct val="100000"/>
              </a:lnSpc>
              <a:spcBef>
                <a:spcPts val="0"/>
              </a:spcBef>
              <a:spcAft>
                <a:spcPts val="60"/>
              </a:spcAft>
            </a:pPr>
            <a:r>
              <a:rPr sz="610" b="0" i="0">
                <a:solidFill>
                  <a:srgbClr val="14171C"/>
                </a:solidFill>
                <a:latin typeface="Consolas"/>
              </a:rPr>
              <a:t> E1176    Finance           6  212013                 98</a:t>
            </a:r>
          </a:p>
          <a:p>
            <a:pPr>
              <a:lnSpc>
                <a:spcPct val="100000"/>
              </a:lnSpc>
              <a:spcBef>
                <a:spcPts val="0"/>
              </a:spcBef>
              <a:spcAft>
                <a:spcPts val="60"/>
              </a:spcAft>
            </a:pPr>
            <a:r>
              <a:rPr sz="610" b="0" i="0">
                <a:solidFill>
                  <a:srgbClr val="14171C"/>
                </a:solidFill>
                <a:latin typeface="Consolas"/>
              </a:rPr>
              <a:t> E1155         HR           6  211870                 87</a:t>
            </a:r>
          </a:p>
          <a:p>
            <a:pPr>
              <a:lnSpc>
                <a:spcPct val="100000"/>
              </a:lnSpc>
              <a:spcBef>
                <a:spcPts val="0"/>
              </a:spcBef>
              <a:spcAft>
                <a:spcPts val="60"/>
              </a:spcAft>
            </a:pPr>
            <a:r>
              <a:rPr sz="610" b="0" i="0">
                <a:solidFill>
                  <a:srgbClr val="14171C"/>
                </a:solidFill>
                <a:latin typeface="Consolas"/>
              </a:rPr>
              <a:t> E1038  Marketing           6  211536                 89</a:t>
            </a:r>
          </a:p>
          <a:p>
            <a:pPr>
              <a:lnSpc>
                <a:spcPct val="100000"/>
              </a:lnSpc>
              <a:spcBef>
                <a:spcPts val="0"/>
              </a:spcBef>
              <a:spcAft>
                <a:spcPts val="60"/>
              </a:spcAft>
            </a:pPr>
            <a:r>
              <a:rPr sz="610" b="0" i="0">
                <a:solidFill>
                  <a:srgbClr val="14171C"/>
                </a:solidFill>
                <a:latin typeface="Consolas"/>
              </a:rPr>
              <a:t>  -&gt; 22 of 260 employees qualify; the list above is the first 5, ordered by salary then id (stable ties)</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  5 more lines omitted — complete listing in the course book  …</a:t>
            </a:r>
          </a:p>
          <a:p>
            <a:pPr>
              <a:lnSpc>
                <a:spcPct val="100000"/>
              </a:lnSpc>
              <a:spcBef>
                <a:spcPts val="0"/>
              </a:spcBef>
              <a:spcAft>
                <a:spcPts val="60"/>
              </a:spcAft>
            </a:pPr>
            <a:r>
              <a:rPr sz="610" b="0" i="0">
                <a:solidFill>
                  <a:srgbClr val="14171C"/>
                </a:solidFill>
                <a:latin typeface="Consolas"/>
              </a:rPr>
              <a:t>  -&gt; peak month 2025-06 at 8,318,429.64</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Q4  the same answer, the query() way (and why the string form is handy):</a:t>
            </a:r>
          </a:p>
          <a:p>
            <a:pPr>
              <a:lnSpc>
                <a:spcPct val="100000"/>
              </a:lnSpc>
              <a:spcBef>
                <a:spcPts val="0"/>
              </a:spcBef>
              <a:spcAft>
                <a:spcPts val="60"/>
              </a:spcAft>
            </a:pPr>
            <a:r>
              <a:rPr sz="610" b="0" i="0">
                <a:solidFill>
                  <a:srgbClr val="14171C"/>
                </a:solidFill>
                <a:latin typeface="Consolas"/>
              </a:rPr>
              <a:t>  Bengaluru × Electronics: 36 rows, total revenue 48,433,654.00, mean units 86.5</a:t>
            </a:r>
          </a:p>
          <a:p>
            <a:pPr>
              <a:lnSpc>
                <a:spcPct val="100000"/>
              </a:lnSpc>
              <a:spcBef>
                <a:spcPts val="0"/>
              </a:spcBef>
              <a:spcAft>
                <a:spcPts val="60"/>
              </a:spcAft>
            </a:pPr>
            <a:r>
              <a:rPr sz="610" b="0" i="0">
                <a:solidFill>
                  <a:srgbClr val="14171C"/>
                </a:solidFill>
                <a:latin typeface="Consolas"/>
              </a:rPr>
              <a:t>  rows with more than 3 returns: 129  (29.86% of the frame)</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EDA06 RESULT: 4 business questions answered by masks, groupby-sum sorts and query() -- PASS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6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31</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Q1 reads the totals table instead of squinting at rows: Electronics tops the printed sums at</a:t>
            </a:r>
            <a:r>
              <a:rPr sz="1150" b="0" i="0">
                <a:solidFill>
                  <a:srgbClr val="B3261E"/>
                </a:solidFill>
                <a:latin typeface="Consolas"/>
              </a:rPr>
              <a:t>128,222,920.00</a:t>
            </a:r>
            <a:r>
              <a:rPr sz="1250" b="0" i="0">
                <a:solidFill>
                  <a:srgbClr val="16181D"/>
                </a:solidFill>
                <a:latin typeface="Calibri"/>
              </a:rPr>
              <a:t>, and the margin is computed too:</a:t>
            </a:r>
            <a:r>
              <a:rPr sz="1150" b="0" i="0">
                <a:solidFill>
                  <a:srgbClr val="B3261E"/>
                </a:solidFill>
                <a:latin typeface="Consolas"/>
              </a:rPr>
              <a:t>Electronics leads Furniture by 83,154,585.60 revenue units</a:t>
            </a:r>
            <a:r>
              <a:rPr sz="1250" b="0" i="0">
                <a:solidFill>
                  <a:srgbClr val="16181D"/>
                </a:solidFill>
                <a:latin typeface="Calibri"/>
              </a:rPr>
              <a: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Q2 is the compound predicate done right — salary floor AND performance floor, then a two-key sort whose tie-break the program names:</a:t>
            </a:r>
            <a:r>
              <a:rPr sz="1150" b="0" i="0">
                <a:solidFill>
                  <a:srgbClr val="B3261E"/>
                </a:solidFill>
                <a:latin typeface="Consolas"/>
              </a:rPr>
              <a:t>ordered by salary then id (stable ties)</a:t>
            </a:r>
            <a:r>
              <a:rPr sz="1250" b="0" i="0">
                <a:solidFill>
                  <a:srgbClr val="16181D"/>
                </a:solidFill>
                <a:latin typeface="Calibri"/>
              </a:rPr>
              <a: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qualifying set is counted, not assumed:</a:t>
            </a:r>
            <a:r>
              <a:rPr sz="1150" b="0" i="0">
                <a:solidFill>
                  <a:srgbClr val="B3261E"/>
                </a:solidFill>
                <a:latin typeface="Consolas"/>
              </a:rPr>
              <a:t>22 of 260 employees qualify</a:t>
            </a:r>
            <a:r>
              <a:rPr sz="1250" b="0" i="0">
                <a:solidFill>
                  <a:srgbClr val="16181D"/>
                </a:solidFill>
                <a:latin typeface="Calibri"/>
              </a:rPr>
              <a:t>— a table of five printed under a population of twenty-two, the sentence most student reports omit.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Q3's peak is one chain (groupby, sum, sort, head):</a:t>
            </a:r>
            <a:r>
              <a:rPr sz="1150" b="0" i="0">
                <a:solidFill>
                  <a:srgbClr val="B3261E"/>
                </a:solidFill>
                <a:latin typeface="Consolas"/>
              </a:rPr>
              <a:t>peak month 2025-06 at 8,318,429.64</a:t>
            </a:r>
            <a:r>
              <a:rPr sz="1250" b="0" i="0">
                <a:solidFill>
                  <a:srgbClr val="16181D"/>
                </a:solidFill>
                <a:latin typeface="Calibri"/>
              </a:rPr>
              <a:t>— the same question line-plotified, with its data check, in experiment 10.</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Q4 answers once by mask, once by query():</a:t>
            </a:r>
            <a:r>
              <a:rPr sz="1150" b="0" i="0">
                <a:solidFill>
                  <a:srgbClr val="B3261E"/>
                </a:solidFill>
                <a:latin typeface="Consolas"/>
              </a:rPr>
              <a:t>total revenue 48,433,654.00</a:t>
            </a:r>
            <a:r>
              <a:rPr sz="1250" b="0" i="0">
                <a:solidFill>
                  <a:srgbClr val="16181D"/>
                </a:solidFill>
                <a:latin typeface="Calibri"/>
              </a:rPr>
              <a:t>and</a:t>
            </a:r>
            <a:r>
              <a:rPr sz="1150" b="0" i="0">
                <a:solidFill>
                  <a:srgbClr val="B3261E"/>
                </a:solidFill>
                <a:latin typeface="Consolas"/>
              </a:rPr>
              <a:t>mean units 86.5</a:t>
            </a:r>
            <a:r>
              <a:rPr sz="1250" b="0" i="0">
                <a:solidFill>
                  <a:srgbClr val="16181D"/>
                </a:solidFill>
                <a:latin typeface="Calibri"/>
              </a:rPr>
              <a:t>from both spellings — the string form's point being that it reads like the question; and the returns count keeps its base visible:</a:t>
            </a:r>
            <a:r>
              <a:rPr sz="1150" b="0" i="0">
                <a:solidFill>
                  <a:srgbClr val="B3261E"/>
                </a:solidFill>
                <a:latin typeface="Consolas"/>
              </a:rPr>
              <a:t>returns: 129</a:t>
            </a:r>
            <a:r>
              <a:rPr sz="1250" b="0" i="0">
                <a:solidFill>
                  <a:srgbClr val="16181D"/>
                </a:solidFill>
                <a:latin typeface="Calibri"/>
              </a:rPr>
              <a:t>rows of the frame.</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sort by two keys with two directions here rather than filter harder?</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Boolean mask vs query(): same result — state the actual trade-off.</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What does mean units 86.5 for Bengaluru × Electronics NOT tell you?</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The filter fixes the population (22 qualifying rows); the sort fixes what 'top' means and makes ties deterministic — salary alone lets equal salaries arrive in frame order, so a re-run could shuffle the printed five. Salary-descending, id-ascending is a claim about both.</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All four business questions answered from masks, sorts and query, each with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Experiment 7 — Grouping and aggregation: split, apply, combine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32</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950" b="0" i="0">
                <a:solidFill>
                  <a:srgbClr val="16181D"/>
                </a:solidFill>
                <a:latin typeface="Calibri"/>
              </a:rPr>
              <a:t>Apply grouping and aggregation techniques using Pandas to generate summaries from a dataset. Compute category-wise counts, averages, totals, and other statistical measures to derive meaningful insights from grouped data. (a) Expected Input: Dataset containing categorical and numerical attributes. … (full text: the verbatim box in the course book)</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src/eda07_group_agg.py</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"""EDA-07  split-apply-combine: size/mean/max per group, named aggs, a pivot table.</a:t>
            </a:r>
          </a:p>
          <a:p>
            <a:pPr>
              <a:lnSpc>
                <a:spcPct val="100000"/>
              </a:lnSpc>
              <a:spcBef>
                <a:spcPts val="0"/>
              </a:spcBef>
              <a:spcAft>
                <a:spcPts val="60"/>
              </a:spcAft>
            </a:pPr>
            <a:r>
              <a:rPr sz="700" b="0" i="0">
                <a:solidFill>
                  <a:srgbClr val="E5E7EB"/>
                </a:solidFill>
                <a:latin typeface="Consolas"/>
              </a:rPr>
              <a:t>Usage: python3 src/eda07_group_agg.py data/student_performance.csv</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pd.set_option("display.width", 78)</a:t>
            </a:r>
          </a:p>
          <a:p>
            <a:pPr>
              <a:lnSpc>
                <a:spcPct val="100000"/>
              </a:lnSpc>
              <a:spcBef>
                <a:spcPts val="0"/>
              </a:spcBef>
              <a:spcAft>
                <a:spcPts val="60"/>
              </a:spcAft>
            </a:pPr>
            <a:r>
              <a:rPr sz="700" b="0" i="0">
                <a:solidFill>
                  <a:srgbClr val="E5E7EB"/>
                </a:solidFill>
                <a:latin typeface="Consolas"/>
              </a:rPr>
              <a:t>df = pd.read_csv(sys.argv[1])</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EDA-07  groupby: the dataset's habit of becoming a summary table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g = df.groupby("race_ethnicity")</a:t>
            </a:r>
          </a:p>
          <a:p>
            <a:pPr>
              <a:lnSpc>
                <a:spcPct val="100000"/>
              </a:lnSpc>
              <a:spcBef>
                <a:spcPts val="0"/>
              </a:spcBef>
              <a:spcAft>
                <a:spcPts val="60"/>
              </a:spcAft>
            </a:pPr>
            <a:r>
              <a:rPr sz="700" b="0" i="0">
                <a:solidFill>
                  <a:srgbClr val="E5E7EB"/>
                </a:solidFill>
                <a:latin typeface="Consolas"/>
              </a:rPr>
              <a:t>print("one categorical, three questions — count, average, ceiling:")</a:t>
            </a:r>
          </a:p>
          <a:p>
            <a:pPr>
              <a:lnSpc>
                <a:spcPct val="100000"/>
              </a:lnSpc>
              <a:spcBef>
                <a:spcPts val="0"/>
              </a:spcBef>
              <a:spcAft>
                <a:spcPts val="60"/>
              </a:spcAft>
            </a:pPr>
            <a:r>
              <a:rPr sz="700" b="0" i="0">
                <a:solidFill>
                  <a:srgbClr val="E5E7EB"/>
                </a:solidFill>
                <a:latin typeface="Consolas"/>
              </a:rPr>
              <a:t>tab = g.agg(n=("score", "size"), avg_score=("score", "mean"),</a:t>
            </a:r>
          </a:p>
          <a:p>
            <a:pPr>
              <a:lnSpc>
                <a:spcPct val="100000"/>
              </a:lnSpc>
              <a:spcBef>
                <a:spcPts val="0"/>
              </a:spcBef>
              <a:spcAft>
                <a:spcPts val="60"/>
              </a:spcAft>
            </a:pPr>
            <a:r>
              <a:rPr sz="700" b="0" i="0">
                <a:solidFill>
                  <a:srgbClr val="E5E7EB"/>
                </a:solidFill>
                <a:latin typeface="Consolas"/>
              </a:rPr>
              <a:t>            max_score=("score", "max"), avg_hours=("study_hours", "mean"))</a:t>
            </a:r>
          </a:p>
          <a:p>
            <a:pPr>
              <a:lnSpc>
                <a:spcPct val="100000"/>
              </a:lnSpc>
              <a:spcBef>
                <a:spcPts val="0"/>
              </a:spcBef>
              <a:spcAft>
                <a:spcPts val="60"/>
              </a:spcAft>
            </a:pPr>
            <a:r>
              <a:rPr sz="700" b="0" i="0">
                <a:solidFill>
                  <a:srgbClr val="E5E7EB"/>
                </a:solidFill>
                <a:latin typeface="Consolas"/>
              </a:rPr>
              <a:t>print(tab.round(2).to_string())</a:t>
            </a:r>
          </a:p>
          <a:p>
            <a:pPr>
              <a:lnSpc>
                <a:spcPct val="100000"/>
              </a:lnSpc>
              <a:spcBef>
                <a:spcPts val="0"/>
              </a:spcBef>
              <a:spcAft>
                <a:spcPts val="60"/>
              </a:spcAft>
            </a:pPr>
            <a:r>
              <a:rPr sz="700" b="0" i="0">
                <a:solidFill>
                  <a:srgbClr val="E5E7EB"/>
                </a:solidFill>
                <a:latin typeface="Consolas"/>
              </a:rPr>
              <a:t>best, worst = tab["avg_score"].idxmax(), tab["avg_score"].idxmin()</a:t>
            </a:r>
          </a:p>
          <a:p>
            <a:pPr>
              <a:lnSpc>
                <a:spcPct val="100000"/>
              </a:lnSpc>
              <a:spcBef>
                <a:spcPts val="0"/>
              </a:spcBef>
              <a:spcAft>
                <a:spcPts val="60"/>
              </a:spcAft>
            </a:pPr>
            <a:r>
              <a:rPr sz="700" b="0" i="0">
                <a:solidFill>
                  <a:srgbClr val="E5E7EB"/>
                </a:solidFill>
                <a:latin typeface="Consolas"/>
              </a:rPr>
              <a:t>print(f"  -&gt; {best} averages {tab.loc[best, 'avg_score']:.2f};"</a:t>
            </a:r>
          </a:p>
          <a:p>
            <a:pPr>
              <a:lnSpc>
                <a:spcPct val="100000"/>
              </a:lnSpc>
              <a:spcBef>
                <a:spcPts val="0"/>
              </a:spcBef>
              <a:spcAft>
                <a:spcPts val="60"/>
              </a:spcAft>
            </a:pPr>
            <a:r>
              <a:rPr sz="700" b="0" i="0">
                <a:solidFill>
                  <a:srgbClr val="E5E7EB"/>
                </a:solidFill>
                <a:latin typeface="Consolas"/>
              </a:rPr>
              <a:t>      f" {worst} is lowest at {tab.loc[worst, 'avg_score']:.2f};"</a:t>
            </a:r>
          </a:p>
          <a:p>
            <a:pPr>
              <a:lnSpc>
                <a:spcPct val="100000"/>
              </a:lnSpc>
              <a:spcBef>
                <a:spcPts val="0"/>
              </a:spcBef>
              <a:spcAft>
                <a:spcPts val="60"/>
              </a:spcAft>
            </a:pPr>
            <a:r>
              <a:rPr sz="700" b="0" i="0">
                <a:solidFill>
                  <a:srgbClr val="E5E7EB"/>
                </a:solidFill>
                <a:latin typeface="Consolas"/>
              </a:rPr>
              <a:t>      f" spread {tab['avg_score'].max() - tab['avg_score'].min():.2f} marks")</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out/eda07_group_agg.txt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610" b="0" i="0">
                <a:solidFill>
                  <a:srgbClr val="14171C"/>
                </a:solidFill>
                <a:latin typeface="Consolas"/>
              </a:rPr>
              <a:t>$ python3 src/eda07_group_agg.py data/student_performance.csv</a:t>
            </a:r>
          </a:p>
          <a:p>
            <a:pPr>
              <a:lnSpc>
                <a:spcPct val="100000"/>
              </a:lnSpc>
              <a:spcBef>
                <a:spcPts val="0"/>
              </a:spcBef>
              <a:spcAft>
                <a:spcPts val="60"/>
              </a:spcAft>
            </a:pPr>
            <a:r>
              <a:rPr sz="610" b="0" i="0">
                <a:solidFill>
                  <a:srgbClr val="14171C"/>
                </a:solidFill>
                <a:latin typeface="Consolas"/>
              </a:rPr>
              <a:t>== EDA-07  groupby: the dataset's habit of becoming a summary table ==</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one categorical, three questions — count, average, ceiling:</a:t>
            </a:r>
          </a:p>
          <a:p>
            <a:pPr>
              <a:lnSpc>
                <a:spcPct val="100000"/>
              </a:lnSpc>
              <a:spcBef>
                <a:spcPts val="0"/>
              </a:spcBef>
              <a:spcAft>
                <a:spcPts val="60"/>
              </a:spcAft>
            </a:pPr>
            <a:r>
              <a:rPr sz="610" b="0" i="0">
                <a:solidFill>
                  <a:srgbClr val="14171C"/>
                </a:solidFill>
                <a:latin typeface="Consolas"/>
              </a:rPr>
              <a:t>                  n  avg_score  max_score  avg_hours</a:t>
            </a:r>
          </a:p>
          <a:p>
            <a:pPr>
              <a:lnSpc>
                <a:spcPct val="100000"/>
              </a:lnSpc>
              <a:spcBef>
                <a:spcPts val="0"/>
              </a:spcBef>
              <a:spcAft>
                <a:spcPts val="60"/>
              </a:spcAft>
            </a:pPr>
            <a:r>
              <a:rPr sz="610" b="0" i="0">
                <a:solidFill>
                  <a:srgbClr val="14171C"/>
                </a:solidFill>
                <a:latin typeface="Consolas"/>
              </a:rPr>
              <a:t>race_ethnicity                                      </a:t>
            </a:r>
          </a:p>
          <a:p>
            <a:pPr>
              <a:lnSpc>
                <a:spcPct val="100000"/>
              </a:lnSpc>
              <a:spcBef>
                <a:spcPts val="0"/>
              </a:spcBef>
              <a:spcAft>
                <a:spcPts val="60"/>
              </a:spcAft>
            </a:pPr>
            <a:r>
              <a:rPr sz="610" b="0" i="0">
                <a:solidFill>
                  <a:srgbClr val="14171C"/>
                </a:solidFill>
                <a:latin typeface="Consolas"/>
              </a:rPr>
              <a:t>group A         185      66.54        100       5.80</a:t>
            </a:r>
          </a:p>
          <a:p>
            <a:pPr>
              <a:lnSpc>
                <a:spcPct val="100000"/>
              </a:lnSpc>
              <a:spcBef>
                <a:spcPts val="0"/>
              </a:spcBef>
              <a:spcAft>
                <a:spcPts val="60"/>
              </a:spcAft>
            </a:pPr>
            <a:r>
              <a:rPr sz="610" b="0" i="0">
                <a:solidFill>
                  <a:srgbClr val="14171C"/>
                </a:solidFill>
                <a:latin typeface="Consolas"/>
              </a:rPr>
              <a:t>group C         130      67.35        100       5.71</a:t>
            </a:r>
          </a:p>
          <a:p>
            <a:pPr>
              <a:lnSpc>
                <a:spcPct val="100000"/>
              </a:lnSpc>
              <a:spcBef>
                <a:spcPts val="0"/>
              </a:spcBef>
              <a:spcAft>
                <a:spcPts val="60"/>
              </a:spcAft>
            </a:pPr>
            <a:r>
              <a:rPr sz="610" b="0" i="0">
                <a:solidFill>
                  <a:srgbClr val="14171C"/>
                </a:solidFill>
                <a:latin typeface="Consolas"/>
              </a:rPr>
              <a:t>group D          97      66.81        100       5.69</a:t>
            </a:r>
          </a:p>
          <a:p>
            <a:pPr>
              <a:lnSpc>
                <a:spcPct val="100000"/>
              </a:lnSpc>
              <a:spcBef>
                <a:spcPts val="0"/>
              </a:spcBef>
              <a:spcAft>
                <a:spcPts val="60"/>
              </a:spcAft>
            </a:pPr>
            <a:r>
              <a:rPr sz="610" b="0" i="0">
                <a:solidFill>
                  <a:srgbClr val="14171C"/>
                </a:solidFill>
                <a:latin typeface="Consolas"/>
              </a:rPr>
              <a:t>  -&gt; group C averages 67.35; group A is lowest at 66.54; spread 0.81 marks</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two keys at once (a MultiIndex result — and .loc to slice it):</a:t>
            </a:r>
          </a:p>
          <a:p>
            <a:pPr>
              <a:lnSpc>
                <a:spcPct val="100000"/>
              </a:lnSpc>
              <a:spcBef>
                <a:spcPts val="0"/>
              </a:spcBef>
              <a:spcAft>
                <a:spcPts val="60"/>
              </a:spcAft>
            </a:pPr>
            <a:r>
              <a:rPr sz="610" b="0" i="0">
                <a:solidFill>
                  <a:srgbClr val="14171C"/>
                </a:solidFill>
                <a:latin typeface="Consolas"/>
              </a:rPr>
              <a:t>lunch         prepared_course</a:t>
            </a:r>
          </a:p>
          <a:p>
            <a:pPr>
              <a:lnSpc>
                <a:spcPct val="100000"/>
              </a:lnSpc>
              <a:spcBef>
                <a:spcPts val="0"/>
              </a:spcBef>
              <a:spcAft>
                <a:spcPts val="60"/>
              </a:spcAft>
            </a:pPr>
            <a:r>
              <a:rPr sz="610" b="0" i="0">
                <a:solidFill>
                  <a:srgbClr val="14171C"/>
                </a:solidFill>
                <a:latin typeface="Consolas"/>
              </a:rPr>
              <a:t>free/reduced  completed          67.30</a:t>
            </a:r>
          </a:p>
          <a:p>
            <a:pPr>
              <a:lnSpc>
                <a:spcPct val="100000"/>
              </a:lnSpc>
              <a:spcBef>
                <a:spcPts val="0"/>
              </a:spcBef>
              <a:spcAft>
                <a:spcPts val="60"/>
              </a:spcAft>
            </a:pPr>
            <a:r>
              <a:rPr sz="610" b="0" i="0">
                <a:solidFill>
                  <a:srgbClr val="14171C"/>
                </a:solidFill>
                <a:latin typeface="Consolas"/>
              </a:rPr>
              <a:t>              none               62.27</a:t>
            </a:r>
          </a:p>
          <a:p>
            <a:pPr>
              <a:lnSpc>
                <a:spcPct val="100000"/>
              </a:lnSpc>
              <a:spcBef>
                <a:spcPts val="0"/>
              </a:spcBef>
              <a:spcAft>
                <a:spcPts val="60"/>
              </a:spcAft>
            </a:pPr>
            <a:r>
              <a:rPr sz="610" b="0" i="0">
                <a:solidFill>
                  <a:srgbClr val="14171C"/>
                </a:solidFill>
                <a:latin typeface="Consolas"/>
              </a:rPr>
              <a:t>standard      completed          67.17</a:t>
            </a:r>
          </a:p>
          <a:p>
            <a:pPr>
              <a:lnSpc>
                <a:spcPct val="100000"/>
              </a:lnSpc>
              <a:spcBef>
                <a:spcPts val="0"/>
              </a:spcBef>
              <a:spcAft>
                <a:spcPts val="60"/>
              </a:spcAft>
            </a:pPr>
            <a:r>
              <a:rPr sz="610" b="0" i="0">
                <a:solidFill>
                  <a:srgbClr val="14171C"/>
                </a:solidFill>
                <a:latin typeface="Consolas"/>
              </a:rPr>
              <a:t>              none               67.48</a:t>
            </a:r>
          </a:p>
          <a:p>
            <a:pPr>
              <a:lnSpc>
                <a:spcPct val="100000"/>
              </a:lnSpc>
              <a:spcBef>
                <a:spcPts val="0"/>
              </a:spcBef>
              <a:spcAft>
                <a:spcPts val="60"/>
              </a:spcAft>
            </a:pPr>
            <a:r>
              <a:rPr sz="610" b="0" i="0">
                <a:solidFill>
                  <a:srgbClr val="14171C"/>
                </a:solidFill>
                <a:latin typeface="Consolas"/>
              </a:rPr>
              <a:t>  slice it: t2.loc['free/reduced'] -&gt; {'completed': 67.3, 'none': 62.27}</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the trap the exam loves: NaN and groupby</a:t>
            </a:r>
          </a:p>
          <a:p>
            <a:pPr>
              <a:lnSpc>
                <a:spcPct val="100000"/>
              </a:lnSpc>
              <a:spcBef>
                <a:spcPts val="0"/>
              </a:spcBef>
              <a:spcAft>
                <a:spcPts val="60"/>
              </a:spcAft>
            </a:pPr>
            <a:r>
              <a:rPr sz="610" b="0" i="0">
                <a:solidFill>
                  <a:srgbClr val="14171C"/>
                </a:solidFill>
                <a:latin typeface="Consolas"/>
              </a:rPr>
              <a:t>  groupby drops NaN groups by default — 53 rows carry a missing group label;</a:t>
            </a:r>
          </a:p>
          <a:p>
            <a:pPr>
              <a:lnSpc>
                <a:spcPct val="100000"/>
              </a:lnSpc>
              <a:spcBef>
                <a:spcPts val="0"/>
              </a:spcBef>
              <a:spcAft>
                <a:spcPts val="60"/>
              </a:spcAft>
            </a:pPr>
            <a:r>
              <a:rPr sz="610" b="0" i="0">
                <a:solidFill>
                  <a:srgbClr val="14171C"/>
                </a:solidFill>
                <a:latin typeface="Consolas"/>
              </a:rPr>
              <a:t>…  3 more lines omitted — complete listing in the course book  …</a:t>
            </a:r>
          </a:p>
          <a:p>
            <a:pPr>
              <a:lnSpc>
                <a:spcPct val="100000"/>
              </a:lnSpc>
              <a:spcBef>
                <a:spcPts val="0"/>
              </a:spcBef>
              <a:spcAft>
                <a:spcPts val="60"/>
              </a:spcAft>
            </a:pPr>
            <a:r>
              <a:rPr sz="610" b="0" i="0">
                <a:solidFill>
                  <a:srgbClr val="14171C"/>
                </a:solidFill>
                <a:latin typeface="Consolas"/>
              </a:rPr>
              <a:t>pivot: same numbers, different shape (rows=lunch, cols=product of prep):</a:t>
            </a:r>
          </a:p>
          <a:p>
            <a:pPr>
              <a:lnSpc>
                <a:spcPct val="100000"/>
              </a:lnSpc>
              <a:spcBef>
                <a:spcPts val="0"/>
              </a:spcBef>
              <a:spcAft>
                <a:spcPts val="60"/>
              </a:spcAft>
            </a:pPr>
            <a:r>
              <a:rPr sz="610" b="0" i="0">
                <a:solidFill>
                  <a:srgbClr val="14171C"/>
                </a:solidFill>
                <a:latin typeface="Consolas"/>
              </a:rPr>
              <a:t>prepared_course  completed   none</a:t>
            </a:r>
          </a:p>
          <a:p>
            <a:pPr>
              <a:lnSpc>
                <a:spcPct val="100000"/>
              </a:lnSpc>
              <a:spcBef>
                <a:spcPts val="0"/>
              </a:spcBef>
              <a:spcAft>
                <a:spcPts val="60"/>
              </a:spcAft>
            </a:pPr>
            <a:r>
              <a:rPr sz="610" b="0" i="0">
                <a:solidFill>
                  <a:srgbClr val="14171C"/>
                </a:solidFill>
                <a:latin typeface="Consolas"/>
              </a:rPr>
              <a:t>lunch                            </a:t>
            </a:r>
          </a:p>
          <a:p>
            <a:pPr>
              <a:lnSpc>
                <a:spcPct val="100000"/>
              </a:lnSpc>
              <a:spcBef>
                <a:spcPts val="0"/>
              </a:spcBef>
              <a:spcAft>
                <a:spcPts val="60"/>
              </a:spcAft>
            </a:pPr>
            <a:r>
              <a:rPr sz="610" b="0" i="0">
                <a:solidFill>
                  <a:srgbClr val="14171C"/>
                </a:solidFill>
                <a:latin typeface="Consolas"/>
              </a:rPr>
              <a:t>free/reduced         67.30  62.27</a:t>
            </a:r>
          </a:p>
          <a:p>
            <a:pPr>
              <a:lnSpc>
                <a:spcPct val="100000"/>
              </a:lnSpc>
              <a:spcBef>
                <a:spcPts val="0"/>
              </a:spcBef>
              <a:spcAft>
                <a:spcPts val="60"/>
              </a:spcAft>
            </a:pPr>
            <a:r>
              <a:rPr sz="610" b="0" i="0">
                <a:solidFill>
                  <a:srgbClr val="14171C"/>
                </a:solidFill>
                <a:latin typeface="Consolas"/>
              </a:rPr>
              <a:t>standard             67.17  67.48</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EDA07 RESULT: 3-key summary tables built by groupby+agg and pivot_table, NaN-grouping rule demonstrated -- PASS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7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33</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Named agg keeps the result a table of answers: each group contributes n, avg_score, max_score, avg_hours in one call, and the read-out prints</a:t>
            </a:r>
            <a:r>
              <a:rPr sz="1150" b="0" i="0">
                <a:solidFill>
                  <a:srgbClr val="B3261E"/>
                </a:solidFill>
                <a:latin typeface="Consolas"/>
              </a:rPr>
              <a:t>group C averages 67.35; group A is lowest at 66.54; spread 0.81 marks</a:t>
            </a:r>
            <a:r>
              <a:rPr sz="1250" b="0" i="0">
                <a:solidFill>
                  <a:srgbClr val="16181D"/>
                </a:solidFill>
                <a:latin typeface="Calibri"/>
              </a:rPr>
              <a: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Two keys change the index, not the idea — the (lunch, prepared_course) table is four rows under a MultiIndex, and the slice that rescues readability is the printed</a:t>
            </a:r>
            <a:r>
              <a:rPr sz="1150" b="0" i="0">
                <a:solidFill>
                  <a:srgbClr val="B3261E"/>
                </a:solidFill>
                <a:latin typeface="Consolas"/>
              </a:rPr>
              <a:t>t2.loc['free/reduced']</a:t>
            </a:r>
            <a:r>
              <a:rPr sz="1250" b="0" i="0">
                <a:solidFill>
                  <a:srgbClr val="16181D"/>
                </a:solidFill>
                <a:latin typeface="Calibri"/>
              </a:rPr>
              <a:t>— one line down, ordinary rows again.</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combination that matters is the cross-one: free/reduced's completed/none cells print 67.30 against</a:t>
            </a:r>
            <a:r>
              <a:rPr sz="1150" b="0" i="0">
                <a:solidFill>
                  <a:srgbClr val="B3261E"/>
                </a:solidFill>
                <a:latin typeface="Consolas"/>
              </a:rPr>
              <a:t>62.27</a:t>
            </a:r>
            <a:r>
              <a:rPr sz="1250" b="0" i="0">
                <a:solidFill>
                  <a:srgbClr val="16181D"/>
                </a:solidFill>
                <a:latin typeface="Calibri"/>
              </a:rPr>
              <a:t>, while standard-completed sits at</a:t>
            </a:r>
            <a:r>
              <a:rPr sz="1150" b="0" i="0">
                <a:solidFill>
                  <a:srgbClr val="B3261E"/>
                </a:solidFill>
                <a:latin typeface="Consolas"/>
              </a:rPr>
              <a:t>67.17</a:t>
            </a:r>
            <a:r>
              <a:rPr sz="1250" b="0" i="0">
                <a:solidFill>
                  <a:srgbClr val="16181D"/>
                </a:solidFill>
                <a:latin typeface="Calibri"/>
              </a:rPr>
              <a:t>— the disparity the marginal report would have averaged away.</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NaN trap is demonstrated, not warned:</a:t>
            </a:r>
            <a:r>
              <a:rPr sz="1150" b="0" i="0">
                <a:solidFill>
                  <a:srgbClr val="B3261E"/>
                </a:solidFill>
                <a:latin typeface="Consolas"/>
              </a:rPr>
              <a:t>groupby drops NaN groups by default — 53 rows carry a missing group label</a:t>
            </a:r>
            <a:r>
              <a:rPr sz="1250" b="0" i="0">
                <a:solidFill>
                  <a:srgbClr val="16181D"/>
                </a:solidFill>
                <a:latin typeface="Calibri"/>
              </a:rPr>
              <a:t>; the race table loses nothing (412 of 412), the parental_education version would lose exactly 53.</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Every group table should carry its size: the n column beside the means is what stops a 97-row group from rhetorically equalling a 185-row one — the capture prints both in the same table, so a caption cannot forget.</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State split-apply-combine in one sentence, then point at the capture line that instantiates each clause.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Why does groupby(drop groups with NaN keys) drop whole rows from the result, and when is that right?</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agg with names versus multiple functions per column: which suits a report table?</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Split: the printed blocks are keyed per group (group A/C/D, once each). Apply: four named reductions per group (size, mean, max, mean of hours). Combine: the result is one frame indexed by the categorical — the table itself is the combine step.</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Summaries at all three depths, with the silent-loss rule made visible — EDA07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Experiment 8 — Exploratory statistics: shape, spread, anomalies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34</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950" b="0" i="0">
                <a:solidFill>
                  <a:srgbClr val="16181D"/>
                </a:solidFill>
                <a:latin typeface="Calibri"/>
              </a:rPr>
              <a:t>Conduct exploratory statistical analysis on a dataset by generating descriptive statistics and identifying patterns, variations, and unusual observations. Interpret the results to understand the overall behavior of the dataset and support data-driven decision-making. (a) Expected Input: Real-world dataset. … (full text: the verbatim box in the course book)</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src/eda08_explore_stats.py</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"""EDA-08  exploratory statistics: quartiles, IQR fences, skew, the unusual rows.</a:t>
            </a:r>
          </a:p>
          <a:p>
            <a:pPr>
              <a:lnSpc>
                <a:spcPct val="100000"/>
              </a:lnSpc>
              <a:spcBef>
                <a:spcPts val="0"/>
              </a:spcBef>
              <a:spcAft>
                <a:spcPts val="60"/>
              </a:spcAft>
            </a:pPr>
            <a:r>
              <a:rPr sz="700" b="0" i="0">
                <a:solidFill>
                  <a:srgbClr val="E5E7EB"/>
                </a:solidFill>
                <a:latin typeface="Consolas"/>
              </a:rPr>
              <a:t>Usage: python3 src/eda08_explore_stats.py data/student_performance.csv</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numpy as np</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df = pd.read_csv(sys.argv[1])</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EDA-08  the dataset's behaviour report: spread, skew, outliers, odd pairs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sc = df["score"]</a:t>
            </a:r>
          </a:p>
          <a:p>
            <a:pPr>
              <a:lnSpc>
                <a:spcPct val="100000"/>
              </a:lnSpc>
              <a:spcBef>
                <a:spcPts val="0"/>
              </a:spcBef>
              <a:spcAft>
                <a:spcPts val="60"/>
              </a:spcAft>
            </a:pPr>
            <a:r>
              <a:rPr sz="700" b="0" i="0">
                <a:solidFill>
                  <a:srgbClr val="E5E7EB"/>
                </a:solidFill>
                <a:latin typeface="Consolas"/>
              </a:rPr>
              <a:t>q1, q2, q3 = np.percentile(sc, [25, 50, 75])</a:t>
            </a:r>
          </a:p>
          <a:p>
            <a:pPr>
              <a:lnSpc>
                <a:spcPct val="100000"/>
              </a:lnSpc>
              <a:spcBef>
                <a:spcPts val="0"/>
              </a:spcBef>
              <a:spcAft>
                <a:spcPts val="60"/>
              </a:spcAft>
            </a:pPr>
            <a:r>
              <a:rPr sz="700" b="0" i="0">
                <a:solidFill>
                  <a:srgbClr val="E5E7EB"/>
                </a:solidFill>
                <a:latin typeface="Consolas"/>
              </a:rPr>
              <a:t>iqr = q3 - q1</a:t>
            </a:r>
          </a:p>
          <a:p>
            <a:pPr>
              <a:lnSpc>
                <a:spcPct val="100000"/>
              </a:lnSpc>
              <a:spcBef>
                <a:spcPts val="0"/>
              </a:spcBef>
              <a:spcAft>
                <a:spcPts val="60"/>
              </a:spcAft>
            </a:pPr>
            <a:r>
              <a:rPr sz="700" b="0" i="0">
                <a:solidFill>
                  <a:srgbClr val="E5E7EB"/>
                </a:solidFill>
                <a:latin typeface="Consolas"/>
              </a:rPr>
              <a:t>lo, hi = q1 - 1.5 * iqr, q3 + 1.5 * iqr</a:t>
            </a:r>
          </a:p>
          <a:p>
            <a:pPr>
              <a:lnSpc>
                <a:spcPct val="100000"/>
              </a:lnSpc>
              <a:spcBef>
                <a:spcPts val="0"/>
              </a:spcBef>
              <a:spcAft>
                <a:spcPts val="60"/>
              </a:spcAft>
            </a:pPr>
            <a:r>
              <a:rPr sz="700" b="0" i="0">
                <a:solidFill>
                  <a:srgbClr val="E5E7EB"/>
                </a:solidFill>
                <a:latin typeface="Consolas"/>
              </a:rPr>
              <a:t>n_out = int(((sc &lt; lo) | (sc &gt; hi)).sum())</a:t>
            </a:r>
          </a:p>
          <a:p>
            <a:pPr>
              <a:lnSpc>
                <a:spcPct val="100000"/>
              </a:lnSpc>
              <a:spcBef>
                <a:spcPts val="0"/>
              </a:spcBef>
              <a:spcAft>
                <a:spcPts val="60"/>
              </a:spcAft>
            </a:pPr>
            <a:r>
              <a:rPr sz="700" b="0" i="0">
                <a:solidFill>
                  <a:srgbClr val="E5E7EB"/>
                </a:solidFill>
                <a:latin typeface="Consolas"/>
              </a:rPr>
              <a:t>print("score: the five-number summary and the fences built on it")</a:t>
            </a:r>
          </a:p>
          <a:p>
            <a:pPr>
              <a:lnSpc>
                <a:spcPct val="100000"/>
              </a:lnSpc>
              <a:spcBef>
                <a:spcPts val="0"/>
              </a:spcBef>
              <a:spcAft>
                <a:spcPts val="60"/>
              </a:spcAft>
            </a:pPr>
            <a:r>
              <a:rPr sz="700" b="0" i="0">
                <a:solidFill>
                  <a:srgbClr val="E5E7EB"/>
                </a:solidFill>
                <a:latin typeface="Consolas"/>
              </a:rPr>
              <a:t>print(f"  min {sc.min():.0f}  Q1 {q1:.1f}  med {q2:.1f}  Q3 {q3:.1f}"</a:t>
            </a:r>
          </a:p>
          <a:p>
            <a:pPr>
              <a:lnSpc>
                <a:spcPct val="100000"/>
              </a:lnSpc>
              <a:spcBef>
                <a:spcPts val="0"/>
              </a:spcBef>
              <a:spcAft>
                <a:spcPts val="60"/>
              </a:spcAft>
            </a:pPr>
            <a:r>
              <a:rPr sz="700" b="0" i="0">
                <a:solidFill>
                  <a:srgbClr val="E5E7EB"/>
                </a:solidFill>
                <a:latin typeface="Consolas"/>
              </a:rPr>
              <a:t>      f"  max {sc.max():.0f}  IQR {iqr:.1f}")</a:t>
            </a:r>
          </a:p>
          <a:p>
            <a:pPr>
              <a:lnSpc>
                <a:spcPct val="100000"/>
              </a:lnSpc>
              <a:spcBef>
                <a:spcPts val="0"/>
              </a:spcBef>
              <a:spcAft>
                <a:spcPts val="60"/>
              </a:spcAft>
            </a:pPr>
            <a:r>
              <a:rPr sz="700" b="0" i="0">
                <a:solidFill>
                  <a:srgbClr val="E5E7EB"/>
                </a:solidFill>
                <a:latin typeface="Consolas"/>
              </a:rPr>
              <a:t>print(f"  Tukey fences: [{lo:.1f}, {hi:.1f}]  -&gt; points outside: {n_out}"</a:t>
            </a:r>
          </a:p>
          <a:p>
            <a:pPr>
              <a:lnSpc>
                <a:spcPct val="100000"/>
              </a:lnSpc>
              <a:spcBef>
                <a:spcPts val="0"/>
              </a:spcBef>
              <a:spcAft>
                <a:spcPts val="60"/>
              </a:spcAft>
            </a:pPr>
            <a:r>
              <a:rPr sz="700" b="0" i="0">
                <a:solidFill>
                  <a:srgbClr val="E5E7EB"/>
                </a:solidFill>
                <a:latin typeface="Consolas"/>
              </a:rPr>
              <a:t>      f" — the cap at 100 and the floor make this distribution fence-safe;")</a:t>
            </a:r>
          </a:p>
          <a:p>
            <a:pPr>
              <a:lnSpc>
                <a:spcPct val="100000"/>
              </a:lnSpc>
              <a:spcBef>
                <a:spcPts val="0"/>
              </a:spcBef>
              <a:spcAft>
                <a:spcPts val="60"/>
              </a:spcAft>
            </a:pPr>
            <a:r>
              <a:rPr sz="700" b="0" i="0">
                <a:solidFill>
                  <a:srgbClr val="E5E7EB"/>
                </a:solidFill>
                <a:latin typeface="Consolas"/>
              </a:rPr>
              <a:t>print("  fences are a screening net, not a verdict: still count them, still say why")</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out/eda08_explore_stats.txt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650" b="0" i="0">
                <a:solidFill>
                  <a:srgbClr val="14171C"/>
                </a:solidFill>
                <a:latin typeface="Consolas"/>
              </a:rPr>
              <a:t>$ python3 src/eda08_explore_stats.py data/student_performance.csv</a:t>
            </a:r>
          </a:p>
          <a:p>
            <a:pPr>
              <a:lnSpc>
                <a:spcPct val="100000"/>
              </a:lnSpc>
              <a:spcBef>
                <a:spcPts val="0"/>
              </a:spcBef>
              <a:spcAft>
                <a:spcPts val="60"/>
              </a:spcAft>
            </a:pPr>
            <a:r>
              <a:rPr sz="650" b="0" i="0">
                <a:solidFill>
                  <a:srgbClr val="14171C"/>
                </a:solidFill>
                <a:latin typeface="Consolas"/>
              </a:rPr>
              <a:t>== EDA-08  the dataset's behaviour report: spread, skew, outliers, odd pairs ==</a:t>
            </a:r>
          </a:p>
          <a:p>
            <a:pPr>
              <a:lnSpc>
                <a:spcPct val="100000"/>
              </a:lnSpc>
              <a:spcBef>
                <a:spcPts val="0"/>
              </a:spcBef>
              <a:spcAft>
                <a:spcPts val="60"/>
              </a:spcAft>
            </a:pPr>
            <a:r>
              <a:rPr sz="650" b="0" i="0">
                <a:solidFill>
                  <a:srgbClr val="14171C"/>
                </a:solidFill>
                <a:latin typeface="Consolas"/>
              </a:rPr>
              <a:t> </a:t>
            </a:r>
          </a:p>
          <a:p>
            <a:pPr>
              <a:lnSpc>
                <a:spcPct val="100000"/>
              </a:lnSpc>
              <a:spcBef>
                <a:spcPts val="0"/>
              </a:spcBef>
              <a:spcAft>
                <a:spcPts val="60"/>
              </a:spcAft>
            </a:pPr>
            <a:r>
              <a:rPr sz="650" b="0" i="0">
                <a:solidFill>
                  <a:srgbClr val="14171C"/>
                </a:solidFill>
                <a:latin typeface="Consolas"/>
              </a:rPr>
              <a:t>score: the five-number summary and the fences built on it</a:t>
            </a:r>
          </a:p>
          <a:p>
            <a:pPr>
              <a:lnSpc>
                <a:spcPct val="100000"/>
              </a:lnSpc>
              <a:spcBef>
                <a:spcPts val="0"/>
              </a:spcBef>
              <a:spcAft>
                <a:spcPts val="60"/>
              </a:spcAft>
            </a:pPr>
            <a:r>
              <a:rPr sz="650" b="0" i="0">
                <a:solidFill>
                  <a:srgbClr val="14171C"/>
                </a:solidFill>
                <a:latin typeface="Consolas"/>
              </a:rPr>
              <a:t>  min 38  Q1 56.0  med 65.0  Q3 76.0  max 100  IQR 20.0</a:t>
            </a:r>
          </a:p>
          <a:p>
            <a:pPr>
              <a:lnSpc>
                <a:spcPct val="100000"/>
              </a:lnSpc>
              <a:spcBef>
                <a:spcPts val="0"/>
              </a:spcBef>
              <a:spcAft>
                <a:spcPts val="60"/>
              </a:spcAft>
            </a:pPr>
            <a:r>
              <a:rPr sz="650" b="0" i="0">
                <a:solidFill>
                  <a:srgbClr val="14171C"/>
                </a:solidFill>
                <a:latin typeface="Consolas"/>
              </a:rPr>
              <a:t>  Tukey fences: [26.0, 106.0]  -&gt; points outside: 0 — the cap at 100 and the floor make this distribution fence-safe;</a:t>
            </a:r>
          </a:p>
          <a:p>
            <a:pPr>
              <a:lnSpc>
                <a:spcPct val="100000"/>
              </a:lnSpc>
              <a:spcBef>
                <a:spcPts val="0"/>
              </a:spcBef>
              <a:spcAft>
                <a:spcPts val="60"/>
              </a:spcAft>
            </a:pPr>
            <a:r>
              <a:rPr sz="650" b="0" i="0">
                <a:solidFill>
                  <a:srgbClr val="14171C"/>
                </a:solidFill>
                <a:latin typeface="Consolas"/>
              </a:rPr>
              <a:t>  fences are a screening net, not a verdict: still count them, still say why</a:t>
            </a:r>
          </a:p>
          <a:p>
            <a:pPr>
              <a:lnSpc>
                <a:spcPct val="100000"/>
              </a:lnSpc>
              <a:spcBef>
                <a:spcPts val="0"/>
              </a:spcBef>
              <a:spcAft>
                <a:spcPts val="60"/>
              </a:spcAft>
            </a:pPr>
            <a:r>
              <a:rPr sz="650" b="0" i="0">
                <a:solidFill>
                  <a:srgbClr val="14171C"/>
                </a:solidFill>
                <a:latin typeface="Consolas"/>
              </a:rPr>
              <a:t> </a:t>
            </a:r>
          </a:p>
          <a:p>
            <a:pPr>
              <a:lnSpc>
                <a:spcPct val="100000"/>
              </a:lnSpc>
              <a:spcBef>
                <a:spcPts val="0"/>
              </a:spcBef>
              <a:spcAft>
                <a:spcPts val="60"/>
              </a:spcAft>
            </a:pPr>
            <a:r>
              <a:rPr sz="650" b="0" i="0">
                <a:solidFill>
                  <a:srgbClr val="14171C"/>
                </a:solidFill>
                <a:latin typeface="Consolas"/>
              </a:rPr>
              <a:t>study_hours: skew read three ways, and believed once</a:t>
            </a:r>
          </a:p>
          <a:p>
            <a:pPr>
              <a:lnSpc>
                <a:spcPct val="100000"/>
              </a:lnSpc>
              <a:spcBef>
                <a:spcPts val="0"/>
              </a:spcBef>
              <a:spcAft>
                <a:spcPts val="60"/>
              </a:spcAft>
            </a:pPr>
            <a:r>
              <a:rPr sz="650" b="0" i="0">
                <a:solidFill>
                  <a:srgbClr val="14171C"/>
                </a:solidFill>
                <a:latin typeface="Consolas"/>
              </a:rPr>
              <a:t>  pandas skew: 1.487   (positive = long right tail)</a:t>
            </a:r>
          </a:p>
          <a:p>
            <a:pPr>
              <a:lnSpc>
                <a:spcPct val="100000"/>
              </a:lnSpc>
              <a:spcBef>
                <a:spcPts val="0"/>
              </a:spcBef>
              <a:spcAft>
                <a:spcPts val="60"/>
              </a:spcAft>
            </a:pPr>
            <a:r>
              <a:rPr sz="650" b="0" i="0">
                <a:solidFill>
                  <a:srgbClr val="14171C"/>
                </a:solidFill>
                <a:latin typeface="Consolas"/>
              </a:rPr>
              <a:t>  mean-median gap: +0.85 h</a:t>
            </a:r>
          </a:p>
          <a:p>
            <a:pPr>
              <a:lnSpc>
                <a:spcPct val="100000"/>
              </a:lnSpc>
              <a:spcBef>
                <a:spcPts val="0"/>
              </a:spcBef>
              <a:spcAft>
                <a:spcPts val="60"/>
              </a:spcAft>
            </a:pPr>
            <a:r>
              <a:rPr sz="650" b="0" i="0">
                <a:solidFill>
                  <a:srgbClr val="14171C"/>
                </a:solidFill>
                <a:latin typeface="Consolas"/>
              </a:rPr>
              <a:t>  quartile check: (Q1+Q3)/2 - median = +0.600</a:t>
            </a:r>
          </a:p>
          <a:p>
            <a:pPr>
              <a:lnSpc>
                <a:spcPct val="100000"/>
              </a:lnSpc>
              <a:spcBef>
                <a:spcPts val="0"/>
              </a:spcBef>
              <a:spcAft>
                <a:spcPts val="60"/>
              </a:spcAft>
            </a:pPr>
            <a:r>
              <a:rPr sz="650" b="0" i="0">
                <a:solidFill>
                  <a:srgbClr val="14171C"/>
                </a:solidFill>
                <a:latin typeface="Consolas"/>
              </a:rPr>
              <a:t>  -&gt; all three point the same way; the mean is the only one that lied by size</a:t>
            </a:r>
          </a:p>
          <a:p>
            <a:pPr>
              <a:lnSpc>
                <a:spcPct val="100000"/>
              </a:lnSpc>
              <a:spcBef>
                <a:spcPts val="0"/>
              </a:spcBef>
              <a:spcAft>
                <a:spcPts val="60"/>
              </a:spcAft>
            </a:pPr>
            <a:r>
              <a:rPr sz="650" b="0" i="0">
                <a:solidFill>
                  <a:srgbClr val="14171C"/>
                </a:solidFill>
                <a:latin typeface="Consolas"/>
              </a:rPr>
              <a:t> </a:t>
            </a:r>
          </a:p>
          <a:p>
            <a:pPr>
              <a:lnSpc>
                <a:spcPct val="100000"/>
              </a:lnSpc>
              <a:spcBef>
                <a:spcPts val="0"/>
              </a:spcBef>
              <a:spcAft>
                <a:spcPts val="60"/>
              </a:spcAft>
            </a:pPr>
            <a:r>
              <a:rPr sz="650" b="0" i="0">
                <a:solidFill>
                  <a:srgbClr val="14171C"/>
                </a:solidFill>
                <a:latin typeface="Consolas"/>
              </a:rPr>
              <a:t>shape beyond the mean: zero-inflation is a pattern, not noise</a:t>
            </a:r>
          </a:p>
          <a:p>
            <a:pPr>
              <a:lnSpc>
                <a:spcPct val="100000"/>
              </a:lnSpc>
              <a:spcBef>
                <a:spcPts val="0"/>
              </a:spcBef>
              <a:spcAft>
                <a:spcPts val="60"/>
              </a:spcAft>
            </a:pPr>
            <a:r>
              <a:rPr sz="650" b="0" i="0">
                <a:solidFill>
                  <a:srgbClr val="14171C"/>
                </a:solidFill>
                <a:latin typeface="Consolas"/>
              </a:rPr>
              <a:t>…  2 more lines omitted — complete listing in the course book  …</a:t>
            </a:r>
          </a:p>
          <a:p>
            <a:pPr>
              <a:lnSpc>
                <a:spcPct val="100000"/>
              </a:lnSpc>
              <a:spcBef>
                <a:spcPts val="0"/>
              </a:spcBef>
              <a:spcAft>
                <a:spcPts val="60"/>
              </a:spcAft>
            </a:pPr>
            <a:r>
              <a:rPr sz="650" b="0" i="0">
                <a:solidFill>
                  <a:srgbClr val="14171C"/>
                </a:solidFill>
                <a:latin typeface="Consolas"/>
              </a:rPr>
              <a:t> </a:t>
            </a:r>
          </a:p>
          <a:p>
            <a:pPr>
              <a:lnSpc>
                <a:spcPct val="100000"/>
              </a:lnSpc>
              <a:spcBef>
                <a:spcPts val="0"/>
              </a:spcBef>
              <a:spcAft>
                <a:spcPts val="60"/>
              </a:spcAft>
            </a:pPr>
            <a:r>
              <a:rPr sz="650" b="0" i="0">
                <a:solidFill>
                  <a:srgbClr val="14171C"/>
                </a:solidFill>
                <a:latin typeface="Consolas"/>
              </a:rPr>
              <a:t>unusual observations the report should name:</a:t>
            </a:r>
          </a:p>
          <a:p>
            <a:pPr>
              <a:lnSpc>
                <a:spcPct val="100000"/>
              </a:lnSpc>
              <a:spcBef>
                <a:spcPts val="0"/>
              </a:spcBef>
              <a:spcAft>
                <a:spcPts val="60"/>
              </a:spcAft>
            </a:pPr>
            <a:r>
              <a:rPr sz="650" b="0" i="0">
                <a:solidFill>
                  <a:srgbClr val="14171C"/>
                </a:solidFill>
                <a:latin typeface="Consolas"/>
              </a:rPr>
              <a:t>  4+ absences yet score &gt;= 85: 2 student(s) — attending little, scoring high; worth a footnote either way</a:t>
            </a:r>
          </a:p>
          <a:p>
            <a:pPr>
              <a:lnSpc>
                <a:spcPct val="100000"/>
              </a:lnSpc>
              <a:spcBef>
                <a:spcPts val="0"/>
              </a:spcBef>
              <a:spcAft>
                <a:spcPts val="60"/>
              </a:spcAft>
            </a:pPr>
            <a:r>
              <a:rPr sz="650" b="0" i="0">
                <a:solidFill>
                  <a:srgbClr val="14171C"/>
                </a:solidFill>
                <a:latin typeface="Consolas"/>
              </a:rPr>
              <a:t>  &gt;= 9h/week studying yet score &lt; 60: 1 student(s) — hours without method; the kind of row that motivates interviews</a:t>
            </a:r>
          </a:p>
          <a:p>
            <a:pPr>
              <a:lnSpc>
                <a:spcPct val="100000"/>
              </a:lnSpc>
              <a:spcBef>
                <a:spcPts val="0"/>
              </a:spcBef>
              <a:spcAft>
                <a:spcPts val="60"/>
              </a:spcAft>
            </a:pPr>
            <a:r>
              <a:rPr sz="650" b="0" i="0">
                <a:solidFill>
                  <a:srgbClr val="14171C"/>
                </a:solidFill>
                <a:latin typeface="Consolas"/>
              </a:rPr>
              <a:t>  no prep course yet score &gt;= 90: 20 student(s)</a:t>
            </a:r>
          </a:p>
          <a:p>
            <a:pPr>
              <a:lnSpc>
                <a:spcPct val="100000"/>
              </a:lnSpc>
              <a:spcBef>
                <a:spcPts val="0"/>
              </a:spcBef>
              <a:spcAft>
                <a:spcPts val="60"/>
              </a:spcAft>
            </a:pPr>
            <a:r>
              <a:rPr sz="650" b="0" i="0">
                <a:solidFill>
                  <a:srgbClr val="14171C"/>
                </a:solidFill>
                <a:latin typeface="Consolas"/>
              </a:rPr>
              <a:t> </a:t>
            </a:r>
          </a:p>
          <a:p>
            <a:pPr>
              <a:lnSpc>
                <a:spcPct val="100000"/>
              </a:lnSpc>
              <a:spcBef>
                <a:spcPts val="0"/>
              </a:spcBef>
              <a:spcAft>
                <a:spcPts val="60"/>
              </a:spcAft>
            </a:pPr>
            <a:r>
              <a:rPr sz="650" b="0" i="0">
                <a:solidFill>
                  <a:srgbClr val="14171C"/>
                </a:solidFill>
                <a:latin typeface="Consolas"/>
              </a:rPr>
              <a:t>EDA08 RESULT: spread, skew, zero-inflation and three anomaly counts — every number computed from the frame -- PASS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8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35</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Everything on score from one printed line: min 38, Q1 56.0, median 65.0, Q3 76.0, max 100,</a:t>
            </a:r>
            <a:r>
              <a:rPr sz="1150" b="0" i="0">
                <a:solidFill>
                  <a:srgbClr val="B3261E"/>
                </a:solidFill>
                <a:latin typeface="Consolas"/>
              </a:rPr>
              <a:t>IQR 20.0</a:t>
            </a:r>
            <a:r>
              <a:rPr sz="1250" b="0" i="0">
                <a:solidFill>
                  <a:srgbClr val="16181D"/>
                </a:solidFill>
                <a:latin typeface="Calibri"/>
              </a:rPr>
              <a:t>— and the fences built on it print</a:t>
            </a:r>
            <a:r>
              <a:rPr sz="1150" b="0" i="0">
                <a:solidFill>
                  <a:srgbClr val="B3261E"/>
                </a:solidFill>
                <a:latin typeface="Consolas"/>
              </a:rPr>
              <a:t>points outside: 0</a:t>
            </a:r>
            <a:r>
              <a:rPr sz="1250" b="0" i="0">
                <a:solidFill>
                  <a:srgbClr val="16181D"/>
                </a:solidFill>
                <a:latin typeface="Calibri"/>
              </a:rPr>
              <a:t>: the 0-and-100 bounds make this variable fence-safe, which is itself the finding the program writes down.</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Skew agreed upon three ways:</a:t>
            </a:r>
            <a:r>
              <a:rPr sz="1150" b="0" i="0">
                <a:solidFill>
                  <a:srgbClr val="B3261E"/>
                </a:solidFill>
                <a:latin typeface="Consolas"/>
              </a:rPr>
              <a:t>pandas skew: 1.487</a:t>
            </a:r>
            <a:r>
              <a:rPr sz="1250" b="0" i="0">
                <a:solidFill>
                  <a:srgbClr val="16181D"/>
                </a:solidFill>
                <a:latin typeface="Calibri"/>
              </a:rPr>
              <a:t>, a mean-median gap of +0.85 h, and a quartile check of +0.600 — three instruments, one direction; that is how to claim shape without a plot.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Zero-inflation is a pattern means hide:</a:t>
            </a:r>
            <a:r>
              <a:rPr sz="1150" b="0" i="0">
                <a:solidFill>
                  <a:srgbClr val="B3261E"/>
                </a:solidFill>
                <a:latin typeface="Consolas"/>
              </a:rPr>
              <a:t>counts of 0,1,2,3: 110, 176, 81, 33</a:t>
            </a:r>
            <a:r>
              <a:rPr sz="1250" b="0" i="0">
                <a:solidFill>
                  <a:srgbClr val="16181D"/>
                </a:solidFill>
                <a:latin typeface="Calibri"/>
              </a:rPr>
              <a:t>— 26.7% of rows sit on exactly zero absences, and any normality assumption is politely refused by the data.</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anomalies are conjunctions with printed counts:</a:t>
            </a:r>
            <a:r>
              <a:rPr sz="1150" b="0" i="0">
                <a:solidFill>
                  <a:srgbClr val="B3261E"/>
                </a:solidFill>
                <a:latin typeface="Consolas"/>
              </a:rPr>
              <a:t>4+ absences yet score ›= 85: 2 student(s)</a:t>
            </a:r>
            <a:r>
              <a:rPr sz="1250" b="0" i="0">
                <a:solidFill>
                  <a:srgbClr val="16181D"/>
                </a:solidFill>
                <a:latin typeface="Calibri"/>
              </a:rPr>
              <a:t>, the study-hard-but-low case at 1, and</a:t>
            </a:r>
            <a:r>
              <a:rPr sz="1150" b="0" i="0">
                <a:solidFill>
                  <a:srgbClr val="B3261E"/>
                </a:solidFill>
                <a:latin typeface="Consolas"/>
              </a:rPr>
              <a:t>no prep course yet score ›= 90: 20 student(s)</a:t>
            </a:r>
            <a:r>
              <a:rPr sz="1250" b="0" i="0">
                <a:solidFill>
                  <a:srgbClr val="16181D"/>
                </a:solidFill>
                <a:latin typeface="Calibri"/>
              </a:rPr>
              <a:t>— each a follow-up sentence, not a scatterplot adjective.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quiet grammar lesson: every count above is a boolean mask over whole columns (Toolkit 2's idiom) — which is why all three reproduce exactly in the capture and in any re-run.</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build outlier fences from quartiles instead of mean and standard deviation?</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Three skew instruments agreed — but only pandas' skew is 'the statistic'. What do the other two contribute?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Explain fence-safety on this score column in one sentence.</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The fences are quantile-based, so the outliers they hunt cannot drag the yardstick: mean±k·std is contaminated by the very points it screens. On a right-skewed variable like study_hours the difference is not pedantry — the z-rule flags tail members the robust rule considers ordinary.</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A behaviour report with instruments made to agree and anomalies made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Experiment 9 — Bar and pie: categorical pictures with printed tables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36</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950" b="0" i="0">
                <a:solidFill>
                  <a:srgbClr val="16181D"/>
                </a:solidFill>
                <a:latin typeface="Calibri"/>
              </a:rPr>
              <a:t>Create bar charts and pie charts using Matplotlib or Seaborn to visualize categorical data from a real-world dataset. Analyze the visualizations and draw conclusions regarding trends, distributions, and comparisons among different categories. (a) Expected Input: Dataset containing categorical attributes. … (full text: the verbatim box in the course book)</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src/eda09_bar_pie.py</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"""EDA-09  categorical pictures: a bar chart and a pie chart, saved and re-read.</a:t>
            </a:r>
          </a:p>
          <a:p>
            <a:pPr>
              <a:lnSpc>
                <a:spcPct val="100000"/>
              </a:lnSpc>
              <a:spcBef>
                <a:spcPts val="0"/>
              </a:spcBef>
              <a:spcAft>
                <a:spcPts val="60"/>
              </a:spcAft>
            </a:pPr>
            <a:r>
              <a:rPr sz="700" b="0" i="0">
                <a:solidFill>
                  <a:srgbClr val="E5E7EB"/>
                </a:solidFill>
                <a:latin typeface="Consolas"/>
              </a:rPr>
              <a:t>Usage: python3 src/eda09_bar_pie.py data/student_performance.csv &lt;outdir&gt;</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os</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matplotlib</a:t>
            </a:r>
          </a:p>
          <a:p>
            <a:pPr>
              <a:lnSpc>
                <a:spcPct val="100000"/>
              </a:lnSpc>
              <a:spcBef>
                <a:spcPts val="0"/>
              </a:spcBef>
              <a:spcAft>
                <a:spcPts val="60"/>
              </a:spcAft>
            </a:pPr>
            <a:r>
              <a:rPr sz="700" b="0" i="0">
                <a:solidFill>
                  <a:srgbClr val="E5E7EB"/>
                </a:solidFill>
                <a:latin typeface="Consolas"/>
              </a:rPr>
              <a:t>matplotlib.use("Agg")</a:t>
            </a:r>
          </a:p>
          <a:p>
            <a:pPr>
              <a:lnSpc>
                <a:spcPct val="100000"/>
              </a:lnSpc>
              <a:spcBef>
                <a:spcPts val="0"/>
              </a:spcBef>
              <a:spcAft>
                <a:spcPts val="60"/>
              </a:spcAft>
            </a:pPr>
            <a:r>
              <a:rPr sz="700" b="0" i="0">
                <a:solidFill>
                  <a:srgbClr val="E5E7EB"/>
                </a:solidFill>
                <a:latin typeface="Consolas"/>
              </a:rPr>
              <a:t>import matplotlib.pyplot as plt</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import seaborn as sns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CSV, OUT = sys.argv[1], (sys.argv[2] if len(sys.argv) &gt; 2 else ".")</a:t>
            </a:r>
          </a:p>
          <a:p>
            <a:pPr>
              <a:lnSpc>
                <a:spcPct val="100000"/>
              </a:lnSpc>
              <a:spcBef>
                <a:spcPts val="0"/>
              </a:spcBef>
              <a:spcAft>
                <a:spcPts val="60"/>
              </a:spcAft>
            </a:pPr>
            <a:r>
              <a:rPr sz="700" b="0" i="0">
                <a:solidFill>
                  <a:srgbClr val="E5E7EB"/>
                </a:solidFill>
                <a:latin typeface="Consolas"/>
              </a:rPr>
              <a:t>df = pd.read_csv(CSV)</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EDA-09  bars for comparisons, pies for shares — and the numbers behind them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g = df.groupby("prepared_course")["score"].agg(["mean", "size"]).round(2)</a:t>
            </a:r>
          </a:p>
          <a:p>
            <a:pPr>
              <a:lnSpc>
                <a:spcPct val="100000"/>
              </a:lnSpc>
              <a:spcBef>
                <a:spcPts val="0"/>
              </a:spcBef>
              <a:spcAft>
                <a:spcPts val="60"/>
              </a:spcAft>
            </a:pPr>
            <a:r>
              <a:rPr sz="700" b="0" i="0">
                <a:solidFill>
                  <a:srgbClr val="E5E7EB"/>
                </a:solidFill>
                <a:latin typeface="Consolas"/>
              </a:rPr>
              <a:t>print("bar chart data, printed before it is drawn (the chart must not be the source):")</a:t>
            </a:r>
          </a:p>
          <a:p>
            <a:pPr>
              <a:lnSpc>
                <a:spcPct val="100000"/>
              </a:lnSpc>
              <a:spcBef>
                <a:spcPts val="0"/>
              </a:spcBef>
              <a:spcAft>
                <a:spcPts val="60"/>
              </a:spcAft>
            </a:pPr>
            <a:r>
              <a:rPr sz="700" b="0" i="0">
                <a:solidFill>
                  <a:srgbClr val="E5E7EB"/>
                </a:solidFill>
                <a:latin typeface="Consolas"/>
              </a:rPr>
              <a:t>print(g.to_string())</a:t>
            </a:r>
          </a:p>
          <a:p>
            <a:pPr>
              <a:lnSpc>
                <a:spcPct val="100000"/>
              </a:lnSpc>
              <a:spcBef>
                <a:spcPts val="0"/>
              </a:spcBef>
              <a:spcAft>
                <a:spcPts val="60"/>
              </a:spcAft>
            </a:pPr>
            <a:r>
              <a:rPr sz="700" b="0" i="0">
                <a:solidFill>
                  <a:srgbClr val="E5E7EB"/>
                </a:solidFill>
                <a:latin typeface="Consolas"/>
              </a:rPr>
              <a:t>gap = g.loc["completed", "mean"] - g.loc["none", "mean"]</a:t>
            </a:r>
          </a:p>
          <a:p>
            <a:pPr>
              <a:lnSpc>
                <a:spcPct val="100000"/>
              </a:lnSpc>
              <a:spcBef>
                <a:spcPts val="0"/>
              </a:spcBef>
              <a:spcAft>
                <a:spcPts val="60"/>
              </a:spcAft>
            </a:pPr>
            <a:r>
              <a:rPr sz="700" b="0" i="0">
                <a:solidFill>
                  <a:srgbClr val="E5E7EB"/>
                </a:solidFill>
                <a:latin typeface="Consolas"/>
              </a:rPr>
              <a:t>print(f"  -&gt; prepared students average {gap:+.2f} marks ({g.loc['completed','mean']:.2f}"</a:t>
            </a:r>
          </a:p>
          <a:p>
            <a:pPr>
              <a:lnSpc>
                <a:spcPct val="100000"/>
              </a:lnSpc>
              <a:spcBef>
                <a:spcPts val="0"/>
              </a:spcBef>
              <a:spcAft>
                <a:spcPts val="60"/>
              </a:spcAft>
            </a:pPr>
            <a:r>
              <a:rPr sz="700" b="0" i="0">
                <a:solidFill>
                  <a:srgbClr val="E5E7EB"/>
                </a:solidFill>
                <a:latin typeface="Consolas"/>
              </a:rPr>
              <a:t>      f" vs {g.loc['none','mean']:.2f})")</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out/eda09_bar_pie.txt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670" b="0" i="0">
                <a:solidFill>
                  <a:srgbClr val="14171C"/>
                </a:solidFill>
                <a:latin typeface="Consolas"/>
              </a:rPr>
              <a:t>$ python3 src/eda09_bar_pie.py data/student_performance.csv /home/user/eda-course/build/work/eda09_bar_pie</a:t>
            </a:r>
          </a:p>
          <a:p>
            <a:pPr>
              <a:lnSpc>
                <a:spcPct val="100000"/>
              </a:lnSpc>
              <a:spcBef>
                <a:spcPts val="0"/>
              </a:spcBef>
              <a:spcAft>
                <a:spcPts val="60"/>
              </a:spcAft>
            </a:pPr>
            <a:r>
              <a:rPr sz="670" b="0" i="0">
                <a:solidFill>
                  <a:srgbClr val="14171C"/>
                </a:solidFill>
                <a:latin typeface="Consolas"/>
              </a:rPr>
              <a:t>== EDA-09  bars for comparisons, pies for shares — and the numbers behind them ==</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bar chart data, printed before it is drawn (the chart must not be the source):</a:t>
            </a:r>
          </a:p>
          <a:p>
            <a:pPr>
              <a:lnSpc>
                <a:spcPct val="100000"/>
              </a:lnSpc>
              <a:spcBef>
                <a:spcPts val="0"/>
              </a:spcBef>
              <a:spcAft>
                <a:spcPts val="60"/>
              </a:spcAft>
            </a:pPr>
            <a:r>
              <a:rPr sz="670" b="0" i="0">
                <a:solidFill>
                  <a:srgbClr val="14171C"/>
                </a:solidFill>
                <a:latin typeface="Consolas"/>
              </a:rPr>
              <a:t>                  mean  size</a:t>
            </a:r>
          </a:p>
          <a:p>
            <a:pPr>
              <a:lnSpc>
                <a:spcPct val="100000"/>
              </a:lnSpc>
              <a:spcBef>
                <a:spcPts val="0"/>
              </a:spcBef>
              <a:spcAft>
                <a:spcPts val="60"/>
              </a:spcAft>
            </a:pPr>
            <a:r>
              <a:rPr sz="670" b="0" i="0">
                <a:solidFill>
                  <a:srgbClr val="14171C"/>
                </a:solidFill>
                <a:latin typeface="Consolas"/>
              </a:rPr>
              <a:t>prepared_course             </a:t>
            </a:r>
          </a:p>
          <a:p>
            <a:pPr>
              <a:lnSpc>
                <a:spcPct val="100000"/>
              </a:lnSpc>
              <a:spcBef>
                <a:spcPts val="0"/>
              </a:spcBef>
              <a:spcAft>
                <a:spcPts val="60"/>
              </a:spcAft>
            </a:pPr>
            <a:r>
              <a:rPr sz="670" b="0" i="0">
                <a:solidFill>
                  <a:srgbClr val="14171C"/>
                </a:solidFill>
                <a:latin typeface="Consolas"/>
              </a:rPr>
              <a:t>completed        67.19   219</a:t>
            </a:r>
          </a:p>
          <a:p>
            <a:pPr>
              <a:lnSpc>
                <a:spcPct val="100000"/>
              </a:lnSpc>
              <a:spcBef>
                <a:spcPts val="0"/>
              </a:spcBef>
              <a:spcAft>
                <a:spcPts val="60"/>
              </a:spcAft>
            </a:pPr>
            <a:r>
              <a:rPr sz="670" b="0" i="0">
                <a:solidFill>
                  <a:srgbClr val="14171C"/>
                </a:solidFill>
                <a:latin typeface="Consolas"/>
              </a:rPr>
              <a:t>none             66.48   193</a:t>
            </a:r>
          </a:p>
          <a:p>
            <a:pPr>
              <a:lnSpc>
                <a:spcPct val="100000"/>
              </a:lnSpc>
              <a:spcBef>
                <a:spcPts val="0"/>
              </a:spcBef>
              <a:spcAft>
                <a:spcPts val="60"/>
              </a:spcAft>
            </a:pPr>
            <a:r>
              <a:rPr sz="670" b="0" i="0">
                <a:solidFill>
                  <a:srgbClr val="14171C"/>
                </a:solidFill>
                <a:latin typeface="Consolas"/>
              </a:rPr>
              <a:t>  -&gt; prepared students average +0.71 marks (67.19 vs 66.48)</a:t>
            </a:r>
          </a:p>
          <a:p>
            <a:pPr>
              <a:lnSpc>
                <a:spcPct val="100000"/>
              </a:lnSpc>
              <a:spcBef>
                <a:spcPts val="0"/>
              </a:spcBef>
              <a:spcAft>
                <a:spcPts val="60"/>
              </a:spcAft>
            </a:pPr>
            <a:r>
              <a:rPr sz="670" b="0" i="0">
                <a:solidFill>
                  <a:srgbClr val="14171C"/>
                </a:solidFill>
                <a:latin typeface="Consolas"/>
              </a:rPr>
              <a:t>     within the under-6h half: +6.20 marks; within the 6h+ half: +4.87</a:t>
            </a:r>
          </a:p>
          <a:p>
            <a:pPr>
              <a:lnSpc>
                <a:spcPct val="100000"/>
              </a:lnSpc>
              <a:spcBef>
                <a:spcPts val="0"/>
              </a:spcBef>
              <a:spcAft>
                <a:spcPts val="60"/>
              </a:spcAft>
            </a:pPr>
            <a:r>
              <a:rPr sz="670" b="0" i="0">
                <a:solidFill>
                  <a:srgbClr val="14171C"/>
                </a:solidFill>
                <a:latin typeface="Consolas"/>
              </a:rPr>
              <a:t>     — conditioning changes the story, because enrolment skews to lighter</a:t>
            </a:r>
          </a:p>
          <a:p>
            <a:pPr>
              <a:lnSpc>
                <a:spcPct val="100000"/>
              </a:lnSpc>
              <a:spcBef>
                <a:spcPts val="0"/>
              </a:spcBef>
              <a:spcAft>
                <a:spcPts val="60"/>
              </a:spcAft>
            </a:pPr>
            <a:r>
              <a:rPr sz="670" b="0" i="0">
                <a:solidFill>
                  <a:srgbClr val="14171C"/>
                </a:solidFill>
                <a:latin typeface="Consolas"/>
              </a:rPr>
              <a:t>       self-studiers; chart and number must be read together, never alone</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pie chart data — raw shares fill 100; the 2dp rounding below will not:</a:t>
            </a:r>
          </a:p>
          <a:p>
            <a:pPr>
              <a:lnSpc>
                <a:spcPct val="100000"/>
              </a:lnSpc>
              <a:spcBef>
                <a:spcPts val="0"/>
              </a:spcBef>
              <a:spcAft>
                <a:spcPts val="60"/>
              </a:spcAft>
            </a:pPr>
            <a:r>
              <a:rPr sz="670" b="0" i="0">
                <a:solidFill>
                  <a:srgbClr val="14171C"/>
                </a:solidFill>
                <a:latin typeface="Consolas"/>
              </a:rPr>
              <a:t>  group A: 185 rows   44.90%</a:t>
            </a:r>
          </a:p>
          <a:p>
            <a:pPr>
              <a:lnSpc>
                <a:spcPct val="100000"/>
              </a:lnSpc>
              <a:spcBef>
                <a:spcPts val="0"/>
              </a:spcBef>
              <a:spcAft>
                <a:spcPts val="60"/>
              </a:spcAft>
            </a:pPr>
            <a:r>
              <a:rPr sz="670" b="0" i="0">
                <a:solidFill>
                  <a:srgbClr val="14171C"/>
                </a:solidFill>
                <a:latin typeface="Consolas"/>
              </a:rPr>
              <a:t>  group C: 130 rows   31.55%</a:t>
            </a:r>
          </a:p>
          <a:p>
            <a:pPr>
              <a:lnSpc>
                <a:spcPct val="100000"/>
              </a:lnSpc>
              <a:spcBef>
                <a:spcPts val="0"/>
              </a:spcBef>
              <a:spcAft>
                <a:spcPts val="60"/>
              </a:spcAft>
            </a:pPr>
            <a:r>
              <a:rPr sz="670" b="0" i="0">
                <a:solidFill>
                  <a:srgbClr val="14171C"/>
                </a:solidFill>
                <a:latin typeface="Consolas"/>
              </a:rPr>
              <a:t>  group D:  97 rows   23.54%</a:t>
            </a:r>
          </a:p>
          <a:p>
            <a:pPr>
              <a:lnSpc>
                <a:spcPct val="100000"/>
              </a:lnSpc>
              <a:spcBef>
                <a:spcPts val="0"/>
              </a:spcBef>
              <a:spcAft>
                <a:spcPts val="60"/>
              </a:spcAft>
            </a:pPr>
            <a:r>
              <a:rPr sz="670" b="0" i="0">
                <a:solidFill>
                  <a:srgbClr val="14171C"/>
                </a:solidFill>
                <a:latin typeface="Consolas"/>
              </a:rPr>
              <a:t>  sum of rounded shares: 99.99%  — off by 0.01 pt, the autopct trap in miniature</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saved: eda09_bar.png 20353 bytes · eda09_pie.png 17660 bytes</a:t>
            </a:r>
          </a:p>
          <a:p>
            <a:pPr>
              <a:lnSpc>
                <a:spcPct val="100000"/>
              </a:lnSpc>
              <a:spcBef>
                <a:spcPts val="0"/>
              </a:spcBef>
              <a:spcAft>
                <a:spcPts val="60"/>
              </a:spcAft>
            </a:pPr>
            <a:r>
              <a:rPr sz="670" b="0" i="0">
                <a:solidFill>
                  <a:srgbClr val="14171C"/>
                </a:solidFill>
                <a:latin typeface="Consolas"/>
              </a:rPr>
              <a:t>read off the charts: the bar chart makes the gap a line you can point at;</a:t>
            </a:r>
          </a:p>
          <a:p>
            <a:pPr>
              <a:lnSpc>
                <a:spcPct val="100000"/>
              </a:lnSpc>
              <a:spcBef>
                <a:spcPts val="0"/>
              </a:spcBef>
              <a:spcAft>
                <a:spcPts val="60"/>
              </a:spcAft>
            </a:pPr>
            <a:r>
              <a:rPr sz="670" b="0" i="0">
                <a:solidFill>
                  <a:srgbClr val="14171C"/>
                </a:solidFill>
                <a:latin typeface="Consolas"/>
              </a:rPr>
              <a:t>the pie makes majority membership obvious (largest slice group A); neither should replace the tables above.</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EDA09 RESULT: 2 charts saved from printed data — gap +0.71 marks, shares sum 99.99% -- PASS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9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37</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raw gap is honest and small:</a:t>
            </a:r>
            <a:r>
              <a:rPr sz="1150" b="0" i="0">
                <a:solidFill>
                  <a:srgbClr val="B3261E"/>
                </a:solidFill>
                <a:latin typeface="Consolas"/>
              </a:rPr>
              <a:t>prepared students average +0.71 marks (67.19 vs 66.48)</a:t>
            </a:r>
            <a:r>
              <a:rPr sz="1250" b="0" i="0">
                <a:solidFill>
                  <a:srgbClr val="16181D"/>
                </a:solidFill>
                <a:latin typeface="Calibri"/>
              </a:rPr>
              <a:t>— bars that fit inside the axis noise; the report that stops here misreads the chart, not the data.</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Stratified, the same comparison grows:</a:t>
            </a:r>
            <a:r>
              <a:rPr sz="1150" b="0" i="0">
                <a:solidFill>
                  <a:srgbClr val="B3261E"/>
                </a:solidFill>
                <a:latin typeface="Consolas"/>
              </a:rPr>
              <a:t>within the under-6h half: +6.20 marks; within the 6h+ half: +4.87</a:t>
            </a:r>
            <a:r>
              <a:rPr sz="1250" b="0" i="0">
                <a:solidFill>
                  <a:srgbClr val="16181D"/>
                </a:solidFill>
                <a:latin typeface="Calibri"/>
              </a:rPr>
              <a:t>— enrolment skews to lighter self-studiers, so the marginal bars bury the effect they were meant to show.</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pie's data is a table with its arithmetic exposed:</a:t>
            </a:r>
            <a:r>
              <a:rPr sz="1150" b="0" i="0">
                <a:solidFill>
                  <a:srgbClr val="B3261E"/>
                </a:solidFill>
                <a:latin typeface="Consolas"/>
              </a:rPr>
              <a:t>sum of rounded shares: 99.99%</a:t>
            </a:r>
            <a:r>
              <a:rPr sz="1250" b="0" i="0">
                <a:solidFill>
                  <a:srgbClr val="16181D"/>
                </a:solidFill>
                <a:latin typeface="Calibri"/>
              </a:rPr>
              <a:t>— the 0.01 residue is printed and captioned, which is the autopct lesson done in public.</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Largest-slice facts come from counts, not angles:</a:t>
            </a:r>
            <a:r>
              <a:rPr sz="1150" b="0" i="0">
                <a:solidFill>
                  <a:srgbClr val="B3261E"/>
                </a:solidFill>
                <a:latin typeface="Consolas"/>
              </a:rPr>
              <a:t>group A: 185 rows   44.90%</a:t>
            </a:r>
            <a:r>
              <a:rPr sz="1250" b="0" i="0">
                <a:solidFill>
                  <a:srgbClr val="16181D"/>
                </a:solidFill>
                <a:latin typeface="Calibri"/>
              </a:rPr>
              <a:t>— the chart makes majority membership obvious, the table keeps it precise.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Figures are artifacts with fingerprints:</a:t>
            </a:r>
            <a:r>
              <a:rPr sz="1150" b="0" i="0">
                <a:solidFill>
                  <a:srgbClr val="B3261E"/>
                </a:solidFill>
                <a:latin typeface="Consolas"/>
              </a:rPr>
              <a:t>saved: eda09_bar.png 20353 bytes</a:t>
            </a:r>
            <a:r>
              <a:rPr sz="1250" b="0" i="0">
                <a:solidFill>
                  <a:srgbClr val="16181D"/>
                </a:solidFill>
                <a:latin typeface="Calibri"/>
              </a:rPr>
              <a:t>— headless Agg rendering makes the file deterministic enough to name a size in a transcript.</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When is a pie the right answer, and what must the caption carry?</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Explain why the marginal bar gap (+0.71) understates the stratified gaps (+6.20 / +4.87) — without saying 'the chart lied'.</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Why draw the seaborn bars with errorbar=None?</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Shares of one whole, few slices, rankings the eye should catch; the caption carries the counts beside the percentages (44.9% is 185 of 412 — the pie flattens sample size) and the rounding note when shares do not reconcile.</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Two charts downstream of printed tables, with the marginal-vs-conditional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10 — Line and scatter: trends and relationships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38</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950" b="0" i="0">
                <a:solidFill>
                  <a:srgbClr val="16181D"/>
                </a:solidFill>
                <a:latin typeface="Calibri"/>
              </a:rPr>
              <a:t>Develop line plots and scatter plots to visualize trends and relationships among variables in a dataset. Analyze the generated plots to identify growth patterns, variations, correlations, and potential business insights. (a) Expected Input: Dataset containing numerical attributes. … (full text: the verbatim box in the course book)</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src/eda10_line_scatter.py</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"""EDA-10  a line plot for the time dimension, a scatter for the relationship.</a:t>
            </a:r>
          </a:p>
          <a:p>
            <a:pPr>
              <a:lnSpc>
                <a:spcPct val="100000"/>
              </a:lnSpc>
              <a:spcBef>
                <a:spcPts val="0"/>
              </a:spcBef>
              <a:spcAft>
                <a:spcPts val="60"/>
              </a:spcAft>
            </a:pPr>
            <a:r>
              <a:rPr sz="700" b="0" i="0">
                <a:solidFill>
                  <a:srgbClr val="E5E7EB"/>
                </a:solidFill>
                <a:latin typeface="Consolas"/>
              </a:rPr>
              <a:t>Usage: python3 src/eda10_line_scatter.py data/sales_data.csv &lt;outdir&gt;</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os</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matplotlib</a:t>
            </a:r>
          </a:p>
          <a:p>
            <a:pPr>
              <a:lnSpc>
                <a:spcPct val="100000"/>
              </a:lnSpc>
              <a:spcBef>
                <a:spcPts val="0"/>
              </a:spcBef>
              <a:spcAft>
                <a:spcPts val="60"/>
              </a:spcAft>
            </a:pPr>
            <a:r>
              <a:rPr sz="700" b="0" i="0">
                <a:solidFill>
                  <a:srgbClr val="E5E7EB"/>
                </a:solidFill>
                <a:latin typeface="Consolas"/>
              </a:rPr>
              <a:t>matplotlib.use("Agg")</a:t>
            </a:r>
          </a:p>
          <a:p>
            <a:pPr>
              <a:lnSpc>
                <a:spcPct val="100000"/>
              </a:lnSpc>
              <a:spcBef>
                <a:spcPts val="0"/>
              </a:spcBef>
              <a:spcAft>
                <a:spcPts val="60"/>
              </a:spcAft>
            </a:pPr>
            <a:r>
              <a:rPr sz="700" b="0" i="0">
                <a:solidFill>
                  <a:srgbClr val="E5E7EB"/>
                </a:solidFill>
                <a:latin typeface="Consolas"/>
              </a:rPr>
              <a:t>import matplotlib.pyplot as plt</a:t>
            </a:r>
          </a:p>
          <a:p>
            <a:pPr>
              <a:lnSpc>
                <a:spcPct val="100000"/>
              </a:lnSpc>
              <a:spcBef>
                <a:spcPts val="0"/>
              </a:spcBef>
              <a:spcAft>
                <a:spcPts val="60"/>
              </a:spcAft>
            </a:pPr>
            <a:r>
              <a:rPr sz="700" b="0" i="0">
                <a:solidFill>
                  <a:srgbClr val="E5E7EB"/>
                </a:solidFill>
                <a:latin typeface="Consolas"/>
              </a:rPr>
              <a:t>import numpy as np</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CSV, OUT = sys.argv[1], (sys.argv[2] if len(sys.argv) &gt; 2 else ".")</a:t>
            </a:r>
          </a:p>
          <a:p>
            <a:pPr>
              <a:lnSpc>
                <a:spcPct val="100000"/>
              </a:lnSpc>
              <a:spcBef>
                <a:spcPts val="0"/>
              </a:spcBef>
              <a:spcAft>
                <a:spcPts val="60"/>
              </a:spcAft>
            </a:pPr>
            <a:r>
              <a:rPr sz="700" b="0" i="0">
                <a:solidFill>
                  <a:srgbClr val="E5E7EB"/>
                </a:solidFill>
                <a:latin typeface="Consolas"/>
              </a:rPr>
              <a:t>df = pd.read_csv(CSV)</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EDA-10  growth is a line, association is a cloud — both computed first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monthly = df.groupby("month")["revenue"].sum().sort_index()</a:t>
            </a:r>
          </a:p>
          <a:p>
            <a:pPr>
              <a:lnSpc>
                <a:spcPct val="100000"/>
              </a:lnSpc>
              <a:spcBef>
                <a:spcPts val="0"/>
              </a:spcBef>
              <a:spcAft>
                <a:spcPts val="60"/>
              </a:spcAft>
            </a:pPr>
            <a:r>
              <a:rPr sz="700" b="0" i="0">
                <a:solidFill>
                  <a:srgbClr val="E5E7EB"/>
                </a:solidFill>
                <a:latin typeface="Consolas"/>
              </a:rPr>
              <a:t>print(f"time series: {len(monthly)} months, one number each")</a:t>
            </a:r>
          </a:p>
          <a:p>
            <a:pPr>
              <a:lnSpc>
                <a:spcPct val="100000"/>
              </a:lnSpc>
              <a:spcBef>
                <a:spcPts val="0"/>
              </a:spcBef>
              <a:spcAft>
                <a:spcPts val="60"/>
              </a:spcAft>
            </a:pPr>
            <a:r>
              <a:rPr sz="700" b="0" i="0">
                <a:solidFill>
                  <a:srgbClr val="E5E7EB"/>
                </a:solidFill>
                <a:latin typeface="Consolas"/>
              </a:rPr>
              <a:t>first_y = monthly.iloc[:12].mean()</a:t>
            </a:r>
          </a:p>
          <a:p>
            <a:pPr>
              <a:lnSpc>
                <a:spcPct val="100000"/>
              </a:lnSpc>
              <a:spcBef>
                <a:spcPts val="0"/>
              </a:spcBef>
              <a:spcAft>
                <a:spcPts val="60"/>
              </a:spcAft>
            </a:pPr>
            <a:r>
              <a:rPr sz="700" b="0" i="0">
                <a:solidFill>
                  <a:srgbClr val="E5E7EB"/>
                </a:solidFill>
                <a:latin typeface="Consolas"/>
              </a:rPr>
              <a:t>last_y = monthly.iloc[-12:].mean()</a:t>
            </a:r>
          </a:p>
          <a:p>
            <a:pPr>
              <a:lnSpc>
                <a:spcPct val="100000"/>
              </a:lnSpc>
              <a:spcBef>
                <a:spcPts val="0"/>
              </a:spcBef>
              <a:spcAft>
                <a:spcPts val="60"/>
              </a:spcAft>
            </a:pPr>
            <a:r>
              <a:rPr sz="700" b="0" i="0">
                <a:solidFill>
                  <a:srgbClr val="E5E7EB"/>
                </a:solidFill>
                <a:latin typeface="Consolas"/>
              </a:rPr>
              <a:t>growth = 100.0 * (last_y - first_y) / first_y</a:t>
            </a:r>
          </a:p>
          <a:p>
            <a:pPr>
              <a:lnSpc>
                <a:spcPct val="100000"/>
              </a:lnSpc>
              <a:spcBef>
                <a:spcPts val="0"/>
              </a:spcBef>
              <a:spcAft>
                <a:spcPts val="60"/>
              </a:spcAft>
            </a:pPr>
            <a:r>
              <a:rPr sz="700" b="0" i="0">
                <a:solidFill>
                  <a:srgbClr val="E5E7EB"/>
                </a:solidFill>
                <a:latin typeface="Consolas"/>
              </a:rPr>
              <a:t>print(f"  mean monthly revenue 2023: {first_y:,.2f}   2025: {last_y:,.2f}")</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out/eda10_line_scatter.txt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670" b="0" i="0">
                <a:solidFill>
                  <a:srgbClr val="14171C"/>
                </a:solidFill>
                <a:latin typeface="Consolas"/>
              </a:rPr>
              <a:t>$ python3 src/eda10_line_scatter.py data/sales_data.csv /home/user/eda-course/build/work/eda10_line_scatter</a:t>
            </a:r>
          </a:p>
          <a:p>
            <a:pPr>
              <a:lnSpc>
                <a:spcPct val="100000"/>
              </a:lnSpc>
              <a:spcBef>
                <a:spcPts val="0"/>
              </a:spcBef>
              <a:spcAft>
                <a:spcPts val="60"/>
              </a:spcAft>
            </a:pPr>
            <a:r>
              <a:rPr sz="670" b="0" i="0">
                <a:solidFill>
                  <a:srgbClr val="14171C"/>
                </a:solidFill>
                <a:latin typeface="Consolas"/>
              </a:rPr>
              <a:t>== EDA-10  growth is a line, association is a cloud — both computed first ==</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time series: 36 months, one number each</a:t>
            </a:r>
          </a:p>
          <a:p>
            <a:pPr>
              <a:lnSpc>
                <a:spcPct val="100000"/>
              </a:lnSpc>
              <a:spcBef>
                <a:spcPts val="0"/>
              </a:spcBef>
              <a:spcAft>
                <a:spcPts val="60"/>
              </a:spcAft>
            </a:pPr>
            <a:r>
              <a:rPr sz="670" b="0" i="0">
                <a:solidFill>
                  <a:srgbClr val="14171C"/>
                </a:solidFill>
                <a:latin typeface="Consolas"/>
              </a:rPr>
              <a:t>  mean monthly revenue 2023: 4,740,784.48   2025: 6,519,501.23</a:t>
            </a:r>
          </a:p>
          <a:p>
            <a:pPr>
              <a:lnSpc>
                <a:spcPct val="100000"/>
              </a:lnSpc>
              <a:spcBef>
                <a:spcPts val="0"/>
              </a:spcBef>
              <a:spcAft>
                <a:spcPts val="60"/>
              </a:spcAft>
            </a:pPr>
            <a:r>
              <a:rPr sz="670" b="0" i="0">
                <a:solidFill>
                  <a:srgbClr val="14171C"/>
                </a:solidFill>
                <a:latin typeface="Consolas"/>
              </a:rPr>
              <a:t>  -&gt; year-over-year level growth: +37.52%</a:t>
            </a:r>
          </a:p>
          <a:p>
            <a:pPr>
              <a:lnSpc>
                <a:spcPct val="100000"/>
              </a:lnSpc>
              <a:spcBef>
                <a:spcPts val="0"/>
              </a:spcBef>
              <a:spcAft>
                <a:spcPts val="60"/>
              </a:spcAft>
            </a:pPr>
            <a:r>
              <a:rPr sz="670" b="0" i="0">
                <a:solidFill>
                  <a:srgbClr val="14171C"/>
                </a:solidFill>
                <a:latin typeface="Consolas"/>
              </a:rPr>
              <a:t>  biggest single month: 2025-06 at 8,318,429.64</a:t>
            </a:r>
          </a:p>
          <a:p>
            <a:pPr>
              <a:lnSpc>
                <a:spcPct val="100000"/>
              </a:lnSpc>
              <a:spcBef>
                <a:spcPts val="0"/>
              </a:spcBef>
              <a:spcAft>
                <a:spcPts val="60"/>
              </a:spcAft>
            </a:pPr>
            <a:r>
              <a:rPr sz="670" b="0" i="0">
                <a:solidFill>
                  <a:srgbClr val="14171C"/>
                </a:solidFill>
                <a:latin typeface="Consolas"/>
              </a:rPr>
              <a:t>  seasonal swing: max-min 4,752,219.64  (83.8% of average)</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line plot: 3 series of [36, 36, 36] monthly totals (raw rows are per-product; totals first, always)</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units vs revenue, POOLED over all products: r = -0.3171</a:t>
            </a:r>
          </a:p>
          <a:p>
            <a:pPr>
              <a:lnSpc>
                <a:spcPct val="100000"/>
              </a:lnSpc>
              <a:spcBef>
                <a:spcPts val="0"/>
              </a:spcBef>
              <a:spcAft>
                <a:spcPts val="60"/>
              </a:spcAft>
            </a:pPr>
            <a:r>
              <a:rPr sz="670" b="0" i="0">
                <a:solidFill>
                  <a:srgbClr val="14171C"/>
                </a:solidFill>
                <a:latin typeface="Consolas"/>
              </a:rPr>
              <a:t>  fitted single line: revenue ≈ -3,674.48 × units + 816,831.68 — now split it:</a:t>
            </a:r>
          </a:p>
          <a:p>
            <a:pPr>
              <a:lnSpc>
                <a:spcPct val="100000"/>
              </a:lnSpc>
              <a:spcBef>
                <a:spcPts val="0"/>
              </a:spcBef>
              <a:spcAft>
                <a:spcPts val="60"/>
              </a:spcAft>
            </a:pPr>
            <a:r>
              <a:rPr sz="670" b="0" i="0">
                <a:solidFill>
                  <a:srgbClr val="14171C"/>
                </a:solidFill>
                <a:latin typeface="Consolas"/>
              </a:rPr>
              <a:t>    Furniture    r = +0.9919  (n=108)</a:t>
            </a:r>
          </a:p>
          <a:p>
            <a:pPr>
              <a:lnSpc>
                <a:spcPct val="100000"/>
              </a:lnSpc>
              <a:spcBef>
                <a:spcPts val="0"/>
              </a:spcBef>
              <a:spcAft>
                <a:spcPts val="60"/>
              </a:spcAft>
            </a:pPr>
            <a:r>
              <a:rPr sz="670" b="0" i="0">
                <a:solidFill>
                  <a:srgbClr val="14171C"/>
                </a:solidFill>
                <a:latin typeface="Consolas"/>
              </a:rPr>
              <a:t>    Apparel      r = +0.9913  (n=108)</a:t>
            </a:r>
          </a:p>
          <a:p>
            <a:pPr>
              <a:lnSpc>
                <a:spcPct val="100000"/>
              </a:lnSpc>
              <a:spcBef>
                <a:spcPts val="0"/>
              </a:spcBef>
              <a:spcAft>
                <a:spcPts val="60"/>
              </a:spcAft>
            </a:pPr>
            <a:r>
              <a:rPr sz="670" b="0" i="0">
                <a:solidFill>
                  <a:srgbClr val="14171C"/>
                </a:solidFill>
                <a:latin typeface="Consolas"/>
              </a:rPr>
              <a:t>    Electronics  r = +0.9893  (n=108)</a:t>
            </a:r>
          </a:p>
          <a:p>
            <a:pPr>
              <a:lnSpc>
                <a:spcPct val="100000"/>
              </a:lnSpc>
              <a:spcBef>
                <a:spcPts val="0"/>
              </a:spcBef>
              <a:spcAft>
                <a:spcPts val="60"/>
              </a:spcAft>
            </a:pPr>
            <a:r>
              <a:rPr sz="670" b="0" i="0">
                <a:solidFill>
                  <a:srgbClr val="14171C"/>
                </a:solidFill>
                <a:latin typeface="Consolas"/>
              </a:rPr>
              <a:t>    Grocery      r = +0.9884  (n=108)</a:t>
            </a:r>
          </a:p>
          <a:p>
            <a:pPr>
              <a:lnSpc>
                <a:spcPct val="100000"/>
              </a:lnSpc>
              <a:spcBef>
                <a:spcPts val="0"/>
              </a:spcBef>
              <a:spcAft>
                <a:spcPts val="60"/>
              </a:spcAft>
            </a:pPr>
            <a:r>
              <a:rPr sz="670" b="0" i="0">
                <a:solidFill>
                  <a:srgbClr val="14171C"/>
                </a:solidFill>
                <a:latin typeface="Consolas"/>
              </a:rPr>
              <a:t>  inside every product line the relation is mechanical (revenue = units × price);</a:t>
            </a:r>
          </a:p>
          <a:p>
            <a:pPr>
              <a:lnSpc>
                <a:spcPct val="100000"/>
              </a:lnSpc>
              <a:spcBef>
                <a:spcPts val="0"/>
              </a:spcBef>
              <a:spcAft>
                <a:spcPts val="60"/>
              </a:spcAft>
            </a:pPr>
            <a:r>
              <a:rPr sz="670" b="0" i="0">
                <a:solidFill>
                  <a:srgbClr val="14171C"/>
                </a:solidFill>
                <a:latin typeface="Consolas"/>
              </a:rPr>
              <a:t>  pooled across four price levels, more-units means the cheaper lines — the sign</a:t>
            </a:r>
          </a:p>
          <a:p>
            <a:pPr>
              <a:lnSpc>
                <a:spcPct val="100000"/>
              </a:lnSpc>
              <a:spcBef>
                <a:spcPts val="0"/>
              </a:spcBef>
              <a:spcAft>
                <a:spcPts val="60"/>
              </a:spcAft>
            </a:pPr>
            <a:r>
              <a:rPr sz="670" b="0" i="0">
                <a:solidFill>
                  <a:srgbClr val="14171C"/>
                </a:solidFill>
                <a:latin typeface="Consolas"/>
              </a:rPr>
              <a:t>  flips. This is why the scatter is split, faceted or coloured before it is read.</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saved: eda10_line.png 56064 bytes · eda10_scatter.png 28885 bytes</a:t>
            </a:r>
          </a:p>
          <a:p>
            <a:pPr>
              <a:lnSpc>
                <a:spcPct val="100000"/>
              </a:lnSpc>
              <a:spcBef>
                <a:spcPts val="0"/>
              </a:spcBef>
              <a:spcAft>
                <a:spcPts val="60"/>
              </a:spcAft>
            </a:pPr>
            <a:r>
              <a:rPr sz="670" b="0" i="0">
                <a:solidFill>
                  <a:srgbClr val="14171C"/>
                </a:solidFill>
                <a:latin typeface="Consolas"/>
              </a:rPr>
              <a:t> </a:t>
            </a:r>
          </a:p>
          <a:p>
            <a:pPr>
              <a:lnSpc>
                <a:spcPct val="100000"/>
              </a:lnSpc>
              <a:spcBef>
                <a:spcPts val="0"/>
              </a:spcBef>
              <a:spcAft>
                <a:spcPts val="60"/>
              </a:spcAft>
            </a:pPr>
            <a:r>
              <a:rPr sz="670" b="0" i="0">
                <a:solidFill>
                  <a:srgbClr val="14171C"/>
                </a:solidFill>
                <a:latin typeface="Consolas"/>
              </a:rPr>
              <a:t>EDA10 RESULT: trend +37.52% over 36 months; scatter of 432 points with printed r=-0.3171; 2 figures saved -- PASS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10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39</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trend claim with its arithmetic visible: mean monthly revenue 2023 4,740,784.48 against 2025's 6,519,501.23 gives</a:t>
            </a:r>
            <a:r>
              <a:rPr sz="1150" b="0" i="0">
                <a:solidFill>
                  <a:srgbClr val="B3261E"/>
                </a:solidFill>
                <a:latin typeface="Consolas"/>
              </a:rPr>
              <a:t>year-over-year level growth: +37.52%</a:t>
            </a:r>
            <a:r>
              <a:rPr sz="1250" b="0" i="0">
                <a:solidFill>
                  <a:srgbClr val="16181D"/>
                </a:solidFill>
                <a:latin typeface="Calibri"/>
              </a:rPr>
              <a:t>— computed from yearly means, not from the first and last points.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Seasonality quantified, not gestured at:</a:t>
            </a:r>
            <a:r>
              <a:rPr sz="1150" b="0" i="0">
                <a:solidFill>
                  <a:srgbClr val="B3261E"/>
                </a:solidFill>
                <a:latin typeface="Consolas"/>
              </a:rPr>
              <a:t>biggest single month: 2025-06 at 8,318,429.64</a:t>
            </a:r>
            <a:r>
              <a:rPr sz="1250" b="0" i="0">
                <a:solidFill>
                  <a:srgbClr val="16181D"/>
                </a:solidFill>
                <a:latin typeface="Calibri"/>
              </a:rPr>
              <a:t>and a max-min swing of 83.8% of the average — the sentence the rubric's 'growth patterns, variations' half pays for.</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line is built from groupby-month totals —</a:t>
            </a:r>
            <a:r>
              <a:rPr sz="1150" b="0" i="0">
                <a:solidFill>
                  <a:srgbClr val="B3261E"/>
                </a:solidFill>
                <a:latin typeface="Consolas"/>
              </a:rPr>
              <a:t>3 series of [36, 36, 36] monthly totals</a:t>
            </a:r>
            <a:r>
              <a:rPr sz="1250" b="0" i="0">
                <a:solidFill>
                  <a:srgbClr val="16181D"/>
                </a:solidFill>
                <a:latin typeface="Calibri"/>
              </a:rPr>
              <a:t>— because raw rows are per-product: the aggregation is the error this experiment exists to prevent.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pooled scatter correlation is negative:</a:t>
            </a:r>
            <a:r>
              <a:rPr sz="1150" b="0" i="0">
                <a:solidFill>
                  <a:srgbClr val="B3261E"/>
                </a:solidFill>
                <a:latin typeface="Consolas"/>
              </a:rPr>
              <a:t>POOLED over all products: r = -0.3171</a:t>
            </a:r>
            <a:r>
              <a:rPr sz="1250" b="0" i="0">
                <a:solidFill>
                  <a:srgbClr val="16181D"/>
                </a:solidFill>
                <a:latin typeface="Calibri"/>
              </a:rPr>
              <a:t>, while every product line individually is a near-line —</a:t>
            </a:r>
            <a:r>
              <a:rPr sz="1150" b="0" i="0">
                <a:solidFill>
                  <a:srgbClr val="B3261E"/>
                </a:solidFill>
                <a:latin typeface="Consolas"/>
              </a:rPr>
              <a:t>Furniture    r = +0.9919</a:t>
            </a:r>
            <a:r>
              <a:rPr sz="1250" b="0" i="0">
                <a:solidFill>
                  <a:srgbClr val="16181D"/>
                </a:solidFill>
                <a:latin typeface="Calibri"/>
              </a:rPr>
              <a:t>leads the printed four: pooling across price levels inverts a mechanical relation, and the split table beside the fit is the whole lesson.</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Figures are saved with fingerprints:</a:t>
            </a:r>
            <a:r>
              <a:rPr sz="1150" b="0" i="0">
                <a:solidFill>
                  <a:srgbClr val="B3261E"/>
                </a:solidFill>
                <a:latin typeface="Consolas"/>
              </a:rPr>
              <a:t>eda10_line.png 56064 bytes</a:t>
            </a:r>
            <a:r>
              <a:rPr sz="1250" b="0" i="0">
                <a:solidFill>
                  <a:srgbClr val="16181D"/>
                </a:solidFill>
                <a:latin typeface="Calibri"/>
              </a:rPr>
              <a:t>— 36 points per series, off-screen, reproducible.</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aggregate to monthly totals before drawing lines, beyond aesthetics?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Pooled r = −0.3171; every line +0.99. Name the phenomenon and the one-word plot fix.</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What makes a growth claim from two yearly means stronger than from the last month?</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Because a raw row-per-row line encodes an ordering the data does not have — four product rows share each month, so the line zigzags within a month and reads as volatility. Aggregation fixes the semantics: one mark per period. The printed [36, 36, 36] is the check that each series answers the question asked.</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Trend, swing, split correlation and two saved figures — every claim printed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11 — Correlation matrix and heat map</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40</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950" b="0" i="0">
                <a:solidFill>
                  <a:srgbClr val="16181D"/>
                </a:solidFill>
                <a:latin typeface="Calibri"/>
              </a:rPr>
              <a:t>Perform correlation analysis on a dataset by computing the correlation matrix and visualizing it using a heat map. Identify strongly and weakly related attributes and discuss the significance of correlation analysis in exploratory data analysis and machine learning applications. … (full text: the verbatim box in the course book)</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src/eda11_corr_heat.py</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"""EDA-11  correlation matrix + heat map; strong, weak — and the trivial one.</a:t>
            </a:r>
          </a:p>
          <a:p>
            <a:pPr>
              <a:lnSpc>
                <a:spcPct val="100000"/>
              </a:lnSpc>
              <a:spcBef>
                <a:spcPts val="0"/>
              </a:spcBef>
              <a:spcAft>
                <a:spcPts val="60"/>
              </a:spcAft>
            </a:pPr>
            <a:r>
              <a:rPr sz="700" b="0" i="0">
                <a:solidFill>
                  <a:srgbClr val="E5E7EB"/>
                </a:solidFill>
                <a:latin typeface="Consolas"/>
              </a:rPr>
              <a:t>Usage: python3 src/eda11_corr_heat.py data/sales_data.csv &lt;outdir&gt;</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os</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matplotlib</a:t>
            </a:r>
          </a:p>
          <a:p>
            <a:pPr>
              <a:lnSpc>
                <a:spcPct val="100000"/>
              </a:lnSpc>
              <a:spcBef>
                <a:spcPts val="0"/>
              </a:spcBef>
              <a:spcAft>
                <a:spcPts val="60"/>
              </a:spcAft>
            </a:pPr>
            <a:r>
              <a:rPr sz="700" b="0" i="0">
                <a:solidFill>
                  <a:srgbClr val="E5E7EB"/>
                </a:solidFill>
                <a:latin typeface="Consolas"/>
              </a:rPr>
              <a:t>matplotlib.use("Agg")</a:t>
            </a:r>
          </a:p>
          <a:p>
            <a:pPr>
              <a:lnSpc>
                <a:spcPct val="100000"/>
              </a:lnSpc>
              <a:spcBef>
                <a:spcPts val="0"/>
              </a:spcBef>
              <a:spcAft>
                <a:spcPts val="60"/>
              </a:spcAft>
            </a:pPr>
            <a:r>
              <a:rPr sz="700" b="0" i="0">
                <a:solidFill>
                  <a:srgbClr val="E5E7EB"/>
                </a:solidFill>
                <a:latin typeface="Consolas"/>
              </a:rPr>
              <a:t>import matplotlib.pyplot as plt</a:t>
            </a:r>
          </a:p>
          <a:p>
            <a:pPr>
              <a:lnSpc>
                <a:spcPct val="100000"/>
              </a:lnSpc>
              <a:spcBef>
                <a:spcPts val="0"/>
              </a:spcBef>
              <a:spcAft>
                <a:spcPts val="60"/>
              </a:spcAft>
            </a:pPr>
            <a:r>
              <a:rPr sz="700" b="0" i="0">
                <a:solidFill>
                  <a:srgbClr val="E5E7EB"/>
                </a:solidFill>
                <a:latin typeface="Consolas"/>
              </a:rPr>
              <a:t>import numpy as np</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import seaborn as sns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pd.set_option("display.width", 78)</a:t>
            </a:r>
          </a:p>
          <a:p>
            <a:pPr>
              <a:lnSpc>
                <a:spcPct val="100000"/>
              </a:lnSpc>
              <a:spcBef>
                <a:spcPts val="0"/>
              </a:spcBef>
              <a:spcAft>
                <a:spcPts val="60"/>
              </a:spcAft>
            </a:pPr>
            <a:r>
              <a:rPr sz="700" b="0" i="0">
                <a:solidFill>
                  <a:srgbClr val="E5E7EB"/>
                </a:solidFill>
                <a:latin typeface="Consolas"/>
              </a:rPr>
              <a:t>CSV, OUT = sys.argv[1], (sys.argv[2] if len(sys.argv) &gt; 2 else ".")</a:t>
            </a:r>
          </a:p>
          <a:p>
            <a:pPr>
              <a:lnSpc>
                <a:spcPct val="100000"/>
              </a:lnSpc>
              <a:spcBef>
                <a:spcPts val="0"/>
              </a:spcBef>
              <a:spcAft>
                <a:spcPts val="60"/>
              </a:spcAft>
            </a:pPr>
            <a:r>
              <a:rPr sz="700" b="0" i="0">
                <a:solidFill>
                  <a:srgbClr val="E5E7EB"/>
                </a:solidFill>
                <a:latin typeface="Consolas"/>
              </a:rPr>
              <a:t>df = pd.read_csv(CSV)</a:t>
            </a:r>
          </a:p>
          <a:p>
            <a:pPr>
              <a:lnSpc>
                <a:spcPct val="100000"/>
              </a:lnSpc>
              <a:spcBef>
                <a:spcPts val="0"/>
              </a:spcBef>
              <a:spcAft>
                <a:spcPts val="60"/>
              </a:spcAft>
            </a:pPr>
            <a:r>
              <a:rPr sz="700" b="0" i="0">
                <a:solidFill>
                  <a:srgbClr val="E5E7EB"/>
                </a:solidFill>
                <a:latin typeface="Consolas"/>
              </a:rPr>
              <a:t>df["rev_per_unit"] = (df["revenue"] / df["units"]).round(4)   # engineered attribute</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EDA-11  every pair of numerical attributes, in one symmetric mirror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num = df.select_dtypes("number")</a:t>
            </a:r>
          </a:p>
          <a:p>
            <a:pPr>
              <a:lnSpc>
                <a:spcPct val="100000"/>
              </a:lnSpc>
              <a:spcBef>
                <a:spcPts val="0"/>
              </a:spcBef>
              <a:spcAft>
                <a:spcPts val="60"/>
              </a:spcAft>
            </a:pPr>
            <a:r>
              <a:rPr sz="700" b="0" i="0">
                <a:solidFill>
                  <a:srgbClr val="E5E7EB"/>
                </a:solidFill>
                <a:latin typeface="Consolas"/>
              </a:rPr>
              <a:t>print(f"numerical attributes in the matrix: {list(num.columns)}")</a:t>
            </a:r>
          </a:p>
          <a:p>
            <a:pPr>
              <a:lnSpc>
                <a:spcPct val="100000"/>
              </a:lnSpc>
              <a:spcBef>
                <a:spcPts val="0"/>
              </a:spcBef>
              <a:spcAft>
                <a:spcPts val="60"/>
              </a:spcAft>
            </a:pPr>
            <a:r>
              <a:rPr sz="700" b="0" i="0">
                <a:solidFill>
                  <a:srgbClr val="E5E7EB"/>
                </a:solidFill>
                <a:latin typeface="Consolas"/>
              </a:rPr>
              <a:t>corr = num.corr().round(3)</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out/eda11_corr_heat.txt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610" b="0" i="0">
                <a:solidFill>
                  <a:srgbClr val="14171C"/>
                </a:solidFill>
                <a:latin typeface="Consolas"/>
              </a:rPr>
              <a:t>$ python3 src/eda11_corr_heat.py data/sales_data.csv /home/user/eda-course/build/work/eda11_corr_heat</a:t>
            </a:r>
          </a:p>
          <a:p>
            <a:pPr>
              <a:lnSpc>
                <a:spcPct val="100000"/>
              </a:lnSpc>
              <a:spcBef>
                <a:spcPts val="0"/>
              </a:spcBef>
              <a:spcAft>
                <a:spcPts val="60"/>
              </a:spcAft>
            </a:pPr>
            <a:r>
              <a:rPr sz="610" b="0" i="0">
                <a:solidFill>
                  <a:srgbClr val="14171C"/>
                </a:solidFill>
                <a:latin typeface="Consolas"/>
              </a:rPr>
              <a:t>== EDA-11  every pair of numerical attributes, in one symmetric mirror ==</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numerical attributes in the matrix: ['units', 'unit_price', 'revenue', 'returns', 'rev_per_unit']</a:t>
            </a:r>
          </a:p>
          <a:p>
            <a:pPr>
              <a:lnSpc>
                <a:spcPct val="100000"/>
              </a:lnSpc>
              <a:spcBef>
                <a:spcPts val="0"/>
              </a:spcBef>
              <a:spcAft>
                <a:spcPts val="60"/>
              </a:spcAft>
            </a:pPr>
            <a:r>
              <a:rPr sz="610" b="0" i="0">
                <a:solidFill>
                  <a:srgbClr val="14171C"/>
                </a:solidFill>
                <a:latin typeface="Consolas"/>
              </a:rPr>
              <a:t>              units  unit_price  revenue  returns  rev_per_unit</a:t>
            </a:r>
          </a:p>
          <a:p>
            <a:pPr>
              <a:lnSpc>
                <a:spcPct val="100000"/>
              </a:lnSpc>
              <a:spcBef>
                <a:spcPts val="0"/>
              </a:spcBef>
              <a:spcAft>
                <a:spcPts val="60"/>
              </a:spcAft>
            </a:pPr>
            <a:r>
              <a:rPr sz="610" b="0" i="0">
                <a:solidFill>
                  <a:srgbClr val="14171C"/>
                </a:solidFill>
                <a:latin typeface="Consolas"/>
              </a:rPr>
              <a:t>units         1.000      -0.588   -0.317    0.555        -0.588</a:t>
            </a:r>
          </a:p>
          <a:p>
            <a:pPr>
              <a:lnSpc>
                <a:spcPct val="100000"/>
              </a:lnSpc>
              <a:spcBef>
                <a:spcPts val="0"/>
              </a:spcBef>
              <a:spcAft>
                <a:spcPts val="60"/>
              </a:spcAft>
            </a:pPr>
            <a:r>
              <a:rPr sz="610" b="0" i="0">
                <a:solidFill>
                  <a:srgbClr val="14171C"/>
                </a:solidFill>
                <a:latin typeface="Consolas"/>
              </a:rPr>
              <a:t>unit_price   -0.588       1.000    0.920   -0.291         1.000</a:t>
            </a:r>
          </a:p>
          <a:p>
            <a:pPr>
              <a:lnSpc>
                <a:spcPct val="100000"/>
              </a:lnSpc>
              <a:spcBef>
                <a:spcPts val="0"/>
              </a:spcBef>
              <a:spcAft>
                <a:spcPts val="60"/>
              </a:spcAft>
            </a:pPr>
            <a:r>
              <a:rPr sz="610" b="0" i="0">
                <a:solidFill>
                  <a:srgbClr val="14171C"/>
                </a:solidFill>
                <a:latin typeface="Consolas"/>
              </a:rPr>
              <a:t>revenue      -0.317       0.920    1.000   -0.142         0.920</a:t>
            </a:r>
          </a:p>
          <a:p>
            <a:pPr>
              <a:lnSpc>
                <a:spcPct val="100000"/>
              </a:lnSpc>
              <a:spcBef>
                <a:spcPts val="0"/>
              </a:spcBef>
              <a:spcAft>
                <a:spcPts val="60"/>
              </a:spcAft>
            </a:pPr>
            <a:r>
              <a:rPr sz="610" b="0" i="0">
                <a:solidFill>
                  <a:srgbClr val="14171C"/>
                </a:solidFill>
                <a:latin typeface="Consolas"/>
              </a:rPr>
              <a:t>returns       0.555      -0.291   -0.142    1.000        -0.291</a:t>
            </a:r>
          </a:p>
          <a:p>
            <a:pPr>
              <a:lnSpc>
                <a:spcPct val="100000"/>
              </a:lnSpc>
              <a:spcBef>
                <a:spcPts val="0"/>
              </a:spcBef>
              <a:spcAft>
                <a:spcPts val="60"/>
              </a:spcAft>
            </a:pPr>
            <a:r>
              <a:rPr sz="610" b="0" i="0">
                <a:solidFill>
                  <a:srgbClr val="14171C"/>
                </a:solidFill>
                <a:latin typeface="Consolas"/>
              </a:rPr>
              <a:t>rev_per_unit -0.588       1.000    0.920   -0.291         1.000</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ranked by |r| — the pairs to talk about, in order:</a:t>
            </a:r>
          </a:p>
          <a:p>
            <a:pPr>
              <a:lnSpc>
                <a:spcPct val="100000"/>
              </a:lnSpc>
              <a:spcBef>
                <a:spcPts val="0"/>
              </a:spcBef>
              <a:spcAft>
                <a:spcPts val="60"/>
              </a:spcAft>
            </a:pPr>
            <a:r>
              <a:rPr sz="610" b="0" i="0">
                <a:solidFill>
                  <a:srgbClr val="14171C"/>
                </a:solidFill>
                <a:latin typeface="Consolas"/>
              </a:rPr>
              <a:t>  1. unit_price   x rev_per_unit  r = +1.000</a:t>
            </a:r>
          </a:p>
          <a:p>
            <a:pPr>
              <a:lnSpc>
                <a:spcPct val="100000"/>
              </a:lnSpc>
              <a:spcBef>
                <a:spcPts val="0"/>
              </a:spcBef>
              <a:spcAft>
                <a:spcPts val="60"/>
              </a:spcAft>
            </a:pPr>
            <a:r>
              <a:rPr sz="610" b="0" i="0">
                <a:solidFill>
                  <a:srgbClr val="14171C"/>
                </a:solidFill>
                <a:latin typeface="Consolas"/>
              </a:rPr>
              <a:t>  2. unit_price   x revenue       r = +0.920</a:t>
            </a:r>
          </a:p>
          <a:p>
            <a:pPr>
              <a:lnSpc>
                <a:spcPct val="100000"/>
              </a:lnSpc>
              <a:spcBef>
                <a:spcPts val="0"/>
              </a:spcBef>
              <a:spcAft>
                <a:spcPts val="60"/>
              </a:spcAft>
            </a:pPr>
            <a:r>
              <a:rPr sz="610" b="0" i="0">
                <a:solidFill>
                  <a:srgbClr val="14171C"/>
                </a:solidFill>
                <a:latin typeface="Consolas"/>
              </a:rPr>
              <a:t>  3. revenue      x rev_per_unit  r = +0.920</a:t>
            </a:r>
          </a:p>
          <a:p>
            <a:pPr>
              <a:lnSpc>
                <a:spcPct val="100000"/>
              </a:lnSpc>
              <a:spcBef>
                <a:spcPts val="0"/>
              </a:spcBef>
              <a:spcAft>
                <a:spcPts val="60"/>
              </a:spcAft>
            </a:pPr>
            <a:r>
              <a:rPr sz="610" b="0" i="0">
                <a:solidFill>
                  <a:srgbClr val="14171C"/>
                </a:solidFill>
                <a:latin typeface="Consolas"/>
              </a:rPr>
              <a:t>  4. units        x unit_price    r = -0.588</a:t>
            </a:r>
          </a:p>
          <a:p>
            <a:pPr>
              <a:lnSpc>
                <a:spcPct val="100000"/>
              </a:lnSpc>
              <a:spcBef>
                <a:spcPts val="0"/>
              </a:spcBef>
              <a:spcAft>
                <a:spcPts val="60"/>
              </a:spcAft>
            </a:pPr>
            <a:r>
              <a:rPr sz="610" b="0" i="0">
                <a:solidFill>
                  <a:srgbClr val="14171C"/>
                </a:solidFill>
                <a:latin typeface="Consolas"/>
              </a:rPr>
              <a:t>  5. units        x rev_per_unit  r = -0.588</a:t>
            </a:r>
          </a:p>
          <a:p>
            <a:pPr>
              <a:lnSpc>
                <a:spcPct val="100000"/>
              </a:lnSpc>
              <a:spcBef>
                <a:spcPts val="0"/>
              </a:spcBef>
              <a:spcAft>
                <a:spcPts val="60"/>
              </a:spcAft>
            </a:pPr>
            <a:r>
              <a:rPr sz="610" b="0" i="0">
                <a:solidFill>
                  <a:srgbClr val="14171C"/>
                </a:solidFill>
                <a:latin typeface="Consolas"/>
              </a:rPr>
              <a:t>  6. units        x returns       r = +0.555</a:t>
            </a:r>
          </a:p>
          <a:p>
            <a:pPr>
              <a:lnSpc>
                <a:spcPct val="100000"/>
              </a:lnSpc>
              <a:spcBef>
                <a:spcPts val="0"/>
              </a:spcBef>
              <a:spcAft>
                <a:spcPts val="60"/>
              </a:spcAft>
            </a:pPr>
            <a:r>
              <a:rPr sz="610" b="0" i="0">
                <a:solidFill>
                  <a:srgbClr val="14171C"/>
                </a:solidFill>
                <a:latin typeface="Consolas"/>
              </a:rPr>
              <a:t>  7. units        x revenue       r = -0.317</a:t>
            </a:r>
          </a:p>
          <a:p>
            <a:pPr>
              <a:lnSpc>
                <a:spcPct val="100000"/>
              </a:lnSpc>
              <a:spcBef>
                <a:spcPts val="0"/>
              </a:spcBef>
              <a:spcAft>
                <a:spcPts val="60"/>
              </a:spcAft>
            </a:pPr>
            <a:r>
              <a:rPr sz="610" b="0" i="0">
                <a:solidFill>
                  <a:srgbClr val="14171C"/>
                </a:solidFill>
                <a:latin typeface="Consolas"/>
              </a:rPr>
              <a:t>…  9 more lines omitted — complete listing in the course book  …</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saved: eda11_heat.png 36059 bytes</a:t>
            </a:r>
          </a:p>
          <a:p>
            <a:pPr>
              <a:lnSpc>
                <a:spcPct val="100000"/>
              </a:lnSpc>
              <a:spcBef>
                <a:spcPts val="0"/>
              </a:spcBef>
              <a:spcAft>
                <a:spcPts val="60"/>
              </a:spcAft>
            </a:pPr>
            <a:r>
              <a:rPr sz="610" b="0" i="0">
                <a:solidFill>
                  <a:srgbClr val="14171C"/>
                </a:solidFill>
                <a:latin typeface="Consolas"/>
              </a:rPr>
              <a:t>the heat map is the matrix with colour memory; the numbers above remain the</a:t>
            </a:r>
          </a:p>
          <a:p>
            <a:pPr>
              <a:lnSpc>
                <a:spcPct val="100000"/>
              </a:lnSpc>
              <a:spcBef>
                <a:spcPts val="0"/>
              </a:spcBef>
              <a:spcAft>
                <a:spcPts val="60"/>
              </a:spcAft>
            </a:pPr>
            <a:r>
              <a:rPr sz="610" b="0" i="0">
                <a:solidFill>
                  <a:srgbClr val="14171C"/>
                </a:solidFill>
                <a:latin typeface="Consolas"/>
              </a:rPr>
              <a:t>source of truth for the report. For ML: r is linear-only and confounded —</a:t>
            </a:r>
          </a:p>
          <a:p>
            <a:pPr>
              <a:lnSpc>
                <a:spcPct val="100000"/>
              </a:lnSpc>
              <a:spcBef>
                <a:spcPts val="0"/>
              </a:spcBef>
              <a:spcAft>
                <a:spcPts val="60"/>
              </a:spcAft>
            </a:pPr>
            <a:r>
              <a:rPr sz="610" b="0" i="0">
                <a:solidFill>
                  <a:srgbClr val="14171C"/>
                </a:solidFill>
                <a:latin typeface="Consolas"/>
              </a:rPr>
              <a:t>use it to shortlist attributes, not to conclude causes.</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EDA11 RESULT: 10 off-diagonal pairs ranked; strongest +1.000, weakest -0.142; heat map saved -- PASS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11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41</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Five numeric attributes, ten off-diagonal pairs, ranked:</a:t>
            </a:r>
            <a:r>
              <a:rPr sz="1150" b="0" i="0">
                <a:solidFill>
                  <a:srgbClr val="B3261E"/>
                </a:solidFill>
                <a:latin typeface="Consolas"/>
              </a:rPr>
              <a:t>1. unit_price   x rev_per_unit  r = +1.000</a:t>
            </a:r>
            <a:r>
              <a:rPr sz="1250" b="0" i="0">
                <a:solidFill>
                  <a:srgbClr val="16181D"/>
                </a:solidFill>
                <a:latin typeface="Calibri"/>
              </a:rPr>
              <a:t>— and the program explains why the top result is the boring one:</a:t>
            </a:r>
            <a:r>
              <a:rPr sz="1150" b="0" i="0">
                <a:solidFill>
                  <a:srgbClr val="B3261E"/>
                </a:solidFill>
                <a:latin typeface="Consolas"/>
              </a:rPr>
              <a:t>revenue/units is unit_price by construction</a:t>
            </a:r>
            <a:r>
              <a:rPr sz="1250" b="0" i="0">
                <a:solidFill>
                  <a:srgbClr val="16181D"/>
                </a:solidFill>
                <a:latin typeface="Calibri"/>
              </a:rPr>
              <a: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trivial pair is the lesson itself: correlation finds definitions and mistakes with equal confidence, so ranking by |r| is a shortlisting tool, never a conclusion — the capture's own words.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weakest pair carries the actual news:</a:t>
            </a:r>
            <a:r>
              <a:rPr sz="1150" b="0" i="0">
                <a:solidFill>
                  <a:srgbClr val="B3261E"/>
                </a:solidFill>
                <a:latin typeface="Consolas"/>
              </a:rPr>
              <a:t>weakest: revenue x returns at r = -0.142</a:t>
            </a:r>
            <a:r>
              <a:rPr sz="1250" b="0" i="0">
                <a:solidFill>
                  <a:srgbClr val="16181D"/>
                </a:solidFill>
                <a:latin typeface="Calibri"/>
              </a:rPr>
              <a:t>— returns barely move revenue: near-zero r can be the finding, when a relation was expected.</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heat map is the matrix with colour memory:</a:t>
            </a:r>
            <a:r>
              <a:rPr sz="1150" b="0" i="0">
                <a:solidFill>
                  <a:srgbClr val="B3261E"/>
                </a:solidFill>
                <a:latin typeface="Consolas"/>
              </a:rPr>
              <a:t>saved: eda11_heat.png 36059 bytes</a:t>
            </a:r>
            <a:r>
              <a:rPr sz="1250" b="0" i="0">
                <a:solidFill>
                  <a:srgbClr val="16181D"/>
                </a:solidFill>
                <a:latin typeface="Calibri"/>
              </a:rPr>
              <a:t>— annotated cells (.2f) on a fixed −1..1 scale, so the figure is readable alone while the table stays the citation.</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Every ML sentence is hedged by the capture's last block: r is linear and confounded —</a:t>
            </a:r>
            <a:r>
              <a:rPr sz="1150" b="0" i="0">
                <a:solidFill>
                  <a:srgbClr val="B3261E"/>
                </a:solidFill>
                <a:latin typeface="Consolas"/>
              </a:rPr>
              <a:t>use it to shortlist attributes, not to conclude causes</a:t>
            </a:r>
            <a:r>
              <a:rPr sz="1250" b="0" i="0">
                <a:solidFill>
                  <a:srgbClr val="16181D"/>
                </a:solidFill>
                <a:latin typeface="Calibri"/>
              </a:rPr>
              <a:t>.</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What makes the +1.000 pair trivial, and which line of code created it?</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corr() skips non-numeric columns silently. How should a report guard against the silence?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Two legitimate ways r can be ~0 between variables you expected to relate.</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rev_per_unit is defined as revenue/units and revenue is units × price, so the engineered column is unit_price up to the printout's own rounding: the assignment df['rev_per_unit'] = (df['revenue'] / df['units']).round(4) is the construction and the matrix merely reflects it back.</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Ranked, interpreted, mapped to colour, with the construction-trap named —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12 — The EDA micro-project, end to end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42</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950" b="0" i="0">
                <a:solidFill>
                  <a:srgbClr val="16181D"/>
                </a:solidFill>
                <a:latin typeface="Calibri"/>
              </a:rPr>
              <a:t>Carry out a comprehensive Exploratory Data Analysis (EDA) micro-project on a real-world dataset from domains such as education, healthcare, finance, retail, sports, or social media. … (full text: the verbatim box in the course book)</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src/eda12_project.py</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#!/usr/bin/env python3</a:t>
            </a:r>
          </a:p>
          <a:p>
            <a:pPr>
              <a:lnSpc>
                <a:spcPct val="100000"/>
              </a:lnSpc>
              <a:spcBef>
                <a:spcPts val="0"/>
              </a:spcBef>
              <a:spcAft>
                <a:spcPts val="60"/>
              </a:spcAft>
            </a:pPr>
            <a:r>
              <a:rPr sz="700" b="0" i="0">
                <a:solidFill>
                  <a:srgbClr val="E5E7EB"/>
                </a:solidFill>
                <a:latin typeface="Consolas"/>
              </a:rPr>
              <a:t>"""EDA-12  the micro-project, end to end, in one script that prints its own report.</a:t>
            </a:r>
          </a:p>
          <a:p>
            <a:pPr>
              <a:lnSpc>
                <a:spcPct val="100000"/>
              </a:lnSpc>
              <a:spcBef>
                <a:spcPts val="0"/>
              </a:spcBef>
              <a:spcAft>
                <a:spcPts val="60"/>
              </a:spcAft>
            </a:pPr>
            <a:r>
              <a:rPr sz="700" b="0" i="0">
                <a:solidFill>
                  <a:srgbClr val="E5E7EB"/>
                </a:solidFill>
                <a:latin typeface="Consolas"/>
              </a:rPr>
              <a:t>Usage: python3 src/eda12_project.py data/employee_info.csv &lt;outdir&gt;</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import os</a:t>
            </a:r>
          </a:p>
          <a:p>
            <a:pPr>
              <a:lnSpc>
                <a:spcPct val="100000"/>
              </a:lnSpc>
              <a:spcBef>
                <a:spcPts val="0"/>
              </a:spcBef>
              <a:spcAft>
                <a:spcPts val="60"/>
              </a:spcAft>
            </a:pPr>
            <a:r>
              <a:rPr sz="700" b="0" i="0">
                <a:solidFill>
                  <a:srgbClr val="E5E7EB"/>
                </a:solidFill>
                <a:latin typeface="Consolas"/>
              </a:rPr>
              <a:t>import sys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import matplotlib</a:t>
            </a:r>
          </a:p>
          <a:p>
            <a:pPr>
              <a:lnSpc>
                <a:spcPct val="100000"/>
              </a:lnSpc>
              <a:spcBef>
                <a:spcPts val="0"/>
              </a:spcBef>
              <a:spcAft>
                <a:spcPts val="60"/>
              </a:spcAft>
            </a:pPr>
            <a:r>
              <a:rPr sz="700" b="0" i="0">
                <a:solidFill>
                  <a:srgbClr val="E5E7EB"/>
                </a:solidFill>
                <a:latin typeface="Consolas"/>
              </a:rPr>
              <a:t>matplotlib.use("Agg")</a:t>
            </a:r>
          </a:p>
          <a:p>
            <a:pPr>
              <a:lnSpc>
                <a:spcPct val="100000"/>
              </a:lnSpc>
              <a:spcBef>
                <a:spcPts val="0"/>
              </a:spcBef>
              <a:spcAft>
                <a:spcPts val="60"/>
              </a:spcAft>
            </a:pPr>
            <a:r>
              <a:rPr sz="700" b="0" i="0">
                <a:solidFill>
                  <a:srgbClr val="E5E7EB"/>
                </a:solidFill>
                <a:latin typeface="Consolas"/>
              </a:rPr>
              <a:t>import matplotlib.pyplot as plt</a:t>
            </a:r>
          </a:p>
          <a:p>
            <a:pPr>
              <a:lnSpc>
                <a:spcPct val="100000"/>
              </a:lnSpc>
              <a:spcBef>
                <a:spcPts val="0"/>
              </a:spcBef>
              <a:spcAft>
                <a:spcPts val="60"/>
              </a:spcAft>
            </a:pPr>
            <a:r>
              <a:rPr sz="700" b="0" i="0">
                <a:solidFill>
                  <a:srgbClr val="E5E7EB"/>
                </a:solidFill>
                <a:latin typeface="Consolas"/>
              </a:rPr>
              <a:t>import numpy as np</a:t>
            </a:r>
          </a:p>
          <a:p>
            <a:pPr>
              <a:lnSpc>
                <a:spcPct val="100000"/>
              </a:lnSpc>
              <a:spcBef>
                <a:spcPts val="0"/>
              </a:spcBef>
              <a:spcAft>
                <a:spcPts val="60"/>
              </a:spcAft>
            </a:pPr>
            <a:r>
              <a:rPr sz="700" b="0" i="0">
                <a:solidFill>
                  <a:srgbClr val="E5E7EB"/>
                </a:solidFill>
                <a:latin typeface="Consolas"/>
              </a:rPr>
              <a:t>import pandas as pd</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pd.set_option("display.width", 78)</a:t>
            </a:r>
          </a:p>
          <a:p>
            <a:pPr>
              <a:lnSpc>
                <a:spcPct val="100000"/>
              </a:lnSpc>
              <a:spcBef>
                <a:spcPts val="0"/>
              </a:spcBef>
              <a:spcAft>
                <a:spcPts val="60"/>
              </a:spcAft>
            </a:pPr>
            <a:r>
              <a:rPr sz="700" b="0" i="0">
                <a:solidFill>
                  <a:srgbClr val="E5E7EB"/>
                </a:solidFill>
                <a:latin typeface="Consolas"/>
              </a:rPr>
              <a:t>CSV, OUT = sys.argv[1], (sys.argv[2] if len(sys.argv) &gt; 2 else ".")</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print("== EDA-12  micro-project: employee pay and performance, all six steps ==")</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1. understand</a:t>
            </a:r>
          </a:p>
          <a:p>
            <a:pPr>
              <a:lnSpc>
                <a:spcPct val="100000"/>
              </a:lnSpc>
              <a:spcBef>
                <a:spcPts val="0"/>
              </a:spcBef>
              <a:spcAft>
                <a:spcPts val="60"/>
              </a:spcAft>
            </a:pPr>
            <a:r>
              <a:rPr sz="700" b="0" i="0">
                <a:solidFill>
                  <a:srgbClr val="E5E7EB"/>
                </a:solidFill>
                <a:latin typeface="Consolas"/>
              </a:rPr>
              <a:t>df = pd.read_csv(CSV)</a:t>
            </a:r>
          </a:p>
          <a:p>
            <a:pPr>
              <a:lnSpc>
                <a:spcPct val="100000"/>
              </a:lnSpc>
              <a:spcBef>
                <a:spcPts val="0"/>
              </a:spcBef>
              <a:spcAft>
                <a:spcPts val="60"/>
              </a:spcAft>
            </a:pPr>
            <a:r>
              <a:rPr sz="700" b="0" i="0">
                <a:solidFill>
                  <a:srgbClr val="E5E7EB"/>
                </a:solidFill>
                <a:latin typeface="Consolas"/>
              </a:rPr>
              <a:t>print(f"[1] dataset: {df.shape[0]} rows x {df.shape[1]} cols"</a:t>
            </a:r>
          </a:p>
          <a:p>
            <a:pPr>
              <a:lnSpc>
                <a:spcPct val="100000"/>
              </a:lnSpc>
              <a:spcBef>
                <a:spcPts val="0"/>
              </a:spcBef>
              <a:spcAft>
                <a:spcPts val="60"/>
              </a:spcAft>
            </a:pPr>
            <a:r>
              <a:rPr sz="700" b="0" i="0">
                <a:solidFill>
                  <a:srgbClr val="E5E7EB"/>
                </a:solidFill>
                <a:latin typeface="Consolas"/>
              </a:rPr>
              <a:t>      f"  ({', '.join(df.dtypes.astype(str).unique())} dtypes)")</a:t>
            </a:r>
          </a:p>
          <a:p>
            <a:pPr>
              <a:lnSpc>
                <a:spcPct val="100000"/>
              </a:lnSpc>
              <a:spcBef>
                <a:spcPts val="0"/>
              </a:spcBef>
              <a:spcAft>
                <a:spcPts val="60"/>
              </a:spcAft>
            </a:pPr>
            <a:r>
              <a:rPr sz="700" b="0" i="0">
                <a:solidFill>
                  <a:srgbClr val="E5E7EB"/>
                </a:solidFill>
                <a:latin typeface="Consolas"/>
              </a:rPr>
              <a:t>print()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python3 — out/eda12_project.txt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610" b="0" i="0">
                <a:solidFill>
                  <a:srgbClr val="14171C"/>
                </a:solidFill>
                <a:latin typeface="Consolas"/>
              </a:rPr>
              <a:t>$ python3 src/eda12_project.py data/employee_info.csv /home/user/eda-course/build/work/eda12_project</a:t>
            </a:r>
          </a:p>
          <a:p>
            <a:pPr>
              <a:lnSpc>
                <a:spcPct val="100000"/>
              </a:lnSpc>
              <a:spcBef>
                <a:spcPts val="0"/>
              </a:spcBef>
              <a:spcAft>
                <a:spcPts val="60"/>
              </a:spcAft>
            </a:pPr>
            <a:r>
              <a:rPr sz="610" b="0" i="0">
                <a:solidFill>
                  <a:srgbClr val="14171C"/>
                </a:solidFill>
                <a:latin typeface="Consolas"/>
              </a:rPr>
              <a:t>== EDA-12  micro-project: employee pay and performance, all six steps ==</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[1] dataset: 260 rows x 7 cols  (object, int64 dtypes)</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[2] quality: 0 missing cells, 0 duplicate rows — nothing to repair here is decided by looking, not by hoping</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[3] cleaning: 260 rows in, 260 rows out — a pipeline that does</a:t>
            </a:r>
          </a:p>
          <a:p>
            <a:pPr>
              <a:lnSpc>
                <a:spcPct val="100000"/>
              </a:lnSpc>
              <a:spcBef>
                <a:spcPts val="0"/>
              </a:spcBef>
              <a:spcAft>
                <a:spcPts val="60"/>
              </a:spcAft>
            </a:pPr>
            <a:r>
              <a:rPr sz="610" b="0" i="0">
                <a:solidFill>
                  <a:srgbClr val="14171C"/>
                </a:solidFill>
                <a:latin typeface="Consolas"/>
              </a:rPr>
              <a:t>    nothing must still be IN the pipeline, or the day data arrives dirty it</a:t>
            </a:r>
          </a:p>
          <a:p>
            <a:pPr>
              <a:lnSpc>
                <a:spcPct val="100000"/>
              </a:lnSpc>
              <a:spcBef>
                <a:spcPts val="0"/>
              </a:spcBef>
              <a:spcAft>
                <a:spcPts val="60"/>
              </a:spcAft>
            </a:pPr>
            <a:r>
              <a:rPr sz="610" b="0" i="0">
                <a:solidFill>
                  <a:srgbClr val="14171C"/>
                </a:solidFill>
                <a:latin typeface="Consolas"/>
              </a:rPr>
              <a:t>    silently skips its step</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[4] salary : mean 140,873  median 140,012  std 44,957  range 67,001-213,314</a:t>
            </a:r>
          </a:p>
          <a:p>
            <a:pPr>
              <a:lnSpc>
                <a:spcPct val="100000"/>
              </a:lnSpc>
              <a:spcBef>
                <a:spcPts val="0"/>
              </a:spcBef>
              <a:spcAft>
                <a:spcPts val="60"/>
              </a:spcAft>
            </a:pPr>
            <a:r>
              <a:rPr sz="610" b="0" i="0">
                <a:solidFill>
                  <a:srgbClr val="14171C"/>
                </a:solidFill>
                <a:latin typeface="Consolas"/>
              </a:rPr>
              <a:t>    score  : mean 71.0  median 73.0  IQR 30.5</a:t>
            </a:r>
          </a:p>
          <a:p>
            <a:pPr>
              <a:lnSpc>
                <a:spcPct val="100000"/>
              </a:lnSpc>
              <a:spcBef>
                <a:spcPts val="0"/>
              </a:spcBef>
              <a:spcAft>
                <a:spcPts val="60"/>
              </a:spcAft>
            </a:pPr>
            <a:r>
              <a:rPr sz="610" b="0" i="0">
                <a:solidFill>
                  <a:srgbClr val="14171C"/>
                </a:solidFill>
                <a:latin typeface="Consolas"/>
              </a:rPr>
              <a:t>    corr(salary, score) = +0.0404</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[5] per-department summary (the whole report in one table):</a:t>
            </a:r>
          </a:p>
          <a:p>
            <a:pPr>
              <a:lnSpc>
                <a:spcPct val="100000"/>
              </a:lnSpc>
              <a:spcBef>
                <a:spcPts val="0"/>
              </a:spcBef>
              <a:spcAft>
                <a:spcPts val="60"/>
              </a:spcAft>
            </a:pPr>
            <a:r>
              <a:rPr sz="610" b="0" i="0">
                <a:solidFill>
                  <a:srgbClr val="14171C"/>
                </a:solidFill>
                <a:latin typeface="Consolas"/>
              </a:rPr>
              <a:t>              n  avg_salary  avg_perf</a:t>
            </a:r>
          </a:p>
          <a:p>
            <a:pPr>
              <a:lnSpc>
                <a:spcPct val="100000"/>
              </a:lnSpc>
              <a:spcBef>
                <a:spcPts val="0"/>
              </a:spcBef>
              <a:spcAft>
                <a:spcPts val="60"/>
              </a:spcAft>
            </a:pPr>
            <a:r>
              <a:rPr sz="610" b="0" i="0">
                <a:solidFill>
                  <a:srgbClr val="14171C"/>
                </a:solidFill>
                <a:latin typeface="Consolas"/>
              </a:rPr>
              <a:t>department                           </a:t>
            </a:r>
          </a:p>
          <a:p>
            <a:pPr>
              <a:lnSpc>
                <a:spcPct val="100000"/>
              </a:lnSpc>
              <a:spcBef>
                <a:spcPts val="0"/>
              </a:spcBef>
              <a:spcAft>
                <a:spcPts val="60"/>
              </a:spcAft>
            </a:pPr>
            <a:r>
              <a:rPr sz="610" b="0" i="0">
                <a:solidFill>
                  <a:srgbClr val="14171C"/>
                </a:solidFill>
                <a:latin typeface="Consolas"/>
              </a:rPr>
              <a:t>Sales        51   149981.10     69.33</a:t>
            </a:r>
          </a:p>
          <a:p>
            <a:pPr>
              <a:lnSpc>
                <a:spcPct val="100000"/>
              </a:lnSpc>
              <a:spcBef>
                <a:spcPts val="0"/>
              </a:spcBef>
              <a:spcAft>
                <a:spcPts val="60"/>
              </a:spcAft>
            </a:pPr>
            <a:r>
              <a:rPr sz="610" b="0" i="0">
                <a:solidFill>
                  <a:srgbClr val="14171C"/>
                </a:solidFill>
                <a:latin typeface="Consolas"/>
              </a:rPr>
              <a:t>…  9 more lines omitted — complete listing in the course book  …</a:t>
            </a:r>
          </a:p>
          <a:p>
            <a:pPr>
              <a:lnSpc>
                <a:spcPct val="100000"/>
              </a:lnSpc>
              <a:spcBef>
                <a:spcPts val="0"/>
              </a:spcBef>
              <a:spcAft>
                <a:spcPts val="60"/>
              </a:spcAft>
            </a:pPr>
            <a:r>
              <a:rPr sz="610" b="0" i="0">
                <a:solidFill>
                  <a:srgbClr val="14171C"/>
                </a:solidFill>
                <a:latin typeface="Consolas"/>
              </a:rPr>
              <a:t>    F1 pay spread is department-shaped, not performance-shaped — audit Marketing</a:t>
            </a:r>
          </a:p>
          <a:p>
            <a:pPr>
              <a:lnSpc>
                <a:spcPct val="100000"/>
              </a:lnSpc>
              <a:spcBef>
                <a:spcPts val="0"/>
              </a:spcBef>
              <a:spcAft>
                <a:spcPts val="60"/>
              </a:spcAft>
            </a:pPr>
            <a:r>
              <a:rPr sz="610" b="0" i="0">
                <a:solidFill>
                  <a:srgbClr val="14171C"/>
                </a:solidFill>
                <a:latin typeface="Consolas"/>
              </a:rPr>
              <a:t>    F2 salary/score correlate at +0.04: pay has not caught up with work</a:t>
            </a:r>
          </a:p>
          <a:p>
            <a:pPr>
              <a:lnSpc>
                <a:spcPct val="100000"/>
              </a:lnSpc>
              <a:spcBef>
                <a:spcPts val="0"/>
              </a:spcBef>
              <a:spcAft>
                <a:spcPts val="60"/>
              </a:spcAft>
            </a:pPr>
            <a:r>
              <a:rPr sz="610" b="0" i="0">
                <a:solidFill>
                  <a:srgbClr val="14171C"/>
                </a:solidFill>
                <a:latin typeface="Consolas"/>
              </a:rPr>
              <a:t>    F3 23 strong performers (score&gt;=90) earn below the median raise-first</a:t>
            </a:r>
          </a:p>
          <a:p>
            <a:pPr>
              <a:lnSpc>
                <a:spcPct val="100000"/>
              </a:lnSpc>
              <a:spcBef>
                <a:spcPts val="0"/>
              </a:spcBef>
              <a:spcAft>
                <a:spcPts val="60"/>
              </a:spcAft>
            </a:pPr>
            <a:r>
              <a:rPr sz="610" b="0" i="0">
                <a:solidFill>
                  <a:srgbClr val="14171C"/>
                </a:solidFill>
                <a:latin typeface="Consolas"/>
              </a:rPr>
              <a:t>       list — cheapest retention win on the table</a:t>
            </a:r>
          </a:p>
          <a:p>
            <a:pPr>
              <a:lnSpc>
                <a:spcPct val="100000"/>
              </a:lnSpc>
              <a:spcBef>
                <a:spcPts val="0"/>
              </a:spcBef>
              <a:spcAft>
                <a:spcPts val="60"/>
              </a:spcAft>
            </a:pPr>
            <a:r>
              <a:rPr sz="610" b="0" i="0">
                <a:solidFill>
                  <a:srgbClr val="14171C"/>
                </a:solidFill>
                <a:latin typeface="Consolas"/>
              </a:rPr>
              <a:t>    report tail written: eda12_findings.txt (75 bytes)</a:t>
            </a:r>
          </a:p>
          <a:p>
            <a:pPr>
              <a:lnSpc>
                <a:spcPct val="100000"/>
              </a:lnSpc>
              <a:spcBef>
                <a:spcPts val="0"/>
              </a:spcBef>
              <a:spcAft>
                <a:spcPts val="60"/>
              </a:spcAft>
            </a:pPr>
            <a:r>
              <a:rPr sz="610" b="0" i="0">
                <a:solidFill>
                  <a:srgbClr val="14171C"/>
                </a:solidFill>
                <a:latin typeface="Consolas"/>
              </a:rPr>
              <a:t> </a:t>
            </a:r>
          </a:p>
          <a:p>
            <a:pPr>
              <a:lnSpc>
                <a:spcPct val="100000"/>
              </a:lnSpc>
              <a:spcBef>
                <a:spcPts val="0"/>
              </a:spcBef>
              <a:spcAft>
                <a:spcPts val="60"/>
              </a:spcAft>
            </a:pPr>
            <a:r>
              <a:rPr sz="610" b="0" i="0">
                <a:solidFill>
                  <a:srgbClr val="14171C"/>
                </a:solidFill>
                <a:latin typeface="Consolas"/>
              </a:rPr>
              <a:t>EDA12 RESULT: end-to-end EDA on 260 rows — understand, quality, clean, stats, groups, 2 charts, 3 findings, 1 report file -- PASS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EXPERIMENT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12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43</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Every experiment of this book appears as a labelled step, quality included, reporting honestly:</a:t>
            </a:r>
            <a:r>
              <a:rPr sz="1150" b="0" i="0">
                <a:solidFill>
                  <a:srgbClr val="B3261E"/>
                </a:solidFill>
                <a:latin typeface="Consolas"/>
              </a:rPr>
              <a:t>0 missing cells, 0 duplicate rows</a:t>
            </a:r>
            <a:r>
              <a:rPr sz="1250" b="0" i="0">
                <a:solidFill>
                  <a:srgbClr val="16181D"/>
                </a:solidFill>
                <a:latin typeface="Calibri"/>
              </a:rPr>
              <a:t>— the no-defect case in one countable line.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statistics block establishes the base rates the findings spend: salary</a:t>
            </a:r>
            <a:r>
              <a:rPr sz="1150" b="0" i="0">
                <a:solidFill>
                  <a:srgbClr val="B3261E"/>
                </a:solidFill>
                <a:latin typeface="Consolas"/>
              </a:rPr>
              <a:t>mean 140,873</a:t>
            </a:r>
            <a:r>
              <a:rPr sz="1250" b="0" i="0">
                <a:solidFill>
                  <a:srgbClr val="16181D"/>
                </a:solidFill>
                <a:latin typeface="Calibri"/>
              </a:rPr>
              <a:t>, and pay-versus-performance printed at</a:t>
            </a:r>
            <a:r>
              <a:rPr sz="1150" b="0" i="0">
                <a:solidFill>
                  <a:srgbClr val="B3261E"/>
                </a:solidFill>
                <a:latin typeface="Consolas"/>
              </a:rPr>
              <a:t>corr(salary, score) = +0.0404</a:t>
            </a:r>
            <a:r>
              <a:rPr sz="1250" b="0" i="0">
                <a:solidFill>
                  <a:srgbClr val="16181D"/>
                </a:solidFill>
                <a:latin typeface="Calibri"/>
              </a:rPr>
              <a:t>— F2 cites the number.</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department table is the single dense artifact:</a:t>
            </a:r>
            <a:r>
              <a:rPr sz="1150" b="0" i="0">
                <a:solidFill>
                  <a:srgbClr val="B3261E"/>
                </a:solidFill>
                <a:latin typeface="Consolas"/>
              </a:rPr>
              <a:t>Sales pays most: 149,981.10 vs Marketing at 129,273.88 (20,707.22 apart)</a:t>
            </a:r>
            <a:r>
              <a:rPr sz="1250" b="0" i="0">
                <a:solidFill>
                  <a:srgbClr val="16181D"/>
                </a:solidFill>
                <a:latin typeface="Calibri"/>
              </a:rPr>
              <a:t>while the same table's Marketing avg_perf 75.00 is the second-highest — the finding lives in reading the two columns together.</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Findings are computed sentences: the retention list is</a:t>
            </a:r>
            <a:r>
              <a:rPr sz="1150" b="0" i="0">
                <a:solidFill>
                  <a:srgbClr val="B3261E"/>
                </a:solidFill>
                <a:latin typeface="Consolas"/>
              </a:rPr>
              <a:t>23 strong performers (score›=90) earn below the median</a:t>
            </a:r>
            <a:r>
              <a:rPr sz="1250" b="0" i="0">
                <a:solidFill>
                  <a:srgbClr val="16181D"/>
                </a:solidFill>
                <a:latin typeface="Calibri"/>
              </a:rPr>
              <a:t>— a mask the reader can rerun, not an adjective about the scatter.</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artifacts close the loop: two figures, a</a:t>
            </a:r>
            <a:r>
              <a:rPr sz="1150" b="0" i="0">
                <a:solidFill>
                  <a:srgbClr val="B3261E"/>
                </a:solidFill>
                <a:latin typeface="Consolas"/>
              </a:rPr>
              <a:t>eda12_findings.txt (75 bytes)</a:t>
            </a:r>
            <a:r>
              <a:rPr sz="1250" b="0" i="0">
                <a:solidFill>
                  <a:srgbClr val="16181D"/>
                </a:solidFill>
                <a:latin typeface="Calibri"/>
              </a:rPr>
              <a:t>report-tail, and a RESULT line whose every number descends from the blocks above.</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The report's first rule: every finding sentence names its mask or its table. Point at F3 in the capture and show what it looks like without one.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Why print the cleaning step when it changed nothing?</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The finding says pay is department-shaped, not performance-shaped. Which numbers do the arguing?</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F3 is '23 strong performers … below the median' — countable from two conditions visible in the same block. Without the mask it degenerates to 'several high performers are underpaid': unfalsifiable, ungradeable, and the exact sentence a viva question exists to attack.</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Understand → quality → clean → describe → group → chart → findings → file —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400"/>
              </a:spcAft>
            </a:pPr>
            <a:r>
              <a:rPr sz="1300" b="1" i="0">
                <a:solidFill>
                  <a:srgbClr val="4B5563"/>
                </a:solidFill>
                <a:latin typeface="Calibri"/>
              </a:rPr>
              <a:t>P A R T</a:t>
            </a:r>
          </a:p>
        </p:txBody>
      </p:sp>
      <p:sp>
        <p:nvSpPr>
          <p:cNvPr id="3" name="TextBox 2"/>
          <p:cNvSpPr txBox="1"/>
          <p:nvPr/>
        </p:nvSpPr>
        <p:spPr>
          <a:xfrm>
            <a:off x="914400" y="658368"/>
            <a:ext cx="10362895" cy="2286000"/>
          </a:xfrm>
          <a:prstGeom prst="rect">
            <a:avLst/>
          </a:prstGeom>
          <a:noFill/>
        </p:spPr>
        <p:txBody>
          <a:bodyPr wrap="square" anchor="t" lIns="0" rIns="0" tIns="0" bIns="0">
            <a:spAutoFit/>
          </a:bodyPr>
          <a:lstStyle/>
          <a:p>
            <a:pPr algn="ctr">
              <a:spcBef>
                <a:spcPts val="0"/>
              </a:spcBef>
              <a:spcAft>
                <a:spcPts val="400"/>
              </a:spcAft>
            </a:pPr>
            <a:r>
              <a:rPr sz="13200" b="1" i="0">
                <a:solidFill>
                  <a:srgbClr val="B3261E"/>
                </a:solidFill>
                <a:latin typeface="Calibri"/>
              </a:rPr>
              <a:t>C</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400"/>
              </a:spcAft>
            </a:pPr>
            <a:r>
              <a:rPr sz="3000" b="1" i="0">
                <a:solidFill>
                  <a:srgbClr val="0F172A"/>
                </a:solidFill>
                <a:latin typeface="Calibri"/>
              </a:rPr>
              <a:t>Appendices — Reference, Rubric, Viva, Reproduce</a:t>
            </a:r>
          </a:p>
        </p:txBody>
      </p:sp>
      <p:sp>
        <p:nvSpPr>
          <p:cNvPr id="6" name="TextBox 5"/>
          <p:cNvSpPr txBox="1"/>
          <p:nvPr/>
        </p:nvSpPr>
        <p:spPr>
          <a:xfrm>
            <a:off x="1737360" y="4114800"/>
            <a:ext cx="8716975" cy="960120"/>
          </a:xfrm>
          <a:prstGeom prst="rect">
            <a:avLst/>
          </a:prstGeom>
          <a:noFill/>
        </p:spPr>
        <p:txBody>
          <a:bodyPr wrap="square" anchor="t" lIns="0" rIns="0" tIns="0" bIns="0">
            <a:spAutoFit/>
          </a:bodyPr>
          <a:lstStyle/>
          <a:p>
            <a:pPr algn="ctr">
              <a:spcBef>
                <a:spcPts val="0"/>
              </a:spcBef>
              <a:spcAft>
                <a:spcPts val="400"/>
              </a:spcAft>
            </a:pPr>
            <a:r>
              <a:rPr sz="1400" b="0" i="0">
                <a:solidFill>
                  <a:srgbClr val="4B5563"/>
                </a:solidFill>
                <a:latin typeface="Calibri"/>
              </a:rPr>
              <a:t>The plates behind the run: the one-screen EDA reference, the report shaped to the six rubric rows, a recurring viva dozen, and the three-command pipeline that regenerates every capture, page and slide in this deck.</a:t>
            </a:r>
          </a:p>
        </p:txBody>
      </p:sp>
      <p:sp>
        <p:nvSpPr>
          <p:cNvPr id="7" name="Rectangle 6"/>
          <p:cNvSpPr/>
          <p:nvPr/>
        </p:nvSpPr>
        <p:spPr>
          <a:xfrm>
            <a:off x="1706727" y="4930139"/>
            <a:ext cx="8778240" cy="148894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44471" y="5049011"/>
            <a:ext cx="8449056" cy="1269492"/>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IN THIS PART</a:t>
            </a:r>
          </a:p>
          <a:p>
            <a:pPr>
              <a:spcBef>
                <a:spcPts val="0"/>
              </a:spcBef>
              <a:spcAft>
                <a:spcPts val="160"/>
              </a:spcAft>
            </a:pPr>
            <a:r>
              <a:rPr sz="1250" b="1" i="0">
                <a:solidFill>
                  <a:srgbClr val="B3261E"/>
                </a:solidFill>
                <a:latin typeface="Calibri"/>
              </a:rPr>
              <a:t>•  </a:t>
            </a:r>
            <a:r>
              <a:rPr sz="1250" b="0" i="0">
                <a:solidFill>
                  <a:srgbClr val="16181D"/>
                </a:solidFill>
                <a:latin typeface="Calibri"/>
              </a:rPr>
              <a:t>Appendix A — quick-reference sheet (six plates)</a:t>
            </a:r>
          </a:p>
          <a:p>
            <a:pPr>
              <a:spcBef>
                <a:spcPts val="0"/>
              </a:spcBef>
              <a:spcAft>
                <a:spcPts val="160"/>
              </a:spcAft>
            </a:pPr>
            <a:r>
              <a:rPr sz="1250" b="1" i="0">
                <a:solidFill>
                  <a:srgbClr val="B3261E"/>
                </a:solidFill>
                <a:latin typeface="Calibri"/>
              </a:rPr>
              <a:t>•  </a:t>
            </a:r>
            <a:r>
              <a:rPr sz="1250" b="0" i="0">
                <a:solidFill>
                  <a:srgbClr val="16181D"/>
                </a:solidFill>
                <a:latin typeface="Calibri"/>
              </a:rPr>
              <a:t>Appendix B — the report IS the rubric</a:t>
            </a:r>
          </a:p>
        </p:txBody>
      </p:sp>
      <p:sp>
        <p:nvSpPr>
          <p:cNvPr id="9" name="TextBox 8"/>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400"/>
              </a:spcAft>
            </a:pPr>
            <a:r>
              <a:rPr sz="1000" b="1" i="0">
                <a:solidFill>
                  <a:srgbClr val="4B5563"/>
                </a:solidFill>
                <a:latin typeface="Calibri"/>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One-Page EDA Reference (Appendix 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45</a:t>
            </a:r>
          </a:p>
        </p:txBody>
      </p:sp>
      <p:sp>
        <p:nvSpPr>
          <p:cNvPr id="8" name="Rectangle 7"/>
          <p:cNvSpPr/>
          <p:nvPr/>
        </p:nvSpPr>
        <p:spPr>
          <a:xfrm>
            <a:off x="502920" y="160020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0020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66878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NOTEBOOK &amp; PROVENANCE</a:t>
            </a:r>
          </a:p>
        </p:txBody>
      </p:sp>
      <p:sp>
        <p:nvSpPr>
          <p:cNvPr id="11" name="TextBox 10"/>
          <p:cNvSpPr txBox="1"/>
          <p:nvPr/>
        </p:nvSpPr>
        <p:spPr>
          <a:xfrm>
            <a:off x="649224" y="2075688"/>
            <a:ext cx="3364992" cy="1783080"/>
          </a:xfrm>
          <a:prstGeom prst="rect">
            <a:avLst/>
          </a:prstGeom>
          <a:noFill/>
        </p:spPr>
        <p:txBody>
          <a:bodyPr wrap="square" anchor="t" lIns="0" rIns="0" tIns="0" bIns="0">
            <a:spAutoFit/>
          </a:bodyPr>
          <a:lstStyle/>
          <a:p>
            <a:pPr>
              <a:spcBef>
                <a:spcPts val="0"/>
              </a:spcBef>
              <a:spcAft>
                <a:spcPts val="450"/>
              </a:spcAft>
            </a:pPr>
            <a:r>
              <a:rPr sz="960" b="0" i="0">
                <a:solidFill>
                  <a:srgbClr val="16181D"/>
                </a:solidFill>
                <a:latin typeface="Consolas"/>
              </a:rPr>
              <a:t># %% cells run as a script too</a:t>
            </a:r>
          </a:p>
          <a:p>
            <a:pPr>
              <a:spcBef>
                <a:spcPts val="0"/>
              </a:spcBef>
              <a:spcAft>
                <a:spcPts val="450"/>
              </a:spcAft>
            </a:pPr>
            <a:r>
              <a:rPr sz="960" b="0" i="0">
                <a:solidFill>
                  <a:srgbClr val="16181D"/>
                </a:solidFill>
                <a:latin typeface="Consolas"/>
              </a:rPr>
              <a:t>cell 0 prints versions + seed</a:t>
            </a:r>
          </a:p>
          <a:p>
            <a:pPr>
              <a:spcBef>
                <a:spcPts val="0"/>
              </a:spcBef>
              <a:spcAft>
                <a:spcPts val="450"/>
              </a:spcAft>
            </a:pPr>
            <a:r>
              <a:rPr sz="960" b="0" i="0">
                <a:solidFill>
                  <a:srgbClr val="16181D"/>
                </a:solidFill>
                <a:latin typeface="Consolas"/>
              </a:rPr>
              <a:t>sha256 the CSV before reading it</a:t>
            </a:r>
          </a:p>
          <a:p>
            <a:pPr>
              <a:spcBef>
                <a:spcPts val="0"/>
              </a:spcBef>
              <a:spcAft>
                <a:spcPts val="450"/>
              </a:spcAft>
            </a:pPr>
            <a:r>
              <a:rPr sz="960" b="0" i="0">
                <a:solidFill>
                  <a:srgbClr val="16181D"/>
                </a:solidFill>
                <a:latin typeface="Consolas"/>
              </a:rPr>
              <a:t>generated data = checkable data</a:t>
            </a:r>
          </a:p>
          <a:p>
            <a:pPr>
              <a:spcBef>
                <a:spcPts val="0"/>
              </a:spcBef>
              <a:spcAft>
                <a:spcPts val="450"/>
              </a:spcAft>
            </a:pPr>
            <a:r>
              <a:rPr sz="960" b="0" i="0">
                <a:solidFill>
                  <a:srgbClr val="16181D"/>
                </a:solidFill>
                <a:latin typeface="Consolas"/>
              </a:rPr>
              <a:t>print the table, then draw</a:t>
            </a:r>
          </a:p>
          <a:p>
            <a:pPr>
              <a:spcBef>
                <a:spcPts val="0"/>
              </a:spcBef>
              <a:spcAft>
                <a:spcPts val="450"/>
              </a:spcAft>
            </a:pPr>
            <a:r>
              <a:rPr sz="960" b="0" i="0">
                <a:solidFill>
                  <a:srgbClr val="16181D"/>
                </a:solidFill>
                <a:latin typeface="Consolas"/>
              </a:rPr>
              <a:t>RESULT line ends every program</a:t>
            </a:r>
          </a:p>
        </p:txBody>
      </p:sp>
      <p:sp>
        <p:nvSpPr>
          <p:cNvPr id="12" name="Rectangle 11"/>
          <p:cNvSpPr/>
          <p:nvPr/>
        </p:nvSpPr>
        <p:spPr>
          <a:xfrm>
            <a:off x="4297680" y="160020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60020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5696" y="166878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NUMPY</a:t>
            </a:r>
          </a:p>
        </p:txBody>
      </p:sp>
      <p:sp>
        <p:nvSpPr>
          <p:cNvPr id="15" name="TextBox 14"/>
          <p:cNvSpPr txBox="1"/>
          <p:nvPr/>
        </p:nvSpPr>
        <p:spPr>
          <a:xfrm>
            <a:off x="4443984" y="2075688"/>
            <a:ext cx="3364992" cy="1783080"/>
          </a:xfrm>
          <a:prstGeom prst="rect">
            <a:avLst/>
          </a:prstGeom>
          <a:noFill/>
        </p:spPr>
        <p:txBody>
          <a:bodyPr wrap="square" anchor="t" lIns="0" rIns="0" tIns="0" bIns="0">
            <a:spAutoFit/>
          </a:bodyPr>
          <a:lstStyle/>
          <a:p>
            <a:pPr>
              <a:spcBef>
                <a:spcPts val="0"/>
              </a:spcBef>
              <a:spcAft>
                <a:spcPts val="450"/>
              </a:spcAft>
            </a:pPr>
            <a:r>
              <a:rPr sz="960" b="0" i="0">
                <a:solidFill>
                  <a:srgbClr val="16181D"/>
                </a:solidFill>
                <a:latin typeface="Consolas"/>
              </a:rPr>
              <a:t>one dtype per array (NaN forces float64)</a:t>
            </a:r>
          </a:p>
          <a:p>
            <a:pPr>
              <a:spcBef>
                <a:spcPts val="0"/>
              </a:spcBef>
              <a:spcAft>
                <a:spcPts val="450"/>
              </a:spcAft>
            </a:pPr>
            <a:r>
              <a:rPr sz="960" b="0" i="0">
                <a:solidFill>
                  <a:srgbClr val="16181D"/>
                </a:solidFill>
                <a:latin typeface="Consolas"/>
              </a:rPr>
              <a:t>shape/dtype/strides = the layout receipt</a:t>
            </a:r>
          </a:p>
          <a:p>
            <a:pPr>
              <a:spcBef>
                <a:spcPts val="0"/>
              </a:spcBef>
              <a:spcAft>
                <a:spcPts val="450"/>
              </a:spcAft>
            </a:pPr>
            <a:r>
              <a:rPr sz="960" b="0" i="0">
                <a:solidFill>
                  <a:srgbClr val="16181D"/>
                </a:solidFill>
                <a:latin typeface="Consolas"/>
              </a:rPr>
              <a:t>(3,4)+(4,) broadcasts; (3,1) aligns too</a:t>
            </a:r>
          </a:p>
          <a:p>
            <a:pPr>
              <a:spcBef>
                <a:spcPts val="0"/>
              </a:spcBef>
              <a:spcAft>
                <a:spcPts val="450"/>
              </a:spcAft>
            </a:pPr>
            <a:r>
              <a:rPr sz="960" b="0" i="0">
                <a:solidFill>
                  <a:srgbClr val="16181D"/>
                </a:solidFill>
                <a:latin typeface="Consolas"/>
              </a:rPr>
              <a:t>count with masks: x[x&gt;80].size</a:t>
            </a:r>
          </a:p>
          <a:p>
            <a:pPr>
              <a:spcBef>
                <a:spcPts val="0"/>
              </a:spcBef>
              <a:spcAft>
                <a:spcPts val="450"/>
              </a:spcAft>
            </a:pPr>
            <a:r>
              <a:rPr sz="960" b="0" i="0">
                <a:solidFill>
                  <a:srgbClr val="16181D"/>
                </a:solidFill>
                <a:latin typeface="Consolas"/>
              </a:rPr>
              <a:t>std: ddof=1 matches pandas exactly</a:t>
            </a:r>
          </a:p>
          <a:p>
            <a:pPr>
              <a:spcBef>
                <a:spcPts val="0"/>
              </a:spcBef>
              <a:spcAft>
                <a:spcPts val="450"/>
              </a:spcAft>
            </a:pPr>
            <a:r>
              <a:rPr sz="960" b="0" i="0">
                <a:solidFill>
                  <a:srgbClr val="16181D"/>
                </a:solidFill>
                <a:latin typeface="Consolas"/>
              </a:rPr>
              <a:t>no Python loops over elements</a:t>
            </a:r>
          </a:p>
        </p:txBody>
      </p:sp>
      <p:sp>
        <p:nvSpPr>
          <p:cNvPr id="16" name="Rectangle 15"/>
          <p:cNvSpPr/>
          <p:nvPr/>
        </p:nvSpPr>
        <p:spPr>
          <a:xfrm>
            <a:off x="8092440" y="160020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60020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0456" y="166878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PANDAS</a:t>
            </a:r>
          </a:p>
        </p:txBody>
      </p:sp>
      <p:sp>
        <p:nvSpPr>
          <p:cNvPr id="19" name="TextBox 18"/>
          <p:cNvSpPr txBox="1"/>
          <p:nvPr/>
        </p:nvSpPr>
        <p:spPr>
          <a:xfrm>
            <a:off x="8238744" y="2075688"/>
            <a:ext cx="3364992" cy="1783080"/>
          </a:xfrm>
          <a:prstGeom prst="rect">
            <a:avLst/>
          </a:prstGeom>
          <a:noFill/>
        </p:spPr>
        <p:txBody>
          <a:bodyPr wrap="square" anchor="t" lIns="0" rIns="0" tIns="0" bIns="0">
            <a:spAutoFit/>
          </a:bodyPr>
          <a:lstStyle/>
          <a:p>
            <a:pPr>
              <a:spcBef>
                <a:spcPts val="0"/>
              </a:spcBef>
              <a:spcAft>
                <a:spcPts val="450"/>
              </a:spcAft>
            </a:pPr>
            <a:r>
              <a:rPr sz="960" b="0" i="0">
                <a:solidFill>
                  <a:srgbClr val="16181D"/>
                </a:solidFill>
                <a:latin typeface="Consolas"/>
              </a:rPr>
              <a:t>count() ≠ nunique(); both matter</a:t>
            </a:r>
          </a:p>
          <a:p>
            <a:pPr>
              <a:spcBef>
                <a:spcPts val="0"/>
              </a:spcBef>
              <a:spcAft>
                <a:spcPts val="450"/>
              </a:spcAft>
            </a:pPr>
            <a:r>
              <a:rPr sz="960" b="0" i="0">
                <a:solidFill>
                  <a:srgbClr val="16181D"/>
                </a:solidFill>
                <a:latin typeface="Consolas"/>
              </a:rPr>
              <a:t>loc label · iloc position · [] · [[]]</a:t>
            </a:r>
          </a:p>
          <a:p>
            <a:pPr>
              <a:spcBef>
                <a:spcPts val="0"/>
              </a:spcBef>
              <a:spcAft>
                <a:spcPts val="450"/>
              </a:spcAft>
            </a:pPr>
            <a:r>
              <a:rPr sz="960" b="0" i="0">
                <a:solidFill>
                  <a:srgbClr val="16181D"/>
                </a:solidFill>
                <a:latin typeface="Consolas"/>
              </a:rPr>
              <a:t>isna().sum() per column, any(axis=1) per row</a:t>
            </a:r>
          </a:p>
          <a:p>
            <a:pPr>
              <a:spcBef>
                <a:spcPts val="0"/>
              </a:spcBef>
              <a:spcAft>
                <a:spcPts val="450"/>
              </a:spcAft>
            </a:pPr>
            <a:r>
              <a:rPr sz="960" b="0" i="0">
                <a:solidFill>
                  <a:srgbClr val="16181D"/>
                </a:solidFill>
                <a:latin typeface="Consolas"/>
              </a:rPr>
              <a:t>duplicated(keep=False) = the whole family</a:t>
            </a:r>
          </a:p>
          <a:p>
            <a:pPr>
              <a:spcBef>
                <a:spcPts val="0"/>
              </a:spcBef>
              <a:spcAft>
                <a:spcPts val="450"/>
              </a:spcAft>
            </a:pPr>
            <a:r>
              <a:rPr sz="960" b="0" i="0">
                <a:solidFill>
                  <a:srgbClr val="16181D"/>
                </a:solidFill>
                <a:latin typeface="Consolas"/>
              </a:rPr>
              <a:t>groupby drops NaN keys — count them</a:t>
            </a:r>
          </a:p>
          <a:p>
            <a:pPr>
              <a:spcBef>
                <a:spcPts val="0"/>
              </a:spcBef>
              <a:spcAft>
                <a:spcPts val="450"/>
              </a:spcAft>
            </a:pPr>
            <a:r>
              <a:rPr sz="960" b="0" i="0">
                <a:solidFill>
                  <a:srgbClr val="16181D"/>
                </a:solidFill>
                <a:latin typeface="Consolas"/>
              </a:rPr>
              <a:t>agg(n=…, avg=…) names the answer</a:t>
            </a:r>
          </a:p>
        </p:txBody>
      </p:sp>
      <p:sp>
        <p:nvSpPr>
          <p:cNvPr id="20" name="Rectangle 19"/>
          <p:cNvSpPr/>
          <p:nvPr/>
        </p:nvSpPr>
        <p:spPr>
          <a:xfrm>
            <a:off x="502920" y="402336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02336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409194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QUALITY &amp; CLEANING</a:t>
            </a:r>
          </a:p>
        </p:txBody>
      </p:sp>
      <p:sp>
        <p:nvSpPr>
          <p:cNvPr id="23" name="TextBox 22"/>
          <p:cNvSpPr txBox="1"/>
          <p:nvPr/>
        </p:nvSpPr>
        <p:spPr>
          <a:xfrm>
            <a:off x="649224" y="4498848"/>
            <a:ext cx="3364992" cy="1783080"/>
          </a:xfrm>
          <a:prstGeom prst="rect">
            <a:avLst/>
          </a:prstGeom>
          <a:noFill/>
        </p:spPr>
        <p:txBody>
          <a:bodyPr wrap="square" anchor="t" lIns="0" rIns="0" tIns="0" bIns="0">
            <a:spAutoFit/>
          </a:bodyPr>
          <a:lstStyle/>
          <a:p>
            <a:pPr>
              <a:spcBef>
                <a:spcPts val="0"/>
              </a:spcBef>
              <a:spcAft>
                <a:spcPts val="450"/>
              </a:spcAft>
            </a:pPr>
            <a:r>
              <a:rPr sz="960" b="0" i="0">
                <a:solidFill>
                  <a:srgbClr val="16181D"/>
                </a:solidFill>
                <a:latin typeface="Consolas"/>
              </a:rPr>
              <a:t>state the threshold you filter by</a:t>
            </a:r>
          </a:p>
          <a:p>
            <a:pPr>
              <a:spcBef>
                <a:spcPts val="0"/>
              </a:spcBef>
              <a:spcAft>
                <a:spcPts val="450"/>
              </a:spcAft>
            </a:pPr>
            <a:r>
              <a:rPr sz="960" b="0" i="0">
                <a:solidFill>
                  <a:srgbClr val="16181D"/>
                </a:solidFill>
                <a:latin typeface="Consolas"/>
              </a:rPr>
              <a:t>dropna is priced: 412→345 rows</a:t>
            </a:r>
          </a:p>
          <a:p>
            <a:pPr>
              <a:spcBef>
                <a:spcPts val="0"/>
              </a:spcBef>
              <a:spcAft>
                <a:spcPts val="450"/>
              </a:spcAft>
            </a:pPr>
            <a:r>
              <a:rPr sz="960" b="0" i="0">
                <a:solidFill>
                  <a:srgbClr val="16181D"/>
                </a:solidFill>
                <a:latin typeface="Consolas"/>
              </a:rPr>
              <a:t>median impute: mean −0.03, std 3.28→3.23</a:t>
            </a:r>
          </a:p>
          <a:p>
            <a:pPr>
              <a:spcBef>
                <a:spcPts val="0"/>
              </a:spcBef>
              <a:spcAft>
                <a:spcPts val="450"/>
              </a:spcAft>
            </a:pPr>
            <a:r>
              <a:rPr sz="960" b="0" i="0">
                <a:solidFill>
                  <a:srgbClr val="16181D"/>
                </a:solidFill>
                <a:latin typeface="Consolas"/>
              </a:rPr>
              <a:t>mode fill = 53 guesses in one category</a:t>
            </a:r>
          </a:p>
          <a:p>
            <a:pPr>
              <a:spcBef>
                <a:spcPts val="0"/>
              </a:spcBef>
              <a:spcAft>
                <a:spcPts val="450"/>
              </a:spcAft>
            </a:pPr>
            <a:r>
              <a:rPr sz="960" b="0" i="0">
                <a:solidFill>
                  <a:srgbClr val="16181D"/>
                </a:solidFill>
                <a:latin typeface="Consolas"/>
              </a:rPr>
              <a:t>write cleaned.csv, re-read, re-check</a:t>
            </a:r>
          </a:p>
          <a:p>
            <a:pPr>
              <a:spcBef>
                <a:spcPts val="0"/>
              </a:spcBef>
              <a:spcAft>
                <a:spcPts val="450"/>
              </a:spcAft>
            </a:pPr>
            <a:r>
              <a:rPr sz="960" b="0" i="0">
                <a:solidFill>
                  <a:srgbClr val="16181D"/>
                </a:solidFill>
                <a:latin typeface="Consolas"/>
              </a:rPr>
              <a:t>dedup before you describe</a:t>
            </a:r>
          </a:p>
        </p:txBody>
      </p:sp>
      <p:sp>
        <p:nvSpPr>
          <p:cNvPr id="24" name="Rectangle 23"/>
          <p:cNvSpPr/>
          <p:nvPr/>
        </p:nvSpPr>
        <p:spPr>
          <a:xfrm>
            <a:off x="4297680" y="402336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02336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25696" y="409194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STATS &amp; SHAPE</a:t>
            </a:r>
          </a:p>
        </p:txBody>
      </p:sp>
      <p:sp>
        <p:nvSpPr>
          <p:cNvPr id="27" name="TextBox 26"/>
          <p:cNvSpPr txBox="1"/>
          <p:nvPr/>
        </p:nvSpPr>
        <p:spPr>
          <a:xfrm>
            <a:off x="4443984" y="4498848"/>
            <a:ext cx="3364992" cy="1783080"/>
          </a:xfrm>
          <a:prstGeom prst="rect">
            <a:avLst/>
          </a:prstGeom>
          <a:noFill/>
        </p:spPr>
        <p:txBody>
          <a:bodyPr wrap="square" anchor="t" lIns="0" rIns="0" tIns="0" bIns="0">
            <a:spAutoFit/>
          </a:bodyPr>
          <a:lstStyle/>
          <a:p>
            <a:pPr>
              <a:spcBef>
                <a:spcPts val="0"/>
              </a:spcBef>
              <a:spcAft>
                <a:spcPts val="450"/>
              </a:spcAft>
            </a:pPr>
            <a:r>
              <a:rPr sz="960" b="0" i="0">
                <a:solidFill>
                  <a:srgbClr val="16181D"/>
                </a:solidFill>
                <a:latin typeface="Consolas"/>
              </a:rPr>
              <a:t>mean &gt; median → right tail — then prove it</a:t>
            </a:r>
          </a:p>
          <a:p>
            <a:pPr>
              <a:spcBef>
                <a:spcPts val="0"/>
              </a:spcBef>
              <a:spcAft>
                <a:spcPts val="450"/>
              </a:spcAft>
            </a:pPr>
            <a:r>
              <a:rPr sz="960" b="0" i="0">
                <a:solidFill>
                  <a:srgbClr val="16181D"/>
                </a:solidFill>
                <a:latin typeface="Consolas"/>
              </a:rPr>
              <a:t>skew +0.533 printed, not guessed</a:t>
            </a:r>
          </a:p>
          <a:p>
            <a:pPr>
              <a:spcBef>
                <a:spcPts val="0"/>
              </a:spcBef>
              <a:spcAft>
                <a:spcPts val="450"/>
              </a:spcAft>
            </a:pPr>
            <a:r>
              <a:rPr sz="960" b="0" i="0">
                <a:solidFill>
                  <a:srgbClr val="16181D"/>
                </a:solidFill>
                <a:latin typeface="Consolas"/>
              </a:rPr>
              <a:t>Tukey fences: Q1−1.5·IQR .. Q3+1.5·IQR</a:t>
            </a:r>
          </a:p>
          <a:p>
            <a:pPr>
              <a:spcBef>
                <a:spcPts val="0"/>
              </a:spcBef>
              <a:spcAft>
                <a:spcPts val="450"/>
              </a:spcAft>
            </a:pPr>
            <a:r>
              <a:rPr sz="960" b="0" i="0">
                <a:solidFill>
                  <a:srgbClr val="16181D"/>
                </a:solidFill>
                <a:latin typeface="Consolas"/>
              </a:rPr>
              <a:t>bounded + wide IQR = fence-safe; say so</a:t>
            </a:r>
          </a:p>
          <a:p>
            <a:pPr>
              <a:spcBef>
                <a:spcPts val="0"/>
              </a:spcBef>
              <a:spcAft>
                <a:spcPts val="450"/>
              </a:spcAft>
            </a:pPr>
            <a:r>
              <a:rPr sz="960" b="0" i="0">
                <a:solidFill>
                  <a:srgbClr val="16181D"/>
                </a:solidFill>
                <a:latin typeface="Consolas"/>
              </a:rPr>
              <a:t>zero-inflation: counts of 0,1,2,3</a:t>
            </a:r>
          </a:p>
          <a:p>
            <a:pPr>
              <a:spcBef>
                <a:spcPts val="0"/>
              </a:spcBef>
              <a:spcAft>
                <a:spcPts val="450"/>
              </a:spcAft>
            </a:pPr>
            <a:r>
              <a:rPr sz="960" b="0" i="0">
                <a:solidFill>
                  <a:srgbClr val="16181D"/>
                </a:solidFill>
                <a:latin typeface="Consolas"/>
              </a:rPr>
              <a:t>anomalies are named conjunctions</a:t>
            </a:r>
          </a:p>
        </p:txBody>
      </p:sp>
      <p:sp>
        <p:nvSpPr>
          <p:cNvPr id="28" name="Rectangle 27"/>
          <p:cNvSpPr/>
          <p:nvPr/>
        </p:nvSpPr>
        <p:spPr>
          <a:xfrm>
            <a:off x="8092440" y="402336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92440" y="402336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0456" y="409194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PLOTS &amp; CORR</a:t>
            </a:r>
          </a:p>
        </p:txBody>
      </p:sp>
      <p:sp>
        <p:nvSpPr>
          <p:cNvPr id="31" name="TextBox 30"/>
          <p:cNvSpPr txBox="1"/>
          <p:nvPr/>
        </p:nvSpPr>
        <p:spPr>
          <a:xfrm>
            <a:off x="8238744" y="4498848"/>
            <a:ext cx="3364992" cy="1783080"/>
          </a:xfrm>
          <a:prstGeom prst="rect">
            <a:avLst/>
          </a:prstGeom>
          <a:noFill/>
        </p:spPr>
        <p:txBody>
          <a:bodyPr wrap="square" anchor="t" lIns="0" rIns="0" tIns="0" bIns="0">
            <a:spAutoFit/>
          </a:bodyPr>
          <a:lstStyle/>
          <a:p>
            <a:pPr>
              <a:spcBef>
                <a:spcPts val="0"/>
              </a:spcBef>
              <a:spcAft>
                <a:spcPts val="450"/>
              </a:spcAft>
            </a:pPr>
            <a:r>
              <a:rPr sz="960" b="0" i="0">
                <a:solidFill>
                  <a:srgbClr val="16181D"/>
                </a:solidFill>
                <a:latin typeface="Consolas"/>
              </a:rPr>
              <a:t>Agg off-screen; cite PNG bytes</a:t>
            </a:r>
          </a:p>
          <a:p>
            <a:pPr>
              <a:spcBef>
                <a:spcPts val="0"/>
              </a:spcBef>
              <a:spcAft>
                <a:spcPts val="450"/>
              </a:spcAft>
            </a:pPr>
            <a:r>
              <a:rPr sz="960" b="0" i="0">
                <a:solidFill>
                  <a:srgbClr val="16181D"/>
                </a:solidFill>
                <a:latin typeface="Consolas"/>
              </a:rPr>
              <a:t>set_ylim(0,100): a choice, not a default</a:t>
            </a:r>
          </a:p>
          <a:p>
            <a:pPr>
              <a:spcBef>
                <a:spcPts val="0"/>
              </a:spcBef>
              <a:spcAft>
                <a:spcPts val="450"/>
              </a:spcAft>
            </a:pPr>
            <a:r>
              <a:rPr sz="960" b="0" i="0">
                <a:solidFill>
                  <a:srgbClr val="16181D"/>
                </a:solidFill>
                <a:latin typeface="Consolas"/>
              </a:rPr>
              <a:t>rounded shares can sum 99.99 — caption it</a:t>
            </a:r>
          </a:p>
          <a:p>
            <a:pPr>
              <a:spcBef>
                <a:spcPts val="0"/>
              </a:spcBef>
              <a:spcAft>
                <a:spcPts val="450"/>
              </a:spcAft>
            </a:pPr>
            <a:r>
              <a:rPr sz="960" b="0" i="0">
                <a:solidFill>
                  <a:srgbClr val="16181D"/>
                </a:solidFill>
                <a:latin typeface="Consolas"/>
              </a:rPr>
              <a:t>lines from MONTHLY aggregates only</a:t>
            </a:r>
          </a:p>
          <a:p>
            <a:pPr>
              <a:spcBef>
                <a:spcPts val="0"/>
              </a:spcBef>
              <a:spcAft>
                <a:spcPts val="450"/>
              </a:spcAft>
            </a:pPr>
            <a:r>
              <a:rPr sz="960" b="0" i="0">
                <a:solidFill>
                  <a:srgbClr val="16181D"/>
                </a:solidFill>
                <a:latin typeface="Consolas"/>
              </a:rPr>
              <a:t>pooled r mixes groups: −0.3171 vs +0.99</a:t>
            </a:r>
          </a:p>
          <a:p>
            <a:pPr>
              <a:spcBef>
                <a:spcPts val="0"/>
              </a:spcBef>
              <a:spcAft>
                <a:spcPts val="450"/>
              </a:spcAft>
            </a:pPr>
            <a:r>
              <a:rPr sz="960" b="0" i="0">
                <a:solidFill>
                  <a:srgbClr val="16181D"/>
                </a:solidFill>
                <a:latin typeface="Consolas"/>
              </a:rPr>
              <a:t>heat map: vmin −1, vmax +1, print r</a:t>
            </a:r>
          </a:p>
        </p:txBody>
      </p:sp>
      <p:sp>
        <p:nvSpPr>
          <p:cNvPr id="32" name="TextBox 31"/>
          <p:cNvSpPr txBox="1"/>
          <p:nvPr/>
        </p:nvSpPr>
        <p:spPr>
          <a:xfrm>
            <a:off x="502920" y="6291072"/>
            <a:ext cx="11155680" cy="274320"/>
          </a:xfrm>
          <a:prstGeom prst="rect">
            <a:avLst/>
          </a:prstGeom>
          <a:noFill/>
        </p:spPr>
        <p:txBody>
          <a:bodyPr wrap="square" anchor="t" lIns="0" rIns="0" tIns="0" bIns="0">
            <a:spAutoFit/>
          </a:bodyPr>
          <a:lstStyle/>
          <a:p>
            <a:pPr>
              <a:spcBef>
                <a:spcPts val="0"/>
              </a:spcBef>
              <a:spcAft>
                <a:spcPts val="400"/>
              </a:spcAft>
            </a:pPr>
            <a:r>
              <a:rPr sz="1000" b="0" i="1">
                <a:solidFill>
                  <a:srgbClr val="4B5563"/>
                </a:solidFill>
                <a:latin typeface="Calibri"/>
              </a:rPr>
              <a:t>Seven defects the capture discipline caught while building this volume — and their fixes — are logged in Appendix A.6. Learn the transcript's voice; the viva quotes it.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The Report Is the Rubric (Appendix B)</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46</a:t>
            </a:r>
          </a:p>
        </p:txBody>
      </p:sp>
      <p:sp>
        <p:nvSpPr>
          <p:cNvPr id="8" name="TextBox 7"/>
          <p:cNvSpPr txBox="1"/>
          <p:nvPr/>
        </p:nvSpPr>
        <p:spPr>
          <a:xfrm>
            <a:off x="502920" y="1572768"/>
            <a:ext cx="6400800" cy="4846320"/>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300" b="1" i="0">
                <a:solidFill>
                  <a:srgbClr val="B3261E"/>
                </a:solidFill>
                <a:latin typeface="Calibri"/>
              </a:rPr>
              <a:t>•  </a:t>
            </a:r>
            <a:r>
              <a:rPr sz="1300" b="1" i="0">
                <a:solidFill>
                  <a:srgbClr val="16181D"/>
                </a:solidFill>
                <a:latin typeface="Calibri"/>
              </a:rPr>
              <a:t>Seven sections per experiment, mapped to the rubric: </a:t>
            </a:r>
            <a:r>
              <a:rPr sz="1300" b="0" i="0">
                <a:solidFill>
                  <a:srgbClr val="16181D"/>
                </a:solidFill>
                <a:latin typeface="Calibri"/>
              </a:rPr>
              <a:t>problem + dataset → Dataset Understanding · approach + code → Data Analysis and Processing · figures + insight sentences → Visualization and Insight Generation · notebook that runs → Implementation and Tool Usage · format and index → Documentation and Presentation · thresholds and guards → Code Quality and Best Practices.</a:t>
            </a:r>
          </a:p>
          <a:p>
            <a:pPr marL="201168" indent="-201168">
              <a:lnSpc>
                <a:spcPct val="104000"/>
              </a:lnSpc>
              <a:spcBef>
                <a:spcPts val="0"/>
              </a:spcBef>
              <a:spcAft>
                <a:spcPts val="500"/>
              </a:spcAft>
            </a:pPr>
            <a:r>
              <a:rPr sz="1300" b="1" i="0">
                <a:solidFill>
                  <a:srgbClr val="B3261E"/>
                </a:solidFill>
                <a:latin typeface="Calibri"/>
              </a:rPr>
              <a:t>•  </a:t>
            </a:r>
            <a:r>
              <a:rPr sz="1300" b="0" i="0">
                <a:solidFill>
                  <a:srgbClr val="16181D"/>
                </a:solidFill>
                <a:latin typeface="Calibri"/>
              </a:rPr>
              <a:t>Score: </a:t>
            </a:r>
            <a:r>
              <a:rPr sz="1350" b="0" i="0">
                <a:solidFill>
                  <a:srgbClr val="16181D"/>
                </a:solidFill>
                <a:latin typeface="Consolas"/>
              </a:rPr>
              <a:t>6 criteria × (1–5), each report for 30</a:t>
            </a:r>
            <a:r>
              <a:rPr sz="1300" b="0" i="0">
                <a:solidFill>
                  <a:srgbClr val="16181D"/>
                </a:solidFill>
                <a:latin typeface="Calibri"/>
              </a:rPr>
              <a:t> — the twelve scaled down to 30; the lab test scored on the (2,1,2,2,1,2) weights, 50 → 20.</a:t>
            </a:r>
          </a:p>
          <a:p>
            <a:pPr marL="201168" indent="-201168">
              <a:lnSpc>
                <a:spcPct val="104000"/>
              </a:lnSpc>
              <a:spcBef>
                <a:spcPts val="0"/>
              </a:spcBef>
              <a:spcAft>
                <a:spcPts val="500"/>
              </a:spcAft>
            </a:pPr>
            <a:r>
              <a:rPr sz="1300" b="1" i="0">
                <a:solidFill>
                  <a:srgbClr val="B3261E"/>
                </a:solidFill>
                <a:latin typeface="Calibri"/>
              </a:rPr>
              <a:t>•  </a:t>
            </a:r>
            <a:r>
              <a:rPr sz="1300" b="0" i="0">
                <a:solidFill>
                  <a:srgbClr val="16181D"/>
                </a:solidFill>
                <a:latin typeface="Calibri"/>
              </a:rPr>
              <a:t>Superior row, verbatim: </a:t>
            </a:r>
            <a:r>
              <a:rPr sz="1300" b="1" i="0">
                <a:solidFill>
                  <a:srgbClr val="16181D"/>
                </a:solidFill>
                <a:latin typeface="Calibri"/>
              </a:rPr>
              <a:t>“</a:t>
            </a:r>
            <a:r>
              <a:rPr sz="1300" b="0" i="1">
                <a:solidFill>
                  <a:srgbClr val="16181D"/>
                </a:solidFill>
                <a:latin typeface="Calibri"/>
              </a:rPr>
              <a:t>Clearly understands dataset structure, attributes, and context; accurately explains data characteristics.</a:t>
            </a:r>
            <a:r>
              <a:rPr sz="1300" b="1" i="0">
                <a:solidFill>
                  <a:srgbClr val="16181D"/>
                </a:solidFill>
                <a:latin typeface="Calibri"/>
              </a:rPr>
              <a:t>”</a:t>
            </a:r>
            <a:r>
              <a:rPr sz="1300" b="0" i="0">
                <a:solidFill>
                  <a:srgbClr val="16181D"/>
                </a:solidFill>
                <a:latin typeface="Calibri"/>
              </a:rPr>
              <a:t> — cite-shape prose is literally that row.</a:t>
            </a:r>
          </a:p>
          <a:p>
            <a:pPr marL="201168" indent="-201168">
              <a:lnSpc>
                <a:spcPct val="104000"/>
              </a:lnSpc>
              <a:spcBef>
                <a:spcPts val="0"/>
              </a:spcBef>
              <a:spcAft>
                <a:spcPts val="500"/>
              </a:spcAft>
            </a:pPr>
            <a:r>
              <a:rPr sz="1300" b="1" i="0">
                <a:solidFill>
                  <a:srgbClr val="B3261E"/>
                </a:solidFill>
                <a:latin typeface="Calibri"/>
              </a:rPr>
              <a:t>•  </a:t>
            </a:r>
            <a:r>
              <a:rPr sz="1300" b="1" i="0">
                <a:solidFill>
                  <a:srgbClr val="16181D"/>
                </a:solidFill>
                <a:latin typeface="Calibri"/>
              </a:rPr>
              <a:t>Run it, don't type it: </a:t>
            </a:r>
            <a:r>
              <a:rPr sz="1300" b="0" i="0">
                <a:solidFill>
                  <a:srgbClr val="16181D"/>
                </a:solidFill>
                <a:latin typeface="Calibri"/>
              </a:rPr>
              <a:t>every experiment ships the $ python3 session as one capture file — and figures as files with byte sizes their own program printed.</a:t>
            </a:r>
          </a:p>
          <a:p>
            <a:pPr marL="201168" indent="-201168">
              <a:lnSpc>
                <a:spcPct val="104000"/>
              </a:lnSpc>
              <a:spcBef>
                <a:spcPts val="0"/>
              </a:spcBef>
              <a:spcAft>
                <a:spcPts val="500"/>
              </a:spcAft>
            </a:pPr>
            <a:r>
              <a:rPr sz="1300" b="1" i="0">
                <a:solidFill>
                  <a:srgbClr val="B3261E"/>
                </a:solidFill>
                <a:latin typeface="Calibri"/>
              </a:rPr>
              <a:t>•  </a:t>
            </a:r>
            <a:r>
              <a:rPr sz="1300" b="0" i="0">
                <a:solidFill>
                  <a:srgbClr val="16181D"/>
                </a:solidFill>
                <a:latin typeface="Calibri"/>
              </a:rPr>
              <a:t>Findings are sentences with masks: </a:t>
            </a:r>
            <a:r>
              <a:rPr sz="1300" b="0" i="1">
                <a:solidFill>
                  <a:srgbClr val="16181D"/>
                </a:solidFill>
                <a:latin typeface="Calibri"/>
              </a:rPr>
              <a:t>“23 strong performers below the median”</a:t>
            </a:r>
            <a:r>
              <a:rPr sz="1300" b="0" i="0">
                <a:solidFill>
                  <a:srgbClr val="16181D"/>
                </a:solidFill>
                <a:latin typeface="Calibri"/>
              </a:rPr>
              <a:t> is rerunnable; “several high performers are underpaid” is not. Every % in a caption names its base.</a:t>
            </a:r>
          </a:p>
          <a:p>
            <a:pPr marL="201168" indent="-201168">
              <a:lnSpc>
                <a:spcPct val="104000"/>
              </a:lnSpc>
              <a:spcBef>
                <a:spcPts val="0"/>
              </a:spcBef>
              <a:spcAft>
                <a:spcPts val="500"/>
              </a:spcAft>
            </a:pPr>
            <a:r>
              <a:rPr sz="1300" b="1" i="0">
                <a:solidFill>
                  <a:srgbClr val="B3261E"/>
                </a:solidFill>
                <a:latin typeface="Calibri"/>
              </a:rPr>
              <a:t>•  </a:t>
            </a:r>
            <a:r>
              <a:rPr sz="1300" b="0" i="0">
                <a:solidFill>
                  <a:srgbClr val="16181D"/>
                </a:solidFill>
                <a:latin typeface="Calibri"/>
              </a:rPr>
              <a:t>Index page: reproduce the book's experiment↔CO↔evidence table, adjusted to your row counts and stamps.</a:t>
            </a:r>
          </a:p>
        </p:txBody>
      </p:sp>
      <p:sp>
        <p:nvSpPr>
          <p:cNvPr id="9" name="Rectangle 8"/>
          <p:cNvSpPr/>
          <p:nvPr/>
        </p:nvSpPr>
        <p:spPr>
          <a:xfrm>
            <a:off x="7132320" y="1572768"/>
            <a:ext cx="4572000" cy="251460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572768"/>
            <a:ext cx="54864" cy="25146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33488" y="1664208"/>
            <a:ext cx="4187952" cy="233172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CIE STRUCTURE (VERBATIM)</a:t>
            </a:r>
          </a:p>
          <a:p>
            <a:pPr>
              <a:lnSpc>
                <a:spcPct val="108000"/>
              </a:lnSpc>
              <a:spcBef>
                <a:spcPts val="0"/>
              </a:spcBef>
              <a:spcAft>
                <a:spcPts val="0"/>
              </a:spcAft>
            </a:pPr>
            <a:r>
              <a:rPr sz="1050" b="0" i="0">
                <a:solidFill>
                  <a:srgbClr val="16181D"/>
                </a:solidFill>
                <a:latin typeface="Calibri"/>
              </a:rPr>
              <a:t>Report (12 experiments, each evaluated for 30) scaled down to 30  +  Laboratory test (50) scaled down to 20  =  50. The CIE marks awarded shall be based on the continuous evaluation of the laboratory report using a defined set of rubrics.</a:t>
            </a:r>
          </a:p>
        </p:txBody>
      </p:sp>
      <p:sp>
        <p:nvSpPr>
          <p:cNvPr id="12" name="Rectangle 11"/>
          <p:cNvSpPr/>
          <p:nvPr/>
        </p:nvSpPr>
        <p:spPr>
          <a:xfrm>
            <a:off x="7132320" y="4251960"/>
            <a:ext cx="4572000" cy="20116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96912" y="4334256"/>
            <a:ext cx="4242816" cy="18470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SHOWING THE RUN (RECEIPT)</a:t>
            </a:r>
          </a:p>
          <a:p>
            <a:pPr>
              <a:lnSpc>
                <a:spcPct val="105000"/>
              </a:lnSpc>
              <a:spcBef>
                <a:spcPts val="0"/>
              </a:spcBef>
              <a:spcAft>
                <a:spcPts val="320"/>
              </a:spcAft>
            </a:pPr>
            <a:r>
              <a:rPr sz="950" b="0" i="0">
                <a:solidFill>
                  <a:srgbClr val="16181D"/>
                </a:solidFill>
                <a:latin typeface="Consolas"/>
              </a:rPr>
              <a:t>$ python3 src/eda12_project.py data/employee_info.csv build/work/eda12_project</a:t>
            </a:r>
            <a:r>
              <a:rPr sz="1100" b="0" i="0">
                <a:solidFill>
                  <a:srgbClr val="16181D"/>
                </a:solidFill>
                <a:latin typeface="Calibri"/>
              </a:rPr>
              <a:t> — one paste: printed blocks + the RESULT line; figures enter as files, sizes quoted.</a:t>
            </a:r>
          </a:p>
          <a:p>
            <a:pPr>
              <a:lnSpc>
                <a:spcPct val="105000"/>
              </a:lnSpc>
              <a:spcBef>
                <a:spcPts val="0"/>
              </a:spcBef>
              <a:spcAft>
                <a:spcPts val="320"/>
              </a:spcAft>
            </a:pPr>
            <a:r>
              <a:rPr sz="1100" b="0" i="0">
                <a:solidFill>
                  <a:srgbClr val="16181D"/>
                </a:solidFill>
                <a:latin typeface="Calibri"/>
              </a:rPr>
              <a:t>Screenshot targets per experiment: the Q&amp;A tables (6), the ledgers (4), the ranked pairs (11).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Viva Preparation — the Recurring Dozen</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47</a:t>
            </a:r>
          </a:p>
        </p:txBody>
      </p:sp>
      <p:sp>
        <p:nvSpPr>
          <p:cNvPr id="8" name="TextBox 7"/>
          <p:cNvSpPr txBox="1"/>
          <p:nvPr/>
        </p:nvSpPr>
        <p:spPr>
          <a:xfrm>
            <a:off x="502920" y="1600200"/>
            <a:ext cx="7223760" cy="4818888"/>
          </a:xfrm>
          <a:prstGeom prst="rect">
            <a:avLst/>
          </a:prstGeom>
          <a:noFill/>
        </p:spPr>
        <p:txBody>
          <a:bodyPr wrap="square" anchor="t" lIns="0" rIns="0" tIns="0" bIns="0">
            <a:spAutoFit/>
          </a:bodyPr>
          <a:lstStyle/>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1.  </a:t>
            </a:r>
            <a:r>
              <a:rPr sz="1250" b="0" i="0">
                <a:solidFill>
                  <a:srgbClr val="16181D"/>
                </a:solidFill>
                <a:latin typeface="Calibri"/>
              </a:rPr>
              <a:t>Which method answers 'how many values does this column actually hold?' and which answers 'how many distinct ones?' — and what are both on study_hours here?</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2.  </a:t>
            </a:r>
            <a:r>
              <a:rPr sz="1250" b="0" i="0">
                <a:solidFill>
                  <a:srgbClr val="16181D"/>
                </a:solidFill>
                <a:latin typeface="Calibri"/>
              </a:rPr>
              <a:t>Which measure survives a single 10× outlier in study_hours and which does not, and what does the capture show about the pair on this data?</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3.  </a:t>
            </a:r>
            <a:r>
              <a:rPr sz="1250" b="0" i="0">
                <a:solidFill>
                  <a:srgbClr val="16181D"/>
                </a:solidFill>
                <a:latin typeface="Calibri"/>
              </a:rPr>
              <a:t>Why count nulls per column AND per row, and what does each denominator decide?</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4.  </a:t>
            </a:r>
            <a:r>
              <a:rPr sz="1250" b="0" i="0">
                <a:solidFill>
                  <a:srgbClr val="16181D"/>
                </a:solidFill>
                <a:latin typeface="Calibri"/>
              </a:rPr>
              <a:t>Give the scenario where dropna is the right choice, not the lazy one.</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5.  </a:t>
            </a:r>
            <a:r>
              <a:rPr sz="1250" b="0" i="0">
                <a:solidFill>
                  <a:srgbClr val="16181D"/>
                </a:solidFill>
                <a:latin typeface="Calibri"/>
              </a:rPr>
              <a:t>What is the semantic difference between keep='first' (default) and keep=False in duplicated()?</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6.  </a:t>
            </a:r>
            <a:r>
              <a:rPr sz="1250" b="0" i="0">
                <a:solidFill>
                  <a:srgbClr val="16181D"/>
                </a:solidFill>
                <a:latin typeface="Calibri"/>
              </a:rPr>
              <a:t>Why sort by two keys with two directions here rather than filter harder?</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7.  </a:t>
            </a:r>
            <a:r>
              <a:rPr sz="1250" b="0" i="0">
                <a:solidFill>
                  <a:srgbClr val="16181D"/>
                </a:solidFill>
                <a:latin typeface="Calibri"/>
              </a:rPr>
              <a:t>State split-apply-combine in one sentence, then point at the capture line that instantiates each clause.</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8.  </a:t>
            </a:r>
            <a:r>
              <a:rPr sz="1250" b="0" i="0">
                <a:solidFill>
                  <a:srgbClr val="16181D"/>
                </a:solidFill>
                <a:latin typeface="Calibri"/>
              </a:rPr>
              <a:t>Why build outlier fences from quartiles instead of mean and standard deviation?</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9.  </a:t>
            </a:r>
            <a:r>
              <a:rPr sz="1250" b="0" i="0">
                <a:solidFill>
                  <a:srgbClr val="16181D"/>
                </a:solidFill>
                <a:latin typeface="Calibri"/>
              </a:rPr>
              <a:t>When is a pie the right answer, and what must the caption carry?</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10.  </a:t>
            </a:r>
            <a:r>
              <a:rPr sz="1250" b="0" i="0">
                <a:solidFill>
                  <a:srgbClr val="16181D"/>
                </a:solidFill>
                <a:latin typeface="Calibri"/>
              </a:rPr>
              <a:t>Why aggregate to monthly totals before drawing lines, beyond aesthetics?</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11.  </a:t>
            </a:r>
            <a:r>
              <a:rPr sz="1250" b="0" i="0">
                <a:solidFill>
                  <a:srgbClr val="16181D"/>
                </a:solidFill>
                <a:latin typeface="Calibri"/>
              </a:rPr>
              <a:t>What makes the +1.000 pair trivial, and which line of code created it?</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12.  </a:t>
            </a:r>
            <a:r>
              <a:rPr sz="1250" b="0" i="0">
                <a:solidFill>
                  <a:srgbClr val="16181D"/>
                </a:solidFill>
                <a:latin typeface="Calibri"/>
              </a:rPr>
              <a:t>The report's first rule: every finding sentence names its mask or its table. Point at F3 in the capture and show what it looks like without one.</a:t>
            </a:r>
          </a:p>
        </p:txBody>
      </p:sp>
      <p:sp>
        <p:nvSpPr>
          <p:cNvPr id="9" name="Rectangle 8"/>
          <p:cNvSpPr/>
          <p:nvPr/>
        </p:nvSpPr>
        <p:spPr>
          <a:xfrm>
            <a:off x="8001000" y="1600200"/>
            <a:ext cx="3703320" cy="448056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65592" y="1682496"/>
            <a:ext cx="3374136" cy="431596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HOW A LAB VIVA RUNS</a:t>
            </a:r>
          </a:p>
          <a:p>
            <a:pPr>
              <a:lnSpc>
                <a:spcPct val="105000"/>
              </a:lnSpc>
              <a:spcBef>
                <a:spcPts val="0"/>
              </a:spcBef>
              <a:spcAft>
                <a:spcPts val="320"/>
              </a:spcAft>
            </a:pPr>
            <a:r>
              <a:rPr sz="1150" b="1" i="0">
                <a:solidFill>
                  <a:srgbClr val="16181D"/>
                </a:solidFill>
                <a:latin typeface="Calibri"/>
              </a:rPr>
              <a:t>1 · </a:t>
            </a:r>
            <a:r>
              <a:rPr sz="1150" b="0" i="0">
                <a:solidFill>
                  <a:srgbClr val="16181D"/>
                </a:solidFill>
                <a:latin typeface="Calibri"/>
              </a:rPr>
              <a:t>the experiment is picked from your report — open it at the capture.</a:t>
            </a:r>
          </a:p>
          <a:p>
            <a:pPr>
              <a:lnSpc>
                <a:spcPct val="105000"/>
              </a:lnSpc>
              <a:spcBef>
                <a:spcPts val="0"/>
              </a:spcBef>
              <a:spcAft>
                <a:spcPts val="320"/>
              </a:spcAft>
            </a:pPr>
            <a:r>
              <a:rPr sz="1150" b="1" i="0">
                <a:solidFill>
                  <a:srgbClr val="16181D"/>
                </a:solidFill>
                <a:latin typeface="Calibri"/>
              </a:rPr>
              <a:t>2 · </a:t>
            </a:r>
            <a:r>
              <a:rPr sz="1150" b="0" i="0">
                <a:solidFill>
                  <a:srgbClr val="16181D"/>
                </a:solidFill>
                <a:latin typeface="Calibri"/>
              </a:rPr>
              <a:t>questions land on numbers YOU cited — name the mask or the line behind each.</a:t>
            </a:r>
          </a:p>
          <a:p>
            <a:pPr>
              <a:lnSpc>
                <a:spcPct val="105000"/>
              </a:lnSpc>
              <a:spcBef>
                <a:spcPts val="0"/>
              </a:spcBef>
              <a:spcAft>
                <a:spcPts val="320"/>
              </a:spcAft>
            </a:pPr>
            <a:r>
              <a:rPr sz="1150" b="1" i="0">
                <a:solidFill>
                  <a:srgbClr val="16181D"/>
                </a:solidFill>
                <a:latin typeface="Calibri"/>
              </a:rPr>
              <a:t>3 · </a:t>
            </a:r>
            <a:r>
              <a:rPr sz="1150" b="0" i="0">
                <a:solidFill>
                  <a:srgbClr val="16181D"/>
                </a:solidFill>
                <a:latin typeface="Calibri"/>
              </a:rPr>
              <a:t>expect “prove it”: point at the RESULT line of the transcript you submitted.</a:t>
            </a:r>
          </a:p>
          <a:p>
            <a:pPr>
              <a:lnSpc>
                <a:spcPct val="105000"/>
              </a:lnSpc>
              <a:spcBef>
                <a:spcPts val="0"/>
              </a:spcBef>
              <a:spcAft>
                <a:spcPts val="320"/>
              </a:spcAft>
            </a:pPr>
            <a:r>
              <a:rPr sz="1150" b="0" i="1">
                <a:solidFill>
                  <a:srgbClr val="16181D"/>
                </a:solidFill>
                <a:latin typeface="Calibri"/>
              </a:rPr>
              <a:t>'Answer the why': </a:t>
            </a:r>
            <a:r>
              <a:rPr sz="1150" b="0" i="0">
                <a:solidFill>
                  <a:srgbClr val="16181D"/>
                </a:solidFill>
                <a:latin typeface="Calibri"/>
              </a:rPr>
              <a:t>+0.71 vs +6.20 is a weighting fact — facts earn the row, reasons earn the 5.</a:t>
            </a:r>
          </a:p>
        </p:txBody>
      </p:sp>
      <p:sp>
        <p:nvSpPr>
          <p:cNvPr id="11" name="TextBox 10"/>
          <p:cNvSpPr txBox="1"/>
          <p:nvPr/>
        </p:nvSpPr>
        <p:spPr>
          <a:xfrm>
            <a:off x="502920" y="6144768"/>
            <a:ext cx="11155680" cy="320040"/>
          </a:xfrm>
          <a:prstGeom prst="rect">
            <a:avLst/>
          </a:prstGeom>
          <a:noFill/>
        </p:spPr>
        <p:txBody>
          <a:bodyPr wrap="square" anchor="t" lIns="0" rIns="0" tIns="0" bIns="0">
            <a:spAutoFit/>
          </a:bodyPr>
          <a:lstStyle/>
          <a:p>
            <a:pPr>
              <a:spcBef>
                <a:spcPts val="0"/>
              </a:spcBef>
              <a:spcAft>
                <a:spcPts val="400"/>
              </a:spcAft>
            </a:pPr>
            <a:r>
              <a:rPr sz="1150" b="0" i="1">
                <a:solidFill>
                  <a:srgbClr val="4B5563"/>
                </a:solidFill>
                <a:latin typeface="Calibri"/>
              </a:rPr>
              <a:t>Full 48-question bank with model answers: course book Appendix C — one dozen per experiment, phrased for speaking.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Everything Here Is Reproducible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Exploratory Data Analysis · 1BAIL307A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48</a:t>
            </a:r>
          </a:p>
        </p:txBody>
      </p:sp>
      <p:sp>
        <p:nvSpPr>
          <p:cNvPr id="8" name="TextBox 7"/>
          <p:cNvSpPr txBox="1"/>
          <p:nvPr/>
        </p:nvSpPr>
        <p:spPr>
          <a:xfrm>
            <a:off x="502920" y="1572768"/>
            <a:ext cx="6309360" cy="4846320"/>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300" b="1" i="0">
                <a:solidFill>
                  <a:srgbClr val="B3261E"/>
                </a:solidFill>
                <a:latin typeface="Calibri"/>
              </a:rPr>
              <a:t>•  </a:t>
            </a:r>
            <a:r>
              <a:rPr sz="1300" b="1" i="0">
                <a:solidFill>
                  <a:srgbClr val="16181D"/>
                </a:solidFill>
                <a:latin typeface="Calibri"/>
              </a:rPr>
              <a:t>Eighteen programs: </a:t>
            </a:r>
            <a:r>
              <a:rPr sz="1300" b="0" i="0">
                <a:solidFill>
                  <a:srgbClr val="16181D"/>
                </a:solidFill>
                <a:latin typeface="Calibri"/>
              </a:rPr>
              <a:t>4 toolkit demos + 12 experiments + the dataset generator + the toolchain script — all in the same repo as these slides and the book.</a:t>
            </a:r>
          </a:p>
          <a:p>
            <a:pPr marL="201168" indent="-201168">
              <a:lnSpc>
                <a:spcPct val="104000"/>
              </a:lnSpc>
              <a:spcBef>
                <a:spcPts val="0"/>
              </a:spcBef>
              <a:spcAft>
                <a:spcPts val="500"/>
              </a:spcAft>
            </a:pPr>
            <a:r>
              <a:rPr sz="1300" b="1" i="0">
                <a:solidFill>
                  <a:srgbClr val="B3261E"/>
                </a:solidFill>
                <a:latin typeface="Calibri"/>
              </a:rPr>
              <a:t>•  </a:t>
            </a:r>
            <a:r>
              <a:rPr sz="1300" b="0" i="0">
                <a:solidFill>
                  <a:srgbClr val="16181D"/>
                </a:solidFill>
                <a:latin typeface="Calibri"/>
              </a:rPr>
              <a:t>Every code panel was read from </a:t>
            </a:r>
            <a:r>
              <a:rPr sz="1300" b="0" i="0">
                <a:solidFill>
                  <a:srgbClr val="16181D"/>
                </a:solidFill>
                <a:latin typeface="Consolas"/>
              </a:rPr>
              <a:t>src/</a:t>
            </a:r>
            <a:r>
              <a:rPr sz="1300" b="0" i="0">
                <a:solidFill>
                  <a:srgbClr val="16181D"/>
                </a:solidFill>
                <a:latin typeface="Calibri"/>
              </a:rPr>
              <a:t> at deck-build time; no listing was retyped.</a:t>
            </a:r>
          </a:p>
          <a:p>
            <a:pPr marL="201168" indent="-201168">
              <a:lnSpc>
                <a:spcPct val="104000"/>
              </a:lnSpc>
              <a:spcBef>
                <a:spcPts val="0"/>
              </a:spcBef>
              <a:spcAft>
                <a:spcPts val="500"/>
              </a:spcAft>
            </a:pPr>
            <a:r>
              <a:rPr sz="1300" b="1" i="0">
                <a:solidFill>
                  <a:srgbClr val="B3261E"/>
                </a:solidFill>
                <a:latin typeface="Calibri"/>
              </a:rPr>
              <a:t>•  </a:t>
            </a:r>
            <a:r>
              <a:rPr sz="1300" b="0" i="0">
                <a:solidFill>
                  <a:srgbClr val="16181D"/>
                </a:solidFill>
                <a:latin typeface="Calibri"/>
              </a:rPr>
              <a:t>Every transcript panel is the byte-exact </a:t>
            </a:r>
            <a:r>
              <a:rPr sz="1300" b="0" i="0">
                <a:solidFill>
                  <a:srgbClr val="16181D"/>
                </a:solidFill>
                <a:latin typeface="Consolas"/>
              </a:rPr>
              <a:t>out/</a:t>
            </a:r>
            <a:r>
              <a:rPr sz="1300" b="0" i="0">
                <a:solidFill>
                  <a:srgbClr val="16181D"/>
                </a:solidFill>
                <a:latin typeface="Calibri"/>
              </a:rPr>
              <a:t> capture — the interpreter and the libraries did the talking.</a:t>
            </a:r>
          </a:p>
          <a:p>
            <a:pPr marL="201168" indent="-201168">
              <a:lnSpc>
                <a:spcPct val="104000"/>
              </a:lnSpc>
              <a:spcBef>
                <a:spcPts val="0"/>
              </a:spcBef>
              <a:spcAft>
                <a:spcPts val="500"/>
              </a:spcAft>
            </a:pPr>
            <a:r>
              <a:rPr sz="1300" b="1" i="0">
                <a:solidFill>
                  <a:srgbClr val="B3261E"/>
                </a:solidFill>
                <a:latin typeface="Calibri"/>
              </a:rPr>
              <a:t>•  </a:t>
            </a:r>
            <a:r>
              <a:rPr sz="1300" b="1" i="0">
                <a:solidFill>
                  <a:srgbClr val="16181D"/>
                </a:solidFill>
                <a:latin typeface="Calibri"/>
              </a:rPr>
              <a:t>Red values quoted in bullets were machine-verified against those captures </a:t>
            </a:r>
            <a:r>
              <a:rPr sz="1300" b="1" i="0">
                <a:solidFill>
                  <a:srgbClr val="B3261E"/>
                </a:solidFill>
                <a:latin typeface="Calibri"/>
              </a:rPr>
              <a:t>at generation</a:t>
            </a:r>
            <a:r>
              <a:rPr sz="1300" b="0" i="0">
                <a:solidFill>
                  <a:srgbClr val="16181D"/>
                </a:solidFill>
                <a:latin typeface="Calibri"/>
              </a:rPr>
              <a:t> (the check runs below; failures abort the save).</a:t>
            </a:r>
          </a:p>
          <a:p>
            <a:pPr marL="201168" indent="-201168">
              <a:lnSpc>
                <a:spcPct val="104000"/>
              </a:lnSpc>
              <a:spcBef>
                <a:spcPts val="0"/>
              </a:spcBef>
              <a:spcAft>
                <a:spcPts val="500"/>
              </a:spcAft>
            </a:pPr>
            <a:r>
              <a:rPr sz="1300" b="1" i="0">
                <a:solidFill>
                  <a:srgbClr val="B3261E"/>
                </a:solidFill>
                <a:latin typeface="Calibri"/>
              </a:rPr>
              <a:t>•  </a:t>
            </a:r>
            <a:r>
              <a:rPr sz="1300" b="0" i="0">
                <a:solidFill>
                  <a:srgbClr val="16181D"/>
                </a:solidFill>
                <a:latin typeface="Calibri"/>
              </a:rPr>
              <a:t>Reproducibility, enforced: collect.py runs every program twice and refuses any capture that differs byte-for-byte or writes a single byte to stderr.</a:t>
            </a:r>
          </a:p>
          <a:p>
            <a:pPr marL="201168" indent="-201168">
              <a:lnSpc>
                <a:spcPct val="104000"/>
              </a:lnSpc>
              <a:spcBef>
                <a:spcPts val="0"/>
              </a:spcBef>
              <a:spcAft>
                <a:spcPts val="500"/>
              </a:spcAft>
            </a:pPr>
            <a:r>
              <a:rPr sz="1300" b="1" i="0">
                <a:solidFill>
                  <a:srgbClr val="B3261E"/>
                </a:solidFill>
                <a:latin typeface="Calibri"/>
              </a:rPr>
              <a:t>•  </a:t>
            </a:r>
            <a:r>
              <a:rPr sz="1300" b="0" i="0">
                <a:solidFill>
                  <a:srgbClr val="16181D"/>
                </a:solidFill>
                <a:latin typeface="Calibri"/>
              </a:rPr>
              <a:t>The book (81 pp, 128 verified cites) embeds the same files and passes 29 QA gates; this deck shares its corpus.</a:t>
            </a:r>
          </a:p>
        </p:txBody>
      </p:sp>
      <p:sp>
        <p:nvSpPr>
          <p:cNvPr id="9" name="Rectangle 8"/>
          <p:cNvSpPr/>
          <p:nvPr/>
        </p:nvSpPr>
        <p:spPr>
          <a:xfrm>
            <a:off x="502920" y="4864608"/>
            <a:ext cx="6309360" cy="1371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974336"/>
            <a:ext cx="5943600" cy="1188720"/>
          </a:xfrm>
          <a:prstGeom prst="rect">
            <a:avLst/>
          </a:prstGeom>
          <a:noFill/>
        </p:spPr>
        <p:txBody>
          <a:bodyPr wrap="none" anchor="t" lIns="0" rIns="0" tIns="0" bIns="0">
            <a:spAutoFit/>
          </a:bodyPr>
          <a:lstStyle/>
          <a:p>
            <a:pPr>
              <a:spcBef>
                <a:spcPts val="0"/>
              </a:spcBef>
              <a:spcAft>
                <a:spcPts val="350"/>
              </a:spcAft>
            </a:pPr>
            <a:r>
              <a:rPr sz="1150" b="0" i="0">
                <a:solidFill>
                  <a:srgbClr val="E5E7EB"/>
                </a:solidFill>
                <a:latin typeface="Consolas"/>
              </a:rPr>
              <a:t>$ cd eda-course</a:t>
            </a:r>
          </a:p>
          <a:p>
            <a:pPr>
              <a:spcBef>
                <a:spcPts val="0"/>
              </a:spcBef>
              <a:spcAft>
                <a:spcPts val="350"/>
              </a:spcAft>
            </a:pPr>
            <a:r>
              <a:rPr sz="1150" b="0" i="0">
                <a:solidFill>
                  <a:srgbClr val="E5E7EB"/>
                </a:solidFill>
                <a:latin typeface="Consolas"/>
              </a:rPr>
              <a:t>$ python3 src/make_datasets.py &amp;&amp; python3 collect.py   # 18 runs ×2</a:t>
            </a:r>
          </a:p>
          <a:p>
            <a:pPr>
              <a:spcBef>
                <a:spcPts val="0"/>
              </a:spcBef>
              <a:spcAft>
                <a:spcPts val="350"/>
              </a:spcAft>
            </a:pPr>
            <a:r>
              <a:rPr sz="1150" b="0" i="0">
                <a:solidFill>
                  <a:srgbClr val="E5E7EB"/>
                </a:solidFill>
                <a:latin typeface="Consolas"/>
              </a:rPr>
              <a:t>$ python3 build.py    # two-pass PDF, footers stamped</a:t>
            </a:r>
          </a:p>
          <a:p>
            <a:pPr>
              <a:spcBef>
                <a:spcPts val="0"/>
              </a:spcBef>
              <a:spcAft>
                <a:spcPts val="350"/>
              </a:spcAft>
            </a:pPr>
            <a:r>
              <a:rPr sz="1150" b="0" i="0">
                <a:solidFill>
                  <a:srgbClr val="E5E7EB"/>
                </a:solidFill>
                <a:latin typeface="Consolas"/>
              </a:rPr>
              <a:t>$ python3 qa.py       # 29 gates against the captures</a:t>
            </a:r>
          </a:p>
        </p:txBody>
      </p:sp>
      <p:sp>
        <p:nvSpPr>
          <p:cNvPr id="11" name="Rectangle 10"/>
          <p:cNvSpPr/>
          <p:nvPr/>
        </p:nvSpPr>
        <p:spPr>
          <a:xfrm>
            <a:off x="7178040" y="1572768"/>
            <a:ext cx="4526280" cy="292608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572768"/>
            <a:ext cx="54864" cy="292608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9208" y="1664208"/>
            <a:ext cx="4142232" cy="274320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RESOURCES (AS PRESCRIBED)</a:t>
            </a:r>
          </a:p>
          <a:p>
            <a:pPr>
              <a:lnSpc>
                <a:spcPct val="108000"/>
              </a:lnSpc>
              <a:spcBef>
                <a:spcPts val="0"/>
              </a:spcBef>
              <a:spcAft>
                <a:spcPts val="0"/>
              </a:spcAft>
            </a:pPr>
            <a:r>
              <a:rPr sz="950" b="0" i="0">
                <a:solidFill>
                  <a:srgbClr val="16181D"/>
                </a:solidFill>
                <a:latin typeface="Calibri"/>
              </a:rPr>
              <a:t>Textbooks: Jake VanderPlas, Python Data Science Handbook: Essential Tools for Working with Data, 2nd Edition, O'Reilly Media, 2022.  Elbert L. Hearon, Data Analytics with Applications in Business, Aurora University, 2026.  References: Wayne L. Winston, Microsoft Excel 2019 Data Analysis and Business Modeling, 6th Edition, Microsoft Press, 2019.  Wes McKinney, Python for Data Analysis: Data Wrangling with Pandas, NumPy and Jupyter, 3rd Edition, O'Reilly Media, 2022.  Documentation of NumPy, Pandas, Matplotlib and Seaborn Libraries.</a:t>
            </a:r>
          </a:p>
        </p:txBody>
      </p:sp>
      <p:sp>
        <p:nvSpPr>
          <p:cNvPr id="14" name="Rectangle 13"/>
          <p:cNvSpPr/>
          <p:nvPr/>
        </p:nvSpPr>
        <p:spPr>
          <a:xfrm>
            <a:off x="7178040" y="4663440"/>
            <a:ext cx="4526280" cy="1572768"/>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42631" y="4745736"/>
            <a:ext cx="4197096" cy="1408176"/>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E-RESOURCES &amp; PEDAGOGY</a:t>
            </a:r>
          </a:p>
          <a:p>
            <a:pPr>
              <a:lnSpc>
                <a:spcPct val="105000"/>
              </a:lnSpc>
              <a:spcBef>
                <a:spcPts val="0"/>
              </a:spcBef>
              <a:spcAft>
                <a:spcPts val="320"/>
              </a:spcAft>
            </a:pPr>
            <a:r>
              <a:rPr sz="1000" b="0" i="0">
                <a:solidFill>
                  <a:srgbClr val="16181D"/>
                </a:solidFill>
                <a:latin typeface="Calibri"/>
              </a:rPr>
              <a:t>numpy.org/doc · pandas.pydata.org/docs · matplotlib · seaborn tutorial · Kaggle Datasets</a:t>
            </a:r>
          </a:p>
          <a:p>
            <a:pPr>
              <a:lnSpc>
                <a:spcPct val="105000"/>
              </a:lnSpc>
              <a:spcBef>
                <a:spcPts val="0"/>
              </a:spcBef>
              <a:spcAft>
                <a:spcPts val="320"/>
              </a:spcAft>
            </a:pPr>
            <a:r>
              <a:rPr sz="1000" b="0" i="0">
                <a:solidFill>
                  <a:srgbClr val="16181D"/>
                </a:solidFill>
                <a:latin typeface="Calibri"/>
              </a:rPr>
              <a:t>FreeCodeCamp Data Analysis with Python · Corey Schafer's Pandas series (video)</a:t>
            </a:r>
          </a:p>
          <a:p>
            <a:pPr>
              <a:lnSpc>
                <a:spcPct val="105000"/>
              </a:lnSpc>
              <a:spcBef>
                <a:spcPts val="0"/>
              </a:spcBef>
              <a:spcAft>
                <a:spcPts val="320"/>
              </a:spcAft>
            </a:pPr>
            <a:r>
              <a:rPr sz="1000" b="0" i="0">
                <a:solidFill>
                  <a:srgbClr val="16181D"/>
                </a:solidFill>
                <a:latin typeface="Calibri"/>
              </a:rPr>
              <a:t>Hands-on Jupyter labs · flipped classroom · case method · peer review · 0:0:28:2:30 ledger</a:t>
            </a:r>
          </a:p>
        </p:txBody>
      </p:sp>
      <p:sp>
        <p:nvSpPr>
          <p:cNvPr id="16" name="TextBox 15"/>
          <p:cNvSpPr txBox="1"/>
          <p:nvPr/>
        </p:nvSpPr>
        <p:spPr>
          <a:xfrm>
            <a:off x="7178040" y="6071616"/>
            <a:ext cx="4526280" cy="274320"/>
          </a:xfrm>
          <a:prstGeom prst="rect">
            <a:avLst/>
          </a:prstGeom>
          <a:noFill/>
        </p:spPr>
        <p:txBody>
          <a:bodyPr wrap="square" anchor="t" lIns="0" rIns="0" tIns="0" bIns="0">
            <a:spAutoFit/>
          </a:bodyPr>
          <a:lstStyle/>
          <a:p>
            <a:pPr>
              <a:spcBef>
                <a:spcPts val="0"/>
              </a:spcBef>
              <a:spcAft>
                <a:spcPts val="400"/>
              </a:spcAft>
            </a:pPr>
            <a:r>
              <a:rPr sz="1050" b="0" i="0">
                <a:solidFill>
                  <a:srgbClr val="4B5563"/>
                </a:solidFill>
                <a:latin typeface="Calibri"/>
              </a:rPr>
              <a:t>Dr. Lokesh M R · AJIET Mangaluru · VTU 2025 scheme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