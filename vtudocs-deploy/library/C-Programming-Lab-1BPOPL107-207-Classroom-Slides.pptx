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302" r:id="rId54"/>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 §1.1 (Theory) and §1.2 (Algorithm &amp; Flowchart). Objective: Use float variables and the standard math library (sqrt(), pow()) to translate a mathematical formula into a C expression; verify the program’s output against a hand calculation; record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§1.4 shows the same terminal). Runs captured in out/: a01_distance_r1.txt, a01_distance_r2.txt, a01_distance_r3.txt.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2 §2.1 (Theory) and §2.2 (Algorithm &amp; Flowchart). Objective: Construct a correct ordered if–else if–else ladder for a partitioned range; show that the ladder’s order is what makes each branch exclusive; test every boundary value of the grading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§2.4 shows the same terminal). Runs captured in out/: a02_grade_r1.txt, a02_grade_r2.txt, a02_grade_r3.txt, a02_grade_r4.txt.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§2.7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3 §3.1 (Theory) and §3.2 (Algorithm &amp; Flowchart). Objective: Use switch–case with break to select one of several stored values; combine a selection statement with an equality test; distinguish long int storage for large identifiers from the 16-bit assumption 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§3.4 shows the same terminal). Runs captured in out/: a03_kyc_r1.txt, a03_kyc_r2.txt, a03_kyc_r3.txt.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§3.7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4 §4.1 (Theory) and §4.2 (Algorithm &amp; Flowchart). Objective: Implement a piecewise mathematical definition with nested if–else if–else decisions; use sqrt() only where its argument is guaranteed non-negative; handle the degenerate a = 0 input as a defined error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§4.4 shows the same terminal). Runs captured in out/: a04_quadratic_r1.txt, a04_quadratic_r2.txt, a04_quadratic_r3.txt.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§4.7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5 §5.1 (Theory) and §5.2 (Algorithm &amp; Flowchart). Objective: Use a while loop with a numeric convergence test; derive and apply the term-to-term recurrence that replaces factorial evaluation; work in radians and manage the degree–radian conversion; quantify acc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§5.4 shows the same terminal). Runs captured in out/: a05_sin_series_r1.txt, a05_sin_series_r2.txt, a05_sin_series_r3.txt.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§5.7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6 §6.1 (Theory) and §6.2 (Algorithm &amp; Flowchart). Objective: Read lines of text safely with fgets; understand the trailing newline it stores and strip it; use strstr() as a pointer-valued search (found ⇒ non-NULL) and derive the match position from pointer subt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§6.4 shows the same terminal). Runs captured in out/: a06_keyword_search_r1.txt, a06_keyword_search_r2.txt.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§6.7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7 §7.1 (Theory) and §7.2 (Algorithm &amp; Flowchart). Objective: Define and call a predicate function with parameters and an int return value; keep the rule (“all three marks ≥ 40”) in exactly one place; observe call-by-value semantics (the function cannot see or 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§7.4 shows the same terminal). Runs captured in out/: a07_pass_check_r1.txt, a07_pass_check_r2.txt.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§7.7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8 §8.1 (Theory) and §8.2 (Algorithm &amp; Flowchart). Objective: Declare parameters of pointer type and dereference them to read (*p) and write; pass addresses with &amp;; contrast call-by-value (Experiment 7) with call-by-reference-in-C on the same operation — swap —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§8.4 shows the same terminal). Runs captured in out/: a08_swap_pointers_r1.txt.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§8.7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9 §9.1 (Theory) and §9.2 (Algorithm &amp; Flowchart). Objective: Recognise “ascending order” as a promise that can be used; implement binary search (or defend an alternative); count comparisons in both strategies and report the ratio; state the failure mode of the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§9.4 shows the same terminal). Runs captured in out/: b01_binary_search_r1.txt, b01_binary_search_r2.txt.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§9.7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10 §10.1 (Theory) and §10.2 (Algorithm &amp; Flowchart). Objective: Implement an in-place exchange sort with a swap-count early exit; reason about direction (a single flipped comparison sign turns “ascending” into the required descending), about equal scores (ties), 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§10.4 shows the same terminal). Runs captured in out/: b02_race_sort_r1.txt, b02_race_sort_r2.txt.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§10.7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11 §11.1 (Theory) and §11.2 (Algorithm &amp; Flowchart). Objective: Use a two-dimensional array as a genuine grid (row = branch, column = product); nest for loops so each cell multiplies into the right total; keep two accumulators (per-branch, grand) consistent; valid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§11.4 shows the same terminal). Runs captured in out/: b03_warehouse_r1.txt.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§11.7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12 §12.1 (Theory) and §12.2 (Algorithm &amp; Flowchart). Objective: Implement manual strlen, strcpy, strcat over char arrays; treat the terminating null byte as the only string “size” information; reserve buffers large enough for the concatenation; state what the libr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§12.4 shows the same terminal). Runs captured in out/: b04_name_join_r1.txt, b04_name_join_r2.txt.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§12.7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13 §13.1 (Theory) and §13.2 (Algorithm &amp; Flowchart). Objective: Explain and exhibit the observable difference between the two calling mechanisms; choose the mechanism per effect (preview ⇒ copy; commit ⇒ address); audit the program’s contract by printing the walle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§13.4 shows the same terminal). Runs captured in out/: b05_swap_modes_r1.txt.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§13.7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explanation: course book, Experiment 14 §14.1 (Theory) and §14.2 (Algorithm &amp; Flowchart). Objective: Declare a struct type and an array of structs; read strings and numbers safely in the same loop (the getchar() after scanf); access members through the dot operator, pass whole books (or arrays of the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at the bench with exactly this command (the book's §14.4 shows the same terminal). Runs captured in out/: b06_library_struct_r1.txt. Run interactively: prompts answered at the keyboard (b05 takes none — it auto-feeds values, as the book notes).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answers for this experiment, all of them, are in the book §14.7 — the on-slide panel shows Q1–Q4 plus the first model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77240"/>
            <a:ext cx="10362895" cy="457200"/>
          </a:xfrm>
          <a:prstGeom prst="rect">
            <a:avLst/>
          </a:prstGeom>
          <a:noFill/>
        </p:spPr>
        <p:txBody>
          <a:bodyPr wrap="square" anchor="t" lIns="0" rIns="0" tIns="0" bIns="0">
            <a:spAutoFit/>
          </a:bodyPr>
          <a:lstStyle/>
          <a:p>
            <a:pPr algn="ctr">
              <a:spcBef>
                <a:spcPts val="0"/>
              </a:spcBef>
              <a:spcAft>
                <a:spcPts val="0"/>
              </a:spcAft>
            </a:pPr>
            <a:r>
              <a:rPr sz="1500" b="1" i="0">
                <a:solidFill>
                  <a:srgbClr val="B3261E"/>
                </a:solidFill>
                <a:latin typeface="Calibri"/>
              </a:rPr>
              <a:t>LABORATORY COURSE · SEMESTER I / II</a:t>
            </a:r>
          </a:p>
        </p:txBody>
      </p:sp>
      <p:sp>
        <p:nvSpPr>
          <p:cNvPr id="3" name="Rectangle 2"/>
          <p:cNvSpPr/>
          <p:nvPr/>
        </p:nvSpPr>
        <p:spPr>
          <a:xfrm>
            <a:off x="914400" y="1207008"/>
            <a:ext cx="10362895" cy="2560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81328"/>
            <a:ext cx="10362895" cy="2103120"/>
          </a:xfrm>
          <a:prstGeom prst="rect">
            <a:avLst/>
          </a:prstGeom>
          <a:noFill/>
        </p:spPr>
        <p:txBody>
          <a:bodyPr wrap="square" anchor="t" lIns="0" rIns="0" tIns="0" bIns="0">
            <a:spAutoFit/>
          </a:bodyPr>
          <a:lstStyle/>
          <a:p>
            <a:pPr algn="ctr">
              <a:spcBef>
                <a:spcPts val="0"/>
              </a:spcBef>
              <a:spcAft>
                <a:spcPts val="200"/>
              </a:spcAft>
            </a:pPr>
            <a:r>
              <a:rPr sz="5200" b="1" i="0">
                <a:solidFill>
                  <a:srgbClr val="0F172A"/>
                </a:solidFill>
                <a:latin typeface="Calibri"/>
              </a:rPr>
              <a:t>C PROGRAMMING LAB</a:t>
            </a:r>
          </a:p>
        </p:txBody>
      </p:sp>
      <p:sp>
        <p:nvSpPr>
          <p:cNvPr id="5" name="TextBox 4"/>
          <p:cNvSpPr txBox="1"/>
          <p:nvPr/>
        </p:nvSpPr>
        <p:spPr>
          <a:xfrm>
            <a:off x="1463040" y="2651760"/>
            <a:ext cx="9265615" cy="822960"/>
          </a:xfrm>
          <a:prstGeom prst="rect">
            <a:avLst/>
          </a:prstGeom>
          <a:noFill/>
        </p:spPr>
        <p:txBody>
          <a:bodyPr wrap="square" anchor="t" lIns="0" rIns="0" tIns="0" bIns="0">
            <a:spAutoFit/>
          </a:bodyPr>
          <a:lstStyle/>
          <a:p>
            <a:pPr algn="ctr">
              <a:spcBef>
                <a:spcPts val="0"/>
              </a:spcBef>
              <a:spcAft>
                <a:spcPts val="0"/>
              </a:spcAft>
            </a:pPr>
            <a:r>
              <a:rPr sz="1700" b="0" i="0">
                <a:solidFill>
                  <a:srgbClr val="4B5563"/>
                </a:solidFill>
                <a:latin typeface="Calibri"/>
              </a:rPr>
              <a:t>Classroom presentation · 14 experiments in record format — algorithms &amp; flowcharts, programs compiled and run, captured outputs, viva voices</a:t>
            </a:r>
          </a:p>
        </p:txBody>
      </p:sp>
      <p:sp>
        <p:nvSpPr>
          <p:cNvPr id="6" name="Rectangle 5"/>
          <p:cNvSpPr/>
          <p:nvPr/>
        </p:nvSpPr>
        <p:spPr>
          <a:xfrm>
            <a:off x="4449927" y="3611880"/>
            <a:ext cx="3291840" cy="713232"/>
          </a:xfrm>
          <a:prstGeom prst="rect">
            <a:avLst/>
          </a:prstGeom>
          <a:noFill/>
          <a:ln w="95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49927" y="3712463"/>
            <a:ext cx="3291840" cy="548640"/>
          </a:xfrm>
          <a:prstGeom prst="rect">
            <a:avLst/>
          </a:prstGeom>
          <a:noFill/>
        </p:spPr>
        <p:txBody>
          <a:bodyPr wrap="square" anchor="t" lIns="0" rIns="0" tIns="0" bIns="0">
            <a:spAutoFit/>
          </a:bodyPr>
          <a:lstStyle/>
          <a:p>
            <a:pPr algn="ctr">
              <a:spcBef>
                <a:spcPts val="0"/>
              </a:spcBef>
              <a:spcAft>
                <a:spcPts val="100"/>
              </a:spcAft>
            </a:pPr>
            <a:r>
              <a:rPr sz="1050" b="1" i="0">
                <a:solidFill>
                  <a:srgbClr val="4B5563"/>
                </a:solidFill>
                <a:latin typeface="Calibri"/>
              </a:rPr>
              <a:t>COURSE CODE</a:t>
            </a:r>
          </a:p>
          <a:p>
            <a:pPr algn="ctr">
              <a:spcBef>
                <a:spcPts val="0"/>
              </a:spcBef>
              <a:spcAft>
                <a:spcPts val="0"/>
              </a:spcAft>
            </a:pPr>
            <a:r>
              <a:rPr sz="2100" b="1" i="0">
                <a:solidFill>
                  <a:srgbClr val="0F172A"/>
                </a:solidFill>
                <a:latin typeface="Calibri"/>
              </a:rPr>
              <a:t>1BPOPL107/207</a:t>
            </a:r>
          </a:p>
        </p:txBody>
      </p:sp>
      <p:sp>
        <p:nvSpPr>
          <p:cNvPr id="8" name="TextBox 7"/>
          <p:cNvSpPr txBox="1"/>
          <p:nvPr/>
        </p:nvSpPr>
        <p:spPr>
          <a:xfrm>
            <a:off x="1463040" y="4590288"/>
            <a:ext cx="9265615" cy="365760"/>
          </a:xfrm>
          <a:prstGeom prst="rect">
            <a:avLst/>
          </a:prstGeom>
          <a:noFill/>
        </p:spPr>
        <p:txBody>
          <a:bodyPr wrap="square" anchor="t" lIns="0" rIns="0" tIns="0" bIns="0">
            <a:spAutoFit/>
          </a:bodyPr>
          <a:lstStyle/>
          <a:p>
            <a:pPr algn="ctr">
              <a:spcBef>
                <a:spcPts val="0"/>
              </a:spcBef>
              <a:spcAft>
                <a:spcPts val="0"/>
              </a:spcAft>
            </a:pPr>
            <a:r>
              <a:rPr sz="1350" b="0" i="0">
                <a:solidFill>
                  <a:srgbClr val="16181D"/>
                </a:solidFill>
                <a:latin typeface="Calibri"/>
              </a:rPr>
              <a:t>1 credit   ·   Teaching 0 : 0 : 2 : 0 / week   ·   CIE 50 + SEE 50 = 100   ·   Exam 3 hours (practical)</a:t>
            </a:r>
          </a:p>
        </p:txBody>
      </p:sp>
      <p:sp>
        <p:nvSpPr>
          <p:cNvPr id="9" name="TextBox 8"/>
          <p:cNvSpPr txBox="1"/>
          <p:nvPr/>
        </p:nvSpPr>
        <p:spPr>
          <a:xfrm>
            <a:off x="914400" y="5349240"/>
            <a:ext cx="10362895" cy="822960"/>
          </a:xfrm>
          <a:prstGeom prst="rect">
            <a:avLst/>
          </a:prstGeom>
          <a:noFill/>
        </p:spPr>
        <p:txBody>
          <a:bodyPr wrap="square" anchor="t" lIns="0" rIns="0" tIns="0" bIns="0">
            <a:spAutoFit/>
          </a:bodyPr>
          <a:lstStyle/>
          <a:p>
            <a:pPr algn="ctr">
              <a:spcBef>
                <a:spcPts val="0"/>
              </a:spcBef>
              <a:spcAft>
                <a:spcPts val="100"/>
              </a:spcAft>
            </a:pPr>
            <a:r>
              <a:rPr sz="1200" b="0" i="1">
                <a:solidFill>
                  <a:srgbClr val="4B5563"/>
                </a:solidFill>
                <a:latin typeface="Calibri"/>
              </a:rPr>
              <a:t>by</a:t>
            </a:r>
          </a:p>
          <a:p>
            <a:pPr algn="ctr">
              <a:spcBef>
                <a:spcPts val="0"/>
              </a:spcBef>
              <a:spcAft>
                <a:spcPts val="100"/>
              </a:spcAft>
            </a:pPr>
            <a:r>
              <a:rPr sz="2200" b="1" i="0">
                <a:solidFill>
                  <a:srgbClr val="0F172A"/>
                </a:solidFill>
                <a:latin typeface="Calibri"/>
              </a:rPr>
              <a:t>Dr. Lokesh M R</a:t>
            </a:r>
          </a:p>
          <a:p>
            <a:pPr algn="ctr">
              <a:spcBef>
                <a:spcPts val="0"/>
              </a:spcBef>
              <a:spcAft>
                <a:spcPts val="0"/>
              </a:spcAft>
            </a:pPr>
            <a:r>
              <a:rPr sz="1250" b="0" i="0">
                <a:solidFill>
                  <a:srgbClr val="4B5563"/>
                </a:solidFill>
                <a:latin typeface="Calibri"/>
              </a:rPr>
              <a:t>Professor, Department of Information Science &amp; Engineering · A J Institute of Engineering and Technology (AJIET), Mangaluru</a:t>
            </a:r>
          </a:p>
        </p:txBody>
      </p:sp>
      <p:sp>
        <p:nvSpPr>
          <p:cNvPr id="10" name="TextBox 9"/>
          <p:cNvSpPr txBox="1"/>
          <p:nvPr/>
        </p:nvSpPr>
        <p:spPr>
          <a:xfrm>
            <a:off x="914400" y="6355080"/>
            <a:ext cx="10362895" cy="365760"/>
          </a:xfrm>
          <a:prstGeom prst="rect">
            <a:avLst/>
          </a:prstGeom>
          <a:noFill/>
        </p:spPr>
        <p:txBody>
          <a:bodyPr wrap="square" anchor="t" lIns="0" rIns="0" tIns="0" bIns="0">
            <a:spAutoFit/>
          </a:bodyPr>
          <a:lstStyle/>
          <a:p>
            <a:pPr algn="ctr">
              <a:spcBef>
                <a:spcPts val="0"/>
              </a:spcBef>
              <a:spcAft>
                <a:spcPts val="0"/>
              </a:spcAft>
            </a:pPr>
            <a:r>
              <a:rPr sz="1000" b="0" i="0">
                <a:solidFill>
                  <a:srgbClr val="4B5563"/>
                </a:solidFill>
                <a:latin typeface="Calibri"/>
              </a:rPr>
              <a:t>Visvesvaraya Technological University (VTU), Belagavi · 2022/2025 Scheme ·  slides derived from the C-Programming-Lab course book — outputs captured with gcc 14.2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Course at a Glance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a:t>
            </a:r>
          </a:p>
        </p:txBody>
      </p:sp>
      <p:sp>
        <p:nvSpPr>
          <p:cNvPr id="8" name="TextBox 7"/>
          <p:cNvSpPr txBox="1"/>
          <p:nvPr/>
        </p:nvSpPr>
        <p:spPr>
          <a:xfrm>
            <a:off x="502920" y="1572768"/>
            <a:ext cx="5852160" cy="484632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500" b="1" i="0">
                <a:solidFill>
                  <a:srgbClr val="B3261E"/>
                </a:solidFill>
                <a:latin typeface="Calibri"/>
              </a:rPr>
              <a:t>•  </a:t>
            </a:r>
            <a:r>
              <a:rPr sz="1500" b="0" i="0">
                <a:solidFill>
                  <a:srgbClr val="16181D"/>
                </a:solidFill>
                <a:latin typeface="Calibri"/>
              </a:rPr>
              <a:t>One-credit laboratory course: </a:t>
            </a:r>
            <a:r>
              <a:rPr sz="1500" b="1" i="0">
                <a:solidFill>
                  <a:srgbClr val="16181D"/>
                </a:solidFill>
                <a:latin typeface="Calibri"/>
              </a:rPr>
              <a:t>every skill of the theory course is exercised at the bench</a:t>
            </a:r>
            <a:r>
              <a:rPr sz="1500" b="0" i="0">
                <a:solidFill>
                  <a:srgbClr val="16181D"/>
                </a:solidFill>
                <a:latin typeface="Calibri"/>
              </a:rPr>
              <a:t> — compile, run, and defend programs in record format.</a:t>
            </a:r>
          </a:p>
          <a:p>
            <a:pPr marL="201168" indent="-201168">
              <a:lnSpc>
                <a:spcPct val="105000"/>
              </a:lnSpc>
              <a:spcBef>
                <a:spcPts val="0"/>
              </a:spcBef>
              <a:spcAft>
                <a:spcPts val="500"/>
              </a:spcAft>
            </a:pPr>
            <a:r>
              <a:rPr sz="1500" b="1" i="0">
                <a:solidFill>
                  <a:srgbClr val="B3261E"/>
                </a:solidFill>
                <a:latin typeface="Calibri"/>
              </a:rPr>
              <a:t>•  </a:t>
            </a:r>
            <a:r>
              <a:rPr sz="1500" b="0" i="0">
                <a:solidFill>
                  <a:srgbClr val="16181D"/>
                </a:solidFill>
                <a:latin typeface="Calibri"/>
              </a:rPr>
              <a:t>Teaching: </a:t>
            </a:r>
            <a:r>
              <a:rPr sz="1350" b="0" i="0">
                <a:solidFill>
                  <a:srgbClr val="16181D"/>
                </a:solidFill>
                <a:latin typeface="Consolas"/>
              </a:rPr>
              <a:t>0 : 0 : 2 : 0</a:t>
            </a:r>
            <a:r>
              <a:rPr sz="1500" b="0" i="0">
                <a:solidFill>
                  <a:srgbClr val="16181D"/>
                </a:solidFill>
                <a:latin typeface="Calibri"/>
              </a:rPr>
              <a:t> — two practical hours per week over the semester; each experiment ≈ one double session.</a:t>
            </a:r>
          </a:p>
          <a:p>
            <a:pPr marL="201168" indent="-201168">
              <a:lnSpc>
                <a:spcPct val="105000"/>
              </a:lnSpc>
              <a:spcBef>
                <a:spcPts val="0"/>
              </a:spcBef>
              <a:spcAft>
                <a:spcPts val="500"/>
              </a:spcAft>
            </a:pPr>
            <a:r>
              <a:rPr sz="1500" b="1" i="0">
                <a:solidFill>
                  <a:srgbClr val="B3261E"/>
                </a:solidFill>
                <a:latin typeface="Calibri"/>
              </a:rPr>
              <a:t>•  </a:t>
            </a:r>
            <a:r>
              <a:rPr sz="1500" b="0" i="0">
                <a:solidFill>
                  <a:srgbClr val="16181D"/>
                </a:solidFill>
                <a:latin typeface="Calibri"/>
              </a:rPr>
              <a:t>Environment: </a:t>
            </a:r>
            <a:r>
              <a:rPr sz="1500" b="1" i="0">
                <a:solidFill>
                  <a:srgbClr val="16181D"/>
                </a:solidFill>
                <a:latin typeface="Calibri"/>
              </a:rPr>
              <a:t>GCC 14.2 on the lab Linux machines</a:t>
            </a:r>
            <a:r>
              <a:rPr sz="1500" b="0" i="0">
                <a:solidFill>
                  <a:srgbClr val="16181D"/>
                </a:solidFill>
                <a:latin typeface="Calibri"/>
              </a:rPr>
              <a:t> (math library via </a:t>
            </a:r>
            <a:r>
              <a:rPr sz="1300" b="0" i="0">
                <a:solidFill>
                  <a:srgbClr val="16181D"/>
                </a:solidFill>
                <a:latin typeface="Consolas"/>
              </a:rPr>
              <a:t>-lm</a:t>
            </a:r>
            <a:r>
              <a:rPr sz="1500" b="0" i="0">
                <a:solidFill>
                  <a:srgbClr val="16181D"/>
                </a:solidFill>
                <a:latin typeface="Calibri"/>
              </a:rPr>
              <a:t>); identical sources run in Code::Blocks / VS Code / online gdb on Windows.</a:t>
            </a:r>
          </a:p>
          <a:p>
            <a:pPr marL="201168" indent="-201168">
              <a:lnSpc>
                <a:spcPct val="105000"/>
              </a:lnSpc>
              <a:spcBef>
                <a:spcPts val="0"/>
              </a:spcBef>
              <a:spcAft>
                <a:spcPts val="500"/>
              </a:spcAft>
            </a:pPr>
            <a:r>
              <a:rPr sz="1500" b="1" i="0">
                <a:solidFill>
                  <a:srgbClr val="B3261E"/>
                </a:solidFill>
                <a:latin typeface="Calibri"/>
              </a:rPr>
              <a:t>•  </a:t>
            </a:r>
            <a:r>
              <a:rPr sz="1500" b="0" i="0">
                <a:solidFill>
                  <a:srgbClr val="16181D"/>
                </a:solidFill>
                <a:latin typeface="Calibri"/>
              </a:rPr>
              <a:t>Everything shown here was actually compiled and run: the outputs are </a:t>
            </a:r>
            <a:r>
              <a:rPr sz="1500" b="1" i="0">
                <a:solidFill>
                  <a:srgbClr val="16181D"/>
                </a:solidFill>
                <a:latin typeface="Calibri"/>
              </a:rPr>
              <a:t>captured terminal sessions</a:t>
            </a:r>
            <a:r>
              <a:rPr sz="1500" b="0" i="0">
                <a:solidFill>
                  <a:srgbClr val="16181D"/>
                </a:solidFill>
                <a:latin typeface="Calibri"/>
              </a:rPr>
              <a:t> (pty echo — input lands right after its prompt), never retyped.</a:t>
            </a:r>
          </a:p>
          <a:p>
            <a:pPr marL="201168" indent="-201168">
              <a:lnSpc>
                <a:spcPct val="105000"/>
              </a:lnSpc>
              <a:spcBef>
                <a:spcPts val="0"/>
              </a:spcBef>
              <a:spcAft>
                <a:spcPts val="500"/>
              </a:spcAft>
            </a:pPr>
            <a:r>
              <a:rPr sz="1500" b="1" i="0">
                <a:solidFill>
                  <a:srgbClr val="B3261E"/>
                </a:solidFill>
                <a:latin typeface="Calibri"/>
              </a:rPr>
              <a:t>•  </a:t>
            </a:r>
            <a:r>
              <a:rPr sz="1500" b="1" i="0">
                <a:solidFill>
                  <a:srgbClr val="16181D"/>
                </a:solidFill>
                <a:latin typeface="Calibri"/>
              </a:rPr>
              <a:t>Assessment: </a:t>
            </a:r>
            <a:r>
              <a:rPr sz="1500" b="0" i="0">
                <a:solidFill>
                  <a:srgbClr val="16181D"/>
                </a:solidFill>
                <a:latin typeface="Calibri"/>
              </a:rPr>
              <a:t>CIE 50 (record + internals through rubrics) + SEE 50 = 100.</a:t>
            </a:r>
          </a:p>
        </p:txBody>
      </p:sp>
      <p:sp>
        <p:nvSpPr>
          <p:cNvPr id="9" name="Rectangle 8"/>
          <p:cNvSpPr/>
          <p:nvPr/>
        </p:nvSpPr>
        <p:spPr>
          <a:xfrm>
            <a:off x="6629400" y="1572768"/>
            <a:ext cx="5074920" cy="41605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9400" y="1572768"/>
            <a:ext cx="54864" cy="41605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0568" y="1664208"/>
            <a:ext cx="4690872" cy="39776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COURSE OUTCOMES (VERBATIM)</a:t>
            </a:r>
          </a:p>
          <a:p>
            <a:pPr>
              <a:lnSpc>
                <a:spcPct val="107000"/>
              </a:lnSpc>
              <a:spcBef>
                <a:spcPts val="0"/>
              </a:spcBef>
              <a:spcAft>
                <a:spcPts val="0"/>
              </a:spcAft>
            </a:pPr>
            <a:r>
              <a:rPr sz="1250" b="0" i="0">
                <a:solidFill>
                  <a:srgbClr val="16181D"/>
                </a:solidFill>
                <a:latin typeface="Calibri"/>
              </a:rPr>
              <a:t>CO1: Develop programs in C to solve simple computational problems.   CO2: Make use of C language derived datatypes to solve simple real-world problems.   CO3: Build a document consisting of experiment setup, design, implementation and results with inferences.</a:t>
            </a:r>
          </a:p>
        </p:txBody>
      </p:sp>
      <p:sp>
        <p:nvSpPr>
          <p:cNvPr id="12" name="Rectangle 11"/>
          <p:cNvSpPr/>
          <p:nvPr/>
        </p:nvSpPr>
        <p:spPr>
          <a:xfrm>
            <a:off x="6629400" y="5897880"/>
            <a:ext cx="5074920" cy="566928"/>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93992" y="5980176"/>
            <a:ext cx="4745736" cy="402336"/>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
            </a:r>
          </a:p>
          <a:p>
            <a:pPr>
              <a:lnSpc>
                <a:spcPct val="105000"/>
              </a:lnSpc>
              <a:spcBef>
                <a:spcPts val="0"/>
              </a:spcBef>
              <a:spcAft>
                <a:spcPts val="320"/>
              </a:spcAft>
            </a:pPr>
            <a:r>
              <a:rPr sz="1150" b="0" i="0">
                <a:solidFill>
                  <a:srgbClr val="16181D"/>
                </a:solidFill>
                <a:latin typeface="Calibri"/>
              </a:rPr>
              <a:t>CO1–CO4 span files &amp; storage → libraries → pointers &amp; dynamic memory → structures &amp; files.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HOW THE DECK FOLLOWS THE RECORD</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 Experiment, Seven Faces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a:t>
            </a:r>
          </a:p>
        </p:txBody>
      </p:sp>
      <p:sp>
        <p:nvSpPr>
          <p:cNvPr id="8" name="Rectangle 7"/>
          <p:cNvSpPr/>
          <p:nvPr/>
        </p:nvSpPr>
        <p:spPr>
          <a:xfrm>
            <a:off x="502920" y="17830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9293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AIM &amp; THEORY</a:t>
            </a:r>
          </a:p>
          <a:p>
            <a:pPr>
              <a:lnSpc>
                <a:spcPct val="110000"/>
              </a:lnSpc>
              <a:spcBef>
                <a:spcPts val="0"/>
              </a:spcBef>
              <a:spcAft>
                <a:spcPts val="0"/>
              </a:spcAft>
            </a:pPr>
            <a:r>
              <a:rPr sz="1180" b="0" i="0">
                <a:solidFill>
                  <a:srgbClr val="16181D"/>
                </a:solidFill>
                <a:latin typeface="Calibri"/>
              </a:rPr>
              <a:t>the question verbatim + the idea that makes the code obvious</a:t>
            </a:r>
          </a:p>
        </p:txBody>
      </p:sp>
      <p:sp>
        <p:nvSpPr>
          <p:cNvPr id="10" name="Rectangle 9"/>
          <p:cNvSpPr/>
          <p:nvPr/>
        </p:nvSpPr>
        <p:spPr>
          <a:xfrm>
            <a:off x="3364991" y="17830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19293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ALGORITHM</a:t>
            </a:r>
          </a:p>
          <a:p>
            <a:pPr>
              <a:lnSpc>
                <a:spcPct val="110000"/>
              </a:lnSpc>
              <a:spcBef>
                <a:spcPts val="0"/>
              </a:spcBef>
              <a:spcAft>
                <a:spcPts val="0"/>
              </a:spcAft>
            </a:pPr>
            <a:r>
              <a:rPr sz="1180" b="0" i="0">
                <a:solidFill>
                  <a:srgbClr val="16181D"/>
                </a:solidFill>
                <a:latin typeface="Calibri"/>
              </a:rPr>
              <a:t>numbered steps a marker can trace without the code</a:t>
            </a:r>
          </a:p>
        </p:txBody>
      </p:sp>
      <p:sp>
        <p:nvSpPr>
          <p:cNvPr id="12" name="Rectangle 11"/>
          <p:cNvSpPr/>
          <p:nvPr/>
        </p:nvSpPr>
        <p:spPr>
          <a:xfrm>
            <a:off x="6227064" y="17830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9293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FLOWCHART</a:t>
            </a:r>
          </a:p>
          <a:p>
            <a:pPr>
              <a:lnSpc>
                <a:spcPct val="110000"/>
              </a:lnSpc>
              <a:spcBef>
                <a:spcPts val="0"/>
              </a:spcBef>
              <a:spcAft>
                <a:spcPts val="0"/>
              </a:spcAft>
            </a:pPr>
            <a:r>
              <a:rPr sz="1180" b="0" i="0">
                <a:solidFill>
                  <a:srgbClr val="16181D"/>
                </a:solidFill>
                <a:latin typeface="Calibri"/>
              </a:rPr>
              <a:t>the standard symbols — the one approved visual of the course</a:t>
            </a:r>
          </a:p>
        </p:txBody>
      </p:sp>
      <p:sp>
        <p:nvSpPr>
          <p:cNvPr id="14" name="Rectangle 13"/>
          <p:cNvSpPr/>
          <p:nvPr/>
        </p:nvSpPr>
        <p:spPr>
          <a:xfrm>
            <a:off x="9089136" y="17830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9293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CODE</a:t>
            </a:r>
          </a:p>
          <a:p>
            <a:pPr>
              <a:lnSpc>
                <a:spcPct val="110000"/>
              </a:lnSpc>
              <a:spcBef>
                <a:spcPts val="0"/>
              </a:spcBef>
              <a:spcAft>
                <a:spcPts val="0"/>
              </a:spcAft>
            </a:pPr>
            <a:r>
              <a:rPr sz="1180" b="0" i="0">
                <a:solidFill>
                  <a:srgbClr val="16181D"/>
                </a:solidFill>
                <a:latin typeface="Calibri"/>
              </a:rPr>
              <a:t>complete source, compiled with -Wall -Wextra</a:t>
            </a:r>
          </a:p>
        </p:txBody>
      </p:sp>
      <p:sp>
        <p:nvSpPr>
          <p:cNvPr id="16" name="Rectangle 15"/>
          <p:cNvSpPr/>
          <p:nvPr/>
        </p:nvSpPr>
        <p:spPr>
          <a:xfrm>
            <a:off x="502920" y="38404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9867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CAPTURED RUNS</a:t>
            </a:r>
          </a:p>
          <a:p>
            <a:pPr>
              <a:lnSpc>
                <a:spcPct val="110000"/>
              </a:lnSpc>
              <a:spcBef>
                <a:spcPts val="0"/>
              </a:spcBef>
              <a:spcAft>
                <a:spcPts val="0"/>
              </a:spcAft>
            </a:pPr>
            <a:r>
              <a:rPr sz="1180" b="0" i="0">
                <a:solidFill>
                  <a:srgbClr val="16181D"/>
                </a:solidFill>
                <a:latin typeface="Calibri"/>
              </a:rPr>
              <a:t>terminal evidence: ordinary, boundary, guard</a:t>
            </a:r>
          </a:p>
        </p:txBody>
      </p:sp>
      <p:sp>
        <p:nvSpPr>
          <p:cNvPr id="18" name="Rectangle 17"/>
          <p:cNvSpPr/>
          <p:nvPr/>
        </p:nvSpPr>
        <p:spPr>
          <a:xfrm>
            <a:off x="3364991" y="38404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11296" y="39867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OBSERVATIONS</a:t>
            </a:r>
          </a:p>
          <a:p>
            <a:pPr>
              <a:lnSpc>
                <a:spcPct val="110000"/>
              </a:lnSpc>
              <a:spcBef>
                <a:spcPts val="0"/>
              </a:spcBef>
              <a:spcAft>
                <a:spcPts val="0"/>
              </a:spcAft>
            </a:pPr>
            <a:r>
              <a:rPr sz="1180" b="0" i="0">
                <a:solidFill>
                  <a:srgbClr val="16181D"/>
                </a:solidFill>
                <a:latin typeface="Calibri"/>
              </a:rPr>
              <a:t>hand-checks of the printed values, table of tests</a:t>
            </a:r>
          </a:p>
        </p:txBody>
      </p:sp>
      <p:sp>
        <p:nvSpPr>
          <p:cNvPr id="20" name="Rectangle 19"/>
          <p:cNvSpPr/>
          <p:nvPr/>
        </p:nvSpPr>
        <p:spPr>
          <a:xfrm>
            <a:off x="6227064" y="3840480"/>
            <a:ext cx="2679192" cy="18288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3986784"/>
            <a:ext cx="2395728" cy="1554480"/>
          </a:xfrm>
          <a:prstGeom prst="rect">
            <a:avLst/>
          </a:prstGeom>
          <a:noFill/>
        </p:spPr>
        <p:txBody>
          <a:bodyPr wrap="square" anchor="t" lIns="0" rIns="0" tIns="0" bIns="0">
            <a:spAutoFit/>
          </a:bodyPr>
          <a:lstStyle/>
          <a:p>
            <a:pPr>
              <a:spcBef>
                <a:spcPts val="0"/>
              </a:spcBef>
              <a:spcAft>
                <a:spcPts val="500"/>
              </a:spcAft>
            </a:pPr>
            <a:r>
              <a:rPr sz="1250" b="1" i="0">
                <a:solidFill>
                  <a:srgbClr val="B3261E"/>
                </a:solidFill>
                <a:latin typeface="Calibri"/>
              </a:rPr>
              <a:t>RESULT &amp; VIVA</a:t>
            </a:r>
          </a:p>
          <a:p>
            <a:pPr>
              <a:lnSpc>
                <a:spcPct val="110000"/>
              </a:lnSpc>
              <a:spcBef>
                <a:spcPts val="0"/>
              </a:spcBef>
              <a:spcAft>
                <a:spcPts val="0"/>
              </a:spcAft>
            </a:pPr>
            <a:r>
              <a:rPr sz="1180" b="0" i="0">
                <a:solidFill>
                  <a:srgbClr val="16181D"/>
                </a:solidFill>
                <a:latin typeface="Calibri"/>
              </a:rPr>
              <a:t>the record's closing sentence + the oral defence</a:t>
            </a:r>
          </a:p>
        </p:txBody>
      </p:sp>
      <p:sp>
        <p:nvSpPr>
          <p:cNvPr id="22" name="Rectangle 21"/>
          <p:cNvSpPr/>
          <p:nvPr/>
        </p:nvSpPr>
        <p:spPr>
          <a:xfrm>
            <a:off x="8833104" y="3840480"/>
            <a:ext cx="2679192"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9408" y="3950208"/>
            <a:ext cx="2514600" cy="2468879"/>
          </a:xfrm>
          <a:prstGeom prst="rect">
            <a:avLst/>
          </a:prstGeom>
          <a:noFill/>
        </p:spPr>
        <p:txBody>
          <a:bodyPr wrap="square" anchor="t" lIns="0" rIns="0" tIns="0" bIns="0">
            <a:spAutoFit/>
          </a:bodyPr>
          <a:lstStyle/>
          <a:p>
            <a:pPr marL="201168" indent="-201168">
              <a:lnSpc>
                <a:spcPct val="105000"/>
              </a:lnSpc>
              <a:spcBef>
                <a:spcPts val="0"/>
              </a:spcBef>
              <a:spcAft>
                <a:spcPts val="400"/>
              </a:spcAft>
            </a:pPr>
            <a:r>
              <a:rPr sz="1150" b="1" i="0">
                <a:solidFill>
                  <a:srgbClr val="B3261E"/>
                </a:solidFill>
                <a:latin typeface="Calibri"/>
              </a:rPr>
              <a:t>•  </a:t>
            </a:r>
            <a:r>
              <a:rPr sz="1150" b="1" i="0">
                <a:solidFill>
                  <a:srgbClr val="16181D"/>
                </a:solidFill>
                <a:latin typeface="Calibri"/>
              </a:rPr>
              <a:t>Every experiment chapter here = one record page.</a:t>
            </a:r>
          </a:p>
          <a:p>
            <a:pPr marL="201168" indent="-201168">
              <a:lnSpc>
                <a:spcPct val="105000"/>
              </a:lnSpc>
              <a:spcBef>
                <a:spcPts val="0"/>
              </a:spcBef>
              <a:spcAft>
                <a:spcPts val="400"/>
              </a:spcAft>
            </a:pPr>
            <a:r>
              <a:rPr sz="1150" b="1" i="0">
                <a:solidFill>
                  <a:srgbClr val="B3261E"/>
                </a:solidFill>
                <a:latin typeface="Calibri"/>
              </a:rPr>
              <a:t>•  </a:t>
            </a:r>
            <a:r>
              <a:rPr sz="1150" b="0" i="0">
                <a:solidFill>
                  <a:srgbClr val="16181D"/>
                </a:solidFill>
                <a:latin typeface="Calibri"/>
              </a:rPr>
              <a:t>Slides 6–55 keep the seven faces on one or two screens each.</a:t>
            </a:r>
          </a:p>
        </p:txBody>
      </p:sp>
      <p:sp>
        <p:nvSpPr>
          <p:cNvPr id="24" name="TextBox 23"/>
          <p:cNvSpPr txBox="1"/>
          <p:nvPr/>
        </p:nvSpPr>
        <p:spPr>
          <a:xfrm>
            <a:off x="502920" y="5989320"/>
            <a:ext cx="8229600" cy="457200"/>
          </a:xfrm>
          <a:prstGeom prst="rect">
            <a:avLst/>
          </a:prstGeom>
          <a:noFill/>
        </p:spPr>
        <p:txBody>
          <a:bodyPr wrap="square" anchor="t" lIns="0" rIns="0" tIns="0" bIns="0">
            <a:spAutoFit/>
          </a:bodyPr>
          <a:lstStyle/>
          <a:p>
            <a:pPr>
              <a:spcBef>
                <a:spcPts val="0"/>
              </a:spcBef>
              <a:spcAft>
                <a:spcPts val="0"/>
              </a:spcAft>
            </a:pPr>
            <a:r>
              <a:rPr sz="1250" b="0" i="0">
                <a:solidFill>
                  <a:srgbClr val="4B5563"/>
                </a:solidFill>
                <a:latin typeface="Calibri"/>
              </a:rPr>
              <a:t>The book pairs each face with page references — </a:t>
            </a:r>
            <a:r>
              <a:rPr sz="1250" b="0" i="0">
                <a:solidFill>
                  <a:srgbClr val="4B5563"/>
                </a:solidFill>
                <a:latin typeface="Calibri"/>
              </a:rPr>
              <a:t>use them as the assignment; these slides are the classroom walkthrough.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A</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Conventional Experiments — Items 1 to 8</a:t>
            </a:r>
          </a:p>
        </p:txBody>
      </p:sp>
      <p:sp>
        <p:nvSpPr>
          <p:cNvPr id="6" name="TextBox 5"/>
          <p:cNvSpPr txBox="1"/>
          <p:nvPr/>
        </p:nvSpPr>
        <p:spPr>
          <a:xfrm>
            <a:off x="1554480" y="4114800"/>
            <a:ext cx="908273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Fixed set: every item specified by the university, each with algorithm, flowchart, complete program, captured compile-and-run evidence, observations table, result and viva trail.</a:t>
            </a:r>
          </a:p>
        </p:txBody>
      </p:sp>
      <p:sp>
        <p:nvSpPr>
          <p:cNvPr id="7" name="Rectangle 6"/>
          <p:cNvSpPr/>
          <p:nvPr/>
        </p:nvSpPr>
        <p:spPr>
          <a:xfrm>
            <a:off x="1798167" y="3703320"/>
            <a:ext cx="8595360" cy="27432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4199" y="3840480"/>
            <a:ext cx="8083296" cy="2487168"/>
          </a:xfrm>
          <a:prstGeom prst="rect">
            <a:avLst/>
          </a:prstGeom>
          <a:noFill/>
        </p:spPr>
        <p:txBody>
          <a:bodyPr wrap="square" anchor="t" lIns="0" rIns="0" tIns="0" bIns="0">
            <a:spAutoFit/>
          </a:bodyPr>
          <a:lstStyle/>
          <a:p>
            <a:pPr>
              <a:spcBef>
                <a:spcPts val="0"/>
              </a:spcBef>
              <a:spcAft>
                <a:spcPts val="350"/>
              </a:spcAft>
            </a:pPr>
            <a:r>
              <a:rPr sz="1100" b="1" i="0">
                <a:solidFill>
                  <a:srgbClr val="0F172A"/>
                </a:solidFill>
                <a:latin typeface="Calibri"/>
              </a:rPr>
              <a:t>IN THIS PART</a:t>
            </a:r>
          </a:p>
          <a:p>
            <a:pPr>
              <a:spcBef>
                <a:spcPts val="0"/>
              </a:spcBef>
              <a:spcAft>
                <a:spcPts val="180"/>
              </a:spcAft>
            </a:pPr>
            <a:r>
              <a:rPr sz="1600" b="1" i="0">
                <a:solidFill>
                  <a:srgbClr val="B3261E"/>
                </a:solidFill>
                <a:latin typeface="Calibri"/>
              </a:rPr>
              <a:t>•  </a:t>
            </a:r>
            <a:r>
              <a:rPr sz="1120" b="0" i="0">
                <a:solidFill>
                  <a:srgbClr val="16181D"/>
                </a:solidFill>
                <a:latin typeface="Calibri"/>
              </a:rPr>
              <a:t>Item 1 — Straight-Line Distance Between Two Points — the Robot’s Measure</a:t>
            </a:r>
          </a:p>
          <a:p>
            <a:pPr>
              <a:spcBef>
                <a:spcPts val="0"/>
              </a:spcBef>
              <a:spcAft>
                <a:spcPts val="180"/>
              </a:spcAft>
            </a:pPr>
            <a:r>
              <a:rPr sz="1600" b="1" i="0">
                <a:solidFill>
                  <a:srgbClr val="B3261E"/>
                </a:solidFill>
                <a:latin typeface="Calibri"/>
              </a:rPr>
              <a:t>•  </a:t>
            </a:r>
            <a:r>
              <a:rPr sz="1120" b="0" i="0">
                <a:solidFill>
                  <a:srgbClr val="16181D"/>
                </a:solidFill>
                <a:latin typeface="Calibri"/>
              </a:rPr>
              <a:t>Item 2 — Marks to Grade — Choosing the Right Control Structure</a:t>
            </a:r>
          </a:p>
          <a:p>
            <a:pPr>
              <a:spcBef>
                <a:spcPts val="0"/>
              </a:spcBef>
              <a:spcAft>
                <a:spcPts val="180"/>
              </a:spcAft>
            </a:pPr>
            <a:r>
              <a:rPr sz="1600" b="1" i="0">
                <a:solidFill>
                  <a:srgbClr val="B3261E"/>
                </a:solidFill>
                <a:latin typeface="Calibri"/>
              </a:rPr>
              <a:t>•  </a:t>
            </a:r>
            <a:r>
              <a:rPr sz="1120" b="0" i="0">
                <a:solidFill>
                  <a:srgbClr val="16181D"/>
                </a:solidFill>
                <a:latin typeface="Calibri"/>
              </a:rPr>
              <a:t>Item 3 — KYC Verification — a Switch Statement Dispatching on ID Type</a:t>
            </a:r>
          </a:p>
          <a:p>
            <a:pPr>
              <a:spcBef>
                <a:spcPts val="0"/>
              </a:spcBef>
              <a:spcAft>
                <a:spcPts val="180"/>
              </a:spcAft>
            </a:pPr>
            <a:r>
              <a:rPr sz="1600" b="1" i="0">
                <a:solidFill>
                  <a:srgbClr val="B3261E"/>
                </a:solidFill>
                <a:latin typeface="Calibri"/>
              </a:rPr>
              <a:t>•  </a:t>
            </a:r>
            <a:r>
              <a:rPr sz="1120" b="0" i="0">
                <a:solidFill>
                  <a:srgbClr val="16181D"/>
                </a:solidFill>
                <a:latin typeface="Calibri"/>
              </a:rPr>
              <a:t>Item 4 — Nature of the Roots of a Quadratic Equation — Three Worlds from One Discriminant</a:t>
            </a:r>
          </a:p>
          <a:p>
            <a:pPr>
              <a:spcBef>
                <a:spcPts val="0"/>
              </a:spcBef>
              <a:spcAft>
                <a:spcPts val="180"/>
              </a:spcAft>
            </a:pPr>
            <a:r>
              <a:rPr sz="1600" b="1" i="0">
                <a:solidFill>
                  <a:srgbClr val="B3261E"/>
                </a:solidFill>
                <a:latin typeface="Calibri"/>
              </a:rPr>
              <a:t>•  </a:t>
            </a:r>
            <a:r>
              <a:rPr sz="1120" b="0" i="0">
                <a:solidFill>
                  <a:srgbClr val="16181D"/>
                </a:solidFill>
                <a:latin typeface="Calibri"/>
              </a:rPr>
              <a:t>Item 5 — Approximating sin(x) with a Series — Loops, Factorials and the Performance Story</a:t>
            </a:r>
          </a:p>
          <a:p>
            <a:pPr>
              <a:spcBef>
                <a:spcPts val="0"/>
              </a:spcBef>
              <a:spcAft>
                <a:spcPts val="180"/>
              </a:spcAft>
            </a:pPr>
            <a:r>
              <a:rPr sz="1600" b="1" i="0">
                <a:solidFill>
                  <a:srgbClr val="B3261E"/>
                </a:solidFill>
                <a:latin typeface="Calibri"/>
              </a:rPr>
              <a:t>•  </a:t>
            </a:r>
            <a:r>
              <a:rPr sz="1120" b="0" i="0">
                <a:solidFill>
                  <a:srgbClr val="16181D"/>
                </a:solidFill>
                <a:latin typeface="Calibri"/>
              </a:rPr>
              <a:t>Item 6 — Keyword Search in a Course Description — the String Functions at Work</a:t>
            </a:r>
          </a:p>
          <a:p>
            <a:pPr>
              <a:spcBef>
                <a:spcPts val="0"/>
              </a:spcBef>
              <a:spcAft>
                <a:spcPts val="180"/>
              </a:spcAft>
            </a:pPr>
            <a:r>
              <a:rPr sz="1600" b="1" i="0">
                <a:solidFill>
                  <a:srgbClr val="B3261E"/>
                </a:solidFill>
                <a:latin typeface="Calibri"/>
              </a:rPr>
              <a:t>•  </a:t>
            </a:r>
            <a:r>
              <a:rPr sz="1120" b="0" i="0">
                <a:solidFill>
                  <a:srgbClr val="16181D"/>
                </a:solidFill>
                <a:latin typeface="Calibri"/>
              </a:rPr>
              <a:t>Item 7 — Pass or Fail Through a Function — Modular Design with a Predicate</a:t>
            </a:r>
          </a:p>
          <a:p>
            <a:pPr>
              <a:spcBef>
                <a:spcPts val="0"/>
              </a:spcBef>
              <a:spcAft>
                <a:spcPts val="180"/>
              </a:spcAft>
            </a:pPr>
            <a:r>
              <a:rPr sz="1600" b="1" i="0">
                <a:solidFill>
                  <a:srgbClr val="B3261E"/>
                </a:solidFill>
                <a:latin typeface="Calibri"/>
              </a:rPr>
              <a:t>•  </a:t>
            </a:r>
            <a:r>
              <a:rPr sz="1120" b="0" i="0">
                <a:solidFill>
                  <a:srgbClr val="16181D"/>
                </a:solidFill>
                <a:latin typeface="Calibri"/>
              </a:rPr>
              <a:t>Item 8 — Swapping Two Balances — Pointers Take the Function Seriously</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1</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1 — Straight-Line Distance Between Two Points — the Robot’s Measure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compile and run a C program that reads two points (x1, y1) and (x2, y2) on a 2D plane and displays the straight-line (Euclidean) distance between them, as a robot would need for a travel estimate.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Use float variables and the standard math library (sqrt(), pow()) to translate a mathematical formula into a C expression; verify the program’s output against a hand calc</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straight line between two points is the hypotenuse of a right triangle whose legs are the horizontal gap and the vertical gap between them — Pythagoras’ theorem:</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C has no exponent operator, so the formula must be expressed either with library calls or with repeated multiplication. The two spellings differ in cost and in precision behaviour:</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Three language mechanics matter while transcribing the formula:</a:t>
            </a:r>
          </a:p>
        </p:txBody>
      </p:sp>
      <p:pic>
        <p:nvPicPr>
          <p:cNvPr id="14" name="Picture 13" descr="a01.png"/>
          <p:cNvPicPr>
            <a:picLocks noChangeAspect="1"/>
          </p:cNvPicPr>
          <p:nvPr/>
        </p:nvPicPr>
        <p:blipFill>
          <a:blip r:embed="rId2"/>
          <a:stretch>
            <a:fillRect/>
          </a:stretch>
        </p:blipFill>
        <p:spPr>
          <a:xfrm>
            <a:off x="8410581" y="1554480"/>
            <a:ext cx="2106917"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the four real numbers x1, y1, x2, y2.</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Compute dx = x2 − x1 and dy = y2 − y1.</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Compute dist = sqrt(dx·dx + dy·dy).</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Print dist with four decimal places.</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STOP.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1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1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a01_distance.c  ·  complete source as compiled · 22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921" b="0" i="0">
                <a:solidFill>
                  <a:srgbClr val="E5E7EB"/>
                </a:solidFill>
                <a:latin typeface="Consolas"/>
              </a:rPr>
              <a:t>/* Experiment A1 -- straight-line distance between two points on a 2D plane</a:t>
            </a:r>
          </a:p>
          <a:p>
            <a:pPr>
              <a:lnSpc>
                <a:spcPct val="100000"/>
              </a:lnSpc>
              <a:spcBef>
                <a:spcPts val="0"/>
              </a:spcBef>
              <a:spcAft>
                <a:spcPts val="60"/>
              </a:spcAft>
            </a:pPr>
            <a:r>
              <a:rPr sz="921" b="0" i="0">
                <a:solidFill>
                  <a:srgbClr val="E5E7EB"/>
                </a:solidFill>
                <a:latin typeface="Consolas"/>
              </a:rPr>
              <a:t>   File  : a01_distance.c</a:t>
            </a:r>
          </a:p>
          <a:p>
            <a:pPr>
              <a:lnSpc>
                <a:spcPct val="100000"/>
              </a:lnSpc>
              <a:spcBef>
                <a:spcPts val="0"/>
              </a:spcBef>
              <a:spcAft>
                <a:spcPts val="60"/>
              </a:spcAft>
            </a:pPr>
            <a:r>
              <a:rPr sz="921" b="0" i="0">
                <a:solidFill>
                  <a:srgbClr val="E5E7EB"/>
                </a:solidFill>
                <a:latin typeface="Consolas"/>
              </a:rPr>
              <a:t>   Build : gcc -Wall a01_distance.c -o a01_distance -lm                     */</a:t>
            </a:r>
          </a:p>
          <a:p>
            <a:pPr>
              <a:lnSpc>
                <a:spcPct val="100000"/>
              </a:lnSpc>
              <a:spcBef>
                <a:spcPts val="0"/>
              </a:spcBef>
              <a:spcAft>
                <a:spcPts val="60"/>
              </a:spcAft>
            </a:pPr>
            <a:r>
              <a:rPr sz="921" b="0" i="0">
                <a:solidFill>
                  <a:srgbClr val="E5E7EB"/>
                </a:solidFill>
                <a:latin typeface="Consolas"/>
              </a:rPr>
              <a:t>#include &lt;stdio.h&gt;</a:t>
            </a:r>
          </a:p>
          <a:p>
            <a:pPr>
              <a:lnSpc>
                <a:spcPct val="100000"/>
              </a:lnSpc>
              <a:spcBef>
                <a:spcPts val="0"/>
              </a:spcBef>
              <a:spcAft>
                <a:spcPts val="60"/>
              </a:spcAft>
            </a:pPr>
            <a:r>
              <a:rPr sz="921" b="0" i="0">
                <a:solidFill>
                  <a:srgbClr val="E5E7EB"/>
                </a:solidFill>
                <a:latin typeface="Consolas"/>
              </a:rPr>
              <a:t>#include &lt;math.h&gt;</a:t>
            </a:r>
          </a:p>
          <a:p>
            <a:pPr>
              <a:lnSpc>
                <a:spcPct val="100000"/>
              </a:lnSpc>
              <a:spcBef>
                <a:spcPts val="0"/>
              </a:spcBef>
              <a:spcAft>
                <a:spcPts val="60"/>
              </a:spcAft>
            </a:pPr>
            <a:r>
              <a:rPr sz="921" b="0" i="0">
                <a:solidFill>
                  <a:srgbClr val="E5E7EB"/>
                </a:solidFill>
                <a:latin typeface="Consolas"/>
              </a:rPr>
              <a:t> </a:t>
            </a:r>
          </a:p>
          <a:p>
            <a:pPr>
              <a:lnSpc>
                <a:spcPct val="100000"/>
              </a:lnSpc>
              <a:spcBef>
                <a:spcPts val="0"/>
              </a:spcBef>
              <a:spcAft>
                <a:spcPts val="60"/>
              </a:spcAft>
            </a:pPr>
            <a:r>
              <a:rPr sz="921" b="0" i="0">
                <a:solidFill>
                  <a:srgbClr val="E5E7EB"/>
                </a:solidFill>
                <a:latin typeface="Consolas"/>
              </a:rPr>
              <a:t>int main(void)</a:t>
            </a:r>
          </a:p>
          <a:p>
            <a:pPr>
              <a:lnSpc>
                <a:spcPct val="100000"/>
              </a:lnSpc>
              <a:spcBef>
                <a:spcPts val="0"/>
              </a:spcBef>
              <a:spcAft>
                <a:spcPts val="60"/>
              </a:spcAft>
            </a:pPr>
            <a:r>
              <a:rPr sz="921" b="0" i="0">
                <a:solidFill>
                  <a:srgbClr val="E5E7EB"/>
                </a:solidFill>
                <a:latin typeface="Consolas"/>
              </a:rPr>
              <a:t>{</a:t>
            </a:r>
          </a:p>
          <a:p>
            <a:pPr>
              <a:lnSpc>
                <a:spcPct val="100000"/>
              </a:lnSpc>
              <a:spcBef>
                <a:spcPts val="0"/>
              </a:spcBef>
              <a:spcAft>
                <a:spcPts val="60"/>
              </a:spcAft>
            </a:pPr>
            <a:r>
              <a:rPr sz="921" b="0" i="0">
                <a:solidFill>
                  <a:srgbClr val="E5E7EB"/>
                </a:solidFill>
                <a:latin typeface="Consolas"/>
              </a:rPr>
              <a:t>    float x1, y1, x2, y2, dist;</a:t>
            </a:r>
          </a:p>
          <a:p>
            <a:pPr>
              <a:lnSpc>
                <a:spcPct val="100000"/>
              </a:lnSpc>
              <a:spcBef>
                <a:spcPts val="0"/>
              </a:spcBef>
              <a:spcAft>
                <a:spcPts val="60"/>
              </a:spcAft>
            </a:pPr>
            <a:r>
              <a:rPr sz="921" b="0" i="0">
                <a:solidFill>
                  <a:srgbClr val="E5E7EB"/>
                </a:solidFill>
                <a:latin typeface="Consolas"/>
              </a:rPr>
              <a:t> </a:t>
            </a:r>
          </a:p>
          <a:p>
            <a:pPr>
              <a:lnSpc>
                <a:spcPct val="100000"/>
              </a:lnSpc>
              <a:spcBef>
                <a:spcPts val="0"/>
              </a:spcBef>
              <a:spcAft>
                <a:spcPts val="60"/>
              </a:spcAft>
            </a:pPr>
            <a:r>
              <a:rPr sz="921" b="0" i="0">
                <a:solidFill>
                  <a:srgbClr val="E5E7EB"/>
                </a:solidFill>
                <a:latin typeface="Consolas"/>
              </a:rPr>
              <a:t>    printf("Enter coordinates of point 1 (x1 y1): ");</a:t>
            </a:r>
          </a:p>
          <a:p>
            <a:pPr>
              <a:lnSpc>
                <a:spcPct val="100000"/>
              </a:lnSpc>
              <a:spcBef>
                <a:spcPts val="0"/>
              </a:spcBef>
              <a:spcAft>
                <a:spcPts val="60"/>
              </a:spcAft>
            </a:pPr>
            <a:r>
              <a:rPr sz="921" b="0" i="0">
                <a:solidFill>
                  <a:srgbClr val="E5E7EB"/>
                </a:solidFill>
                <a:latin typeface="Consolas"/>
              </a:rPr>
              <a:t>    scanf("%f %f", &amp;x1, &amp;y1);</a:t>
            </a:r>
          </a:p>
          <a:p>
            <a:pPr>
              <a:lnSpc>
                <a:spcPct val="100000"/>
              </a:lnSpc>
              <a:spcBef>
                <a:spcPts val="0"/>
              </a:spcBef>
              <a:spcAft>
                <a:spcPts val="60"/>
              </a:spcAft>
            </a:pPr>
            <a:r>
              <a:rPr sz="921" b="0" i="0">
                <a:solidFill>
                  <a:srgbClr val="E5E7EB"/>
                </a:solidFill>
                <a:latin typeface="Consolas"/>
              </a:rPr>
              <a:t>    printf("Enter coordinates of point 2 (x2 y2): ");</a:t>
            </a:r>
          </a:p>
          <a:p>
            <a:pPr>
              <a:lnSpc>
                <a:spcPct val="100000"/>
              </a:lnSpc>
              <a:spcBef>
                <a:spcPts val="0"/>
              </a:spcBef>
              <a:spcAft>
                <a:spcPts val="60"/>
              </a:spcAft>
            </a:pPr>
            <a:r>
              <a:rPr sz="921" b="0" i="0">
                <a:solidFill>
                  <a:srgbClr val="E5E7EB"/>
                </a:solidFill>
                <a:latin typeface="Consolas"/>
              </a:rPr>
              <a:t>    scanf("%f %f", &amp;x2, &amp;y2);</a:t>
            </a:r>
          </a:p>
          <a:p>
            <a:pPr>
              <a:lnSpc>
                <a:spcPct val="100000"/>
              </a:lnSpc>
              <a:spcBef>
                <a:spcPts val="0"/>
              </a:spcBef>
              <a:spcAft>
                <a:spcPts val="60"/>
              </a:spcAft>
            </a:pPr>
            <a:r>
              <a:rPr sz="921" b="0" i="0">
                <a:solidFill>
                  <a:srgbClr val="E5E7EB"/>
                </a:solidFill>
                <a:latin typeface="Consolas"/>
              </a:rPr>
              <a:t> </a:t>
            </a:r>
          </a:p>
          <a:p>
            <a:pPr>
              <a:lnSpc>
                <a:spcPct val="100000"/>
              </a:lnSpc>
              <a:spcBef>
                <a:spcPts val="0"/>
              </a:spcBef>
              <a:spcAft>
                <a:spcPts val="60"/>
              </a:spcAft>
            </a:pPr>
            <a:r>
              <a:rPr sz="921" b="0" i="0">
                <a:solidFill>
                  <a:srgbClr val="E5E7EB"/>
                </a:solidFill>
                <a:latin typeface="Consolas"/>
              </a:rPr>
              <a:t>    dist = sqrt(pow(x2 - x1, 2) + pow(y2 - y1, 2));</a:t>
            </a:r>
          </a:p>
          <a:p>
            <a:pPr>
              <a:lnSpc>
                <a:spcPct val="100000"/>
              </a:lnSpc>
              <a:spcBef>
                <a:spcPts val="0"/>
              </a:spcBef>
              <a:spcAft>
                <a:spcPts val="60"/>
              </a:spcAft>
            </a:pPr>
            <a:r>
              <a:rPr sz="921" b="0" i="0">
                <a:solidFill>
                  <a:srgbClr val="E5E7EB"/>
                </a:solidFill>
                <a:latin typeface="Consolas"/>
              </a:rPr>
              <a:t> </a:t>
            </a:r>
          </a:p>
          <a:p>
            <a:pPr>
              <a:lnSpc>
                <a:spcPct val="100000"/>
              </a:lnSpc>
              <a:spcBef>
                <a:spcPts val="0"/>
              </a:spcBef>
              <a:spcAft>
                <a:spcPts val="60"/>
              </a:spcAft>
            </a:pPr>
            <a:r>
              <a:rPr sz="921" b="0" i="0">
                <a:solidFill>
                  <a:srgbClr val="E5E7EB"/>
                </a:solidFill>
                <a:latin typeface="Consolas"/>
              </a:rPr>
              <a:t>    printf("Distance between (%.2f, %.2f) and (%.2f, %.2f) = %.4f units\n",</a:t>
            </a:r>
          </a:p>
          <a:p>
            <a:pPr>
              <a:lnSpc>
                <a:spcPct val="100000"/>
              </a:lnSpc>
              <a:spcBef>
                <a:spcPts val="0"/>
              </a:spcBef>
              <a:spcAft>
                <a:spcPts val="60"/>
              </a:spcAft>
            </a:pPr>
            <a:r>
              <a:rPr sz="921" b="0" i="0">
                <a:solidFill>
                  <a:srgbClr val="E5E7EB"/>
                </a:solidFill>
                <a:latin typeface="Consolas"/>
              </a:rPr>
              <a:t>           x1, y1, x2, y2, dist);</a:t>
            </a:r>
          </a:p>
          <a:p>
            <a:pPr>
              <a:lnSpc>
                <a:spcPct val="100000"/>
              </a:lnSpc>
              <a:spcBef>
                <a:spcPts val="0"/>
              </a:spcBef>
              <a:spcAft>
                <a:spcPts val="60"/>
              </a:spcAft>
            </a:pPr>
            <a:r>
              <a:rPr sz="921" b="0" i="0">
                <a:solidFill>
                  <a:srgbClr val="E5E7EB"/>
                </a:solidFill>
                <a:latin typeface="Consolas"/>
              </a:rPr>
              <a:t> </a:t>
            </a:r>
          </a:p>
          <a:p>
            <a:pPr>
              <a:lnSpc>
                <a:spcPct val="100000"/>
              </a:lnSpc>
              <a:spcBef>
                <a:spcPts val="0"/>
              </a:spcBef>
              <a:spcAft>
                <a:spcPts val="60"/>
              </a:spcAft>
            </a:pPr>
            <a:r>
              <a:rPr sz="921" b="0" i="0">
                <a:solidFill>
                  <a:srgbClr val="E5E7EB"/>
                </a:solidFill>
                <a:latin typeface="Consolas"/>
              </a:rPr>
              <a:t>    return 0;</a:t>
            </a:r>
          </a:p>
          <a:p>
            <a:pPr>
              <a:lnSpc>
                <a:spcPct val="100000"/>
              </a:lnSpc>
              <a:spcBef>
                <a:spcPts val="0"/>
              </a:spcBef>
              <a:spcAft>
                <a:spcPts val="60"/>
              </a:spcAft>
            </a:pPr>
            <a:r>
              <a:rPr sz="921"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an ordinary robot hop, from (2, 3) to (10, −5)</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984" b="0" i="0">
                <a:solidFill>
                  <a:srgbClr val="14171C"/>
                </a:solidFill>
                <a:latin typeface="Consolas"/>
              </a:rPr>
              <a:t>Enter coordinates of point 1 (x1 y1): 2 3</a:t>
            </a:r>
          </a:p>
          <a:p>
            <a:pPr>
              <a:lnSpc>
                <a:spcPct val="100000"/>
              </a:lnSpc>
              <a:spcBef>
                <a:spcPts val="0"/>
              </a:spcBef>
              <a:spcAft>
                <a:spcPts val="60"/>
              </a:spcAft>
            </a:pPr>
            <a:r>
              <a:rPr sz="984" b="0" i="0">
                <a:solidFill>
                  <a:srgbClr val="14171C"/>
                </a:solidFill>
                <a:latin typeface="Consolas"/>
              </a:rPr>
              <a:t>Enter coordinates of point 2 (x2 y2): 10 -5</a:t>
            </a:r>
          </a:p>
          <a:p>
            <a:pPr>
              <a:lnSpc>
                <a:spcPct val="100000"/>
              </a:lnSpc>
              <a:spcBef>
                <a:spcPts val="0"/>
              </a:spcBef>
              <a:spcAft>
                <a:spcPts val="60"/>
              </a:spcAft>
            </a:pPr>
            <a:r>
              <a:rPr sz="984" b="0" i="0">
                <a:solidFill>
                  <a:srgbClr val="14171C"/>
                </a:solidFill>
                <a:latin typeface="Consolas"/>
              </a:rPr>
              <a:t>Distance between (2.00, 3.00) and (10.00, -5.00) = 11.3137 units</a:t>
            </a:r>
          </a:p>
        </p:txBody>
      </p:sp>
      <p:sp>
        <p:nvSpPr>
          <p:cNvPr id="15" name="Rectangle 14"/>
          <p:cNvSpPr/>
          <p:nvPr/>
        </p:nvSpPr>
        <p:spPr>
          <a:xfrm>
            <a:off x="6537960"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the classic 3-4-5 triangle from the origin</a:t>
            </a:r>
          </a:p>
        </p:txBody>
      </p:sp>
      <p:sp>
        <p:nvSpPr>
          <p:cNvPr id="17" name="TextBox 16"/>
          <p:cNvSpPr txBox="1"/>
          <p:nvPr/>
        </p:nvSpPr>
        <p:spPr>
          <a:xfrm>
            <a:off x="6684264"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coordinates of point 1 (x1 y1): 0 0</a:t>
            </a:r>
          </a:p>
          <a:p>
            <a:pPr>
              <a:lnSpc>
                <a:spcPct val="100000"/>
              </a:lnSpc>
              <a:spcBef>
                <a:spcPts val="0"/>
              </a:spcBef>
              <a:spcAft>
                <a:spcPts val="60"/>
              </a:spcAft>
            </a:pPr>
            <a:r>
              <a:rPr sz="720" b="0" i="0">
                <a:solidFill>
                  <a:srgbClr val="14171C"/>
                </a:solidFill>
                <a:latin typeface="Consolas"/>
              </a:rPr>
              <a:t>Enter coordinates of point 2 (x2 y2): 3 4</a:t>
            </a:r>
          </a:p>
          <a:p>
            <a:pPr>
              <a:lnSpc>
                <a:spcPct val="100000"/>
              </a:lnSpc>
              <a:spcBef>
                <a:spcPts val="0"/>
              </a:spcBef>
              <a:spcAft>
                <a:spcPts val="60"/>
              </a:spcAft>
            </a:pPr>
            <a:r>
              <a:rPr sz="720" b="0" i="0">
                <a:solidFill>
                  <a:srgbClr val="14171C"/>
                </a:solidFill>
                <a:latin typeface="Consolas"/>
              </a:rPr>
              <a:t>Distance between (0.00, 0.00) and (3.00, 4.00) = 5.0000 units</a:t>
            </a:r>
          </a:p>
        </p:txBody>
      </p:sp>
      <p:sp>
        <p:nvSpPr>
          <p:cNvPr id="18" name="Rectangle 17"/>
          <p:cNvSpPr/>
          <p:nvPr/>
        </p:nvSpPr>
        <p:spPr>
          <a:xfrm>
            <a:off x="9180576"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3 — identical endpoints (a zero-length move)</a:t>
            </a:r>
          </a:p>
        </p:txBody>
      </p:sp>
      <p:sp>
        <p:nvSpPr>
          <p:cNvPr id="20" name="TextBox 19"/>
          <p:cNvSpPr txBox="1"/>
          <p:nvPr/>
        </p:nvSpPr>
        <p:spPr>
          <a:xfrm>
            <a:off x="9326880"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coordinates of point 1 (x1 y1): -4 -3</a:t>
            </a:r>
          </a:p>
          <a:p>
            <a:pPr>
              <a:lnSpc>
                <a:spcPct val="100000"/>
              </a:lnSpc>
              <a:spcBef>
                <a:spcPts val="0"/>
              </a:spcBef>
              <a:spcAft>
                <a:spcPts val="60"/>
              </a:spcAft>
            </a:pPr>
            <a:r>
              <a:rPr sz="720" b="0" i="0">
                <a:solidFill>
                  <a:srgbClr val="14171C"/>
                </a:solidFill>
                <a:latin typeface="Consolas"/>
              </a:rPr>
              <a:t>Enter coordinates of point 2 (x2 y2): -4 -3</a:t>
            </a:r>
          </a:p>
          <a:p>
            <a:pPr>
              <a:lnSpc>
                <a:spcPct val="100000"/>
              </a:lnSpc>
              <a:spcBef>
                <a:spcPts val="0"/>
              </a:spcBef>
              <a:spcAft>
                <a:spcPts val="60"/>
              </a:spcAft>
            </a:pPr>
            <a:r>
              <a:rPr sz="720" b="0" i="0">
                <a:solidFill>
                  <a:srgbClr val="14171C"/>
                </a:solidFill>
                <a:latin typeface="Consolas"/>
              </a:rPr>
              <a:t>Distance between (-4.00, -3.00) and (-4.00, -3.00) = 0.0000 units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1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1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Hand-check of Run 1: dx = 10 − 2 = 8 and dy = −5 − 3 = −8, so d = √(8² + (−8)²) = √128 = 11.3137…, exactly what the program printed. Run 2 reproduces the 3-4-5 right triangle (√(9+16) = 5), and Run 3 shows the degenerate case a robot may actually meet — no motion, zero distance — handled with no special code at all. Inference. One formula plus one library call turns a navigation question into a program of fifteen lines. …</a:t>
            </a:r>
          </a:p>
        </p:txBody>
      </p:sp>
      <p:graphicFrame>
        <p:nvGraphicFramePr>
          <p:cNvPr id="10" name="Table 9"/>
          <p:cNvGraphicFramePr>
            <a:graphicFrameLocks noGrp="1"/>
          </p:cNvGraphicFramePr>
          <p:nvPr/>
        </p:nvGraphicFramePr>
        <p:xfrm>
          <a:off x="502920" y="3840480"/>
          <a:ext cx="6400800" cy="859536"/>
        </p:xfrm>
        <a:graphic>
          <a:graphicData uri="http://schemas.openxmlformats.org/drawingml/2006/table">
            <a:tbl>
              <a:tblPr firstRow="1" bandRow="1">
                <a:tableStyleId>{5C22544A-7EE6-4342-B048-85BDC9FD1C3A}</a:tableStyleId>
              </a:tblPr>
              <a:tblGrid>
                <a:gridCol w="1066800"/>
                <a:gridCol w="1066800"/>
                <a:gridCol w="1066800"/>
                <a:gridCol w="1066800"/>
                <a:gridCol w="1066800"/>
                <a:gridCol w="1066800"/>
              </a:tblGrid>
              <a:tr h="214884">
                <a:tc>
                  <a:txBody>
                    <a:bodyPr/>
                    <a:lstStyle/>
                    <a:p>
                      <a:r>
                        <a:rPr sz="1050" b="1">
                          <a:solidFill>
                            <a:srgbClr val="E5E7EB"/>
                          </a:solidFill>
                          <a:latin typeface="Calibri"/>
                        </a:rPr>
                        <a:t>Test</a:t>
                      </a:r>
                    </a:p>
                  </a:txBody>
                  <a:tcPr>
                    <a:solidFill>
                      <a:srgbClr val="1F2937"/>
                    </a:solidFill>
                  </a:tcPr>
                </a:tc>
                <a:tc>
                  <a:txBody>
                    <a:bodyPr/>
                    <a:lstStyle/>
                    <a:p>
                      <a:r>
                        <a:rPr sz="1050" b="1">
                          <a:solidFill>
                            <a:srgbClr val="E5E7EB"/>
                          </a:solidFill>
                          <a:latin typeface="Calibri"/>
                        </a:rPr>
                        <a:t>(x1, y1)</a:t>
                      </a:r>
                    </a:p>
                  </a:txBody>
                  <a:tcPr>
                    <a:solidFill>
                      <a:srgbClr val="1F2937"/>
                    </a:solidFill>
                  </a:tcPr>
                </a:tc>
                <a:tc>
                  <a:txBody>
                    <a:bodyPr/>
                    <a:lstStyle/>
                    <a:p>
                      <a:r>
                        <a:rPr sz="1050" b="1">
                          <a:solidFill>
                            <a:srgbClr val="E5E7EB"/>
                          </a:solidFill>
                          <a:latin typeface="Calibri"/>
                        </a:rPr>
                        <a:t>(x2, y2)</a:t>
                      </a:r>
                    </a:p>
                  </a:txBody>
                  <a:tcPr>
                    <a:solidFill>
                      <a:srgbClr val="1F2937"/>
                    </a:solidFill>
                  </a:tcPr>
                </a:tc>
                <a:tc>
                  <a:txBody>
                    <a:bodyPr/>
                    <a:lstStyle/>
                    <a:p>
                      <a:r>
                        <a:rPr sz="1050" b="1">
                          <a:solidFill>
                            <a:srgbClr val="E5E7EB"/>
                          </a:solidFill>
                          <a:latin typeface="Calibri"/>
                        </a:rPr>
                        <a:t>Expected d</a:t>
                      </a:r>
                    </a:p>
                  </a:txBody>
                  <a:tcPr>
                    <a:solidFill>
                      <a:srgbClr val="1F2937"/>
                    </a:solidFill>
                  </a:tcPr>
                </a:tc>
                <a:tc>
                  <a:txBody>
                    <a:bodyPr/>
                    <a:lstStyle/>
                    <a:p>
                      <a:r>
                        <a:rPr sz="1050" b="1">
                          <a:solidFill>
                            <a:srgbClr val="E5E7EB"/>
                          </a:solidFill>
                          <a:latin typeface="Calibri"/>
                        </a:rPr>
                        <a:t>Program output</a:t>
                      </a:r>
                    </a:p>
                  </a:txBody>
                  <a:tcPr>
                    <a:solidFill>
                      <a:srgbClr val="1F2937"/>
                    </a:solidFill>
                  </a:tcPr>
                </a:tc>
                <a:tc>
                  <a:txBody>
                    <a:bodyPr/>
                    <a:lstStyle/>
                    <a:p>
                      <a:r>
                        <a:rPr sz="1050" b="1">
                          <a:solidFill>
                            <a:srgbClr val="E5E7EB"/>
                          </a:solidFill>
                          <a:latin typeface="Calibri"/>
                        </a:rPr>
                        <a:t>Match</a:t>
                      </a:r>
                    </a:p>
                  </a:txBody>
                  <a:tcPr>
                    <a:solidFill>
                      <a:srgbClr val="1F2937"/>
                    </a:solidFill>
                  </a:tcPr>
                </a:tc>
              </a:tr>
              <a:tr h="214884">
                <a:tc>
                  <a:txBody>
                    <a:bodyPr/>
                    <a:lstStyle/>
                    <a:p>
                      <a:r>
                        <a:rPr sz="1050" b="0">
                          <a:solidFill>
                            <a:srgbClr val="16181D"/>
                          </a:solidFill>
                          <a:latin typeface="Calibri"/>
                        </a:rPr>
                        <a:t>1</a:t>
                      </a:r>
                    </a:p>
                  </a:txBody>
                  <a:tcPr>
                    <a:solidFill>
                      <a:srgbClr val="F3F4F6"/>
                    </a:solidFill>
                  </a:tcPr>
                </a:tc>
                <a:tc>
                  <a:txBody>
                    <a:bodyPr/>
                    <a:lstStyle/>
                    <a:p>
                      <a:r>
                        <a:rPr sz="1050" b="0">
                          <a:solidFill>
                            <a:srgbClr val="16181D"/>
                          </a:solidFill>
                          <a:latin typeface="Calibri"/>
                        </a:rPr>
                        <a:t>(2, 3)</a:t>
                      </a:r>
                    </a:p>
                  </a:txBody>
                  <a:tcPr>
                    <a:solidFill>
                      <a:srgbClr val="F3F4F6"/>
                    </a:solidFill>
                  </a:tcPr>
                </a:tc>
                <a:tc>
                  <a:txBody>
                    <a:bodyPr/>
                    <a:lstStyle/>
                    <a:p>
                      <a:r>
                        <a:rPr sz="1050" b="0">
                          <a:solidFill>
                            <a:srgbClr val="16181D"/>
                          </a:solidFill>
                          <a:latin typeface="Calibri"/>
                        </a:rPr>
                        <a:t>(10, −5)</a:t>
                      </a:r>
                    </a:p>
                  </a:txBody>
                  <a:tcPr>
                    <a:solidFill>
                      <a:srgbClr val="F3F4F6"/>
                    </a:solidFill>
                  </a:tcPr>
                </a:tc>
                <a:tc>
                  <a:txBody>
                    <a:bodyPr/>
                    <a:lstStyle/>
                    <a:p>
                      <a:r>
                        <a:rPr sz="1050" b="0">
                          <a:solidFill>
                            <a:srgbClr val="16181D"/>
                          </a:solidFill>
                          <a:latin typeface="Calibri"/>
                        </a:rPr>
                        <a:t>√128 = 11.3137</a:t>
                      </a:r>
                    </a:p>
                  </a:txBody>
                  <a:tcPr>
                    <a:solidFill>
                      <a:srgbClr val="F3F4F6"/>
                    </a:solidFill>
                  </a:tcPr>
                </a:tc>
                <a:tc>
                  <a:txBody>
                    <a:bodyPr/>
                    <a:lstStyle/>
                    <a:p>
                      <a:r>
                        <a:rPr sz="1050" b="0">
                          <a:solidFill>
                            <a:srgbClr val="16181D"/>
                          </a:solidFill>
                          <a:latin typeface="Calibri"/>
                        </a:rPr>
                        <a:t>11.3137 units</a:t>
                      </a:r>
                    </a:p>
                  </a:txBody>
                  <a:tcPr>
                    <a:solidFill>
                      <a:srgbClr val="F3F4F6"/>
                    </a:solidFill>
                  </a:tcPr>
                </a:tc>
                <a:tc>
                  <a:txBody>
                    <a:bodyPr/>
                    <a:lstStyle/>
                    <a:p>
                      <a:r>
                        <a:rPr sz="1050" b="0">
                          <a:solidFill>
                            <a:srgbClr val="16181D"/>
                          </a:solidFill>
                          <a:latin typeface="Calibri"/>
                        </a:rPr>
                        <a:t>✓</a:t>
                      </a:r>
                    </a:p>
                  </a:txBody>
                  <a:tcPr>
                    <a:solidFill>
                      <a:srgbClr val="F3F4F6"/>
                    </a:solidFill>
                  </a:tcPr>
                </a:tc>
              </a:tr>
              <a:tr h="214884">
                <a:tc>
                  <a:txBody>
                    <a:bodyPr/>
                    <a:lstStyle/>
                    <a:p>
                      <a:r>
                        <a:rPr sz="1050" b="0">
                          <a:solidFill>
                            <a:srgbClr val="16181D"/>
                          </a:solidFill>
                          <a:latin typeface="Calibri"/>
                        </a:rPr>
                        <a:t>2</a:t>
                      </a:r>
                    </a:p>
                  </a:txBody>
                  <a:tcPr>
                    <a:solidFill>
                      <a:srgbClr val="FFFFFF"/>
                    </a:solidFill>
                  </a:tcPr>
                </a:tc>
                <a:tc>
                  <a:txBody>
                    <a:bodyPr/>
                    <a:lstStyle/>
                    <a:p>
                      <a:r>
                        <a:rPr sz="1050" b="0">
                          <a:solidFill>
                            <a:srgbClr val="16181D"/>
                          </a:solidFill>
                          <a:latin typeface="Calibri"/>
                        </a:rPr>
                        <a:t>(0, 0)</a:t>
                      </a:r>
                    </a:p>
                  </a:txBody>
                  <a:tcPr>
                    <a:solidFill>
                      <a:srgbClr val="FFFFFF"/>
                    </a:solidFill>
                  </a:tcPr>
                </a:tc>
                <a:tc>
                  <a:txBody>
                    <a:bodyPr/>
                    <a:lstStyle/>
                    <a:p>
                      <a:r>
                        <a:rPr sz="1050" b="0">
                          <a:solidFill>
                            <a:srgbClr val="16181D"/>
                          </a:solidFill>
                          <a:latin typeface="Calibri"/>
                        </a:rPr>
                        <a:t>(3, 4)</a:t>
                      </a:r>
                    </a:p>
                  </a:txBody>
                  <a:tcPr>
                    <a:solidFill>
                      <a:srgbClr val="FFFFFF"/>
                    </a:solidFill>
                  </a:tcPr>
                </a:tc>
                <a:tc>
                  <a:txBody>
                    <a:bodyPr/>
                    <a:lstStyle/>
                    <a:p>
                      <a:r>
                        <a:rPr sz="1050" b="0">
                          <a:solidFill>
                            <a:srgbClr val="16181D"/>
                          </a:solidFill>
                          <a:latin typeface="Calibri"/>
                        </a:rPr>
                        <a:t>5.0000</a:t>
                      </a:r>
                    </a:p>
                  </a:txBody>
                  <a:tcPr>
                    <a:solidFill>
                      <a:srgbClr val="FFFFFF"/>
                    </a:solidFill>
                  </a:tcPr>
                </a:tc>
                <a:tc>
                  <a:txBody>
                    <a:bodyPr/>
                    <a:lstStyle/>
                    <a:p>
                      <a:r>
                        <a:rPr sz="1050" b="0">
                          <a:solidFill>
                            <a:srgbClr val="16181D"/>
                          </a:solidFill>
                          <a:latin typeface="Calibri"/>
                        </a:rPr>
                        <a:t>5.0000 units</a:t>
                      </a:r>
                    </a:p>
                  </a:txBody>
                  <a:tcPr>
                    <a:solidFill>
                      <a:srgbClr val="FFFFFF"/>
                    </a:solidFill>
                  </a:tcPr>
                </a:tc>
                <a:tc>
                  <a:txBody>
                    <a:bodyPr/>
                    <a:lstStyle/>
                    <a:p>
                      <a:r>
                        <a:rPr sz="1050" b="0">
                          <a:solidFill>
                            <a:srgbClr val="16181D"/>
                          </a:solidFill>
                          <a:latin typeface="Calibri"/>
                        </a:rPr>
                        <a:t>✓</a:t>
                      </a:r>
                    </a:p>
                  </a:txBody>
                  <a:tcPr>
                    <a:solidFill>
                      <a:srgbClr val="FFFFFF"/>
                    </a:solidFill>
                  </a:tcPr>
                </a:tc>
              </a:tr>
              <a:tr h="214884">
                <a:tc>
                  <a:txBody>
                    <a:bodyPr/>
                    <a:lstStyle/>
                    <a:p>
                      <a:r>
                        <a:rPr sz="1050" b="0">
                          <a:solidFill>
                            <a:srgbClr val="16181D"/>
                          </a:solidFill>
                          <a:latin typeface="Calibri"/>
                        </a:rPr>
                        <a:t>3</a:t>
                      </a:r>
                    </a:p>
                  </a:txBody>
                  <a:tcPr>
                    <a:solidFill>
                      <a:srgbClr val="F3F4F6"/>
                    </a:solidFill>
                  </a:tcPr>
                </a:tc>
                <a:tc>
                  <a:txBody>
                    <a:bodyPr/>
                    <a:lstStyle/>
                    <a:p>
                      <a:r>
                        <a:rPr sz="1050" b="0">
                          <a:solidFill>
                            <a:srgbClr val="16181D"/>
                          </a:solidFill>
                          <a:latin typeface="Calibri"/>
                        </a:rPr>
                        <a:t>(−4, −3)</a:t>
                      </a:r>
                    </a:p>
                  </a:txBody>
                  <a:tcPr>
                    <a:solidFill>
                      <a:srgbClr val="F3F4F6"/>
                    </a:solidFill>
                  </a:tcPr>
                </a:tc>
                <a:tc>
                  <a:txBody>
                    <a:bodyPr/>
                    <a:lstStyle/>
                    <a:p>
                      <a:r>
                        <a:rPr sz="1050" b="0">
                          <a:solidFill>
                            <a:srgbClr val="16181D"/>
                          </a:solidFill>
                          <a:latin typeface="Calibri"/>
                        </a:rPr>
                        <a:t>(−4, −3)</a:t>
                      </a:r>
                    </a:p>
                  </a:txBody>
                  <a:tcPr>
                    <a:solidFill>
                      <a:srgbClr val="F3F4F6"/>
                    </a:solidFill>
                  </a:tcPr>
                </a:tc>
                <a:tc>
                  <a:txBody>
                    <a:bodyPr/>
                    <a:lstStyle/>
                    <a:p>
                      <a:r>
                        <a:rPr sz="1050" b="0">
                          <a:solidFill>
                            <a:srgbClr val="16181D"/>
                          </a:solidFill>
                          <a:latin typeface="Calibri"/>
                        </a:rPr>
                        <a:t>0.0000</a:t>
                      </a:r>
                    </a:p>
                  </a:txBody>
                  <a:tcPr>
                    <a:solidFill>
                      <a:srgbClr val="F3F4F6"/>
                    </a:solidFill>
                  </a:tcPr>
                </a:tc>
                <a:tc>
                  <a:txBody>
                    <a:bodyPr/>
                    <a:lstStyle/>
                    <a:p>
                      <a:r>
                        <a:rPr sz="1050" b="0">
                          <a:solidFill>
                            <a:srgbClr val="16181D"/>
                          </a:solidFill>
                          <a:latin typeface="Calibri"/>
                        </a:rPr>
                        <a:t>0.0000 units</a:t>
                      </a:r>
                    </a:p>
                  </a:txBody>
                  <a:tcPr>
                    <a:solidFill>
                      <a:srgbClr val="F3F4F6"/>
                    </a:solidFill>
                  </a:tcPr>
                </a:tc>
                <a:tc>
                  <a:txBody>
                    <a:bodyPr/>
                    <a:lstStyle/>
                    <a:p>
                      <a:r>
                        <a:rPr sz="1050" b="0">
                          <a:solidFill>
                            <a:srgbClr val="16181D"/>
                          </a:solidFill>
                          <a:latin typeface="Calibri"/>
                        </a:rPr>
                        <a:t>✓</a:t>
                      </a:r>
                    </a:p>
                  </a:txBody>
                  <a:tcPr>
                    <a:solidFill>
                      <a:srgbClr val="F3F4F6"/>
                    </a:solidFill>
                  </a:tcPr>
                </a:tc>
              </a:tr>
            </a:tbl>
          </a:graphicData>
        </a:graphic>
      </p:graphicFrame>
      <p:sp>
        <p:nvSpPr>
          <p:cNvPr id="11" name="TextBox 10"/>
          <p:cNvSpPr txBox="1"/>
          <p:nvPr/>
        </p:nvSpPr>
        <p:spPr>
          <a:xfrm>
            <a:off x="502920" y="4809744"/>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The C program to calculate the straight-line distance between two given coordinates on a 2D plane was developed, compiled without warnings (gcc -Wall -Wextra, zero diagnostics) and executed. …</a:t>
            </a:r>
          </a:p>
        </p:txBody>
      </p:sp>
      <p:sp>
        <p:nvSpPr>
          <p:cNvPr id="12" name="TextBox 11"/>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3" name="TextBox 12"/>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What is the difference between a function declared in &lt;math.h&gt; and one in &lt;stdio.h&gt;, and why does only one need -lm?</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Why does scanf require &amp;x1 but printf does not?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What does the format specifier %.4f mean?</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If you swap the two input points, does the output change? Why or why not?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2</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2 — Marks to Grade — Choosing the Right Control Structure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takes a student’s marks as input and displays the grade corresponding to the prescribed criteria (90 and above: A; 75–89: B; 60–74: C; 50–59: D; below 50: F), choosing a suitable control structure and justifying that choice in the record.</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Construct a correct ordered if–else if–else ladder for a partitioned range; show that the ladder’s order is what makes each branch exclusive; test every boundary value of</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Two control structures can express the rule: the if–else if ladder and the switch. The syllabus phrase “choose a suitable control structure” invites the comparison, so give it in the record:</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key property of the ladder is that an else if is reached only when everything above it has failed. Testing marks &gt;= 90 first and marks &gt;= 75 second means the second branch silently means “75 to 89”, because anyone at 90 or above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Swap the first two rungs to if (marks &gt;= 75) … else if (marks &gt;= 90) … and the 90-and-above branch becomes dead code: a student with 95 satisfies the first test and silently receives Grade B. The program still compiles and still runs; …</a:t>
            </a:r>
          </a:p>
        </p:txBody>
      </p:sp>
      <p:pic>
        <p:nvPicPr>
          <p:cNvPr id="14" name="Picture 13" descr="a02.png"/>
          <p:cNvPicPr>
            <a:picLocks noChangeAspect="1"/>
          </p:cNvPicPr>
          <p:nvPr/>
        </p:nvPicPr>
        <p:blipFill>
          <a:blip r:embed="rId2"/>
          <a:stretch>
            <a:fillRect/>
          </a:stretch>
        </p:blipFill>
        <p:spPr>
          <a:xfrm>
            <a:off x="8355648" y="1554480"/>
            <a:ext cx="2216783"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§2.2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marks (a float).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If marks &lt; 0 or marks &gt; 100: print “Invalid marks” and STOP.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If marks ≥ 90 → grade = A; else if marks ≥ 75 → grade = B; else if marks ≥ 60 → grade = C; else if marks ≥ 50 → grade = D; else → grade = F.</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Print the marks and the grade.</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STOP.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2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2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8</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a02_grade.c  ·  complete source as compiled · 28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941" b="0" i="0">
                <a:solidFill>
                  <a:srgbClr val="E5E7EB"/>
                </a:solidFill>
                <a:latin typeface="Consolas"/>
              </a:rPr>
              <a:t>/* Experiment A2 -- student marks to grade using a control structure</a:t>
            </a:r>
          </a:p>
          <a:p>
            <a:pPr>
              <a:lnSpc>
                <a:spcPct val="100000"/>
              </a:lnSpc>
              <a:spcBef>
                <a:spcPts val="0"/>
              </a:spcBef>
              <a:spcAft>
                <a:spcPts val="60"/>
              </a:spcAft>
            </a:pPr>
            <a:r>
              <a:rPr sz="941" b="0" i="0">
                <a:solidFill>
                  <a:srgbClr val="E5E7EB"/>
                </a:solidFill>
                <a:latin typeface="Consolas"/>
              </a:rPr>
              <a:t>   File    : a02_grade.c</a:t>
            </a:r>
          </a:p>
          <a:p>
            <a:pPr>
              <a:lnSpc>
                <a:spcPct val="100000"/>
              </a:lnSpc>
              <a:spcBef>
                <a:spcPts val="0"/>
              </a:spcBef>
              <a:spcAft>
                <a:spcPts val="60"/>
              </a:spcAft>
            </a:pPr>
            <a:r>
              <a:rPr sz="941" b="0" i="0">
                <a:solidFill>
                  <a:srgbClr val="E5E7EB"/>
                </a:solidFill>
                <a:latin typeface="Consolas"/>
              </a:rPr>
              <a:t>   Build   : gcc -Wall a02_grade.c -o a02_grade */</a:t>
            </a:r>
          </a:p>
          <a:p>
            <a:pPr>
              <a:lnSpc>
                <a:spcPct val="100000"/>
              </a:lnSpc>
              <a:spcBef>
                <a:spcPts val="0"/>
              </a:spcBef>
              <a:spcAft>
                <a:spcPts val="60"/>
              </a:spcAft>
            </a:pPr>
            <a:r>
              <a:rPr sz="941" b="0" i="0">
                <a:solidFill>
                  <a:srgbClr val="E5E7EB"/>
                </a:solidFill>
                <a:latin typeface="Consolas"/>
              </a:rPr>
              <a:t>#include &lt;stdio.h&gt;</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int main(void)</a:t>
            </a:r>
          </a:p>
          <a:p>
            <a:pPr>
              <a:lnSpc>
                <a:spcPct val="100000"/>
              </a:lnSpc>
              <a:spcBef>
                <a:spcPts val="0"/>
              </a:spcBef>
              <a:spcAft>
                <a:spcPts val="60"/>
              </a:spcAft>
            </a:pPr>
            <a:r>
              <a:rPr sz="941" b="0" i="0">
                <a:solidFill>
                  <a:srgbClr val="E5E7EB"/>
                </a:solidFill>
                <a:latin typeface="Consolas"/>
              </a:rPr>
              <a:t>{</a:t>
            </a:r>
          </a:p>
          <a:p>
            <a:pPr>
              <a:lnSpc>
                <a:spcPct val="100000"/>
              </a:lnSpc>
              <a:spcBef>
                <a:spcPts val="0"/>
              </a:spcBef>
              <a:spcAft>
                <a:spcPts val="60"/>
              </a:spcAft>
            </a:pPr>
            <a:r>
              <a:rPr sz="941" b="0" i="0">
                <a:solidFill>
                  <a:srgbClr val="E5E7EB"/>
                </a:solidFill>
                <a:latin typeface="Consolas"/>
              </a:rPr>
              <a:t>    float marks;</a:t>
            </a:r>
          </a:p>
          <a:p>
            <a:pPr>
              <a:lnSpc>
                <a:spcPct val="100000"/>
              </a:lnSpc>
              <a:spcBef>
                <a:spcPts val="0"/>
              </a:spcBef>
              <a:spcAft>
                <a:spcPts val="60"/>
              </a:spcAft>
            </a:pPr>
            <a:r>
              <a:rPr sz="941" b="0" i="0">
                <a:solidFill>
                  <a:srgbClr val="E5E7EB"/>
                </a:solidFill>
                <a:latin typeface="Consolas"/>
              </a:rPr>
              <a:t>    char  grade;</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printf("Enter the student's marks (0-100): ");</a:t>
            </a:r>
          </a:p>
          <a:p>
            <a:pPr>
              <a:lnSpc>
                <a:spcPct val="100000"/>
              </a:lnSpc>
              <a:spcBef>
                <a:spcPts val="0"/>
              </a:spcBef>
              <a:spcAft>
                <a:spcPts val="60"/>
              </a:spcAft>
            </a:pPr>
            <a:r>
              <a:rPr sz="941" b="0" i="0">
                <a:solidFill>
                  <a:srgbClr val="E5E7EB"/>
                </a:solidFill>
                <a:latin typeface="Consolas"/>
              </a:rPr>
              <a:t>    scanf("%f", &amp;marks);</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if (marks &lt; 0.0f || marks &gt; 100.0f) {          /* invalid entry first */</a:t>
            </a:r>
          </a:p>
          <a:p>
            <a:pPr>
              <a:lnSpc>
                <a:spcPct val="100000"/>
              </a:lnSpc>
              <a:spcBef>
                <a:spcPts val="0"/>
              </a:spcBef>
              <a:spcAft>
                <a:spcPts val="60"/>
              </a:spcAft>
            </a:pPr>
            <a:r>
              <a:rPr sz="941" b="0" i="0">
                <a:solidFill>
                  <a:srgbClr val="E5E7EB"/>
                </a:solidFill>
                <a:latin typeface="Consolas"/>
              </a:rPr>
              <a:t>        printf("Invalid marks. Please enter a value between 0 and 100.\n");</a:t>
            </a:r>
          </a:p>
          <a:p>
            <a:pPr>
              <a:lnSpc>
                <a:spcPct val="100000"/>
              </a:lnSpc>
              <a:spcBef>
                <a:spcPts val="0"/>
              </a:spcBef>
              <a:spcAft>
                <a:spcPts val="60"/>
              </a:spcAft>
            </a:pPr>
            <a:r>
              <a:rPr sz="941" b="0" i="0">
                <a:solidFill>
                  <a:srgbClr val="E5E7EB"/>
                </a:solidFill>
                <a:latin typeface="Consolas"/>
              </a:rPr>
              <a:t>        return 1;</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if (marks &gt;= 90.0f)      grade = 'A';          /* 90 and above */</a:t>
            </a:r>
          </a:p>
          <a:p>
            <a:pPr>
              <a:lnSpc>
                <a:spcPct val="100000"/>
              </a:lnSpc>
              <a:spcBef>
                <a:spcPts val="0"/>
              </a:spcBef>
              <a:spcAft>
                <a:spcPts val="60"/>
              </a:spcAft>
            </a:pPr>
            <a:r>
              <a:rPr sz="941" b="0" i="0">
                <a:solidFill>
                  <a:srgbClr val="E5E7EB"/>
                </a:solidFill>
                <a:latin typeface="Consolas"/>
              </a:rPr>
              <a:t>    else if (marks &gt;= 75.0f) grade = 'B';          /* 75 to 89   */</a:t>
            </a:r>
          </a:p>
          <a:p>
            <a:pPr>
              <a:lnSpc>
                <a:spcPct val="100000"/>
              </a:lnSpc>
              <a:spcBef>
                <a:spcPts val="0"/>
              </a:spcBef>
              <a:spcAft>
                <a:spcPts val="60"/>
              </a:spcAft>
            </a:pPr>
            <a:r>
              <a:rPr sz="941" b="0" i="0">
                <a:solidFill>
                  <a:srgbClr val="E5E7EB"/>
                </a:solidFill>
                <a:latin typeface="Consolas"/>
              </a:rPr>
              <a:t>    else if (marks &gt;= 60.0f) grade = 'C';          /* 60 to 74   */</a:t>
            </a:r>
          </a:p>
          <a:p>
            <a:pPr>
              <a:lnSpc>
                <a:spcPct val="100000"/>
              </a:lnSpc>
              <a:spcBef>
                <a:spcPts val="0"/>
              </a:spcBef>
              <a:spcAft>
                <a:spcPts val="60"/>
              </a:spcAft>
            </a:pPr>
            <a:r>
              <a:rPr sz="941" b="0" i="0">
                <a:solidFill>
                  <a:srgbClr val="E5E7EB"/>
                </a:solidFill>
                <a:latin typeface="Consolas"/>
              </a:rPr>
              <a:t>    else if (marks &gt;= 50.0f) grade = 'D';          /* 50 to 59   */</a:t>
            </a:r>
          </a:p>
          <a:p>
            <a:pPr>
              <a:lnSpc>
                <a:spcPct val="100000"/>
              </a:lnSpc>
              <a:spcBef>
                <a:spcPts val="0"/>
              </a:spcBef>
              <a:spcAft>
                <a:spcPts val="60"/>
              </a:spcAft>
            </a:pPr>
            <a:r>
              <a:rPr sz="941" b="0" i="0">
                <a:solidFill>
                  <a:srgbClr val="E5E7EB"/>
                </a:solidFill>
                <a:latin typeface="Consolas"/>
              </a:rPr>
              <a:t>    else                     grade = 'F';          /* below 50   */</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printf("Marks = %.2f  -&gt;  Grade = %c\n", marks, grade);</a:t>
            </a:r>
          </a:p>
          <a:p>
            <a:pPr>
              <a:lnSpc>
                <a:spcPct val="100000"/>
              </a:lnSpc>
              <a:spcBef>
                <a:spcPts val="0"/>
              </a:spcBef>
              <a:spcAft>
                <a:spcPts val="60"/>
              </a:spcAft>
            </a:pPr>
            <a:r>
              <a:rPr sz="941" b="0" i="0">
                <a:solidFill>
                  <a:srgbClr val="E5E7EB"/>
                </a:solidFill>
                <a:latin typeface="Consolas"/>
              </a:rPr>
              <a:t> </a:t>
            </a:r>
          </a:p>
          <a:p>
            <a:pPr>
              <a:lnSpc>
                <a:spcPct val="100000"/>
              </a:lnSpc>
              <a:spcBef>
                <a:spcPts val="0"/>
              </a:spcBef>
              <a:spcAft>
                <a:spcPts val="60"/>
              </a:spcAft>
            </a:pPr>
            <a:r>
              <a:rPr sz="941" b="0" i="0">
                <a:solidFill>
                  <a:srgbClr val="E5E7EB"/>
                </a:solidFill>
                <a:latin typeface="Consolas"/>
              </a:rPr>
              <a:t>    return 0;</a:t>
            </a:r>
          </a:p>
          <a:p>
            <a:pPr>
              <a:lnSpc>
                <a:spcPct val="100000"/>
              </a:lnSpc>
              <a:spcBef>
                <a:spcPts val="0"/>
              </a:spcBef>
              <a:spcAft>
                <a:spcPts val="60"/>
              </a:spcAft>
            </a:pPr>
            <a:r>
              <a:rPr sz="941" b="0" i="0">
                <a:solidFill>
                  <a:srgbClr val="E5E7EB"/>
                </a:solidFill>
                <a:latin typeface="Consolas"/>
              </a:rPr>
              <a:t>}</a:t>
            </a:r>
          </a:p>
        </p:txBody>
      </p:sp>
      <p:sp>
        <p:nvSpPr>
          <p:cNvPr id="12" name="Rectangle 11"/>
          <p:cNvSpPr/>
          <p:nvPr/>
        </p:nvSpPr>
        <p:spPr>
          <a:xfrm>
            <a:off x="6537960" y="1554480"/>
            <a:ext cx="2569463" cy="2386584"/>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95.5, comfortably in Grade A territory</a:t>
            </a:r>
          </a:p>
        </p:txBody>
      </p:sp>
      <p:sp>
        <p:nvSpPr>
          <p:cNvPr id="14" name="TextBox 13"/>
          <p:cNvSpPr txBox="1"/>
          <p:nvPr/>
        </p:nvSpPr>
        <p:spPr>
          <a:xfrm>
            <a:off x="6684264" y="1920240"/>
            <a:ext cx="2295144" cy="1929384"/>
          </a:xfrm>
          <a:prstGeom prst="rect">
            <a:avLst/>
          </a:prstGeom>
          <a:noFill/>
        </p:spPr>
        <p:txBody>
          <a:bodyPr wrap="none" anchor="t" lIns="0" rIns="0" tIns="0" bIns="0">
            <a:spAutoFit/>
          </a:bodyPr>
          <a:lstStyle/>
          <a:p>
            <a:pPr>
              <a:lnSpc>
                <a:spcPct val="100000"/>
              </a:lnSpc>
              <a:spcBef>
                <a:spcPts val="0"/>
              </a:spcBef>
              <a:spcAft>
                <a:spcPts val="60"/>
              </a:spcAft>
            </a:pPr>
            <a:r>
              <a:rPr sz="747" b="0" i="0">
                <a:solidFill>
                  <a:srgbClr val="14171C"/>
                </a:solidFill>
                <a:latin typeface="Consolas"/>
              </a:rPr>
              <a:t>Enter the student's marks (0-100): 95.5</a:t>
            </a:r>
          </a:p>
          <a:p>
            <a:pPr>
              <a:lnSpc>
                <a:spcPct val="100000"/>
              </a:lnSpc>
              <a:spcBef>
                <a:spcPts val="0"/>
              </a:spcBef>
              <a:spcAft>
                <a:spcPts val="60"/>
              </a:spcAft>
            </a:pPr>
            <a:r>
              <a:rPr sz="747" b="0" i="0">
                <a:solidFill>
                  <a:srgbClr val="14171C"/>
                </a:solidFill>
                <a:latin typeface="Consolas"/>
              </a:rPr>
              <a:t>Marks = 95.50  -&gt;  Grade = A</a:t>
            </a:r>
          </a:p>
        </p:txBody>
      </p:sp>
      <p:sp>
        <p:nvSpPr>
          <p:cNvPr id="15" name="Rectangle 14"/>
          <p:cNvSpPr/>
          <p:nvPr/>
        </p:nvSpPr>
        <p:spPr>
          <a:xfrm>
            <a:off x="9180576" y="1554480"/>
            <a:ext cx="2569463" cy="2386584"/>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1645920"/>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68, the middle of Grade C</a:t>
            </a:r>
          </a:p>
        </p:txBody>
      </p:sp>
      <p:sp>
        <p:nvSpPr>
          <p:cNvPr id="17" name="TextBox 16"/>
          <p:cNvSpPr txBox="1"/>
          <p:nvPr/>
        </p:nvSpPr>
        <p:spPr>
          <a:xfrm>
            <a:off x="9326880" y="1920240"/>
            <a:ext cx="2295144" cy="1929384"/>
          </a:xfrm>
          <a:prstGeom prst="rect">
            <a:avLst/>
          </a:prstGeom>
          <a:noFill/>
        </p:spPr>
        <p:txBody>
          <a:bodyPr wrap="none" anchor="t" lIns="0" rIns="0" tIns="0" bIns="0">
            <a:spAutoFit/>
          </a:bodyPr>
          <a:lstStyle/>
          <a:p>
            <a:pPr>
              <a:lnSpc>
                <a:spcPct val="100000"/>
              </a:lnSpc>
              <a:spcBef>
                <a:spcPts val="0"/>
              </a:spcBef>
              <a:spcAft>
                <a:spcPts val="60"/>
              </a:spcAft>
            </a:pPr>
            <a:r>
              <a:rPr sz="787" b="0" i="0">
                <a:solidFill>
                  <a:srgbClr val="14171C"/>
                </a:solidFill>
                <a:latin typeface="Consolas"/>
              </a:rPr>
              <a:t>Enter the student's marks (0-100): 68</a:t>
            </a:r>
          </a:p>
          <a:p>
            <a:pPr>
              <a:lnSpc>
                <a:spcPct val="100000"/>
              </a:lnSpc>
              <a:spcBef>
                <a:spcPts val="0"/>
              </a:spcBef>
              <a:spcAft>
                <a:spcPts val="60"/>
              </a:spcAft>
            </a:pPr>
            <a:r>
              <a:rPr sz="787" b="0" i="0">
                <a:solidFill>
                  <a:srgbClr val="14171C"/>
                </a:solidFill>
                <a:latin typeface="Consolas"/>
              </a:rPr>
              <a:t>Marks = 68.00  -&gt;  Grade = C</a:t>
            </a:r>
          </a:p>
        </p:txBody>
      </p:sp>
      <p:sp>
        <p:nvSpPr>
          <p:cNvPr id="18" name="Rectangle 17"/>
          <p:cNvSpPr/>
          <p:nvPr/>
        </p:nvSpPr>
        <p:spPr>
          <a:xfrm>
            <a:off x="6537960" y="3995928"/>
            <a:ext cx="2569463" cy="2386584"/>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4264" y="4087368"/>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3 — 49, one mark below the D cut-off</a:t>
            </a:r>
          </a:p>
        </p:txBody>
      </p:sp>
      <p:sp>
        <p:nvSpPr>
          <p:cNvPr id="20" name="TextBox 19"/>
          <p:cNvSpPr txBox="1"/>
          <p:nvPr/>
        </p:nvSpPr>
        <p:spPr>
          <a:xfrm>
            <a:off x="6684264" y="4361688"/>
            <a:ext cx="2295144" cy="1929384"/>
          </a:xfrm>
          <a:prstGeom prst="rect">
            <a:avLst/>
          </a:prstGeom>
          <a:noFill/>
        </p:spPr>
        <p:txBody>
          <a:bodyPr wrap="none" anchor="t" lIns="0" rIns="0" tIns="0" bIns="0">
            <a:spAutoFit/>
          </a:bodyPr>
          <a:lstStyle/>
          <a:p>
            <a:pPr>
              <a:lnSpc>
                <a:spcPct val="100000"/>
              </a:lnSpc>
              <a:spcBef>
                <a:spcPts val="0"/>
              </a:spcBef>
              <a:spcAft>
                <a:spcPts val="60"/>
              </a:spcAft>
            </a:pPr>
            <a:r>
              <a:rPr sz="787" b="0" i="0">
                <a:solidFill>
                  <a:srgbClr val="14171C"/>
                </a:solidFill>
                <a:latin typeface="Consolas"/>
              </a:rPr>
              <a:t>Enter the student's marks (0-100): 49</a:t>
            </a:r>
          </a:p>
          <a:p>
            <a:pPr>
              <a:lnSpc>
                <a:spcPct val="100000"/>
              </a:lnSpc>
              <a:spcBef>
                <a:spcPts val="0"/>
              </a:spcBef>
              <a:spcAft>
                <a:spcPts val="60"/>
              </a:spcAft>
            </a:pPr>
            <a:r>
              <a:rPr sz="787" b="0" i="0">
                <a:solidFill>
                  <a:srgbClr val="14171C"/>
                </a:solidFill>
                <a:latin typeface="Consolas"/>
              </a:rPr>
              <a:t>Marks = 49.00  -&gt;  Grade = F</a:t>
            </a:r>
          </a:p>
        </p:txBody>
      </p:sp>
      <p:sp>
        <p:nvSpPr>
          <p:cNvPr id="21" name="Rectangle 20"/>
          <p:cNvSpPr/>
          <p:nvPr/>
        </p:nvSpPr>
        <p:spPr>
          <a:xfrm>
            <a:off x="9180576" y="3995928"/>
            <a:ext cx="2569463" cy="2386584"/>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4087368"/>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4 — 150, outside the accepted domain: the guard answers</a:t>
            </a:r>
          </a:p>
        </p:txBody>
      </p:sp>
      <p:sp>
        <p:nvSpPr>
          <p:cNvPr id="23" name="TextBox 22"/>
          <p:cNvSpPr txBox="1"/>
          <p:nvPr/>
        </p:nvSpPr>
        <p:spPr>
          <a:xfrm>
            <a:off x="9326880" y="4361688"/>
            <a:ext cx="2295144" cy="1929384"/>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the student's marks (0-100): 150</a:t>
            </a:r>
          </a:p>
          <a:p>
            <a:pPr>
              <a:lnSpc>
                <a:spcPct val="100000"/>
              </a:lnSpc>
              <a:spcBef>
                <a:spcPts val="0"/>
              </a:spcBef>
              <a:spcAft>
                <a:spcPts val="60"/>
              </a:spcAft>
            </a:pPr>
            <a:r>
              <a:rPr sz="720" b="0" i="0">
                <a:solidFill>
                  <a:srgbClr val="14171C"/>
                </a:solidFill>
                <a:latin typeface="Consolas"/>
              </a:rPr>
              <a:t>Invalid marks. Please enter a value between 0 and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2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2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9</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Inference. The single-run transcripts above and the boundary sweep together demonstrate that the ladder partitions the whole 0–100 range with no gaps and no overlaps, and that the “90 and above” edge belongs to A, not B. The chosen structure was the if–else if ladder because the criteria are ranges over a real quantity — the switch’s constant-label matching would need the (int)marks/10 workaround and would still mishandle 89.5 without extra care.</a:t>
            </a:r>
          </a:p>
        </p:txBody>
      </p:sp>
      <p:graphicFrame>
        <p:nvGraphicFramePr>
          <p:cNvPr id="10" name="Table 9"/>
          <p:cNvGraphicFramePr>
            <a:graphicFrameLocks noGrp="1"/>
          </p:cNvGraphicFramePr>
          <p:nvPr/>
        </p:nvGraphicFramePr>
        <p:xfrm>
          <a:off x="502920" y="3840480"/>
          <a:ext cx="6400800" cy="1504188"/>
        </p:xfrm>
        <a:graphic>
          <a:graphicData uri="http://schemas.openxmlformats.org/drawingml/2006/table">
            <a:tbl>
              <a:tblPr firstRow="1" bandRow="1">
                <a:tableStyleId>{5C22544A-7EE6-4342-B048-85BDC9FD1C3A}</a:tableStyleId>
              </a:tblPr>
              <a:tblGrid>
                <a:gridCol w="1280160"/>
                <a:gridCol w="1280160"/>
                <a:gridCol w="1280160"/>
                <a:gridCol w="1280160"/>
                <a:gridCol w="1280160"/>
              </a:tblGrid>
              <a:tr h="214884">
                <a:tc>
                  <a:txBody>
                    <a:bodyPr/>
                    <a:lstStyle/>
                    <a:p>
                      <a:r>
                        <a:rPr sz="1050" b="1">
                          <a:solidFill>
                            <a:srgbClr val="E5E7EB"/>
                          </a:solidFill>
                          <a:latin typeface="Calibri"/>
                        </a:rPr>
                        <a:t>Marks</a:t>
                      </a:r>
                    </a:p>
                  </a:txBody>
                  <a:tcPr>
                    <a:solidFill>
                      <a:srgbClr val="1F2937"/>
                    </a:solidFill>
                  </a:tcPr>
                </a:tc>
                <a:tc>
                  <a:txBody>
                    <a:bodyPr/>
                    <a:lstStyle/>
                    <a:p>
                      <a:r>
                        <a:rPr sz="1050" b="1">
                          <a:solidFill>
                            <a:srgbClr val="E5E7EB"/>
                          </a:solidFill>
                          <a:latin typeface="Calibri"/>
                        </a:rPr>
                        <a:t>Boundary being probed</a:t>
                      </a:r>
                    </a:p>
                  </a:txBody>
                  <a:tcPr>
                    <a:solidFill>
                      <a:srgbClr val="1F2937"/>
                    </a:solidFill>
                  </a:tcPr>
                </a:tc>
                <a:tc>
                  <a:txBody>
                    <a:bodyPr/>
                    <a:lstStyle/>
                    <a:p>
                      <a:r>
                        <a:rPr sz="1050" b="1">
                          <a:solidFill>
                            <a:srgbClr val="E5E7EB"/>
                          </a:solidFill>
                          <a:latin typeface="Calibri"/>
                        </a:rPr>
                        <a:t>Grade printed</a:t>
                      </a:r>
                    </a:p>
                  </a:txBody>
                  <a:tcPr>
                    <a:solidFill>
                      <a:srgbClr val="1F2937"/>
                    </a:solidFill>
                  </a:tcPr>
                </a:tc>
                <a:tc>
                  <a:txBody>
                    <a:bodyPr/>
                    <a:lstStyle/>
                    <a:p>
                      <a:r>
                        <a:rPr sz="1050" b="1">
                          <a:solidFill>
                            <a:srgbClr val="E5E7EB"/>
                          </a:solidFill>
                          <a:latin typeface="Calibri"/>
                        </a:rPr>
                        <a:t>Expected by rule</a:t>
                      </a:r>
                    </a:p>
                  </a:txBody>
                  <a:tcPr>
                    <a:solidFill>
                      <a:srgbClr val="1F2937"/>
                    </a:solidFill>
                  </a:tcPr>
                </a:tc>
                <a:tc>
                  <a:txBody>
                    <a:bodyPr/>
                    <a:lstStyle/>
                    <a:p>
                      <a:r>
                        <a:rPr sz="1050" b="1">
                          <a:solidFill>
                            <a:srgbClr val="E5E7EB"/>
                          </a:solidFill>
                          <a:latin typeface="Calibri"/>
                        </a:rPr>
                        <a:t>Match</a:t>
                      </a:r>
                    </a:p>
                  </a:txBody>
                  <a:tcPr>
                    <a:solidFill>
                      <a:srgbClr val="1F2937"/>
                    </a:solidFill>
                  </a:tcPr>
                </a:tc>
              </a:tr>
              <a:tr h="214884">
                <a:tc>
                  <a:txBody>
                    <a:bodyPr/>
                    <a:lstStyle/>
                    <a:p>
                      <a:r>
                        <a:rPr sz="1050" b="0">
                          <a:solidFill>
                            <a:srgbClr val="16181D"/>
                          </a:solidFill>
                          <a:latin typeface="Calibri"/>
                        </a:rPr>
                        <a:t>100.0</a:t>
                      </a:r>
                    </a:p>
                  </a:txBody>
                  <a:tcPr>
                    <a:solidFill>
                      <a:srgbClr val="F3F4F6"/>
                    </a:solidFill>
                  </a:tcPr>
                </a:tc>
                <a:tc>
                  <a:txBody>
                    <a:bodyPr/>
                    <a:lstStyle/>
                    <a:p>
                      <a:r>
                        <a:rPr sz="1050" b="0">
                          <a:solidFill>
                            <a:srgbClr val="16181D"/>
                          </a:solidFill>
                          <a:latin typeface="Calibri"/>
                        </a:rPr>
                        <a:t>top of scale</a:t>
                      </a:r>
                    </a:p>
                  </a:txBody>
                  <a:tcPr>
                    <a:solidFill>
                      <a:srgbClr val="F3F4F6"/>
                    </a:solidFill>
                  </a:tcPr>
                </a:tc>
                <a:tc>
                  <a:txBody>
                    <a:bodyPr/>
                    <a:lstStyle/>
                    <a:p>
                      <a:r>
                        <a:rPr sz="1050" b="0">
                          <a:solidFill>
                            <a:srgbClr val="16181D"/>
                          </a:solidFill>
                          <a:latin typeface="Calibri"/>
                        </a:rPr>
                        <a:t>A</a:t>
                      </a:r>
                    </a:p>
                  </a:txBody>
                  <a:tcPr>
                    <a:solidFill>
                      <a:srgbClr val="F3F4F6"/>
                    </a:solidFill>
                  </a:tcPr>
                </a:tc>
                <a:tc>
                  <a:txBody>
                    <a:bodyPr/>
                    <a:lstStyle/>
                    <a:p>
                      <a:r>
                        <a:rPr sz="1050" b="0">
                          <a:solidFill>
                            <a:srgbClr val="16181D"/>
                          </a:solidFill>
                          <a:latin typeface="Calibri"/>
                        </a:rPr>
                        <a:t>A</a:t>
                      </a:r>
                    </a:p>
                  </a:txBody>
                  <a:tcPr>
                    <a:solidFill>
                      <a:srgbClr val="F3F4F6"/>
                    </a:solidFill>
                  </a:tcPr>
                </a:tc>
                <a:tc>
                  <a:txBody>
                    <a:bodyPr/>
                    <a:lstStyle/>
                    <a:p>
                      <a:r>
                        <a:rPr sz="1050" b="0">
                          <a:solidFill>
                            <a:srgbClr val="16181D"/>
                          </a:solidFill>
                          <a:latin typeface="Calibri"/>
                        </a:rPr>
                        <a:t>✓</a:t>
                      </a:r>
                    </a:p>
                  </a:txBody>
                  <a:tcPr>
                    <a:solidFill>
                      <a:srgbClr val="F3F4F6"/>
                    </a:solidFill>
                  </a:tcPr>
                </a:tc>
              </a:tr>
              <a:tr h="214884">
                <a:tc>
                  <a:txBody>
                    <a:bodyPr/>
                    <a:lstStyle/>
                    <a:p>
                      <a:r>
                        <a:rPr sz="1050" b="0">
                          <a:solidFill>
                            <a:srgbClr val="16181D"/>
                          </a:solidFill>
                          <a:latin typeface="Calibri"/>
                        </a:rPr>
                        <a:t>95.5</a:t>
                      </a:r>
                    </a:p>
                  </a:txBody>
                  <a:tcPr>
                    <a:solidFill>
                      <a:srgbClr val="FFFFFF"/>
                    </a:solidFill>
                  </a:tcPr>
                </a:tc>
                <a:tc>
                  <a:txBody>
                    <a:bodyPr/>
                    <a:lstStyle/>
                    <a:p>
                      <a:r>
                        <a:rPr sz="1050" b="0">
                          <a:solidFill>
                            <a:srgbClr val="16181D"/>
                          </a:solidFill>
                          <a:latin typeface="Calibri"/>
                        </a:rPr>
                        <a:t>—</a:t>
                      </a:r>
                    </a:p>
                  </a:txBody>
                  <a:tcPr>
                    <a:solidFill>
                      <a:srgbClr val="FFFFFF"/>
                    </a:solidFill>
                  </a:tcPr>
                </a:tc>
                <a:tc>
                  <a:txBody>
                    <a:bodyPr/>
                    <a:lstStyle/>
                    <a:p>
                      <a:r>
                        <a:rPr sz="1050" b="0">
                          <a:solidFill>
                            <a:srgbClr val="16181D"/>
                          </a:solidFill>
                          <a:latin typeface="Calibri"/>
                        </a:rPr>
                        <a:t>A</a:t>
                      </a:r>
                    </a:p>
                  </a:txBody>
                  <a:tcPr>
                    <a:solidFill>
                      <a:srgbClr val="FFFFFF"/>
                    </a:solidFill>
                  </a:tcPr>
                </a:tc>
                <a:tc>
                  <a:txBody>
                    <a:bodyPr/>
                    <a:lstStyle/>
                    <a:p>
                      <a:r>
                        <a:rPr sz="1050" b="0">
                          <a:solidFill>
                            <a:srgbClr val="16181D"/>
                          </a:solidFill>
                          <a:latin typeface="Calibri"/>
                        </a:rPr>
                        <a:t>A</a:t>
                      </a:r>
                    </a:p>
                  </a:txBody>
                  <a:tcPr>
                    <a:solidFill>
                      <a:srgbClr val="FFFFFF"/>
                    </a:solidFill>
                  </a:tcPr>
                </a:tc>
                <a:tc>
                  <a:txBody>
                    <a:bodyPr/>
                    <a:lstStyle/>
                    <a:p>
                      <a:r>
                        <a:rPr sz="1050" b="0">
                          <a:solidFill>
                            <a:srgbClr val="16181D"/>
                          </a:solidFill>
                          <a:latin typeface="Calibri"/>
                        </a:rPr>
                        <a:t>✓</a:t>
                      </a:r>
                    </a:p>
                  </a:txBody>
                  <a:tcPr>
                    <a:solidFill>
                      <a:srgbClr val="FFFFFF"/>
                    </a:solidFill>
                  </a:tcPr>
                </a:tc>
              </a:tr>
              <a:tr h="214884">
                <a:tc>
                  <a:txBody>
                    <a:bodyPr/>
                    <a:lstStyle/>
                    <a:p>
                      <a:r>
                        <a:rPr sz="1050" b="0">
                          <a:solidFill>
                            <a:srgbClr val="16181D"/>
                          </a:solidFill>
                          <a:latin typeface="Calibri"/>
                        </a:rPr>
                        <a:t>89.0 / 90.0</a:t>
                      </a:r>
                    </a:p>
                  </a:txBody>
                  <a:tcPr>
                    <a:solidFill>
                      <a:srgbClr val="F3F4F6"/>
                    </a:solidFill>
                  </a:tcPr>
                </a:tc>
                <a:tc>
                  <a:txBody>
                    <a:bodyPr/>
                    <a:lstStyle/>
                    <a:p>
                      <a:r>
                        <a:rPr sz="1050" b="0">
                          <a:solidFill>
                            <a:srgbClr val="16181D"/>
                          </a:solidFill>
                          <a:latin typeface="Calibri"/>
                        </a:rPr>
                        <a:t>A∣B cut (90 inclusive)</a:t>
                      </a:r>
                    </a:p>
                  </a:txBody>
                  <a:tcPr>
                    <a:solidFill>
                      <a:srgbClr val="F3F4F6"/>
                    </a:solidFill>
                  </a:tcPr>
                </a:tc>
                <a:tc>
                  <a:txBody>
                    <a:bodyPr/>
                    <a:lstStyle/>
                    <a:p>
                      <a:r>
                        <a:rPr sz="1050" b="0">
                          <a:solidFill>
                            <a:srgbClr val="16181D"/>
                          </a:solidFill>
                          <a:latin typeface="Calibri"/>
                        </a:rPr>
                        <a:t>B / A</a:t>
                      </a:r>
                    </a:p>
                  </a:txBody>
                  <a:tcPr>
                    <a:solidFill>
                      <a:srgbClr val="F3F4F6"/>
                    </a:solidFill>
                  </a:tcPr>
                </a:tc>
                <a:tc>
                  <a:txBody>
                    <a:bodyPr/>
                    <a:lstStyle/>
                    <a:p>
                      <a:r>
                        <a:rPr sz="1050" b="0">
                          <a:solidFill>
                            <a:srgbClr val="16181D"/>
                          </a:solidFill>
                          <a:latin typeface="Calibri"/>
                        </a:rPr>
                        <a:t>B / A</a:t>
                      </a:r>
                    </a:p>
                  </a:txBody>
                  <a:tcPr>
                    <a:solidFill>
                      <a:srgbClr val="F3F4F6"/>
                    </a:solidFill>
                  </a:tcPr>
                </a:tc>
                <a:tc>
                  <a:txBody>
                    <a:bodyPr/>
                    <a:lstStyle/>
                    <a:p>
                      <a:r>
                        <a:rPr sz="1050" b="0">
                          <a:solidFill>
                            <a:srgbClr val="16181D"/>
                          </a:solidFill>
                          <a:latin typeface="Calibri"/>
                        </a:rPr>
                        <a:t>✓</a:t>
                      </a:r>
                    </a:p>
                  </a:txBody>
                  <a:tcPr>
                    <a:solidFill>
                      <a:srgbClr val="F3F4F6"/>
                    </a:solidFill>
                  </a:tcPr>
                </a:tc>
              </a:tr>
              <a:tr h="214884">
                <a:tc>
                  <a:txBody>
                    <a:bodyPr/>
                    <a:lstStyle/>
                    <a:p>
                      <a:r>
                        <a:rPr sz="1050" b="0">
                          <a:solidFill>
                            <a:srgbClr val="16181D"/>
                          </a:solidFill>
                          <a:latin typeface="Calibri"/>
                        </a:rPr>
                        <a:t>60.0</a:t>
                      </a:r>
                    </a:p>
                  </a:txBody>
                  <a:tcPr>
                    <a:solidFill>
                      <a:srgbClr val="FFFFFF"/>
                    </a:solidFill>
                  </a:tcPr>
                </a:tc>
                <a:tc>
                  <a:txBody>
                    <a:bodyPr/>
                    <a:lstStyle/>
                    <a:p>
                      <a:r>
                        <a:rPr sz="1050" b="0">
                          <a:solidFill>
                            <a:srgbClr val="16181D"/>
                          </a:solidFill>
                          <a:latin typeface="Calibri"/>
                        </a:rPr>
                        <a:t>B∣C cut</a:t>
                      </a:r>
                    </a:p>
                  </a:txBody>
                  <a:tcPr>
                    <a:solidFill>
                      <a:srgbClr val="FFFFFF"/>
                    </a:solidFill>
                  </a:tcPr>
                </a:tc>
                <a:tc>
                  <a:txBody>
                    <a:bodyPr/>
                    <a:lstStyle/>
                    <a:p>
                      <a:r>
                        <a:rPr sz="1050" b="0">
                          <a:solidFill>
                            <a:srgbClr val="16181D"/>
                          </a:solidFill>
                          <a:latin typeface="Calibri"/>
                        </a:rPr>
                        <a:t>C</a:t>
                      </a:r>
                    </a:p>
                  </a:txBody>
                  <a:tcPr>
                    <a:solidFill>
                      <a:srgbClr val="FFFFFF"/>
                    </a:solidFill>
                  </a:tcPr>
                </a:tc>
                <a:tc>
                  <a:txBody>
                    <a:bodyPr/>
                    <a:lstStyle/>
                    <a:p>
                      <a:r>
                        <a:rPr sz="1050" b="0">
                          <a:solidFill>
                            <a:srgbClr val="16181D"/>
                          </a:solidFill>
                          <a:latin typeface="Calibri"/>
                        </a:rPr>
                        <a:t>C</a:t>
                      </a:r>
                    </a:p>
                  </a:txBody>
                  <a:tcPr>
                    <a:solidFill>
                      <a:srgbClr val="FFFFFF"/>
                    </a:solidFill>
                  </a:tcPr>
                </a:tc>
                <a:tc>
                  <a:txBody>
                    <a:bodyPr/>
                    <a:lstStyle/>
                    <a:p>
                      <a:r>
                        <a:rPr sz="1050" b="0">
                          <a:solidFill>
                            <a:srgbClr val="16181D"/>
                          </a:solidFill>
                          <a:latin typeface="Calibri"/>
                        </a:rPr>
                        <a:t>✓</a:t>
                      </a:r>
                    </a:p>
                  </a:txBody>
                  <a:tcPr>
                    <a:solidFill>
                      <a:srgbClr val="FFFFFF"/>
                    </a:solidFill>
                  </a:tcPr>
                </a:tc>
              </a:tr>
              <a:tr h="214884">
                <a:tc>
                  <a:txBody>
                    <a:bodyPr/>
                    <a:lstStyle/>
                    <a:p>
                      <a:r>
                        <a:rPr sz="1050" b="0">
                          <a:solidFill>
                            <a:srgbClr val="16181D"/>
                          </a:solidFill>
                          <a:latin typeface="Calibri"/>
                        </a:rPr>
                        <a:t>49.0</a:t>
                      </a:r>
                    </a:p>
                  </a:txBody>
                  <a:tcPr>
                    <a:solidFill>
                      <a:srgbClr val="F3F4F6"/>
                    </a:solidFill>
                  </a:tcPr>
                </a:tc>
                <a:tc>
                  <a:txBody>
                    <a:bodyPr/>
                    <a:lstStyle/>
                    <a:p>
                      <a:r>
                        <a:rPr sz="1050" b="0">
                          <a:solidFill>
                            <a:srgbClr val="16181D"/>
                          </a:solidFill>
                          <a:latin typeface="Calibri"/>
                        </a:rPr>
                        <a:t>last F before the pass floor</a:t>
                      </a:r>
                    </a:p>
                  </a:txBody>
                  <a:tcPr>
                    <a:solidFill>
                      <a:srgbClr val="F3F4F6"/>
                    </a:solidFill>
                  </a:tcPr>
                </a:tc>
                <a:tc>
                  <a:txBody>
                    <a:bodyPr/>
                    <a:lstStyle/>
                    <a:p>
                      <a:r>
                        <a:rPr sz="1050" b="0">
                          <a:solidFill>
                            <a:srgbClr val="16181D"/>
                          </a:solidFill>
                          <a:latin typeface="Calibri"/>
                        </a:rPr>
                        <a:t>F</a:t>
                      </a:r>
                    </a:p>
                  </a:txBody>
                  <a:tcPr>
                    <a:solidFill>
                      <a:srgbClr val="F3F4F6"/>
                    </a:solidFill>
                  </a:tcPr>
                </a:tc>
                <a:tc>
                  <a:txBody>
                    <a:bodyPr/>
                    <a:lstStyle/>
                    <a:p>
                      <a:r>
                        <a:rPr sz="1050" b="0">
                          <a:solidFill>
                            <a:srgbClr val="16181D"/>
                          </a:solidFill>
                          <a:latin typeface="Calibri"/>
                        </a:rPr>
                        <a:t>F</a:t>
                      </a:r>
                    </a:p>
                  </a:txBody>
                  <a:tcPr>
                    <a:solidFill>
                      <a:srgbClr val="F3F4F6"/>
                    </a:solidFill>
                  </a:tcPr>
                </a:tc>
                <a:tc>
                  <a:txBody>
                    <a:bodyPr/>
                    <a:lstStyle/>
                    <a:p>
                      <a:r>
                        <a:rPr sz="1050" b="0">
                          <a:solidFill>
                            <a:srgbClr val="16181D"/>
                          </a:solidFill>
                          <a:latin typeface="Calibri"/>
                        </a:rPr>
                        <a:t>✓</a:t>
                      </a:r>
                    </a:p>
                  </a:txBody>
                  <a:tcPr>
                    <a:solidFill>
                      <a:srgbClr val="F3F4F6"/>
                    </a:solidFill>
                  </a:tcPr>
                </a:tc>
              </a:tr>
              <a:tr h="214884">
                <a:tc>
                  <a:txBody>
                    <a:bodyPr/>
                    <a:lstStyle/>
                    <a:p>
                      <a:r>
                        <a:rPr sz="1050" b="0">
                          <a:solidFill>
                            <a:srgbClr val="16181D"/>
                          </a:solidFill>
                          <a:latin typeface="Calibri"/>
                        </a:rPr>
                        <a:t>150</a:t>
                      </a:r>
                    </a:p>
                  </a:txBody>
                  <a:tcPr>
                    <a:solidFill>
                      <a:srgbClr val="FFFFFF"/>
                    </a:solidFill>
                  </a:tcPr>
                </a:tc>
                <a:tc>
                  <a:txBody>
                    <a:bodyPr/>
                    <a:lstStyle/>
                    <a:p>
                      <a:r>
                        <a:rPr sz="1050" b="0">
                          <a:solidFill>
                            <a:srgbClr val="16181D"/>
                          </a:solidFill>
                          <a:latin typeface="Calibri"/>
                        </a:rPr>
                        <a:t>invalid input</a:t>
                      </a:r>
                    </a:p>
                  </a:txBody>
                  <a:tcPr>
                    <a:solidFill>
                      <a:srgbClr val="FFFFFF"/>
                    </a:solidFill>
                  </a:tcPr>
                </a:tc>
                <a:tc>
                  <a:txBody>
                    <a:bodyPr/>
                    <a:lstStyle/>
                    <a:p>
                      <a:r>
                        <a:rPr sz="1050" b="0">
                          <a:solidFill>
                            <a:srgbClr val="16181D"/>
                          </a:solidFill>
                          <a:latin typeface="Calibri"/>
                        </a:rPr>
                        <a:t>reject message</a:t>
                      </a:r>
                    </a:p>
                  </a:txBody>
                  <a:tcPr>
                    <a:solidFill>
                      <a:srgbClr val="FFFFFF"/>
                    </a:solidFill>
                  </a:tcPr>
                </a:tc>
                <a:tc>
                  <a:txBody>
                    <a:bodyPr/>
                    <a:lstStyle/>
                    <a:p>
                      <a:r>
                        <a:rPr sz="1050" b="0">
                          <a:solidFill>
                            <a:srgbClr val="16181D"/>
                          </a:solidFill>
                          <a:latin typeface="Calibri"/>
                        </a:rPr>
                        <a:t>reject</a:t>
                      </a:r>
                    </a:p>
                  </a:txBody>
                  <a:tcPr>
                    <a:solidFill>
                      <a:srgbClr val="FFFFFF"/>
                    </a:solidFill>
                  </a:tcPr>
                </a:tc>
                <a:tc>
                  <a:txBody>
                    <a:bodyPr/>
                    <a:lstStyle/>
                    <a:p>
                      <a:r>
                        <a:rPr sz="1050" b="0">
                          <a:solidFill>
                            <a:srgbClr val="16181D"/>
                          </a:solidFill>
                          <a:latin typeface="Calibri"/>
                        </a:rPr>
                        <a:t>✓</a:t>
                      </a:r>
                    </a:p>
                  </a:txBody>
                  <a:tcPr>
                    <a:solidFill>
                      <a:srgbClr val="FFFFFF"/>
                    </a:solidFill>
                  </a:tcPr>
                </a:tc>
              </a:tr>
            </a:tbl>
          </a:graphicData>
        </a:graphic>
      </p:graphicFrame>
      <p:sp>
        <p:nvSpPr>
          <p:cNvPr id="11" name="TextBox 10"/>
          <p:cNvSpPr txBox="1"/>
          <p:nvPr/>
        </p:nvSpPr>
        <p:spPr>
          <a:xfrm>
            <a:off x="502920" y="5454396"/>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mapping marks to grades A/B/C/D/F per the prescribed criteria was developed using an if–else if–else ladder preceded by a range guard. …</a:t>
            </a:r>
          </a:p>
        </p:txBody>
      </p:sp>
      <p:sp>
        <p:nvSpPr>
          <p:cNvPr id="12" name="TextBox 11"/>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3" name="TextBox 12"/>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must the grade tests run from the largest cut-off downward? What breaks in the other order?</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Could a switch be used here? Explain the integer trick and why it still fails on real marks.</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What is the difference between else if and a separate if for each rule?</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How does the program classify 89.9? (Think before answering — the rule says 75 to 89 is 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3</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3 — KYC Verification — a Switch Statement Dispatching on ID Type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10</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accepts a unique identification (AADHAR, APAAR, PAN, Driving License or Passport, entered as an integer) together with its type, checks it against a set of stored KYC records, and displays whether the individual is verified, using a switch to dispatch on the ID type.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Use switch–case with break to select one of several stored values; combine a selection statement with an equality test; distinguish long int storage for large identifiers</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matching problem has a shape: select one branch out of a small set of constant integer labels. C’s switch is built for that shape:</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program’s two-step logic is: switch on the type, then compare the number. Each case body performs the same shape of test against a different stored record and sets a verified flag; one printf at the end converts the flag into the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Aadhaar-like 12-digit values exceed 2 × 10⁹? No — 10¹² does exceed int on any machine, so the identifiers are held in long int and scanned with %ld. Mismatched conversion specifiers (%d on a long) are undefined behaviour: the typical …</a:t>
            </a:r>
          </a:p>
        </p:txBody>
      </p:sp>
      <p:pic>
        <p:nvPicPr>
          <p:cNvPr id="14" name="Picture 13" descr="a03.png"/>
          <p:cNvPicPr>
            <a:picLocks noChangeAspect="1"/>
          </p:cNvPicPr>
          <p:nvPr/>
        </p:nvPicPr>
        <p:blipFill>
          <a:blip r:embed="rId2"/>
          <a:stretch>
            <a:fillRect/>
          </a:stretch>
        </p:blipFill>
        <p:spPr>
          <a:xfrm>
            <a:off x="7590893" y="1554480"/>
            <a:ext cx="3746293"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§3.2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Display the menu of five KYC ID types; read choice (1–5).</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Read the identifier input_id as a long integer.</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If choice is not in 1..5: print “Invalid choice” and STOP.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Enter switch (choice): case 1 compares input_id with the stored Aadhaar, case 2 the APAAR, case 3 the PAN, case 4 the licence, case 5 the passport; ea</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If verified print “VERIFIED against the KYC records”, else print “NOT VERIFIED. No matching KYC record.”</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STOP.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3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3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11</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a03_kyc.c  ·  complete source as compiled · 48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Experiment A3 -- KYC verification against stored records using switch</a:t>
            </a:r>
          </a:p>
          <a:p>
            <a:pPr>
              <a:lnSpc>
                <a:spcPct val="100000"/>
              </a:lnSpc>
              <a:spcBef>
                <a:spcPts val="0"/>
              </a:spcBef>
              <a:spcAft>
                <a:spcPts val="60"/>
              </a:spcAft>
            </a:pPr>
            <a:r>
              <a:rPr sz="640" b="0" i="0">
                <a:solidFill>
                  <a:srgbClr val="E5E7EB"/>
                </a:solidFill>
                <a:latin typeface="Consolas"/>
              </a:rPr>
              <a:t>   File    : a03_kyc.c</a:t>
            </a:r>
          </a:p>
          <a:p>
            <a:pPr>
              <a:lnSpc>
                <a:spcPct val="100000"/>
              </a:lnSpc>
              <a:spcBef>
                <a:spcPts val="0"/>
              </a:spcBef>
              <a:spcAft>
                <a:spcPts val="60"/>
              </a:spcAft>
            </a:pPr>
            <a:r>
              <a:rPr sz="640" b="0" i="0">
                <a:solidFill>
                  <a:srgbClr val="E5E7EB"/>
                </a:solidFill>
                <a:latin typeface="Consolas"/>
              </a:rPr>
              <a:t>   Build   : gcc -Wall a03_kyc.c -o a03_kyc */</a:t>
            </a:r>
          </a:p>
          <a:p>
            <a:pPr>
              <a:lnSpc>
                <a:spcPct val="100000"/>
              </a:lnSpc>
              <a:spcBef>
                <a:spcPts val="0"/>
              </a:spcBef>
              <a:spcAft>
                <a:spcPts val="60"/>
              </a:spcAft>
            </a:pPr>
            <a:r>
              <a:rPr sz="640" b="0" i="0">
                <a:solidFill>
                  <a:srgbClr val="E5E7EB"/>
                </a:solidFill>
                <a:latin typeface="Consolas"/>
              </a:rPr>
              <a:t>#include &lt;stdio.h&gt;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main(void)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long int aadhar  = 123456789012L;   /* stored KYC records            */</a:t>
            </a:r>
          </a:p>
          <a:p>
            <a:pPr>
              <a:lnSpc>
                <a:spcPct val="100000"/>
              </a:lnSpc>
              <a:spcBef>
                <a:spcPts val="0"/>
              </a:spcBef>
              <a:spcAft>
                <a:spcPts val="60"/>
              </a:spcAft>
            </a:pPr>
            <a:r>
              <a:rPr sz="640" b="0" i="0">
                <a:solidFill>
                  <a:srgbClr val="E5E7EB"/>
                </a:solidFill>
                <a:latin typeface="Consolas"/>
              </a:rPr>
              <a:t>    long int apaar   = 550123456789L;</a:t>
            </a:r>
          </a:p>
          <a:p>
            <a:pPr>
              <a:lnSpc>
                <a:spcPct val="100000"/>
              </a:lnSpc>
              <a:spcBef>
                <a:spcPts val="0"/>
              </a:spcBef>
              <a:spcAft>
                <a:spcPts val="60"/>
              </a:spcAft>
            </a:pPr>
            <a:r>
              <a:rPr sz="640" b="0" i="0">
                <a:solidFill>
                  <a:srgbClr val="E5E7EB"/>
                </a:solidFill>
                <a:latin typeface="Consolas"/>
              </a:rPr>
              <a:t>    long int pan     = 450098765L;</a:t>
            </a:r>
          </a:p>
          <a:p>
            <a:pPr>
              <a:lnSpc>
                <a:spcPct val="100000"/>
              </a:lnSpc>
              <a:spcBef>
                <a:spcPts val="0"/>
              </a:spcBef>
              <a:spcAft>
                <a:spcPts val="60"/>
              </a:spcAft>
            </a:pPr>
            <a:r>
              <a:rPr sz="640" b="0" i="0">
                <a:solidFill>
                  <a:srgbClr val="E5E7EB"/>
                </a:solidFill>
                <a:latin typeface="Consolas"/>
              </a:rPr>
              <a:t>    long int licence = 770011223L;</a:t>
            </a:r>
          </a:p>
          <a:p>
            <a:pPr>
              <a:lnSpc>
                <a:spcPct val="100000"/>
              </a:lnSpc>
              <a:spcBef>
                <a:spcPts val="0"/>
              </a:spcBef>
              <a:spcAft>
                <a:spcPts val="60"/>
              </a:spcAft>
            </a:pPr>
            <a:r>
              <a:rPr sz="640" b="0" i="0">
                <a:solidFill>
                  <a:srgbClr val="E5E7EB"/>
                </a:solidFill>
                <a:latin typeface="Consolas"/>
              </a:rPr>
              <a:t>    long int passport= 980055443L;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int       choice;</a:t>
            </a:r>
          </a:p>
          <a:p>
            <a:pPr>
              <a:lnSpc>
                <a:spcPct val="100000"/>
              </a:lnSpc>
              <a:spcBef>
                <a:spcPts val="0"/>
              </a:spcBef>
              <a:spcAft>
                <a:spcPts val="60"/>
              </a:spcAft>
            </a:pPr>
            <a:r>
              <a:rPr sz="640" b="0" i="0">
                <a:solidFill>
                  <a:srgbClr val="E5E7EB"/>
                </a:solidFill>
                <a:latin typeface="Consolas"/>
              </a:rPr>
              <a:t>    long int  input_id;</a:t>
            </a:r>
          </a:p>
          <a:p>
            <a:pPr>
              <a:lnSpc>
                <a:spcPct val="100000"/>
              </a:lnSpc>
              <a:spcBef>
                <a:spcPts val="0"/>
              </a:spcBef>
              <a:spcAft>
                <a:spcPts val="60"/>
              </a:spcAft>
            </a:pPr>
            <a:r>
              <a:rPr sz="640" b="0" i="0">
                <a:solidFill>
                  <a:srgbClr val="E5E7EB"/>
                </a:solidFill>
                <a:latin typeface="Consolas"/>
              </a:rPr>
              <a:t>    int       verified = 0;            /* assume not verified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 KYC VERIFICATION DESK ---\n");</a:t>
            </a:r>
          </a:p>
          <a:p>
            <a:pPr>
              <a:lnSpc>
                <a:spcPct val="100000"/>
              </a:lnSpc>
              <a:spcBef>
                <a:spcPts val="0"/>
              </a:spcBef>
              <a:spcAft>
                <a:spcPts val="60"/>
              </a:spcAft>
            </a:pPr>
            <a:r>
              <a:rPr sz="640" b="0" i="0">
                <a:solidFill>
                  <a:srgbClr val="E5E7EB"/>
                </a:solidFill>
                <a:latin typeface="Consolas"/>
              </a:rPr>
              <a:t>    printf("1. AADHAR Number\n");</a:t>
            </a:r>
          </a:p>
          <a:p>
            <a:pPr>
              <a:lnSpc>
                <a:spcPct val="100000"/>
              </a:lnSpc>
              <a:spcBef>
                <a:spcPts val="0"/>
              </a:spcBef>
              <a:spcAft>
                <a:spcPts val="60"/>
              </a:spcAft>
            </a:pPr>
            <a:r>
              <a:rPr sz="640" b="0" i="0">
                <a:solidFill>
                  <a:srgbClr val="E5E7EB"/>
                </a:solidFill>
                <a:latin typeface="Consolas"/>
              </a:rPr>
              <a:t>    printf("2. APAAR ID\n");</a:t>
            </a:r>
          </a:p>
          <a:p>
            <a:pPr>
              <a:lnSpc>
                <a:spcPct val="100000"/>
              </a:lnSpc>
              <a:spcBef>
                <a:spcPts val="0"/>
              </a:spcBef>
              <a:spcAft>
                <a:spcPts val="60"/>
              </a:spcAft>
            </a:pPr>
            <a:r>
              <a:rPr sz="640" b="0" i="0">
                <a:solidFill>
                  <a:srgbClr val="E5E7EB"/>
                </a:solidFill>
                <a:latin typeface="Consolas"/>
              </a:rPr>
              <a:t>    printf("3. PAN Number\n");</a:t>
            </a:r>
          </a:p>
          <a:p>
            <a:pPr>
              <a:lnSpc>
                <a:spcPct val="100000"/>
              </a:lnSpc>
              <a:spcBef>
                <a:spcPts val="0"/>
              </a:spcBef>
              <a:spcAft>
                <a:spcPts val="60"/>
              </a:spcAft>
            </a:pPr>
            <a:r>
              <a:rPr sz="640" b="0" i="0">
                <a:solidFill>
                  <a:srgbClr val="E5E7EB"/>
                </a:solidFill>
                <a:latin typeface="Consolas"/>
              </a:rPr>
              <a:t>    printf("4. Driving License\n");</a:t>
            </a:r>
          </a:p>
          <a:p>
            <a:pPr>
              <a:lnSpc>
                <a:spcPct val="100000"/>
              </a:lnSpc>
              <a:spcBef>
                <a:spcPts val="0"/>
              </a:spcBef>
              <a:spcAft>
                <a:spcPts val="60"/>
              </a:spcAft>
            </a:pPr>
            <a:r>
              <a:rPr sz="640" b="0" i="0">
                <a:solidFill>
                  <a:srgbClr val="E5E7EB"/>
                </a:solidFill>
                <a:latin typeface="Consolas"/>
              </a:rPr>
              <a:t>    printf("5. Passport Number\n");</a:t>
            </a:r>
          </a:p>
          <a:p>
            <a:pPr>
              <a:lnSpc>
                <a:spcPct val="100000"/>
              </a:lnSpc>
              <a:spcBef>
                <a:spcPts val="0"/>
              </a:spcBef>
              <a:spcAft>
                <a:spcPts val="60"/>
              </a:spcAft>
            </a:pPr>
            <a:r>
              <a:rPr sz="640" b="0" i="0">
                <a:solidFill>
                  <a:srgbClr val="E5E7EB"/>
                </a:solidFill>
                <a:latin typeface="Consolas"/>
              </a:rPr>
              <a:t>    printf("Select the ID type to verify: ");</a:t>
            </a:r>
          </a:p>
          <a:p>
            <a:pPr>
              <a:lnSpc>
                <a:spcPct val="100000"/>
              </a:lnSpc>
              <a:spcBef>
                <a:spcPts val="0"/>
              </a:spcBef>
              <a:spcAft>
                <a:spcPts val="60"/>
              </a:spcAft>
            </a:pPr>
            <a:r>
              <a:rPr sz="640" b="0" i="0">
                <a:solidFill>
                  <a:srgbClr val="E5E7EB"/>
                </a:solidFill>
                <a:latin typeface="Consolas"/>
              </a:rPr>
              <a:t>    scanf("%d", &amp;choice);</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printf("Enter the %s value: ",</a:t>
            </a:r>
          </a:p>
          <a:p>
            <a:pPr>
              <a:lnSpc>
                <a:spcPct val="100000"/>
              </a:lnSpc>
              <a:spcBef>
                <a:spcPts val="0"/>
              </a:spcBef>
              <a:spcAft>
                <a:spcPts val="60"/>
              </a:spcAft>
            </a:pPr>
            <a:r>
              <a:rPr sz="640" b="0" i="0">
                <a:solidFill>
                  <a:srgbClr val="E5E7EB"/>
                </a:solidFill>
                <a:latin typeface="Consolas"/>
              </a:rPr>
              <a:t>           choice == 1 ? "AADHAR"    : choice == 2 ? "APAAR"   :</a:t>
            </a:r>
          </a:p>
          <a:p>
            <a:pPr>
              <a:lnSpc>
                <a:spcPct val="100000"/>
              </a:lnSpc>
              <a:spcBef>
                <a:spcPts val="0"/>
              </a:spcBef>
              <a:spcAft>
                <a:spcPts val="60"/>
              </a:spcAft>
            </a:pPr>
            <a:r>
              <a:rPr sz="640" b="0" i="0">
                <a:solidFill>
                  <a:srgbClr val="E5E7EB"/>
                </a:solidFill>
                <a:latin typeface="Consolas"/>
              </a:rPr>
              <a:t>           choice == 3 ? "PAN"       : choice == 4 ? "Licence" : "Passport");</a:t>
            </a:r>
          </a:p>
          <a:p>
            <a:pPr>
              <a:lnSpc>
                <a:spcPct val="100000"/>
              </a:lnSpc>
              <a:spcBef>
                <a:spcPts val="0"/>
              </a:spcBef>
              <a:spcAft>
                <a:spcPts val="60"/>
              </a:spcAft>
            </a:pPr>
            <a:r>
              <a:rPr sz="640" b="0" i="0">
                <a:solidFill>
                  <a:srgbClr val="E5E7EB"/>
                </a:solidFill>
                <a:latin typeface="Consolas"/>
              </a:rPr>
              <a:t>    scanf("%ld", &amp;input_id);</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switch (choice) {                  /* one jump table, five cases     */</a:t>
            </a:r>
          </a:p>
          <a:p>
            <a:pPr>
              <a:lnSpc>
                <a:spcPct val="100000"/>
              </a:lnSpc>
              <a:spcBef>
                <a:spcPts val="0"/>
              </a:spcBef>
              <a:spcAft>
                <a:spcPts val="60"/>
              </a:spcAft>
            </a:pPr>
            <a:r>
              <a:rPr sz="640" b="0" i="0">
                <a:solidFill>
                  <a:srgbClr val="E5E7EB"/>
                </a:solidFill>
                <a:latin typeface="Consolas"/>
              </a:rPr>
              <a:t>        case 1: verified = (input_id == aadhar);    break;</a:t>
            </a:r>
          </a:p>
          <a:p>
            <a:pPr>
              <a:lnSpc>
                <a:spcPct val="100000"/>
              </a:lnSpc>
              <a:spcBef>
                <a:spcPts val="0"/>
              </a:spcBef>
              <a:spcAft>
                <a:spcPts val="60"/>
              </a:spcAft>
            </a:pPr>
            <a:r>
              <a:rPr sz="640" b="0" i="0">
                <a:solidFill>
                  <a:srgbClr val="E5E7EB"/>
                </a:solidFill>
                <a:latin typeface="Consolas"/>
              </a:rPr>
              <a:t>        case 2: verified = (input_id == apaar);      break;</a:t>
            </a:r>
          </a:p>
          <a:p>
            <a:pPr>
              <a:lnSpc>
                <a:spcPct val="100000"/>
              </a:lnSpc>
              <a:spcBef>
                <a:spcPts val="0"/>
              </a:spcBef>
              <a:spcAft>
                <a:spcPts val="60"/>
              </a:spcAft>
            </a:pPr>
            <a:r>
              <a:rPr sz="640" b="0" i="0">
                <a:solidFill>
                  <a:srgbClr val="E5E7EB"/>
                </a:solidFill>
                <a:latin typeface="Consolas"/>
              </a:rPr>
              <a:t>        case 3: verified = (input_id == pan);        break;</a:t>
            </a:r>
          </a:p>
          <a:p>
            <a:pPr>
              <a:lnSpc>
                <a:spcPct val="100000"/>
              </a:lnSpc>
              <a:spcBef>
                <a:spcPts val="0"/>
              </a:spcBef>
              <a:spcAft>
                <a:spcPts val="60"/>
              </a:spcAft>
            </a:pPr>
            <a:r>
              <a:rPr sz="640" b="0" i="0">
                <a:solidFill>
                  <a:srgbClr val="E5E7EB"/>
                </a:solidFill>
                <a:latin typeface="Consolas"/>
              </a:rPr>
              <a:t>        case 4: verified = (input_id == licence);   break;</a:t>
            </a:r>
          </a:p>
          <a:p>
            <a:pPr>
              <a:lnSpc>
                <a:spcPct val="100000"/>
              </a:lnSpc>
              <a:spcBef>
                <a:spcPts val="0"/>
              </a:spcBef>
              <a:spcAft>
                <a:spcPts val="60"/>
              </a:spcAft>
            </a:pPr>
            <a:r>
              <a:rPr sz="640" b="0" i="0">
                <a:solidFill>
                  <a:srgbClr val="E5E7EB"/>
                </a:solidFill>
                <a:latin typeface="Consolas"/>
              </a:rPr>
              <a:t>        case 5: verified = (input_id == passport);  break;</a:t>
            </a:r>
          </a:p>
          <a:p>
            <a:pPr>
              <a:lnSpc>
                <a:spcPct val="100000"/>
              </a:lnSpc>
              <a:spcBef>
                <a:spcPts val="0"/>
              </a:spcBef>
              <a:spcAft>
                <a:spcPts val="60"/>
              </a:spcAft>
            </a:pPr>
            <a:r>
              <a:rPr sz="640" b="0" i="0">
                <a:solidFill>
                  <a:srgbClr val="E5E7EB"/>
                </a:solidFill>
                <a:latin typeface="Consolas"/>
              </a:rPr>
              <a:t>        default:</a:t>
            </a:r>
          </a:p>
          <a:p>
            <a:pPr>
              <a:lnSpc>
                <a:spcPct val="100000"/>
              </a:lnSpc>
              <a:spcBef>
                <a:spcPts val="0"/>
              </a:spcBef>
              <a:spcAft>
                <a:spcPts val="60"/>
              </a:spcAft>
            </a:pPr>
            <a:r>
              <a:rPr sz="640" b="0" i="0">
                <a:solidFill>
                  <a:srgbClr val="E5E7EB"/>
                </a:solidFill>
                <a:latin typeface="Consolas"/>
              </a:rPr>
              <a:t>            printf("Invalid choice: no such ID type in this system.\n");</a:t>
            </a:r>
          </a:p>
          <a:p>
            <a:pPr>
              <a:lnSpc>
                <a:spcPct val="100000"/>
              </a:lnSpc>
              <a:spcBef>
                <a:spcPts val="0"/>
              </a:spcBef>
              <a:spcAft>
                <a:spcPts val="60"/>
              </a:spcAft>
            </a:pPr>
            <a:r>
              <a:rPr sz="640" b="0" i="0">
                <a:solidFill>
                  <a:srgbClr val="E5E7EB"/>
                </a:solidFill>
                <a:latin typeface="Consolas"/>
              </a:rPr>
              <a:t>            return 1;</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printf("ID %ld ", input_id);</a:t>
            </a:r>
          </a:p>
          <a:p>
            <a:pPr>
              <a:lnSpc>
                <a:spcPct val="100000"/>
              </a:lnSpc>
              <a:spcBef>
                <a:spcPts val="0"/>
              </a:spcBef>
              <a:spcAft>
                <a:spcPts val="60"/>
              </a:spcAft>
            </a:pPr>
            <a:r>
              <a:rPr sz="640" b="0" i="0">
                <a:solidFill>
                  <a:srgbClr val="E5E7EB"/>
                </a:solidFill>
                <a:latin typeface="Consolas"/>
              </a:rPr>
              <a:t>    printf("is %s\n", verified ? "VERIFIED against the KYC records."</a:t>
            </a:r>
          </a:p>
          <a:p>
            <a:pPr>
              <a:lnSpc>
                <a:spcPct val="100000"/>
              </a:lnSpc>
              <a:spcBef>
                <a:spcPts val="0"/>
              </a:spcBef>
              <a:spcAft>
                <a:spcPts val="60"/>
              </a:spcAft>
            </a:pPr>
            <a:r>
              <a:rPr sz="640" b="0" i="0">
                <a:solidFill>
                  <a:srgbClr val="E5E7EB"/>
                </a:solidFill>
                <a:latin typeface="Consolas"/>
              </a:rPr>
              <a:t>                               : "NOT VERIFIED. No matching KYC record.");</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the registered Aadhaar number: a verified hit</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140" b="0" i="0">
                <a:solidFill>
                  <a:srgbClr val="14171C"/>
                </a:solidFill>
                <a:latin typeface="Consolas"/>
              </a:rPr>
              <a:t>--- KYC VERIFICATION DESK ---</a:t>
            </a:r>
          </a:p>
          <a:p>
            <a:pPr>
              <a:lnSpc>
                <a:spcPct val="100000"/>
              </a:lnSpc>
              <a:spcBef>
                <a:spcPts val="0"/>
              </a:spcBef>
              <a:spcAft>
                <a:spcPts val="60"/>
              </a:spcAft>
            </a:pPr>
            <a:r>
              <a:rPr sz="1140" b="0" i="0">
                <a:solidFill>
                  <a:srgbClr val="14171C"/>
                </a:solidFill>
                <a:latin typeface="Consolas"/>
              </a:rPr>
              <a:t>1. AADHAR Number</a:t>
            </a:r>
          </a:p>
          <a:p>
            <a:pPr>
              <a:lnSpc>
                <a:spcPct val="100000"/>
              </a:lnSpc>
              <a:spcBef>
                <a:spcPts val="0"/>
              </a:spcBef>
              <a:spcAft>
                <a:spcPts val="60"/>
              </a:spcAft>
            </a:pPr>
            <a:r>
              <a:rPr sz="1140" b="0" i="0">
                <a:solidFill>
                  <a:srgbClr val="14171C"/>
                </a:solidFill>
                <a:latin typeface="Consolas"/>
              </a:rPr>
              <a:t>2. APAAR ID</a:t>
            </a:r>
          </a:p>
          <a:p>
            <a:pPr>
              <a:lnSpc>
                <a:spcPct val="100000"/>
              </a:lnSpc>
              <a:spcBef>
                <a:spcPts val="0"/>
              </a:spcBef>
              <a:spcAft>
                <a:spcPts val="60"/>
              </a:spcAft>
            </a:pPr>
            <a:r>
              <a:rPr sz="1140" b="0" i="0">
                <a:solidFill>
                  <a:srgbClr val="14171C"/>
                </a:solidFill>
                <a:latin typeface="Consolas"/>
              </a:rPr>
              <a:t>3. PAN Number</a:t>
            </a:r>
          </a:p>
          <a:p>
            <a:pPr>
              <a:lnSpc>
                <a:spcPct val="100000"/>
              </a:lnSpc>
              <a:spcBef>
                <a:spcPts val="0"/>
              </a:spcBef>
              <a:spcAft>
                <a:spcPts val="60"/>
              </a:spcAft>
            </a:pPr>
            <a:r>
              <a:rPr sz="1140" b="0" i="0">
                <a:solidFill>
                  <a:srgbClr val="14171C"/>
                </a:solidFill>
                <a:latin typeface="Consolas"/>
              </a:rPr>
              <a:t>4. Driving License</a:t>
            </a:r>
          </a:p>
          <a:p>
            <a:pPr>
              <a:lnSpc>
                <a:spcPct val="100000"/>
              </a:lnSpc>
              <a:spcBef>
                <a:spcPts val="0"/>
              </a:spcBef>
              <a:spcAft>
                <a:spcPts val="60"/>
              </a:spcAft>
            </a:pPr>
            <a:r>
              <a:rPr sz="1140" b="0" i="0">
                <a:solidFill>
                  <a:srgbClr val="14171C"/>
                </a:solidFill>
                <a:latin typeface="Consolas"/>
              </a:rPr>
              <a:t>5. Passport Number</a:t>
            </a:r>
          </a:p>
          <a:p>
            <a:pPr>
              <a:lnSpc>
                <a:spcPct val="100000"/>
              </a:lnSpc>
              <a:spcBef>
                <a:spcPts val="0"/>
              </a:spcBef>
              <a:spcAft>
                <a:spcPts val="60"/>
              </a:spcAft>
            </a:pPr>
            <a:r>
              <a:rPr sz="1140" b="0" i="0">
                <a:solidFill>
                  <a:srgbClr val="14171C"/>
                </a:solidFill>
                <a:latin typeface="Consolas"/>
              </a:rPr>
              <a:t>Select the ID type to verify: 1</a:t>
            </a:r>
          </a:p>
          <a:p>
            <a:pPr>
              <a:lnSpc>
                <a:spcPct val="100000"/>
              </a:lnSpc>
              <a:spcBef>
                <a:spcPts val="0"/>
              </a:spcBef>
              <a:spcAft>
                <a:spcPts val="60"/>
              </a:spcAft>
            </a:pPr>
            <a:r>
              <a:rPr sz="1140" b="0" i="0">
                <a:solidFill>
                  <a:srgbClr val="14171C"/>
                </a:solidFill>
                <a:latin typeface="Consolas"/>
              </a:rPr>
              <a:t>Enter the AADHAR value: 123456789012</a:t>
            </a:r>
          </a:p>
          <a:p>
            <a:pPr>
              <a:lnSpc>
                <a:spcPct val="100000"/>
              </a:lnSpc>
              <a:spcBef>
                <a:spcPts val="0"/>
              </a:spcBef>
              <a:spcAft>
                <a:spcPts val="60"/>
              </a:spcAft>
            </a:pPr>
            <a:r>
              <a:rPr sz="1140" b="0" i="0">
                <a:solidFill>
                  <a:srgbClr val="14171C"/>
                </a:solidFill>
                <a:latin typeface="Consolas"/>
              </a:rPr>
              <a:t>ID 123456789012 is VERIFIED against the KYC records.</a:t>
            </a:r>
          </a:p>
        </p:txBody>
      </p:sp>
      <p:sp>
        <p:nvSpPr>
          <p:cNvPr id="15" name="Rectangle 14"/>
          <p:cNvSpPr/>
          <p:nvPr/>
        </p:nvSpPr>
        <p:spPr>
          <a:xfrm>
            <a:off x="6537960"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a PAN that is off by a digit: rejected</a:t>
            </a:r>
          </a:p>
        </p:txBody>
      </p:sp>
      <p:sp>
        <p:nvSpPr>
          <p:cNvPr id="17" name="TextBox 16"/>
          <p:cNvSpPr txBox="1"/>
          <p:nvPr/>
        </p:nvSpPr>
        <p:spPr>
          <a:xfrm>
            <a:off x="6684264"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 KYC VERIFICATION DESK ---</a:t>
            </a:r>
          </a:p>
          <a:p>
            <a:pPr>
              <a:lnSpc>
                <a:spcPct val="100000"/>
              </a:lnSpc>
              <a:spcBef>
                <a:spcPts val="0"/>
              </a:spcBef>
              <a:spcAft>
                <a:spcPts val="60"/>
              </a:spcAft>
            </a:pPr>
            <a:r>
              <a:rPr sz="720" b="0" i="0">
                <a:solidFill>
                  <a:srgbClr val="14171C"/>
                </a:solidFill>
                <a:latin typeface="Consolas"/>
              </a:rPr>
              <a:t>1. AADHAR Number</a:t>
            </a:r>
          </a:p>
          <a:p>
            <a:pPr>
              <a:lnSpc>
                <a:spcPct val="100000"/>
              </a:lnSpc>
              <a:spcBef>
                <a:spcPts val="0"/>
              </a:spcBef>
              <a:spcAft>
                <a:spcPts val="60"/>
              </a:spcAft>
            </a:pPr>
            <a:r>
              <a:rPr sz="720" b="0" i="0">
                <a:solidFill>
                  <a:srgbClr val="14171C"/>
                </a:solidFill>
                <a:latin typeface="Consolas"/>
              </a:rPr>
              <a:t>2. APAAR ID</a:t>
            </a:r>
          </a:p>
          <a:p>
            <a:pPr>
              <a:lnSpc>
                <a:spcPct val="100000"/>
              </a:lnSpc>
              <a:spcBef>
                <a:spcPts val="0"/>
              </a:spcBef>
              <a:spcAft>
                <a:spcPts val="60"/>
              </a:spcAft>
            </a:pPr>
            <a:r>
              <a:rPr sz="720" b="0" i="0">
                <a:solidFill>
                  <a:srgbClr val="14171C"/>
                </a:solidFill>
                <a:latin typeface="Consolas"/>
              </a:rPr>
              <a:t>3. PAN Number</a:t>
            </a:r>
          </a:p>
          <a:p>
            <a:pPr>
              <a:lnSpc>
                <a:spcPct val="100000"/>
              </a:lnSpc>
              <a:spcBef>
                <a:spcPts val="0"/>
              </a:spcBef>
              <a:spcAft>
                <a:spcPts val="60"/>
              </a:spcAft>
            </a:pPr>
            <a:r>
              <a:rPr sz="720" b="0" i="0">
                <a:solidFill>
                  <a:srgbClr val="14171C"/>
                </a:solidFill>
                <a:latin typeface="Consolas"/>
              </a:rPr>
              <a:t>4. Driving License</a:t>
            </a:r>
          </a:p>
          <a:p>
            <a:pPr>
              <a:lnSpc>
                <a:spcPct val="100000"/>
              </a:lnSpc>
              <a:spcBef>
                <a:spcPts val="0"/>
              </a:spcBef>
              <a:spcAft>
                <a:spcPts val="60"/>
              </a:spcAft>
            </a:pPr>
            <a:r>
              <a:rPr sz="720" b="0" i="0">
                <a:solidFill>
                  <a:srgbClr val="14171C"/>
                </a:solidFill>
                <a:latin typeface="Consolas"/>
              </a:rPr>
              <a:t>5. Passport Number</a:t>
            </a:r>
          </a:p>
          <a:p>
            <a:pPr>
              <a:lnSpc>
                <a:spcPct val="100000"/>
              </a:lnSpc>
              <a:spcBef>
                <a:spcPts val="0"/>
              </a:spcBef>
              <a:spcAft>
                <a:spcPts val="60"/>
              </a:spcAft>
            </a:pPr>
            <a:r>
              <a:rPr sz="720" b="0" i="0">
                <a:solidFill>
                  <a:srgbClr val="14171C"/>
                </a:solidFill>
                <a:latin typeface="Consolas"/>
              </a:rPr>
              <a:t>Select the ID type to verify: 3</a:t>
            </a:r>
          </a:p>
          <a:p>
            <a:pPr>
              <a:lnSpc>
                <a:spcPct val="100000"/>
              </a:lnSpc>
              <a:spcBef>
                <a:spcPts val="0"/>
              </a:spcBef>
              <a:spcAft>
                <a:spcPts val="60"/>
              </a:spcAft>
            </a:pPr>
            <a:r>
              <a:rPr sz="720" b="0" i="0">
                <a:solidFill>
                  <a:srgbClr val="14171C"/>
                </a:solidFill>
                <a:latin typeface="Consolas"/>
              </a:rPr>
              <a:t>Enter the PAN value: 450099999</a:t>
            </a:r>
          </a:p>
          <a:p>
            <a:pPr>
              <a:lnSpc>
                <a:spcPct val="100000"/>
              </a:lnSpc>
              <a:spcBef>
                <a:spcPts val="0"/>
              </a:spcBef>
              <a:spcAft>
                <a:spcPts val="60"/>
              </a:spcAft>
            </a:pPr>
            <a:r>
              <a:rPr sz="720" b="0" i="0">
                <a:solidFill>
                  <a:srgbClr val="14171C"/>
                </a:solidFill>
                <a:latin typeface="Consolas"/>
              </a:rPr>
              <a:t>ID 450099999 is NOT VERIFIED. No matching KYC record.</a:t>
            </a:r>
          </a:p>
        </p:txBody>
      </p:sp>
      <p:sp>
        <p:nvSpPr>
          <p:cNvPr id="18" name="Rectangle 17"/>
          <p:cNvSpPr/>
          <p:nvPr/>
        </p:nvSpPr>
        <p:spPr>
          <a:xfrm>
            <a:off x="9180576"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3 — the stored APAAR ID: verified through a different case</a:t>
            </a:r>
          </a:p>
        </p:txBody>
      </p:sp>
      <p:sp>
        <p:nvSpPr>
          <p:cNvPr id="20" name="TextBox 19"/>
          <p:cNvSpPr txBox="1"/>
          <p:nvPr/>
        </p:nvSpPr>
        <p:spPr>
          <a:xfrm>
            <a:off x="9326880"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 KYC VERIFICATION DESK ---</a:t>
            </a:r>
          </a:p>
          <a:p>
            <a:pPr>
              <a:lnSpc>
                <a:spcPct val="100000"/>
              </a:lnSpc>
              <a:spcBef>
                <a:spcPts val="0"/>
              </a:spcBef>
              <a:spcAft>
                <a:spcPts val="60"/>
              </a:spcAft>
            </a:pPr>
            <a:r>
              <a:rPr sz="720" b="0" i="0">
                <a:solidFill>
                  <a:srgbClr val="14171C"/>
                </a:solidFill>
                <a:latin typeface="Consolas"/>
              </a:rPr>
              <a:t>1. AADHAR Number</a:t>
            </a:r>
          </a:p>
          <a:p>
            <a:pPr>
              <a:lnSpc>
                <a:spcPct val="100000"/>
              </a:lnSpc>
              <a:spcBef>
                <a:spcPts val="0"/>
              </a:spcBef>
              <a:spcAft>
                <a:spcPts val="60"/>
              </a:spcAft>
            </a:pPr>
            <a:r>
              <a:rPr sz="720" b="0" i="0">
                <a:solidFill>
                  <a:srgbClr val="14171C"/>
                </a:solidFill>
                <a:latin typeface="Consolas"/>
              </a:rPr>
              <a:t>2. APAAR ID</a:t>
            </a:r>
          </a:p>
          <a:p>
            <a:pPr>
              <a:lnSpc>
                <a:spcPct val="100000"/>
              </a:lnSpc>
              <a:spcBef>
                <a:spcPts val="0"/>
              </a:spcBef>
              <a:spcAft>
                <a:spcPts val="60"/>
              </a:spcAft>
            </a:pPr>
            <a:r>
              <a:rPr sz="720" b="0" i="0">
                <a:solidFill>
                  <a:srgbClr val="14171C"/>
                </a:solidFill>
                <a:latin typeface="Consolas"/>
              </a:rPr>
              <a:t>3. PAN Number</a:t>
            </a:r>
          </a:p>
          <a:p>
            <a:pPr>
              <a:lnSpc>
                <a:spcPct val="100000"/>
              </a:lnSpc>
              <a:spcBef>
                <a:spcPts val="0"/>
              </a:spcBef>
              <a:spcAft>
                <a:spcPts val="60"/>
              </a:spcAft>
            </a:pPr>
            <a:r>
              <a:rPr sz="720" b="0" i="0">
                <a:solidFill>
                  <a:srgbClr val="14171C"/>
                </a:solidFill>
                <a:latin typeface="Consolas"/>
              </a:rPr>
              <a:t>4. Driving License</a:t>
            </a:r>
          </a:p>
          <a:p>
            <a:pPr>
              <a:lnSpc>
                <a:spcPct val="100000"/>
              </a:lnSpc>
              <a:spcBef>
                <a:spcPts val="0"/>
              </a:spcBef>
              <a:spcAft>
                <a:spcPts val="60"/>
              </a:spcAft>
            </a:pPr>
            <a:r>
              <a:rPr sz="720" b="0" i="0">
                <a:solidFill>
                  <a:srgbClr val="14171C"/>
                </a:solidFill>
                <a:latin typeface="Consolas"/>
              </a:rPr>
              <a:t>5. Passport Number</a:t>
            </a:r>
          </a:p>
          <a:p>
            <a:pPr>
              <a:lnSpc>
                <a:spcPct val="100000"/>
              </a:lnSpc>
              <a:spcBef>
                <a:spcPts val="0"/>
              </a:spcBef>
              <a:spcAft>
                <a:spcPts val="60"/>
              </a:spcAft>
            </a:pPr>
            <a:r>
              <a:rPr sz="720" b="0" i="0">
                <a:solidFill>
                  <a:srgbClr val="14171C"/>
                </a:solidFill>
                <a:latin typeface="Consolas"/>
              </a:rPr>
              <a:t>Select the ID type to verify: 2</a:t>
            </a:r>
          </a:p>
          <a:p>
            <a:pPr>
              <a:lnSpc>
                <a:spcPct val="100000"/>
              </a:lnSpc>
              <a:spcBef>
                <a:spcPts val="0"/>
              </a:spcBef>
              <a:spcAft>
                <a:spcPts val="60"/>
              </a:spcAft>
            </a:pPr>
            <a:r>
              <a:rPr sz="720" b="0" i="0">
                <a:solidFill>
                  <a:srgbClr val="14171C"/>
                </a:solidFill>
                <a:latin typeface="Consolas"/>
              </a:rPr>
              <a:t>Enter the APAAR value: 550123456789</a:t>
            </a:r>
          </a:p>
          <a:p>
            <a:pPr>
              <a:lnSpc>
                <a:spcPct val="100000"/>
              </a:lnSpc>
              <a:spcBef>
                <a:spcPts val="0"/>
              </a:spcBef>
              <a:spcAft>
                <a:spcPts val="60"/>
              </a:spcAft>
            </a:pPr>
            <a:r>
              <a:rPr sz="720" b="0" i="0">
                <a:solidFill>
                  <a:srgbClr val="14171C"/>
                </a:solidFill>
                <a:latin typeface="Consolas"/>
              </a:rPr>
              <a:t>ID 550123456789 is VERIFIED against the KYC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3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3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12</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Runs 1 and 3 pass through different cases of the same switch, proving the dispatch selects the right drawer each time: choice 1 consults only the Aadhaar record, choice 2 only the APAAR. Run 2 proves the comparison is numeric, not a format check — the wrong PAN is well-formed but unknown, and the record it is compared against is the PAN store, not the Aadhaar store. A useful counter-test for the record: entering Aadhaar number under menu choice 3 (PAN) must fail verification, demonstrating that number and type are checked as a pair.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for KYC verification was developed in which a switch statement dispatches a menu-selected ID type (AADHAR, APAAR, PAN, Driving License, Passport — all held as integers) onto the matching stored record and an equality test sets the outcome.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can switch not switch on a float — what does the standard forbid?</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happens if you forget a break in case 2? Trace the output precisely.</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Why is default considered good practice even when the menu “cannot” be mistyped?</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Why are the identifiers stored in long int and printed with %ld?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4</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4 — Nature of the Roots of a Quadratic Equation — Three Worlds from One Discriminant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13</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reads the coefficients a, b, c of ax² + bx + c = 0, computes the discriminant, determines the nature of the roots (real and distinct, real and equal, or complex conjugates) and displays the roots themselves in the correct form for each case.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Implement a piecewise mathematical definition with nested if–else if–else decisions; use sqrt() only where its argument is guaranteed non-negative; handle the degenerate </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For ax² + bx + c = 0 (a ≠ 0), the quadratic formula and the discriminant D = b² − 4ac:</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structure is a decision tree of exactly three leaves, so the program is a cascade of tests over D. Two details carry most of the marks:</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branch test disc == 0.0f catches inputs that exactly produce zero (b² = 4ac in binary floating-point is rare but happens for small integers such as the run below: 1, −6, 9). A production math app tests fabs(disc) </a:t>
            </a:r>
            <a:r>
              <a:rPr sz="1200" b="0" i="0">
                <a:solidFill>
                  <a:srgbClr val="16181D"/>
                </a:solidFill>
                <a:latin typeface="Calibri"/>
              </a:rPr>
              <a:t> eps instead. …</a:t>
            </a:r>
          </a:p>
        </p:txBody>
      </p:sp>
      <p:pic>
        <p:nvPicPr>
          <p:cNvPr id="14" name="Picture 13" descr="a04.png"/>
          <p:cNvPicPr>
            <a:picLocks noChangeAspect="1"/>
          </p:cNvPicPr>
          <p:nvPr/>
        </p:nvPicPr>
        <p:blipFill>
          <a:blip r:embed="rId2"/>
          <a:stretch>
            <a:fillRect/>
          </a:stretch>
        </p:blipFill>
        <p:spPr>
          <a:xfrm>
            <a:off x="8016992" y="1554480"/>
            <a:ext cx="2894094"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§4.2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a, b, c.</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If a = 0: print “not a quadratic equation” and STOP.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Compute disc = b·b − 4·a·c and print it.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If disc &gt; 0: compute r1, r2 = (−b ± √disc)/(2a); print “real and distinct” with both values.</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Else if disc = 0: compute r = −b/(2a); print “real and equal”.</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Else: compute real part rp = −b/(2a) and imaginary part ip = √(−disc)/(2a); print the pair rp ± ip·i.</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8.  </a:t>
            </a:r>
            <a:r>
              <a:rPr sz="1050" b="0" i="0">
                <a:solidFill>
                  <a:srgbClr val="16181D"/>
                </a:solidFill>
                <a:latin typeface="Calibri"/>
              </a:rPr>
              <a:t>STOP.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4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4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14</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a04_quadratic.c  ·  complete source as compiled · 38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93" b="0" i="0">
                <a:solidFill>
                  <a:srgbClr val="E5E7EB"/>
                </a:solidFill>
                <a:latin typeface="Consolas"/>
              </a:rPr>
              <a:t>/* Experiment A4 -- nature of roots and the roots of a quadratic equation</a:t>
            </a:r>
          </a:p>
          <a:p>
            <a:pPr>
              <a:lnSpc>
                <a:spcPct val="100000"/>
              </a:lnSpc>
              <a:spcBef>
                <a:spcPts val="0"/>
              </a:spcBef>
              <a:spcAft>
                <a:spcPts val="60"/>
              </a:spcAft>
            </a:pPr>
            <a:r>
              <a:rPr sz="693" b="0" i="0">
                <a:solidFill>
                  <a:srgbClr val="E5E7EB"/>
                </a:solidFill>
                <a:latin typeface="Consolas"/>
              </a:rPr>
              <a:t>   File    : a04_quadratic.c</a:t>
            </a:r>
          </a:p>
          <a:p>
            <a:pPr>
              <a:lnSpc>
                <a:spcPct val="100000"/>
              </a:lnSpc>
              <a:spcBef>
                <a:spcPts val="0"/>
              </a:spcBef>
              <a:spcAft>
                <a:spcPts val="60"/>
              </a:spcAft>
            </a:pPr>
            <a:r>
              <a:rPr sz="693" b="0" i="0">
                <a:solidFill>
                  <a:srgbClr val="E5E7EB"/>
                </a:solidFill>
                <a:latin typeface="Consolas"/>
              </a:rPr>
              <a:t>   Build   : gcc -Wall a04_quadratic.c -o a04_quadratic -lm */</a:t>
            </a:r>
          </a:p>
          <a:p>
            <a:pPr>
              <a:lnSpc>
                <a:spcPct val="100000"/>
              </a:lnSpc>
              <a:spcBef>
                <a:spcPts val="0"/>
              </a:spcBef>
              <a:spcAft>
                <a:spcPts val="60"/>
              </a:spcAft>
            </a:pPr>
            <a:r>
              <a:rPr sz="693" b="0" i="0">
                <a:solidFill>
                  <a:srgbClr val="E5E7EB"/>
                </a:solidFill>
                <a:latin typeface="Consolas"/>
              </a:rPr>
              <a:t>#include &lt;stdio.h&gt;</a:t>
            </a:r>
          </a:p>
          <a:p>
            <a:pPr>
              <a:lnSpc>
                <a:spcPct val="100000"/>
              </a:lnSpc>
              <a:spcBef>
                <a:spcPts val="0"/>
              </a:spcBef>
              <a:spcAft>
                <a:spcPts val="60"/>
              </a:spcAft>
            </a:pPr>
            <a:r>
              <a:rPr sz="693" b="0" i="0">
                <a:solidFill>
                  <a:srgbClr val="E5E7EB"/>
                </a:solidFill>
                <a:latin typeface="Consolas"/>
              </a:rPr>
              <a:t>#include &lt;math.h&gt;</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int main(void)</a:t>
            </a:r>
          </a:p>
          <a:p>
            <a:pPr>
              <a:lnSpc>
                <a:spcPct val="100000"/>
              </a:lnSpc>
              <a:spcBef>
                <a:spcPts val="0"/>
              </a:spcBef>
              <a:spcAft>
                <a:spcPts val="60"/>
              </a:spcAft>
            </a:pPr>
            <a:r>
              <a:rPr sz="693" b="0" i="0">
                <a:solidFill>
                  <a:srgbClr val="E5E7EB"/>
                </a:solidFill>
                <a:latin typeface="Consolas"/>
              </a:rPr>
              <a:t>{</a:t>
            </a:r>
          </a:p>
          <a:p>
            <a:pPr>
              <a:lnSpc>
                <a:spcPct val="100000"/>
              </a:lnSpc>
              <a:spcBef>
                <a:spcPts val="0"/>
              </a:spcBef>
              <a:spcAft>
                <a:spcPts val="60"/>
              </a:spcAft>
            </a:pPr>
            <a:r>
              <a:rPr sz="693" b="0" i="0">
                <a:solidFill>
                  <a:srgbClr val="E5E7EB"/>
                </a:solidFill>
                <a:latin typeface="Consolas"/>
              </a:rPr>
              <a:t>    float a, b, c, disc, r1, r2, rp, ip;</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printf("Enter coefficients a, b, c of ax^2 + bx + c = 0: ");</a:t>
            </a:r>
          </a:p>
          <a:p>
            <a:pPr>
              <a:lnSpc>
                <a:spcPct val="100000"/>
              </a:lnSpc>
              <a:spcBef>
                <a:spcPts val="0"/>
              </a:spcBef>
              <a:spcAft>
                <a:spcPts val="60"/>
              </a:spcAft>
            </a:pPr>
            <a:r>
              <a:rPr sz="693" b="0" i="0">
                <a:solidFill>
                  <a:srgbClr val="E5E7EB"/>
                </a:solidFill>
                <a:latin typeface="Consolas"/>
              </a:rPr>
              <a:t>    scanf("%f %f %f", &amp;a, &amp;b, &amp;c);</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if (a == 0.0f) {</a:t>
            </a:r>
          </a:p>
          <a:p>
            <a:pPr>
              <a:lnSpc>
                <a:spcPct val="100000"/>
              </a:lnSpc>
              <a:spcBef>
                <a:spcPts val="0"/>
              </a:spcBef>
              <a:spcAft>
                <a:spcPts val="60"/>
              </a:spcAft>
            </a:pPr>
            <a:r>
              <a:rPr sz="693" b="0" i="0">
                <a:solidFill>
                  <a:srgbClr val="E5E7EB"/>
                </a:solidFill>
                <a:latin typeface="Consolas"/>
              </a:rPr>
              <a:t>        printf("Coefficient a is zero: this is not a quadratic equation.\n");</a:t>
            </a:r>
          </a:p>
          <a:p>
            <a:pPr>
              <a:lnSpc>
                <a:spcPct val="100000"/>
              </a:lnSpc>
              <a:spcBef>
                <a:spcPts val="0"/>
              </a:spcBef>
              <a:spcAft>
                <a:spcPts val="60"/>
              </a:spcAft>
            </a:pPr>
            <a:r>
              <a:rPr sz="693" b="0" i="0">
                <a:solidFill>
                  <a:srgbClr val="E5E7EB"/>
                </a:solidFill>
                <a:latin typeface="Consolas"/>
              </a:rPr>
              <a:t>        return 1;</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disc = b * b - 4.0f * a * c;</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printf("Discriminant = %.4f\n", disc);</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if (disc &gt; 0.0f) {                                  /* two real, unequal */</a:t>
            </a:r>
          </a:p>
          <a:p>
            <a:pPr>
              <a:lnSpc>
                <a:spcPct val="100000"/>
              </a:lnSpc>
              <a:spcBef>
                <a:spcPts val="0"/>
              </a:spcBef>
              <a:spcAft>
                <a:spcPts val="60"/>
              </a:spcAft>
            </a:pPr>
            <a:r>
              <a:rPr sz="693" b="0" i="0">
                <a:solidFill>
                  <a:srgbClr val="E5E7EB"/>
                </a:solidFill>
                <a:latin typeface="Consolas"/>
              </a:rPr>
              <a:t>        r1 = (-b + sqrt(disc)) / (2.0f * a);</a:t>
            </a:r>
          </a:p>
          <a:p>
            <a:pPr>
              <a:lnSpc>
                <a:spcPct val="100000"/>
              </a:lnSpc>
              <a:spcBef>
                <a:spcPts val="0"/>
              </a:spcBef>
              <a:spcAft>
                <a:spcPts val="60"/>
              </a:spcAft>
            </a:pPr>
            <a:r>
              <a:rPr sz="693" b="0" i="0">
                <a:solidFill>
                  <a:srgbClr val="E5E7EB"/>
                </a:solidFill>
                <a:latin typeface="Consolas"/>
              </a:rPr>
              <a:t>        r2 = (-b - sqrt(disc)) / (2.0f * a);</a:t>
            </a:r>
          </a:p>
          <a:p>
            <a:pPr>
              <a:lnSpc>
                <a:spcPct val="100000"/>
              </a:lnSpc>
              <a:spcBef>
                <a:spcPts val="0"/>
              </a:spcBef>
              <a:spcAft>
                <a:spcPts val="60"/>
              </a:spcAft>
            </a:pPr>
            <a:r>
              <a:rPr sz="693" b="0" i="0">
                <a:solidFill>
                  <a:srgbClr val="E5E7EB"/>
                </a:solidFill>
                <a:latin typeface="Consolas"/>
              </a:rPr>
              <a:t>        printf("Roots are real and distinct: r1 = %.4f, r2 = %.4f\n", r1, r2);</a:t>
            </a:r>
          </a:p>
          <a:p>
            <a:pPr>
              <a:lnSpc>
                <a:spcPct val="100000"/>
              </a:lnSpc>
              <a:spcBef>
                <a:spcPts val="0"/>
              </a:spcBef>
              <a:spcAft>
                <a:spcPts val="60"/>
              </a:spcAft>
            </a:pPr>
            <a:r>
              <a:rPr sz="693" b="0" i="0">
                <a:solidFill>
                  <a:srgbClr val="E5E7EB"/>
                </a:solidFill>
                <a:latin typeface="Consolas"/>
              </a:rPr>
              <a:t>    } else if (disc == 0.0f) {                          /* two real, equal  */</a:t>
            </a:r>
          </a:p>
          <a:p>
            <a:pPr>
              <a:lnSpc>
                <a:spcPct val="100000"/>
              </a:lnSpc>
              <a:spcBef>
                <a:spcPts val="0"/>
              </a:spcBef>
              <a:spcAft>
                <a:spcPts val="60"/>
              </a:spcAft>
            </a:pPr>
            <a:r>
              <a:rPr sz="693" b="0" i="0">
                <a:solidFill>
                  <a:srgbClr val="E5E7EB"/>
                </a:solidFill>
                <a:latin typeface="Consolas"/>
              </a:rPr>
              <a:t>        r1 = -b / (2.0f * a);</a:t>
            </a:r>
          </a:p>
          <a:p>
            <a:pPr>
              <a:lnSpc>
                <a:spcPct val="100000"/>
              </a:lnSpc>
              <a:spcBef>
                <a:spcPts val="0"/>
              </a:spcBef>
              <a:spcAft>
                <a:spcPts val="60"/>
              </a:spcAft>
            </a:pPr>
            <a:r>
              <a:rPr sz="693" b="0" i="0">
                <a:solidFill>
                  <a:srgbClr val="E5E7EB"/>
                </a:solidFill>
                <a:latin typeface="Consolas"/>
              </a:rPr>
              <a:t>        printf("Roots are real and equal: r1 = r2 = %.4f\n", r1);</a:t>
            </a:r>
          </a:p>
          <a:p>
            <a:pPr>
              <a:lnSpc>
                <a:spcPct val="100000"/>
              </a:lnSpc>
              <a:spcBef>
                <a:spcPts val="0"/>
              </a:spcBef>
              <a:spcAft>
                <a:spcPts val="60"/>
              </a:spcAft>
            </a:pPr>
            <a:r>
              <a:rPr sz="693" b="0" i="0">
                <a:solidFill>
                  <a:srgbClr val="E5E7EB"/>
                </a:solidFill>
                <a:latin typeface="Consolas"/>
              </a:rPr>
              <a:t>    } else {                                            /* complex pair     */</a:t>
            </a:r>
          </a:p>
          <a:p>
            <a:pPr>
              <a:lnSpc>
                <a:spcPct val="100000"/>
              </a:lnSpc>
              <a:spcBef>
                <a:spcPts val="0"/>
              </a:spcBef>
              <a:spcAft>
                <a:spcPts val="60"/>
              </a:spcAft>
            </a:pPr>
            <a:r>
              <a:rPr sz="693" b="0" i="0">
                <a:solidFill>
                  <a:srgbClr val="E5E7EB"/>
                </a:solidFill>
                <a:latin typeface="Consolas"/>
              </a:rPr>
              <a:t>        rp = -b / (2.0f * a);</a:t>
            </a:r>
          </a:p>
          <a:p>
            <a:pPr>
              <a:lnSpc>
                <a:spcPct val="100000"/>
              </a:lnSpc>
              <a:spcBef>
                <a:spcPts val="0"/>
              </a:spcBef>
              <a:spcAft>
                <a:spcPts val="60"/>
              </a:spcAft>
            </a:pPr>
            <a:r>
              <a:rPr sz="693" b="0" i="0">
                <a:solidFill>
                  <a:srgbClr val="E5E7EB"/>
                </a:solidFill>
                <a:latin typeface="Consolas"/>
              </a:rPr>
              <a:t>        ip = sqrt(-disc) / (2.0f * a);</a:t>
            </a:r>
          </a:p>
          <a:p>
            <a:pPr>
              <a:lnSpc>
                <a:spcPct val="100000"/>
              </a:lnSpc>
              <a:spcBef>
                <a:spcPts val="0"/>
              </a:spcBef>
              <a:spcAft>
                <a:spcPts val="60"/>
              </a:spcAft>
            </a:pPr>
            <a:r>
              <a:rPr sz="693" b="0" i="0">
                <a:solidFill>
                  <a:srgbClr val="E5E7EB"/>
                </a:solidFill>
                <a:latin typeface="Consolas"/>
              </a:rPr>
              <a:t>        printf("Roots are imaginary: %.4f + %.4fi and %.4f - %.4fi\n",</a:t>
            </a:r>
          </a:p>
          <a:p>
            <a:pPr>
              <a:lnSpc>
                <a:spcPct val="100000"/>
              </a:lnSpc>
              <a:spcBef>
                <a:spcPts val="0"/>
              </a:spcBef>
              <a:spcAft>
                <a:spcPts val="60"/>
              </a:spcAft>
            </a:pPr>
            <a:r>
              <a:rPr sz="693" b="0" i="0">
                <a:solidFill>
                  <a:srgbClr val="E5E7EB"/>
                </a:solidFill>
                <a:latin typeface="Consolas"/>
              </a:rPr>
              <a:t>               rp, ip, rp, ip);</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return 0;</a:t>
            </a:r>
          </a:p>
          <a:p>
            <a:pPr>
              <a:lnSpc>
                <a:spcPct val="100000"/>
              </a:lnSpc>
              <a:spcBef>
                <a:spcPts val="0"/>
              </a:spcBef>
              <a:spcAft>
                <a:spcPts val="60"/>
              </a:spcAft>
            </a:pPr>
            <a:r>
              <a:rPr sz="693"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x² − 5x + 6 = 0: the textbook (x−2)(x−3) factorisation</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145" b="0" i="0">
                <a:solidFill>
                  <a:srgbClr val="14171C"/>
                </a:solidFill>
                <a:latin typeface="Consolas"/>
              </a:rPr>
              <a:t>Enter coefficients a, b, c of ax^2 + bx + c = 0: 1 -5 6</a:t>
            </a:r>
          </a:p>
          <a:p>
            <a:pPr>
              <a:lnSpc>
                <a:spcPct val="100000"/>
              </a:lnSpc>
              <a:spcBef>
                <a:spcPts val="0"/>
              </a:spcBef>
              <a:spcAft>
                <a:spcPts val="60"/>
              </a:spcAft>
            </a:pPr>
            <a:r>
              <a:rPr sz="1145" b="0" i="0">
                <a:solidFill>
                  <a:srgbClr val="14171C"/>
                </a:solidFill>
                <a:latin typeface="Consolas"/>
              </a:rPr>
              <a:t>Discriminant = 1.0000</a:t>
            </a:r>
          </a:p>
          <a:p>
            <a:pPr>
              <a:lnSpc>
                <a:spcPct val="100000"/>
              </a:lnSpc>
              <a:spcBef>
                <a:spcPts val="0"/>
              </a:spcBef>
              <a:spcAft>
                <a:spcPts val="60"/>
              </a:spcAft>
            </a:pPr>
            <a:r>
              <a:rPr sz="1145" b="0" i="0">
                <a:solidFill>
                  <a:srgbClr val="14171C"/>
                </a:solidFill>
                <a:latin typeface="Consolas"/>
              </a:rPr>
              <a:t>Roots are real and distinct: r1 = 3.0000, r2 = 2.0000</a:t>
            </a:r>
          </a:p>
        </p:txBody>
      </p:sp>
      <p:sp>
        <p:nvSpPr>
          <p:cNvPr id="15" name="Rectangle 14"/>
          <p:cNvSpPr/>
          <p:nvPr/>
        </p:nvSpPr>
        <p:spPr>
          <a:xfrm>
            <a:off x="6537960"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x² − 6x + 9 = 0: a perfect square, one repeated root</a:t>
            </a:r>
          </a:p>
        </p:txBody>
      </p:sp>
      <p:sp>
        <p:nvSpPr>
          <p:cNvPr id="17" name="TextBox 16"/>
          <p:cNvSpPr txBox="1"/>
          <p:nvPr/>
        </p:nvSpPr>
        <p:spPr>
          <a:xfrm>
            <a:off x="6684264"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coefficients a, b, c of ax^2 + bx + c = 0: 1 -6 9</a:t>
            </a:r>
          </a:p>
          <a:p>
            <a:pPr>
              <a:lnSpc>
                <a:spcPct val="100000"/>
              </a:lnSpc>
              <a:spcBef>
                <a:spcPts val="0"/>
              </a:spcBef>
              <a:spcAft>
                <a:spcPts val="60"/>
              </a:spcAft>
            </a:pPr>
            <a:r>
              <a:rPr sz="720" b="0" i="0">
                <a:solidFill>
                  <a:srgbClr val="14171C"/>
                </a:solidFill>
                <a:latin typeface="Consolas"/>
              </a:rPr>
              <a:t>Discriminant = 0.0000</a:t>
            </a:r>
          </a:p>
          <a:p>
            <a:pPr>
              <a:lnSpc>
                <a:spcPct val="100000"/>
              </a:lnSpc>
              <a:spcBef>
                <a:spcPts val="0"/>
              </a:spcBef>
              <a:spcAft>
                <a:spcPts val="60"/>
              </a:spcAft>
            </a:pPr>
            <a:r>
              <a:rPr sz="720" b="0" i="0">
                <a:solidFill>
                  <a:srgbClr val="14171C"/>
                </a:solidFill>
                <a:latin typeface="Consolas"/>
              </a:rPr>
              <a:t>Roots are real and equal: r1 = r2 = 3.0000</a:t>
            </a:r>
          </a:p>
        </p:txBody>
      </p:sp>
      <p:sp>
        <p:nvSpPr>
          <p:cNvPr id="18" name="Rectangle 17"/>
          <p:cNvSpPr/>
          <p:nvPr/>
        </p:nvSpPr>
        <p:spPr>
          <a:xfrm>
            <a:off x="9180576"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3 — x² + 2x + 5 = 0: a negative discriminant, complex conjugates</a:t>
            </a:r>
          </a:p>
        </p:txBody>
      </p:sp>
      <p:sp>
        <p:nvSpPr>
          <p:cNvPr id="20" name="TextBox 19"/>
          <p:cNvSpPr txBox="1"/>
          <p:nvPr/>
        </p:nvSpPr>
        <p:spPr>
          <a:xfrm>
            <a:off x="9326880"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coefficients a, b, c of ax^2 + bx + c = 0: 1 2 5</a:t>
            </a:r>
          </a:p>
          <a:p>
            <a:pPr>
              <a:lnSpc>
                <a:spcPct val="100000"/>
              </a:lnSpc>
              <a:spcBef>
                <a:spcPts val="0"/>
              </a:spcBef>
              <a:spcAft>
                <a:spcPts val="60"/>
              </a:spcAft>
            </a:pPr>
            <a:r>
              <a:rPr sz="720" b="0" i="0">
                <a:solidFill>
                  <a:srgbClr val="14171C"/>
                </a:solidFill>
                <a:latin typeface="Consolas"/>
              </a:rPr>
              <a:t>Discriminant = -16.0000</a:t>
            </a:r>
          </a:p>
          <a:p>
            <a:pPr>
              <a:lnSpc>
                <a:spcPct val="100000"/>
              </a:lnSpc>
              <a:spcBef>
                <a:spcPts val="0"/>
              </a:spcBef>
              <a:spcAft>
                <a:spcPts val="60"/>
              </a:spcAft>
            </a:pPr>
            <a:r>
              <a:rPr sz="720" b="0" i="0">
                <a:solidFill>
                  <a:srgbClr val="14171C"/>
                </a:solidFill>
                <a:latin typeface="Consolas"/>
              </a:rPr>
              <a:t>Roots are imaginary: -1.0000 + 2.0000i and -1.0000 - 2.0000i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4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4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15</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Every one of the three decision leaves is reached by exactly one run, and each printed value survives substitution back into the equation — the discriminant line printed first even lets the reader see why the branch was chosen. The complex row deserves a note in the record: the program does not invent a “complex number type”; it prints two real numbers under a ± sign, which is a piece of small but genuine design. Inference. …</a:t>
            </a:r>
          </a:p>
        </p:txBody>
      </p:sp>
      <p:graphicFrame>
        <p:nvGraphicFramePr>
          <p:cNvPr id="10" name="Table 9"/>
          <p:cNvGraphicFramePr>
            <a:graphicFrameLocks noGrp="1"/>
          </p:cNvGraphicFramePr>
          <p:nvPr/>
        </p:nvGraphicFramePr>
        <p:xfrm>
          <a:off x="502920" y="3840480"/>
          <a:ext cx="6400800" cy="859536"/>
        </p:xfrm>
        <a:graphic>
          <a:graphicData uri="http://schemas.openxmlformats.org/drawingml/2006/table">
            <a:tbl>
              <a:tblPr firstRow="1" bandRow="1">
                <a:tableStyleId>{5C22544A-7EE6-4342-B048-85BDC9FD1C3A}</a:tableStyleId>
              </a:tblPr>
              <a:tblGrid>
                <a:gridCol w="1280160"/>
                <a:gridCol w="1280160"/>
                <a:gridCol w="1280160"/>
                <a:gridCol w="1280160"/>
                <a:gridCol w="1280160"/>
              </a:tblGrid>
              <a:tr h="214884">
                <a:tc>
                  <a:txBody>
                    <a:bodyPr/>
                    <a:lstStyle/>
                    <a:p>
                      <a:r>
                        <a:rPr sz="1050" b="1">
                          <a:solidFill>
                            <a:srgbClr val="E5E7EB"/>
                          </a:solidFill>
                          <a:latin typeface="Calibri"/>
                        </a:rPr>
                        <a:t>a, b, c</a:t>
                      </a:r>
                    </a:p>
                  </a:txBody>
                  <a:tcPr>
                    <a:solidFill>
                      <a:srgbClr val="1F2937"/>
                    </a:solidFill>
                  </a:tcPr>
                </a:tc>
                <a:tc>
                  <a:txBody>
                    <a:bodyPr/>
                    <a:lstStyle/>
                    <a:p>
                      <a:r>
                        <a:rPr sz="1050" b="1">
                          <a:solidFill>
                            <a:srgbClr val="E5E7EB"/>
                          </a:solidFill>
                          <a:latin typeface="Calibri"/>
                        </a:rPr>
                        <a:t>D = b²−4ac</a:t>
                      </a:r>
                    </a:p>
                  </a:txBody>
                  <a:tcPr>
                    <a:solidFill>
                      <a:srgbClr val="1F2937"/>
                    </a:solidFill>
                  </a:tcPr>
                </a:tc>
                <a:tc>
                  <a:txBody>
                    <a:bodyPr/>
                    <a:lstStyle/>
                    <a:p>
                      <a:r>
                        <a:rPr sz="1050" b="1">
                          <a:solidFill>
                            <a:srgbClr val="E5E7EB"/>
                          </a:solidFill>
                          <a:latin typeface="Calibri"/>
                        </a:rPr>
                        <a:t>Program verdict</a:t>
                      </a:r>
                    </a:p>
                  </a:txBody>
                  <a:tcPr>
                    <a:solidFill>
                      <a:srgbClr val="1F2937"/>
                    </a:solidFill>
                  </a:tcPr>
                </a:tc>
                <a:tc>
                  <a:txBody>
                    <a:bodyPr/>
                    <a:lstStyle/>
                    <a:p>
                      <a:r>
                        <a:rPr sz="1050" b="1">
                          <a:solidFill>
                            <a:srgbClr val="E5E7EB"/>
                          </a:solidFill>
                          <a:latin typeface="Calibri"/>
                        </a:rPr>
                        <a:t>Hand check</a:t>
                      </a:r>
                    </a:p>
                  </a:txBody>
                  <a:tcPr>
                    <a:solidFill>
                      <a:srgbClr val="1F2937"/>
                    </a:solidFill>
                  </a:tcPr>
                </a:tc>
                <a:tc>
                  <a:txBody>
                    <a:bodyPr/>
                    <a:lstStyle/>
                    <a:p>
                      <a:r>
                        <a:rPr sz="1050" b="1">
                          <a:solidFill>
                            <a:srgbClr val="E5E7EB"/>
                          </a:solidFill>
                          <a:latin typeface="Calibri"/>
                        </a:rPr>
                        <a:t>Match</a:t>
                      </a:r>
                    </a:p>
                  </a:txBody>
                  <a:tcPr>
                    <a:solidFill>
                      <a:srgbClr val="1F2937"/>
                    </a:solidFill>
                  </a:tcPr>
                </a:tc>
              </a:tr>
              <a:tr h="214884">
                <a:tc>
                  <a:txBody>
                    <a:bodyPr/>
                    <a:lstStyle/>
                    <a:p>
                      <a:r>
                        <a:rPr sz="1050" b="0">
                          <a:solidFill>
                            <a:srgbClr val="16181D"/>
                          </a:solidFill>
                          <a:latin typeface="Calibri"/>
                        </a:rPr>
                        <a:t>1, −5, 6</a:t>
                      </a:r>
                    </a:p>
                  </a:txBody>
                  <a:tcPr>
                    <a:solidFill>
                      <a:srgbClr val="F3F4F6"/>
                    </a:solidFill>
                  </a:tcPr>
                </a:tc>
                <a:tc>
                  <a:txBody>
                    <a:bodyPr/>
                    <a:lstStyle/>
                    <a:p>
                      <a:r>
                        <a:rPr sz="1050" b="0">
                          <a:solidFill>
                            <a:srgbClr val="16181D"/>
                          </a:solidFill>
                          <a:latin typeface="Calibri"/>
                        </a:rPr>
                        <a:t>25−24 = 1 &gt; 0</a:t>
                      </a:r>
                    </a:p>
                  </a:txBody>
                  <a:tcPr>
                    <a:solidFill>
                      <a:srgbClr val="F3F4F6"/>
                    </a:solidFill>
                  </a:tcPr>
                </a:tc>
                <a:tc>
                  <a:txBody>
                    <a:bodyPr/>
                    <a:lstStyle/>
                    <a:p>
                      <a:r>
                        <a:rPr sz="1050" b="0">
                          <a:solidFill>
                            <a:srgbClr val="16181D"/>
                          </a:solidFill>
                          <a:latin typeface="Calibri"/>
                        </a:rPr>
                        <a:t>3.0 and 2.0, real &amp; distinct</a:t>
                      </a:r>
                    </a:p>
                  </a:txBody>
                  <a:tcPr>
                    <a:solidFill>
                      <a:srgbClr val="F3F4F6"/>
                    </a:solidFill>
                  </a:tcPr>
                </a:tc>
                <a:tc>
                  <a:txBody>
                    <a:bodyPr/>
                    <a:lstStyle/>
                    <a:p>
                      <a:r>
                        <a:rPr sz="1050" b="0">
                          <a:solidFill>
                            <a:srgbClr val="16181D"/>
                          </a:solidFill>
                          <a:latin typeface="Calibri"/>
                        </a:rPr>
                        <a:t>(5±1)/2 → 3, 2 ✓</a:t>
                      </a:r>
                    </a:p>
                  </a:txBody>
                  <a:tcPr>
                    <a:solidFill>
                      <a:srgbClr val="F3F4F6"/>
                    </a:solidFill>
                  </a:tcPr>
                </a:tc>
                <a:tc>
                  <a:txBody>
                    <a:bodyPr/>
                    <a:lstStyle/>
                    <a:p>
                      <a:r>
                        <a:rPr sz="1050" b="0">
                          <a:solidFill>
                            <a:srgbClr val="16181D"/>
                          </a:solidFill>
                          <a:latin typeface="Calibri"/>
                        </a:rPr>
                        <a:t>✓</a:t>
                      </a:r>
                    </a:p>
                  </a:txBody>
                  <a:tcPr>
                    <a:solidFill>
                      <a:srgbClr val="F3F4F6"/>
                    </a:solidFill>
                  </a:tcPr>
                </a:tc>
              </a:tr>
              <a:tr h="214884">
                <a:tc>
                  <a:txBody>
                    <a:bodyPr/>
                    <a:lstStyle/>
                    <a:p>
                      <a:r>
                        <a:rPr sz="1050" b="0">
                          <a:solidFill>
                            <a:srgbClr val="16181D"/>
                          </a:solidFill>
                          <a:latin typeface="Calibri"/>
                        </a:rPr>
                        <a:t>1, −6, 9</a:t>
                      </a:r>
                    </a:p>
                  </a:txBody>
                  <a:tcPr>
                    <a:solidFill>
                      <a:srgbClr val="FFFFFF"/>
                    </a:solidFill>
                  </a:tcPr>
                </a:tc>
                <a:tc>
                  <a:txBody>
                    <a:bodyPr/>
                    <a:lstStyle/>
                    <a:p>
                      <a:r>
                        <a:rPr sz="1050" b="0">
                          <a:solidFill>
                            <a:srgbClr val="16181D"/>
                          </a:solidFill>
                          <a:latin typeface="Calibri"/>
                        </a:rPr>
                        <a:t>36−36 = 0</a:t>
                      </a:r>
                    </a:p>
                  </a:txBody>
                  <a:tcPr>
                    <a:solidFill>
                      <a:srgbClr val="FFFFFF"/>
                    </a:solidFill>
                  </a:tcPr>
                </a:tc>
                <a:tc>
                  <a:txBody>
                    <a:bodyPr/>
                    <a:lstStyle/>
                    <a:p>
                      <a:r>
                        <a:rPr sz="1050" b="0">
                          <a:solidFill>
                            <a:srgbClr val="16181D"/>
                          </a:solidFill>
                          <a:latin typeface="Calibri"/>
                        </a:rPr>
                        <a:t>3.0 doubled, real &amp; equal</a:t>
                      </a:r>
                    </a:p>
                  </a:txBody>
                  <a:tcPr>
                    <a:solidFill>
                      <a:srgbClr val="FFFFFF"/>
                    </a:solidFill>
                  </a:tcPr>
                </a:tc>
                <a:tc>
                  <a:txBody>
                    <a:bodyPr/>
                    <a:lstStyle/>
                    <a:p>
                      <a:r>
                        <a:rPr sz="1050" b="0">
                          <a:solidFill>
                            <a:srgbClr val="16181D"/>
                          </a:solidFill>
                          <a:latin typeface="Calibri"/>
                        </a:rPr>
                        <a:t>(x−3)² ✓</a:t>
                      </a:r>
                    </a:p>
                  </a:txBody>
                  <a:tcPr>
                    <a:solidFill>
                      <a:srgbClr val="FFFFFF"/>
                    </a:solidFill>
                  </a:tcPr>
                </a:tc>
                <a:tc>
                  <a:txBody>
                    <a:bodyPr/>
                    <a:lstStyle/>
                    <a:p>
                      <a:r>
                        <a:rPr sz="1050" b="0">
                          <a:solidFill>
                            <a:srgbClr val="16181D"/>
                          </a:solidFill>
                          <a:latin typeface="Calibri"/>
                        </a:rPr>
                        <a:t>✓</a:t>
                      </a:r>
                    </a:p>
                  </a:txBody>
                  <a:tcPr>
                    <a:solidFill>
                      <a:srgbClr val="FFFFFF"/>
                    </a:solidFill>
                  </a:tcPr>
                </a:tc>
              </a:tr>
              <a:tr h="214884">
                <a:tc>
                  <a:txBody>
                    <a:bodyPr/>
                    <a:lstStyle/>
                    <a:p>
                      <a:r>
                        <a:rPr sz="1050" b="0">
                          <a:solidFill>
                            <a:srgbClr val="16181D"/>
                          </a:solidFill>
                          <a:latin typeface="Calibri"/>
                        </a:rPr>
                        <a:t>1, 2, 5</a:t>
                      </a:r>
                    </a:p>
                  </a:txBody>
                  <a:tcPr>
                    <a:solidFill>
                      <a:srgbClr val="F3F4F6"/>
                    </a:solidFill>
                  </a:tcPr>
                </a:tc>
                <a:tc>
                  <a:txBody>
                    <a:bodyPr/>
                    <a:lstStyle/>
                    <a:p>
                      <a:r>
                        <a:rPr sz="1050" b="0">
                          <a:solidFill>
                            <a:srgbClr val="16181D"/>
                          </a:solidFill>
                          <a:latin typeface="Calibri"/>
                        </a:rPr>
                        <a:t>4−20 = −16</a:t>
                      </a:r>
                    </a:p>
                  </a:txBody>
                  <a:tcPr>
                    <a:solidFill>
                      <a:srgbClr val="F3F4F6"/>
                    </a:solidFill>
                  </a:tcPr>
                </a:tc>
                <a:tc>
                  <a:txBody>
                    <a:bodyPr/>
                    <a:lstStyle/>
                    <a:p>
                      <a:r>
                        <a:rPr sz="1050" b="0">
                          <a:solidFill>
                            <a:srgbClr val="16181D"/>
                          </a:solidFill>
                          <a:latin typeface="Calibri"/>
                        </a:rPr>
                        <a:t>−1 ± 2i</a:t>
                      </a:r>
                    </a:p>
                  </a:txBody>
                  <a:tcPr>
                    <a:solidFill>
                      <a:srgbClr val="F3F4F6"/>
                    </a:solidFill>
                  </a:tcPr>
                </a:tc>
                <a:tc>
                  <a:txBody>
                    <a:bodyPr/>
                    <a:lstStyle/>
                    <a:p>
                      <a:r>
                        <a:rPr sz="1050" b="0">
                          <a:solidFill>
                            <a:srgbClr val="16181D"/>
                          </a:solidFill>
                          <a:latin typeface="Calibri"/>
                        </a:rPr>
                        <a:t>(−1+2i)² + 2(−1+2i) + 5 = 0 ✓</a:t>
                      </a:r>
                    </a:p>
                  </a:txBody>
                  <a:tcPr>
                    <a:solidFill>
                      <a:srgbClr val="F3F4F6"/>
                    </a:solidFill>
                  </a:tcPr>
                </a:tc>
                <a:tc>
                  <a:txBody>
                    <a:bodyPr/>
                    <a:lstStyle/>
                    <a:p>
                      <a:r>
                        <a:rPr sz="1050" b="0">
                          <a:solidFill>
                            <a:srgbClr val="16181D"/>
                          </a:solidFill>
                          <a:latin typeface="Calibri"/>
                        </a:rPr>
                        <a:t>✓</a:t>
                      </a:r>
                    </a:p>
                  </a:txBody>
                  <a:tcPr>
                    <a:solidFill>
                      <a:srgbClr val="F3F4F6"/>
                    </a:solidFill>
                  </a:tcPr>
                </a:tc>
              </a:tr>
            </a:tbl>
          </a:graphicData>
        </a:graphic>
      </p:graphicFrame>
      <p:sp>
        <p:nvSpPr>
          <p:cNvPr id="11" name="TextBox 10"/>
          <p:cNvSpPr txBox="1"/>
          <p:nvPr/>
        </p:nvSpPr>
        <p:spPr>
          <a:xfrm>
            <a:off x="502920" y="4809744"/>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was developed that classifies and solves a quadratic equation from its three coefficients. …</a:t>
            </a:r>
          </a:p>
        </p:txBody>
      </p:sp>
      <p:sp>
        <p:nvSpPr>
          <p:cNvPr id="12" name="TextBox 11"/>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3" name="TextBox 12"/>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is disc == 0.0f risky in general and yet fine for the test data used here?</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does C compute for 1.0f/0.0f, and why does the program therefore check a first?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If D &lt; 0, why is the imaginary part √(−D)/(2a) and not √D/(2a)?</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One of the roots of x² − 5x + 6 prints as 3.0000, the other 2.0000. Which sign of the ± gives which?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5</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5 — Approximating sin(x) with a Series — Loops, Factorials and the Performance Story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16</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approximates sin(x) for a user-supplied angle using the Taylor series expansion x − x³/3! + x⁵/5! − x⁷/7! + …, iterating until successive terms fall below a stated tolerance, and to compare the approximation with the standard library value.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Use a while loop with a numeric convergence test; derive and apply the term-to-term recurrence that replaces factorial evaluation; work in radians and manage the degree–r</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Maclaurin series for the sine is the engine of the program — it converges for every real x:</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naïve term-by-term transcription computes a power and a factorial per term: xⁿ grows to enormous intermediates, n! overflows int past 12!, and both costs are paid again every loop. The record’s “improved performance” phrase asks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because dividing x²ᵏ⁺¹/(2k+1)! by x²ᵏ⁻¹/(2k−1)! cancels all but one copy of x² and the two new factorial factors. The program therefore keeps one running value and multiplies it by a small rational each round: no pow(), no factorial …</a:t>
            </a:r>
          </a:p>
        </p:txBody>
      </p:sp>
      <p:pic>
        <p:nvPicPr>
          <p:cNvPr id="14" name="Picture 13" descr="a05.png"/>
          <p:cNvPicPr>
            <a:picLocks noChangeAspect="1"/>
          </p:cNvPicPr>
          <p:nvPr/>
        </p:nvPicPr>
        <p:blipFill>
          <a:blip r:embed="rId2"/>
          <a:stretch>
            <a:fillRect/>
          </a:stretch>
        </p:blipFill>
        <p:spPr>
          <a:xfrm>
            <a:off x="8328677" y="1554480"/>
            <a:ext cx="2270725"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§5.2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the angle in degrees; convert x = deg · π/180.</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Initialise term = x, sum = x, count = 1, n = 2.</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While n ≤ 100 and |term| ≥ 10⁻⁶:</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a. term ← term · (−x·x) / ((2n−2)(2n−1)); sum ← sum + term; count++; n++.</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Print sum with six decimals, the term count, the library sin(x), and |sum − sin|.</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STOP.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5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5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17</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a05_sin_series.c  ·  complete source as compiled · 39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75" b="0" i="0">
                <a:solidFill>
                  <a:srgbClr val="E5E7EB"/>
                </a:solidFill>
                <a:latin typeface="Consolas"/>
              </a:rPr>
              <a:t>/* Experiment A5 -- approximation of sin(x) by series expansion</a:t>
            </a:r>
          </a:p>
          <a:p>
            <a:pPr>
              <a:lnSpc>
                <a:spcPct val="100000"/>
              </a:lnSpc>
              <a:spcBef>
                <a:spcPts val="0"/>
              </a:spcBef>
              <a:spcAft>
                <a:spcPts val="60"/>
              </a:spcAft>
            </a:pPr>
            <a:r>
              <a:rPr sz="675" b="0" i="0">
                <a:solidFill>
                  <a:srgbClr val="E5E7EB"/>
                </a:solidFill>
                <a:latin typeface="Consolas"/>
              </a:rPr>
              <a:t>   File    : a05_sin_series.c</a:t>
            </a:r>
          </a:p>
          <a:p>
            <a:pPr>
              <a:lnSpc>
                <a:spcPct val="100000"/>
              </a:lnSpc>
              <a:spcBef>
                <a:spcPts val="0"/>
              </a:spcBef>
              <a:spcAft>
                <a:spcPts val="60"/>
              </a:spcAft>
            </a:pPr>
            <a:r>
              <a:rPr sz="675" b="0" i="0">
                <a:solidFill>
                  <a:srgbClr val="E5E7EB"/>
                </a:solidFill>
                <a:latin typeface="Consolas"/>
              </a:rPr>
              <a:t>   Build   : gcc -Wall a05_sin_series.c -o a05_sin_series -lm</a:t>
            </a:r>
          </a:p>
          <a:p>
            <a:pPr>
              <a:lnSpc>
                <a:spcPct val="100000"/>
              </a:lnSpc>
              <a:spcBef>
                <a:spcPts val="0"/>
              </a:spcBef>
              <a:spcAft>
                <a:spcPts val="60"/>
              </a:spcAft>
            </a:pPr>
            <a:r>
              <a:rPr sz="675" b="0" i="0">
                <a:solidFill>
                  <a:srgbClr val="E5E7EB"/>
                </a:solidFill>
                <a:latin typeface="Consolas"/>
              </a:rPr>
              <a:t>   Series  : sin x = x - x^3/3! + x^5/5! - x^7/7! + ...   (x in radians)  */</a:t>
            </a:r>
          </a:p>
          <a:p>
            <a:pPr>
              <a:lnSpc>
                <a:spcPct val="100000"/>
              </a:lnSpc>
              <a:spcBef>
                <a:spcPts val="0"/>
              </a:spcBef>
              <a:spcAft>
                <a:spcPts val="60"/>
              </a:spcAft>
            </a:pPr>
            <a:r>
              <a:rPr sz="675" b="0" i="0">
                <a:solidFill>
                  <a:srgbClr val="E5E7EB"/>
                </a:solidFill>
                <a:latin typeface="Consolas"/>
              </a:rPr>
              <a:t>#include &lt;stdio.h&gt;</a:t>
            </a:r>
          </a:p>
          <a:p>
            <a:pPr>
              <a:lnSpc>
                <a:spcPct val="100000"/>
              </a:lnSpc>
              <a:spcBef>
                <a:spcPts val="0"/>
              </a:spcBef>
              <a:spcAft>
                <a:spcPts val="60"/>
              </a:spcAft>
            </a:pPr>
            <a:r>
              <a:rPr sz="675" b="0" i="0">
                <a:solidFill>
                  <a:srgbClr val="E5E7EB"/>
                </a:solidFill>
                <a:latin typeface="Consolas"/>
              </a:rPr>
              <a:t>#include &lt;math.h&gt;</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#define PI 3.14159265358979f</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int main(void)</a:t>
            </a:r>
          </a:p>
          <a:p>
            <a:pPr>
              <a:lnSpc>
                <a:spcPct val="100000"/>
              </a:lnSpc>
              <a:spcBef>
                <a:spcPts val="0"/>
              </a:spcBef>
              <a:spcAft>
                <a:spcPts val="60"/>
              </a:spcAft>
            </a:pPr>
            <a:r>
              <a:rPr sz="675" b="0" i="0">
                <a:solidFill>
                  <a:srgbClr val="E5E7EB"/>
                </a:solidFill>
                <a:latin typeface="Consolas"/>
              </a:rPr>
              <a:t>{</a:t>
            </a:r>
          </a:p>
          <a:p>
            <a:pPr>
              <a:lnSpc>
                <a:spcPct val="100000"/>
              </a:lnSpc>
              <a:spcBef>
                <a:spcPts val="0"/>
              </a:spcBef>
              <a:spcAft>
                <a:spcPts val="60"/>
              </a:spcAft>
            </a:pPr>
            <a:r>
              <a:rPr sz="675" b="0" i="0">
                <a:solidFill>
                  <a:srgbClr val="E5E7EB"/>
                </a:solidFill>
                <a:latin typeface="Consolas"/>
              </a:rPr>
              <a:t>    float deg, x, term, sum;</a:t>
            </a:r>
          </a:p>
          <a:p>
            <a:pPr>
              <a:lnSpc>
                <a:spcPct val="100000"/>
              </a:lnSpc>
              <a:spcBef>
                <a:spcPts val="0"/>
              </a:spcBef>
              <a:spcAft>
                <a:spcPts val="60"/>
              </a:spcAft>
            </a:pPr>
            <a:r>
              <a:rPr sz="675" b="0" i="0">
                <a:solidFill>
                  <a:srgbClr val="E5E7EB"/>
                </a:solidFill>
                <a:latin typeface="Consolas"/>
              </a:rPr>
              <a:t>    int   n, count;</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printf("Enter the angle in degrees: ");</a:t>
            </a:r>
          </a:p>
          <a:p>
            <a:pPr>
              <a:lnSpc>
                <a:spcPct val="100000"/>
              </a:lnSpc>
              <a:spcBef>
                <a:spcPts val="0"/>
              </a:spcBef>
              <a:spcAft>
                <a:spcPts val="60"/>
              </a:spcAft>
            </a:pPr>
            <a:r>
              <a:rPr sz="675" b="0" i="0">
                <a:solidFill>
                  <a:srgbClr val="E5E7EB"/>
                </a:solidFill>
                <a:latin typeface="Consolas"/>
              </a:rPr>
              <a:t>    scanf("%f", &amp;deg);</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x = deg * PI / 180.0f;              /* radians: the series needs them */</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term  = x;                          /* first term: x                  */</a:t>
            </a:r>
          </a:p>
          <a:p>
            <a:pPr>
              <a:lnSpc>
                <a:spcPct val="100000"/>
              </a:lnSpc>
              <a:spcBef>
                <a:spcPts val="0"/>
              </a:spcBef>
              <a:spcAft>
                <a:spcPts val="60"/>
              </a:spcAft>
            </a:pPr>
            <a:r>
              <a:rPr sz="675" b="0" i="0">
                <a:solidFill>
                  <a:srgbClr val="E5E7EB"/>
                </a:solidFill>
                <a:latin typeface="Consolas"/>
              </a:rPr>
              <a:t>    sum   = x;</a:t>
            </a:r>
          </a:p>
          <a:p>
            <a:pPr>
              <a:lnSpc>
                <a:spcPct val="100000"/>
              </a:lnSpc>
              <a:spcBef>
                <a:spcPts val="0"/>
              </a:spcBef>
              <a:spcAft>
                <a:spcPts val="60"/>
              </a:spcAft>
            </a:pPr>
            <a:r>
              <a:rPr sz="675" b="0" i="0">
                <a:solidFill>
                  <a:srgbClr val="E5E7EB"/>
                </a:solidFill>
                <a:latin typeface="Consolas"/>
              </a:rPr>
              <a:t>    count = 1;</a:t>
            </a:r>
          </a:p>
          <a:p>
            <a:pPr>
              <a:lnSpc>
                <a:spcPct val="100000"/>
              </a:lnSpc>
              <a:spcBef>
                <a:spcPts val="0"/>
              </a:spcBef>
              <a:spcAft>
                <a:spcPts val="60"/>
              </a:spcAft>
            </a:pPr>
            <a:r>
              <a:rPr sz="675" b="0" i="0">
                <a:solidFill>
                  <a:srgbClr val="E5E7EB"/>
                </a:solidFill>
                <a:latin typeface="Consolas"/>
              </a:rPr>
              <a:t>    n     = 2;</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 keep adding terms while they are still big enough to matter.</a:t>
            </a:r>
          </a:p>
          <a:p>
            <a:pPr>
              <a:lnSpc>
                <a:spcPct val="100000"/>
              </a:lnSpc>
              <a:spcBef>
                <a:spcPts val="0"/>
              </a:spcBef>
              <a:spcAft>
                <a:spcPts val="60"/>
              </a:spcAft>
            </a:pPr>
            <a:r>
              <a:rPr sz="675" b="0" i="0">
                <a:solidFill>
                  <a:srgbClr val="E5E7EB"/>
                </a:solidFill>
                <a:latin typeface="Consolas"/>
              </a:rPr>
              <a:t>       No factorial is ever computed: each term reuses the previous one. */</a:t>
            </a:r>
          </a:p>
          <a:p>
            <a:pPr>
              <a:lnSpc>
                <a:spcPct val="100000"/>
              </a:lnSpc>
              <a:spcBef>
                <a:spcPts val="0"/>
              </a:spcBef>
              <a:spcAft>
                <a:spcPts val="60"/>
              </a:spcAft>
            </a:pPr>
            <a:r>
              <a:rPr sz="675" b="0" i="0">
                <a:solidFill>
                  <a:srgbClr val="E5E7EB"/>
                </a:solidFill>
                <a:latin typeface="Consolas"/>
              </a:rPr>
              <a:t>    while (n &lt;= 100 &amp;&amp; fabs(term) &gt;= 1e-6f) {</a:t>
            </a:r>
          </a:p>
          <a:p>
            <a:pPr>
              <a:lnSpc>
                <a:spcPct val="100000"/>
              </a:lnSpc>
              <a:spcBef>
                <a:spcPts val="0"/>
              </a:spcBef>
              <a:spcAft>
                <a:spcPts val="60"/>
              </a:spcAft>
            </a:pPr>
            <a:r>
              <a:rPr sz="675" b="0" i="0">
                <a:solidFill>
                  <a:srgbClr val="E5E7EB"/>
                </a:solidFill>
                <a:latin typeface="Consolas"/>
              </a:rPr>
              <a:t>        term *= (-x * x) / ((2.0f * n - 2.0f) * (2.0f * n - 1.0f));</a:t>
            </a:r>
          </a:p>
          <a:p>
            <a:pPr>
              <a:lnSpc>
                <a:spcPct val="100000"/>
              </a:lnSpc>
              <a:spcBef>
                <a:spcPts val="0"/>
              </a:spcBef>
              <a:spcAft>
                <a:spcPts val="60"/>
              </a:spcAft>
            </a:pPr>
            <a:r>
              <a:rPr sz="675" b="0" i="0">
                <a:solidFill>
                  <a:srgbClr val="E5E7EB"/>
                </a:solidFill>
                <a:latin typeface="Consolas"/>
              </a:rPr>
              <a:t>        sum  += term;</a:t>
            </a:r>
          </a:p>
          <a:p>
            <a:pPr>
              <a:lnSpc>
                <a:spcPct val="100000"/>
              </a:lnSpc>
              <a:spcBef>
                <a:spcPts val="0"/>
              </a:spcBef>
              <a:spcAft>
                <a:spcPts val="60"/>
              </a:spcAft>
            </a:pPr>
            <a:r>
              <a:rPr sz="675" b="0" i="0">
                <a:solidFill>
                  <a:srgbClr val="E5E7EB"/>
                </a:solidFill>
                <a:latin typeface="Consolas"/>
              </a:rPr>
              <a:t>        count++;</a:t>
            </a:r>
          </a:p>
          <a:p>
            <a:pPr>
              <a:lnSpc>
                <a:spcPct val="100000"/>
              </a:lnSpc>
              <a:spcBef>
                <a:spcPts val="0"/>
              </a:spcBef>
              <a:spcAft>
                <a:spcPts val="60"/>
              </a:spcAft>
            </a:pPr>
            <a:r>
              <a:rPr sz="675" b="0" i="0">
                <a:solidFill>
                  <a:srgbClr val="E5E7EB"/>
                </a:solidFill>
                <a:latin typeface="Consolas"/>
              </a:rPr>
              <a:t>        n++;</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printf("Approximated sin(%.2f) = %.6f  (%d terms)\n", deg, sum, count);</a:t>
            </a:r>
          </a:p>
          <a:p>
            <a:pPr>
              <a:lnSpc>
                <a:spcPct val="100000"/>
              </a:lnSpc>
              <a:spcBef>
                <a:spcPts val="0"/>
              </a:spcBef>
              <a:spcAft>
                <a:spcPts val="60"/>
              </a:spcAft>
            </a:pPr>
            <a:r>
              <a:rPr sz="675" b="0" i="0">
                <a:solidFill>
                  <a:srgbClr val="E5E7EB"/>
                </a:solidFill>
                <a:latin typeface="Consolas"/>
              </a:rPr>
              <a:t>    printf("Library      sin(%.2f) = %.6f\n", deg, sin((double)x));</a:t>
            </a:r>
          </a:p>
          <a:p>
            <a:pPr>
              <a:lnSpc>
                <a:spcPct val="100000"/>
              </a:lnSpc>
              <a:spcBef>
                <a:spcPts val="0"/>
              </a:spcBef>
              <a:spcAft>
                <a:spcPts val="60"/>
              </a:spcAft>
            </a:pPr>
            <a:r>
              <a:rPr sz="675" b="0" i="0">
                <a:solidFill>
                  <a:srgbClr val="E5E7EB"/>
                </a:solidFill>
                <a:latin typeface="Consolas"/>
              </a:rPr>
              <a:t>    printf("Absolute error = %.8f\n", fabs(sum - sin((double)x)));</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return 0;</a:t>
            </a:r>
          </a:p>
          <a:p>
            <a:pPr>
              <a:lnSpc>
                <a:spcPct val="100000"/>
              </a:lnSpc>
              <a:spcBef>
                <a:spcPts val="0"/>
              </a:spcBef>
              <a:spcAft>
                <a:spcPts val="60"/>
              </a:spcAft>
            </a:pPr>
            <a:r>
              <a:rPr sz="675"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30°, a value the reader knows by heart: sin 30° = 0.5</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200" b="0" i="0">
                <a:solidFill>
                  <a:srgbClr val="14171C"/>
                </a:solidFill>
                <a:latin typeface="Consolas"/>
              </a:rPr>
              <a:t>Enter the angle in degrees: 30</a:t>
            </a:r>
          </a:p>
          <a:p>
            <a:pPr>
              <a:lnSpc>
                <a:spcPct val="100000"/>
              </a:lnSpc>
              <a:spcBef>
                <a:spcPts val="0"/>
              </a:spcBef>
              <a:spcAft>
                <a:spcPts val="60"/>
              </a:spcAft>
            </a:pPr>
            <a:r>
              <a:rPr sz="1200" b="0" i="0">
                <a:solidFill>
                  <a:srgbClr val="14171C"/>
                </a:solidFill>
                <a:latin typeface="Consolas"/>
              </a:rPr>
              <a:t>Approximated sin(30.00) = 0.500000  (5 terms)</a:t>
            </a:r>
          </a:p>
          <a:p>
            <a:pPr>
              <a:lnSpc>
                <a:spcPct val="100000"/>
              </a:lnSpc>
              <a:spcBef>
                <a:spcPts val="0"/>
              </a:spcBef>
              <a:spcAft>
                <a:spcPts val="60"/>
              </a:spcAft>
            </a:pPr>
            <a:r>
              <a:rPr sz="1200" b="0" i="0">
                <a:solidFill>
                  <a:srgbClr val="14171C"/>
                </a:solidFill>
                <a:latin typeface="Consolas"/>
              </a:rPr>
              <a:t>Library      sin(30.00) = 0.500000</a:t>
            </a:r>
          </a:p>
          <a:p>
            <a:pPr>
              <a:lnSpc>
                <a:spcPct val="100000"/>
              </a:lnSpc>
              <a:spcBef>
                <a:spcPts val="0"/>
              </a:spcBef>
              <a:spcAft>
                <a:spcPts val="60"/>
              </a:spcAft>
            </a:pPr>
            <a:r>
              <a:rPr sz="1200" b="0" i="0">
                <a:solidFill>
                  <a:srgbClr val="14171C"/>
                </a:solidFill>
                <a:latin typeface="Consolas"/>
              </a:rPr>
              <a:t>Absolute error = 0.00000001</a:t>
            </a:r>
          </a:p>
        </p:txBody>
      </p:sp>
      <p:sp>
        <p:nvSpPr>
          <p:cNvPr id="15" name="Rectangle 14"/>
          <p:cNvSpPr/>
          <p:nvPr/>
        </p:nvSpPr>
        <p:spPr>
          <a:xfrm>
            <a:off x="6537960"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90°, the peak of the curve, where the alternating series must turn around</a:t>
            </a:r>
          </a:p>
        </p:txBody>
      </p:sp>
      <p:sp>
        <p:nvSpPr>
          <p:cNvPr id="17" name="TextBox 16"/>
          <p:cNvSpPr txBox="1"/>
          <p:nvPr/>
        </p:nvSpPr>
        <p:spPr>
          <a:xfrm>
            <a:off x="6684264"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the angle in degrees: 90</a:t>
            </a:r>
          </a:p>
          <a:p>
            <a:pPr>
              <a:lnSpc>
                <a:spcPct val="100000"/>
              </a:lnSpc>
              <a:spcBef>
                <a:spcPts val="0"/>
              </a:spcBef>
              <a:spcAft>
                <a:spcPts val="60"/>
              </a:spcAft>
            </a:pPr>
            <a:r>
              <a:rPr sz="720" b="0" i="0">
                <a:solidFill>
                  <a:srgbClr val="14171C"/>
                </a:solidFill>
                <a:latin typeface="Consolas"/>
              </a:rPr>
              <a:t>Approximated sin(90.00) = 1.000000  (7 terms)</a:t>
            </a:r>
          </a:p>
          <a:p>
            <a:pPr>
              <a:lnSpc>
                <a:spcPct val="100000"/>
              </a:lnSpc>
              <a:spcBef>
                <a:spcPts val="0"/>
              </a:spcBef>
              <a:spcAft>
                <a:spcPts val="60"/>
              </a:spcAft>
            </a:pPr>
            <a:r>
              <a:rPr sz="720" b="0" i="0">
                <a:solidFill>
                  <a:srgbClr val="14171C"/>
                </a:solidFill>
                <a:latin typeface="Consolas"/>
              </a:rPr>
              <a:t>Library      sin(90.00) = 1.000000</a:t>
            </a:r>
          </a:p>
          <a:p>
            <a:pPr>
              <a:lnSpc>
                <a:spcPct val="100000"/>
              </a:lnSpc>
              <a:spcBef>
                <a:spcPts val="0"/>
              </a:spcBef>
              <a:spcAft>
                <a:spcPts val="60"/>
              </a:spcAft>
            </a:pPr>
            <a:r>
              <a:rPr sz="720" b="0" i="0">
                <a:solidFill>
                  <a:srgbClr val="14171C"/>
                </a:solidFill>
                <a:latin typeface="Consolas"/>
              </a:rPr>
              <a:t>Absolute error = 0.00000006</a:t>
            </a:r>
          </a:p>
        </p:txBody>
      </p:sp>
      <p:sp>
        <p:nvSpPr>
          <p:cNvPr id="18" name="Rectangle 17"/>
          <p:cNvSpPr/>
          <p:nvPr/>
        </p:nvSpPr>
        <p:spPr>
          <a:xfrm>
            <a:off x="9180576" y="3968496"/>
            <a:ext cx="2569463"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4059935"/>
            <a:ext cx="2295144"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3 — 45°, an irrational-looking target to stress the tolerance</a:t>
            </a:r>
          </a:p>
        </p:txBody>
      </p:sp>
      <p:sp>
        <p:nvSpPr>
          <p:cNvPr id="20" name="TextBox 19"/>
          <p:cNvSpPr txBox="1"/>
          <p:nvPr/>
        </p:nvSpPr>
        <p:spPr>
          <a:xfrm>
            <a:off x="9326880" y="4334255"/>
            <a:ext cx="2295144" cy="1901952"/>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the angle in degrees: 45</a:t>
            </a:r>
          </a:p>
          <a:p>
            <a:pPr>
              <a:lnSpc>
                <a:spcPct val="100000"/>
              </a:lnSpc>
              <a:spcBef>
                <a:spcPts val="0"/>
              </a:spcBef>
              <a:spcAft>
                <a:spcPts val="60"/>
              </a:spcAft>
            </a:pPr>
            <a:r>
              <a:rPr sz="720" b="0" i="0">
                <a:solidFill>
                  <a:srgbClr val="14171C"/>
                </a:solidFill>
                <a:latin typeface="Consolas"/>
              </a:rPr>
              <a:t>Approximated sin(45.00) = 0.707107  (5 terms)</a:t>
            </a:r>
          </a:p>
          <a:p>
            <a:pPr>
              <a:lnSpc>
                <a:spcPct val="100000"/>
              </a:lnSpc>
              <a:spcBef>
                <a:spcPts val="0"/>
              </a:spcBef>
              <a:spcAft>
                <a:spcPts val="60"/>
              </a:spcAft>
            </a:pPr>
            <a:r>
              <a:rPr sz="720" b="0" i="0">
                <a:solidFill>
                  <a:srgbClr val="14171C"/>
                </a:solidFill>
                <a:latin typeface="Consolas"/>
              </a:rPr>
              <a:t>Library      sin(45.00) = 0.707107</a:t>
            </a:r>
          </a:p>
          <a:p>
            <a:pPr>
              <a:lnSpc>
                <a:spcPct val="100000"/>
              </a:lnSpc>
              <a:spcBef>
                <a:spcPts val="0"/>
              </a:spcBef>
              <a:spcAft>
                <a:spcPts val="60"/>
              </a:spcAft>
            </a:pPr>
            <a:r>
              <a:rPr sz="720" b="0" i="0">
                <a:solidFill>
                  <a:srgbClr val="14171C"/>
                </a:solidFill>
                <a:latin typeface="Consolas"/>
              </a:rPr>
              <a:t>Absolute error = 0.00000003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5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5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18</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All three runs agree with the library to the printed six decimals; the absolute error line puts numbers on it (10⁻⁸ at 30°, 10⁻⁸ at 45°, and — most informatively — 6×10⁻⁸ at 90°, the worst of the three because the terms there peak before decaying). The term counts 5, 7 and 5 tell the real story of a Taylor series: convergence is fast near zero and slows as |x| grows — the reason good implementations first fold the angle into [−π/2, π/2] using the periodicity of sine. Performance note for the record.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approximating sin(x) by its Maclaurin series was developed with a recurrence-based term update (no factorial or power recomputation) and a tolerance-driven while loop.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must x be in radians for the series to be the sine — what breaks if degrees are fed in?</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Derive the update formula term = term·(−x²)/((2n−2)(2n−1)) in one breath.</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Why does the loop test |term| rather than “is the sum accurate enough”?</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What would the tolerance 1e-6f buy if the output were printed with ten decimals?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6</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6 — Keyword Search in a Course Description — the String Functions at Work</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19</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accepts a course description string and a keyword, searches whether the keyword occurs within the description using appropriate string functions, and displays the prescribed “Keyword ‘…’ found/not found in the course description.” message.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Read lines of text safely with fgets; understand the trailing newline it stores and strip it; use strstr() as a pointer-valued search (found ⇒ non-NULL) and derive the ma</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 C string is a char array terminated by the null byte '\0'. That one convention decides every behaviour the experiment exercises:</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position line is a small pointer-algebra trick worth recording: pos − desc is the index of the match because subtracting two pointers into the same array yields the element distance between them.</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standard function performs a literal, byte-wise substring match — case sensitive (“C” ≠ “c”), matching fragments of words (the keyword “our” is found inside “course”), and reporting only the first occurrence. Word-boundary or …</a:t>
            </a:r>
          </a:p>
        </p:txBody>
      </p:sp>
      <p:pic>
        <p:nvPicPr>
          <p:cNvPr id="14" name="Picture 13" descr="a06.png"/>
          <p:cNvPicPr>
            <a:picLocks noChangeAspect="1"/>
          </p:cNvPicPr>
          <p:nvPr/>
        </p:nvPicPr>
        <p:blipFill>
          <a:blip r:embed="rId2"/>
          <a:stretch>
            <a:fillRect/>
          </a:stretch>
        </p:blipFill>
        <p:spPr>
          <a:xfrm>
            <a:off x="7727366" y="1554480"/>
            <a:ext cx="3473346"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§6.2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the course description with fgets; strip its trailing newline with the strcspn idiom.</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Read the keyword the same way.</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If the keyword is empty: print an error and STOP.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pos = strstr(description, keyword).</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If pos ≠ NULL: print “Keyword "kw" found …” and the index pos − desc; otherwise print the not-found sentence.</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STOP.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6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6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20</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a06_keyword_search.c  ·  complete source as compiled · 37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712" b="0" i="0">
                <a:solidFill>
                  <a:srgbClr val="E5E7EB"/>
                </a:solidFill>
                <a:latin typeface="Consolas"/>
              </a:rPr>
              <a:t>/* Experiment A6 -- keyword search in a course description with string functions</a:t>
            </a:r>
          </a:p>
          <a:p>
            <a:pPr>
              <a:lnSpc>
                <a:spcPct val="100000"/>
              </a:lnSpc>
              <a:spcBef>
                <a:spcPts val="0"/>
              </a:spcBef>
              <a:spcAft>
                <a:spcPts val="60"/>
              </a:spcAft>
            </a:pPr>
            <a:r>
              <a:rPr sz="712" b="0" i="0">
                <a:solidFill>
                  <a:srgbClr val="E5E7EB"/>
                </a:solidFill>
                <a:latin typeface="Consolas"/>
              </a:rPr>
              <a:t>   File    : a06_keyword_search.c</a:t>
            </a:r>
          </a:p>
          <a:p>
            <a:pPr>
              <a:lnSpc>
                <a:spcPct val="100000"/>
              </a:lnSpc>
              <a:spcBef>
                <a:spcPts val="0"/>
              </a:spcBef>
              <a:spcAft>
                <a:spcPts val="60"/>
              </a:spcAft>
            </a:pPr>
            <a:r>
              <a:rPr sz="712" b="0" i="0">
                <a:solidFill>
                  <a:srgbClr val="E5E7EB"/>
                </a:solidFill>
                <a:latin typeface="Consolas"/>
              </a:rPr>
              <a:t>   Build   : gcc -Wall a06_keyword_search.c -o a06_keyword_search */</a:t>
            </a:r>
          </a:p>
          <a:p>
            <a:pPr>
              <a:lnSpc>
                <a:spcPct val="100000"/>
              </a:lnSpc>
              <a:spcBef>
                <a:spcPts val="0"/>
              </a:spcBef>
              <a:spcAft>
                <a:spcPts val="60"/>
              </a:spcAft>
            </a:pPr>
            <a:r>
              <a:rPr sz="712" b="0" i="0">
                <a:solidFill>
                  <a:srgbClr val="E5E7EB"/>
                </a:solidFill>
                <a:latin typeface="Consolas"/>
              </a:rPr>
              <a:t>#include &lt;stdio.h&gt;</a:t>
            </a:r>
          </a:p>
          <a:p>
            <a:pPr>
              <a:lnSpc>
                <a:spcPct val="100000"/>
              </a:lnSpc>
              <a:spcBef>
                <a:spcPts val="0"/>
              </a:spcBef>
              <a:spcAft>
                <a:spcPts val="60"/>
              </a:spcAft>
            </a:pPr>
            <a:r>
              <a:rPr sz="712" b="0" i="0">
                <a:solidFill>
                  <a:srgbClr val="E5E7EB"/>
                </a:solidFill>
                <a:latin typeface="Consolas"/>
              </a:rPr>
              <a:t>#include &lt;string.h&gt;</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int main(void)</a:t>
            </a:r>
          </a:p>
          <a:p>
            <a:pPr>
              <a:lnSpc>
                <a:spcPct val="100000"/>
              </a:lnSpc>
              <a:spcBef>
                <a:spcPts val="0"/>
              </a:spcBef>
              <a:spcAft>
                <a:spcPts val="60"/>
              </a:spcAft>
            </a:pPr>
            <a:r>
              <a:rPr sz="712" b="0" i="0">
                <a:solidFill>
                  <a:srgbClr val="E5E7EB"/>
                </a:solidFill>
                <a:latin typeface="Consolas"/>
              </a:rPr>
              <a:t>{</a:t>
            </a:r>
          </a:p>
          <a:p>
            <a:pPr>
              <a:lnSpc>
                <a:spcPct val="100000"/>
              </a:lnSpc>
              <a:spcBef>
                <a:spcPts val="0"/>
              </a:spcBef>
              <a:spcAft>
                <a:spcPts val="60"/>
              </a:spcAft>
            </a:pPr>
            <a:r>
              <a:rPr sz="712" b="0" i="0">
                <a:solidFill>
                  <a:srgbClr val="E5E7EB"/>
                </a:solidFill>
                <a:latin typeface="Consolas"/>
              </a:rPr>
              <a:t>    char desc[256], keyword[64];</a:t>
            </a:r>
          </a:p>
          <a:p>
            <a:pPr>
              <a:lnSpc>
                <a:spcPct val="100000"/>
              </a:lnSpc>
              <a:spcBef>
                <a:spcPts val="0"/>
              </a:spcBef>
              <a:spcAft>
                <a:spcPts val="60"/>
              </a:spcAft>
            </a:pPr>
            <a:r>
              <a:rPr sz="712" b="0" i="0">
                <a:solidFill>
                  <a:srgbClr val="E5E7EB"/>
                </a:solidFill>
                <a:latin typeface="Consolas"/>
              </a:rPr>
              <a:t>    char *pos;</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printf("Enter the course description: ");</a:t>
            </a:r>
          </a:p>
          <a:p>
            <a:pPr>
              <a:lnSpc>
                <a:spcPct val="100000"/>
              </a:lnSpc>
              <a:spcBef>
                <a:spcPts val="0"/>
              </a:spcBef>
              <a:spcAft>
                <a:spcPts val="60"/>
              </a:spcAft>
            </a:pPr>
            <a:r>
              <a:rPr sz="712" b="0" i="0">
                <a:solidFill>
                  <a:srgbClr val="E5E7EB"/>
                </a:solidFill>
                <a:latin typeface="Consolas"/>
              </a:rPr>
              <a:t>    fgets(desc, sizeof(desc), stdin);</a:t>
            </a:r>
          </a:p>
          <a:p>
            <a:pPr>
              <a:lnSpc>
                <a:spcPct val="100000"/>
              </a:lnSpc>
              <a:spcBef>
                <a:spcPts val="0"/>
              </a:spcBef>
              <a:spcAft>
                <a:spcPts val="60"/>
              </a:spcAft>
            </a:pPr>
            <a:r>
              <a:rPr sz="712" b="0" i="0">
                <a:solidFill>
                  <a:srgbClr val="E5E7EB"/>
                </a:solidFill>
                <a:latin typeface="Consolas"/>
              </a:rPr>
              <a:t>    desc[strcspn(desc, "\n")] = '\0';      /* strip trailing newline       */</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printf("Enter the keyword to search: ");</a:t>
            </a:r>
          </a:p>
          <a:p>
            <a:pPr>
              <a:lnSpc>
                <a:spcPct val="100000"/>
              </a:lnSpc>
              <a:spcBef>
                <a:spcPts val="0"/>
              </a:spcBef>
              <a:spcAft>
                <a:spcPts val="60"/>
              </a:spcAft>
            </a:pPr>
            <a:r>
              <a:rPr sz="712" b="0" i="0">
                <a:solidFill>
                  <a:srgbClr val="E5E7EB"/>
                </a:solidFill>
                <a:latin typeface="Consolas"/>
              </a:rPr>
              <a:t>    fgets(keyword, sizeof(keyword), stdin);</a:t>
            </a:r>
          </a:p>
          <a:p>
            <a:pPr>
              <a:lnSpc>
                <a:spcPct val="100000"/>
              </a:lnSpc>
              <a:spcBef>
                <a:spcPts val="0"/>
              </a:spcBef>
              <a:spcAft>
                <a:spcPts val="60"/>
              </a:spcAft>
            </a:pPr>
            <a:r>
              <a:rPr sz="712" b="0" i="0">
                <a:solidFill>
                  <a:srgbClr val="E5E7EB"/>
                </a:solidFill>
                <a:latin typeface="Consolas"/>
              </a:rPr>
              <a:t>    keyword[strcspn(keyword, "\n")] = '\0';</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if (keyword[0] == '\0') {              /* empty keyword guard          */</a:t>
            </a:r>
          </a:p>
          <a:p>
            <a:pPr>
              <a:lnSpc>
                <a:spcPct val="100000"/>
              </a:lnSpc>
              <a:spcBef>
                <a:spcPts val="0"/>
              </a:spcBef>
              <a:spcAft>
                <a:spcPts val="60"/>
              </a:spcAft>
            </a:pPr>
            <a:r>
              <a:rPr sz="712" b="0" i="0">
                <a:solidFill>
                  <a:srgbClr val="E5E7EB"/>
                </a:solidFill>
                <a:latin typeface="Consolas"/>
              </a:rPr>
              <a:t>        printf("Keyword cannot be empty.\n");</a:t>
            </a:r>
          </a:p>
          <a:p>
            <a:pPr>
              <a:lnSpc>
                <a:spcPct val="100000"/>
              </a:lnSpc>
              <a:spcBef>
                <a:spcPts val="0"/>
              </a:spcBef>
              <a:spcAft>
                <a:spcPts val="60"/>
              </a:spcAft>
            </a:pPr>
            <a:r>
              <a:rPr sz="712" b="0" i="0">
                <a:solidFill>
                  <a:srgbClr val="E5E7EB"/>
                </a:solidFill>
                <a:latin typeface="Consolas"/>
              </a:rPr>
              <a:t>        return 1;</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pos = strstr(desc, keyword);           /* first occurrence or NULL     */</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if (pos != NULL) {</a:t>
            </a:r>
          </a:p>
          <a:p>
            <a:pPr>
              <a:lnSpc>
                <a:spcPct val="100000"/>
              </a:lnSpc>
              <a:spcBef>
                <a:spcPts val="0"/>
              </a:spcBef>
              <a:spcAft>
                <a:spcPts val="60"/>
              </a:spcAft>
            </a:pPr>
            <a:r>
              <a:rPr sz="712" b="0" i="0">
                <a:solidFill>
                  <a:srgbClr val="E5E7EB"/>
                </a:solidFill>
                <a:latin typeface="Consolas"/>
              </a:rPr>
              <a:t>        printf("Keyword \"%s\" found in the course description.\n", keyword);</a:t>
            </a:r>
          </a:p>
          <a:p>
            <a:pPr>
              <a:lnSpc>
                <a:spcPct val="100000"/>
              </a:lnSpc>
              <a:spcBef>
                <a:spcPts val="0"/>
              </a:spcBef>
              <a:spcAft>
                <a:spcPts val="60"/>
              </a:spcAft>
            </a:pPr>
            <a:r>
              <a:rPr sz="712" b="0" i="0">
                <a:solidFill>
                  <a:srgbClr val="E5E7EB"/>
                </a:solidFill>
                <a:latin typeface="Consolas"/>
              </a:rPr>
              <a:t>        printf("First occurrence starts at index %d of %d characters.\n",</a:t>
            </a:r>
          </a:p>
          <a:p>
            <a:pPr>
              <a:lnSpc>
                <a:spcPct val="100000"/>
              </a:lnSpc>
              <a:spcBef>
                <a:spcPts val="0"/>
              </a:spcBef>
              <a:spcAft>
                <a:spcPts val="60"/>
              </a:spcAft>
            </a:pPr>
            <a:r>
              <a:rPr sz="712" b="0" i="0">
                <a:solidFill>
                  <a:srgbClr val="E5E7EB"/>
                </a:solidFill>
                <a:latin typeface="Consolas"/>
              </a:rPr>
              <a:t>               (int)(pos - desc), (int)strlen(desc));</a:t>
            </a:r>
          </a:p>
          <a:p>
            <a:pPr>
              <a:lnSpc>
                <a:spcPct val="100000"/>
              </a:lnSpc>
              <a:spcBef>
                <a:spcPts val="0"/>
              </a:spcBef>
              <a:spcAft>
                <a:spcPts val="60"/>
              </a:spcAft>
            </a:pPr>
            <a:r>
              <a:rPr sz="712" b="0" i="0">
                <a:solidFill>
                  <a:srgbClr val="E5E7EB"/>
                </a:solidFill>
                <a:latin typeface="Consolas"/>
              </a:rPr>
              <a:t>    } else {</a:t>
            </a:r>
          </a:p>
          <a:p>
            <a:pPr>
              <a:lnSpc>
                <a:spcPct val="100000"/>
              </a:lnSpc>
              <a:spcBef>
                <a:spcPts val="0"/>
              </a:spcBef>
              <a:spcAft>
                <a:spcPts val="60"/>
              </a:spcAft>
            </a:pPr>
            <a:r>
              <a:rPr sz="712" b="0" i="0">
                <a:solidFill>
                  <a:srgbClr val="E5E7EB"/>
                </a:solidFill>
                <a:latin typeface="Consolas"/>
              </a:rPr>
              <a:t>        printf("Keyword \"%s\" not found in the course description.\n",</a:t>
            </a:r>
          </a:p>
          <a:p>
            <a:pPr>
              <a:lnSpc>
                <a:spcPct val="100000"/>
              </a:lnSpc>
              <a:spcBef>
                <a:spcPts val="0"/>
              </a:spcBef>
              <a:spcAft>
                <a:spcPts val="60"/>
              </a:spcAft>
            </a:pPr>
            <a:r>
              <a:rPr sz="712" b="0" i="0">
                <a:solidFill>
                  <a:srgbClr val="E5E7EB"/>
                </a:solidFill>
                <a:latin typeface="Consolas"/>
              </a:rPr>
              <a:t>               keyword);</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a:t>
            </a:r>
          </a:p>
          <a:p>
            <a:pPr>
              <a:lnSpc>
                <a:spcPct val="100000"/>
              </a:lnSpc>
              <a:spcBef>
                <a:spcPts val="0"/>
              </a:spcBef>
              <a:spcAft>
                <a:spcPts val="60"/>
              </a:spcAft>
            </a:pPr>
            <a:r>
              <a:rPr sz="712" b="0" i="0">
                <a:solidFill>
                  <a:srgbClr val="E5E7EB"/>
                </a:solidFill>
                <a:latin typeface="Consolas"/>
              </a:rPr>
              <a:t>    return 0;</a:t>
            </a:r>
          </a:p>
          <a:p>
            <a:pPr>
              <a:lnSpc>
                <a:spcPct val="100000"/>
              </a:lnSpc>
              <a:spcBef>
                <a:spcPts val="0"/>
              </a:spcBef>
              <a:spcAft>
                <a:spcPts val="60"/>
              </a:spcAft>
            </a:pPr>
            <a:r>
              <a:rPr sz="712"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the keyword sits mid-sentence: found, with its index</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the course description: This course introduces programming in C using a structured approach</a:t>
            </a:r>
          </a:p>
          <a:p>
            <a:pPr>
              <a:lnSpc>
                <a:spcPct val="100000"/>
              </a:lnSpc>
              <a:spcBef>
                <a:spcPts val="0"/>
              </a:spcBef>
              <a:spcAft>
                <a:spcPts val="60"/>
              </a:spcAft>
            </a:pPr>
            <a:r>
              <a:rPr sz="720" b="0" i="0">
                <a:solidFill>
                  <a:srgbClr val="14171C"/>
                </a:solidFill>
                <a:latin typeface="Consolas"/>
              </a:rPr>
              <a:t>Enter the keyword to search: programming</a:t>
            </a:r>
          </a:p>
          <a:p>
            <a:pPr>
              <a:lnSpc>
                <a:spcPct val="100000"/>
              </a:lnSpc>
              <a:spcBef>
                <a:spcPts val="0"/>
              </a:spcBef>
              <a:spcAft>
                <a:spcPts val="60"/>
              </a:spcAft>
            </a:pPr>
            <a:r>
              <a:rPr sz="720" b="0" i="0">
                <a:solidFill>
                  <a:srgbClr val="14171C"/>
                </a:solidFill>
                <a:latin typeface="Consolas"/>
              </a:rPr>
              <a:t>Keyword "programming" found in the course description.</a:t>
            </a:r>
          </a:p>
          <a:p>
            <a:pPr>
              <a:lnSpc>
                <a:spcPct val="100000"/>
              </a:lnSpc>
              <a:spcBef>
                <a:spcPts val="0"/>
              </a:spcBef>
              <a:spcAft>
                <a:spcPts val="60"/>
              </a:spcAft>
            </a:pPr>
            <a:r>
              <a:rPr sz="720" b="0" i="0">
                <a:solidFill>
                  <a:srgbClr val="14171C"/>
                </a:solidFill>
                <a:latin typeface="Consolas"/>
              </a:rPr>
              <a:t>First occurrence starts at index 23 of 67 characters.</a:t>
            </a:r>
          </a:p>
        </p:txBody>
      </p:sp>
      <p:sp>
        <p:nvSpPr>
          <p:cNvPr id="15" name="Rectangle 14"/>
          <p:cNvSpPr/>
          <p:nvPr/>
        </p:nvSpPr>
        <p:spPr>
          <a:xfrm>
            <a:off x="6537960" y="3968496"/>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an absent keyword: the exact not-found sentence</a:t>
            </a:r>
          </a:p>
        </p:txBody>
      </p:sp>
      <p:sp>
        <p:nvSpPr>
          <p:cNvPr id="17" name="TextBox 16"/>
          <p:cNvSpPr txBox="1"/>
          <p:nvPr/>
        </p:nvSpPr>
        <p:spPr>
          <a:xfrm>
            <a:off x="6684264" y="4334255"/>
            <a:ext cx="4937759" cy="1901952"/>
          </a:xfrm>
          <a:prstGeom prst="rect">
            <a:avLst/>
          </a:prstGeom>
          <a:noFill/>
        </p:spPr>
        <p:txBody>
          <a:bodyPr wrap="none" anchor="t" lIns="0" rIns="0" tIns="0" bIns="0">
            <a:spAutoFit/>
          </a:bodyPr>
          <a:lstStyle/>
          <a:p>
            <a:pPr>
              <a:lnSpc>
                <a:spcPct val="100000"/>
              </a:lnSpc>
              <a:spcBef>
                <a:spcPts val="0"/>
              </a:spcBef>
              <a:spcAft>
                <a:spcPts val="60"/>
              </a:spcAft>
            </a:pPr>
            <a:r>
              <a:rPr sz="723" b="0" i="0">
                <a:solidFill>
                  <a:srgbClr val="14171C"/>
                </a:solidFill>
                <a:latin typeface="Consolas"/>
              </a:rPr>
              <a:t>Enter the course description: Learn C fundamentals: operators arrays functions pointers</a:t>
            </a:r>
          </a:p>
          <a:p>
            <a:pPr>
              <a:lnSpc>
                <a:spcPct val="100000"/>
              </a:lnSpc>
              <a:spcBef>
                <a:spcPts val="0"/>
              </a:spcBef>
              <a:spcAft>
                <a:spcPts val="60"/>
              </a:spcAft>
            </a:pPr>
            <a:r>
              <a:rPr sz="723" b="0" i="0">
                <a:solidFill>
                  <a:srgbClr val="14171C"/>
                </a:solidFill>
                <a:latin typeface="Consolas"/>
              </a:rPr>
              <a:t>Enter the keyword to search: java</a:t>
            </a:r>
          </a:p>
          <a:p>
            <a:pPr>
              <a:lnSpc>
                <a:spcPct val="100000"/>
              </a:lnSpc>
              <a:spcBef>
                <a:spcPts val="0"/>
              </a:spcBef>
              <a:spcAft>
                <a:spcPts val="60"/>
              </a:spcAft>
            </a:pPr>
            <a:r>
              <a:rPr sz="723" b="0" i="0">
                <a:solidFill>
                  <a:srgbClr val="14171C"/>
                </a:solidFill>
                <a:latin typeface="Consolas"/>
              </a:rPr>
              <a:t>Keyword "java" not found in the course description.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6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6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21</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 1 prints index 23, and the reader can verify: the description begins “This course introduces ” — 23 characters — and “programming” indeed starts there. The character count (67) after trimming matches the typed sentence, proving the newline was removed before measurement. Run 2 shows the second sentence is identical in shape to the first except for the verb, which is the point of the prescribed wording: one code path differs only by the branch.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was developed that reads a course description and a keyword, strips the stored newlines, and answers containment with strstr(), printing the prescribed found / not found sentences plus the first-match index and string length.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does fgets keep the trailing newline while a keyword read with scanf("%s") does not?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type does strstr return, and why is comparing it to NULL the correct test rather than comparing to 0?</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Explain how pos − desc can be an index — what must be true for pointer subtraction to be legal?</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Why is strlen called on the trimmed string and not the raw fgets buffer, and what would differ?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7</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7 — Pass or Fail Through a Function — Modular Design with a Predicate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22</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accepts marks in three subjects, uses a separate function to decide whether the student has passed (a minimum of 40 marks in each subject), and displays the average together with the PASS/FAIL verdict.</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Define and call a predicate function with parameters and an int return value; keep the rule (“all three marks ≥ 40”) in exactly one place; observe call-by-value semantics</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 function is a named, self-contained program unit: parameters in, one value out. The general form the record should quote:</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average is the experiment’s trap wrapped in a convenience: (m1+m2+m3)/3 with int operands performs integer division (55+48+62 = 165 → 55 exactly by luck; 35+60+55 → 150/3 = 50; try 55, 48, 61 → 164/3 = 54, not 54.67). Writing /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has_passed prints nothing. Decisions belong to functions; communication belongs to main. A predicate that returned bool from </a:t>
            </a:r>
            <a:r>
              <a:rPr sz="1200" b="0" i="0">
                <a:solidFill>
                  <a:srgbClr val="16181D"/>
                </a:solidFill>
                <a:latin typeface="Calibri"/>
              </a:rPr>
              <a:t>stdbool.h&gt; would be the modern spelling — int 1/0 is kept here because it also lets the viva ask “what is a …</a:t>
            </a:r>
          </a:p>
        </p:txBody>
      </p:sp>
      <p:pic>
        <p:nvPicPr>
          <p:cNvPr id="14" name="Picture 13" descr="a07.png"/>
          <p:cNvPicPr>
            <a:picLocks noChangeAspect="1"/>
          </p:cNvPicPr>
          <p:nvPr/>
        </p:nvPicPr>
        <p:blipFill>
          <a:blip r:embed="rId2"/>
          <a:stretch>
            <a:fillRect/>
          </a:stretch>
        </p:blipFill>
        <p:spPr>
          <a:xfrm>
            <a:off x="7735234" y="1554480"/>
            <a:ext cx="3457610"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§7.2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the three integer marks m1, m2, m3.</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Call has_passed(m1, m2, m3): inside it, return 1 if m1 ≥ 40 AND m2 ≥ 40 AND m3 ≥ 40, else 0.</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Compute avg = (m1 + m2 + m3) / 3.0f.</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Print the marks, the average, and “Result: PASS” or “Result: FAIL” according to the returned verdict.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STOP.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7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7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23</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a07_pass_check.c  ·  complete source as compiled · 36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732" b="0" i="0">
                <a:solidFill>
                  <a:srgbClr val="E5E7EB"/>
                </a:solidFill>
                <a:latin typeface="Consolas"/>
              </a:rPr>
              <a:t>/* Experiment A7 -- pass check through a function; average of three subjects</a:t>
            </a:r>
          </a:p>
          <a:p>
            <a:pPr>
              <a:lnSpc>
                <a:spcPct val="100000"/>
              </a:lnSpc>
              <a:spcBef>
                <a:spcPts val="0"/>
              </a:spcBef>
              <a:spcAft>
                <a:spcPts val="60"/>
              </a:spcAft>
            </a:pPr>
            <a:r>
              <a:rPr sz="732" b="0" i="0">
                <a:solidFill>
                  <a:srgbClr val="E5E7EB"/>
                </a:solidFill>
                <a:latin typeface="Consolas"/>
              </a:rPr>
              <a:t>   File    : a07_pass_check.c</a:t>
            </a:r>
          </a:p>
          <a:p>
            <a:pPr>
              <a:lnSpc>
                <a:spcPct val="100000"/>
              </a:lnSpc>
              <a:spcBef>
                <a:spcPts val="0"/>
              </a:spcBef>
              <a:spcAft>
                <a:spcPts val="60"/>
              </a:spcAft>
            </a:pPr>
            <a:r>
              <a:rPr sz="732" b="0" i="0">
                <a:solidFill>
                  <a:srgbClr val="E5E7EB"/>
                </a:solidFill>
                <a:latin typeface="Consolas"/>
              </a:rPr>
              <a:t>   Build   : gcc -Wall a07_pass_check.c -o a07_pass_check */</a:t>
            </a:r>
          </a:p>
          <a:p>
            <a:pPr>
              <a:lnSpc>
                <a:spcPct val="100000"/>
              </a:lnSpc>
              <a:spcBef>
                <a:spcPts val="0"/>
              </a:spcBef>
              <a:spcAft>
                <a:spcPts val="60"/>
              </a:spcAft>
            </a:pPr>
            <a:r>
              <a:rPr sz="732" b="0" i="0">
                <a:solidFill>
                  <a:srgbClr val="E5E7EB"/>
                </a:solidFill>
                <a:latin typeface="Consolas"/>
              </a:rPr>
              <a:t>#include &lt;stdio.h&gt;</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#define PASS_MARK 40</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Returns 1 if the student has &gt;= 40 marks in EVERY subject, else 0. */</a:t>
            </a:r>
          </a:p>
          <a:p>
            <a:pPr>
              <a:lnSpc>
                <a:spcPct val="100000"/>
              </a:lnSpc>
              <a:spcBef>
                <a:spcPts val="0"/>
              </a:spcBef>
              <a:spcAft>
                <a:spcPts val="60"/>
              </a:spcAft>
            </a:pPr>
            <a:r>
              <a:rPr sz="732" b="0" i="0">
                <a:solidFill>
                  <a:srgbClr val="E5E7EB"/>
                </a:solidFill>
                <a:latin typeface="Consolas"/>
              </a:rPr>
              <a:t>int has_passed(int m1, int m2, int m3)</a:t>
            </a:r>
          </a:p>
          <a:p>
            <a:pPr>
              <a:lnSpc>
                <a:spcPct val="100000"/>
              </a:lnSpc>
              <a:spcBef>
                <a:spcPts val="0"/>
              </a:spcBef>
              <a:spcAft>
                <a:spcPts val="60"/>
              </a:spcAft>
            </a:pPr>
            <a:r>
              <a:rPr sz="732" b="0" i="0">
                <a:solidFill>
                  <a:srgbClr val="E5E7EB"/>
                </a:solidFill>
                <a:latin typeface="Consolas"/>
              </a:rPr>
              <a:t>{</a:t>
            </a:r>
          </a:p>
          <a:p>
            <a:pPr>
              <a:lnSpc>
                <a:spcPct val="100000"/>
              </a:lnSpc>
              <a:spcBef>
                <a:spcPts val="0"/>
              </a:spcBef>
              <a:spcAft>
                <a:spcPts val="60"/>
              </a:spcAft>
            </a:pPr>
            <a:r>
              <a:rPr sz="732" b="0" i="0">
                <a:solidFill>
                  <a:srgbClr val="E5E7EB"/>
                </a:solidFill>
                <a:latin typeface="Consolas"/>
              </a:rPr>
              <a:t>    if (m1 &gt;= PASS_MARK &amp;&amp; m2 &gt;= PASS_MARK &amp;&amp; m3 &gt;= PASS_MARK)</a:t>
            </a:r>
          </a:p>
          <a:p>
            <a:pPr>
              <a:lnSpc>
                <a:spcPct val="100000"/>
              </a:lnSpc>
              <a:spcBef>
                <a:spcPts val="0"/>
              </a:spcBef>
              <a:spcAft>
                <a:spcPts val="60"/>
              </a:spcAft>
            </a:pPr>
            <a:r>
              <a:rPr sz="732" b="0" i="0">
                <a:solidFill>
                  <a:srgbClr val="E5E7EB"/>
                </a:solidFill>
                <a:latin typeface="Consolas"/>
              </a:rPr>
              <a:t>        return 1;</a:t>
            </a:r>
          </a:p>
          <a:p>
            <a:pPr>
              <a:lnSpc>
                <a:spcPct val="100000"/>
              </a:lnSpc>
              <a:spcBef>
                <a:spcPts val="0"/>
              </a:spcBef>
              <a:spcAft>
                <a:spcPts val="60"/>
              </a:spcAft>
            </a:pPr>
            <a:r>
              <a:rPr sz="732" b="0" i="0">
                <a:solidFill>
                  <a:srgbClr val="E5E7EB"/>
                </a:solidFill>
                <a:latin typeface="Consolas"/>
              </a:rPr>
              <a:t>    return 0;</a:t>
            </a:r>
          </a:p>
          <a:p>
            <a:pPr>
              <a:lnSpc>
                <a:spcPct val="100000"/>
              </a:lnSpc>
              <a:spcBef>
                <a:spcPts val="0"/>
              </a:spcBef>
              <a:spcAft>
                <a:spcPts val="60"/>
              </a:spcAft>
            </a:pPr>
            <a:r>
              <a:rPr sz="732" b="0" i="0">
                <a:solidFill>
                  <a:srgbClr val="E5E7EB"/>
                </a:solidFill>
                <a:latin typeface="Consolas"/>
              </a:rPr>
              <a:t>}</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int main(void)</a:t>
            </a:r>
          </a:p>
          <a:p>
            <a:pPr>
              <a:lnSpc>
                <a:spcPct val="100000"/>
              </a:lnSpc>
              <a:spcBef>
                <a:spcPts val="0"/>
              </a:spcBef>
              <a:spcAft>
                <a:spcPts val="60"/>
              </a:spcAft>
            </a:pPr>
            <a:r>
              <a:rPr sz="732" b="0" i="0">
                <a:solidFill>
                  <a:srgbClr val="E5E7EB"/>
                </a:solidFill>
                <a:latin typeface="Consolas"/>
              </a:rPr>
              <a:t>{</a:t>
            </a:r>
          </a:p>
          <a:p>
            <a:pPr>
              <a:lnSpc>
                <a:spcPct val="100000"/>
              </a:lnSpc>
              <a:spcBef>
                <a:spcPts val="0"/>
              </a:spcBef>
              <a:spcAft>
                <a:spcPts val="60"/>
              </a:spcAft>
            </a:pPr>
            <a:r>
              <a:rPr sz="732" b="0" i="0">
                <a:solidFill>
                  <a:srgbClr val="E5E7EB"/>
                </a:solidFill>
                <a:latin typeface="Consolas"/>
              </a:rPr>
              <a:t>    int m1, m2, m3;</a:t>
            </a:r>
          </a:p>
          <a:p>
            <a:pPr>
              <a:lnSpc>
                <a:spcPct val="100000"/>
              </a:lnSpc>
              <a:spcBef>
                <a:spcPts val="0"/>
              </a:spcBef>
              <a:spcAft>
                <a:spcPts val="60"/>
              </a:spcAft>
            </a:pPr>
            <a:r>
              <a:rPr sz="732" b="0" i="0">
                <a:solidFill>
                  <a:srgbClr val="E5E7EB"/>
                </a:solidFill>
                <a:latin typeface="Consolas"/>
              </a:rPr>
              <a:t>    float avg;</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printf("Enter marks for three subjects: ");</a:t>
            </a:r>
          </a:p>
          <a:p>
            <a:pPr>
              <a:lnSpc>
                <a:spcPct val="100000"/>
              </a:lnSpc>
              <a:spcBef>
                <a:spcPts val="0"/>
              </a:spcBef>
              <a:spcAft>
                <a:spcPts val="60"/>
              </a:spcAft>
            </a:pPr>
            <a:r>
              <a:rPr sz="732" b="0" i="0">
                <a:solidFill>
                  <a:srgbClr val="E5E7EB"/>
                </a:solidFill>
                <a:latin typeface="Consolas"/>
              </a:rPr>
              <a:t>    scanf("%d %d %d", &amp;m1, &amp;m2, &amp;m3);</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avg = (m1 + m2 + m3) / 3.0f;</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printf("Marks: %d, %d, %d\n", m1, m2, m3);</a:t>
            </a:r>
          </a:p>
          <a:p>
            <a:pPr>
              <a:lnSpc>
                <a:spcPct val="100000"/>
              </a:lnSpc>
              <a:spcBef>
                <a:spcPts val="0"/>
              </a:spcBef>
              <a:spcAft>
                <a:spcPts val="60"/>
              </a:spcAft>
            </a:pPr>
            <a:r>
              <a:rPr sz="732" b="0" i="0">
                <a:solidFill>
                  <a:srgbClr val="E5E7EB"/>
                </a:solidFill>
                <a:latin typeface="Consolas"/>
              </a:rPr>
              <a:t>    printf("Average = %.2f\n", avg);</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if (has_passed(m1, m2, m3))</a:t>
            </a:r>
          </a:p>
          <a:p>
            <a:pPr>
              <a:lnSpc>
                <a:spcPct val="100000"/>
              </a:lnSpc>
              <a:spcBef>
                <a:spcPts val="0"/>
              </a:spcBef>
              <a:spcAft>
                <a:spcPts val="60"/>
              </a:spcAft>
            </a:pPr>
            <a:r>
              <a:rPr sz="732" b="0" i="0">
                <a:solidFill>
                  <a:srgbClr val="E5E7EB"/>
                </a:solidFill>
                <a:latin typeface="Consolas"/>
              </a:rPr>
              <a:t>        printf("Result: PASS (minimum %d marks in each subject)\n", PASS_MARK);</a:t>
            </a:r>
          </a:p>
          <a:p>
            <a:pPr>
              <a:lnSpc>
                <a:spcPct val="100000"/>
              </a:lnSpc>
              <a:spcBef>
                <a:spcPts val="0"/>
              </a:spcBef>
              <a:spcAft>
                <a:spcPts val="60"/>
              </a:spcAft>
            </a:pPr>
            <a:r>
              <a:rPr sz="732" b="0" i="0">
                <a:solidFill>
                  <a:srgbClr val="E5E7EB"/>
                </a:solidFill>
                <a:latin typeface="Consolas"/>
              </a:rPr>
              <a:t>    else</a:t>
            </a:r>
          </a:p>
          <a:p>
            <a:pPr>
              <a:lnSpc>
                <a:spcPct val="100000"/>
              </a:lnSpc>
              <a:spcBef>
                <a:spcPts val="0"/>
              </a:spcBef>
              <a:spcAft>
                <a:spcPts val="60"/>
              </a:spcAft>
            </a:pPr>
            <a:r>
              <a:rPr sz="732" b="0" i="0">
                <a:solidFill>
                  <a:srgbClr val="E5E7EB"/>
                </a:solidFill>
                <a:latin typeface="Consolas"/>
              </a:rPr>
              <a:t>        printf("Result: FAIL (minimum %d marks needed in each subject)\n",</a:t>
            </a:r>
          </a:p>
          <a:p>
            <a:pPr>
              <a:lnSpc>
                <a:spcPct val="100000"/>
              </a:lnSpc>
              <a:spcBef>
                <a:spcPts val="0"/>
              </a:spcBef>
              <a:spcAft>
                <a:spcPts val="60"/>
              </a:spcAft>
            </a:pPr>
            <a:r>
              <a:rPr sz="732" b="0" i="0">
                <a:solidFill>
                  <a:srgbClr val="E5E7EB"/>
                </a:solidFill>
                <a:latin typeface="Consolas"/>
              </a:rPr>
              <a:t>               PASS_MARK);</a:t>
            </a:r>
          </a:p>
          <a:p>
            <a:pPr>
              <a:lnSpc>
                <a:spcPct val="100000"/>
              </a:lnSpc>
              <a:spcBef>
                <a:spcPts val="0"/>
              </a:spcBef>
              <a:spcAft>
                <a:spcPts val="60"/>
              </a:spcAft>
            </a:pPr>
            <a:r>
              <a:rPr sz="732" b="0" i="0">
                <a:solidFill>
                  <a:srgbClr val="E5E7EB"/>
                </a:solidFill>
                <a:latin typeface="Consolas"/>
              </a:rPr>
              <a:t> </a:t>
            </a:r>
          </a:p>
          <a:p>
            <a:pPr>
              <a:lnSpc>
                <a:spcPct val="100000"/>
              </a:lnSpc>
              <a:spcBef>
                <a:spcPts val="0"/>
              </a:spcBef>
              <a:spcAft>
                <a:spcPts val="60"/>
              </a:spcAft>
            </a:pPr>
            <a:r>
              <a:rPr sz="732" b="0" i="0">
                <a:solidFill>
                  <a:srgbClr val="E5E7EB"/>
                </a:solidFill>
                <a:latin typeface="Consolas"/>
              </a:rPr>
              <a:t>    return 0;</a:t>
            </a:r>
          </a:p>
          <a:p>
            <a:pPr>
              <a:lnSpc>
                <a:spcPct val="100000"/>
              </a:lnSpc>
              <a:spcBef>
                <a:spcPts val="0"/>
              </a:spcBef>
              <a:spcAft>
                <a:spcPts val="60"/>
              </a:spcAft>
            </a:pPr>
            <a:r>
              <a:rPr sz="732"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55 48 62: every subject above the floor, average 55</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200" b="0" i="0">
                <a:solidFill>
                  <a:srgbClr val="14171C"/>
                </a:solidFill>
                <a:latin typeface="Consolas"/>
              </a:rPr>
              <a:t>Enter marks for three subjects: 55 48 62</a:t>
            </a:r>
          </a:p>
          <a:p>
            <a:pPr>
              <a:lnSpc>
                <a:spcPct val="100000"/>
              </a:lnSpc>
              <a:spcBef>
                <a:spcPts val="0"/>
              </a:spcBef>
              <a:spcAft>
                <a:spcPts val="60"/>
              </a:spcAft>
            </a:pPr>
            <a:r>
              <a:rPr sz="1200" b="0" i="0">
                <a:solidFill>
                  <a:srgbClr val="14171C"/>
                </a:solidFill>
                <a:latin typeface="Consolas"/>
              </a:rPr>
              <a:t>Marks: 55, 48, 62</a:t>
            </a:r>
          </a:p>
          <a:p>
            <a:pPr>
              <a:lnSpc>
                <a:spcPct val="100000"/>
              </a:lnSpc>
              <a:spcBef>
                <a:spcPts val="0"/>
              </a:spcBef>
              <a:spcAft>
                <a:spcPts val="60"/>
              </a:spcAft>
            </a:pPr>
            <a:r>
              <a:rPr sz="1200" b="0" i="0">
                <a:solidFill>
                  <a:srgbClr val="14171C"/>
                </a:solidFill>
                <a:latin typeface="Consolas"/>
              </a:rPr>
              <a:t>Average = 55.00</a:t>
            </a:r>
          </a:p>
          <a:p>
            <a:pPr>
              <a:lnSpc>
                <a:spcPct val="100000"/>
              </a:lnSpc>
              <a:spcBef>
                <a:spcPts val="0"/>
              </a:spcBef>
              <a:spcAft>
                <a:spcPts val="60"/>
              </a:spcAft>
            </a:pPr>
            <a:r>
              <a:rPr sz="1200" b="0" i="0">
                <a:solidFill>
                  <a:srgbClr val="14171C"/>
                </a:solidFill>
                <a:latin typeface="Consolas"/>
              </a:rPr>
              <a:t>Result: PASS (minimum 40 marks in each subject)</a:t>
            </a:r>
          </a:p>
        </p:txBody>
      </p:sp>
      <p:sp>
        <p:nvSpPr>
          <p:cNvPr id="15" name="Rectangle 14"/>
          <p:cNvSpPr/>
          <p:nvPr/>
        </p:nvSpPr>
        <p:spPr>
          <a:xfrm>
            <a:off x="6537960" y="3968496"/>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35 60 55: an average over 40 and still a FAIL — the AND rule demonstrated</a:t>
            </a:r>
          </a:p>
        </p:txBody>
      </p:sp>
      <p:sp>
        <p:nvSpPr>
          <p:cNvPr id="17" name="TextBox 16"/>
          <p:cNvSpPr txBox="1"/>
          <p:nvPr/>
        </p:nvSpPr>
        <p:spPr>
          <a:xfrm>
            <a:off x="6684264" y="4334255"/>
            <a:ext cx="4937759" cy="1901952"/>
          </a:xfrm>
          <a:prstGeom prst="rect">
            <a:avLst/>
          </a:prstGeom>
          <a:noFill/>
        </p:spPr>
        <p:txBody>
          <a:bodyPr wrap="none" anchor="t" lIns="0" rIns="0" tIns="0" bIns="0">
            <a:spAutoFit/>
          </a:bodyPr>
          <a:lstStyle/>
          <a:p>
            <a:pPr>
              <a:lnSpc>
                <a:spcPct val="100000"/>
              </a:lnSpc>
              <a:spcBef>
                <a:spcPts val="0"/>
              </a:spcBef>
              <a:spcAft>
                <a:spcPts val="60"/>
              </a:spcAft>
            </a:pPr>
            <a:r>
              <a:rPr sz="1166" b="0" i="0">
                <a:solidFill>
                  <a:srgbClr val="14171C"/>
                </a:solidFill>
                <a:latin typeface="Consolas"/>
              </a:rPr>
              <a:t>Enter marks for three subjects: 35 60 55</a:t>
            </a:r>
          </a:p>
          <a:p>
            <a:pPr>
              <a:lnSpc>
                <a:spcPct val="100000"/>
              </a:lnSpc>
              <a:spcBef>
                <a:spcPts val="0"/>
              </a:spcBef>
              <a:spcAft>
                <a:spcPts val="60"/>
              </a:spcAft>
            </a:pPr>
            <a:r>
              <a:rPr sz="1166" b="0" i="0">
                <a:solidFill>
                  <a:srgbClr val="14171C"/>
                </a:solidFill>
                <a:latin typeface="Consolas"/>
              </a:rPr>
              <a:t>Marks: 35, 60, 55</a:t>
            </a:r>
          </a:p>
          <a:p>
            <a:pPr>
              <a:lnSpc>
                <a:spcPct val="100000"/>
              </a:lnSpc>
              <a:spcBef>
                <a:spcPts val="0"/>
              </a:spcBef>
              <a:spcAft>
                <a:spcPts val="60"/>
              </a:spcAft>
            </a:pPr>
            <a:r>
              <a:rPr sz="1166" b="0" i="0">
                <a:solidFill>
                  <a:srgbClr val="14171C"/>
                </a:solidFill>
                <a:latin typeface="Consolas"/>
              </a:rPr>
              <a:t>Average = 50.00</a:t>
            </a:r>
          </a:p>
          <a:p>
            <a:pPr>
              <a:lnSpc>
                <a:spcPct val="100000"/>
              </a:lnSpc>
              <a:spcBef>
                <a:spcPts val="0"/>
              </a:spcBef>
              <a:spcAft>
                <a:spcPts val="60"/>
              </a:spcAft>
            </a:pPr>
            <a:r>
              <a:rPr sz="1166" b="0" i="0">
                <a:solidFill>
                  <a:srgbClr val="14171C"/>
                </a:solidFill>
                <a:latin typeface="Consolas"/>
              </a:rPr>
              <a:t>Result: FAIL (minimum 40 marks needed in each subject)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7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7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24</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 2 is the soul of this experiment: average 50.00 with a FAIL printed. If the rule had been written on the average, this student would have passed — the program documents that “minimum 40 each” and “average ≥ 40” are different policies, and the function makes the actual policy visible in four lines. Inference. …</a:t>
            </a:r>
          </a:p>
        </p:txBody>
      </p:sp>
      <p:graphicFrame>
        <p:nvGraphicFramePr>
          <p:cNvPr id="10" name="Table 9"/>
          <p:cNvGraphicFramePr>
            <a:graphicFrameLocks noGrp="1"/>
          </p:cNvGraphicFramePr>
          <p:nvPr/>
        </p:nvGraphicFramePr>
        <p:xfrm>
          <a:off x="502920" y="3840480"/>
          <a:ext cx="6400800" cy="859536"/>
        </p:xfrm>
        <a:graphic>
          <a:graphicData uri="http://schemas.openxmlformats.org/drawingml/2006/table">
            <a:tbl>
              <a:tblPr firstRow="1" bandRow="1">
                <a:tableStyleId>{5C22544A-7EE6-4342-B048-85BDC9FD1C3A}</a:tableStyleId>
              </a:tblPr>
              <a:tblGrid>
                <a:gridCol w="1280160"/>
                <a:gridCol w="1280160"/>
                <a:gridCol w="1280160"/>
                <a:gridCol w="1280160"/>
                <a:gridCol w="1280160"/>
              </a:tblGrid>
              <a:tr h="214884">
                <a:tc>
                  <a:txBody>
                    <a:bodyPr/>
                    <a:lstStyle/>
                    <a:p>
                      <a:r>
                        <a:rPr sz="1050" b="1">
                          <a:solidFill>
                            <a:srgbClr val="E5E7EB"/>
                          </a:solidFill>
                          <a:latin typeface="Calibri"/>
                        </a:rPr>
                        <a:t>m1, m2, m3</a:t>
                      </a:r>
                    </a:p>
                  </a:txBody>
                  <a:tcPr>
                    <a:solidFill>
                      <a:srgbClr val="1F2937"/>
                    </a:solidFill>
                  </a:tcPr>
                </a:tc>
                <a:tc>
                  <a:txBody>
                    <a:bodyPr/>
                    <a:lstStyle/>
                    <a:p>
                      <a:r>
                        <a:rPr sz="1050" b="1">
                          <a:solidFill>
                            <a:srgbClr val="E5E7EB"/>
                          </a:solidFill>
                          <a:latin typeface="Calibri"/>
                        </a:rPr>
                        <a:t>avg (÷3.0f)</a:t>
                      </a:r>
                    </a:p>
                  </a:txBody>
                  <a:tcPr>
                    <a:solidFill>
                      <a:srgbClr val="1F2937"/>
                    </a:solidFill>
                  </a:tcPr>
                </a:tc>
                <a:tc>
                  <a:txBody>
                    <a:bodyPr/>
                    <a:lstStyle/>
                    <a:p>
                      <a:r>
                        <a:rPr sz="1050" b="1">
                          <a:solidFill>
                            <a:srgbClr val="E5E7EB"/>
                          </a:solidFill>
                          <a:latin typeface="Calibri"/>
                        </a:rPr>
                        <a:t>avg if ÷3 (integer)</a:t>
                      </a:r>
                    </a:p>
                  </a:txBody>
                  <a:tcPr>
                    <a:solidFill>
                      <a:srgbClr val="1F2937"/>
                    </a:solidFill>
                  </a:tcPr>
                </a:tc>
                <a:tc>
                  <a:txBody>
                    <a:bodyPr/>
                    <a:lstStyle/>
                    <a:p>
                      <a:r>
                        <a:rPr sz="1050" b="1">
                          <a:solidFill>
                            <a:srgbClr val="E5E7EB"/>
                          </a:solidFill>
                          <a:latin typeface="Calibri"/>
                        </a:rPr>
                        <a:t>has_passed</a:t>
                      </a:r>
                    </a:p>
                  </a:txBody>
                  <a:tcPr>
                    <a:solidFill>
                      <a:srgbClr val="1F2937"/>
                    </a:solidFill>
                  </a:tcPr>
                </a:tc>
                <a:tc>
                  <a:txBody>
                    <a:bodyPr/>
                    <a:lstStyle/>
                    <a:p>
                      <a:r>
                        <a:rPr sz="1050" b="1">
                          <a:solidFill>
                            <a:srgbClr val="E5E7EB"/>
                          </a:solidFill>
                          <a:latin typeface="Calibri"/>
                        </a:rPr>
                        <a:t>Printed</a:t>
                      </a:r>
                    </a:p>
                  </a:txBody>
                  <a:tcPr>
                    <a:solidFill>
                      <a:srgbClr val="1F2937"/>
                    </a:solidFill>
                  </a:tcPr>
                </a:tc>
              </a:tr>
              <a:tr h="214884">
                <a:tc>
                  <a:txBody>
                    <a:bodyPr/>
                    <a:lstStyle/>
                    <a:p>
                      <a:r>
                        <a:rPr sz="1050" b="0">
                          <a:solidFill>
                            <a:srgbClr val="16181D"/>
                          </a:solidFill>
                          <a:latin typeface="Calibri"/>
                        </a:rPr>
                        <a:t>55, 48, 62</a:t>
                      </a:r>
                    </a:p>
                  </a:txBody>
                  <a:tcPr>
                    <a:solidFill>
                      <a:srgbClr val="F3F4F6"/>
                    </a:solidFill>
                  </a:tcPr>
                </a:tc>
                <a:tc>
                  <a:txBody>
                    <a:bodyPr/>
                    <a:lstStyle/>
                    <a:p>
                      <a:r>
                        <a:rPr sz="1050" b="0">
                          <a:solidFill>
                            <a:srgbClr val="16181D"/>
                          </a:solidFill>
                          <a:latin typeface="Calibri"/>
                        </a:rPr>
                        <a:t>55.00</a:t>
                      </a:r>
                    </a:p>
                  </a:txBody>
                  <a:tcPr>
                    <a:solidFill>
                      <a:srgbClr val="F3F4F6"/>
                    </a:solidFill>
                  </a:tcPr>
                </a:tc>
                <a:tc>
                  <a:txBody>
                    <a:bodyPr/>
                    <a:lstStyle/>
                    <a:p>
                      <a:r>
                        <a:rPr sz="1050" b="0">
                          <a:solidFill>
                            <a:srgbClr val="16181D"/>
                          </a:solidFill>
                          <a:latin typeface="Calibri"/>
                        </a:rPr>
                        <a:t>55</a:t>
                      </a:r>
                    </a:p>
                  </a:txBody>
                  <a:tcPr>
                    <a:solidFill>
                      <a:srgbClr val="F3F4F6"/>
                    </a:solidFill>
                  </a:tcPr>
                </a:tc>
                <a:tc>
                  <a:txBody>
                    <a:bodyPr/>
                    <a:lstStyle/>
                    <a:p>
                      <a:r>
                        <a:rPr sz="1050" b="0">
                          <a:solidFill>
                            <a:srgbClr val="16181D"/>
                          </a:solidFill>
                          <a:latin typeface="Calibri"/>
                        </a:rPr>
                        <a:t>1</a:t>
                      </a:r>
                    </a:p>
                  </a:txBody>
                  <a:tcPr>
                    <a:solidFill>
                      <a:srgbClr val="F3F4F6"/>
                    </a:solidFill>
                  </a:tcPr>
                </a:tc>
                <a:tc>
                  <a:txBody>
                    <a:bodyPr/>
                    <a:lstStyle/>
                    <a:p>
                      <a:r>
                        <a:rPr sz="1050" b="0">
                          <a:solidFill>
                            <a:srgbClr val="16181D"/>
                          </a:solidFill>
                          <a:latin typeface="Calibri"/>
                        </a:rPr>
                        <a:t>PASS</a:t>
                      </a:r>
                    </a:p>
                  </a:txBody>
                  <a:tcPr>
                    <a:solidFill>
                      <a:srgbClr val="F3F4F6"/>
                    </a:solidFill>
                  </a:tcPr>
                </a:tc>
              </a:tr>
              <a:tr h="214884">
                <a:tc>
                  <a:txBody>
                    <a:bodyPr/>
                    <a:lstStyle/>
                    <a:p>
                      <a:r>
                        <a:rPr sz="1050" b="0">
                          <a:solidFill>
                            <a:srgbClr val="16181D"/>
                          </a:solidFill>
                          <a:latin typeface="Calibri"/>
                        </a:rPr>
                        <a:t>35, 60, 55</a:t>
                      </a:r>
                    </a:p>
                  </a:txBody>
                  <a:tcPr>
                    <a:solidFill>
                      <a:srgbClr val="FFFFFF"/>
                    </a:solidFill>
                  </a:tcPr>
                </a:tc>
                <a:tc>
                  <a:txBody>
                    <a:bodyPr/>
                    <a:lstStyle/>
                    <a:p>
                      <a:r>
                        <a:rPr sz="1050" b="0">
                          <a:solidFill>
                            <a:srgbClr val="16181D"/>
                          </a:solidFill>
                          <a:latin typeface="Calibri"/>
                        </a:rPr>
                        <a:t>50.00</a:t>
                      </a:r>
                    </a:p>
                  </a:txBody>
                  <a:tcPr>
                    <a:solidFill>
                      <a:srgbClr val="FFFFFF"/>
                    </a:solidFill>
                  </a:tcPr>
                </a:tc>
                <a:tc>
                  <a:txBody>
                    <a:bodyPr/>
                    <a:lstStyle/>
                    <a:p>
                      <a:r>
                        <a:rPr sz="1050" b="0">
                          <a:solidFill>
                            <a:srgbClr val="16181D"/>
                          </a:solidFill>
                          <a:latin typeface="Calibri"/>
                        </a:rPr>
                        <a:t>50</a:t>
                      </a:r>
                    </a:p>
                  </a:txBody>
                  <a:tcPr>
                    <a:solidFill>
                      <a:srgbClr val="FFFFFF"/>
                    </a:solidFill>
                  </a:tcPr>
                </a:tc>
                <a:tc>
                  <a:txBody>
                    <a:bodyPr/>
                    <a:lstStyle/>
                    <a:p>
                      <a:r>
                        <a:rPr sz="1050" b="0">
                          <a:solidFill>
                            <a:srgbClr val="16181D"/>
                          </a:solidFill>
                          <a:latin typeface="Calibri"/>
                        </a:rPr>
                        <a:t>0</a:t>
                      </a:r>
                    </a:p>
                  </a:txBody>
                  <a:tcPr>
                    <a:solidFill>
                      <a:srgbClr val="FFFFFF"/>
                    </a:solidFill>
                  </a:tcPr>
                </a:tc>
                <a:tc>
                  <a:txBody>
                    <a:bodyPr/>
                    <a:lstStyle/>
                    <a:p>
                      <a:r>
                        <a:rPr sz="1050" b="0">
                          <a:solidFill>
                            <a:srgbClr val="16181D"/>
                          </a:solidFill>
                          <a:latin typeface="Calibri"/>
                        </a:rPr>
                        <a:t>FAIL</a:t>
                      </a:r>
                    </a:p>
                  </a:txBody>
                  <a:tcPr>
                    <a:solidFill>
                      <a:srgbClr val="FFFFFF"/>
                    </a:solidFill>
                  </a:tcPr>
                </a:tc>
              </a:tr>
              <a:tr h="214884">
                <a:tc>
                  <a:txBody>
                    <a:bodyPr/>
                    <a:lstStyle/>
                    <a:p>
                      <a:r>
                        <a:rPr sz="1050" b="0">
                          <a:solidFill>
                            <a:srgbClr val="16181D"/>
                          </a:solidFill>
                          <a:latin typeface="Calibri"/>
                        </a:rPr>
                        <a:t>55, 48, 61</a:t>
                      </a:r>
                    </a:p>
                  </a:txBody>
                  <a:tcPr>
                    <a:solidFill>
                      <a:srgbClr val="F3F4F6"/>
                    </a:solidFill>
                  </a:tcPr>
                </a:tc>
                <a:tc>
                  <a:txBody>
                    <a:bodyPr/>
                    <a:lstStyle/>
                    <a:p>
                      <a:r>
                        <a:rPr sz="1050" b="0">
                          <a:solidFill>
                            <a:srgbClr val="16181D"/>
                          </a:solidFill>
                          <a:latin typeface="Calibri"/>
                        </a:rPr>
                        <a:t>54.67</a:t>
                      </a:r>
                    </a:p>
                  </a:txBody>
                  <a:tcPr>
                    <a:solidFill>
                      <a:srgbClr val="F3F4F6"/>
                    </a:solidFill>
                  </a:tcPr>
                </a:tc>
                <a:tc>
                  <a:txBody>
                    <a:bodyPr/>
                    <a:lstStyle/>
                    <a:p>
                      <a:r>
                        <a:rPr sz="1050" b="0">
                          <a:solidFill>
                            <a:srgbClr val="16181D"/>
                          </a:solidFill>
                          <a:latin typeface="Calibri"/>
                        </a:rPr>
                        <a:t>54 ← one-third less</a:t>
                      </a:r>
                    </a:p>
                  </a:txBody>
                  <a:tcPr>
                    <a:solidFill>
                      <a:srgbClr val="F3F4F6"/>
                    </a:solidFill>
                  </a:tcPr>
                </a:tc>
                <a:tc>
                  <a:txBody>
                    <a:bodyPr/>
                    <a:lstStyle/>
                    <a:p>
                      <a:r>
                        <a:rPr sz="1050" b="0">
                          <a:solidFill>
                            <a:srgbClr val="16181D"/>
                          </a:solidFill>
                          <a:latin typeface="Calibri"/>
                        </a:rPr>
                        <a:t>1</a:t>
                      </a:r>
                    </a:p>
                  </a:txBody>
                  <a:tcPr>
                    <a:solidFill>
                      <a:srgbClr val="F3F4F6"/>
                    </a:solidFill>
                  </a:tcPr>
                </a:tc>
                <a:tc>
                  <a:txBody>
                    <a:bodyPr/>
                    <a:lstStyle/>
                    <a:p>
                      <a:r>
                        <a:rPr sz="1050" b="0">
                          <a:solidFill>
                            <a:srgbClr val="16181D"/>
                          </a:solidFill>
                          <a:latin typeface="Calibri"/>
                        </a:rPr>
                        <a:t>PASS</a:t>
                      </a:r>
                    </a:p>
                  </a:txBody>
                  <a:tcPr>
                    <a:solidFill>
                      <a:srgbClr val="F3F4F6"/>
                    </a:solidFill>
                  </a:tcPr>
                </a:tc>
              </a:tr>
            </a:tbl>
          </a:graphicData>
        </a:graphic>
      </p:graphicFrame>
      <p:sp>
        <p:nvSpPr>
          <p:cNvPr id="11" name="TextBox 10"/>
          <p:cNvSpPr txBox="1"/>
          <p:nvPr/>
        </p:nvSpPr>
        <p:spPr>
          <a:xfrm>
            <a:off x="502920" y="4809744"/>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was developed in which a four-line predicate function has_passed(), taking the three marks by value, decides pass/fail against a single-source minimum of 40, while main computes the float-correct average. …</a:t>
            </a:r>
          </a:p>
        </p:txBody>
      </p:sp>
      <p:sp>
        <p:nvSpPr>
          <p:cNvPr id="12" name="TextBox 11"/>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3" name="TextBox 12"/>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What are the two “copies” the marks travel through before the comparison runs? (Parameter and…) — state the passing mechanism precisely.</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Why can has_passed never change m1 in main?</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Give an input where dividing by 3 instead of 3.0f changes the printed average — and one where it could change the grade if the rule had been average-based.</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Why does the return type matter to the caller, and what would int vs bool change?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8</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Part-A · Item 8 — Swapping Two Balances — Pointers Take the Function Seriously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25</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develop a C program that accepts two account balances and swaps them by calling a function that receives the two addresses, displaying the balances before and after the swap so the change of ownership is visible.</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Declare parameters of pointer type and dereference them to read (*p) and write; pass addresses with &amp;; contrast call-by-value (Experiment 7) with call-by-reference-in-C o</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 pointer is a variable that holds an address. Two operators rule all of pointer syntax, and the record must state them without hesitation:</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function signature void swap_balances(float *bal1, float *bal2) declares two parameters “of type pointer-to-float”. Call by value still happens — the addresses themselves are copied into the function — which is why C purists say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three-line body is the only correct swap through temps. The classic failures to name in the inference: (1) swapping the pointers — p1 = p2; merely redirects the local copies, main never notices; (2) no temp at all — *p1 = *p2; *p2 …</a:t>
            </a:r>
          </a:p>
        </p:txBody>
      </p:sp>
      <p:pic>
        <p:nvPicPr>
          <p:cNvPr id="14" name="Picture 13" descr="a08.png"/>
          <p:cNvPicPr>
            <a:picLocks noChangeAspect="1"/>
          </p:cNvPicPr>
          <p:nvPr/>
        </p:nvPicPr>
        <p:blipFill>
          <a:blip r:embed="rId2"/>
          <a:stretch>
            <a:fillRect/>
          </a:stretch>
        </p:blipFill>
        <p:spPr>
          <a:xfrm>
            <a:off x="8406841" y="1554480"/>
            <a:ext cx="2114397"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§8.2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Read balance A and balance B as floats.</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Print both balances (BEFORE).</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Call swap_balances(&amp;A, &amp;B) — pass addresses.</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Inside the function: temp = *p1; *p1 = *p2; *p2 = temp.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Back in main, print both balances (AFTER) — the order has exchanged.</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STOP.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8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8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26</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a08_swap_pointers.c  ·  complete source as compiled · 30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878" b="0" i="0">
                <a:solidFill>
                  <a:srgbClr val="E5E7EB"/>
                </a:solidFill>
                <a:latin typeface="Consolas"/>
              </a:rPr>
              <a:t>/* Experiment A8 -- swap two ATM balances through a function using pointers</a:t>
            </a:r>
          </a:p>
          <a:p>
            <a:pPr>
              <a:lnSpc>
                <a:spcPct val="100000"/>
              </a:lnSpc>
              <a:spcBef>
                <a:spcPts val="0"/>
              </a:spcBef>
              <a:spcAft>
                <a:spcPts val="60"/>
              </a:spcAft>
            </a:pPr>
            <a:r>
              <a:rPr sz="878" b="0" i="0">
                <a:solidFill>
                  <a:srgbClr val="E5E7EB"/>
                </a:solidFill>
                <a:latin typeface="Consolas"/>
              </a:rPr>
              <a:t>   File    : a08_swap_pointers.c</a:t>
            </a:r>
          </a:p>
          <a:p>
            <a:pPr>
              <a:lnSpc>
                <a:spcPct val="100000"/>
              </a:lnSpc>
              <a:spcBef>
                <a:spcPts val="0"/>
              </a:spcBef>
              <a:spcAft>
                <a:spcPts val="60"/>
              </a:spcAft>
            </a:pPr>
            <a:r>
              <a:rPr sz="878" b="0" i="0">
                <a:solidFill>
                  <a:srgbClr val="E5E7EB"/>
                </a:solidFill>
                <a:latin typeface="Consolas"/>
              </a:rPr>
              <a:t>   Build   : gcc -Wall a08_swap_pointers.c -o a08_swap_pointers */</a:t>
            </a:r>
          </a:p>
          <a:p>
            <a:pPr>
              <a:lnSpc>
                <a:spcPct val="100000"/>
              </a:lnSpc>
              <a:spcBef>
                <a:spcPts val="0"/>
              </a:spcBef>
              <a:spcAft>
                <a:spcPts val="60"/>
              </a:spcAft>
            </a:pPr>
            <a:r>
              <a:rPr sz="878" b="0" i="0">
                <a:solidFill>
                  <a:srgbClr val="E5E7EB"/>
                </a:solidFill>
                <a:latin typeface="Consolas"/>
              </a:rPr>
              <a:t>#include &lt;stdio.h&gt;</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Writes through the addresses: the caller's variables really change. */</a:t>
            </a:r>
          </a:p>
          <a:p>
            <a:pPr>
              <a:lnSpc>
                <a:spcPct val="100000"/>
              </a:lnSpc>
              <a:spcBef>
                <a:spcPts val="0"/>
              </a:spcBef>
              <a:spcAft>
                <a:spcPts val="60"/>
              </a:spcAft>
            </a:pPr>
            <a:r>
              <a:rPr sz="878" b="0" i="0">
                <a:solidFill>
                  <a:srgbClr val="E5E7EB"/>
                </a:solidFill>
                <a:latin typeface="Consolas"/>
              </a:rPr>
              <a:t>void swap_balances(float *bal1, float *bal2)</a:t>
            </a:r>
          </a:p>
          <a:p>
            <a:pPr>
              <a:lnSpc>
                <a:spcPct val="100000"/>
              </a:lnSpc>
              <a:spcBef>
                <a:spcPts val="0"/>
              </a:spcBef>
              <a:spcAft>
                <a:spcPts val="60"/>
              </a:spcAft>
            </a:pPr>
            <a:r>
              <a:rPr sz="878" b="0" i="0">
                <a:solidFill>
                  <a:srgbClr val="E5E7EB"/>
                </a:solidFill>
                <a:latin typeface="Consolas"/>
              </a:rPr>
              <a:t>{</a:t>
            </a:r>
          </a:p>
          <a:p>
            <a:pPr>
              <a:lnSpc>
                <a:spcPct val="100000"/>
              </a:lnSpc>
              <a:spcBef>
                <a:spcPts val="0"/>
              </a:spcBef>
              <a:spcAft>
                <a:spcPts val="60"/>
              </a:spcAft>
            </a:pPr>
            <a:r>
              <a:rPr sz="878" b="0" i="0">
                <a:solidFill>
                  <a:srgbClr val="E5E7EB"/>
                </a:solidFill>
                <a:latin typeface="Consolas"/>
              </a:rPr>
              <a:t>    float temp = *bal1;</a:t>
            </a:r>
          </a:p>
          <a:p>
            <a:pPr>
              <a:lnSpc>
                <a:spcPct val="100000"/>
              </a:lnSpc>
              <a:spcBef>
                <a:spcPts val="0"/>
              </a:spcBef>
              <a:spcAft>
                <a:spcPts val="60"/>
              </a:spcAft>
            </a:pPr>
            <a:r>
              <a:rPr sz="878" b="0" i="0">
                <a:solidFill>
                  <a:srgbClr val="E5E7EB"/>
                </a:solidFill>
                <a:latin typeface="Consolas"/>
              </a:rPr>
              <a:t>    *bal1      = *bal2;</a:t>
            </a:r>
          </a:p>
          <a:p>
            <a:pPr>
              <a:lnSpc>
                <a:spcPct val="100000"/>
              </a:lnSpc>
              <a:spcBef>
                <a:spcPts val="0"/>
              </a:spcBef>
              <a:spcAft>
                <a:spcPts val="60"/>
              </a:spcAft>
            </a:pPr>
            <a:r>
              <a:rPr sz="878" b="0" i="0">
                <a:solidFill>
                  <a:srgbClr val="E5E7EB"/>
                </a:solidFill>
                <a:latin typeface="Consolas"/>
              </a:rPr>
              <a:t>    *bal2      = temp;</a:t>
            </a:r>
          </a:p>
          <a:p>
            <a:pPr>
              <a:lnSpc>
                <a:spcPct val="100000"/>
              </a:lnSpc>
              <a:spcBef>
                <a:spcPts val="0"/>
              </a:spcBef>
              <a:spcAft>
                <a:spcPts val="60"/>
              </a:spcAft>
            </a:pPr>
            <a:r>
              <a:rPr sz="878" b="0" i="0">
                <a:solidFill>
                  <a:srgbClr val="E5E7EB"/>
                </a:solidFill>
                <a:latin typeface="Consolas"/>
              </a:rPr>
              <a:t>}</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int main(void)</a:t>
            </a:r>
          </a:p>
          <a:p>
            <a:pPr>
              <a:lnSpc>
                <a:spcPct val="100000"/>
              </a:lnSpc>
              <a:spcBef>
                <a:spcPts val="0"/>
              </a:spcBef>
              <a:spcAft>
                <a:spcPts val="60"/>
              </a:spcAft>
            </a:pPr>
            <a:r>
              <a:rPr sz="878" b="0" i="0">
                <a:solidFill>
                  <a:srgbClr val="E5E7EB"/>
                </a:solidFill>
                <a:latin typeface="Consolas"/>
              </a:rPr>
              <a:t>{</a:t>
            </a:r>
          </a:p>
          <a:p>
            <a:pPr>
              <a:lnSpc>
                <a:spcPct val="100000"/>
              </a:lnSpc>
              <a:spcBef>
                <a:spcPts val="0"/>
              </a:spcBef>
              <a:spcAft>
                <a:spcPts val="60"/>
              </a:spcAft>
            </a:pPr>
            <a:r>
              <a:rPr sz="878" b="0" i="0">
                <a:solidFill>
                  <a:srgbClr val="E5E7EB"/>
                </a:solidFill>
                <a:latin typeface="Consolas"/>
              </a:rPr>
              <a:t>    float account_a, account_b;</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printf("Enter balance of account A: ");</a:t>
            </a:r>
          </a:p>
          <a:p>
            <a:pPr>
              <a:lnSpc>
                <a:spcPct val="100000"/>
              </a:lnSpc>
              <a:spcBef>
                <a:spcPts val="0"/>
              </a:spcBef>
              <a:spcAft>
                <a:spcPts val="60"/>
              </a:spcAft>
            </a:pPr>
            <a:r>
              <a:rPr sz="878" b="0" i="0">
                <a:solidFill>
                  <a:srgbClr val="E5E7EB"/>
                </a:solidFill>
                <a:latin typeface="Consolas"/>
              </a:rPr>
              <a:t>    scanf("%f", &amp;account_a);</a:t>
            </a:r>
          </a:p>
          <a:p>
            <a:pPr>
              <a:lnSpc>
                <a:spcPct val="100000"/>
              </a:lnSpc>
              <a:spcBef>
                <a:spcPts val="0"/>
              </a:spcBef>
              <a:spcAft>
                <a:spcPts val="60"/>
              </a:spcAft>
            </a:pPr>
            <a:r>
              <a:rPr sz="878" b="0" i="0">
                <a:solidFill>
                  <a:srgbClr val="E5E7EB"/>
                </a:solidFill>
                <a:latin typeface="Consolas"/>
              </a:rPr>
              <a:t>    printf("Enter balance of account B: ");</a:t>
            </a:r>
          </a:p>
          <a:p>
            <a:pPr>
              <a:lnSpc>
                <a:spcPct val="100000"/>
              </a:lnSpc>
              <a:spcBef>
                <a:spcPts val="0"/>
              </a:spcBef>
              <a:spcAft>
                <a:spcPts val="60"/>
              </a:spcAft>
            </a:pPr>
            <a:r>
              <a:rPr sz="878" b="0" i="0">
                <a:solidFill>
                  <a:srgbClr val="E5E7EB"/>
                </a:solidFill>
                <a:latin typeface="Consolas"/>
              </a:rPr>
              <a:t>    scanf("%f", &amp;account_b);</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printf("\nBefore swap -&gt; A = %.2f, B = %.2f\n", account_a, account_b);</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swap_balances(&amp;account_a, &amp;account_b);        /* pass addresses        */</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printf("After  swap -&gt; A = %.2f, B = %.2f\n", account_a, account_b);</a:t>
            </a:r>
          </a:p>
          <a:p>
            <a:pPr>
              <a:lnSpc>
                <a:spcPct val="100000"/>
              </a:lnSpc>
              <a:spcBef>
                <a:spcPts val="0"/>
              </a:spcBef>
              <a:spcAft>
                <a:spcPts val="60"/>
              </a:spcAft>
            </a:pPr>
            <a:r>
              <a:rPr sz="878" b="0" i="0">
                <a:solidFill>
                  <a:srgbClr val="E5E7EB"/>
                </a:solidFill>
                <a:latin typeface="Consolas"/>
              </a:rPr>
              <a:t> </a:t>
            </a:r>
          </a:p>
          <a:p>
            <a:pPr>
              <a:lnSpc>
                <a:spcPct val="100000"/>
              </a:lnSpc>
              <a:spcBef>
                <a:spcPts val="0"/>
              </a:spcBef>
              <a:spcAft>
                <a:spcPts val="60"/>
              </a:spcAft>
            </a:pPr>
            <a:r>
              <a:rPr sz="878" b="0" i="0">
                <a:solidFill>
                  <a:srgbClr val="E5E7EB"/>
                </a:solidFill>
                <a:latin typeface="Consolas"/>
              </a:rPr>
              <a:t>    return 0;</a:t>
            </a:r>
          </a:p>
          <a:p>
            <a:pPr>
              <a:lnSpc>
                <a:spcPct val="100000"/>
              </a:lnSpc>
              <a:spcBef>
                <a:spcPts val="0"/>
              </a:spcBef>
              <a:spcAft>
                <a:spcPts val="60"/>
              </a:spcAft>
            </a:pPr>
            <a:r>
              <a:rPr sz="878" b="0" i="0">
                <a:solidFill>
                  <a:srgbClr val="E5E7EB"/>
                </a:solidFill>
                <a:latin typeface="Consolas"/>
              </a:rPr>
              <a:t>}</a:t>
            </a:r>
          </a:p>
        </p:txBody>
      </p:sp>
      <p:sp>
        <p:nvSpPr>
          <p:cNvPr id="12" name="Rectangle 11"/>
          <p:cNvSpPr/>
          <p:nvPr/>
        </p:nvSpPr>
        <p:spPr>
          <a:xfrm>
            <a:off x="6537960" y="1554480"/>
            <a:ext cx="5212079" cy="4773168"/>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two live accounts: 15000.50 and 8250.75 change places</a:t>
            </a:r>
          </a:p>
        </p:txBody>
      </p:sp>
      <p:sp>
        <p:nvSpPr>
          <p:cNvPr id="14" name="TextBox 13"/>
          <p:cNvSpPr txBox="1"/>
          <p:nvPr/>
        </p:nvSpPr>
        <p:spPr>
          <a:xfrm>
            <a:off x="6684264" y="1920240"/>
            <a:ext cx="4937759" cy="4315968"/>
          </a:xfrm>
          <a:prstGeom prst="rect">
            <a:avLst/>
          </a:prstGeom>
          <a:noFill/>
        </p:spPr>
        <p:txBody>
          <a:bodyPr wrap="none" anchor="t" lIns="0" rIns="0" tIns="0" bIns="0">
            <a:spAutoFit/>
          </a:bodyPr>
          <a:lstStyle/>
          <a:p>
            <a:pPr>
              <a:lnSpc>
                <a:spcPct val="100000"/>
              </a:lnSpc>
              <a:spcBef>
                <a:spcPts val="0"/>
              </a:spcBef>
              <a:spcAft>
                <a:spcPts val="60"/>
              </a:spcAft>
            </a:pPr>
            <a:r>
              <a:rPr sz="1200" b="0" i="0">
                <a:solidFill>
                  <a:srgbClr val="14171C"/>
                </a:solidFill>
                <a:latin typeface="Consolas"/>
              </a:rPr>
              <a:t>Enter balance of account A: 15000.50</a:t>
            </a:r>
          </a:p>
          <a:p>
            <a:pPr>
              <a:lnSpc>
                <a:spcPct val="100000"/>
              </a:lnSpc>
              <a:spcBef>
                <a:spcPts val="0"/>
              </a:spcBef>
              <a:spcAft>
                <a:spcPts val="60"/>
              </a:spcAft>
            </a:pPr>
            <a:r>
              <a:rPr sz="1200" b="0" i="0">
                <a:solidFill>
                  <a:srgbClr val="14171C"/>
                </a:solidFill>
                <a:latin typeface="Consolas"/>
              </a:rPr>
              <a:t>Enter balance of account B: 8250.75</a:t>
            </a:r>
          </a:p>
          <a:p>
            <a:pPr>
              <a:lnSpc>
                <a:spcPct val="100000"/>
              </a:lnSpc>
              <a:spcBef>
                <a:spcPts val="0"/>
              </a:spcBef>
              <a:spcAft>
                <a:spcPts val="60"/>
              </a:spcAft>
            </a:pPr>
            <a:r>
              <a:rPr sz="1200" b="0" i="0">
                <a:solidFill>
                  <a:srgbClr val="14171C"/>
                </a:solidFill>
                <a:latin typeface="Consolas"/>
              </a:rPr>
              <a:t> </a:t>
            </a:r>
          </a:p>
          <a:p>
            <a:pPr>
              <a:lnSpc>
                <a:spcPct val="100000"/>
              </a:lnSpc>
              <a:spcBef>
                <a:spcPts val="0"/>
              </a:spcBef>
              <a:spcAft>
                <a:spcPts val="60"/>
              </a:spcAft>
            </a:pPr>
            <a:r>
              <a:rPr sz="1200" b="0" i="0">
                <a:solidFill>
                  <a:srgbClr val="14171C"/>
                </a:solidFill>
                <a:latin typeface="Consolas"/>
              </a:rPr>
              <a:t>Before swap -&gt; A = 15000.50, B = 8250.75</a:t>
            </a:r>
          </a:p>
          <a:p>
            <a:pPr>
              <a:lnSpc>
                <a:spcPct val="100000"/>
              </a:lnSpc>
              <a:spcBef>
                <a:spcPts val="0"/>
              </a:spcBef>
              <a:spcAft>
                <a:spcPts val="60"/>
              </a:spcAft>
            </a:pPr>
            <a:r>
              <a:rPr sz="1200" b="0" i="0">
                <a:solidFill>
                  <a:srgbClr val="14171C"/>
                </a:solidFill>
                <a:latin typeface="Consolas"/>
              </a:rPr>
              <a:t>After  swap -&gt; A = 8250.75, B = 15000.50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PART-A · ITEM 8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Part-A · Item 8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27</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The before/after pair proves the function did what main could not do from outside: the values that main printed are the values the function wrote. A single run suffices for the verdict, but the record gains depth from a control attempt: reproduce Experiment 7-style call-by-value (parameters float v1, float v2) and show it fails — the printed AFTER line stays unchanged. That negative result, one line of output, is the strongest evidence in this experiment. Inference.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swapping two ATM account balances was developed: main reads and prints the balances, calls swap_balances(&amp;A, &amp;B), which dereferences its two float * parameters through a three-line temp-swap, and main re-prints the exchanged values.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State the types involved in this program: the two main variables, the two function parameters, the addresses.</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is the output if the function body omits the temp? Prove it by stepping the two assignments.</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“C has no call by reference.” Explain that sentence with respect to this exact program.</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What is wrong — at compile time or at runtime — with writing swap_balances(A, B) against the pointer-taking function?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1</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1 — Book Search on a Sorted Digital Shelf — Designing for Speed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29</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implement and evaluate a C program that, given a shelf of Book IDs sorted in ascending order, decides whether a requested ID is present — and to justify the chosen search strategy by measured or counted work rather than by assertion.</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Recognise “ascending order” as a promise that can be used; implement binary search (or defend an alternative); count comparisons in both strategies and report the ratio; </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Two algorithms answer “is x in a sorted array of n?”; the whole open-ended value of the experiment lies in the gap between them.</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Binary search is a lesson in assumptions as preconditions: discard-half only works if the array really is sorted. A shelf stored out of order does not make the algorithm “a little slower” — it makes it wrong, silently. The record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Two implementation details distinguish a careful submission from a hurried one:</a:t>
            </a:r>
          </a:p>
        </p:txBody>
      </p:sp>
      <p:pic>
        <p:nvPicPr>
          <p:cNvPr id="14" name="Picture 13" descr="b01.png"/>
          <p:cNvPicPr>
            <a:picLocks noChangeAspect="1"/>
          </p:cNvPicPr>
          <p:nvPr/>
        </p:nvPicPr>
        <p:blipFill>
          <a:blip r:embed="rId2"/>
          <a:stretch>
            <a:fillRect/>
          </a:stretch>
        </p:blipFill>
        <p:spPr>
          <a:xfrm>
            <a:off x="8563051" y="1554480"/>
            <a:ext cx="1801976"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§9.2</a:t>
            </a:r>
          </a:p>
        </p:txBody>
      </p:sp>
      <p:sp>
        <p:nvSpPr>
          <p:cNvPr id="16" name="Rectangle 15"/>
          <p:cNvSpPr/>
          <p:nvPr/>
        </p:nvSpPr>
        <p:spPr>
          <a:xfrm>
            <a:off x="7178040" y="4956048"/>
            <a:ext cx="4572000" cy="142646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5065776"/>
            <a:ext cx="4279392" cy="1243584"/>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DESIGN NOTE</a:t>
            </a:r>
          </a:p>
          <a:p>
            <a:pPr>
              <a:lnSpc>
                <a:spcPct val="108000"/>
              </a:lnSpc>
              <a:spcBef>
                <a:spcPts val="0"/>
              </a:spcBef>
              <a:spcAft>
                <a:spcPts val="400"/>
              </a:spcAft>
            </a:pPr>
            <a:r>
              <a:rPr sz="1100" b="0" i="0">
                <a:solidFill>
                  <a:srgbClr val="16181D"/>
                </a:solidFill>
                <a:latin typeface="Calibri"/>
              </a:rPr>
              <a:t>Requirement read-out. “Quickly” is the operative word: the design must be able to report its own speed. Chosen design (one of several defensible ones): binary search returning the index or −1, with a comparison counter wrapped around it, and the linear scan retained in the source as the baseline for measurement. Test plan. (i) each of the ten shelf entries individually — every index must be found; (ii) numbers just below, betw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1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1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30</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b01_binary_search.c  ·  complete source as compiled · 42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Experiment B1 -- binary search for a Book ID on a sorted digital shelf</a:t>
            </a:r>
          </a:p>
          <a:p>
            <a:pPr>
              <a:lnSpc>
                <a:spcPct val="100000"/>
              </a:lnSpc>
              <a:spcBef>
                <a:spcPts val="0"/>
              </a:spcBef>
              <a:spcAft>
                <a:spcPts val="60"/>
              </a:spcAft>
            </a:pPr>
            <a:r>
              <a:rPr sz="640" b="0" i="0">
                <a:solidFill>
                  <a:srgbClr val="E5E7EB"/>
                </a:solidFill>
                <a:latin typeface="Consolas"/>
              </a:rPr>
              <a:t>   File    : b01_binary_search.c</a:t>
            </a:r>
          </a:p>
          <a:p>
            <a:pPr>
              <a:lnSpc>
                <a:spcPct val="100000"/>
              </a:lnSpc>
              <a:spcBef>
                <a:spcPts val="0"/>
              </a:spcBef>
              <a:spcAft>
                <a:spcPts val="60"/>
              </a:spcAft>
            </a:pPr>
            <a:r>
              <a:rPr sz="640" b="0" i="0">
                <a:solidFill>
                  <a:srgbClr val="E5E7EB"/>
                </a:solidFill>
                <a:latin typeface="Consolas"/>
              </a:rPr>
              <a:t>   Build   : gcc -Wall b01_binary_search.c -o b01_binary_search           */</a:t>
            </a:r>
          </a:p>
          <a:p>
            <a:pPr>
              <a:lnSpc>
                <a:spcPct val="100000"/>
              </a:lnSpc>
              <a:spcBef>
                <a:spcPts val="0"/>
              </a:spcBef>
              <a:spcAft>
                <a:spcPts val="60"/>
              </a:spcAft>
            </a:pPr>
            <a:r>
              <a:rPr sz="640" b="0" i="0">
                <a:solidFill>
                  <a:srgbClr val="E5E7EB"/>
                </a:solidFill>
                <a:latin typeface="Consolas"/>
              </a:rPr>
              <a:t>#include &lt;stdio.h&gt;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main(void)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int shelf[50], n = 0, key, low, high, mid, found = -1, probes = 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printf("How many books on the shelf? ");</a:t>
            </a:r>
          </a:p>
          <a:p>
            <a:pPr>
              <a:lnSpc>
                <a:spcPct val="100000"/>
              </a:lnSpc>
              <a:spcBef>
                <a:spcPts val="0"/>
              </a:spcBef>
              <a:spcAft>
                <a:spcPts val="60"/>
              </a:spcAft>
            </a:pPr>
            <a:r>
              <a:rPr sz="640" b="0" i="0">
                <a:solidFill>
                  <a:srgbClr val="E5E7EB"/>
                </a:solidFill>
                <a:latin typeface="Consolas"/>
              </a:rPr>
              <a:t>    scanf("%d", &amp;n);</a:t>
            </a:r>
          </a:p>
          <a:p>
            <a:pPr>
              <a:lnSpc>
                <a:spcPct val="100000"/>
              </a:lnSpc>
              <a:spcBef>
                <a:spcPts val="0"/>
              </a:spcBef>
              <a:spcAft>
                <a:spcPts val="60"/>
              </a:spcAft>
            </a:pPr>
            <a:r>
              <a:rPr sz="640" b="0" i="0">
                <a:solidFill>
                  <a:srgbClr val="E5E7EB"/>
                </a:solidFill>
                <a:latin typeface="Consolas"/>
              </a:rPr>
              <a:t>    printf("Enter %d Book IDs in ASCENDING order: ", n);</a:t>
            </a:r>
          </a:p>
          <a:p>
            <a:pPr>
              <a:lnSpc>
                <a:spcPct val="100000"/>
              </a:lnSpc>
              <a:spcBef>
                <a:spcPts val="0"/>
              </a:spcBef>
              <a:spcAft>
                <a:spcPts val="60"/>
              </a:spcAft>
            </a:pPr>
            <a:r>
              <a:rPr sz="640" b="0" i="0">
                <a:solidFill>
                  <a:srgbClr val="E5E7EB"/>
                </a:solidFill>
                <a:latin typeface="Consolas"/>
              </a:rPr>
              <a:t>    for (int i = 0; i &lt; n; i++)</a:t>
            </a:r>
          </a:p>
          <a:p>
            <a:pPr>
              <a:lnSpc>
                <a:spcPct val="100000"/>
              </a:lnSpc>
              <a:spcBef>
                <a:spcPts val="0"/>
              </a:spcBef>
              <a:spcAft>
                <a:spcPts val="60"/>
              </a:spcAft>
            </a:pPr>
            <a:r>
              <a:rPr sz="640" b="0" i="0">
                <a:solidFill>
                  <a:srgbClr val="E5E7EB"/>
                </a:solidFill>
                <a:latin typeface="Consolas"/>
              </a:rPr>
              <a:t>        scanf("%d", &amp;shelf[i]);</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printf("Enter the Book ID to search: ");</a:t>
            </a:r>
          </a:p>
          <a:p>
            <a:pPr>
              <a:lnSpc>
                <a:spcPct val="100000"/>
              </a:lnSpc>
              <a:spcBef>
                <a:spcPts val="0"/>
              </a:spcBef>
              <a:spcAft>
                <a:spcPts val="60"/>
              </a:spcAft>
            </a:pPr>
            <a:r>
              <a:rPr sz="640" b="0" i="0">
                <a:solidFill>
                  <a:srgbClr val="E5E7EB"/>
                </a:solidFill>
                <a:latin typeface="Consolas"/>
              </a:rPr>
              <a:t>    scanf("%d", &amp;key);</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low = 0;  high = n - 1;</a:t>
            </a:r>
          </a:p>
          <a:p>
            <a:pPr>
              <a:lnSpc>
                <a:spcPct val="100000"/>
              </a:lnSpc>
              <a:spcBef>
                <a:spcPts val="0"/>
              </a:spcBef>
              <a:spcAft>
                <a:spcPts val="60"/>
              </a:spcAft>
            </a:pPr>
            <a:r>
              <a:rPr sz="640" b="0" i="0">
                <a:solidFill>
                  <a:srgbClr val="E5E7EB"/>
                </a:solidFill>
                <a:latin typeface="Consolas"/>
              </a:rPr>
              <a:t>    while (low &lt;= high) {</a:t>
            </a:r>
          </a:p>
          <a:p>
            <a:pPr>
              <a:lnSpc>
                <a:spcPct val="100000"/>
              </a:lnSpc>
              <a:spcBef>
                <a:spcPts val="0"/>
              </a:spcBef>
              <a:spcAft>
                <a:spcPts val="60"/>
              </a:spcAft>
            </a:pPr>
            <a:r>
              <a:rPr sz="640" b="0" i="0">
                <a:solidFill>
                  <a:srgbClr val="E5E7EB"/>
                </a:solidFill>
                <a:latin typeface="Consolas"/>
              </a:rPr>
              <a:t>        mid = low + (high - low) / 2;      /* overflow-safe midpoint      */</a:t>
            </a:r>
          </a:p>
          <a:p>
            <a:pPr>
              <a:lnSpc>
                <a:spcPct val="100000"/>
              </a:lnSpc>
              <a:spcBef>
                <a:spcPts val="0"/>
              </a:spcBef>
              <a:spcAft>
                <a:spcPts val="60"/>
              </a:spcAft>
            </a:pPr>
            <a:r>
              <a:rPr sz="640" b="0" i="0">
                <a:solidFill>
                  <a:srgbClr val="E5E7EB"/>
                </a:solidFill>
                <a:latin typeface="Consolas"/>
              </a:rPr>
              <a:t>        probes++;</a:t>
            </a:r>
          </a:p>
          <a:p>
            <a:pPr>
              <a:lnSpc>
                <a:spcPct val="100000"/>
              </a:lnSpc>
              <a:spcBef>
                <a:spcPts val="0"/>
              </a:spcBef>
              <a:spcAft>
                <a:spcPts val="60"/>
              </a:spcAft>
            </a:pPr>
            <a:r>
              <a:rPr sz="640" b="0" i="0">
                <a:solidFill>
                  <a:srgbClr val="E5E7EB"/>
                </a:solidFill>
                <a:latin typeface="Consolas"/>
              </a:rPr>
              <a:t>        if (shelf[mid] == key) {           /* hit: position is the answer */</a:t>
            </a:r>
          </a:p>
          <a:p>
            <a:pPr>
              <a:lnSpc>
                <a:spcPct val="100000"/>
              </a:lnSpc>
              <a:spcBef>
                <a:spcPts val="0"/>
              </a:spcBef>
              <a:spcAft>
                <a:spcPts val="60"/>
              </a:spcAft>
            </a:pPr>
            <a:r>
              <a:rPr sz="640" b="0" i="0">
                <a:solidFill>
                  <a:srgbClr val="E5E7EB"/>
                </a:solidFill>
                <a:latin typeface="Consolas"/>
              </a:rPr>
              <a:t>            found = mid;</a:t>
            </a:r>
          </a:p>
          <a:p>
            <a:pPr>
              <a:lnSpc>
                <a:spcPct val="100000"/>
              </a:lnSpc>
              <a:spcBef>
                <a:spcPts val="0"/>
              </a:spcBef>
              <a:spcAft>
                <a:spcPts val="60"/>
              </a:spcAft>
            </a:pPr>
            <a:r>
              <a:rPr sz="640" b="0" i="0">
                <a:solidFill>
                  <a:srgbClr val="E5E7EB"/>
                </a:solidFill>
                <a:latin typeface="Consolas"/>
              </a:rPr>
              <a:t>            break;</a:t>
            </a:r>
          </a:p>
          <a:p>
            <a:pPr>
              <a:lnSpc>
                <a:spcPct val="100000"/>
              </a:lnSpc>
              <a:spcBef>
                <a:spcPts val="0"/>
              </a:spcBef>
              <a:spcAft>
                <a:spcPts val="60"/>
              </a:spcAft>
            </a:pPr>
            <a:r>
              <a:rPr sz="640" b="0" i="0">
                <a:solidFill>
                  <a:srgbClr val="E5E7EB"/>
                </a:solidFill>
                <a:latin typeface="Consolas"/>
              </a:rPr>
              <a:t>        } else if (shelf[mid] &lt; key)       /* key is in the right half     */</a:t>
            </a:r>
          </a:p>
          <a:p>
            <a:pPr>
              <a:lnSpc>
                <a:spcPct val="100000"/>
              </a:lnSpc>
              <a:spcBef>
                <a:spcPts val="0"/>
              </a:spcBef>
              <a:spcAft>
                <a:spcPts val="60"/>
              </a:spcAft>
            </a:pPr>
            <a:r>
              <a:rPr sz="640" b="0" i="0">
                <a:solidFill>
                  <a:srgbClr val="E5E7EB"/>
                </a:solidFill>
                <a:latin typeface="Consolas"/>
              </a:rPr>
              <a:t>            low = mid + 1;</a:t>
            </a:r>
          </a:p>
          <a:p>
            <a:pPr>
              <a:lnSpc>
                <a:spcPct val="100000"/>
              </a:lnSpc>
              <a:spcBef>
                <a:spcPts val="0"/>
              </a:spcBef>
              <a:spcAft>
                <a:spcPts val="60"/>
              </a:spcAft>
            </a:pPr>
            <a:r>
              <a:rPr sz="640" b="0" i="0">
                <a:solidFill>
                  <a:srgbClr val="E5E7EB"/>
                </a:solidFill>
                <a:latin typeface="Consolas"/>
              </a:rPr>
              <a:t>        else                               /* key is in the left half      */</a:t>
            </a:r>
          </a:p>
          <a:p>
            <a:pPr>
              <a:lnSpc>
                <a:spcPct val="100000"/>
              </a:lnSpc>
              <a:spcBef>
                <a:spcPts val="0"/>
              </a:spcBef>
              <a:spcAft>
                <a:spcPts val="60"/>
              </a:spcAft>
            </a:pPr>
            <a:r>
              <a:rPr sz="640" b="0" i="0">
                <a:solidFill>
                  <a:srgbClr val="E5E7EB"/>
                </a:solidFill>
                <a:latin typeface="Consolas"/>
              </a:rPr>
              <a:t>            high = mid - 1;</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if (found != -1)</a:t>
            </a:r>
          </a:p>
          <a:p>
            <a:pPr>
              <a:lnSpc>
                <a:spcPct val="100000"/>
              </a:lnSpc>
              <a:spcBef>
                <a:spcPts val="0"/>
              </a:spcBef>
              <a:spcAft>
                <a:spcPts val="60"/>
              </a:spcAft>
            </a:pPr>
            <a:r>
              <a:rPr sz="640" b="0" i="0">
                <a:solidFill>
                  <a:srgbClr val="E5E7EB"/>
                </a:solidFill>
                <a:latin typeface="Consolas"/>
              </a:rPr>
              <a:t>        printf("Book ID %d found at shelf position %d (index %d).\n",</a:t>
            </a:r>
          </a:p>
          <a:p>
            <a:pPr>
              <a:lnSpc>
                <a:spcPct val="100000"/>
              </a:lnSpc>
              <a:spcBef>
                <a:spcPts val="0"/>
              </a:spcBef>
              <a:spcAft>
                <a:spcPts val="60"/>
              </a:spcAft>
            </a:pPr>
            <a:r>
              <a:rPr sz="640" b="0" i="0">
                <a:solidFill>
                  <a:srgbClr val="E5E7EB"/>
                </a:solidFill>
                <a:latin typeface="Consolas"/>
              </a:rPr>
              <a:t>               key, found + 1, found);</a:t>
            </a:r>
          </a:p>
          <a:p>
            <a:pPr>
              <a:lnSpc>
                <a:spcPct val="100000"/>
              </a:lnSpc>
              <a:spcBef>
                <a:spcPts val="0"/>
              </a:spcBef>
              <a:spcAft>
                <a:spcPts val="60"/>
              </a:spcAft>
            </a:pPr>
            <a:r>
              <a:rPr sz="640" b="0" i="0">
                <a:solidFill>
                  <a:srgbClr val="E5E7EB"/>
                </a:solidFill>
                <a:latin typeface="Consolas"/>
              </a:rPr>
              <a:t>    else</a:t>
            </a:r>
          </a:p>
          <a:p>
            <a:pPr>
              <a:lnSpc>
                <a:spcPct val="100000"/>
              </a:lnSpc>
              <a:spcBef>
                <a:spcPts val="0"/>
              </a:spcBef>
              <a:spcAft>
                <a:spcPts val="60"/>
              </a:spcAft>
            </a:pPr>
            <a:r>
              <a:rPr sz="640" b="0" i="0">
                <a:solidFill>
                  <a:srgbClr val="E5E7EB"/>
                </a:solidFill>
                <a:latin typeface="Consolas"/>
              </a:rPr>
              <a:t>        printf("Book ID %d is NOT available on the shelf.\n", key);</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printf("Comparisons used: %d (linear search worst case would use %d).\n",</a:t>
            </a:r>
          </a:p>
          <a:p>
            <a:pPr>
              <a:lnSpc>
                <a:spcPct val="100000"/>
              </a:lnSpc>
              <a:spcBef>
                <a:spcPts val="0"/>
              </a:spcBef>
              <a:spcAft>
                <a:spcPts val="60"/>
              </a:spcAft>
            </a:pPr>
            <a:r>
              <a:rPr sz="640" b="0" i="0">
                <a:solidFill>
                  <a:srgbClr val="E5E7EB"/>
                </a:solidFill>
                <a:latin typeface="Consolas"/>
              </a:rPr>
              <a:t>           probes, (found != -1) ? found + 1 : n);</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ID 73 sits at position 6 of ten: three probes suffice</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926" b="0" i="0">
                <a:solidFill>
                  <a:srgbClr val="14171C"/>
                </a:solidFill>
                <a:latin typeface="Consolas"/>
              </a:rPr>
              <a:t>How many books on the shelf? 10</a:t>
            </a:r>
          </a:p>
          <a:p>
            <a:pPr>
              <a:lnSpc>
                <a:spcPct val="100000"/>
              </a:lnSpc>
              <a:spcBef>
                <a:spcPts val="0"/>
              </a:spcBef>
              <a:spcAft>
                <a:spcPts val="60"/>
              </a:spcAft>
            </a:pPr>
            <a:r>
              <a:rPr sz="926" b="0" i="0">
                <a:solidFill>
                  <a:srgbClr val="14171C"/>
                </a:solidFill>
                <a:latin typeface="Consolas"/>
              </a:rPr>
              <a:t>Enter 10 Book IDs in ASCENDING order: 12 27 34 51 68 73 84 91 97 105</a:t>
            </a:r>
          </a:p>
          <a:p>
            <a:pPr>
              <a:lnSpc>
                <a:spcPct val="100000"/>
              </a:lnSpc>
              <a:spcBef>
                <a:spcPts val="0"/>
              </a:spcBef>
              <a:spcAft>
                <a:spcPts val="60"/>
              </a:spcAft>
            </a:pPr>
            <a:r>
              <a:rPr sz="926" b="0" i="0">
                <a:solidFill>
                  <a:srgbClr val="14171C"/>
                </a:solidFill>
                <a:latin typeface="Consolas"/>
              </a:rPr>
              <a:t>Enter the Book ID to search: 73</a:t>
            </a:r>
          </a:p>
          <a:p>
            <a:pPr>
              <a:lnSpc>
                <a:spcPct val="100000"/>
              </a:lnSpc>
              <a:spcBef>
                <a:spcPts val="0"/>
              </a:spcBef>
              <a:spcAft>
                <a:spcPts val="60"/>
              </a:spcAft>
            </a:pPr>
            <a:r>
              <a:rPr sz="926" b="0" i="0">
                <a:solidFill>
                  <a:srgbClr val="14171C"/>
                </a:solidFill>
                <a:latin typeface="Consolas"/>
              </a:rPr>
              <a:t>Book ID 73 found at shelf position 6 (index 5).</a:t>
            </a:r>
          </a:p>
          <a:p>
            <a:pPr>
              <a:lnSpc>
                <a:spcPct val="100000"/>
              </a:lnSpc>
              <a:spcBef>
                <a:spcPts val="0"/>
              </a:spcBef>
              <a:spcAft>
                <a:spcPts val="60"/>
              </a:spcAft>
            </a:pPr>
            <a:r>
              <a:rPr sz="926" b="0" i="0">
                <a:solidFill>
                  <a:srgbClr val="14171C"/>
                </a:solidFill>
                <a:latin typeface="Consolas"/>
              </a:rPr>
              <a:t>Comparisons used: 3 (linear search worst case would use 6).</a:t>
            </a:r>
          </a:p>
        </p:txBody>
      </p:sp>
      <p:sp>
        <p:nvSpPr>
          <p:cNvPr id="15" name="Rectangle 14"/>
          <p:cNvSpPr/>
          <p:nvPr/>
        </p:nvSpPr>
        <p:spPr>
          <a:xfrm>
            <a:off x="6537960" y="3968496"/>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ID 50 is absent: the halving proves it and says so</a:t>
            </a:r>
          </a:p>
        </p:txBody>
      </p:sp>
      <p:sp>
        <p:nvSpPr>
          <p:cNvPr id="17" name="TextBox 16"/>
          <p:cNvSpPr txBox="1"/>
          <p:nvPr/>
        </p:nvSpPr>
        <p:spPr>
          <a:xfrm>
            <a:off x="6684264" y="4334255"/>
            <a:ext cx="4937759" cy="1901952"/>
          </a:xfrm>
          <a:prstGeom prst="rect">
            <a:avLst/>
          </a:prstGeom>
          <a:noFill/>
        </p:spPr>
        <p:txBody>
          <a:bodyPr wrap="none" anchor="t" lIns="0" rIns="0" tIns="0" bIns="0">
            <a:spAutoFit/>
          </a:bodyPr>
          <a:lstStyle/>
          <a:p>
            <a:pPr>
              <a:lnSpc>
                <a:spcPct val="100000"/>
              </a:lnSpc>
              <a:spcBef>
                <a:spcPts val="0"/>
              </a:spcBef>
              <a:spcAft>
                <a:spcPts val="60"/>
              </a:spcAft>
            </a:pPr>
            <a:r>
              <a:rPr sz="926" b="0" i="0">
                <a:solidFill>
                  <a:srgbClr val="14171C"/>
                </a:solidFill>
                <a:latin typeface="Consolas"/>
              </a:rPr>
              <a:t>How many books on the shelf? 10</a:t>
            </a:r>
          </a:p>
          <a:p>
            <a:pPr>
              <a:lnSpc>
                <a:spcPct val="100000"/>
              </a:lnSpc>
              <a:spcBef>
                <a:spcPts val="0"/>
              </a:spcBef>
              <a:spcAft>
                <a:spcPts val="60"/>
              </a:spcAft>
            </a:pPr>
            <a:r>
              <a:rPr sz="926" b="0" i="0">
                <a:solidFill>
                  <a:srgbClr val="14171C"/>
                </a:solidFill>
                <a:latin typeface="Consolas"/>
              </a:rPr>
              <a:t>Enter 10 Book IDs in ASCENDING order: 12 27 34 51 68 73 84 91 97 105</a:t>
            </a:r>
          </a:p>
          <a:p>
            <a:pPr>
              <a:lnSpc>
                <a:spcPct val="100000"/>
              </a:lnSpc>
              <a:spcBef>
                <a:spcPts val="0"/>
              </a:spcBef>
              <a:spcAft>
                <a:spcPts val="60"/>
              </a:spcAft>
            </a:pPr>
            <a:r>
              <a:rPr sz="926" b="0" i="0">
                <a:solidFill>
                  <a:srgbClr val="14171C"/>
                </a:solidFill>
                <a:latin typeface="Consolas"/>
              </a:rPr>
              <a:t>Enter the Book ID to search: 50</a:t>
            </a:r>
          </a:p>
          <a:p>
            <a:pPr>
              <a:lnSpc>
                <a:spcPct val="100000"/>
              </a:lnSpc>
              <a:spcBef>
                <a:spcPts val="0"/>
              </a:spcBef>
              <a:spcAft>
                <a:spcPts val="60"/>
              </a:spcAft>
            </a:pPr>
            <a:r>
              <a:rPr sz="926" b="0" i="0">
                <a:solidFill>
                  <a:srgbClr val="14171C"/>
                </a:solidFill>
                <a:latin typeface="Consolas"/>
              </a:rPr>
              <a:t>Book ID 50 is NOT available on the shelf.</a:t>
            </a:r>
          </a:p>
          <a:p>
            <a:pPr>
              <a:lnSpc>
                <a:spcPct val="100000"/>
              </a:lnSpc>
              <a:spcBef>
                <a:spcPts val="0"/>
              </a:spcBef>
              <a:spcAft>
                <a:spcPts val="60"/>
              </a:spcAft>
            </a:pPr>
            <a:r>
              <a:rPr sz="926" b="0" i="0">
                <a:solidFill>
                  <a:srgbClr val="14171C"/>
                </a:solidFill>
                <a:latin typeface="Consolas"/>
              </a:rPr>
              <a:t>Comparisons used: 4 (linear search worst case would use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1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1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31</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The program prints its own evidence: for the ten-book shelf, finding 73 needed 3 comparisons where a linear scan would walk 6 entries to reach it — already a 2× win, and the gap widens as the shelf grows (20 books ⇒ ≤ 5 probes; 1000 ⇒ ≤ 10; 1 000 000 ⇒ ≤ 20 while a scan averages 500 000). Run 2 shows the negative answer arrives the same way: when [low, high] collapses to the empty interval, absence is proved, not guessed. Extension for full marks.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implementing binary search over a sorted array of Book IDs was designed, implemented and run; found and not-found paths were exercised (ID 73 → position 6 in 3 comparisons; ID 50 → “NOT available”), the returned index and comparison count.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State the loop invariant of binary search in one sentence; where in the code is it maintained?</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Why is (low + high) / 2 considered fragile?</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What does binary search do on an unsorted shelf — slow, wrong, or both? Justify with a two-element example.</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Compare worst cases: 1024 books, linear vs binary.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2</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2 — The 100-Metre Result Sheet — Choosing a Sorting Strategy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32</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implement and evaluate a C program that reads the scores recorded by a sports teacher for a 100 m race and arranges them in descending order (highest to lowest) for the result sheet, documenting the sorting strategy chosen and why it suits a class-sized dataset.</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Implement an in-place exchange sort with a swap-count early exit; reason about direction (a single flipped comparison sign turns “ascending” into the required descending)</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problem hands you the algorithm name only implicitly: “arrange in order” with tens of values is the natural habitat of the exchange family. The two candidates worth defending:</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Three details make this a real design exercise rather than a template:</a:t>
            </a:r>
          </a:p>
        </p:txBody>
      </p:sp>
      <p:pic>
        <p:nvPicPr>
          <p:cNvPr id="14" name="Picture 13" descr="b02.png"/>
          <p:cNvPicPr>
            <a:picLocks noChangeAspect="1"/>
          </p:cNvPicPr>
          <p:nvPr/>
        </p:nvPicPr>
        <p:blipFill>
          <a:blip r:embed="rId2"/>
          <a:stretch>
            <a:fillRect/>
          </a:stretch>
        </p:blipFill>
        <p:spPr>
          <a:xfrm>
            <a:off x="8715400" y="1554480"/>
            <a:ext cx="1497278"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§10.2</a:t>
            </a:r>
          </a:p>
        </p:txBody>
      </p:sp>
      <p:sp>
        <p:nvSpPr>
          <p:cNvPr id="16" name="Rectangle 15"/>
          <p:cNvSpPr/>
          <p:nvPr/>
        </p:nvSpPr>
        <p:spPr>
          <a:xfrm>
            <a:off x="7178040" y="4956048"/>
            <a:ext cx="4572000" cy="142646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5065776"/>
            <a:ext cx="4279392" cy="1243584"/>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DESIGN NOTE</a:t>
            </a:r>
          </a:p>
          <a:p>
            <a:pPr>
              <a:lnSpc>
                <a:spcPct val="108000"/>
              </a:lnSpc>
              <a:spcBef>
                <a:spcPts val="0"/>
              </a:spcBef>
              <a:spcAft>
                <a:spcPts val="400"/>
              </a:spcAft>
            </a:pPr>
            <a:r>
              <a:rPr sz="1100" b="0" i="0">
                <a:solidFill>
                  <a:srgbClr val="16181D"/>
                </a:solidFill>
                <a:latin typeface="Calibri"/>
              </a:rPr>
              <a:t>Requirement read-out. n is class-sized (tens), input arrives unsorted, output must be a rank sheet. Any correct sort wins; bubble was chosen for (i) the early-exit flag, which rewards already-ranked lists, (ii) two-line in-place swaps with no extra memory beyond the array, (iii) provable stability for ties. A future gym with 10⁵ entries would need a different conversation — say so, that is exactly the kind of judgement open-en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2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2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33</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b02_race_sort.c  ·  complete source as compiled · 39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75" b="0" i="0">
                <a:solidFill>
                  <a:srgbClr val="E5E7EB"/>
                </a:solidFill>
                <a:latin typeface="Consolas"/>
              </a:rPr>
              <a:t>/* Experiment B2 -- bubble-sort 100 m race scores in DESCENDING order</a:t>
            </a:r>
          </a:p>
          <a:p>
            <a:pPr>
              <a:lnSpc>
                <a:spcPct val="100000"/>
              </a:lnSpc>
              <a:spcBef>
                <a:spcPts val="0"/>
              </a:spcBef>
              <a:spcAft>
                <a:spcPts val="60"/>
              </a:spcAft>
            </a:pPr>
            <a:r>
              <a:rPr sz="675" b="0" i="0">
                <a:solidFill>
                  <a:srgbClr val="E5E7EB"/>
                </a:solidFill>
                <a:latin typeface="Consolas"/>
              </a:rPr>
              <a:t>   File    : b02_race_sort.c</a:t>
            </a:r>
          </a:p>
          <a:p>
            <a:pPr>
              <a:lnSpc>
                <a:spcPct val="100000"/>
              </a:lnSpc>
              <a:spcBef>
                <a:spcPts val="0"/>
              </a:spcBef>
              <a:spcAft>
                <a:spcPts val="60"/>
              </a:spcAft>
            </a:pPr>
            <a:r>
              <a:rPr sz="675" b="0" i="0">
                <a:solidFill>
                  <a:srgbClr val="E5E7EB"/>
                </a:solidFill>
                <a:latin typeface="Consolas"/>
              </a:rPr>
              <a:t>   Build   : gcc -Wall b02_race_sort.c -o b02_race_sort                    */</a:t>
            </a:r>
          </a:p>
          <a:p>
            <a:pPr>
              <a:lnSpc>
                <a:spcPct val="100000"/>
              </a:lnSpc>
              <a:spcBef>
                <a:spcPts val="0"/>
              </a:spcBef>
              <a:spcAft>
                <a:spcPts val="60"/>
              </a:spcAft>
            </a:pPr>
            <a:r>
              <a:rPr sz="675" b="0" i="0">
                <a:solidFill>
                  <a:srgbClr val="E5E7EB"/>
                </a:solidFill>
                <a:latin typeface="Consolas"/>
              </a:rPr>
              <a:t>#include &lt;stdio.h&gt;</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int main(void)</a:t>
            </a:r>
          </a:p>
          <a:p>
            <a:pPr>
              <a:lnSpc>
                <a:spcPct val="100000"/>
              </a:lnSpc>
              <a:spcBef>
                <a:spcPts val="0"/>
              </a:spcBef>
              <a:spcAft>
                <a:spcPts val="60"/>
              </a:spcAft>
            </a:pPr>
            <a:r>
              <a:rPr sz="675" b="0" i="0">
                <a:solidFill>
                  <a:srgbClr val="E5E7EB"/>
                </a:solidFill>
                <a:latin typeface="Consolas"/>
              </a:rPr>
              <a:t>{</a:t>
            </a:r>
          </a:p>
          <a:p>
            <a:pPr>
              <a:lnSpc>
                <a:spcPct val="100000"/>
              </a:lnSpc>
              <a:spcBef>
                <a:spcPts val="0"/>
              </a:spcBef>
              <a:spcAft>
                <a:spcPts val="60"/>
              </a:spcAft>
            </a:pPr>
            <a:r>
              <a:rPr sz="675" b="0" i="0">
                <a:solidFill>
                  <a:srgbClr val="E5E7EB"/>
                </a:solidFill>
                <a:latin typeface="Consolas"/>
              </a:rPr>
              <a:t>    float score[50];</a:t>
            </a:r>
          </a:p>
          <a:p>
            <a:pPr>
              <a:lnSpc>
                <a:spcPct val="100000"/>
              </a:lnSpc>
              <a:spcBef>
                <a:spcPts val="0"/>
              </a:spcBef>
              <a:spcAft>
                <a:spcPts val="60"/>
              </a:spcAft>
            </a:pPr>
            <a:r>
              <a:rPr sz="675" b="0" i="0">
                <a:solidFill>
                  <a:srgbClr val="E5E7EB"/>
                </a:solidFill>
                <a:latin typeface="Consolas"/>
              </a:rPr>
              <a:t>    int   n, pass;</a:t>
            </a:r>
          </a:p>
          <a:p>
            <a:pPr>
              <a:lnSpc>
                <a:spcPct val="100000"/>
              </a:lnSpc>
              <a:spcBef>
                <a:spcPts val="0"/>
              </a:spcBef>
              <a:spcAft>
                <a:spcPts val="60"/>
              </a:spcAft>
            </a:pPr>
            <a:r>
              <a:rPr sz="675" b="0" i="0">
                <a:solidFill>
                  <a:srgbClr val="E5E7EB"/>
                </a:solidFill>
                <a:latin typeface="Consolas"/>
              </a:rPr>
              <a:t>    float temp;</a:t>
            </a:r>
          </a:p>
          <a:p>
            <a:pPr>
              <a:lnSpc>
                <a:spcPct val="100000"/>
              </a:lnSpc>
              <a:spcBef>
                <a:spcPts val="0"/>
              </a:spcBef>
              <a:spcAft>
                <a:spcPts val="60"/>
              </a:spcAft>
            </a:pPr>
            <a:r>
              <a:rPr sz="675" b="0" i="0">
                <a:solidFill>
                  <a:srgbClr val="E5E7EB"/>
                </a:solidFill>
                <a:latin typeface="Consolas"/>
              </a:rPr>
              <a:t>    int   swapped;</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printf("How many students ran the 100 m race? ");</a:t>
            </a:r>
          </a:p>
          <a:p>
            <a:pPr>
              <a:lnSpc>
                <a:spcPct val="100000"/>
              </a:lnSpc>
              <a:spcBef>
                <a:spcPts val="0"/>
              </a:spcBef>
              <a:spcAft>
                <a:spcPts val="60"/>
              </a:spcAft>
            </a:pPr>
            <a:r>
              <a:rPr sz="675" b="0" i="0">
                <a:solidFill>
                  <a:srgbClr val="E5E7EB"/>
                </a:solidFill>
                <a:latin typeface="Consolas"/>
              </a:rPr>
              <a:t>    scanf("%d", &amp;n);</a:t>
            </a:r>
          </a:p>
          <a:p>
            <a:pPr>
              <a:lnSpc>
                <a:spcPct val="100000"/>
              </a:lnSpc>
              <a:spcBef>
                <a:spcPts val="0"/>
              </a:spcBef>
              <a:spcAft>
                <a:spcPts val="60"/>
              </a:spcAft>
            </a:pPr>
            <a:r>
              <a:rPr sz="675" b="0" i="0">
                <a:solidFill>
                  <a:srgbClr val="E5E7EB"/>
                </a:solidFill>
                <a:latin typeface="Consolas"/>
              </a:rPr>
              <a:t>    printf("Enter %d scores (points; higher is better): ", n);</a:t>
            </a:r>
          </a:p>
          <a:p>
            <a:pPr>
              <a:lnSpc>
                <a:spcPct val="100000"/>
              </a:lnSpc>
              <a:spcBef>
                <a:spcPts val="0"/>
              </a:spcBef>
              <a:spcAft>
                <a:spcPts val="60"/>
              </a:spcAft>
            </a:pPr>
            <a:r>
              <a:rPr sz="675" b="0" i="0">
                <a:solidFill>
                  <a:srgbClr val="E5E7EB"/>
                </a:solidFill>
                <a:latin typeface="Consolas"/>
              </a:rPr>
              <a:t>    for (int i = 0; i &lt; n; i++)</a:t>
            </a:r>
          </a:p>
          <a:p>
            <a:pPr>
              <a:lnSpc>
                <a:spcPct val="100000"/>
              </a:lnSpc>
              <a:spcBef>
                <a:spcPts val="0"/>
              </a:spcBef>
              <a:spcAft>
                <a:spcPts val="60"/>
              </a:spcAft>
            </a:pPr>
            <a:r>
              <a:rPr sz="675" b="0" i="0">
                <a:solidFill>
                  <a:srgbClr val="E5E7EB"/>
                </a:solidFill>
                <a:latin typeface="Consolas"/>
              </a:rPr>
              <a:t>        scanf("%f", &amp;score[i]);</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 Bubble sort, largest floats up. Flag exits early if already sorted. */</a:t>
            </a:r>
          </a:p>
          <a:p>
            <a:pPr>
              <a:lnSpc>
                <a:spcPct val="100000"/>
              </a:lnSpc>
              <a:spcBef>
                <a:spcPts val="0"/>
              </a:spcBef>
              <a:spcAft>
                <a:spcPts val="60"/>
              </a:spcAft>
            </a:pPr>
            <a:r>
              <a:rPr sz="675" b="0" i="0">
                <a:solidFill>
                  <a:srgbClr val="E5E7EB"/>
                </a:solidFill>
                <a:latin typeface="Consolas"/>
              </a:rPr>
              <a:t>    for (pass = 0; pass &lt; n - 1; pass++) {</a:t>
            </a:r>
          </a:p>
          <a:p>
            <a:pPr>
              <a:lnSpc>
                <a:spcPct val="100000"/>
              </a:lnSpc>
              <a:spcBef>
                <a:spcPts val="0"/>
              </a:spcBef>
              <a:spcAft>
                <a:spcPts val="60"/>
              </a:spcAft>
            </a:pPr>
            <a:r>
              <a:rPr sz="675" b="0" i="0">
                <a:solidFill>
                  <a:srgbClr val="E5E7EB"/>
                </a:solidFill>
                <a:latin typeface="Consolas"/>
              </a:rPr>
              <a:t>        swapped = 0;</a:t>
            </a:r>
          </a:p>
          <a:p>
            <a:pPr>
              <a:lnSpc>
                <a:spcPct val="100000"/>
              </a:lnSpc>
              <a:spcBef>
                <a:spcPts val="0"/>
              </a:spcBef>
              <a:spcAft>
                <a:spcPts val="60"/>
              </a:spcAft>
            </a:pPr>
            <a:r>
              <a:rPr sz="675" b="0" i="0">
                <a:solidFill>
                  <a:srgbClr val="E5E7EB"/>
                </a:solidFill>
                <a:latin typeface="Consolas"/>
              </a:rPr>
              <a:t>        for (int i = 0; i &lt; n - 1 - pass; i++) {</a:t>
            </a:r>
          </a:p>
          <a:p>
            <a:pPr>
              <a:lnSpc>
                <a:spcPct val="100000"/>
              </a:lnSpc>
              <a:spcBef>
                <a:spcPts val="0"/>
              </a:spcBef>
              <a:spcAft>
                <a:spcPts val="60"/>
              </a:spcAft>
            </a:pPr>
            <a:r>
              <a:rPr sz="675" b="0" i="0">
                <a:solidFill>
                  <a:srgbClr val="E5E7EB"/>
                </a:solidFill>
                <a:latin typeface="Consolas"/>
              </a:rPr>
              <a:t>            if (score[i] &lt; score[i + 1]) {          /* '&lt;' -&gt; descending */</a:t>
            </a:r>
          </a:p>
          <a:p>
            <a:pPr>
              <a:lnSpc>
                <a:spcPct val="100000"/>
              </a:lnSpc>
              <a:spcBef>
                <a:spcPts val="0"/>
              </a:spcBef>
              <a:spcAft>
                <a:spcPts val="60"/>
              </a:spcAft>
            </a:pPr>
            <a:r>
              <a:rPr sz="675" b="0" i="0">
                <a:solidFill>
                  <a:srgbClr val="E5E7EB"/>
                </a:solidFill>
                <a:latin typeface="Consolas"/>
              </a:rPr>
              <a:t>                temp         = score[i];</a:t>
            </a:r>
          </a:p>
          <a:p>
            <a:pPr>
              <a:lnSpc>
                <a:spcPct val="100000"/>
              </a:lnSpc>
              <a:spcBef>
                <a:spcPts val="0"/>
              </a:spcBef>
              <a:spcAft>
                <a:spcPts val="60"/>
              </a:spcAft>
            </a:pPr>
            <a:r>
              <a:rPr sz="675" b="0" i="0">
                <a:solidFill>
                  <a:srgbClr val="E5E7EB"/>
                </a:solidFill>
                <a:latin typeface="Consolas"/>
              </a:rPr>
              <a:t>                score[i]     = score[i + 1];</a:t>
            </a:r>
          </a:p>
          <a:p>
            <a:pPr>
              <a:lnSpc>
                <a:spcPct val="100000"/>
              </a:lnSpc>
              <a:spcBef>
                <a:spcPts val="0"/>
              </a:spcBef>
              <a:spcAft>
                <a:spcPts val="60"/>
              </a:spcAft>
            </a:pPr>
            <a:r>
              <a:rPr sz="675" b="0" i="0">
                <a:solidFill>
                  <a:srgbClr val="E5E7EB"/>
                </a:solidFill>
                <a:latin typeface="Consolas"/>
              </a:rPr>
              <a:t>                score[i + 1] = temp;</a:t>
            </a:r>
          </a:p>
          <a:p>
            <a:pPr>
              <a:lnSpc>
                <a:spcPct val="100000"/>
              </a:lnSpc>
              <a:spcBef>
                <a:spcPts val="0"/>
              </a:spcBef>
              <a:spcAft>
                <a:spcPts val="60"/>
              </a:spcAft>
            </a:pPr>
            <a:r>
              <a:rPr sz="675" b="0" i="0">
                <a:solidFill>
                  <a:srgbClr val="E5E7EB"/>
                </a:solidFill>
                <a:latin typeface="Consolas"/>
              </a:rPr>
              <a:t>                swapped      = 1;</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if (!swapped)</a:t>
            </a:r>
          </a:p>
          <a:p>
            <a:pPr>
              <a:lnSpc>
                <a:spcPct val="100000"/>
              </a:lnSpc>
              <a:spcBef>
                <a:spcPts val="0"/>
              </a:spcBef>
              <a:spcAft>
                <a:spcPts val="60"/>
              </a:spcAft>
            </a:pPr>
            <a:r>
              <a:rPr sz="675" b="0" i="0">
                <a:solidFill>
                  <a:srgbClr val="E5E7EB"/>
                </a:solidFill>
                <a:latin typeface="Consolas"/>
              </a:rPr>
              <a:t>            break;</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printf("\nResult sheet (rank order):\n");</a:t>
            </a:r>
          </a:p>
          <a:p>
            <a:pPr>
              <a:lnSpc>
                <a:spcPct val="100000"/>
              </a:lnSpc>
              <a:spcBef>
                <a:spcPts val="0"/>
              </a:spcBef>
              <a:spcAft>
                <a:spcPts val="60"/>
              </a:spcAft>
            </a:pPr>
            <a:r>
              <a:rPr sz="675" b="0" i="0">
                <a:solidFill>
                  <a:srgbClr val="E5E7EB"/>
                </a:solidFill>
                <a:latin typeface="Consolas"/>
              </a:rPr>
              <a:t>    for (int i = 0; i &lt; n; i++)</a:t>
            </a:r>
          </a:p>
          <a:p>
            <a:pPr>
              <a:lnSpc>
                <a:spcPct val="100000"/>
              </a:lnSpc>
              <a:spcBef>
                <a:spcPts val="0"/>
              </a:spcBef>
              <a:spcAft>
                <a:spcPts val="60"/>
              </a:spcAft>
            </a:pPr>
            <a:r>
              <a:rPr sz="675" b="0" i="0">
                <a:solidFill>
                  <a:srgbClr val="E5E7EB"/>
                </a:solidFill>
                <a:latin typeface="Consolas"/>
              </a:rPr>
              <a:t>        printf("Rank %d : score %.1f\n", i + 1, score[i]);</a:t>
            </a:r>
          </a:p>
          <a:p>
            <a:pPr>
              <a:lnSpc>
                <a:spcPct val="100000"/>
              </a:lnSpc>
              <a:spcBef>
                <a:spcPts val="0"/>
              </a:spcBef>
              <a:spcAft>
                <a:spcPts val="60"/>
              </a:spcAft>
            </a:pPr>
            <a:r>
              <a:rPr sz="675" b="0" i="0">
                <a:solidFill>
                  <a:srgbClr val="E5E7EB"/>
                </a:solidFill>
                <a:latin typeface="Consolas"/>
              </a:rPr>
              <a:t> </a:t>
            </a:r>
          </a:p>
          <a:p>
            <a:pPr>
              <a:lnSpc>
                <a:spcPct val="100000"/>
              </a:lnSpc>
              <a:spcBef>
                <a:spcPts val="0"/>
              </a:spcBef>
              <a:spcAft>
                <a:spcPts val="60"/>
              </a:spcAft>
            </a:pPr>
            <a:r>
              <a:rPr sz="675" b="0" i="0">
                <a:solidFill>
                  <a:srgbClr val="E5E7EB"/>
                </a:solidFill>
                <a:latin typeface="Consolas"/>
              </a:rPr>
              <a:t>    return 0;</a:t>
            </a:r>
          </a:p>
          <a:p>
            <a:pPr>
              <a:lnSpc>
                <a:spcPct val="100000"/>
              </a:lnSpc>
              <a:spcBef>
                <a:spcPts val="0"/>
              </a:spcBef>
              <a:spcAft>
                <a:spcPts val="60"/>
              </a:spcAft>
            </a:pPr>
            <a:r>
              <a:rPr sz="675"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five scores into a ranked sheet</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105" b="0" i="0">
                <a:solidFill>
                  <a:srgbClr val="14171C"/>
                </a:solidFill>
                <a:latin typeface="Consolas"/>
              </a:rPr>
              <a:t>How many students ran the 100 m race? 5</a:t>
            </a:r>
          </a:p>
          <a:p>
            <a:pPr>
              <a:lnSpc>
                <a:spcPct val="100000"/>
              </a:lnSpc>
              <a:spcBef>
                <a:spcPts val="0"/>
              </a:spcBef>
              <a:spcAft>
                <a:spcPts val="60"/>
              </a:spcAft>
            </a:pPr>
            <a:r>
              <a:rPr sz="1105" b="0" i="0">
                <a:solidFill>
                  <a:srgbClr val="14171C"/>
                </a:solidFill>
                <a:latin typeface="Consolas"/>
              </a:rPr>
              <a:t>Enter 5 scores (points; higher is better): 78 92 65 88 71</a:t>
            </a:r>
          </a:p>
          <a:p>
            <a:pPr>
              <a:lnSpc>
                <a:spcPct val="100000"/>
              </a:lnSpc>
              <a:spcBef>
                <a:spcPts val="0"/>
              </a:spcBef>
              <a:spcAft>
                <a:spcPts val="60"/>
              </a:spcAft>
            </a:pPr>
            <a:r>
              <a:rPr sz="1105" b="0" i="0">
                <a:solidFill>
                  <a:srgbClr val="14171C"/>
                </a:solidFill>
                <a:latin typeface="Consolas"/>
              </a:rPr>
              <a:t> </a:t>
            </a:r>
          </a:p>
          <a:p>
            <a:pPr>
              <a:lnSpc>
                <a:spcPct val="100000"/>
              </a:lnSpc>
              <a:spcBef>
                <a:spcPts val="0"/>
              </a:spcBef>
              <a:spcAft>
                <a:spcPts val="60"/>
              </a:spcAft>
            </a:pPr>
            <a:r>
              <a:rPr sz="1105" b="0" i="0">
                <a:solidFill>
                  <a:srgbClr val="14171C"/>
                </a:solidFill>
                <a:latin typeface="Consolas"/>
              </a:rPr>
              <a:t>Result sheet (rank order):</a:t>
            </a:r>
          </a:p>
          <a:p>
            <a:pPr>
              <a:lnSpc>
                <a:spcPct val="100000"/>
              </a:lnSpc>
              <a:spcBef>
                <a:spcPts val="0"/>
              </a:spcBef>
              <a:spcAft>
                <a:spcPts val="60"/>
              </a:spcAft>
            </a:pPr>
            <a:r>
              <a:rPr sz="1105" b="0" i="0">
                <a:solidFill>
                  <a:srgbClr val="14171C"/>
                </a:solidFill>
                <a:latin typeface="Consolas"/>
              </a:rPr>
              <a:t>Rank 1 : score 92.0</a:t>
            </a:r>
          </a:p>
          <a:p>
            <a:pPr>
              <a:lnSpc>
                <a:spcPct val="100000"/>
              </a:lnSpc>
              <a:spcBef>
                <a:spcPts val="0"/>
              </a:spcBef>
              <a:spcAft>
                <a:spcPts val="60"/>
              </a:spcAft>
            </a:pPr>
            <a:r>
              <a:rPr sz="1105" b="0" i="0">
                <a:solidFill>
                  <a:srgbClr val="14171C"/>
                </a:solidFill>
                <a:latin typeface="Consolas"/>
              </a:rPr>
              <a:t>Rank 2 : score 88.0</a:t>
            </a:r>
          </a:p>
          <a:p>
            <a:pPr>
              <a:lnSpc>
                <a:spcPct val="100000"/>
              </a:lnSpc>
              <a:spcBef>
                <a:spcPts val="0"/>
              </a:spcBef>
              <a:spcAft>
                <a:spcPts val="60"/>
              </a:spcAft>
            </a:pPr>
            <a:r>
              <a:rPr sz="1105" b="0" i="0">
                <a:solidFill>
                  <a:srgbClr val="14171C"/>
                </a:solidFill>
                <a:latin typeface="Consolas"/>
              </a:rPr>
              <a:t>Rank 3 : score 78.0</a:t>
            </a:r>
          </a:p>
          <a:p>
            <a:pPr>
              <a:lnSpc>
                <a:spcPct val="100000"/>
              </a:lnSpc>
              <a:spcBef>
                <a:spcPts val="0"/>
              </a:spcBef>
              <a:spcAft>
                <a:spcPts val="60"/>
              </a:spcAft>
            </a:pPr>
            <a:r>
              <a:rPr sz="1105" b="0" i="0">
                <a:solidFill>
                  <a:srgbClr val="14171C"/>
                </a:solidFill>
                <a:latin typeface="Consolas"/>
              </a:rPr>
              <a:t>Rank 4 : score 71.0</a:t>
            </a:r>
          </a:p>
          <a:p>
            <a:pPr>
              <a:lnSpc>
                <a:spcPct val="100000"/>
              </a:lnSpc>
              <a:spcBef>
                <a:spcPts val="0"/>
              </a:spcBef>
              <a:spcAft>
                <a:spcPts val="60"/>
              </a:spcAft>
            </a:pPr>
            <a:r>
              <a:rPr sz="1105" b="0" i="0">
                <a:solidFill>
                  <a:srgbClr val="14171C"/>
                </a:solidFill>
                <a:latin typeface="Consolas"/>
              </a:rPr>
              <a:t>Rank 5 : score 65.0</a:t>
            </a:r>
          </a:p>
        </p:txBody>
      </p:sp>
      <p:sp>
        <p:nvSpPr>
          <p:cNvPr id="15" name="Rectangle 14"/>
          <p:cNvSpPr/>
          <p:nvPr/>
        </p:nvSpPr>
        <p:spPr>
          <a:xfrm>
            <a:off x="6537960" y="3968496"/>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a dead heat at 90.0: the tie keeps entry order</a:t>
            </a:r>
          </a:p>
        </p:txBody>
      </p:sp>
      <p:sp>
        <p:nvSpPr>
          <p:cNvPr id="17" name="TextBox 16"/>
          <p:cNvSpPr txBox="1"/>
          <p:nvPr/>
        </p:nvSpPr>
        <p:spPr>
          <a:xfrm>
            <a:off x="6684264" y="4334255"/>
            <a:ext cx="4937759" cy="1901952"/>
          </a:xfrm>
          <a:prstGeom prst="rect">
            <a:avLst/>
          </a:prstGeom>
          <a:noFill/>
        </p:spPr>
        <p:txBody>
          <a:bodyPr wrap="none" anchor="t" lIns="0" rIns="0" tIns="0" bIns="0">
            <a:spAutoFit/>
          </a:bodyPr>
          <a:lstStyle/>
          <a:p>
            <a:pPr>
              <a:lnSpc>
                <a:spcPct val="100000"/>
              </a:lnSpc>
              <a:spcBef>
                <a:spcPts val="0"/>
              </a:spcBef>
              <a:spcAft>
                <a:spcPts val="60"/>
              </a:spcAft>
            </a:pPr>
            <a:r>
              <a:rPr sz="1166" b="0" i="0">
                <a:solidFill>
                  <a:srgbClr val="14171C"/>
                </a:solidFill>
                <a:latin typeface="Consolas"/>
              </a:rPr>
              <a:t>How many students ran the 100 m race? 4</a:t>
            </a:r>
          </a:p>
          <a:p>
            <a:pPr>
              <a:lnSpc>
                <a:spcPct val="100000"/>
              </a:lnSpc>
              <a:spcBef>
                <a:spcPts val="0"/>
              </a:spcBef>
              <a:spcAft>
                <a:spcPts val="60"/>
              </a:spcAft>
            </a:pPr>
            <a:r>
              <a:rPr sz="1166" b="0" i="0">
                <a:solidFill>
                  <a:srgbClr val="14171C"/>
                </a:solidFill>
                <a:latin typeface="Consolas"/>
              </a:rPr>
              <a:t>Enter 4 scores (points; higher is better): 90 90 85 88</a:t>
            </a:r>
          </a:p>
          <a:p>
            <a:pPr>
              <a:lnSpc>
                <a:spcPct val="100000"/>
              </a:lnSpc>
              <a:spcBef>
                <a:spcPts val="0"/>
              </a:spcBef>
              <a:spcAft>
                <a:spcPts val="60"/>
              </a:spcAft>
            </a:pPr>
            <a:r>
              <a:rPr sz="1166" b="0" i="0">
                <a:solidFill>
                  <a:srgbClr val="14171C"/>
                </a:solidFill>
                <a:latin typeface="Consolas"/>
              </a:rPr>
              <a:t> </a:t>
            </a:r>
          </a:p>
          <a:p>
            <a:pPr>
              <a:lnSpc>
                <a:spcPct val="100000"/>
              </a:lnSpc>
              <a:spcBef>
                <a:spcPts val="0"/>
              </a:spcBef>
              <a:spcAft>
                <a:spcPts val="60"/>
              </a:spcAft>
            </a:pPr>
            <a:r>
              <a:rPr sz="1166" b="0" i="0">
                <a:solidFill>
                  <a:srgbClr val="14171C"/>
                </a:solidFill>
                <a:latin typeface="Consolas"/>
              </a:rPr>
              <a:t>Result sheet (rank order):</a:t>
            </a:r>
          </a:p>
          <a:p>
            <a:pPr>
              <a:lnSpc>
                <a:spcPct val="100000"/>
              </a:lnSpc>
              <a:spcBef>
                <a:spcPts val="0"/>
              </a:spcBef>
              <a:spcAft>
                <a:spcPts val="60"/>
              </a:spcAft>
            </a:pPr>
            <a:r>
              <a:rPr sz="1166" b="0" i="0">
                <a:solidFill>
                  <a:srgbClr val="14171C"/>
                </a:solidFill>
                <a:latin typeface="Consolas"/>
              </a:rPr>
              <a:t>Rank 1 : score 90.0</a:t>
            </a:r>
          </a:p>
          <a:p>
            <a:pPr>
              <a:lnSpc>
                <a:spcPct val="100000"/>
              </a:lnSpc>
              <a:spcBef>
                <a:spcPts val="0"/>
              </a:spcBef>
              <a:spcAft>
                <a:spcPts val="60"/>
              </a:spcAft>
            </a:pPr>
            <a:r>
              <a:rPr sz="1166" b="0" i="0">
                <a:solidFill>
                  <a:srgbClr val="14171C"/>
                </a:solidFill>
                <a:latin typeface="Consolas"/>
              </a:rPr>
              <a:t>Rank 2 : score 90.0</a:t>
            </a:r>
          </a:p>
          <a:p>
            <a:pPr>
              <a:lnSpc>
                <a:spcPct val="100000"/>
              </a:lnSpc>
              <a:spcBef>
                <a:spcPts val="0"/>
              </a:spcBef>
              <a:spcAft>
                <a:spcPts val="60"/>
              </a:spcAft>
            </a:pPr>
            <a:r>
              <a:rPr sz="1166" b="0" i="0">
                <a:solidFill>
                  <a:srgbClr val="14171C"/>
                </a:solidFill>
                <a:latin typeface="Consolas"/>
              </a:rPr>
              <a:t>Rank 3 : score 88.0</a:t>
            </a:r>
          </a:p>
          <a:p>
            <a:pPr>
              <a:lnSpc>
                <a:spcPct val="100000"/>
              </a:lnSpc>
              <a:spcBef>
                <a:spcPts val="0"/>
              </a:spcBef>
              <a:spcAft>
                <a:spcPts val="60"/>
              </a:spcAft>
            </a:pPr>
            <a:r>
              <a:rPr sz="1166" b="0" i="0">
                <a:solidFill>
                  <a:srgbClr val="14171C"/>
                </a:solidFill>
                <a:latin typeface="Consolas"/>
              </a:rPr>
              <a:t>Rank 4 : score 85.0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2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2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34</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 2 is the observation that lifts the record: both 90.0 entries remain in input order — the strict-&lt; comparison is what buys that, and it is called stability. In Run 1, count the moves yourself for one pass: 78 92 65 88 71 after pass 1 is 92 78 88 71 65 — the smallest has sunk to its final slot, exactly the invariant the outer loop relies on; pass 2 needs only one swap (the 88). A trace table of those two rows in the record shows the algorithm, not just the answer. Measured curiosity.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that ranks 100 m race scores for the result sheet was implemented with a flag-accelerated bubble sort producing descending order.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After outer pass k, which part of the array is guaranteed final — the front or the tail? Defend it.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exactly does the swapped flag observe? Give the input that makes it end sorting after one pass.</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Why do the two 90.0 entries not swap? Which single character in the code encodes that policy?</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Bubble vs selection: which wins on writes, and why might writes matter in real hardware?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3</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3 — Branch Revenue by Matrix-Style Multiplication — Two Datasets, One Total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35</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and implement a C program that combines a shipped-units table (branches × products) with a per-unit revenue vector, producing the total revenue of every branch and of the company, with the accumulation structure chosen and justified.</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Use a two-dimensional array as a genuine grid (row = branch, column = product); nest for loops so each cell multiplies into the right total; keep two accumulators (per-br</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Formally: units U is an R×C table (R branches, C products), rate is a C-vector; branch total Bᵣ = Σc U[r][c] · rate[c]. In C the sum is one nested loop — and the entire design risk lives in which index belongs to which bracket:</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Why the product of the two datasets is money: units[c] × rate[c] is revenue for one product from one branch, and summing across products is exactly “combine the datasets”. The grand total is then a fold over the branch totals — and …</a:t>
            </a:r>
          </a:p>
        </p:txBody>
      </p:sp>
      <p:pic>
        <p:nvPicPr>
          <p:cNvPr id="14" name="Picture 13" descr="b03.png"/>
          <p:cNvPicPr>
            <a:picLocks noChangeAspect="1"/>
          </p:cNvPicPr>
          <p:nvPr/>
        </p:nvPicPr>
        <p:blipFill>
          <a:blip r:embed="rId2"/>
          <a:stretch>
            <a:fillRect/>
          </a:stretch>
        </p:blipFill>
        <p:spPr>
          <a:xfrm>
            <a:off x="8382348" y="1554480"/>
            <a:ext cx="2163383"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§11.2</a:t>
            </a:r>
          </a:p>
        </p:txBody>
      </p:sp>
      <p:sp>
        <p:nvSpPr>
          <p:cNvPr id="16" name="Rectangle 15"/>
          <p:cNvSpPr/>
          <p:nvPr/>
        </p:nvSpPr>
        <p:spPr>
          <a:xfrm>
            <a:off x="7178040" y="4956048"/>
            <a:ext cx="4572000" cy="142646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5065776"/>
            <a:ext cx="4279392" cy="1243584"/>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DESIGN NOTE</a:t>
            </a:r>
          </a:p>
          <a:p>
            <a:pPr>
              <a:lnSpc>
                <a:spcPct val="108000"/>
              </a:lnSpc>
              <a:spcBef>
                <a:spcPts val="0"/>
              </a:spcBef>
              <a:spcAft>
                <a:spcPts val="400"/>
              </a:spcAft>
            </a:pPr>
            <a:r>
              <a:rPr sz="1100" b="0" i="0">
                <a:solidFill>
                  <a:srgbClr val="16181D"/>
                </a:solidFill>
                <a:latin typeface="Calibri"/>
              </a:rPr>
              <a:t>Requirement read-out. Fixed-size demo (3 branches × 4 products) chosen for hand-verifiable output; the loop bounds use #defines, so resizing is a one-line change. Test plan: (i) one hand-computed branch (below); (ii) a branch that ships nothing (all zeros ⇒ total 0 — the empty row must not poison the grand); (iii) a zero rate product; (iv) the Σ-identity cross-check. Design questions: What if a product exists at branch 2 but 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3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3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36</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b03_warehouse.c  ·  complete source as compiled · 38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93" b="0" i="0">
                <a:solidFill>
                  <a:srgbClr val="E5E7EB"/>
                </a:solidFill>
                <a:latin typeface="Consolas"/>
              </a:rPr>
              <a:t>/* Experiment B3 -- warehouse revenue: shipped units x per-unit revenue</a:t>
            </a:r>
          </a:p>
          <a:p>
            <a:pPr>
              <a:lnSpc>
                <a:spcPct val="100000"/>
              </a:lnSpc>
              <a:spcBef>
                <a:spcPts val="0"/>
              </a:spcBef>
              <a:spcAft>
                <a:spcPts val="60"/>
              </a:spcAft>
            </a:pPr>
            <a:r>
              <a:rPr sz="693" b="0" i="0">
                <a:solidFill>
                  <a:srgbClr val="E5E7EB"/>
                </a:solidFill>
                <a:latin typeface="Consolas"/>
              </a:rPr>
              <a:t>   File    : b03_warehouse.c</a:t>
            </a:r>
          </a:p>
          <a:p>
            <a:pPr>
              <a:lnSpc>
                <a:spcPct val="100000"/>
              </a:lnSpc>
              <a:spcBef>
                <a:spcPts val="0"/>
              </a:spcBef>
              <a:spcAft>
                <a:spcPts val="60"/>
              </a:spcAft>
            </a:pPr>
            <a:r>
              <a:rPr sz="693" b="0" i="0">
                <a:solidFill>
                  <a:srgbClr val="E5E7EB"/>
                </a:solidFill>
                <a:latin typeface="Consolas"/>
              </a:rPr>
              <a:t>   Build   : gcc -Wall b03_warehouse.c -o b03_warehouse                     */</a:t>
            </a:r>
          </a:p>
          <a:p>
            <a:pPr>
              <a:lnSpc>
                <a:spcPct val="100000"/>
              </a:lnSpc>
              <a:spcBef>
                <a:spcPts val="0"/>
              </a:spcBef>
              <a:spcAft>
                <a:spcPts val="60"/>
              </a:spcAft>
            </a:pPr>
            <a:r>
              <a:rPr sz="693" b="0" i="0">
                <a:solidFill>
                  <a:srgbClr val="E5E7EB"/>
                </a:solidFill>
                <a:latin typeface="Consolas"/>
              </a:rPr>
              <a:t>#include &lt;stdio.h&gt;</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#define BRANCHES 3</a:t>
            </a:r>
          </a:p>
          <a:p>
            <a:pPr>
              <a:lnSpc>
                <a:spcPct val="100000"/>
              </a:lnSpc>
              <a:spcBef>
                <a:spcPts val="0"/>
              </a:spcBef>
              <a:spcAft>
                <a:spcPts val="60"/>
              </a:spcAft>
            </a:pPr>
            <a:r>
              <a:rPr sz="693" b="0" i="0">
                <a:solidFill>
                  <a:srgbClr val="E5E7EB"/>
                </a:solidFill>
                <a:latin typeface="Consolas"/>
              </a:rPr>
              <a:t>#define PRODUCTS 4</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int main(void)</a:t>
            </a:r>
          </a:p>
          <a:p>
            <a:pPr>
              <a:lnSpc>
                <a:spcPct val="100000"/>
              </a:lnSpc>
              <a:spcBef>
                <a:spcPts val="0"/>
              </a:spcBef>
              <a:spcAft>
                <a:spcPts val="60"/>
              </a:spcAft>
            </a:pPr>
            <a:r>
              <a:rPr sz="693" b="0" i="0">
                <a:solidFill>
                  <a:srgbClr val="E5E7EB"/>
                </a:solidFill>
                <a:latin typeface="Consolas"/>
              </a:rPr>
              <a:t>{</a:t>
            </a:r>
          </a:p>
          <a:p>
            <a:pPr>
              <a:lnSpc>
                <a:spcPct val="100000"/>
              </a:lnSpc>
              <a:spcBef>
                <a:spcPts val="0"/>
              </a:spcBef>
              <a:spcAft>
                <a:spcPts val="60"/>
              </a:spcAft>
            </a:pPr>
            <a:r>
              <a:rPr sz="693" b="0" i="0">
                <a:solidFill>
                  <a:srgbClr val="E5E7EB"/>
                </a:solidFill>
                <a:latin typeface="Consolas"/>
              </a:rPr>
              <a:t>    int units[BRANCHES][PRODUCTS];       /* units[branch][product]         */</a:t>
            </a:r>
          </a:p>
          <a:p>
            <a:pPr>
              <a:lnSpc>
                <a:spcPct val="100000"/>
              </a:lnSpc>
              <a:spcBef>
                <a:spcPts val="0"/>
              </a:spcBef>
              <a:spcAft>
                <a:spcPts val="60"/>
              </a:spcAft>
            </a:pPr>
            <a:r>
              <a:rPr sz="693" b="0" i="0">
                <a:solidFill>
                  <a:srgbClr val="E5E7EB"/>
                </a:solidFill>
                <a:latin typeface="Consolas"/>
              </a:rPr>
              <a:t>    float rate[PRODUCTS];                /* revenue per unit of each product */</a:t>
            </a:r>
          </a:p>
          <a:p>
            <a:pPr>
              <a:lnSpc>
                <a:spcPct val="100000"/>
              </a:lnSpc>
              <a:spcBef>
                <a:spcPts val="0"/>
              </a:spcBef>
              <a:spcAft>
                <a:spcPts val="60"/>
              </a:spcAft>
            </a:pPr>
            <a:r>
              <a:rPr sz="693" b="0" i="0">
                <a:solidFill>
                  <a:srgbClr val="E5E7EB"/>
                </a:solidFill>
                <a:latin typeface="Consolas"/>
              </a:rPr>
              <a:t>    float branch_total[BRANCHES] = {0}, grand = 0;</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printf("Enter shipped units: %d rows (branches) x %d columns (products)\n",</a:t>
            </a:r>
          </a:p>
          <a:p>
            <a:pPr>
              <a:lnSpc>
                <a:spcPct val="100000"/>
              </a:lnSpc>
              <a:spcBef>
                <a:spcPts val="0"/>
              </a:spcBef>
              <a:spcAft>
                <a:spcPts val="60"/>
              </a:spcAft>
            </a:pPr>
            <a:r>
              <a:rPr sz="693" b="0" i="0">
                <a:solidFill>
                  <a:srgbClr val="E5E7EB"/>
                </a:solidFill>
                <a:latin typeface="Consolas"/>
              </a:rPr>
              <a:t>           BRANCHES, PRODUCTS);</a:t>
            </a:r>
          </a:p>
          <a:p>
            <a:pPr>
              <a:lnSpc>
                <a:spcPct val="100000"/>
              </a:lnSpc>
              <a:spcBef>
                <a:spcPts val="0"/>
              </a:spcBef>
              <a:spcAft>
                <a:spcPts val="60"/>
              </a:spcAft>
            </a:pPr>
            <a:r>
              <a:rPr sz="693" b="0" i="0">
                <a:solidFill>
                  <a:srgbClr val="E5E7EB"/>
                </a:solidFill>
                <a:latin typeface="Consolas"/>
              </a:rPr>
              <a:t>    for (int b = 0; b &lt; BRANCHES; b++)</a:t>
            </a:r>
          </a:p>
          <a:p>
            <a:pPr>
              <a:lnSpc>
                <a:spcPct val="100000"/>
              </a:lnSpc>
              <a:spcBef>
                <a:spcPts val="0"/>
              </a:spcBef>
              <a:spcAft>
                <a:spcPts val="60"/>
              </a:spcAft>
            </a:pPr>
            <a:r>
              <a:rPr sz="693" b="0" i="0">
                <a:solidFill>
                  <a:srgbClr val="E5E7EB"/>
                </a:solidFill>
                <a:latin typeface="Consolas"/>
              </a:rPr>
              <a:t>        for (int p = 0; p &lt; PRODUCTS; p++)</a:t>
            </a:r>
          </a:p>
          <a:p>
            <a:pPr>
              <a:lnSpc>
                <a:spcPct val="100000"/>
              </a:lnSpc>
              <a:spcBef>
                <a:spcPts val="0"/>
              </a:spcBef>
              <a:spcAft>
                <a:spcPts val="60"/>
              </a:spcAft>
            </a:pPr>
            <a:r>
              <a:rPr sz="693" b="0" i="0">
                <a:solidFill>
                  <a:srgbClr val="E5E7EB"/>
                </a:solidFill>
                <a:latin typeface="Consolas"/>
              </a:rPr>
              <a:t>            scanf("%d", &amp;units[b][p]);</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printf("Enter per-unit revenue for each of the %d products: ", PRODUCTS);</a:t>
            </a:r>
          </a:p>
          <a:p>
            <a:pPr>
              <a:lnSpc>
                <a:spcPct val="100000"/>
              </a:lnSpc>
              <a:spcBef>
                <a:spcPts val="0"/>
              </a:spcBef>
              <a:spcAft>
                <a:spcPts val="60"/>
              </a:spcAft>
            </a:pPr>
            <a:r>
              <a:rPr sz="693" b="0" i="0">
                <a:solidFill>
                  <a:srgbClr val="E5E7EB"/>
                </a:solidFill>
                <a:latin typeface="Consolas"/>
              </a:rPr>
              <a:t>    for (int p = 0; p &lt; PRODUCTS; p++)</a:t>
            </a:r>
          </a:p>
          <a:p>
            <a:pPr>
              <a:lnSpc>
                <a:spcPct val="100000"/>
              </a:lnSpc>
              <a:spcBef>
                <a:spcPts val="0"/>
              </a:spcBef>
              <a:spcAft>
                <a:spcPts val="60"/>
              </a:spcAft>
            </a:pPr>
            <a:r>
              <a:rPr sz="693" b="0" i="0">
                <a:solidFill>
                  <a:srgbClr val="E5E7EB"/>
                </a:solidFill>
                <a:latin typeface="Consolas"/>
              </a:rPr>
              <a:t>        scanf("%f", &amp;rate[p]);</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for (int b = 0; b &lt; BRANCHES; b++) {</a:t>
            </a:r>
          </a:p>
          <a:p>
            <a:pPr>
              <a:lnSpc>
                <a:spcPct val="100000"/>
              </a:lnSpc>
              <a:spcBef>
                <a:spcPts val="0"/>
              </a:spcBef>
              <a:spcAft>
                <a:spcPts val="60"/>
              </a:spcAft>
            </a:pPr>
            <a:r>
              <a:rPr sz="693" b="0" i="0">
                <a:solidFill>
                  <a:srgbClr val="E5E7EB"/>
                </a:solidFill>
                <a:latin typeface="Consolas"/>
              </a:rPr>
              <a:t>        for (int p = 0; p &lt; PRODUCTS; p++) {</a:t>
            </a:r>
          </a:p>
          <a:p>
            <a:pPr>
              <a:lnSpc>
                <a:spcPct val="100000"/>
              </a:lnSpc>
              <a:spcBef>
                <a:spcPts val="0"/>
              </a:spcBef>
              <a:spcAft>
                <a:spcPts val="60"/>
              </a:spcAft>
            </a:pPr>
            <a:r>
              <a:rPr sz="693" b="0" i="0">
                <a:solidFill>
                  <a:srgbClr val="E5E7EB"/>
                </a:solidFill>
                <a:latin typeface="Consolas"/>
              </a:rPr>
              <a:t>            branch_total[b] += units[b][p] * rate[p];   /* combine here    */</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grand += branch_total[b];</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printf("\nTotal revenue per branch:\n");</a:t>
            </a:r>
          </a:p>
          <a:p>
            <a:pPr>
              <a:lnSpc>
                <a:spcPct val="100000"/>
              </a:lnSpc>
              <a:spcBef>
                <a:spcPts val="0"/>
              </a:spcBef>
              <a:spcAft>
                <a:spcPts val="60"/>
              </a:spcAft>
            </a:pPr>
            <a:r>
              <a:rPr sz="693" b="0" i="0">
                <a:solidFill>
                  <a:srgbClr val="E5E7EB"/>
                </a:solidFill>
                <a:latin typeface="Consolas"/>
              </a:rPr>
              <a:t>    for (int b = 0; b &lt; BRANCHES; b++)</a:t>
            </a:r>
          </a:p>
          <a:p>
            <a:pPr>
              <a:lnSpc>
                <a:spcPct val="100000"/>
              </a:lnSpc>
              <a:spcBef>
                <a:spcPts val="0"/>
              </a:spcBef>
              <a:spcAft>
                <a:spcPts val="60"/>
              </a:spcAft>
            </a:pPr>
            <a:r>
              <a:rPr sz="693" b="0" i="0">
                <a:solidFill>
                  <a:srgbClr val="E5E7EB"/>
                </a:solidFill>
                <a:latin typeface="Consolas"/>
              </a:rPr>
              <a:t>        printf("  Branch %d : Rs %.2f\n", b + 1, branch_total[b]);</a:t>
            </a:r>
          </a:p>
          <a:p>
            <a:pPr>
              <a:lnSpc>
                <a:spcPct val="100000"/>
              </a:lnSpc>
              <a:spcBef>
                <a:spcPts val="0"/>
              </a:spcBef>
              <a:spcAft>
                <a:spcPts val="60"/>
              </a:spcAft>
            </a:pPr>
            <a:r>
              <a:rPr sz="693" b="0" i="0">
                <a:solidFill>
                  <a:srgbClr val="E5E7EB"/>
                </a:solidFill>
                <a:latin typeface="Consolas"/>
              </a:rPr>
              <a:t>    printf("Company total : Rs %.2f\n", grand);</a:t>
            </a:r>
          </a:p>
          <a:p>
            <a:pPr>
              <a:lnSpc>
                <a:spcPct val="100000"/>
              </a:lnSpc>
              <a:spcBef>
                <a:spcPts val="0"/>
              </a:spcBef>
              <a:spcAft>
                <a:spcPts val="60"/>
              </a:spcAft>
            </a:pPr>
            <a:r>
              <a:rPr sz="693" b="0" i="0">
                <a:solidFill>
                  <a:srgbClr val="E5E7EB"/>
                </a:solidFill>
                <a:latin typeface="Consolas"/>
              </a:rPr>
              <a:t> </a:t>
            </a:r>
          </a:p>
          <a:p>
            <a:pPr>
              <a:lnSpc>
                <a:spcPct val="100000"/>
              </a:lnSpc>
              <a:spcBef>
                <a:spcPts val="0"/>
              </a:spcBef>
              <a:spcAft>
                <a:spcPts val="60"/>
              </a:spcAft>
            </a:pPr>
            <a:r>
              <a:rPr sz="693" b="0" i="0">
                <a:solidFill>
                  <a:srgbClr val="E5E7EB"/>
                </a:solidFill>
                <a:latin typeface="Consolas"/>
              </a:rPr>
              <a:t>    return 0;</a:t>
            </a:r>
          </a:p>
          <a:p>
            <a:pPr>
              <a:lnSpc>
                <a:spcPct val="100000"/>
              </a:lnSpc>
              <a:spcBef>
                <a:spcPts val="0"/>
              </a:spcBef>
              <a:spcAft>
                <a:spcPts val="60"/>
              </a:spcAft>
            </a:pPr>
            <a:r>
              <a:rPr sz="693" b="0" i="0">
                <a:solidFill>
                  <a:srgbClr val="E5E7EB"/>
                </a:solidFill>
                <a:latin typeface="Consolas"/>
              </a:rPr>
              <a:t>}</a:t>
            </a:r>
          </a:p>
        </p:txBody>
      </p:sp>
      <p:sp>
        <p:nvSpPr>
          <p:cNvPr id="12" name="Rectangle 11"/>
          <p:cNvSpPr/>
          <p:nvPr/>
        </p:nvSpPr>
        <p:spPr>
          <a:xfrm>
            <a:off x="6537960" y="1554480"/>
            <a:ext cx="5212079" cy="4773168"/>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three branches, four products, every rupee hand-checkable</a:t>
            </a:r>
          </a:p>
        </p:txBody>
      </p:sp>
      <p:sp>
        <p:nvSpPr>
          <p:cNvPr id="14" name="TextBox 13"/>
          <p:cNvSpPr txBox="1"/>
          <p:nvPr/>
        </p:nvSpPr>
        <p:spPr>
          <a:xfrm>
            <a:off x="6684264" y="1920240"/>
            <a:ext cx="4937759" cy="4315968"/>
          </a:xfrm>
          <a:prstGeom prst="rect">
            <a:avLst/>
          </a:prstGeom>
          <a:noFill/>
        </p:spPr>
        <p:txBody>
          <a:bodyPr wrap="none" anchor="t" lIns="0" rIns="0" tIns="0" bIns="0">
            <a:spAutoFit/>
          </a:bodyPr>
          <a:lstStyle/>
          <a:p>
            <a:pPr>
              <a:lnSpc>
                <a:spcPct val="100000"/>
              </a:lnSpc>
              <a:spcBef>
                <a:spcPts val="0"/>
              </a:spcBef>
              <a:spcAft>
                <a:spcPts val="60"/>
              </a:spcAft>
            </a:pPr>
            <a:r>
              <a:rPr sz="926" b="0" i="0">
                <a:solidFill>
                  <a:srgbClr val="14171C"/>
                </a:solidFill>
                <a:latin typeface="Consolas"/>
              </a:rPr>
              <a:t>Enter shipped units: 3 rows (branches) x 4 columns (products)</a:t>
            </a:r>
          </a:p>
          <a:p>
            <a:pPr>
              <a:lnSpc>
                <a:spcPct val="100000"/>
              </a:lnSpc>
              <a:spcBef>
                <a:spcPts val="0"/>
              </a:spcBef>
              <a:spcAft>
                <a:spcPts val="60"/>
              </a:spcAft>
            </a:pPr>
            <a:r>
              <a:rPr sz="926" b="0" i="0">
                <a:solidFill>
                  <a:srgbClr val="14171C"/>
                </a:solidFill>
                <a:latin typeface="Consolas"/>
              </a:rPr>
              <a:t>120 80 60 40</a:t>
            </a:r>
          </a:p>
          <a:p>
            <a:pPr>
              <a:lnSpc>
                <a:spcPct val="100000"/>
              </a:lnSpc>
              <a:spcBef>
                <a:spcPts val="0"/>
              </a:spcBef>
              <a:spcAft>
                <a:spcPts val="60"/>
              </a:spcAft>
            </a:pPr>
            <a:r>
              <a:rPr sz="926" b="0" i="0">
                <a:solidFill>
                  <a:srgbClr val="14171C"/>
                </a:solidFill>
                <a:latin typeface="Consolas"/>
              </a:rPr>
              <a:t>90 110 70 55</a:t>
            </a:r>
          </a:p>
          <a:p>
            <a:pPr>
              <a:lnSpc>
                <a:spcPct val="100000"/>
              </a:lnSpc>
              <a:spcBef>
                <a:spcPts val="0"/>
              </a:spcBef>
              <a:spcAft>
                <a:spcPts val="60"/>
              </a:spcAft>
            </a:pPr>
            <a:r>
              <a:rPr sz="926" b="0" i="0">
                <a:solidFill>
                  <a:srgbClr val="14171C"/>
                </a:solidFill>
                <a:latin typeface="Consolas"/>
              </a:rPr>
              <a:t>150 60 80 100</a:t>
            </a:r>
          </a:p>
          <a:p>
            <a:pPr>
              <a:lnSpc>
                <a:spcPct val="100000"/>
              </a:lnSpc>
              <a:spcBef>
                <a:spcPts val="0"/>
              </a:spcBef>
              <a:spcAft>
                <a:spcPts val="60"/>
              </a:spcAft>
            </a:pPr>
            <a:r>
              <a:rPr sz="926" b="0" i="0">
                <a:solidFill>
                  <a:srgbClr val="14171C"/>
                </a:solidFill>
                <a:latin typeface="Consolas"/>
              </a:rPr>
              <a:t>Enter per-unit revenue for each of the 4 products: 25.50 30 12.75 45</a:t>
            </a:r>
          </a:p>
          <a:p>
            <a:pPr>
              <a:lnSpc>
                <a:spcPct val="100000"/>
              </a:lnSpc>
              <a:spcBef>
                <a:spcPts val="0"/>
              </a:spcBef>
              <a:spcAft>
                <a:spcPts val="60"/>
              </a:spcAft>
            </a:pPr>
            <a:r>
              <a:rPr sz="926" b="0" i="0">
                <a:solidFill>
                  <a:srgbClr val="14171C"/>
                </a:solidFill>
                <a:latin typeface="Consolas"/>
              </a:rPr>
              <a:t> </a:t>
            </a:r>
          </a:p>
          <a:p>
            <a:pPr>
              <a:lnSpc>
                <a:spcPct val="100000"/>
              </a:lnSpc>
              <a:spcBef>
                <a:spcPts val="0"/>
              </a:spcBef>
              <a:spcAft>
                <a:spcPts val="60"/>
              </a:spcAft>
            </a:pPr>
            <a:r>
              <a:rPr sz="926" b="0" i="0">
                <a:solidFill>
                  <a:srgbClr val="14171C"/>
                </a:solidFill>
                <a:latin typeface="Consolas"/>
              </a:rPr>
              <a:t>Total revenue per branch:</a:t>
            </a:r>
          </a:p>
          <a:p>
            <a:pPr>
              <a:lnSpc>
                <a:spcPct val="100000"/>
              </a:lnSpc>
              <a:spcBef>
                <a:spcPts val="0"/>
              </a:spcBef>
              <a:spcAft>
                <a:spcPts val="60"/>
              </a:spcAft>
            </a:pPr>
            <a:r>
              <a:rPr sz="926" b="0" i="0">
                <a:solidFill>
                  <a:srgbClr val="14171C"/>
                </a:solidFill>
                <a:latin typeface="Consolas"/>
              </a:rPr>
              <a:t>  Branch 1 : Rs 8025.00</a:t>
            </a:r>
          </a:p>
          <a:p>
            <a:pPr>
              <a:lnSpc>
                <a:spcPct val="100000"/>
              </a:lnSpc>
              <a:spcBef>
                <a:spcPts val="0"/>
              </a:spcBef>
              <a:spcAft>
                <a:spcPts val="60"/>
              </a:spcAft>
            </a:pPr>
            <a:r>
              <a:rPr sz="926" b="0" i="0">
                <a:solidFill>
                  <a:srgbClr val="14171C"/>
                </a:solidFill>
                <a:latin typeface="Consolas"/>
              </a:rPr>
              <a:t>  Branch 2 : Rs 8962.50</a:t>
            </a:r>
          </a:p>
          <a:p>
            <a:pPr>
              <a:lnSpc>
                <a:spcPct val="100000"/>
              </a:lnSpc>
              <a:spcBef>
                <a:spcPts val="0"/>
              </a:spcBef>
              <a:spcAft>
                <a:spcPts val="60"/>
              </a:spcAft>
            </a:pPr>
            <a:r>
              <a:rPr sz="926" b="0" i="0">
                <a:solidFill>
                  <a:srgbClr val="14171C"/>
                </a:solidFill>
                <a:latin typeface="Consolas"/>
              </a:rPr>
              <a:t>  Branch 3 : Rs 11145.00</a:t>
            </a:r>
          </a:p>
          <a:p>
            <a:pPr>
              <a:lnSpc>
                <a:spcPct val="100000"/>
              </a:lnSpc>
              <a:spcBef>
                <a:spcPts val="0"/>
              </a:spcBef>
              <a:spcAft>
                <a:spcPts val="60"/>
              </a:spcAft>
            </a:pPr>
            <a:r>
              <a:rPr sz="926" b="0" i="0">
                <a:solidFill>
                  <a:srgbClr val="14171C"/>
                </a:solidFill>
                <a:latin typeface="Consolas"/>
              </a:rPr>
              <a:t>Company total : Rs 28132.50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3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3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37</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Hand-check of branch 2 from the run: 90·25.50 + 110·30 + 70·12.75 + 55·45 = 2295.00 + 3300.00 + 892.50 + 2475.00 = 8962.50 — the printed line. The grand total 28132.50 equals 8025.00 + 8962.50 + 11145.00, and independently equals the sum of all twelve cell products; the two routes agreeing is the cross-check the design promised. What the nested loops really say. Reading row-wise means “ask branch 2 what it did”: the inner loop’s products are one row of the table.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combining a 3×4 shipped-units table with a four-product revenue vector was designed, implemented and run.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Which loop nesting order is cache-friendly and why? (Contiguity of a C 2D array is the answer. Say it precisely.)</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What happens if the rate array has only 3 entries — which loop bound saves you?</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Show that units×rate computes branch totals even if you swap the roles of the indices — and what the report would mean then.</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Why can float hold the demo totals but an accountant would object? Give the C-side fix.</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4</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4 — Joining Names Without the Library — Rebuilding strlen, strcpy, strcat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38</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and implement a C program, without using built-in string functions, that concatenates a first name and a last name (with a separating space) for the contact display, and independently measures the full name’s length to check that it fits the screen.</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Implement manual strlen, strcpy, strcat over char arrays; treat the terminating null byte as the only string “size” information; reserve buffers large enough for the conc</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 C string carries no length field. Every “manual” string operation is therefore the same pattern: start at index 0, advance while the byte is not '\0'. The three functions the program must rebuild differ only in what they do on the way:</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The concatenation of “first + space + last” needs buffer arithmetic before any code runs: full must hold len(first) + 1 + len(last) + 1 ≤ sizeof(full). With 40+40 inputs and a 90-byte target the program is safe for legal input — say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fgets stores the Enter key, so every read must be followed by a trim loop: walk until '\n', write '\0' there, stop. That loop is a string scan — you already know how to write it, and refusing strcspn keeps the experiment’s promise of …</a:t>
            </a:r>
          </a:p>
        </p:txBody>
      </p:sp>
      <p:pic>
        <p:nvPicPr>
          <p:cNvPr id="14" name="Picture 13" descr="b04.png"/>
          <p:cNvPicPr>
            <a:picLocks noChangeAspect="1"/>
          </p:cNvPicPr>
          <p:nvPr/>
        </p:nvPicPr>
        <p:blipFill>
          <a:blip r:embed="rId2"/>
          <a:stretch>
            <a:fillRect/>
          </a:stretch>
        </p:blipFill>
        <p:spPr>
          <a:xfrm>
            <a:off x="8095493" y="1554480"/>
            <a:ext cx="2737092"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§12.2</a:t>
            </a:r>
          </a:p>
        </p:txBody>
      </p:sp>
      <p:sp>
        <p:nvSpPr>
          <p:cNvPr id="16" name="TextBox 15"/>
          <p:cNvSpPr txBox="1"/>
          <p:nvPr/>
        </p:nvSpPr>
        <p:spPr>
          <a:xfrm>
            <a:off x="7178040" y="4956048"/>
            <a:ext cx="4572000" cy="237744"/>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ALGORITHM IN STEPS</a:t>
            </a:r>
          </a:p>
        </p:txBody>
      </p:sp>
      <p:sp>
        <p:nvSpPr>
          <p:cNvPr id="17" name="TextBox 16"/>
          <p:cNvSpPr txBox="1"/>
          <p:nvPr/>
        </p:nvSpPr>
        <p:spPr>
          <a:xfrm>
            <a:off x="7178040" y="5230368"/>
            <a:ext cx="4572000" cy="1152144"/>
          </a:xfrm>
          <a:prstGeom prst="rect">
            <a:avLst/>
          </a:prstGeom>
          <a:noFill/>
        </p:spPr>
        <p:txBody>
          <a:bodyPr wrap="square" anchor="t" lIns="0" rIns="0" tIns="0" bIns="0">
            <a:spAutoFit/>
          </a:bodyPr>
          <a:lstStyle/>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1.  </a:t>
            </a:r>
            <a:r>
              <a:rPr sz="1050" b="0" i="0">
                <a:solidFill>
                  <a:srgbClr val="16181D"/>
                </a:solidFill>
                <a:latin typeface="Calibri"/>
              </a:rPr>
              <a:t>START; read first name and last name with fgets.</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2.  </a:t>
            </a:r>
            <a:r>
              <a:rPr sz="1050" b="0" i="0">
                <a:solidFill>
                  <a:srgbClr val="16181D"/>
                </a:solidFill>
                <a:latin typeface="Calibri"/>
              </a:rPr>
              <a:t>Trim each: scan for '\n', replace with '\0' (manual loop).</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3.  </a:t>
            </a:r>
            <a:r>
              <a:rPr sz="1050" b="0" i="0">
                <a:solidFill>
                  <a:srgbClr val="16181D"/>
                </a:solidFill>
                <a:latin typeface="Calibri"/>
              </a:rPr>
              <a:t>my_strcpy: copy first into full byte-by-byte including the terminator.</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4.  </a:t>
            </a:r>
            <a:r>
              <a:rPr sz="1050" b="0" i="0">
                <a:solidFill>
                  <a:srgbClr val="16181D"/>
                </a:solidFill>
                <a:latin typeface="Calibri"/>
              </a:rPr>
              <a:t>my_strcat: append a space (strlen full, write one char, terminate).</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5.  </a:t>
            </a:r>
            <a:r>
              <a:rPr sz="1050" b="0" i="0">
                <a:solidFill>
                  <a:srgbClr val="16181D"/>
                </a:solidFill>
                <a:latin typeface="Calibri"/>
              </a:rPr>
              <a:t>my_strcat: append last the same way — start at the current end, copy, terminate.</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6.  </a:t>
            </a:r>
            <a:r>
              <a:rPr sz="1050" b="0" i="0">
                <a:solidFill>
                  <a:srgbClr val="16181D"/>
                </a:solidFill>
                <a:latin typeface="Calibri"/>
              </a:rPr>
              <a:t>L = my_strlen(full); if L ≤ 20 print FITS, else print TOO LONG (and by how much).</a:t>
            </a:r>
          </a:p>
          <a:p>
            <a:pPr marL="201168" indent="-201168">
              <a:lnSpc>
                <a:spcPct val="105000"/>
              </a:lnSpc>
              <a:spcBef>
                <a:spcPts val="0"/>
              </a:spcBef>
              <a:spcAft>
                <a:spcPts val="250"/>
              </a:spcAft>
            </a:pPr>
            <a:r>
              <a:rPr sz="1050" b="1" i="0">
                <a:solidFill>
                  <a:srgbClr val="B3261E"/>
                </a:solidFill>
                <a:latin typeface="Calibri"/>
              </a:rPr>
              <a:t>•  </a:t>
            </a:r>
            <a:r>
              <a:rPr sz="1050" b="1" i="0">
                <a:solidFill>
                  <a:srgbClr val="B3261E"/>
                </a:solidFill>
                <a:latin typeface="Calibri"/>
              </a:rPr>
              <a:t>7.  </a:t>
            </a:r>
            <a:r>
              <a:rPr sz="1050" b="0" i="0">
                <a:solidFill>
                  <a:srgbClr val="16181D"/>
                </a:solidFill>
                <a:latin typeface="Calibri"/>
              </a:rPr>
              <a:t>STOP.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4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4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39</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b04_name_join.c  ·  complete source as compiled · 66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Experiment B4 -- join first + last name manually, no built-in string fns</a:t>
            </a:r>
          </a:p>
          <a:p>
            <a:pPr>
              <a:lnSpc>
                <a:spcPct val="100000"/>
              </a:lnSpc>
              <a:spcBef>
                <a:spcPts val="0"/>
              </a:spcBef>
              <a:spcAft>
                <a:spcPts val="60"/>
              </a:spcAft>
            </a:pPr>
            <a:r>
              <a:rPr sz="640" b="0" i="0">
                <a:solidFill>
                  <a:srgbClr val="E5E7EB"/>
                </a:solidFill>
                <a:latin typeface="Consolas"/>
              </a:rPr>
              <a:t>   File    : b04_name_join.c</a:t>
            </a:r>
          </a:p>
          <a:p>
            <a:pPr>
              <a:lnSpc>
                <a:spcPct val="100000"/>
              </a:lnSpc>
              <a:spcBef>
                <a:spcPts val="0"/>
              </a:spcBef>
              <a:spcAft>
                <a:spcPts val="60"/>
              </a:spcAft>
            </a:pPr>
            <a:r>
              <a:rPr sz="640" b="0" i="0">
                <a:solidFill>
                  <a:srgbClr val="E5E7EB"/>
                </a:solidFill>
                <a:latin typeface="Consolas"/>
              </a:rPr>
              <a:t>   Build   : gcc -Wall b04_name_join.c -o b04_name_join                      */</a:t>
            </a:r>
          </a:p>
          <a:p>
            <a:pPr>
              <a:lnSpc>
                <a:spcPct val="100000"/>
              </a:lnSpc>
              <a:spcBef>
                <a:spcPts val="0"/>
              </a:spcBef>
              <a:spcAft>
                <a:spcPts val="60"/>
              </a:spcAft>
            </a:pPr>
            <a:r>
              <a:rPr sz="640" b="0" i="0">
                <a:solidFill>
                  <a:srgbClr val="E5E7EB"/>
                </a:solidFill>
                <a:latin typeface="Consolas"/>
              </a:rPr>
              <a:t>#include &lt;stdio.h&gt;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#define SCREEN_WIDTH 20        /* characters the contact list can show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my_strlen(const char *s)           /* counts to the terminator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int len = 0;</a:t>
            </a:r>
          </a:p>
          <a:p>
            <a:pPr>
              <a:lnSpc>
                <a:spcPct val="100000"/>
              </a:lnSpc>
              <a:spcBef>
                <a:spcPts val="0"/>
              </a:spcBef>
              <a:spcAft>
                <a:spcPts val="60"/>
              </a:spcAft>
            </a:pPr>
            <a:r>
              <a:rPr sz="640" b="0" i="0">
                <a:solidFill>
                  <a:srgbClr val="E5E7EB"/>
                </a:solidFill>
                <a:latin typeface="Consolas"/>
              </a:rPr>
              <a:t>    while (s[len] != '\0')</a:t>
            </a:r>
          </a:p>
          <a:p>
            <a:pPr>
              <a:lnSpc>
                <a:spcPct val="100000"/>
              </a:lnSpc>
              <a:spcBef>
                <a:spcPts val="0"/>
              </a:spcBef>
              <a:spcAft>
                <a:spcPts val="60"/>
              </a:spcAft>
            </a:pPr>
            <a:r>
              <a:rPr sz="640" b="0" i="0">
                <a:solidFill>
                  <a:srgbClr val="E5E7EB"/>
                </a:solidFill>
                <a:latin typeface="Consolas"/>
              </a:rPr>
              <a:t>        len++;</a:t>
            </a:r>
          </a:p>
          <a:p>
            <a:pPr>
              <a:lnSpc>
                <a:spcPct val="100000"/>
              </a:lnSpc>
              <a:spcBef>
                <a:spcPts val="0"/>
              </a:spcBef>
              <a:spcAft>
                <a:spcPts val="60"/>
              </a:spcAft>
            </a:pPr>
            <a:r>
              <a:rPr sz="640" b="0" i="0">
                <a:solidFill>
                  <a:srgbClr val="E5E7EB"/>
                </a:solidFill>
                <a:latin typeface="Consolas"/>
              </a:rPr>
              <a:t>    return len;</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void my_strcpy(char *dest, const char *src)</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int i = 0;</a:t>
            </a:r>
          </a:p>
          <a:p>
            <a:pPr>
              <a:lnSpc>
                <a:spcPct val="100000"/>
              </a:lnSpc>
              <a:spcBef>
                <a:spcPts val="0"/>
              </a:spcBef>
              <a:spcAft>
                <a:spcPts val="60"/>
              </a:spcAft>
            </a:pPr>
            <a:r>
              <a:rPr sz="640" b="0" i="0">
                <a:solidFill>
                  <a:srgbClr val="E5E7EB"/>
                </a:solidFill>
                <a:latin typeface="Consolas"/>
              </a:rPr>
              <a:t>    while (src[i] != '\0') { dest[i] = src[i]; i++; }</a:t>
            </a:r>
          </a:p>
          <a:p>
            <a:pPr>
              <a:lnSpc>
                <a:spcPct val="100000"/>
              </a:lnSpc>
              <a:spcBef>
                <a:spcPts val="0"/>
              </a:spcBef>
              <a:spcAft>
                <a:spcPts val="60"/>
              </a:spcAft>
            </a:pPr>
            <a:r>
              <a:rPr sz="640" b="0" i="0">
                <a:solidFill>
                  <a:srgbClr val="E5E7EB"/>
                </a:solidFill>
                <a:latin typeface="Consolas"/>
              </a:rPr>
              <a:t>    dest[i] = '\0';</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void my_strcat(char *dest, const char *src)</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int i = my_strlen(dest);           /* start after the existing text     */</a:t>
            </a:r>
          </a:p>
          <a:p>
            <a:pPr>
              <a:lnSpc>
                <a:spcPct val="100000"/>
              </a:lnSpc>
              <a:spcBef>
                <a:spcPts val="0"/>
              </a:spcBef>
              <a:spcAft>
                <a:spcPts val="60"/>
              </a:spcAft>
            </a:pPr>
            <a:r>
              <a:rPr sz="640" b="0" i="0">
                <a:solidFill>
                  <a:srgbClr val="E5E7EB"/>
                </a:solidFill>
                <a:latin typeface="Consolas"/>
              </a:rPr>
              <a:t>    int j = 0;</a:t>
            </a:r>
          </a:p>
          <a:p>
            <a:pPr>
              <a:lnSpc>
                <a:spcPct val="100000"/>
              </a:lnSpc>
              <a:spcBef>
                <a:spcPts val="0"/>
              </a:spcBef>
              <a:spcAft>
                <a:spcPts val="60"/>
              </a:spcAft>
            </a:pPr>
            <a:r>
              <a:rPr sz="640" b="0" i="0">
                <a:solidFill>
                  <a:srgbClr val="E5E7EB"/>
                </a:solidFill>
                <a:latin typeface="Consolas"/>
              </a:rPr>
              <a:t>    while (src[j] != '\0') { dest[i] = src[j]; i++; j++; }</a:t>
            </a:r>
          </a:p>
          <a:p>
            <a:pPr>
              <a:lnSpc>
                <a:spcPct val="100000"/>
              </a:lnSpc>
              <a:spcBef>
                <a:spcPts val="0"/>
              </a:spcBef>
              <a:spcAft>
                <a:spcPts val="60"/>
              </a:spcAft>
            </a:pPr>
            <a:r>
              <a:rPr sz="640" b="0" i="0">
                <a:solidFill>
                  <a:srgbClr val="E5E7EB"/>
                </a:solidFill>
                <a:latin typeface="Consolas"/>
              </a:rPr>
              <a:t>    dest[i] = '\0';</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void trim_newline(char *s)             /* remove the Enter key fgets keeps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int i = 0;</a:t>
            </a:r>
          </a:p>
          <a:p>
            <a:pPr>
              <a:lnSpc>
                <a:spcPct val="100000"/>
              </a:lnSpc>
              <a:spcBef>
                <a:spcPts val="0"/>
              </a:spcBef>
              <a:spcAft>
                <a:spcPts val="60"/>
              </a:spcAft>
            </a:pPr>
            <a:r>
              <a:rPr sz="640" b="0" i="0">
                <a:solidFill>
                  <a:srgbClr val="E5E7EB"/>
                </a:solidFill>
                <a:latin typeface="Consolas"/>
              </a:rPr>
              <a:t>    while (s[i] != '\0') {</a:t>
            </a:r>
          </a:p>
          <a:p>
            <a:pPr>
              <a:lnSpc>
                <a:spcPct val="100000"/>
              </a:lnSpc>
              <a:spcBef>
                <a:spcPts val="0"/>
              </a:spcBef>
              <a:spcAft>
                <a:spcPts val="60"/>
              </a:spcAft>
            </a:pPr>
            <a:r>
              <a:rPr sz="640" b="0" i="0">
                <a:solidFill>
                  <a:srgbClr val="E5E7EB"/>
                </a:solidFill>
                <a:latin typeface="Consolas"/>
              </a:rPr>
              <a:t>        if (s[i] == '\n') { s[i] = '\0'; return; }</a:t>
            </a:r>
          </a:p>
          <a:p>
            <a:pPr>
              <a:lnSpc>
                <a:spcPct val="100000"/>
              </a:lnSpc>
              <a:spcBef>
                <a:spcPts val="0"/>
              </a:spcBef>
              <a:spcAft>
                <a:spcPts val="60"/>
              </a:spcAft>
            </a:pPr>
            <a:r>
              <a:rPr sz="640" b="0" i="0">
                <a:solidFill>
                  <a:srgbClr val="E5E7EB"/>
                </a:solidFill>
                <a:latin typeface="Consolas"/>
              </a:rPr>
              <a:t>        i++;</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main(void)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char first[40], last[40], full[90];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printf("Enter first name: ");</a:t>
            </a:r>
          </a:p>
          <a:p>
            <a:pPr>
              <a:lnSpc>
                <a:spcPct val="100000"/>
              </a:lnSpc>
              <a:spcBef>
                <a:spcPts val="0"/>
              </a:spcBef>
              <a:spcAft>
                <a:spcPts val="60"/>
              </a:spcAft>
            </a:pPr>
            <a:r>
              <a:rPr sz="640" b="0" i="0">
                <a:solidFill>
                  <a:srgbClr val="E5E7EB"/>
                </a:solidFill>
                <a:latin typeface="Consolas"/>
              </a:rPr>
              <a:t>    fgets(first, sizeof(first), stdin);</a:t>
            </a:r>
          </a:p>
          <a:p>
            <a:pPr>
              <a:lnSpc>
                <a:spcPct val="100000"/>
              </a:lnSpc>
              <a:spcBef>
                <a:spcPts val="0"/>
              </a:spcBef>
              <a:spcAft>
                <a:spcPts val="60"/>
              </a:spcAft>
            </a:pPr>
            <a:r>
              <a:rPr sz="640" b="0" i="0">
                <a:solidFill>
                  <a:srgbClr val="E5E7EB"/>
                </a:solidFill>
                <a:latin typeface="Consolas"/>
              </a:rPr>
              <a:t>    printf("Enter last name : ");</a:t>
            </a:r>
          </a:p>
          <a:p>
            <a:pPr>
              <a:lnSpc>
                <a:spcPct val="100000"/>
              </a:lnSpc>
              <a:spcBef>
                <a:spcPts val="0"/>
              </a:spcBef>
              <a:spcAft>
                <a:spcPts val="60"/>
              </a:spcAft>
            </a:pPr>
            <a:r>
              <a:rPr sz="640" b="0" i="0">
                <a:solidFill>
                  <a:srgbClr val="E5E7EB"/>
                </a:solidFill>
                <a:latin typeface="Consolas"/>
              </a:rPr>
              <a:t>    fgets(last, sizeof(last), stdin);</a:t>
            </a:r>
          </a:p>
          <a:p>
            <a:pPr>
              <a:lnSpc>
                <a:spcPct val="100000"/>
              </a:lnSpc>
              <a:spcBef>
                <a:spcPts val="0"/>
              </a:spcBef>
              <a:spcAft>
                <a:spcPts val="60"/>
              </a:spcAft>
            </a:pPr>
            <a:r>
              <a:rPr sz="640" b="0" i="0">
                <a:solidFill>
                  <a:srgbClr val="E5E7EB"/>
                </a:solidFill>
                <a:latin typeface="Consolas"/>
              </a:rPr>
              <a:t>    trim_newline(first);</a:t>
            </a:r>
          </a:p>
          <a:p>
            <a:pPr>
              <a:lnSpc>
                <a:spcPct val="100000"/>
              </a:lnSpc>
              <a:spcBef>
                <a:spcPts val="0"/>
              </a:spcBef>
              <a:spcAft>
                <a:spcPts val="60"/>
              </a:spcAft>
            </a:pPr>
            <a:r>
              <a:rPr sz="640" b="0" i="0">
                <a:solidFill>
                  <a:srgbClr val="E5E7EB"/>
                </a:solidFill>
                <a:latin typeface="Consolas"/>
              </a:rPr>
              <a:t>    trim_newline(last);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my_strcpy(full, first);            /* full = first                     */</a:t>
            </a:r>
          </a:p>
          <a:p>
            <a:pPr>
              <a:lnSpc>
                <a:spcPct val="100000"/>
              </a:lnSpc>
              <a:spcBef>
                <a:spcPts val="0"/>
              </a:spcBef>
              <a:spcAft>
                <a:spcPts val="60"/>
              </a:spcAft>
            </a:pPr>
            <a:r>
              <a:rPr sz="640" b="0" i="0">
                <a:solidFill>
                  <a:srgbClr val="E5E7EB"/>
                </a:solidFill>
                <a:latin typeface="Consolas"/>
              </a:rPr>
              <a:t>    my_strcat(full, " ");              /* full = first + " "               */</a:t>
            </a:r>
          </a:p>
          <a:p>
            <a:pPr>
              <a:lnSpc>
                <a:spcPct val="100000"/>
              </a:lnSpc>
              <a:spcBef>
                <a:spcPts val="0"/>
              </a:spcBef>
              <a:spcAft>
                <a:spcPts val="60"/>
              </a:spcAft>
            </a:pPr>
            <a:r>
              <a:rPr sz="640" b="0" i="0">
                <a:solidFill>
                  <a:srgbClr val="E5E7EB"/>
                </a:solidFill>
                <a:latin typeface="Consolas"/>
              </a:rPr>
              <a:t>    my_strcat(full, last);             /* full = first + " " + last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printf("Full name : %s\n", full);</a:t>
            </a:r>
          </a:p>
          <a:p>
            <a:pPr>
              <a:lnSpc>
                <a:spcPct val="100000"/>
              </a:lnSpc>
              <a:spcBef>
                <a:spcPts val="0"/>
              </a:spcBef>
              <a:spcAft>
                <a:spcPts val="60"/>
              </a:spcAft>
            </a:pPr>
            <a:r>
              <a:rPr sz="640" b="0" i="0">
                <a:solidFill>
                  <a:srgbClr val="E5E7EB"/>
                </a:solidFill>
                <a:latin typeface="Consolas"/>
              </a:rPr>
              <a:t>    printf("Length    : %d characters\n", my_strlen(full));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if (my_strlen(full) &lt;= SCREEN_WIDTH)</a:t>
            </a:r>
          </a:p>
          <a:p>
            <a:pPr>
              <a:lnSpc>
                <a:spcPct val="100000"/>
              </a:lnSpc>
              <a:spcBef>
                <a:spcPts val="0"/>
              </a:spcBef>
              <a:spcAft>
                <a:spcPts val="60"/>
              </a:spcAft>
            </a:pPr>
            <a:r>
              <a:rPr sz="640" b="0" i="0">
                <a:solidFill>
                  <a:srgbClr val="E5E7EB"/>
                </a:solidFill>
                <a:latin typeface="Consolas"/>
              </a:rPr>
              <a:t>        printf("Display check: FITS on the %d-character contact screen.\n",</a:t>
            </a:r>
          </a:p>
          <a:p>
            <a:pPr>
              <a:lnSpc>
                <a:spcPct val="100000"/>
              </a:lnSpc>
              <a:spcBef>
                <a:spcPts val="0"/>
              </a:spcBef>
              <a:spcAft>
                <a:spcPts val="60"/>
              </a:spcAft>
            </a:pPr>
            <a:r>
              <a:rPr sz="640" b="0" i="0">
                <a:solidFill>
                  <a:srgbClr val="E5E7EB"/>
                </a:solidFill>
                <a:latin typeface="Consolas"/>
              </a:rPr>
              <a:t>               SCREEN_WIDTH);</a:t>
            </a:r>
          </a:p>
          <a:p>
            <a:pPr>
              <a:lnSpc>
                <a:spcPct val="100000"/>
              </a:lnSpc>
              <a:spcBef>
                <a:spcPts val="0"/>
              </a:spcBef>
              <a:spcAft>
                <a:spcPts val="60"/>
              </a:spcAft>
            </a:pPr>
            <a:r>
              <a:rPr sz="640" b="0" i="0">
                <a:solidFill>
                  <a:srgbClr val="E5E7EB"/>
                </a:solidFill>
                <a:latin typeface="Consolas"/>
              </a:rPr>
              <a:t>    else</a:t>
            </a:r>
          </a:p>
          <a:p>
            <a:pPr>
              <a:lnSpc>
                <a:spcPct val="100000"/>
              </a:lnSpc>
              <a:spcBef>
                <a:spcPts val="0"/>
              </a:spcBef>
              <a:spcAft>
                <a:spcPts val="60"/>
              </a:spcAft>
            </a:pPr>
            <a:r>
              <a:rPr sz="640" b="0" i="0">
                <a:solidFill>
                  <a:srgbClr val="E5E7EB"/>
                </a:solidFill>
                <a:latin typeface="Consolas"/>
              </a:rPr>
              <a:t>        printf("Display check: TOO LONG for the %d-character screen "</a:t>
            </a:r>
          </a:p>
          <a:p>
            <a:pPr>
              <a:lnSpc>
                <a:spcPct val="100000"/>
              </a:lnSpc>
              <a:spcBef>
                <a:spcPts val="0"/>
              </a:spcBef>
              <a:spcAft>
                <a:spcPts val="60"/>
              </a:spcAft>
            </a:pPr>
            <a:r>
              <a:rPr sz="640" b="0" i="0">
                <a:solidFill>
                  <a:srgbClr val="E5E7EB"/>
                </a:solidFill>
                <a:latin typeface="Consolas"/>
              </a:rPr>
              <a:t>               "(needs %d).\n", SCREEN_WIDTH, my_strlen(full) - SCREEN_WIDTH);</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a:t>
            </a:r>
          </a:p>
        </p:txBody>
      </p:sp>
      <p:sp>
        <p:nvSpPr>
          <p:cNvPr id="12" name="Rectangle 11"/>
          <p:cNvSpPr/>
          <p:nvPr/>
        </p:nvSpPr>
        <p:spPr>
          <a:xfrm>
            <a:off x="6537960" y="1554480"/>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“Kavya” + “Krishnan” fits the 20-char screen at 14</a:t>
            </a:r>
          </a:p>
        </p:txBody>
      </p:sp>
      <p:sp>
        <p:nvSpPr>
          <p:cNvPr id="14" name="TextBox 13"/>
          <p:cNvSpPr txBox="1"/>
          <p:nvPr/>
        </p:nvSpPr>
        <p:spPr>
          <a:xfrm>
            <a:off x="6684264" y="1920240"/>
            <a:ext cx="4937759" cy="1901951"/>
          </a:xfrm>
          <a:prstGeom prst="rect">
            <a:avLst/>
          </a:prstGeom>
          <a:noFill/>
        </p:spPr>
        <p:txBody>
          <a:bodyPr wrap="none" anchor="t" lIns="0" rIns="0" tIns="0" bIns="0">
            <a:spAutoFit/>
          </a:bodyPr>
          <a:lstStyle/>
          <a:p>
            <a:pPr>
              <a:lnSpc>
                <a:spcPct val="100000"/>
              </a:lnSpc>
              <a:spcBef>
                <a:spcPts val="0"/>
              </a:spcBef>
              <a:spcAft>
                <a:spcPts val="60"/>
              </a:spcAft>
            </a:pPr>
            <a:r>
              <a:rPr sz="1145" b="0" i="0">
                <a:solidFill>
                  <a:srgbClr val="14171C"/>
                </a:solidFill>
                <a:latin typeface="Consolas"/>
              </a:rPr>
              <a:t>Enter first name: Kavya</a:t>
            </a:r>
          </a:p>
          <a:p>
            <a:pPr>
              <a:lnSpc>
                <a:spcPct val="100000"/>
              </a:lnSpc>
              <a:spcBef>
                <a:spcPts val="0"/>
              </a:spcBef>
              <a:spcAft>
                <a:spcPts val="60"/>
              </a:spcAft>
            </a:pPr>
            <a:r>
              <a:rPr sz="1145" b="0" i="0">
                <a:solidFill>
                  <a:srgbClr val="14171C"/>
                </a:solidFill>
                <a:latin typeface="Consolas"/>
              </a:rPr>
              <a:t>Enter last name : Krishnan</a:t>
            </a:r>
          </a:p>
          <a:p>
            <a:pPr>
              <a:lnSpc>
                <a:spcPct val="100000"/>
              </a:lnSpc>
              <a:spcBef>
                <a:spcPts val="0"/>
              </a:spcBef>
              <a:spcAft>
                <a:spcPts val="60"/>
              </a:spcAft>
            </a:pPr>
            <a:r>
              <a:rPr sz="1145" b="0" i="0">
                <a:solidFill>
                  <a:srgbClr val="14171C"/>
                </a:solidFill>
                <a:latin typeface="Consolas"/>
              </a:rPr>
              <a:t>Full name : Kavya Krishnan</a:t>
            </a:r>
          </a:p>
          <a:p>
            <a:pPr>
              <a:lnSpc>
                <a:spcPct val="100000"/>
              </a:lnSpc>
              <a:spcBef>
                <a:spcPts val="0"/>
              </a:spcBef>
              <a:spcAft>
                <a:spcPts val="60"/>
              </a:spcAft>
            </a:pPr>
            <a:r>
              <a:rPr sz="1145" b="0" i="0">
                <a:solidFill>
                  <a:srgbClr val="14171C"/>
                </a:solidFill>
                <a:latin typeface="Consolas"/>
              </a:rPr>
              <a:t>Length    : 14 characters</a:t>
            </a:r>
          </a:p>
          <a:p>
            <a:pPr>
              <a:lnSpc>
                <a:spcPct val="100000"/>
              </a:lnSpc>
              <a:spcBef>
                <a:spcPts val="0"/>
              </a:spcBef>
              <a:spcAft>
                <a:spcPts val="60"/>
              </a:spcAft>
            </a:pPr>
            <a:r>
              <a:rPr sz="1145" b="0" i="0">
                <a:solidFill>
                  <a:srgbClr val="14171C"/>
                </a:solidFill>
                <a:latin typeface="Consolas"/>
              </a:rPr>
              <a:t>Display check: FITS on the 20-character contact screen.</a:t>
            </a:r>
          </a:p>
        </p:txBody>
      </p:sp>
      <p:sp>
        <p:nvSpPr>
          <p:cNvPr id="15" name="Rectangle 14"/>
          <p:cNvSpPr/>
          <p:nvPr/>
        </p:nvSpPr>
        <p:spPr>
          <a:xfrm>
            <a:off x="6537960" y="3968496"/>
            <a:ext cx="5212079" cy="2359152"/>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059935"/>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2 — a long double-barrelled name overruns the screen by 11</a:t>
            </a:r>
          </a:p>
        </p:txBody>
      </p:sp>
      <p:sp>
        <p:nvSpPr>
          <p:cNvPr id="17" name="TextBox 16"/>
          <p:cNvSpPr txBox="1"/>
          <p:nvPr/>
        </p:nvSpPr>
        <p:spPr>
          <a:xfrm>
            <a:off x="6684264" y="4334255"/>
            <a:ext cx="4937759" cy="1901952"/>
          </a:xfrm>
          <a:prstGeom prst="rect">
            <a:avLst/>
          </a:prstGeom>
          <a:noFill/>
        </p:spPr>
        <p:txBody>
          <a:bodyPr wrap="none" anchor="t" lIns="0" rIns="0" tIns="0" bIns="0">
            <a:spAutoFit/>
          </a:bodyPr>
          <a:lstStyle/>
          <a:p>
            <a:pPr>
              <a:lnSpc>
                <a:spcPct val="100000"/>
              </a:lnSpc>
              <a:spcBef>
                <a:spcPts val="0"/>
              </a:spcBef>
              <a:spcAft>
                <a:spcPts val="60"/>
              </a:spcAft>
            </a:pPr>
            <a:r>
              <a:rPr sz="999" b="0" i="0">
                <a:solidFill>
                  <a:srgbClr val="14171C"/>
                </a:solidFill>
                <a:latin typeface="Consolas"/>
              </a:rPr>
              <a:t>Enter first name: Ananya Lakshmi</a:t>
            </a:r>
          </a:p>
          <a:p>
            <a:pPr>
              <a:lnSpc>
                <a:spcPct val="100000"/>
              </a:lnSpc>
              <a:spcBef>
                <a:spcPts val="0"/>
              </a:spcBef>
              <a:spcAft>
                <a:spcPts val="60"/>
              </a:spcAft>
            </a:pPr>
            <a:r>
              <a:rPr sz="999" b="0" i="0">
                <a:solidFill>
                  <a:srgbClr val="14171C"/>
                </a:solidFill>
                <a:latin typeface="Consolas"/>
              </a:rPr>
              <a:t>Enter last name : Narayanan Iyer R</a:t>
            </a:r>
          </a:p>
          <a:p>
            <a:pPr>
              <a:lnSpc>
                <a:spcPct val="100000"/>
              </a:lnSpc>
              <a:spcBef>
                <a:spcPts val="0"/>
              </a:spcBef>
              <a:spcAft>
                <a:spcPts val="60"/>
              </a:spcAft>
            </a:pPr>
            <a:r>
              <a:rPr sz="999" b="0" i="0">
                <a:solidFill>
                  <a:srgbClr val="14171C"/>
                </a:solidFill>
                <a:latin typeface="Consolas"/>
              </a:rPr>
              <a:t>Full name : Ananya Lakshmi Narayanan Iyer R</a:t>
            </a:r>
          </a:p>
          <a:p>
            <a:pPr>
              <a:lnSpc>
                <a:spcPct val="100000"/>
              </a:lnSpc>
              <a:spcBef>
                <a:spcPts val="0"/>
              </a:spcBef>
              <a:spcAft>
                <a:spcPts val="60"/>
              </a:spcAft>
            </a:pPr>
            <a:r>
              <a:rPr sz="999" b="0" i="0">
                <a:solidFill>
                  <a:srgbClr val="14171C"/>
                </a:solidFill>
                <a:latin typeface="Consolas"/>
              </a:rPr>
              <a:t>Length    : 31 characters</a:t>
            </a:r>
          </a:p>
          <a:p>
            <a:pPr>
              <a:lnSpc>
                <a:spcPct val="100000"/>
              </a:lnSpc>
              <a:spcBef>
                <a:spcPts val="0"/>
              </a:spcBef>
              <a:spcAft>
                <a:spcPts val="60"/>
              </a:spcAft>
            </a:pPr>
            <a:r>
              <a:rPr sz="999" b="0" i="0">
                <a:solidFill>
                  <a:srgbClr val="14171C"/>
                </a:solidFill>
                <a:latin typeface="Consolas"/>
              </a:rPr>
              <a:t>Display check: TOO LONG for the 20-character screen (needs 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4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4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40</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 1: 5 + 1 + 8 = 14, printed and counted by the manual strlen — the two independent ways to see the same number. Run 2 exists to show the length check earning its place: 31 &gt; 20 triggers the TOO LONG branch with the exact overrun (11), which is the contact-list design question (abbreviate? scroll? reject?). Deeper observation for the record. My_strcat calls my_strlen first — so joining k names by repeated my_strcat is O(total²) over the output (each append re-walks the whole prefix).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contact program joining first and last names, with no built-in string functions, was implemented via hand-written my_strlen, my_strcpy and my_strcat over null-terminated buffers, with the buffer sizes justified by the worst legal input.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Why must my_strcpy copy the '\0' — what is the visible symptom if it doesn’t?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Give the one-line while-loop form of my_strlen and explain why an array of chars that is not terminated is worse than an error.</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What does the library’s strncat guarantee that the manual my_strcat does not — and where is that guarantee in this program?</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Trace my_strcat appending “Krishnan”: which indices of full are written, starting where?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5</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5 — The Currency Booth That Previews — Call by Value and Call by Reference in One Program</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41</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and implement a C program for a currency-exchange preview flow in which the same swap of two amounts is provided twice — once as a simulation that must not touch the customer’s actual balances (call by value) and once as the committed exchange (call by reference through pointers) — and to demonstrate both outcomes from identical starting data.</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Explain and exhibit the observable difference between the two calling mechanisms; choose the mechanism per effect (preview ⇒ copy; commit ⇒ address); audit the program’s </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An activation record is the box of variables a call creates; C passes every argument by value — by copy into that box. What differs is only the kind of value copied:</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So “call by reference in C” is an honest shorthand for call by value of a pointer — and the distinction is not pedantry: the pointer itself lives in the callee’s box and dies there (harmless), while the data it points at lives in …</a:t>
            </a:r>
          </a:p>
        </p:txBody>
      </p:sp>
      <p:pic>
        <p:nvPicPr>
          <p:cNvPr id="14" name="Picture 13" descr="b05.png"/>
          <p:cNvPicPr>
            <a:picLocks noChangeAspect="1"/>
          </p:cNvPicPr>
          <p:nvPr/>
        </p:nvPicPr>
        <p:blipFill>
          <a:blip r:embed="rId2"/>
          <a:stretch>
            <a:fillRect/>
          </a:stretch>
        </p:blipFill>
        <p:spPr>
          <a:xfrm>
            <a:off x="7816026" y="1554480"/>
            <a:ext cx="3296027"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§13.2</a:t>
            </a:r>
          </a:p>
        </p:txBody>
      </p:sp>
      <p:sp>
        <p:nvSpPr>
          <p:cNvPr id="16" name="Rectangle 15"/>
          <p:cNvSpPr/>
          <p:nvPr/>
        </p:nvSpPr>
        <p:spPr>
          <a:xfrm>
            <a:off x="7178040" y="4956048"/>
            <a:ext cx="4572000" cy="142646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5065776"/>
            <a:ext cx="4279392" cy="1243584"/>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DESIGN NOTE</a:t>
            </a:r>
          </a:p>
          <a:p>
            <a:pPr>
              <a:lnSpc>
                <a:spcPct val="108000"/>
              </a:lnSpc>
              <a:spcBef>
                <a:spcPts val="0"/>
              </a:spcBef>
              <a:spcAft>
                <a:spcPts val="400"/>
              </a:spcAft>
            </a:pPr>
            <a:r>
              <a:rPr sz="1100" b="0" i="0">
                <a:solidFill>
                  <a:srgbClr val="16181D"/>
                </a:solidFill>
                <a:latin typeface="Calibri"/>
              </a:rPr>
              <a:t>Behaviour specification. Booth flow: read balances → preview-swap → print wallet (must be identical to before) → confirm → commit-swap → print wallet (must be exactly the previewed state). The preview’s output line and the post-commit line together form the correctness proof: the committed wallet equals what the preview promised, and the pre-commit wallet equals the untouched original. Designing the prints around that proof 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5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5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42</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b05_swap_modes.c  ·  complete source as compiled · 43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Experiment B5 -- currency booth: preview swap (call by value) vs real</a:t>
            </a:r>
          </a:p>
          <a:p>
            <a:pPr>
              <a:lnSpc>
                <a:spcPct val="100000"/>
              </a:lnSpc>
              <a:spcBef>
                <a:spcPts val="0"/>
              </a:spcBef>
              <a:spcAft>
                <a:spcPts val="60"/>
              </a:spcAft>
            </a:pPr>
            <a:r>
              <a:rPr sz="640" b="0" i="0">
                <a:solidFill>
                  <a:srgbClr val="E5E7EB"/>
                </a:solidFill>
                <a:latin typeface="Consolas"/>
              </a:rPr>
              <a:t>              swap (call by reference)</a:t>
            </a:r>
          </a:p>
          <a:p>
            <a:pPr>
              <a:lnSpc>
                <a:spcPct val="100000"/>
              </a:lnSpc>
              <a:spcBef>
                <a:spcPts val="0"/>
              </a:spcBef>
              <a:spcAft>
                <a:spcPts val="60"/>
              </a:spcAft>
            </a:pPr>
            <a:r>
              <a:rPr sz="640" b="0" i="0">
                <a:solidFill>
                  <a:srgbClr val="E5E7EB"/>
                </a:solidFill>
                <a:latin typeface="Consolas"/>
              </a:rPr>
              <a:t>   File    : b05_swap_modes.c</a:t>
            </a:r>
          </a:p>
          <a:p>
            <a:pPr>
              <a:lnSpc>
                <a:spcPct val="100000"/>
              </a:lnSpc>
              <a:spcBef>
                <a:spcPts val="0"/>
              </a:spcBef>
              <a:spcAft>
                <a:spcPts val="60"/>
              </a:spcAft>
            </a:pPr>
            <a:r>
              <a:rPr sz="640" b="0" i="0">
                <a:solidFill>
                  <a:srgbClr val="E5E7EB"/>
                </a:solidFill>
                <a:latin typeface="Consolas"/>
              </a:rPr>
              <a:t>   Build   : gcc -Wall b05_swap_modes.c -o b05_swap_modes                    */</a:t>
            </a:r>
          </a:p>
          <a:p>
            <a:pPr>
              <a:lnSpc>
                <a:spcPct val="100000"/>
              </a:lnSpc>
              <a:spcBef>
                <a:spcPts val="0"/>
              </a:spcBef>
              <a:spcAft>
                <a:spcPts val="60"/>
              </a:spcAft>
            </a:pPr>
            <a:r>
              <a:rPr sz="640" b="0" i="0">
                <a:solidFill>
                  <a:srgbClr val="E5E7EB"/>
                </a:solidFill>
                <a:latin typeface="Consolas"/>
              </a:rPr>
              <a:t>#include &lt;stdio.h&gt;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Works on a COPY: the booth can show the preview without touching data. */</a:t>
            </a:r>
          </a:p>
          <a:p>
            <a:pPr>
              <a:lnSpc>
                <a:spcPct val="100000"/>
              </a:lnSpc>
              <a:spcBef>
                <a:spcPts val="0"/>
              </a:spcBef>
              <a:spcAft>
                <a:spcPts val="60"/>
              </a:spcAft>
            </a:pPr>
            <a:r>
              <a:rPr sz="640" b="0" i="0">
                <a:solidFill>
                  <a:srgbClr val="E5E7EB"/>
                </a:solidFill>
                <a:latin typeface="Consolas"/>
              </a:rPr>
              <a:t>void preview_swap(float give, float get)</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float temp = give;</a:t>
            </a:r>
          </a:p>
          <a:p>
            <a:pPr>
              <a:lnSpc>
                <a:spcPct val="100000"/>
              </a:lnSpc>
              <a:spcBef>
                <a:spcPts val="0"/>
              </a:spcBef>
              <a:spcAft>
                <a:spcPts val="60"/>
              </a:spcAft>
            </a:pPr>
            <a:r>
              <a:rPr sz="640" b="0" i="0">
                <a:solidFill>
                  <a:srgbClr val="E5E7EB"/>
                </a:solidFill>
                <a:latin typeface="Consolas"/>
              </a:rPr>
              <a:t>    give = get;</a:t>
            </a:r>
          </a:p>
          <a:p>
            <a:pPr>
              <a:lnSpc>
                <a:spcPct val="100000"/>
              </a:lnSpc>
              <a:spcBef>
                <a:spcPts val="0"/>
              </a:spcBef>
              <a:spcAft>
                <a:spcPts val="60"/>
              </a:spcAft>
            </a:pPr>
            <a:r>
              <a:rPr sz="640" b="0" i="0">
                <a:solidFill>
                  <a:srgbClr val="E5E7EB"/>
                </a:solidFill>
                <a:latin typeface="Consolas"/>
              </a:rPr>
              <a:t>    get  = temp;</a:t>
            </a:r>
          </a:p>
          <a:p>
            <a:pPr>
              <a:lnSpc>
                <a:spcPct val="100000"/>
              </a:lnSpc>
              <a:spcBef>
                <a:spcPts val="0"/>
              </a:spcBef>
              <a:spcAft>
                <a:spcPts val="60"/>
              </a:spcAft>
            </a:pPr>
            <a:r>
              <a:rPr sz="640" b="0" i="0">
                <a:solidFill>
                  <a:srgbClr val="E5E7EB"/>
                </a:solidFill>
                <a:latin typeface="Consolas"/>
              </a:rPr>
              <a:t>    printf("  [preview] you would give %.2f and get %.2f\n", give, get);</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Works through ADDRESSES: the booth commits the actual exchange.       */</a:t>
            </a:r>
          </a:p>
          <a:p>
            <a:pPr>
              <a:lnSpc>
                <a:spcPct val="100000"/>
              </a:lnSpc>
              <a:spcBef>
                <a:spcPts val="0"/>
              </a:spcBef>
              <a:spcAft>
                <a:spcPts val="60"/>
              </a:spcAft>
            </a:pPr>
            <a:r>
              <a:rPr sz="640" b="0" i="0">
                <a:solidFill>
                  <a:srgbClr val="E5E7EB"/>
                </a:solidFill>
                <a:latin typeface="Consolas"/>
              </a:rPr>
              <a:t>void commit_swap(float *give, float *get)</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float temp = *give;</a:t>
            </a:r>
          </a:p>
          <a:p>
            <a:pPr>
              <a:lnSpc>
                <a:spcPct val="100000"/>
              </a:lnSpc>
              <a:spcBef>
                <a:spcPts val="0"/>
              </a:spcBef>
              <a:spcAft>
                <a:spcPts val="60"/>
              </a:spcAft>
            </a:pPr>
            <a:r>
              <a:rPr sz="640" b="0" i="0">
                <a:solidFill>
                  <a:srgbClr val="E5E7EB"/>
                </a:solidFill>
                <a:latin typeface="Consolas"/>
              </a:rPr>
              <a:t>    *give = *get;</a:t>
            </a:r>
          </a:p>
          <a:p>
            <a:pPr>
              <a:lnSpc>
                <a:spcPct val="100000"/>
              </a:lnSpc>
              <a:spcBef>
                <a:spcPts val="0"/>
              </a:spcBef>
              <a:spcAft>
                <a:spcPts val="60"/>
              </a:spcAft>
            </a:pPr>
            <a:r>
              <a:rPr sz="640" b="0" i="0">
                <a:solidFill>
                  <a:srgbClr val="E5E7EB"/>
                </a:solidFill>
                <a:latin typeface="Consolas"/>
              </a:rPr>
              <a:t>    *get  = temp;</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main(void)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float rupees = 4500.0f, dirhams = 0.0f;</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printf("Wallet before : Rs %.2f | AED %.2f\n", rupees, dirhams);</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printf("\n1) PREVIEW MODE (call by value) -- originals must not change\n");</a:t>
            </a:r>
          </a:p>
          <a:p>
            <a:pPr>
              <a:lnSpc>
                <a:spcPct val="100000"/>
              </a:lnSpc>
              <a:spcBef>
                <a:spcPts val="0"/>
              </a:spcBef>
              <a:spcAft>
                <a:spcPts val="60"/>
              </a:spcAft>
            </a:pPr>
            <a:r>
              <a:rPr sz="640" b="0" i="0">
                <a:solidFill>
                  <a:srgbClr val="E5E7EB"/>
                </a:solidFill>
                <a:latin typeface="Consolas"/>
              </a:rPr>
              <a:t>    preview_swap(rupees, dirhams);</a:t>
            </a:r>
          </a:p>
          <a:p>
            <a:pPr>
              <a:lnSpc>
                <a:spcPct val="100000"/>
              </a:lnSpc>
              <a:spcBef>
                <a:spcPts val="0"/>
              </a:spcBef>
              <a:spcAft>
                <a:spcPts val="60"/>
              </a:spcAft>
            </a:pPr>
            <a:r>
              <a:rPr sz="640" b="0" i="0">
                <a:solidFill>
                  <a:srgbClr val="E5E7EB"/>
                </a:solidFill>
                <a:latin typeface="Consolas"/>
              </a:rPr>
              <a:t>    printf("Wallet after  : Rs %.2f | AED %.2f  &lt;- unchanged\n",</a:t>
            </a:r>
          </a:p>
          <a:p>
            <a:pPr>
              <a:lnSpc>
                <a:spcPct val="100000"/>
              </a:lnSpc>
              <a:spcBef>
                <a:spcPts val="0"/>
              </a:spcBef>
              <a:spcAft>
                <a:spcPts val="60"/>
              </a:spcAft>
            </a:pPr>
            <a:r>
              <a:rPr sz="640" b="0" i="0">
                <a:solidFill>
                  <a:srgbClr val="E5E7EB"/>
                </a:solidFill>
                <a:latin typeface="Consolas"/>
              </a:rPr>
              <a:t>           rupees, dirhams);</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printf("\n2) COMMIT MODE (call by reference) -- exchange becomes real\n");</a:t>
            </a:r>
          </a:p>
          <a:p>
            <a:pPr>
              <a:lnSpc>
                <a:spcPct val="100000"/>
              </a:lnSpc>
              <a:spcBef>
                <a:spcPts val="0"/>
              </a:spcBef>
              <a:spcAft>
                <a:spcPts val="60"/>
              </a:spcAft>
            </a:pPr>
            <a:r>
              <a:rPr sz="640" b="0" i="0">
                <a:solidFill>
                  <a:srgbClr val="E5E7EB"/>
                </a:solidFill>
                <a:latin typeface="Consolas"/>
              </a:rPr>
              <a:t>    rupees  = 4500.0f;   /* reset to the same starting wallet for clarity  */</a:t>
            </a:r>
          </a:p>
          <a:p>
            <a:pPr>
              <a:lnSpc>
                <a:spcPct val="100000"/>
              </a:lnSpc>
              <a:spcBef>
                <a:spcPts val="0"/>
              </a:spcBef>
              <a:spcAft>
                <a:spcPts val="60"/>
              </a:spcAft>
            </a:pPr>
            <a:r>
              <a:rPr sz="640" b="0" i="0">
                <a:solidFill>
                  <a:srgbClr val="E5E7EB"/>
                </a:solidFill>
                <a:latin typeface="Consolas"/>
              </a:rPr>
              <a:t>    dirhams = 0.0f;</a:t>
            </a:r>
          </a:p>
          <a:p>
            <a:pPr>
              <a:lnSpc>
                <a:spcPct val="100000"/>
              </a:lnSpc>
              <a:spcBef>
                <a:spcPts val="0"/>
              </a:spcBef>
              <a:spcAft>
                <a:spcPts val="60"/>
              </a:spcAft>
            </a:pPr>
            <a:r>
              <a:rPr sz="640" b="0" i="0">
                <a:solidFill>
                  <a:srgbClr val="E5E7EB"/>
                </a:solidFill>
                <a:latin typeface="Consolas"/>
              </a:rPr>
              <a:t>    commit_swap(&amp;rupees, &amp;dirhams);</a:t>
            </a:r>
          </a:p>
          <a:p>
            <a:pPr>
              <a:lnSpc>
                <a:spcPct val="100000"/>
              </a:lnSpc>
              <a:spcBef>
                <a:spcPts val="0"/>
              </a:spcBef>
              <a:spcAft>
                <a:spcPts val="60"/>
              </a:spcAft>
            </a:pPr>
            <a:r>
              <a:rPr sz="640" b="0" i="0">
                <a:solidFill>
                  <a:srgbClr val="E5E7EB"/>
                </a:solidFill>
                <a:latin typeface="Consolas"/>
              </a:rPr>
              <a:t>    printf("Wallet after  : Rs %.2f | AED %.2f  &lt;- actually swapped\n",</a:t>
            </a:r>
          </a:p>
          <a:p>
            <a:pPr>
              <a:lnSpc>
                <a:spcPct val="100000"/>
              </a:lnSpc>
              <a:spcBef>
                <a:spcPts val="0"/>
              </a:spcBef>
              <a:spcAft>
                <a:spcPts val="60"/>
              </a:spcAft>
            </a:pPr>
            <a:r>
              <a:rPr sz="640" b="0" i="0">
                <a:solidFill>
                  <a:srgbClr val="E5E7EB"/>
                </a:solidFill>
                <a:latin typeface="Consolas"/>
              </a:rPr>
              <a:t>           rupees, dirhams);</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a:t>
            </a:r>
          </a:p>
        </p:txBody>
      </p:sp>
      <p:sp>
        <p:nvSpPr>
          <p:cNvPr id="12" name="Rectangle 11"/>
          <p:cNvSpPr/>
          <p:nvPr/>
        </p:nvSpPr>
        <p:spPr>
          <a:xfrm>
            <a:off x="6537960" y="1554480"/>
            <a:ext cx="5212079" cy="4773168"/>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preview promises, originals resist, commit delivers</a:t>
            </a:r>
          </a:p>
        </p:txBody>
      </p:sp>
      <p:sp>
        <p:nvSpPr>
          <p:cNvPr id="14" name="TextBox 13"/>
          <p:cNvSpPr txBox="1"/>
          <p:nvPr/>
        </p:nvSpPr>
        <p:spPr>
          <a:xfrm>
            <a:off x="6684264" y="1920240"/>
            <a:ext cx="4937759" cy="4315968"/>
          </a:xfrm>
          <a:prstGeom prst="rect">
            <a:avLst/>
          </a:prstGeom>
          <a:noFill/>
        </p:spPr>
        <p:txBody>
          <a:bodyPr wrap="none" anchor="t" lIns="0" rIns="0" tIns="0" bIns="0">
            <a:spAutoFit/>
          </a:bodyPr>
          <a:lstStyle/>
          <a:p>
            <a:pPr>
              <a:lnSpc>
                <a:spcPct val="100000"/>
              </a:lnSpc>
              <a:spcBef>
                <a:spcPts val="0"/>
              </a:spcBef>
              <a:spcAft>
                <a:spcPts val="60"/>
              </a:spcAft>
            </a:pPr>
            <a:r>
              <a:rPr sz="1049" b="0" i="0">
                <a:solidFill>
                  <a:srgbClr val="14171C"/>
                </a:solidFill>
                <a:latin typeface="Consolas"/>
              </a:rPr>
              <a:t>Wallet before : Rs 4500.00 | AED 0.00</a:t>
            </a:r>
          </a:p>
          <a:p>
            <a:pPr>
              <a:lnSpc>
                <a:spcPct val="100000"/>
              </a:lnSpc>
              <a:spcBef>
                <a:spcPts val="0"/>
              </a:spcBef>
              <a:spcAft>
                <a:spcPts val="60"/>
              </a:spcAft>
            </a:pPr>
            <a:r>
              <a:rPr sz="1049" b="0" i="0">
                <a:solidFill>
                  <a:srgbClr val="14171C"/>
                </a:solidFill>
                <a:latin typeface="Consolas"/>
              </a:rPr>
              <a:t> </a:t>
            </a:r>
          </a:p>
          <a:p>
            <a:pPr>
              <a:lnSpc>
                <a:spcPct val="100000"/>
              </a:lnSpc>
              <a:spcBef>
                <a:spcPts val="0"/>
              </a:spcBef>
              <a:spcAft>
                <a:spcPts val="60"/>
              </a:spcAft>
            </a:pPr>
            <a:r>
              <a:rPr sz="1049" b="0" i="0">
                <a:solidFill>
                  <a:srgbClr val="14171C"/>
                </a:solidFill>
                <a:latin typeface="Consolas"/>
              </a:rPr>
              <a:t>1) PREVIEW MODE (call by value) -- originals must not change</a:t>
            </a:r>
          </a:p>
          <a:p>
            <a:pPr>
              <a:lnSpc>
                <a:spcPct val="100000"/>
              </a:lnSpc>
              <a:spcBef>
                <a:spcPts val="0"/>
              </a:spcBef>
              <a:spcAft>
                <a:spcPts val="60"/>
              </a:spcAft>
            </a:pPr>
            <a:r>
              <a:rPr sz="1049" b="0" i="0">
                <a:solidFill>
                  <a:srgbClr val="14171C"/>
                </a:solidFill>
                <a:latin typeface="Consolas"/>
              </a:rPr>
              <a:t>  [preview] you would give 0.00 and get 4500.00</a:t>
            </a:r>
          </a:p>
          <a:p>
            <a:pPr>
              <a:lnSpc>
                <a:spcPct val="100000"/>
              </a:lnSpc>
              <a:spcBef>
                <a:spcPts val="0"/>
              </a:spcBef>
              <a:spcAft>
                <a:spcPts val="60"/>
              </a:spcAft>
            </a:pPr>
            <a:r>
              <a:rPr sz="1049" b="0" i="0">
                <a:solidFill>
                  <a:srgbClr val="14171C"/>
                </a:solidFill>
                <a:latin typeface="Consolas"/>
              </a:rPr>
              <a:t>Wallet after  : Rs 4500.00 | AED 0.00  &lt;- unchanged</a:t>
            </a:r>
          </a:p>
          <a:p>
            <a:pPr>
              <a:lnSpc>
                <a:spcPct val="100000"/>
              </a:lnSpc>
              <a:spcBef>
                <a:spcPts val="0"/>
              </a:spcBef>
              <a:spcAft>
                <a:spcPts val="60"/>
              </a:spcAft>
            </a:pPr>
            <a:r>
              <a:rPr sz="1049" b="0" i="0">
                <a:solidFill>
                  <a:srgbClr val="14171C"/>
                </a:solidFill>
                <a:latin typeface="Consolas"/>
              </a:rPr>
              <a:t> </a:t>
            </a:r>
          </a:p>
          <a:p>
            <a:pPr>
              <a:lnSpc>
                <a:spcPct val="100000"/>
              </a:lnSpc>
              <a:spcBef>
                <a:spcPts val="0"/>
              </a:spcBef>
              <a:spcAft>
                <a:spcPts val="60"/>
              </a:spcAft>
            </a:pPr>
            <a:r>
              <a:rPr sz="1049" b="0" i="0">
                <a:solidFill>
                  <a:srgbClr val="14171C"/>
                </a:solidFill>
                <a:latin typeface="Consolas"/>
              </a:rPr>
              <a:t>2) COMMIT MODE (call by reference) -- exchange becomes real</a:t>
            </a:r>
          </a:p>
          <a:p>
            <a:pPr>
              <a:lnSpc>
                <a:spcPct val="100000"/>
              </a:lnSpc>
              <a:spcBef>
                <a:spcPts val="0"/>
              </a:spcBef>
              <a:spcAft>
                <a:spcPts val="60"/>
              </a:spcAft>
            </a:pPr>
            <a:r>
              <a:rPr sz="1049" b="0" i="0">
                <a:solidFill>
                  <a:srgbClr val="14171C"/>
                </a:solidFill>
                <a:latin typeface="Consolas"/>
              </a:rPr>
              <a:t>Wallet after  : Rs 0.00 | AED 4500.00  &lt;- actually swapped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5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5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43</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Read the transcript as three facts: [preview] line shows 4500 swapped into 0 — inside the callee the values genuinely exchanged; the very next line shows the wallet unchanged — the proof the exchange was only inside the box; the commit line shows the wallet now equal to the promise. A program whose every state is printed is a program whose bugs cannot hide: that print layout is itself the design result.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 program implementing a currency booth’s two exchange modes was designed and run: preview_swap(float, float) altered only its copies and left the wallet untouched (4500.00 / 0.00 before and after), while commit_swap(float*, float*) through the add.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In strict standard-C terms, does call by reference exist? Answer with the phrase “by value of a…</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Draw (or describe) both activation records at the moment the preview swap finishes; which numbers differ from main’s?</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Write the three statements of the alias-safe swap; explain what goes wrong without the temp when both parameters are &amp;account.</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When is passing by value safer than passing a pointer, independent of cost?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6</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200" b="1" i="0">
                <a:solidFill>
                  <a:srgbClr val="0F172A"/>
                </a:solidFill>
                <a:latin typeface="Calibri"/>
              </a:rPr>
              <a:t>Part-B · Item 6 — The Library Catalogue — Structures: A Row for Every Book</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44</a:t>
            </a:r>
          </a:p>
        </p:txBody>
      </p:sp>
      <p:sp>
        <p:nvSpPr>
          <p:cNvPr id="8" name="Rectangle 7"/>
          <p:cNvSpPr/>
          <p:nvPr/>
        </p:nvSpPr>
        <p:spPr>
          <a:xfrm>
            <a:off x="502920" y="1536192"/>
            <a:ext cx="6355080" cy="21031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36192"/>
            <a:ext cx="54864" cy="2103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627632"/>
            <a:ext cx="5971032" cy="19202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AIM / TASK (VERBATIM FROM THE BOOK)</a:t>
            </a:r>
          </a:p>
          <a:p>
            <a:pPr>
              <a:lnSpc>
                <a:spcPct val="107000"/>
              </a:lnSpc>
              <a:spcBef>
                <a:spcPts val="0"/>
              </a:spcBef>
              <a:spcAft>
                <a:spcPts val="0"/>
              </a:spcAft>
            </a:pPr>
            <a:r>
              <a:rPr sz="1200" b="0" i="0">
                <a:solidFill>
                  <a:srgbClr val="16181D"/>
                </a:solidFill>
                <a:latin typeface="Calibri"/>
              </a:rPr>
              <a:t>To design a structure capable of holding a book’s title, author and year of publication and to develop a C program that enters a list of such books into an array and displays the catalogue as an aligned table, in a design that can later be extended to search and sort.</a:t>
            </a:r>
          </a:p>
        </p:txBody>
      </p:sp>
      <p:sp>
        <p:nvSpPr>
          <p:cNvPr id="11" name="TextBox 10"/>
          <p:cNvSpPr txBox="1"/>
          <p:nvPr/>
        </p:nvSpPr>
        <p:spPr>
          <a:xfrm>
            <a:off x="704088" y="3346703"/>
            <a:ext cx="5971032" cy="237744"/>
          </a:xfrm>
          <a:prstGeom prst="rect">
            <a:avLst/>
          </a:prstGeom>
          <a:noFill/>
        </p:spPr>
        <p:txBody>
          <a:bodyPr wrap="square" anchor="t" lIns="0" rIns="0" tIns="0" bIns="0">
            <a:spAutoFit/>
          </a:bodyPr>
          <a:lstStyle/>
          <a:p>
            <a:pPr>
              <a:spcBef>
                <a:spcPts val="0"/>
              </a:spcBef>
              <a:spcAft>
                <a:spcPts val="0"/>
              </a:spcAft>
            </a:pPr>
            <a:r>
              <a:rPr sz="1000" b="0" i="1">
                <a:solidFill>
                  <a:srgbClr val="4B5563"/>
                </a:solidFill>
                <a:latin typeface="Calibri"/>
              </a:rPr>
              <a:t>Objective — Declare a struct type and an array of structs; read strings and numbers safely in the same loop (the getchar() after scanf); access members through the dot operator, pass</a:t>
            </a:r>
          </a:p>
        </p:txBody>
      </p:sp>
      <p:sp>
        <p:nvSpPr>
          <p:cNvPr id="12" name="TextBox 11"/>
          <p:cNvSpPr txBox="1"/>
          <p:nvPr/>
        </p:nvSpPr>
        <p:spPr>
          <a:xfrm>
            <a:off x="502920" y="3767328"/>
            <a:ext cx="6355080" cy="256032"/>
          </a:xfrm>
          <a:prstGeom prst="rect">
            <a:avLst/>
          </a:prstGeom>
          <a:noFill/>
        </p:spPr>
        <p:txBody>
          <a:bodyPr wrap="square" anchor="t" lIns="0" rIns="0" tIns="0" bIns="0">
            <a:spAutoFit/>
          </a:bodyPr>
          <a:lstStyle/>
          <a:p>
            <a:pPr>
              <a:spcBef>
                <a:spcPts val="0"/>
              </a:spcBef>
              <a:spcAft>
                <a:spcPts val="0"/>
              </a:spcAft>
            </a:pPr>
            <a:r>
              <a:rPr sz="1150" b="1" i="0">
                <a:solidFill>
                  <a:srgbClr val="0F172A"/>
                </a:solidFill>
                <a:latin typeface="Calibri"/>
              </a:rPr>
              <a:t>THE IDEA THE THEORY ESTABLISHES</a:t>
            </a:r>
          </a:p>
        </p:txBody>
      </p:sp>
      <p:sp>
        <p:nvSpPr>
          <p:cNvPr id="13" name="TextBox 12"/>
          <p:cNvSpPr txBox="1"/>
          <p:nvPr/>
        </p:nvSpPr>
        <p:spPr>
          <a:xfrm>
            <a:off x="502920" y="4041648"/>
            <a:ext cx="6355080" cy="2331720"/>
          </a:xfrm>
          <a:prstGeom prst="rect">
            <a:avLst/>
          </a:prstGeom>
          <a:noFill/>
        </p:spPr>
        <p:txBody>
          <a:bodyPr wrap="square" anchor="t" lIns="0" rIns="0" tIns="0" bIns="0">
            <a:spAutoFit/>
          </a:bodyPr>
          <a:lstStyle/>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A struct definition is a blueprint, not storage — it says how much room a struct Book needs. This program’s row is 60 + 40 + 4 bytes (plus a few of alignment padding — mention it if asked: sizeof returns 108 on the lab machines, not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Two design notes turn this from syntax into engineering. One mixed read per row: scanf("%d") leaves its newline in the stream — a later fgets would read that leftover as an empty line; the standard cure getchar(); eats exactly one …</a:t>
            </a:r>
          </a:p>
          <a:p>
            <a:pPr marL="201168" indent="-201168">
              <a:lnSpc>
                <a:spcPct val="105000"/>
              </a:lnSpc>
              <a:spcBef>
                <a:spcPts val="0"/>
              </a:spcBef>
              <a:spcAft>
                <a:spcPts val="450"/>
              </a:spcAft>
            </a:pPr>
            <a:r>
              <a:rPr sz="1200" b="1" i="0">
                <a:solidFill>
                  <a:srgbClr val="B3261E"/>
                </a:solidFill>
                <a:latin typeface="Calibri"/>
              </a:rPr>
              <a:t>•  </a:t>
            </a:r>
            <a:r>
              <a:rPr sz="1200" b="0" i="0">
                <a:solidFill>
                  <a:srgbClr val="16181D"/>
                </a:solidFill>
                <a:latin typeface="Calibri"/>
              </a:rPr>
              <a:t>Entering the count with scanf("%d", &amp;n) and then jumping straight into the first fgets makes only the first book’s title misbehave: the fgets grabs the Enter key from the count and reports an empty title. This happens in every batch, …</a:t>
            </a:r>
          </a:p>
        </p:txBody>
      </p:sp>
      <p:pic>
        <p:nvPicPr>
          <p:cNvPr id="14" name="Picture 13" descr="b06.png"/>
          <p:cNvPicPr>
            <a:picLocks noChangeAspect="1"/>
          </p:cNvPicPr>
          <p:nvPr/>
        </p:nvPicPr>
        <p:blipFill>
          <a:blip r:embed="rId2"/>
          <a:stretch>
            <a:fillRect/>
          </a:stretch>
        </p:blipFill>
        <p:spPr>
          <a:xfrm>
            <a:off x="8234153" y="1554480"/>
            <a:ext cx="2459772" cy="3127248"/>
          </a:xfrm>
          <a:prstGeom prst="rect">
            <a:avLst/>
          </a:prstGeom>
        </p:spPr>
      </p:pic>
      <p:sp>
        <p:nvSpPr>
          <p:cNvPr id="15" name="TextBox 14"/>
          <p:cNvSpPr txBox="1"/>
          <p:nvPr/>
        </p:nvSpPr>
        <p:spPr>
          <a:xfrm>
            <a:off x="7178040" y="4709159"/>
            <a:ext cx="4572000" cy="219456"/>
          </a:xfrm>
          <a:prstGeom prst="rect">
            <a:avLst/>
          </a:prstGeom>
          <a:noFill/>
        </p:spPr>
        <p:txBody>
          <a:bodyPr wrap="square" anchor="t" lIns="0" rIns="0" tIns="0" bIns="0">
            <a:spAutoFit/>
          </a:bodyPr>
          <a:lstStyle/>
          <a:p>
            <a:pPr algn="ctr">
              <a:spcBef>
                <a:spcPts val="0"/>
              </a:spcBef>
              <a:spcAft>
                <a:spcPts val="0"/>
              </a:spcAft>
            </a:pPr>
            <a:r>
              <a:rPr sz="1000" b="0" i="1">
                <a:solidFill>
                  <a:srgbClr val="4B5563"/>
                </a:solidFill>
                <a:latin typeface="Calibri"/>
              </a:rPr>
              <a:t>ALGORITHM &amp; FLOWCHART — figure from §14.2</a:t>
            </a:r>
          </a:p>
        </p:txBody>
      </p:sp>
      <p:sp>
        <p:nvSpPr>
          <p:cNvPr id="16" name="Rectangle 15"/>
          <p:cNvSpPr/>
          <p:nvPr/>
        </p:nvSpPr>
        <p:spPr>
          <a:xfrm>
            <a:off x="7178040" y="4956048"/>
            <a:ext cx="4572000" cy="142646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5065776"/>
            <a:ext cx="4279392" cy="1243584"/>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DESIGN NOTE</a:t>
            </a:r>
          </a:p>
          <a:p>
            <a:pPr>
              <a:lnSpc>
                <a:spcPct val="108000"/>
              </a:lnSpc>
              <a:spcBef>
                <a:spcPts val="0"/>
              </a:spcBef>
              <a:spcAft>
                <a:spcPts val="400"/>
              </a:spcAft>
            </a:pPr>
            <a:r>
              <a:rPr sz="1100" b="0" i="0">
                <a:solidFill>
                  <a:srgbClr val="16181D"/>
                </a:solidFill>
                <a:latin typeface="Calibri"/>
              </a:rPr>
              <a:t>Requirement read-out. “Store and display” with room to grow: rows of the catalogue are structs; the display is a separate function so a future “print by author” or “search by year” reuses the data path, not the print path. Test plan: two books including one with an overlong title (truncation in the table must be neat, not ragged — visible in Run 1’s first row); a zero-count run (empty catalogue prints the header only, no crash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6 · CODE &amp; RUNS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6 — Source, Build &amp; Captured Runs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45</a:t>
            </a:r>
          </a:p>
        </p:txBody>
      </p:sp>
      <p:sp>
        <p:nvSpPr>
          <p:cNvPr id="8" name="Rectangle 7"/>
          <p:cNvSpPr/>
          <p:nvPr/>
        </p:nvSpPr>
        <p:spPr>
          <a:xfrm>
            <a:off x="411480" y="1554480"/>
            <a:ext cx="5943600" cy="4828032"/>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54480"/>
            <a:ext cx="5943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04772"/>
            <a:ext cx="5650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b06_library_struct.c  ·  complete source as compiled · 47 lines</a:t>
            </a:r>
          </a:p>
        </p:txBody>
      </p:sp>
      <p:sp>
        <p:nvSpPr>
          <p:cNvPr id="11" name="TextBox 10"/>
          <p:cNvSpPr txBox="1"/>
          <p:nvPr/>
        </p:nvSpPr>
        <p:spPr>
          <a:xfrm>
            <a:off x="576072" y="1956816"/>
            <a:ext cx="5632704" cy="4352544"/>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Experiment B6 -- library book register using a structure</a:t>
            </a:r>
          </a:p>
          <a:p>
            <a:pPr>
              <a:lnSpc>
                <a:spcPct val="100000"/>
              </a:lnSpc>
              <a:spcBef>
                <a:spcPts val="0"/>
              </a:spcBef>
              <a:spcAft>
                <a:spcPts val="60"/>
              </a:spcAft>
            </a:pPr>
            <a:r>
              <a:rPr sz="640" b="0" i="0">
                <a:solidFill>
                  <a:srgbClr val="E5E7EB"/>
                </a:solidFill>
                <a:latin typeface="Consolas"/>
              </a:rPr>
              <a:t>   File    : b06_library_struct.c</a:t>
            </a:r>
          </a:p>
          <a:p>
            <a:pPr>
              <a:lnSpc>
                <a:spcPct val="100000"/>
              </a:lnSpc>
              <a:spcBef>
                <a:spcPts val="0"/>
              </a:spcBef>
              <a:spcAft>
                <a:spcPts val="60"/>
              </a:spcAft>
            </a:pPr>
            <a:r>
              <a:rPr sz="640" b="0" i="0">
                <a:solidFill>
                  <a:srgbClr val="E5E7EB"/>
                </a:solidFill>
                <a:latin typeface="Consolas"/>
              </a:rPr>
              <a:t>   Build   : gcc -Wall b06_library_struct.c -o b06_library_struct           */</a:t>
            </a:r>
          </a:p>
          <a:p>
            <a:pPr>
              <a:lnSpc>
                <a:spcPct val="100000"/>
              </a:lnSpc>
              <a:spcBef>
                <a:spcPts val="0"/>
              </a:spcBef>
              <a:spcAft>
                <a:spcPts val="60"/>
              </a:spcAft>
            </a:pPr>
            <a:r>
              <a:rPr sz="640" b="0" i="0">
                <a:solidFill>
                  <a:srgbClr val="E5E7EB"/>
                </a:solidFill>
                <a:latin typeface="Consolas"/>
              </a:rPr>
              <a:t>#include &lt;stdio.h&gt;</a:t>
            </a:r>
          </a:p>
          <a:p>
            <a:pPr>
              <a:lnSpc>
                <a:spcPct val="100000"/>
              </a:lnSpc>
              <a:spcBef>
                <a:spcPts val="0"/>
              </a:spcBef>
              <a:spcAft>
                <a:spcPts val="60"/>
              </a:spcAft>
            </a:pPr>
            <a:r>
              <a:rPr sz="640" b="0" i="0">
                <a:solidFill>
                  <a:srgbClr val="E5E7EB"/>
                </a:solidFill>
                <a:latin typeface="Consolas"/>
              </a:rPr>
              <a:t>#include &lt;string.h&gt;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#define MAX_BOOKS 5</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struct Book {</a:t>
            </a:r>
          </a:p>
          <a:p>
            <a:pPr>
              <a:lnSpc>
                <a:spcPct val="100000"/>
              </a:lnSpc>
              <a:spcBef>
                <a:spcPts val="0"/>
              </a:spcBef>
              <a:spcAft>
                <a:spcPts val="60"/>
              </a:spcAft>
            </a:pPr>
            <a:r>
              <a:rPr sz="640" b="0" i="0">
                <a:solidFill>
                  <a:srgbClr val="E5E7EB"/>
                </a:solidFill>
                <a:latin typeface="Consolas"/>
              </a:rPr>
              <a:t>    char title[60];</a:t>
            </a:r>
          </a:p>
          <a:p>
            <a:pPr>
              <a:lnSpc>
                <a:spcPct val="100000"/>
              </a:lnSpc>
              <a:spcBef>
                <a:spcPts val="0"/>
              </a:spcBef>
              <a:spcAft>
                <a:spcPts val="60"/>
              </a:spcAft>
            </a:pPr>
            <a:r>
              <a:rPr sz="640" b="0" i="0">
                <a:solidFill>
                  <a:srgbClr val="E5E7EB"/>
                </a:solidFill>
                <a:latin typeface="Consolas"/>
              </a:rPr>
              <a:t>    char author[40];</a:t>
            </a:r>
          </a:p>
          <a:p>
            <a:pPr>
              <a:lnSpc>
                <a:spcPct val="100000"/>
              </a:lnSpc>
              <a:spcBef>
                <a:spcPts val="0"/>
              </a:spcBef>
              <a:spcAft>
                <a:spcPts val="60"/>
              </a:spcAft>
            </a:pPr>
            <a:r>
              <a:rPr sz="640" b="0" i="0">
                <a:solidFill>
                  <a:srgbClr val="E5E7EB"/>
                </a:solidFill>
                <a:latin typeface="Consolas"/>
              </a:rPr>
              <a:t>    int  year;</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void show_books(struct Book b[], int n)</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printf("\n%-3s %-28.28s %-20.20s %s\n", "#", "TITLE", "AUTHOR", "YEAR");</a:t>
            </a:r>
          </a:p>
          <a:p>
            <a:pPr>
              <a:lnSpc>
                <a:spcPct val="100000"/>
              </a:lnSpc>
              <a:spcBef>
                <a:spcPts val="0"/>
              </a:spcBef>
              <a:spcAft>
                <a:spcPts val="60"/>
              </a:spcAft>
            </a:pPr>
            <a:r>
              <a:rPr sz="640" b="0" i="0">
                <a:solidFill>
                  <a:srgbClr val="E5E7EB"/>
                </a:solidFill>
                <a:latin typeface="Consolas"/>
              </a:rPr>
              <a:t>    for (int i = 0; i &lt; n; i++)</a:t>
            </a:r>
          </a:p>
          <a:p>
            <a:pPr>
              <a:lnSpc>
                <a:spcPct val="100000"/>
              </a:lnSpc>
              <a:spcBef>
                <a:spcPts val="0"/>
              </a:spcBef>
              <a:spcAft>
                <a:spcPts val="60"/>
              </a:spcAft>
            </a:pPr>
            <a:r>
              <a:rPr sz="640" b="0" i="0">
                <a:solidFill>
                  <a:srgbClr val="E5E7EB"/>
                </a:solidFill>
                <a:latin typeface="Consolas"/>
              </a:rPr>
              <a:t>        printf("%-3d %-28.28s %-20.20s %d\n", i + 1, b[i].title, b[i].author,</a:t>
            </a:r>
          </a:p>
          <a:p>
            <a:pPr>
              <a:lnSpc>
                <a:spcPct val="100000"/>
              </a:lnSpc>
              <a:spcBef>
                <a:spcPts val="0"/>
              </a:spcBef>
              <a:spcAft>
                <a:spcPts val="60"/>
              </a:spcAft>
            </a:pPr>
            <a:r>
              <a:rPr sz="640" b="0" i="0">
                <a:solidFill>
                  <a:srgbClr val="E5E7EB"/>
                </a:solidFill>
                <a:latin typeface="Consolas"/>
              </a:rPr>
              <a:t>               b[i].year);</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int main(void)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struct Book shelf[MAX_BOOKS];</a:t>
            </a:r>
          </a:p>
          <a:p>
            <a:pPr>
              <a:lnSpc>
                <a:spcPct val="100000"/>
              </a:lnSpc>
              <a:spcBef>
                <a:spcPts val="0"/>
              </a:spcBef>
              <a:spcAft>
                <a:spcPts val="60"/>
              </a:spcAft>
            </a:pPr>
            <a:r>
              <a:rPr sz="640" b="0" i="0">
                <a:solidFill>
                  <a:srgbClr val="E5E7EB"/>
                </a:solidFill>
                <a:latin typeface="Consolas"/>
              </a:rPr>
              <a:t>    int n = 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printf("How many books to enter (max %d)? ", MAX_BOOKS);</a:t>
            </a:r>
          </a:p>
          <a:p>
            <a:pPr>
              <a:lnSpc>
                <a:spcPct val="100000"/>
              </a:lnSpc>
              <a:spcBef>
                <a:spcPts val="0"/>
              </a:spcBef>
              <a:spcAft>
                <a:spcPts val="60"/>
              </a:spcAft>
            </a:pPr>
            <a:r>
              <a:rPr sz="640" b="0" i="0">
                <a:solidFill>
                  <a:srgbClr val="E5E7EB"/>
                </a:solidFill>
                <a:latin typeface="Consolas"/>
              </a:rPr>
              <a:t>    scanf("%d", &amp;n);</a:t>
            </a:r>
          </a:p>
          <a:p>
            <a:pPr>
              <a:lnSpc>
                <a:spcPct val="100000"/>
              </a:lnSpc>
              <a:spcBef>
                <a:spcPts val="0"/>
              </a:spcBef>
              <a:spcAft>
                <a:spcPts val="60"/>
              </a:spcAft>
            </a:pPr>
            <a:r>
              <a:rPr sz="640" b="0" i="0">
                <a:solidFill>
                  <a:srgbClr val="E5E7EB"/>
                </a:solidFill>
                <a:latin typeface="Consolas"/>
              </a:rPr>
              <a:t>    if (n &gt; MAX_BOOKS) n = MAX_BOOKS;</a:t>
            </a:r>
          </a:p>
          <a:p>
            <a:pPr>
              <a:lnSpc>
                <a:spcPct val="100000"/>
              </a:lnSpc>
              <a:spcBef>
                <a:spcPts val="0"/>
              </a:spcBef>
              <a:spcAft>
                <a:spcPts val="60"/>
              </a:spcAft>
            </a:pPr>
            <a:r>
              <a:rPr sz="640" b="0" i="0">
                <a:solidFill>
                  <a:srgbClr val="E5E7EB"/>
                </a:solidFill>
                <a:latin typeface="Consolas"/>
              </a:rPr>
              <a:t>    getchar();                          /* eat the newline after the count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for (int i = 0; i &lt; n; i++) {</a:t>
            </a:r>
          </a:p>
          <a:p>
            <a:pPr>
              <a:lnSpc>
                <a:spcPct val="100000"/>
              </a:lnSpc>
              <a:spcBef>
                <a:spcPts val="0"/>
              </a:spcBef>
              <a:spcAft>
                <a:spcPts val="60"/>
              </a:spcAft>
            </a:pPr>
            <a:r>
              <a:rPr sz="640" b="0" i="0">
                <a:solidFill>
                  <a:srgbClr val="E5E7EB"/>
                </a:solidFill>
                <a:latin typeface="Consolas"/>
              </a:rPr>
              <a:t>        printf("\nBook %d\n", i + 1);</a:t>
            </a:r>
          </a:p>
          <a:p>
            <a:pPr>
              <a:lnSpc>
                <a:spcPct val="100000"/>
              </a:lnSpc>
              <a:spcBef>
                <a:spcPts val="0"/>
              </a:spcBef>
              <a:spcAft>
                <a:spcPts val="60"/>
              </a:spcAft>
            </a:pPr>
            <a:r>
              <a:rPr sz="640" b="0" i="0">
                <a:solidFill>
                  <a:srgbClr val="E5E7EB"/>
                </a:solidFill>
                <a:latin typeface="Consolas"/>
              </a:rPr>
              <a:t>        printf("  Title  : ");  fgets(shelf[i].title,  60, stdin);</a:t>
            </a:r>
          </a:p>
          <a:p>
            <a:pPr>
              <a:lnSpc>
                <a:spcPct val="100000"/>
              </a:lnSpc>
              <a:spcBef>
                <a:spcPts val="0"/>
              </a:spcBef>
              <a:spcAft>
                <a:spcPts val="60"/>
              </a:spcAft>
            </a:pPr>
            <a:r>
              <a:rPr sz="640" b="0" i="0">
                <a:solidFill>
                  <a:srgbClr val="E5E7EB"/>
                </a:solidFill>
                <a:latin typeface="Consolas"/>
              </a:rPr>
              <a:t>        printf("  Author : ");  fgets(shelf[i].author, 40, stdin);</a:t>
            </a:r>
          </a:p>
          <a:p>
            <a:pPr>
              <a:lnSpc>
                <a:spcPct val="100000"/>
              </a:lnSpc>
              <a:spcBef>
                <a:spcPts val="0"/>
              </a:spcBef>
              <a:spcAft>
                <a:spcPts val="60"/>
              </a:spcAft>
            </a:pPr>
            <a:r>
              <a:rPr sz="640" b="0" i="0">
                <a:solidFill>
                  <a:srgbClr val="E5E7EB"/>
                </a:solidFill>
                <a:latin typeface="Consolas"/>
              </a:rPr>
              <a:t>        printf("  Year   : ");  scanf("%d", &amp;shelf[i].year);</a:t>
            </a:r>
          </a:p>
          <a:p>
            <a:pPr>
              <a:lnSpc>
                <a:spcPct val="100000"/>
              </a:lnSpc>
              <a:spcBef>
                <a:spcPts val="0"/>
              </a:spcBef>
              <a:spcAft>
                <a:spcPts val="60"/>
              </a:spcAft>
            </a:pPr>
            <a:r>
              <a:rPr sz="640" b="0" i="0">
                <a:solidFill>
                  <a:srgbClr val="E5E7EB"/>
                </a:solidFill>
                <a:latin typeface="Consolas"/>
              </a:rPr>
              <a:t>        getchar();</a:t>
            </a:r>
          </a:p>
          <a:p>
            <a:pPr>
              <a:lnSpc>
                <a:spcPct val="100000"/>
              </a:lnSpc>
              <a:spcBef>
                <a:spcPts val="0"/>
              </a:spcBef>
              <a:spcAft>
                <a:spcPts val="60"/>
              </a:spcAft>
            </a:pPr>
            <a:r>
              <a:rPr sz="640" b="0" i="0">
                <a:solidFill>
                  <a:srgbClr val="E5E7EB"/>
                </a:solidFill>
                <a:latin typeface="Consolas"/>
              </a:rPr>
              <a:t>        shelf[i].title[strcspn(shelf[i].title, "\n")]   = '\0';</a:t>
            </a:r>
          </a:p>
          <a:p>
            <a:pPr>
              <a:lnSpc>
                <a:spcPct val="100000"/>
              </a:lnSpc>
              <a:spcBef>
                <a:spcPts val="0"/>
              </a:spcBef>
              <a:spcAft>
                <a:spcPts val="60"/>
              </a:spcAft>
            </a:pPr>
            <a:r>
              <a:rPr sz="640" b="0" i="0">
                <a:solidFill>
                  <a:srgbClr val="E5E7EB"/>
                </a:solidFill>
                <a:latin typeface="Consolas"/>
              </a:rPr>
              <a:t>        shelf[i].author[strcspn(shelf[i].author, "\n")]  = '\0';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printf("\n===== LIBRARY CATALOGUE =====");</a:t>
            </a:r>
          </a:p>
          <a:p>
            <a:pPr>
              <a:lnSpc>
                <a:spcPct val="100000"/>
              </a:lnSpc>
              <a:spcBef>
                <a:spcPts val="0"/>
              </a:spcBef>
              <a:spcAft>
                <a:spcPts val="60"/>
              </a:spcAft>
            </a:pPr>
            <a:r>
              <a:rPr sz="640" b="0" i="0">
                <a:solidFill>
                  <a:srgbClr val="E5E7EB"/>
                </a:solidFill>
                <a:latin typeface="Consolas"/>
              </a:rPr>
              <a:t>    show_books(shelf, n);</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a:t>
            </a:r>
          </a:p>
        </p:txBody>
      </p:sp>
      <p:sp>
        <p:nvSpPr>
          <p:cNvPr id="12" name="Rectangle 11"/>
          <p:cNvSpPr/>
          <p:nvPr/>
        </p:nvSpPr>
        <p:spPr>
          <a:xfrm>
            <a:off x="6537960" y="1554480"/>
            <a:ext cx="5212079" cy="4773168"/>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45920"/>
            <a:ext cx="4937759"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Run 1 — two books entered, one overlong title clipped to the column</a:t>
            </a:r>
          </a:p>
        </p:txBody>
      </p:sp>
      <p:sp>
        <p:nvSpPr>
          <p:cNvPr id="14" name="TextBox 13"/>
          <p:cNvSpPr txBox="1"/>
          <p:nvPr/>
        </p:nvSpPr>
        <p:spPr>
          <a:xfrm>
            <a:off x="6684264" y="1920240"/>
            <a:ext cx="4937759" cy="4315968"/>
          </a:xfrm>
          <a:prstGeom prst="rect">
            <a:avLst/>
          </a:prstGeom>
          <a:noFill/>
        </p:spPr>
        <p:txBody>
          <a:bodyPr wrap="none" anchor="t" lIns="0" rIns="0" tIns="0" bIns="0">
            <a:spAutoFit/>
          </a:bodyPr>
          <a:lstStyle/>
          <a:p>
            <a:pPr>
              <a:lnSpc>
                <a:spcPct val="100000"/>
              </a:lnSpc>
              <a:spcBef>
                <a:spcPts val="0"/>
              </a:spcBef>
              <a:spcAft>
                <a:spcPts val="60"/>
              </a:spcAft>
            </a:pPr>
            <a:r>
              <a:rPr sz="1085" b="0" i="0">
                <a:solidFill>
                  <a:srgbClr val="14171C"/>
                </a:solidFill>
                <a:latin typeface="Consolas"/>
              </a:rPr>
              <a:t>How many books to enter (max 5)? 2</a:t>
            </a:r>
          </a:p>
          <a:p>
            <a:pPr>
              <a:lnSpc>
                <a:spcPct val="100000"/>
              </a:lnSpc>
              <a:spcBef>
                <a:spcPts val="0"/>
              </a:spcBef>
              <a:spcAft>
                <a:spcPts val="60"/>
              </a:spcAft>
            </a:pPr>
            <a:r>
              <a:rPr sz="1085" b="0" i="0">
                <a:solidFill>
                  <a:srgbClr val="14171C"/>
                </a:solidFill>
                <a:latin typeface="Consolas"/>
              </a:rPr>
              <a:t> </a:t>
            </a:r>
          </a:p>
          <a:p>
            <a:pPr>
              <a:lnSpc>
                <a:spcPct val="100000"/>
              </a:lnSpc>
              <a:spcBef>
                <a:spcPts val="0"/>
              </a:spcBef>
              <a:spcAft>
                <a:spcPts val="60"/>
              </a:spcAft>
            </a:pPr>
            <a:r>
              <a:rPr sz="1085" b="0" i="0">
                <a:solidFill>
                  <a:srgbClr val="14171C"/>
                </a:solidFill>
                <a:latin typeface="Consolas"/>
              </a:rPr>
              <a:t>Book 1</a:t>
            </a:r>
          </a:p>
          <a:p>
            <a:pPr>
              <a:lnSpc>
                <a:spcPct val="100000"/>
              </a:lnSpc>
              <a:spcBef>
                <a:spcPts val="0"/>
              </a:spcBef>
              <a:spcAft>
                <a:spcPts val="60"/>
              </a:spcAft>
            </a:pPr>
            <a:r>
              <a:rPr sz="1085" b="0" i="0">
                <a:solidFill>
                  <a:srgbClr val="14171C"/>
                </a:solidFill>
                <a:latin typeface="Consolas"/>
              </a:rPr>
              <a:t>  Title  : C Programming Absolute Beginner's Guide</a:t>
            </a:r>
          </a:p>
          <a:p>
            <a:pPr>
              <a:lnSpc>
                <a:spcPct val="100000"/>
              </a:lnSpc>
              <a:spcBef>
                <a:spcPts val="0"/>
              </a:spcBef>
              <a:spcAft>
                <a:spcPts val="60"/>
              </a:spcAft>
            </a:pPr>
            <a:r>
              <a:rPr sz="1085" b="0" i="0">
                <a:solidFill>
                  <a:srgbClr val="14171C"/>
                </a:solidFill>
                <a:latin typeface="Consolas"/>
              </a:rPr>
              <a:t>  Author : Greg Perry</a:t>
            </a:r>
          </a:p>
          <a:p>
            <a:pPr>
              <a:lnSpc>
                <a:spcPct val="100000"/>
              </a:lnSpc>
              <a:spcBef>
                <a:spcPts val="0"/>
              </a:spcBef>
              <a:spcAft>
                <a:spcPts val="60"/>
              </a:spcAft>
            </a:pPr>
            <a:r>
              <a:rPr sz="1085" b="0" i="0">
                <a:solidFill>
                  <a:srgbClr val="14171C"/>
                </a:solidFill>
                <a:latin typeface="Consolas"/>
              </a:rPr>
              <a:t>  Year   : 2014</a:t>
            </a:r>
          </a:p>
          <a:p>
            <a:pPr>
              <a:lnSpc>
                <a:spcPct val="100000"/>
              </a:lnSpc>
              <a:spcBef>
                <a:spcPts val="0"/>
              </a:spcBef>
              <a:spcAft>
                <a:spcPts val="60"/>
              </a:spcAft>
            </a:pPr>
            <a:r>
              <a:rPr sz="1085" b="0" i="0">
                <a:solidFill>
                  <a:srgbClr val="14171C"/>
                </a:solidFill>
                <a:latin typeface="Consolas"/>
              </a:rPr>
              <a:t> </a:t>
            </a:r>
          </a:p>
          <a:p>
            <a:pPr>
              <a:lnSpc>
                <a:spcPct val="100000"/>
              </a:lnSpc>
              <a:spcBef>
                <a:spcPts val="0"/>
              </a:spcBef>
              <a:spcAft>
                <a:spcPts val="60"/>
              </a:spcAft>
            </a:pPr>
            <a:r>
              <a:rPr sz="1085" b="0" i="0">
                <a:solidFill>
                  <a:srgbClr val="14171C"/>
                </a:solidFill>
                <a:latin typeface="Consolas"/>
              </a:rPr>
              <a:t>Book 2</a:t>
            </a:r>
          </a:p>
          <a:p>
            <a:pPr>
              <a:lnSpc>
                <a:spcPct val="100000"/>
              </a:lnSpc>
              <a:spcBef>
                <a:spcPts val="0"/>
              </a:spcBef>
              <a:spcAft>
                <a:spcPts val="60"/>
              </a:spcAft>
            </a:pPr>
            <a:r>
              <a:rPr sz="1085" b="0" i="0">
                <a:solidFill>
                  <a:srgbClr val="14171C"/>
                </a:solidFill>
                <a:latin typeface="Consolas"/>
              </a:rPr>
              <a:t>  Title  : Let Us C</a:t>
            </a:r>
          </a:p>
          <a:p>
            <a:pPr>
              <a:lnSpc>
                <a:spcPct val="100000"/>
              </a:lnSpc>
              <a:spcBef>
                <a:spcPts val="0"/>
              </a:spcBef>
              <a:spcAft>
                <a:spcPts val="60"/>
              </a:spcAft>
            </a:pPr>
            <a:r>
              <a:rPr sz="1085" b="0" i="0">
                <a:solidFill>
                  <a:srgbClr val="14171C"/>
                </a:solidFill>
                <a:latin typeface="Consolas"/>
              </a:rPr>
              <a:t>  Author : Yashavant Kanetkar</a:t>
            </a:r>
          </a:p>
          <a:p>
            <a:pPr>
              <a:lnSpc>
                <a:spcPct val="100000"/>
              </a:lnSpc>
              <a:spcBef>
                <a:spcPts val="0"/>
              </a:spcBef>
              <a:spcAft>
                <a:spcPts val="60"/>
              </a:spcAft>
            </a:pPr>
            <a:r>
              <a:rPr sz="1085" b="0" i="0">
                <a:solidFill>
                  <a:srgbClr val="14171C"/>
                </a:solidFill>
                <a:latin typeface="Consolas"/>
              </a:rPr>
              <a:t>  Year   : 2023</a:t>
            </a:r>
          </a:p>
          <a:p>
            <a:pPr>
              <a:lnSpc>
                <a:spcPct val="100000"/>
              </a:lnSpc>
              <a:spcBef>
                <a:spcPts val="0"/>
              </a:spcBef>
              <a:spcAft>
                <a:spcPts val="60"/>
              </a:spcAft>
            </a:pPr>
            <a:r>
              <a:rPr sz="1085" b="0" i="0">
                <a:solidFill>
                  <a:srgbClr val="14171C"/>
                </a:solidFill>
                <a:latin typeface="Consolas"/>
              </a:rPr>
              <a:t> </a:t>
            </a:r>
          </a:p>
          <a:p>
            <a:pPr>
              <a:lnSpc>
                <a:spcPct val="100000"/>
              </a:lnSpc>
              <a:spcBef>
                <a:spcPts val="0"/>
              </a:spcBef>
              <a:spcAft>
                <a:spcPts val="60"/>
              </a:spcAft>
            </a:pPr>
            <a:r>
              <a:rPr sz="1085" b="0" i="0">
                <a:solidFill>
                  <a:srgbClr val="14171C"/>
                </a:solidFill>
                <a:latin typeface="Consolas"/>
              </a:rPr>
              <a:t>===== LIBRARY CATALOGUE =====</a:t>
            </a:r>
          </a:p>
          <a:p>
            <a:pPr>
              <a:lnSpc>
                <a:spcPct val="100000"/>
              </a:lnSpc>
              <a:spcBef>
                <a:spcPts val="0"/>
              </a:spcBef>
              <a:spcAft>
                <a:spcPts val="60"/>
              </a:spcAft>
            </a:pPr>
            <a:r>
              <a:rPr sz="1085" b="0" i="0">
                <a:solidFill>
                  <a:srgbClr val="14171C"/>
                </a:solidFill>
                <a:latin typeface="Consolas"/>
              </a:rPr>
              <a:t>#   TITLE                        AUTHOR               YEAR</a:t>
            </a:r>
          </a:p>
          <a:p>
            <a:pPr>
              <a:lnSpc>
                <a:spcPct val="100000"/>
              </a:lnSpc>
              <a:spcBef>
                <a:spcPts val="0"/>
              </a:spcBef>
              <a:spcAft>
                <a:spcPts val="60"/>
              </a:spcAft>
            </a:pPr>
            <a:r>
              <a:rPr sz="1085" b="0" i="0">
                <a:solidFill>
                  <a:srgbClr val="14171C"/>
                </a:solidFill>
                <a:latin typeface="Consolas"/>
              </a:rPr>
              <a:t>1   C Programming Absolute Begin Greg Perry           2014</a:t>
            </a:r>
          </a:p>
          <a:p>
            <a:pPr>
              <a:lnSpc>
                <a:spcPct val="100000"/>
              </a:lnSpc>
              <a:spcBef>
                <a:spcPts val="0"/>
              </a:spcBef>
              <a:spcAft>
                <a:spcPts val="60"/>
              </a:spcAft>
            </a:pPr>
            <a:r>
              <a:rPr sz="1085" b="0" i="0">
                <a:solidFill>
                  <a:srgbClr val="14171C"/>
                </a:solidFill>
                <a:latin typeface="Consolas"/>
              </a:rPr>
              <a:t>2   Let Us C                     Yashavant Kanetkar   2023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PART-B · ITEM 6 · DEFENCE</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Part-B · Item 6 — Observations, Result &amp; Viva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46</a:t>
            </a:r>
          </a:p>
        </p:txBody>
      </p:sp>
      <p:sp>
        <p:nvSpPr>
          <p:cNvPr id="8" name="TextBox 7"/>
          <p:cNvSpPr txBox="1"/>
          <p:nvPr/>
        </p:nvSpPr>
        <p:spPr>
          <a:xfrm>
            <a:off x="502920" y="1536192"/>
            <a:ext cx="640080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OBSERVATIONS &amp; ANALYSIS</a:t>
            </a:r>
          </a:p>
        </p:txBody>
      </p:sp>
      <p:sp>
        <p:nvSpPr>
          <p:cNvPr id="9" name="TextBox 8"/>
          <p:cNvSpPr txBox="1"/>
          <p:nvPr/>
        </p:nvSpPr>
        <p:spPr>
          <a:xfrm>
            <a:off x="502920" y="1810512"/>
            <a:ext cx="6400800" cy="1920240"/>
          </a:xfrm>
          <a:prstGeom prst="rect">
            <a:avLst/>
          </a:prstGeom>
          <a:noFill/>
        </p:spPr>
        <p:txBody>
          <a:bodyPr wrap="square" anchor="t" lIns="0" rIns="0" tIns="0" bIns="0">
            <a:spAutoFit/>
          </a:bodyPr>
          <a:lstStyle/>
          <a:p>
            <a:pPr>
              <a:lnSpc>
                <a:spcPct val="110000"/>
              </a:lnSpc>
              <a:spcBef>
                <a:spcPts val="0"/>
              </a:spcBef>
              <a:spcAft>
                <a:spcPts val="400"/>
              </a:spcAft>
            </a:pPr>
            <a:r>
              <a:rPr sz="1230" b="0" i="0">
                <a:solidFill>
                  <a:srgbClr val="16181D"/>
                </a:solidFill>
                <a:latin typeface="Calibri"/>
              </a:rPr>
              <a:t>Run 1’s first row shows the truncation policy doing its job: “C Programming Absolute Begin” is the 28-column window onto a 39-character title — the stored string keeps the full text, the table sacrifices the tail. That difference (display ≠ storage) is the whole argument for keeping widths out of the data model; a truncated stored title would lose information. Both books display with aligned columns; the year column proves the int/char-array mixture in one row is no trouble once the input discipline is right. Inference. …</a:t>
            </a:r>
          </a:p>
        </p:txBody>
      </p:sp>
      <p:sp>
        <p:nvSpPr>
          <p:cNvPr id="10" name="TextBox 9"/>
          <p:cNvSpPr txBox="1"/>
          <p:nvPr/>
        </p:nvSpPr>
        <p:spPr>
          <a:xfrm>
            <a:off x="502920" y="3840480"/>
            <a:ext cx="6400800" cy="50292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RESULT.  </a:t>
            </a:r>
            <a:r>
              <a:rPr sz="1200" b="0" i="0">
                <a:solidFill>
                  <a:srgbClr val="16181D"/>
                </a:solidFill>
                <a:latin typeface="Calibri"/>
              </a:rPr>
              <a:t>A catalogue program was designed around struct Book {char title[60]; char author[40]; int year;} and an array of five rows; with a mixed fgets/scanf input loop (including the newline discipline), a display function printed an aligned, truncation-safe. …</a:t>
            </a:r>
          </a:p>
        </p:txBody>
      </p:sp>
      <p:sp>
        <p:nvSpPr>
          <p:cNvPr id="11" name="TextBox 10"/>
          <p:cNvSpPr txBox="1"/>
          <p:nvPr/>
        </p:nvSpPr>
        <p:spPr>
          <a:xfrm>
            <a:off x="7178040" y="1536192"/>
            <a:ext cx="4526280" cy="256032"/>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VIVA — AS ASKED AT THE INTERNAL</a:t>
            </a:r>
          </a:p>
        </p:txBody>
      </p:sp>
      <p:sp>
        <p:nvSpPr>
          <p:cNvPr id="12" name="TextBox 11"/>
          <p:cNvSpPr txBox="1"/>
          <p:nvPr/>
        </p:nvSpPr>
        <p:spPr>
          <a:xfrm>
            <a:off x="7178040" y="1810512"/>
            <a:ext cx="4526280" cy="2651760"/>
          </a:xfrm>
          <a:prstGeom prst="rect">
            <a:avLst/>
          </a:prstGeom>
          <a:noFill/>
        </p:spPr>
        <p:txBody>
          <a:bodyPr wrap="square" anchor="t" lIns="0" rIns="0" tIns="0" bIns="0">
            <a:spAutoFit/>
          </a:bodyPr>
          <a:lstStyle/>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Q1. </a:t>
            </a:r>
            <a:r>
              <a:rPr sz="1180" b="0" i="0">
                <a:solidFill>
                  <a:srgbClr val="16181D"/>
                </a:solidFill>
                <a:latin typeface="Calibri"/>
              </a:rPr>
              <a:t>What does the compiler reserve for struct Book shelf[5] — and how do you check the size of one row?</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Q2. </a:t>
            </a:r>
            <a:r>
              <a:rPr sz="1180" b="0" i="0">
                <a:solidFill>
                  <a:srgbClr val="16181D"/>
                </a:solidFill>
                <a:latin typeface="Calibri"/>
              </a:rPr>
              <a:t>Why does shelf[i].title need no &amp; in fgets while shelf[i].year needs &amp; in scanf?</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Q3. </a:t>
            </a:r>
            <a:r>
              <a:rPr sz="1180" b="0" i="0">
                <a:solidFill>
                  <a:srgbClr val="16181D"/>
                </a:solidFill>
                <a:latin typeface="Calibri"/>
              </a:rPr>
              <a:t>What is the visible effect of forgetting getchar() after the count scanf?</a:t>
            </a:r>
          </a:p>
          <a:p>
            <a:pPr marL="201168" indent="-201168">
              <a:lnSpc>
                <a:spcPct val="105000"/>
              </a:lnSpc>
              <a:spcBef>
                <a:spcPts val="0"/>
              </a:spcBef>
              <a:spcAft>
                <a:spcPts val="500"/>
              </a:spcAft>
            </a:pPr>
            <a:r>
              <a:rPr sz="1180" b="1" i="0">
                <a:solidFill>
                  <a:srgbClr val="B3261E"/>
                </a:solidFill>
                <a:latin typeface="Calibri"/>
              </a:rPr>
              <a:t>•  </a:t>
            </a:r>
            <a:r>
              <a:rPr sz="1180" b="1" i="0">
                <a:solidFill>
                  <a:srgbClr val="B3261E"/>
                </a:solidFill>
                <a:latin typeface="Calibri"/>
              </a:rPr>
              <a:t>Q4. </a:t>
            </a:r>
            <a:r>
              <a:rPr sz="1180" b="0" i="0">
                <a:solidFill>
                  <a:srgbClr val="16181D"/>
                </a:solidFill>
                <a:latin typeface="Calibri"/>
              </a:rPr>
              <a:t>Explain %-28.28s field by field.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B</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Open-Ended Experiments — Items 1 to 6</a:t>
            </a:r>
          </a:p>
        </p:txBody>
      </p:sp>
      <p:sp>
        <p:nvSpPr>
          <p:cNvPr id="6" name="TextBox 5"/>
          <p:cNvSpPr txBox="1"/>
          <p:nvPr/>
        </p:nvSpPr>
        <p:spPr>
          <a:xfrm>
            <a:off x="1554480" y="4114800"/>
            <a:ext cx="908273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Design-led tasks: the requirement is read for the behaviour it demands, the design is argued, then tested. Each item here: cover with the requirement + design decisions, complete source with captured runs, and the observation/viva defence.</a:t>
            </a:r>
          </a:p>
        </p:txBody>
      </p:sp>
      <p:sp>
        <p:nvSpPr>
          <p:cNvPr id="7" name="Rectangle 6"/>
          <p:cNvSpPr/>
          <p:nvPr/>
        </p:nvSpPr>
        <p:spPr>
          <a:xfrm>
            <a:off x="1798167" y="4032504"/>
            <a:ext cx="8595360" cy="241401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4199" y="4169664"/>
            <a:ext cx="8083296" cy="2157984"/>
          </a:xfrm>
          <a:prstGeom prst="rect">
            <a:avLst/>
          </a:prstGeom>
          <a:noFill/>
        </p:spPr>
        <p:txBody>
          <a:bodyPr wrap="square" anchor="t" lIns="0" rIns="0" tIns="0" bIns="0">
            <a:spAutoFit/>
          </a:bodyPr>
          <a:lstStyle/>
          <a:p>
            <a:pPr>
              <a:spcBef>
                <a:spcPts val="0"/>
              </a:spcBef>
              <a:spcAft>
                <a:spcPts val="350"/>
              </a:spcAft>
            </a:pPr>
            <a:r>
              <a:rPr sz="1100" b="1" i="0">
                <a:solidFill>
                  <a:srgbClr val="0F172A"/>
                </a:solidFill>
                <a:latin typeface="Calibri"/>
              </a:rPr>
              <a:t>IN THIS PART</a:t>
            </a:r>
          </a:p>
          <a:p>
            <a:pPr>
              <a:spcBef>
                <a:spcPts val="0"/>
              </a:spcBef>
              <a:spcAft>
                <a:spcPts val="180"/>
              </a:spcAft>
            </a:pPr>
            <a:r>
              <a:rPr sz="1600" b="1" i="0">
                <a:solidFill>
                  <a:srgbClr val="B3261E"/>
                </a:solidFill>
                <a:latin typeface="Calibri"/>
              </a:rPr>
              <a:t>•  </a:t>
            </a:r>
            <a:r>
              <a:rPr sz="1250" b="0" i="0">
                <a:solidFill>
                  <a:srgbClr val="16181D"/>
                </a:solidFill>
                <a:latin typeface="Calibri"/>
              </a:rPr>
              <a:t>Item 9 (b01) — Book Search on a Sorted Digital Shelf — Designing for Speed</a:t>
            </a:r>
          </a:p>
          <a:p>
            <a:pPr>
              <a:spcBef>
                <a:spcPts val="0"/>
              </a:spcBef>
              <a:spcAft>
                <a:spcPts val="180"/>
              </a:spcAft>
            </a:pPr>
            <a:r>
              <a:rPr sz="1600" b="1" i="0">
                <a:solidFill>
                  <a:srgbClr val="B3261E"/>
                </a:solidFill>
                <a:latin typeface="Calibri"/>
              </a:rPr>
              <a:t>•  </a:t>
            </a:r>
            <a:r>
              <a:rPr sz="1250" b="0" i="0">
                <a:solidFill>
                  <a:srgbClr val="16181D"/>
                </a:solidFill>
                <a:latin typeface="Calibri"/>
              </a:rPr>
              <a:t>Item 10 (b02) — The 100-Metre Result Sheet — Choosing a Sorting Strategy</a:t>
            </a:r>
          </a:p>
          <a:p>
            <a:pPr>
              <a:spcBef>
                <a:spcPts val="0"/>
              </a:spcBef>
              <a:spcAft>
                <a:spcPts val="180"/>
              </a:spcAft>
            </a:pPr>
            <a:r>
              <a:rPr sz="1600" b="1" i="0">
                <a:solidFill>
                  <a:srgbClr val="B3261E"/>
                </a:solidFill>
                <a:latin typeface="Calibri"/>
              </a:rPr>
              <a:t>•  </a:t>
            </a:r>
            <a:r>
              <a:rPr sz="1250" b="0" i="0">
                <a:solidFill>
                  <a:srgbClr val="16181D"/>
                </a:solidFill>
                <a:latin typeface="Calibri"/>
              </a:rPr>
              <a:t>Item 11 (b03) — Branch Revenue by Matrix-Style Multiplication — Two Datasets, One Total</a:t>
            </a:r>
          </a:p>
          <a:p>
            <a:pPr>
              <a:spcBef>
                <a:spcPts val="0"/>
              </a:spcBef>
              <a:spcAft>
                <a:spcPts val="180"/>
              </a:spcAft>
            </a:pPr>
            <a:r>
              <a:rPr sz="1600" b="1" i="0">
                <a:solidFill>
                  <a:srgbClr val="B3261E"/>
                </a:solidFill>
                <a:latin typeface="Calibri"/>
              </a:rPr>
              <a:t>•  </a:t>
            </a:r>
            <a:r>
              <a:rPr sz="1250" b="0" i="0">
                <a:solidFill>
                  <a:srgbClr val="16181D"/>
                </a:solidFill>
                <a:latin typeface="Calibri"/>
              </a:rPr>
              <a:t>Item 12 (b04) — Joining Names Without the Library — Rebuilding strlen, strcpy, strcat</a:t>
            </a:r>
          </a:p>
          <a:p>
            <a:pPr>
              <a:spcBef>
                <a:spcPts val="0"/>
              </a:spcBef>
              <a:spcAft>
                <a:spcPts val="180"/>
              </a:spcAft>
            </a:pPr>
            <a:r>
              <a:rPr sz="1600" b="1" i="0">
                <a:solidFill>
                  <a:srgbClr val="B3261E"/>
                </a:solidFill>
                <a:latin typeface="Calibri"/>
              </a:rPr>
              <a:t>•  </a:t>
            </a:r>
            <a:r>
              <a:rPr sz="1250" b="0" i="0">
                <a:solidFill>
                  <a:srgbClr val="16181D"/>
                </a:solidFill>
                <a:latin typeface="Calibri"/>
              </a:rPr>
              <a:t>Item 13 (b05) — The Currency Booth That Previews — Call by Value and Call by Reference in One Program</a:t>
            </a:r>
          </a:p>
          <a:p>
            <a:pPr>
              <a:spcBef>
                <a:spcPts val="0"/>
              </a:spcBef>
              <a:spcAft>
                <a:spcPts val="180"/>
              </a:spcAft>
            </a:pPr>
            <a:r>
              <a:rPr sz="1600" b="1" i="0">
                <a:solidFill>
                  <a:srgbClr val="B3261E"/>
                </a:solidFill>
                <a:latin typeface="Calibri"/>
              </a:rPr>
              <a:t>•  </a:t>
            </a:r>
            <a:r>
              <a:rPr sz="1250" b="0" i="0">
                <a:solidFill>
                  <a:srgbClr val="16181D"/>
                </a:solidFill>
                <a:latin typeface="Calibri"/>
              </a:rPr>
              <a:t>Item 14 (b06) — The Library Catalogue — Structures: A Row for Every Book</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C</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Appendices — Reference, Records, Viva, Sources</a:t>
            </a:r>
          </a:p>
        </p:txBody>
      </p:sp>
      <p:sp>
        <p:nvSpPr>
          <p:cNvPr id="6" name="TextBox 5"/>
          <p:cNvSpPr txBox="1"/>
          <p:nvPr/>
        </p:nvSpPr>
        <p:spPr>
          <a:xfrm>
            <a:off x="1554480" y="4114800"/>
            <a:ext cx="908273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
            </a:r>
          </a:p>
        </p:txBody>
      </p:sp>
      <p:sp>
        <p:nvSpPr>
          <p:cNvPr id="7" name="Rectangle 6"/>
          <p:cNvSpPr/>
          <p:nvPr/>
        </p:nvSpPr>
        <p:spPr>
          <a:xfrm>
            <a:off x="1798167" y="4654296"/>
            <a:ext cx="8595360" cy="179222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4199" y="4791456"/>
            <a:ext cx="8083296" cy="1536192"/>
          </a:xfrm>
          <a:prstGeom prst="rect">
            <a:avLst/>
          </a:prstGeom>
          <a:noFill/>
        </p:spPr>
        <p:txBody>
          <a:bodyPr wrap="square" anchor="t" lIns="0" rIns="0" tIns="0" bIns="0">
            <a:spAutoFit/>
          </a:bodyPr>
          <a:lstStyle/>
          <a:p>
            <a:pPr>
              <a:spcBef>
                <a:spcPts val="0"/>
              </a:spcBef>
              <a:spcAft>
                <a:spcPts val="350"/>
              </a:spcAft>
            </a:pPr>
            <a:r>
              <a:rPr sz="1100" b="1" i="0">
                <a:solidFill>
                  <a:srgbClr val="0F172A"/>
                </a:solidFill>
                <a:latin typeface="Calibri"/>
              </a:rPr>
              <a:t>IN THIS PART</a:t>
            </a:r>
          </a:p>
          <a:p>
            <a:pPr>
              <a:spcBef>
                <a:spcPts val="0"/>
              </a:spcBef>
              <a:spcAft>
                <a:spcPts val="180"/>
              </a:spcAft>
            </a:pPr>
            <a:r>
              <a:rPr sz="1600" b="1" i="0">
                <a:solidFill>
                  <a:srgbClr val="B3261E"/>
                </a:solidFill>
                <a:latin typeface="Calibri"/>
              </a:rPr>
              <a:t>•  </a:t>
            </a:r>
            <a:r>
              <a:rPr sz="1250" b="0" i="0">
                <a:solidFill>
                  <a:srgbClr val="16181D"/>
                </a:solidFill>
                <a:latin typeface="Calibri"/>
              </a:rPr>
              <a:t>Appendix A — C language quick reference (compilation, operators, storage, library, top diagnostics)</a:t>
            </a:r>
          </a:p>
          <a:p>
            <a:pPr>
              <a:spcBef>
                <a:spcPts val="0"/>
              </a:spcBef>
              <a:spcAft>
                <a:spcPts val="180"/>
              </a:spcAft>
            </a:pPr>
            <a:r>
              <a:rPr sz="1600" b="1" i="0">
                <a:solidFill>
                  <a:srgbClr val="B3261E"/>
                </a:solidFill>
                <a:latin typeface="Calibri"/>
              </a:rPr>
              <a:t>•  </a:t>
            </a:r>
            <a:r>
              <a:rPr sz="1250" b="0" i="0">
                <a:solidFill>
                  <a:srgbClr val="16181D"/>
                </a:solidFill>
                <a:latin typeface="Calibri"/>
              </a:rPr>
              <a:t>Appendix B — record format, evaluation rubrics and the terminal-checking procedure</a:t>
            </a:r>
          </a:p>
          <a:p>
            <a:pPr>
              <a:spcBef>
                <a:spcPts val="0"/>
              </a:spcBef>
              <a:spcAft>
                <a:spcPts val="180"/>
              </a:spcAft>
            </a:pPr>
            <a:r>
              <a:rPr sz="1600" b="1" i="0">
                <a:solidFill>
                  <a:srgbClr val="B3261E"/>
                </a:solidFill>
                <a:latin typeface="Calibri"/>
              </a:rPr>
              <a:t>•  </a:t>
            </a:r>
            <a:r>
              <a:rPr sz="1250" b="0" i="0">
                <a:solidFill>
                  <a:srgbClr val="16181D"/>
                </a:solidFill>
                <a:latin typeface="Calibri"/>
              </a:rPr>
              <a:t>Appendix C — consolidated viva bank across the 14 experiments</a:t>
            </a:r>
          </a:p>
          <a:p>
            <a:pPr>
              <a:spcBef>
                <a:spcPts val="0"/>
              </a:spcBef>
              <a:spcAft>
                <a:spcPts val="180"/>
              </a:spcAft>
            </a:pPr>
            <a:r>
              <a:rPr sz="1600" b="1" i="0">
                <a:solidFill>
                  <a:srgbClr val="B3261E"/>
                </a:solidFill>
                <a:latin typeface="Calibri"/>
              </a:rPr>
              <a:t>•  </a:t>
            </a:r>
            <a:r>
              <a:rPr sz="1250" b="0" i="0">
                <a:solidFill>
                  <a:srgbClr val="16181D"/>
                </a:solidFill>
                <a:latin typeface="Calibri"/>
              </a:rPr>
              <a:t>Appendix D — textbook, references and the provenance of every capture</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One-Page C Reference (from Appendix 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48</a:t>
            </a:r>
          </a:p>
        </p:txBody>
      </p:sp>
      <p:sp>
        <p:nvSpPr>
          <p:cNvPr id="8" name="Rectangle 7"/>
          <p:cNvSpPr/>
          <p:nvPr/>
        </p:nvSpPr>
        <p:spPr>
          <a:xfrm>
            <a:off x="457200" y="1645920"/>
            <a:ext cx="2743200" cy="420624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274320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709928"/>
            <a:ext cx="251460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Compile &amp; build</a:t>
            </a:r>
          </a:p>
        </p:txBody>
      </p:sp>
      <p:sp>
        <p:nvSpPr>
          <p:cNvPr id="11" name="TextBox 10"/>
          <p:cNvSpPr txBox="1"/>
          <p:nvPr/>
        </p:nvSpPr>
        <p:spPr>
          <a:xfrm>
            <a:off x="603504" y="2212848"/>
            <a:ext cx="2468880" cy="3566160"/>
          </a:xfrm>
          <a:prstGeom prst="rect">
            <a:avLst/>
          </a:prstGeom>
          <a:noFill/>
        </p:spPr>
        <p:txBody>
          <a:bodyPr wrap="square" anchor="t" lIns="0" rIns="0" tIns="0" bIns="0">
            <a:spAutoFit/>
          </a:bodyPr>
          <a:lstStyle/>
          <a:p>
            <a:pPr>
              <a:lnSpc>
                <a:spcPct val="106000"/>
              </a:lnSpc>
              <a:spcBef>
                <a:spcPts val="0"/>
              </a:spcBef>
              <a:spcAft>
                <a:spcPts val="800"/>
              </a:spcAft>
            </a:pPr>
            <a:r>
              <a:rPr sz="1030" b="0" i="0">
                <a:solidFill>
                  <a:srgbClr val="16181D"/>
                </a:solidFill>
                <a:latin typeface="Consolas"/>
              </a:rPr>
              <a:t>gcc -Wall -Wextra f.c -o f -lm</a:t>
            </a:r>
          </a:p>
          <a:p>
            <a:pPr>
              <a:lnSpc>
                <a:spcPct val="106000"/>
              </a:lnSpc>
              <a:spcBef>
                <a:spcPts val="0"/>
              </a:spcBef>
              <a:spcAft>
                <a:spcPts val="800"/>
              </a:spcAft>
            </a:pPr>
            <a:r>
              <a:rPr sz="1030" b="0" i="0">
                <a:solidFill>
                  <a:srgbClr val="16181D"/>
                </a:solidFill>
                <a:latin typeface="Consolas"/>
              </a:rPr>
              <a:t>run: ./f</a:t>
            </a:r>
          </a:p>
          <a:p>
            <a:pPr>
              <a:lnSpc>
                <a:spcPct val="106000"/>
              </a:lnSpc>
              <a:spcBef>
                <a:spcPts val="0"/>
              </a:spcBef>
              <a:spcAft>
                <a:spcPts val="800"/>
              </a:spcAft>
            </a:pPr>
            <a:r>
              <a:rPr sz="1030" b="0" i="0">
                <a:solidFill>
                  <a:srgbClr val="16181D"/>
                </a:solidFill>
                <a:latin typeface="Consolas"/>
              </a:rPr>
              <a:t>link order: source BEFORE -lm</a:t>
            </a:r>
          </a:p>
          <a:p>
            <a:pPr>
              <a:lnSpc>
                <a:spcPct val="106000"/>
              </a:lnSpc>
              <a:spcBef>
                <a:spcPts val="0"/>
              </a:spcBef>
              <a:spcAft>
                <a:spcPts val="800"/>
              </a:spcAft>
            </a:pPr>
            <a:r>
              <a:rPr sz="1030" b="0" i="0">
                <a:solidFill>
                  <a:srgbClr val="16181D"/>
                </a:solidFill>
                <a:latin typeface="Consolas"/>
              </a:rPr>
              <a:t>-std=c11 for modern</a:t>
            </a:r>
          </a:p>
          <a:p>
            <a:pPr>
              <a:lnSpc>
                <a:spcPct val="106000"/>
              </a:lnSpc>
              <a:spcBef>
                <a:spcPts val="0"/>
              </a:spcBef>
              <a:spcAft>
                <a:spcPts val="800"/>
              </a:spcAft>
            </a:pPr>
            <a:r>
              <a:rPr sz="1030" b="0" i="0">
                <a:solidFill>
                  <a:srgbClr val="16181D"/>
                </a:solidFill>
                <a:latin typeface="Consolas"/>
              </a:rPr>
              <a:t>warnings are part of the record</a:t>
            </a:r>
          </a:p>
        </p:txBody>
      </p:sp>
      <p:sp>
        <p:nvSpPr>
          <p:cNvPr id="12" name="Rectangle 11"/>
          <p:cNvSpPr/>
          <p:nvPr/>
        </p:nvSpPr>
        <p:spPr>
          <a:xfrm>
            <a:off x="3346704" y="1645920"/>
            <a:ext cx="2743200" cy="420624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1645920"/>
            <a:ext cx="274320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709928"/>
            <a:ext cx="251460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Types &amp; library</a:t>
            </a:r>
          </a:p>
        </p:txBody>
      </p:sp>
      <p:sp>
        <p:nvSpPr>
          <p:cNvPr id="15" name="TextBox 14"/>
          <p:cNvSpPr txBox="1"/>
          <p:nvPr/>
        </p:nvSpPr>
        <p:spPr>
          <a:xfrm>
            <a:off x="3493008" y="2212848"/>
            <a:ext cx="2468880" cy="3566160"/>
          </a:xfrm>
          <a:prstGeom prst="rect">
            <a:avLst/>
          </a:prstGeom>
          <a:noFill/>
        </p:spPr>
        <p:txBody>
          <a:bodyPr wrap="square" anchor="t" lIns="0" rIns="0" tIns="0" bIns="0">
            <a:spAutoFit/>
          </a:bodyPr>
          <a:lstStyle/>
          <a:p>
            <a:pPr>
              <a:lnSpc>
                <a:spcPct val="106000"/>
              </a:lnSpc>
              <a:spcBef>
                <a:spcPts val="0"/>
              </a:spcBef>
              <a:spcAft>
                <a:spcPts val="800"/>
              </a:spcAft>
            </a:pPr>
            <a:r>
              <a:rPr sz="1030" b="0" i="0">
                <a:solidFill>
                  <a:srgbClr val="16181D"/>
                </a:solidFill>
                <a:latin typeface="Consolas"/>
              </a:rPr>
              <a:t>int/long/float/double/char</a:t>
            </a:r>
          </a:p>
          <a:p>
            <a:pPr>
              <a:lnSpc>
                <a:spcPct val="106000"/>
              </a:lnSpc>
              <a:spcBef>
                <a:spcPts val="0"/>
              </a:spcBef>
              <a:spcAft>
                <a:spcPts val="800"/>
              </a:spcAft>
            </a:pPr>
            <a:r>
              <a:rPr sz="1030" b="0" i="0">
                <a:solidFill>
                  <a:srgbClr val="16181D"/>
                </a:solidFill>
                <a:latin typeface="Consolas"/>
              </a:rPr>
              <a:t>scanf("%f", &amp;x) — the &amp; is required</a:t>
            </a:r>
          </a:p>
          <a:p>
            <a:pPr>
              <a:lnSpc>
                <a:spcPct val="106000"/>
              </a:lnSpc>
              <a:spcBef>
                <a:spcPts val="0"/>
              </a:spcBef>
              <a:spcAft>
                <a:spcPts val="800"/>
              </a:spcAft>
            </a:pPr>
            <a:r>
              <a:rPr sz="1030" b="0" i="0">
                <a:solidFill>
                  <a:srgbClr val="16181D"/>
                </a:solidFill>
                <a:latin typeface="Consolas"/>
              </a:rPr>
              <a:t>math.h: sqrt pow fabs</a:t>
            </a:r>
          </a:p>
          <a:p>
            <a:pPr>
              <a:lnSpc>
                <a:spcPct val="106000"/>
              </a:lnSpc>
              <a:spcBef>
                <a:spcPts val="0"/>
              </a:spcBef>
              <a:spcAft>
                <a:spcPts val="800"/>
              </a:spcAft>
            </a:pPr>
            <a:r>
              <a:rPr sz="1030" b="0" i="0">
                <a:solidFill>
                  <a:srgbClr val="16181D"/>
                </a:solidFill>
                <a:latin typeface="Consolas"/>
              </a:rPr>
              <a:t>stdlib: rand srand malloc free</a:t>
            </a:r>
          </a:p>
          <a:p>
            <a:pPr>
              <a:lnSpc>
                <a:spcPct val="106000"/>
              </a:lnSpc>
              <a:spcBef>
                <a:spcPts val="0"/>
              </a:spcBef>
              <a:spcAft>
                <a:spcPts val="800"/>
              </a:spcAft>
            </a:pPr>
            <a:r>
              <a:rPr sz="1030" b="0" i="0">
                <a:solidFill>
                  <a:srgbClr val="16181D"/>
                </a:solidFill>
                <a:latin typeface="Consolas"/>
              </a:rPr>
              <a:t>printf: %d %f %.2f %s %c %ld %p</a:t>
            </a:r>
          </a:p>
        </p:txBody>
      </p:sp>
      <p:sp>
        <p:nvSpPr>
          <p:cNvPr id="16" name="Rectangle 15"/>
          <p:cNvSpPr/>
          <p:nvPr/>
        </p:nvSpPr>
        <p:spPr>
          <a:xfrm>
            <a:off x="6236208" y="1645920"/>
            <a:ext cx="2743200" cy="420624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645920"/>
            <a:ext cx="274320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709928"/>
            <a:ext cx="251460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Strings &amp; arrays</a:t>
            </a:r>
          </a:p>
        </p:txBody>
      </p:sp>
      <p:sp>
        <p:nvSpPr>
          <p:cNvPr id="19" name="TextBox 18"/>
          <p:cNvSpPr txBox="1"/>
          <p:nvPr/>
        </p:nvSpPr>
        <p:spPr>
          <a:xfrm>
            <a:off x="6382512" y="2212848"/>
            <a:ext cx="2468880" cy="3566160"/>
          </a:xfrm>
          <a:prstGeom prst="rect">
            <a:avLst/>
          </a:prstGeom>
          <a:noFill/>
        </p:spPr>
        <p:txBody>
          <a:bodyPr wrap="square" anchor="t" lIns="0" rIns="0" tIns="0" bIns="0">
            <a:spAutoFit/>
          </a:bodyPr>
          <a:lstStyle/>
          <a:p>
            <a:pPr>
              <a:lnSpc>
                <a:spcPct val="106000"/>
              </a:lnSpc>
              <a:spcBef>
                <a:spcPts val="0"/>
              </a:spcBef>
              <a:spcAft>
                <a:spcPts val="800"/>
              </a:spcAft>
            </a:pPr>
            <a:r>
              <a:rPr sz="1030" b="0" i="0">
                <a:solidFill>
                  <a:srgbClr val="16181D"/>
                </a:solidFill>
                <a:latin typeface="Consolas"/>
              </a:rPr>
              <a:t>char s[N]; read: fgets</a:t>
            </a:r>
          </a:p>
          <a:p>
            <a:pPr>
              <a:lnSpc>
                <a:spcPct val="106000"/>
              </a:lnSpc>
              <a:spcBef>
                <a:spcPts val="0"/>
              </a:spcBef>
              <a:spcAft>
                <a:spcPts val="800"/>
              </a:spcAft>
            </a:pPr>
            <a:r>
              <a:rPr sz="1030" b="0" i="0">
                <a:solidFill>
                  <a:srgbClr val="16181D"/>
                </a:solidFill>
                <a:latin typeface="Consolas"/>
              </a:rPr>
              <a:t>strlen strcpy strcmp — string.h</a:t>
            </a:r>
          </a:p>
          <a:p>
            <a:pPr>
              <a:lnSpc>
                <a:spcPct val="106000"/>
              </a:lnSpc>
              <a:spcBef>
                <a:spcPts val="0"/>
              </a:spcBef>
              <a:spcAft>
                <a:spcPts val="800"/>
              </a:spcAft>
            </a:pPr>
            <a:r>
              <a:rPr sz="1030" b="0" i="0">
                <a:solidFill>
                  <a:srgbClr val="16181D"/>
                </a:solidFill>
                <a:latin typeface="Consolas"/>
              </a:rPr>
              <a:t>arrays decay to pointers</a:t>
            </a:r>
          </a:p>
          <a:p>
            <a:pPr>
              <a:lnSpc>
                <a:spcPct val="106000"/>
              </a:lnSpc>
              <a:spcBef>
                <a:spcPts val="0"/>
              </a:spcBef>
              <a:spcAft>
                <a:spcPts val="800"/>
              </a:spcAft>
            </a:pPr>
            <a:r>
              <a:rPr sz="1030" b="0" i="0">
                <a:solidFill>
                  <a:srgbClr val="16181D"/>
                </a:solidFill>
                <a:latin typeface="Consolas"/>
              </a:rPr>
              <a:t>2-D: a[R][C] row-major</a:t>
            </a:r>
          </a:p>
          <a:p>
            <a:pPr>
              <a:lnSpc>
                <a:spcPct val="106000"/>
              </a:lnSpc>
              <a:spcBef>
                <a:spcPts val="0"/>
              </a:spcBef>
              <a:spcAft>
                <a:spcPts val="800"/>
              </a:spcAft>
            </a:pPr>
            <a:r>
              <a:rPr sz="1030" b="0" i="0">
                <a:solidFill>
                  <a:srgbClr val="16181D"/>
                </a:solidFill>
                <a:latin typeface="Consolas"/>
              </a:rPr>
              <a:t>NULL terminator '\0' is real</a:t>
            </a:r>
          </a:p>
        </p:txBody>
      </p:sp>
      <p:sp>
        <p:nvSpPr>
          <p:cNvPr id="20" name="Rectangle 19"/>
          <p:cNvSpPr/>
          <p:nvPr/>
        </p:nvSpPr>
        <p:spPr>
          <a:xfrm>
            <a:off x="9125712" y="1645920"/>
            <a:ext cx="2743200" cy="420624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25712" y="1645920"/>
            <a:ext cx="274320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53728" y="1709928"/>
            <a:ext cx="251460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Pointers &amp; structs</a:t>
            </a:r>
          </a:p>
        </p:txBody>
      </p:sp>
      <p:sp>
        <p:nvSpPr>
          <p:cNvPr id="23" name="TextBox 22"/>
          <p:cNvSpPr txBox="1"/>
          <p:nvPr/>
        </p:nvSpPr>
        <p:spPr>
          <a:xfrm>
            <a:off x="9272016" y="2212848"/>
            <a:ext cx="2468880" cy="3566160"/>
          </a:xfrm>
          <a:prstGeom prst="rect">
            <a:avLst/>
          </a:prstGeom>
          <a:noFill/>
        </p:spPr>
        <p:txBody>
          <a:bodyPr wrap="square" anchor="t" lIns="0" rIns="0" tIns="0" bIns="0">
            <a:spAutoFit/>
          </a:bodyPr>
          <a:lstStyle/>
          <a:p>
            <a:pPr>
              <a:lnSpc>
                <a:spcPct val="106000"/>
              </a:lnSpc>
              <a:spcBef>
                <a:spcPts val="0"/>
              </a:spcBef>
              <a:spcAft>
                <a:spcPts val="800"/>
              </a:spcAft>
            </a:pPr>
            <a:r>
              <a:rPr sz="1030" b="0" i="0">
                <a:solidFill>
                  <a:srgbClr val="16181D"/>
                </a:solidFill>
                <a:latin typeface="Consolas"/>
              </a:rPr>
              <a:t>*p deref  &amp;addr</a:t>
            </a:r>
          </a:p>
          <a:p>
            <a:pPr>
              <a:lnSpc>
                <a:spcPct val="106000"/>
              </a:lnSpc>
              <a:spcBef>
                <a:spcPts val="0"/>
              </a:spcBef>
              <a:spcAft>
                <a:spcPts val="800"/>
              </a:spcAft>
            </a:pPr>
            <a:r>
              <a:rPr sz="1030" b="0" i="0">
                <a:solidFill>
                  <a:srgbClr val="16181D"/>
                </a:solidFill>
                <a:latin typeface="Consolas"/>
              </a:rPr>
              <a:t>p-&gt;fld == (*p).fld</a:t>
            </a:r>
          </a:p>
          <a:p>
            <a:pPr>
              <a:lnSpc>
                <a:spcPct val="106000"/>
              </a:lnSpc>
              <a:spcBef>
                <a:spcPts val="0"/>
              </a:spcBef>
              <a:spcAft>
                <a:spcPts val="800"/>
              </a:spcAft>
            </a:pPr>
            <a:r>
              <a:rPr sz="1030" b="0" i="0">
                <a:solidFill>
                  <a:srgbClr val="16181D"/>
                </a:solidFill>
                <a:latin typeface="Consolas"/>
              </a:rPr>
              <a:t>malloc + NULL check + free</a:t>
            </a:r>
          </a:p>
          <a:p>
            <a:pPr>
              <a:lnSpc>
                <a:spcPct val="106000"/>
              </a:lnSpc>
              <a:spcBef>
                <a:spcPts val="0"/>
              </a:spcBef>
              <a:spcAft>
                <a:spcPts val="800"/>
              </a:spcAft>
            </a:pPr>
            <a:r>
              <a:rPr sz="1030" b="0" i="0">
                <a:solidFill>
                  <a:srgbClr val="16181D"/>
                </a:solidFill>
                <a:latin typeface="Consolas"/>
              </a:rPr>
              <a:t>struct S {…} — . operator</a:t>
            </a:r>
          </a:p>
          <a:p>
            <a:pPr>
              <a:lnSpc>
                <a:spcPct val="106000"/>
              </a:lnSpc>
              <a:spcBef>
                <a:spcPts val="0"/>
              </a:spcBef>
              <a:spcAft>
                <a:spcPts val="800"/>
              </a:spcAft>
            </a:pPr>
            <a:r>
              <a:rPr sz="1030" b="0" i="0">
                <a:solidFill>
                  <a:srgbClr val="16181D"/>
                </a:solidFill>
                <a:latin typeface="Consolas"/>
              </a:rPr>
              <a:t>typedef hides the tag</a:t>
            </a:r>
          </a:p>
        </p:txBody>
      </p:sp>
      <p:sp>
        <p:nvSpPr>
          <p:cNvPr id="24" name="TextBox 23"/>
          <p:cNvSpPr txBox="1"/>
          <p:nvPr/>
        </p:nvSpPr>
        <p:spPr>
          <a:xfrm>
            <a:off x="502920" y="6053328"/>
            <a:ext cx="11247120" cy="411480"/>
          </a:xfrm>
          <a:prstGeom prst="rect">
            <a:avLst/>
          </a:prstGeom>
          <a:noFill/>
        </p:spPr>
        <p:txBody>
          <a:bodyPr wrap="square" anchor="t" lIns="0" rIns="0" tIns="0" bIns="0">
            <a:spAutoFit/>
          </a:bodyPr>
          <a:lstStyle/>
          <a:p>
            <a:pPr>
              <a:spcBef>
                <a:spcPts val="0"/>
              </a:spcBef>
              <a:spcAft>
                <a:spcPts val="0"/>
              </a:spcAft>
            </a:pPr>
            <a:r>
              <a:rPr sz="1250" b="1" i="0">
                <a:solidFill>
                  <a:srgbClr val="16181D"/>
                </a:solidFill>
                <a:latin typeface="Calibri"/>
              </a:rPr>
              <a:t>The classic diagnostic: </a:t>
            </a:r>
            <a:r>
              <a:rPr sz="1250" b="0" i="0">
                <a:solidFill>
                  <a:srgbClr val="4B5563"/>
                </a:solidFill>
                <a:latin typeface="Calibri"/>
              </a:rPr>
              <a:t>undefined reference to `sqrt` ⇒ rebuild with -lm AFTER the source — the exact command line above.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Viva Preparation — the Recurring Twelve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49</a:t>
            </a:r>
          </a:p>
        </p:txBody>
      </p:sp>
      <p:sp>
        <p:nvSpPr>
          <p:cNvPr id="8" name="TextBox 7"/>
          <p:cNvSpPr txBox="1"/>
          <p:nvPr/>
        </p:nvSpPr>
        <p:spPr>
          <a:xfrm>
            <a:off x="502920" y="1572768"/>
            <a:ext cx="6903720" cy="4846320"/>
          </a:xfrm>
          <a:prstGeom prst="rect">
            <a:avLst/>
          </a:prstGeom>
          <a:noFill/>
        </p:spPr>
        <p:txBody>
          <a:bodyPr wrap="square" anchor="t" lIns="0" rIns="0" tIns="0" bIns="0">
            <a:spAutoFit/>
          </a:bodyPr>
          <a:lstStyle/>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1.  </a:t>
            </a:r>
            <a:r>
              <a:rPr sz="1260" b="0" i="0">
                <a:solidFill>
                  <a:srgbClr val="16181D"/>
                </a:solidFill>
                <a:latin typeface="Calibri"/>
              </a:rPr>
              <a:t>'T' or 'F' in the output? printf has no bool — you printed an int.</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2.  </a:t>
            </a:r>
            <a:r>
              <a:rPr sz="1260" b="0" i="0">
                <a:solidFill>
                  <a:srgbClr val="16181D"/>
                </a:solidFill>
                <a:latin typeface="Calibri"/>
              </a:rPr>
              <a:t>why does 7/2 print 3? (integer division — the top semantic bug)</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3.  </a:t>
            </a:r>
            <a:r>
              <a:rPr sz="1260" b="0" i="0">
                <a:solidFill>
                  <a:srgbClr val="16181D"/>
                </a:solidFill>
                <a:latin typeface="Calibri"/>
              </a:rPr>
              <a:t>scanf returns what — and why must you read it?</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4.  </a:t>
            </a:r>
            <a:r>
              <a:rPr sz="1260" b="0" i="0">
                <a:solidFill>
                  <a:srgbClr val="16181D"/>
                </a:solidFill>
                <a:latin typeface="Calibri"/>
              </a:rPr>
              <a:t>buffer overflow: char name[16] then 2000 letters — what happens, which command shows it?</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5.  </a:t>
            </a:r>
            <a:r>
              <a:rPr sz="1260" b="0" i="0">
                <a:solidFill>
                  <a:srgbClr val="16181D"/>
                </a:solidFill>
                <a:latin typeface="Calibri"/>
              </a:rPr>
              <a:t>sqrt() won't link — the one-command fix, and why the order matters</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6.  </a:t>
            </a:r>
            <a:r>
              <a:rPr sz="1260" b="0" i="0">
                <a:solidFill>
                  <a:srgbClr val="16181D"/>
                </a:solidFill>
                <a:latin typeface="Calibri"/>
              </a:rPr>
              <a:t>1-D vs 2-D arrays: what does a[i][j] become in memory?</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7.  </a:t>
            </a:r>
            <a:r>
              <a:rPr sz="1260" b="0" i="0">
                <a:solidFill>
                  <a:srgbClr val="16181D"/>
                </a:solidFill>
                <a:latin typeface="Calibri"/>
              </a:rPr>
              <a:t>malloc without a NULL check — the sentence to say at the bench</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8.  </a:t>
            </a:r>
            <a:r>
              <a:rPr sz="1260" b="0" i="0">
                <a:solidFill>
                  <a:srgbClr val="16181D"/>
                </a:solidFill>
                <a:latin typeface="Calibri"/>
              </a:rPr>
              <a:t>struct-by-value vs pointer-to-struct — when does the caller see the change?</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9.  </a:t>
            </a:r>
            <a:r>
              <a:rPr sz="1260" b="0" i="0">
                <a:solidFill>
                  <a:srgbClr val="16181D"/>
                </a:solidFill>
                <a:latin typeface="Calibri"/>
              </a:rPr>
              <a:t>realloc vs malloc+copy+free — why the growth factor costs memory</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10.  </a:t>
            </a:r>
            <a:r>
              <a:rPr sz="1260" b="0" i="0">
                <a:solidFill>
                  <a:srgbClr val="16181D"/>
                </a:solidFill>
                <a:latin typeface="Calibri"/>
              </a:rPr>
              <a:t>what is 'garbage' in C — which line of your own output proves it exists</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11.  </a:t>
            </a:r>
            <a:r>
              <a:rPr sz="1260" b="0" i="0">
                <a:solidFill>
                  <a:srgbClr val="16181D"/>
                </a:solidFill>
                <a:latin typeface="Calibri"/>
              </a:rPr>
              <a:t>why does the flowchart have a loop-back arrow? (iteration, exit condition)</a:t>
            </a:r>
          </a:p>
          <a:p>
            <a:pPr marL="201168" indent="-201168">
              <a:lnSpc>
                <a:spcPct val="105000"/>
              </a:lnSpc>
              <a:spcBef>
                <a:spcPts val="0"/>
              </a:spcBef>
              <a:spcAft>
                <a:spcPts val="350"/>
              </a:spcAft>
            </a:pPr>
            <a:r>
              <a:rPr sz="1260" b="1" i="0">
                <a:solidFill>
                  <a:srgbClr val="B3261E"/>
                </a:solidFill>
                <a:latin typeface="Calibri"/>
              </a:rPr>
              <a:t>•  </a:t>
            </a:r>
            <a:r>
              <a:rPr sz="1260" b="1" i="0">
                <a:solidFill>
                  <a:srgbClr val="B3261E"/>
                </a:solidFill>
                <a:latin typeface="Calibri"/>
              </a:rPr>
              <a:t>12.  </a:t>
            </a:r>
            <a:r>
              <a:rPr sz="1260" b="0" i="0">
                <a:solidFill>
                  <a:srgbClr val="16181D"/>
                </a:solidFill>
                <a:latin typeface="Calibri"/>
              </a:rPr>
              <a:t>the result sentence — say your experiment in one breath</a:t>
            </a:r>
          </a:p>
        </p:txBody>
      </p:sp>
      <p:sp>
        <p:nvSpPr>
          <p:cNvPr id="9" name="Rectangle 8"/>
          <p:cNvSpPr/>
          <p:nvPr/>
        </p:nvSpPr>
        <p:spPr>
          <a:xfrm>
            <a:off x="7726679" y="1572768"/>
            <a:ext cx="3977639" cy="44805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91271" y="1655064"/>
            <a:ext cx="3648456" cy="43159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THE INTERNAL VIVA RUNS</a:t>
            </a:r>
          </a:p>
          <a:p>
            <a:pPr>
              <a:lnSpc>
                <a:spcPct val="105000"/>
              </a:lnSpc>
              <a:spcBef>
                <a:spcPts val="0"/>
              </a:spcBef>
              <a:spcAft>
                <a:spcPts val="320"/>
              </a:spcAft>
            </a:pPr>
            <a:r>
              <a:rPr sz="1180" b="1" i="0">
                <a:solidFill>
                  <a:srgbClr val="16181D"/>
                </a:solidFill>
                <a:latin typeface="Calibri"/>
              </a:rPr>
              <a:t>1 · </a:t>
            </a:r>
            <a:r>
              <a:rPr sz="1180" b="0" i="0">
                <a:solidFill>
                  <a:srgbClr val="16181D"/>
                </a:solidFill>
                <a:latin typeface="Calibri"/>
              </a:rPr>
              <a:t>pick one program cold; run it at the bench.</a:t>
            </a:r>
          </a:p>
          <a:p>
            <a:pPr>
              <a:lnSpc>
                <a:spcPct val="105000"/>
              </a:lnSpc>
              <a:spcBef>
                <a:spcPts val="0"/>
              </a:spcBef>
              <a:spcAft>
                <a:spcPts val="320"/>
              </a:spcAft>
            </a:pPr>
            <a:r>
              <a:rPr sz="1180" b="1" i="0">
                <a:solidFill>
                  <a:srgbClr val="16181D"/>
                </a:solidFill>
                <a:latin typeface="Calibri"/>
              </a:rPr>
              <a:t>2 · </a:t>
            </a:r>
            <a:r>
              <a:rPr sz="1180" b="0" i="0">
                <a:solidFill>
                  <a:srgbClr val="16181D"/>
                </a:solidFill>
                <a:latin typeface="Calibri"/>
              </a:rPr>
              <a:t>questions turn on YOUR code — name the construct per line.</a:t>
            </a:r>
          </a:p>
          <a:p>
            <a:pPr>
              <a:lnSpc>
                <a:spcPct val="105000"/>
              </a:lnSpc>
              <a:spcBef>
                <a:spcPts val="0"/>
              </a:spcBef>
              <a:spcAft>
                <a:spcPts val="320"/>
              </a:spcAft>
            </a:pPr>
            <a:r>
              <a:rPr sz="1180" b="1" i="0">
                <a:solidFill>
                  <a:srgbClr val="16181D"/>
                </a:solidFill>
                <a:latin typeface="Calibri"/>
              </a:rPr>
              <a:t>3 · </a:t>
            </a:r>
            <a:r>
              <a:rPr sz="1180" b="0" i="0">
                <a:solidFill>
                  <a:srgbClr val="16181D"/>
                </a:solidFill>
                <a:latin typeface="Calibri"/>
              </a:rPr>
              <a:t>open with: data flow → key construct → the evidence in the output.</a:t>
            </a:r>
          </a:p>
          <a:p>
            <a:pPr>
              <a:lnSpc>
                <a:spcPct val="105000"/>
              </a:lnSpc>
              <a:spcBef>
                <a:spcPts val="0"/>
              </a:spcBef>
              <a:spcAft>
                <a:spcPts val="320"/>
              </a:spcAft>
            </a:pPr>
            <a:r>
              <a:rPr sz="1180" b="0" i="0">
                <a:solidFill>
                  <a:srgbClr val="16181D"/>
                </a:solidFill>
                <a:latin typeface="Calibri"/>
              </a:rPr>
              <a:t>Answer the 'why': </a:t>
            </a:r>
            <a:r>
              <a:rPr sz="1150" b="0" i="0">
                <a:solidFill>
                  <a:srgbClr val="16181D"/>
                </a:solidFill>
                <a:latin typeface="Consolas"/>
              </a:rPr>
              <a:t>7/2 == 3</a:t>
            </a:r>
            <a:r>
              <a:rPr sz="1180" b="0" i="0">
                <a:solidFill>
                  <a:srgbClr val="16181D"/>
                </a:solidFill>
                <a:latin typeface="Calibri"/>
              </a:rPr>
              <a:t> is a fact; 'both operands are int' is the tick.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References &amp; Sources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C Programming Lab · 1BPOPL107/207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50</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5000"/>
              </a:lnSpc>
              <a:spcBef>
                <a:spcPts val="0"/>
              </a:spcBef>
              <a:spcAft>
                <a:spcPts val="1000"/>
              </a:spcAft>
            </a:pPr>
            <a:r>
              <a:rPr sz="1500" b="1" i="0">
                <a:solidFill>
                  <a:srgbClr val="B3261E"/>
                </a:solidFill>
                <a:latin typeface="Calibri"/>
              </a:rPr>
              <a:t>•  </a:t>
            </a:r>
            <a:r>
              <a:rPr sz="1500" b="1" i="0">
                <a:solidFill>
                  <a:srgbClr val="16181D"/>
                </a:solidFill>
                <a:latin typeface="Calibri"/>
              </a:rPr>
              <a:t>Prescribed textbook: </a:t>
            </a:r>
            <a:r>
              <a:rPr sz="1500" b="0" i="0">
                <a:solidFill>
                  <a:srgbClr val="16181D"/>
                </a:solidFill>
                <a:latin typeface="Calibri"/>
              </a:rPr>
              <a:t>R. G. Sivanagamani, G. Deepa — </a:t>
            </a:r>
            <a:r>
              <a:rPr sz="1500" b="0" i="1">
                <a:solidFill>
                  <a:srgbClr val="16181D"/>
                </a:solidFill>
                <a:latin typeface="Calibri"/>
              </a:rPr>
              <a:t>Programming in C for First-Year Engineering Students</a:t>
            </a:r>
            <a:r>
              <a:rPr sz="1500" b="0" i="0">
                <a:solidFill>
                  <a:srgbClr val="16181D"/>
                </a:solidFill>
                <a:latin typeface="Calibri"/>
              </a:rPr>
              <a:t>, Pearson, Second Edition, 2025.</a:t>
            </a:r>
          </a:p>
          <a:p>
            <a:pPr marL="201168" indent="-201168">
              <a:lnSpc>
                <a:spcPct val="105000"/>
              </a:lnSpc>
              <a:spcBef>
                <a:spcPts val="0"/>
              </a:spcBef>
              <a:spcAft>
                <a:spcPts val="1000"/>
              </a:spcAft>
            </a:pPr>
            <a:r>
              <a:rPr sz="1500" b="1" i="0">
                <a:solidFill>
                  <a:srgbClr val="B3261E"/>
                </a:solidFill>
                <a:latin typeface="Calibri"/>
              </a:rPr>
              <a:t>•  </a:t>
            </a:r>
            <a:r>
              <a:rPr sz="1500" b="1" i="0">
                <a:solidFill>
                  <a:srgbClr val="16181D"/>
                </a:solidFill>
                <a:latin typeface="Calibri"/>
              </a:rPr>
              <a:t>Reference: </a:t>
            </a:r>
            <a:r>
              <a:rPr sz="1500" b="0" i="0">
                <a:solidFill>
                  <a:srgbClr val="16181D"/>
                </a:solidFill>
                <a:latin typeface="Calibri"/>
              </a:rPr>
              <a:t>Reema M. Tharakan — </a:t>
            </a:r>
            <a:r>
              <a:rPr sz="1500" b="0" i="1">
                <a:solidFill>
                  <a:srgbClr val="16181D"/>
                </a:solidFill>
                <a:latin typeface="Calibri"/>
              </a:rPr>
              <a:t>Let Us Understand C: A Programmers' Approach</a:t>
            </a:r>
            <a:r>
              <a:rPr sz="1500" b="0" i="0">
                <a:solidFill>
                  <a:srgbClr val="16181D"/>
                </a:solidFill>
                <a:latin typeface="Calibri"/>
              </a:rPr>
              <a:t>, S. Chand &amp; Company Pvt. Ltd., Second Edition, 2015.</a:t>
            </a:r>
          </a:p>
          <a:p>
            <a:pPr marL="201168" indent="-201168">
              <a:lnSpc>
                <a:spcPct val="105000"/>
              </a:lnSpc>
              <a:spcBef>
                <a:spcPts val="0"/>
              </a:spcBef>
              <a:spcAft>
                <a:spcPts val="1000"/>
              </a:spcAft>
            </a:pPr>
            <a:r>
              <a:rPr sz="1500" b="1" i="0">
                <a:solidFill>
                  <a:srgbClr val="B3261E"/>
                </a:solidFill>
                <a:latin typeface="Calibri"/>
              </a:rPr>
              <a:t>•  </a:t>
            </a:r>
            <a:r>
              <a:rPr sz="1500" b="1" i="0">
                <a:solidFill>
                  <a:srgbClr val="16181D"/>
                </a:solidFill>
                <a:latin typeface="Calibri"/>
              </a:rPr>
              <a:t>E-resources: </a:t>
            </a:r>
            <a:r>
              <a:rPr sz="1500" b="0" i="0">
                <a:solidFill>
                  <a:srgbClr val="16181D"/>
                </a:solidFill>
                <a:latin typeface="Calibri"/>
              </a:rPr>
              <a:t>smile.ece.cmu.edu/~german/15110-f17 (recursion) · u.osu.edu/cerc/TeachingMaterials/ (flowcharts) · en.cppreference.com/w/c (the C standard library reference)</a:t>
            </a:r>
          </a:p>
          <a:p>
            <a:pPr marL="201168" indent="-201168">
              <a:lnSpc>
                <a:spcPct val="105000"/>
              </a:lnSpc>
              <a:spcBef>
                <a:spcPts val="0"/>
              </a:spcBef>
              <a:spcAft>
                <a:spcPts val="1000"/>
              </a:spcAft>
            </a:pPr>
            <a:r>
              <a:rPr sz="1500" b="1" i="0">
                <a:solidFill>
                  <a:srgbClr val="B3261E"/>
                </a:solidFill>
                <a:latin typeface="Calibri"/>
              </a:rPr>
              <a:t>•  </a:t>
            </a:r>
            <a:r>
              <a:rPr sz="1500" b="1" i="0">
                <a:solidFill>
                  <a:srgbClr val="16181D"/>
                </a:solidFill>
                <a:latin typeface="Calibri"/>
              </a:rPr>
              <a:t>Slides source: </a:t>
            </a:r>
            <a:r>
              <a:rPr sz="1500" b="0" i="0">
                <a:solidFill>
                  <a:srgbClr val="16181D"/>
                </a:solidFill>
                <a:latin typeface="Calibri"/>
              </a:rPr>
              <a:t>the C-Programming-Lab course book (1BPOPL107/207) — code read from the same </a:t>
            </a:r>
            <a:r>
              <a:rPr sz="1300" b="0" i="0">
                <a:solidFill>
                  <a:srgbClr val="16181D"/>
                </a:solidFill>
                <a:latin typeface="Consolas"/>
              </a:rPr>
              <a:t>src/*.c</a:t>
            </a:r>
            <a:r>
              <a:rPr sz="1500" b="0" i="0">
                <a:solidFill>
                  <a:srgbClr val="16181D"/>
                </a:solidFill>
                <a:latin typeface="Calibri"/>
              </a:rPr>
              <a:t> files, flowcharts from the same figures, outputs from the </a:t>
            </a:r>
            <a:r>
              <a:rPr sz="1300" b="0" i="0">
                <a:solidFill>
                  <a:srgbClr val="16181D"/>
                </a:solidFill>
                <a:latin typeface="Consolas"/>
              </a:rPr>
              <a:t>out/*.txt</a:t>
            </a:r>
            <a:r>
              <a:rPr sz="1500" b="0" i="0">
                <a:solidFill>
                  <a:srgbClr val="16181D"/>
                </a:solidFill>
                <a:latin typeface="Calibri"/>
              </a:rPr>
              <a:t> pty captures; all built with </a:t>
            </a:r>
            <a:r>
              <a:rPr sz="1300" b="0" i="0">
                <a:solidFill>
                  <a:srgbClr val="16181D"/>
                </a:solidFill>
                <a:latin typeface="Consolas"/>
              </a:rPr>
              <a:t>gcc 14.2 -Wall -Wextra</a:t>
            </a:r>
            <a:r>
              <a:rPr sz="1500" b="0" i="0">
                <a:solidFill>
                  <a:srgbClr val="16181D"/>
                </a:solidFill>
                <a:latin typeface="Calibri"/>
              </a:rPr>
              <a:t>.</a:t>
            </a:r>
          </a:p>
          <a:p>
            <a:pPr marL="201168" indent="-201168">
              <a:lnSpc>
                <a:spcPct val="105000"/>
              </a:lnSpc>
              <a:spcBef>
                <a:spcPts val="0"/>
              </a:spcBef>
              <a:spcAft>
                <a:spcPts val="1000"/>
              </a:spcAft>
            </a:pPr>
            <a:r>
              <a:rPr sz="1500" b="1" i="0">
                <a:solidFill>
                  <a:srgbClr val="B3261E"/>
                </a:solidFill>
                <a:latin typeface="Calibri"/>
              </a:rPr>
              <a:t>•  </a:t>
            </a:r>
            <a:r>
              <a:rPr sz="1500" b="1" i="0">
                <a:solidFill>
                  <a:srgbClr val="16181D"/>
                </a:solidFill>
                <a:latin typeface="Calibri"/>
              </a:rPr>
              <a:t>Honesty panel: </a:t>
            </a:r>
            <a:r>
              <a:rPr sz="1500" b="0" i="0">
                <a:solidFill>
                  <a:srgbClr val="16181D"/>
                </a:solidFill>
                <a:latin typeface="Calibri"/>
              </a:rPr>
              <a:t>no output on these slides was hand-typed; where a guard run is shown, it was provoked deliberately.</a:t>
            </a:r>
          </a:p>
        </p:txBody>
      </p:sp>
      <p:sp>
        <p:nvSpPr>
          <p:cNvPr id="9" name="Rectangle 8"/>
          <p:cNvSpPr/>
          <p:nvPr/>
        </p:nvSpPr>
        <p:spPr>
          <a:xfrm>
            <a:off x="502920" y="5394960"/>
            <a:ext cx="11183112" cy="2560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577840"/>
            <a:ext cx="11155680" cy="640080"/>
          </a:xfrm>
          <a:prstGeom prst="rect">
            <a:avLst/>
          </a:prstGeom>
          <a:noFill/>
        </p:spPr>
        <p:txBody>
          <a:bodyPr wrap="square" anchor="t" lIns="0" rIns="0" tIns="0" bIns="0">
            <a:spAutoFit/>
          </a:bodyPr>
          <a:lstStyle/>
          <a:p>
            <a:pPr>
              <a:spcBef>
                <a:spcPts val="0"/>
              </a:spcBef>
              <a:spcAft>
                <a:spcPts val="0"/>
              </a:spcAft>
            </a:pPr>
            <a:r>
              <a:rPr sz="1300" b="1" i="0">
                <a:solidFill>
                  <a:srgbClr val="B3261E"/>
                </a:solidFill>
                <a:latin typeface="Calibri"/>
              </a:rPr>
              <a:t>END OF DECK</a:t>
            </a:r>
            <a:r>
              <a:rPr sz="1300" b="0" i="0">
                <a:solidFill>
                  <a:srgbClr val="4B5563"/>
                </a:solidFill>
                <a:latin typeface="Calibri"/>
              </a:rPr>
              <a:t>   ·   the complete 92-page record-format book carries every section in full — the experiments, the rubrics, the viva bank and the appendices.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Lab (1BPOPL107/207) — Classroom Slides</dc:title>
  <dc:subject>VTU laboratory course · 14 experiments in record format</dc:subject>
  <dc:creator>Dr. Lokesh M R, AJIET Mangaluru</dc:creator>
  <cp:keywords/>
  <dc:description>Derived from the C-Programming-Lab-1BPOPL107-207-Book.pdf course book; all outputs captured with gcc 14.2.</dc:description>
  <cp:lastModifiedBy>Steve Canny</cp:lastModifiedBy>
  <cp:revision>1</cp:revision>
  <dcterms:created xsi:type="dcterms:W3CDTF">2013-01-27T09:14:16Z</dcterms:created>
  <dcterms:modified xsi:type="dcterms:W3CDTF">2013-01-27T09:15:58Z</dcterms:modified>
  <cp:category/>
</cp:coreProperties>
</file>