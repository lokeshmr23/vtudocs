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formula per lecture minute: point at the images, speak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python3 src/m1_modular.py — transcript in the book, §1.3. Tokens: m1.ck1, m1.ck2, m1.ckcrt, m1.ckphi, m1.w1.d, m1.w1.inv, m1.w1.sols, m1.w1.x0, m1.w10.c, m1.w10.c3, m1.w10.d, m1.w10.d2, m1.w10.n, m1.w10.n2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formula per lecture minute: point at the images, speak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python3 src/m2_stats.py — transcript in the book, §2.3. Tokens: m2.ck1a, m2.ck1b, m2.ck1y8, m2.ck2r, m2.ck3rho, m2.w1.a, m2.w1.b, m2.w2.a, m2.w2.b, m2.w2.y12, m2.w3.a, m2.w3.b, m2.w3.c, m2.w3.y5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formula per lecture minute: point at the images, speak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python3 src/m3_dist.py — transcript in the book, §3.3. Tokens: m3.ck1, m3.ck3, m3.ckn, m3.ckp460, m3.ckz90, m3.w1.bayesD, m3.w1.p7, m3.w1.post1, m3.w1.post2, m3.w1.post3, m3.w2.ex, m3.w2.ex2, m3.w2.sd, m3.w2.vx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formula per lecture minute: point at the images, speak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python3 src/m4_joint_markov.py — transcript in the book, §4.3. Tokens: m4.w1.cov, m4.w1.ex, m4.w1.exy, m4.w1.ey, m4.w1.rho, m4.w2.v, m4.w3.pi_dec, m4.w3.x1, m4.w3.x2, m4.w3.x3, m4.w4.pi_dec, m4.w5.a1, m4.w5.a1lim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formula per lecture minute: point at the images, speak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python3 src/m5_inference.py — transcript in the book, §5.3. Tokens: m5.ck1z, m5.ck2p, m5.ck2z, m5.w1.mumean, m5.w1.sdmean, m5.w2.p, m5.w2.z, m5.w3.p1, m5.w3.p2, m5.w3.z, m5.w4.p, m5.w4.se, m5.w4.z, m5.w5.p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out/t01.txt  (python3 src/t01.py) — reprinted in full in the book, §1.4.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out/t02.txt  (python3 src/t02.py) — reprinted in full in the book, §2.4.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out/t03.txt  (python3 src/t03.py) — reprinted in full in the book, §3.4.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out/t04.txt  (python3 src/t04.py) — reprinted in full in the book, §4.4.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out/t05.txt  (python3 src/t05.py) — reprinted in full in the book, §5.4.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out/t06.txt  (python3 src/t06.py) — reprinted in full in the book, §6.4.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out/t07.txt  (python3 src/t07.py) — reprinted in full in the book, §7.4.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out/t08.txt  (python3 src/t08.py) — reprinted in full in the book, §8.4.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out/t09.txt  (python3 src/t09.py) — reprinted in full in the book, §9.4.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out/t10.txt  (python3 src/t10.py) — reprinted in full in the book, §10.4.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out/t11.txt  (python3 src/t11.py) — reprinted in full in the book, §11.4.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out/t12.txt  (python3 src/t12.py) — reprinted in full in the book, §12.4.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out/t13.txt  (python3 src/t13.py) — reprinted in full in the book, §13.4.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Log: out/t14.txt  (python3 src/t14.py) — reprinted in full in the book, §14.4.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src/gate.py → tokens gate.* — answer key: B B D B B D D B B C C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commands run from stats-course/. Env: Python 3.13 + sympy/scipy/matplotlib/WeasyPrint 70. Re-running collect.py regenerates every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ANALYTICAL SKILLS &amp; COMPETENCY COURSE · SEMESTER III · SCHEME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78992"/>
            <a:ext cx="10362895" cy="25603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0F172A"/>
                </a:solidFill>
                <a:latin typeface="Calibri"/>
              </a:rPr>
              <a:t>PROBABILITY,</a:t>
            </a:r>
          </a:p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0F172A"/>
                </a:solidFill>
                <a:latin typeface="Calibri"/>
              </a:rPr>
              <a:t>DISTRIBUTIONS</a:t>
            </a:r>
          </a:p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0F172A"/>
                </a:solidFill>
                <a:latin typeface="Calibri"/>
              </a:rPr>
              <a:t>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456432"/>
            <a:ext cx="93570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4B5563"/>
                </a:solidFill>
                <a:latin typeface="Calibri"/>
              </a:rPr>
              <a:t>The classroom companion to the course notes: every figure is filled live from the same computation bank that built the book — no slide can quote a number the scripts did not 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1367" y="4224528"/>
            <a:ext cx="3108960" cy="713232"/>
          </a:xfrm>
          <a:prstGeom prst="rect">
            <a:avLst/>
          </a:prstGeom>
          <a:noFill/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1367" y="43159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COURSE CODE</a:t>
            </a:r>
          </a:p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1BMATCS301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12064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6181D"/>
                </a:solidFill>
                <a:latin typeface="Calibri"/>
              </a:rPr>
              <a:t>4 credits · 42 lecture + 28 tutorial hours · CIE 50 + SEE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05856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compiled and computed by</a:t>
            </a:r>
          </a:p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Dr. Lokesh M 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Calibri"/>
              </a:rPr>
              <a:t>Professor, Department of Information Science &amp; Engineering · AJ Institute of Engineering and Technology (AJIET), Mangaluru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Probability, Distributions &amp; Statistics · 1BMATCS301 — classroom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Prescription — Five Modules, as Written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749808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Module 1 · 8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568196"/>
            <a:ext cx="9235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30" b="0" i="0">
                <a:solidFill>
                  <a:srgbClr val="16181D"/>
                </a:solidFill>
                <a:latin typeface="Calibri"/>
              </a:rPr>
              <a:t>Congruences, linear congruences, remainder theorem, solving polynomials, linear Diophantine equation, system of linear congruences, Euler, Wilson, Fermat — and the RSA algorithm.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1115568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Module 2 · 8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18588"/>
            <a:ext cx="9235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30" b="0" i="0">
                <a:solidFill>
                  <a:srgbClr val="16181D"/>
                </a:solidFill>
                <a:latin typeface="Calibri"/>
              </a:rPr>
              <a:t>Least squares: y = a + bx, y = a + bx + cx², y = axᵇ; correlation, regression lines, angle between them, rank correlation.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11155680" cy="749808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Module 3 · 9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68980"/>
            <a:ext cx="9235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30" b="0" i="0">
                <a:solidFill>
                  <a:srgbClr val="16181D"/>
                </a:solidFill>
                <a:latin typeface="Calibri"/>
              </a:rPr>
              <a:t>Random variables, pmf &amp; pdf, expectation, mean and variance; Binomial, Poisson and Normal distributions (mean/SD derivations for Binomial &amp; Poisson only).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50792"/>
            <a:ext cx="1115568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3308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Module 4 · 8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119372"/>
            <a:ext cx="9235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30" b="0" i="0">
                <a:solidFill>
                  <a:srgbClr val="16181D"/>
                </a:solidFill>
                <a:latin typeface="Calibri"/>
              </a:rPr>
              <a:t>Joint distributions of two discrete variables; expectation, covariance, correlation. Markov chains: stochastic matrices, higher transition probabilities, stationary distributions.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01184"/>
            <a:ext cx="11155680" cy="749808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Module 5 · 9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969764"/>
            <a:ext cx="9235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30" b="0" i="0">
                <a:solidFill>
                  <a:srgbClr val="16181D"/>
                </a:solidFill>
                <a:latin typeface="Calibri"/>
              </a:rPr>
              <a:t>Sampling distributions, standard error, significance levels, confidence limits; CLT; large-sample z tests; Student’s t for two small means; chi-square goodness of fit.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6986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 i="1">
                <a:solidFill>
                  <a:srgbClr val="4B5563"/>
                </a:solidFill>
                <a:latin typeface="Calibri"/>
              </a:rPr>
              <a:t>Plus the tutorial component: 14 practice topics × 2 h — every one of them worked end-to-end in Part B of the book, and drilled on slides 23–29 below.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Probability, Distributions &amp; Statistics · 1BMATCS301 — classroom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Assessment — How the 100 Marks Are 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27048"/>
            <a:ext cx="6583680" cy="3017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3807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572768"/>
            <a:ext cx="64922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572768"/>
            <a:ext cx="4169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What it contains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65836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60804"/>
            <a:ext cx="13807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IA Test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860804"/>
            <a:ext cx="6492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12–13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1860804"/>
            <a:ext cx="41696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after Module 2 — modules 1–2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12848"/>
            <a:ext cx="6583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44852"/>
            <a:ext cx="13807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IA Test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2244852"/>
            <a:ext cx="6492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12–13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244852"/>
            <a:ext cx="41696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after Module 5 — remaining three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96896"/>
            <a:ext cx="65836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628900"/>
            <a:ext cx="13807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CCA Activity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2628900"/>
            <a:ext cx="6492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628900"/>
            <a:ext cx="41696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problem assignment at RBTL-3/4 level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80944"/>
            <a:ext cx="6583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012948"/>
            <a:ext cx="13807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CCA Activity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3012948"/>
            <a:ext cx="6492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3012948"/>
            <a:ext cx="41696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GATE-style questions (Appendix C of the book)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364991"/>
            <a:ext cx="65836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396996"/>
            <a:ext cx="13807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SEE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3396996"/>
            <a:ext cx="6492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3396996"/>
            <a:ext cx="41696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3 h theory paper; pass needs ≥ 18 of 50 (35%)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49039"/>
            <a:ext cx="6583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781044"/>
            <a:ext cx="13807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Eligibility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5688" y="3781044"/>
            <a:ext cx="6492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3781044"/>
            <a:ext cx="41696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CIE ≥ 20/50 to sit the SEE · CIE + SEE ≥ 40 to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1527048"/>
            <a:ext cx="420624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6952" y="1618488"/>
            <a:ext cx="38770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RUBRIC (BOTH CCA ACTIVITIES)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865376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16181D"/>
                </a:solidFill>
                <a:latin typeface="Calibri"/>
              </a:rPr>
              <a:t>Superior 5 · Good 4 · Fair 2 · Needs improvement 1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Activity 1 is scored on understanding of concepts, problem-solving ability and mathematical accuracy; Activity 2 on analytical thinking.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Calibri"/>
              </a:rPr>
              <a:t>Term work (50 h): assignments, the GATE set, and MATLAB/Python computations for RSA, probability and sampling — the same scripts this deck and book run 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4498848"/>
            <a:ext cx="4206240" cy="1170432"/>
          </a:xfrm>
          <a:prstGeom prst="rect">
            <a:avLst/>
          </a:prstGeom>
          <a:solidFill>
            <a:srgbClr val="FDF3F2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4626864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6181D"/>
                </a:solidFill>
                <a:latin typeface="Calibri"/>
              </a:rPr>
              <a:t>Teaching modes as listed: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 flipped classroom · problem-based learning · ICT-enabled (Python in tutorial hours) · collaborative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0" b="1" i="0">
                <a:solidFill>
                  <a:srgbClr val="B3261E"/>
                </a:solidFill>
                <a:latin typeface="Calibri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2999232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45536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Theory — Modules 1 to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730752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4B5563"/>
                </a:solidFill>
                <a:latin typeface="Calibri"/>
              </a:rPr>
              <a:t>For each module: the tool list on one slide, the flagship numbers as the machine printed them, and the checkpoint set — all filled from the token bank.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2407" y="4626864"/>
            <a:ext cx="9326880" cy="129844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51863" y="4736592"/>
            <a:ext cx="88879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M1 Modular Arithmetic · 8 h · M2 Statistics · 8 h · M3 Distributions · 9 h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M4 Joint laws &amp; Markov chains · 8 h · M5 Inference · 9 h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Book chapters: verbatim prescription → concepts → worked problems → log → summary → checkpoint →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1 · The rules, four lines deep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eq_c13ea15cc3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4441589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682496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then exactly d classes mod n — reduce, invert, lift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a77f9153d9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5343504" cy="4039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47802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one particular solution generates the whole 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b7c309e832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55264"/>
            <a:ext cx="6286850" cy="3584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20122" y="3273552"/>
            <a:ext cx="415559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Euler · Fermat · Wilson — the power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27248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5b18c7fc68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50791"/>
            <a:ext cx="5689563" cy="3584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22835" y="4069080"/>
            <a:ext cx="47528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RSA: the theorems above are the proof of correctness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22776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1 · What the script printed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1.1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Solve 6x ≡ 15 (mod 21).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gcd(6, 21) = 3 divides 15, so the congruence has 3 incongruent solutions modulo 21. Divide through by 3: 2x ≡ 5 (mod 7). The inverse of 2 mod 7 is 4, hence x ≡ 4·5 = 20 ≡ 6 (mod 7). Lifting back gives x = 6, 13, 20; the log enumerates 0…20 and lands on the same triple.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1.8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RSA end-to-end with p = 7, q = 11, e = 7, message m = 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n = 77, φ = 60, d = e⁻¹ mod φ = 43 (check 7·43 = 301 ≡ 1 mod 60). Encrypt: c = 5⁷ mod 77 = 47. Decrypt: 47⁴³ mod 77 = 5 — the round trip the log asserts. The same procedure at bigger classroom scale, p = 61, q = 53, e = 17: n = 3233, d = 2753, and m = 123 encrypts to c = 855, decrypting back to 123.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3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CHECKPOINT (book “Checkpoint” section — answers as printed):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CK1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Solve 5x ≡ 22 (mod 31).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unique class: x ≡ 23 (mod 31)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2112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CK2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Solve 3x ≡ 6 (mod 9).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d = 3 divides 6 — three classes: x = 2, 5,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1888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CK3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Solve x ≡ 4 (mod 7), x ≡ 9 (mod 11).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x ≡ 53 (mod 77)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6651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CK4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φ(55), and what does Euler then promise for 3^φ(55)?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φ(55) = 40; 3⁴⁰ ≡ 1 (mod 55) — the log checks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14415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CK5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Compare 20! mod 23 with 12! mod 13 (least positive residues).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20! ≡ 11 via the Wilson trick; 12! ≡ 12 ≡ −1 by Wilson itself — the larger is 12 mod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2179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CK6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Why can a quadratic have four roots in ℤ₆?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zero divisors: (x−1)(x−2) ≡ 0 can hold with neither factor ≡ 0 (e.g. 4·3 = 12 ≡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9943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CK7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State the cancellation rule used on 6x ≡ 12 (mod 9).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d = gcd(6,9) = 3: divide a, b, m all by 3 → 2x ≡ 4 (mod 3) → x ≡ 2, 5, 8 (mod 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807707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CK8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Give d for RSA with p = 5, q = 17, e = 11.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n = 85, φ = 64, d = 35 (11·35 = 385 = 6·64 + 1) — see Tutorial 3, P8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2 · The rules, four lines deep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eq_46149f132f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3684639" cy="3826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682496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the normal equations for y = a + bx (curves: add rows of weights)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122a80df7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2594599" cy="5880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47802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and r² = b_yx · b_xy ties fit to correlation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e1397ba244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55264"/>
            <a:ext cx="3849666" cy="3393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3273552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the two regression lines — they cross at (x̄, ȳ), always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27248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55ed0f9f85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50791"/>
            <a:ext cx="3205613" cy="5207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0690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angle between lines · rank correlation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22776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2 · What the script printed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2.1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Fit a straight line to x = 1,2,3,4,5; y = 2,4,5,4,5.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Table ritual: (table as in the book) The two normal-equation closes give b = (5·66 − 15·20)/(5·55 − 15²) = 30/50 = 0.6 and a = (20 − 0.6·15)/5 = 2.2. The fitted y = 2.2 + 0.6x passes through (3, 4) = the centroid, as it must.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2.5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Find r for marks of ten students: x = 45, 60, 35, 40, 50, 45, 60, 65, 50, 35; y = 65, 60, 75, 70, 60, 65, 55, 50, 60, 70.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(table as in the book) Centroid: x̄ = 48.5000, ȳ = 63.0000. Numerator nΣxy − ΣxΣy = -6800; denominator √[(5·Σx² terms)(5·Σy² terms)] = 7150.3496; r = -0.9510. Strong negative — as x climbs, y falls; the log re-derives the same number through raw deviations as a cross-check.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3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CHECKPOINT (book “Checkpoint” section — answers as printed):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CK1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Fit a line to x = 1…6, y = 35,30,25,20,15,10 and read off y(8).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The points are collinear: y = 40 + (-5)x, so y(8) = 0 — exact fit, residuals all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2112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CK2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Why is the centroid (x̄, ȳ) on every least-squares line?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the first normal equation n a + bΣx = Σy is exactly a + b x̄ = ȳ after dividing by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1888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CK3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x̄ = 10, ȳ = 8, σx = 2, σy = 4, r = 0.5: slope of y on x?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r σy/σx = 0.5·4/2 = 1; and of x on y = 0.25; product = 0.25 = r²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6651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CK4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x = 2,4,5,4,3,1,2 with y = 1,3,4,3,2,1,1: find r.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0.9700 — strongly positive, and the sign agrees with the visible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14415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CK5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When do the two regression lines become perpendicular?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r = 0: slopes m₁ = 0, m₂ = ∞ in the limit formulation; tan θ → ∞ means θ = 90°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2179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CK6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ρ = 1 − 6ΣD²/n(n²−1) for n = 5, ΣD² = 4?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1 − 24/(5·24) = 0.8000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9943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CK7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What does ‘fitted in the log scale minimises relative error’ buy and cost?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buy: linear machinery and a clean b (elasticity); cost: not the same criterion as absolute least squares — points with small y get louder voices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807707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CK8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Why must |r| ≤ 1?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Cauchy–Schwarz on the deviation vectors: (Σ uv)² ≤ Σu² Σv² — divide by the norms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3 · The rules, four lines deep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eq_12b011e713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3289008" cy="3826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682496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expectation and variance from the mass function (integral for a pdf)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7feafc0915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4068801" cy="3715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47802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binomial — mean/SD derivation is examinable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b66ccc4b07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55264"/>
            <a:ext cx="2902211" cy="4203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3273552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Poisson: rare events, many trials — mean equals variance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27248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e353d7e97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50791"/>
            <a:ext cx="5244001" cy="40898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0690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the empirical rule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22776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3 · What the script printed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3.5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X ~ N(100, σ = 10). Find P(X &gt; 115), P(X &lt; 85), P(90 &lt; X &lt; 115).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Standardise: z = (115−100)/10 = 1.5 → P = 1 − Φ(1.5) = 0.0668. By symmetry P(X 0.0668. The band: Φ(1.5) − Φ(−1) = 0.7745. Every figure here is the table value to four places; Appendix B prints the whole table from the same integral, so the book never disagrees with itself.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3.6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Top 5% cut-off of N(70, σ = 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Read the table backwards: z with Φ(z) = 0.95 is 1.6449 (precisely 1.645 — the one-tail 5% z from Appendix B); x = 70 + 1.6449·5 = 78.2243.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3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CHECKPOINT (book “Checkpoint” section — answers as printed):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CK1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Roll two dice: P(double | sum even)?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all 6 doubles sit among the 18 even-sum outcomes: 1/3 — every double is even, so conditioning changes nothing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2112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CK2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Why does a pmf-table’s x²P column, not the xP column, first appear when computing V?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V needs E(X²) = Σx²p; the xP column only feeds μ — the shortcut V = E(X²) − μ² uses both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1888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CK3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n = 8, p = ½: P(exactly 4 successes)?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C(8,4)/2⁸ = 70/256 = 0.2734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6651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CK4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A binomial has mean 6 and variance 3. Give n and p.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np = 6, npq = 3 → q = ½, p = ½, n = n = 12, p = 1/2 (i.e. n = 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14415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CK5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Poisson: why must mean = variance, and how do you use that on real data?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both equal λ (derived in 3.5); on data, compare sample var with sample mean — a gap says the model is wrong, as the χ² row in Ex 4 quantifies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2179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CK6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Φ(1.645) = 0.95 — use it to name the top-10% z.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top 10% is z = 1.2816 (1.2816); 1.645 is the top-5%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9943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CK7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Which single step turns binomial coefficients into e^{−λ}?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the limit (1 − λ/n)ⁿ → e^{−λ} together with n(n−1)…(n−x+1) ≈ nˣ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807707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CK8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X ~ N(500, 40): P(X &lt; 460)?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z = −1 → Φ(−1) = 0.1587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4 · The rules, four lines deep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eq_00e2ad589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3940122" cy="406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682496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joint table → marginals → these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2cd0d43514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4379468" cy="349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47802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the covariance term is the whole exam trap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dfe046c34f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55264"/>
            <a:ext cx="3182478" cy="3826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3273552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chain steps; equilibrium of a regular chain is unique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27248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27d8e1240f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50791"/>
            <a:ext cx="2655423" cy="35478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0690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regularity — what makes the limit exist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22776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4 · What the script printed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4.3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Weather chain S/R with P = [[0.8, 0.2], [0.4, 0.6]]: start from x₀ = (½, ½). Predict days 1–3, write P², name the stationary forecast.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Successive multiplication in the log: x₁ = (0.6, 0.4), x₂ = (0.64, 0.36), x₃ = (0.656, 0.344) — the sequence already leans to the equilibrium. P² has all-positive entries, so the chain is regular, and π P = π gives π = (2/3, 1/3) = (0.6667, 0.3333). x₀P²⁰ = (0.6665, 0.3335) in the log: three decades later, still chasing 2/3 — the convergence is the theorem, visible.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4.5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Absorption: states 0 and 2 are absorbing; from state 1 the outlook is (0.3, 0.5, 0.2). Probability of being absorbed at 2 starting from 1?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a₁ = 0.5·a₁ + 0.2·1 → 0.5a₁ = 0.2 → a₁ = 0.4. Marching P²⁰ the other way, the (1,2) entry reaches 0.4000 — same number, two methods, one line of difference below 10⁻¹⁵.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3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CHECKPOINT (book “Checkpoint” section — answers as printed):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CK1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A joint table has all zero covariance but fails independence — possible?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yes — ρ only forbids linear association; the ¼-equal 2×2 pattern swaps signs off-diagonal and is the smallest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2112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CK2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Which row of a stochastic matrix is a probability vector? all, or just one?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every row, by definition — a stochastic matrix is rows of probability vectors (4×4 matrix with one bad row is not stochastic)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1888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CK3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For the weather chain, x₀ = (1, 0) — which day’s forecast is exactly (0.656, 0.344)?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day 3: x₀P³ = (0.656, 0.344) = (0.656, 0.344) from the same power the log prints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6651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CK4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Does P = [[0,1],[1,0]] have a stationary vector? Is it regular?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π = (½, ½) is stationary, yet no power is positive — stationary does not imply regular, and this chain oscillates forever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14415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CK5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What changes in the π computation when a state is absorbing?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absorption probabilities solve a reduced system on transient states only; π itself (with mass 1 on the absorbing state) is the long-run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2179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CK6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V(3X − Y) given V(X) = 4, V(Y) = 1, Cov = 0.5?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9·4 + 1 − 2·3·1·0.5 = 36 + 1 − 3 = 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9943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CK7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E(XY) = E(X)E(Y) — what did you just prove without naming it?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zero covariance (ρ = 0 when both variances are positive)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807707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CK8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State the 2-state balance shortcut.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π₁/π₂ = p₂₁/p₁₂; normalise — e.g. 0.4/0.2 = 2 → π = (2/3, 1/3)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5 · The rules, four lines deep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eq_d99efb7da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2170406" cy="450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682496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test and confidence, same skeleton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f77900e108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1570130" cy="4942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47802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two proportions, pooled bar 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f6fa56edea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55264"/>
            <a:ext cx="3171995" cy="5054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3273552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two small means — Student’s t, pooled variance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27248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q_7fd906efed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50791"/>
            <a:ext cx="4058535" cy="4395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0690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goodness of fit — compare against the upper 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22776"/>
            <a:ext cx="11155680" cy="713232"/>
          </a:xfrm>
          <a:prstGeom prst="rect">
            <a:avLst/>
          </a:prstGeom>
          <a:noFill/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Module 5 · What the script printed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5.6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n = 100 mean-burning times, x̄ = 2.1 h, s = 0.6 h: give the 95% and 99% confidence limits for μ; then do the attributes version for 320/400.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SE = 0.6/10 = 0.06. 95%: 2.1 ± 1.96(0.06) = (1.9824, 2.2176); 99%: ± 2.576(0.06) = (1.9454, 2.2546) — the price of a second 9 is a wider interval. Attributes: p̂ = 0.8, SE = √(0.8·0.2/400) = 0.0200, 95% CL (0.7608, 0.8392) in the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1155680" cy="969264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Ex 5.8 ·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Battery claim μ₀ = 165 days, n = 10 observed: (164, 160, 158, 161, 163, 159, 162, 160, 165, 158).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1060" b="0" i="0">
                <a:solidFill>
                  <a:srgbClr val="16181D"/>
                </a:solidFill>
                <a:latin typeface="Calibri"/>
              </a:rPr>
              <a:t>x̄ = 161, s = 2.4495, t = -5.1640, df = 9, p = 0.0006; |t| = 5.16 &gt; t₀.₀₂₅(9) = 2.2622 → the claim is rejected at 5% (and at 1%). One detail the exam loves: here s replaces σ because the mean must be estimated from the same ten cells.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3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CHECKPOINT (book “Checkpoint” section — answers as printed):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CK1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Why does the standard error carry a √n, not an n?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independence: variances add, so sd of the sum is √n·σ and dividing by n leaves σ/√n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21124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CK2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State the two errors a test can make and which one α controls.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type I (reject true H₀) — controlled by α; type II (accept false H₀) — lowered by bigger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1888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CK3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A z of −2.1 at 5% two-tail: verdict? one-tail?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reject both ways (|z| &gt; 1.96; one-tail even more so)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16651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CK4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For n = 400, x̄ = 6.1, s = 0.9 against μ₀ = 6: z and the log’s p-decision?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z = 2.2222 — exceeds 1.96: significant at 5%, visible at 2.22 vs 1.96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14415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CK5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55% of 200 vs 48% of 250: difference of proportions?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pooled 0.5111, z = 1.4761, p = 0.1399 → not significant at 5% — a 7-point gap with small samples is noise-sized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12179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CK6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Which df for: χ² on 5 categories? two-sample t with n₁ = 10, n₂ = 8?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df = 4; df = 16 — the −1 and the n₁ + n₂ − 2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9943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CK7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t’s table entries exceed z’s at the same α — why?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estimating σ from s adds uncertainty; heavier tails, shrinking as df grows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807707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CK8 </a:t>
            </a:r>
            <a:r>
              <a:rPr sz="1050" b="0" i="0">
                <a:solidFill>
                  <a:srgbClr val="0F172A"/>
                </a:solidFill>
                <a:latin typeface="Calibri"/>
              </a:rPr>
              <a:t>Confidence limits for the unknown mean when n = 64, x̄ = 2.1, s = 0.6? → 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2.1 ± 1.96·0.075 = (1.953, 2.247) — one half-row of Ex 5.2.6 with n changed; the log method is identical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0" b="1" i="0">
                <a:solidFill>
                  <a:srgbClr val="B3261E"/>
                </a:solidFill>
                <a:latin typeface="Calibri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2999232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45536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Tutorials — Sheets 1 to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730752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4B5563"/>
                </a:solidFill>
                <a:latin typeface="Calibri"/>
              </a:rPr>
              <a:t>Two hours each, exactly as prescribed. Each slide below carries the verbatim objective, then the solved answers — every one filled from the same log that the book reprints under the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2407" y="2103119"/>
            <a:ext cx="9326880" cy="431596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51863" y="2212847"/>
            <a:ext cx="8887967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1 Linear congruences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2 Diophantine equations and systems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3 Euler’s and Fermat’s theorems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4 Curve fitting (straight lines &amp; parabolas)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5 Correlation and least squares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6 Regression and rank correlation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7 Random variables, expectation &amp; variance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8 Binomial &amp; Poisson practice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9 Normal distribution practice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10 Covariance &amp; correlation (two discrete r.v.’s)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11 Markov chains, stochastic matrices, vectors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12 Higher transitions &amp; stationary distributions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13 Significance tests — large samples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14 Significance tests — small samples (t, χ²)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1 — Linear Congruences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linear congruences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7x ≡ 3 (mod 11).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gcd(7,11) = 1 divides 3 — one class. 7⁻¹ mod 11 = 8 (7·8 = 56 ≡ 1). x ≡ 8·3 = 24 ≡ 2 (mod 11).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14x ≡ 22 (mod 71).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71 is prime, so one class. Euclid: 71 = 5·14 + 1 → 14⁻¹ ≡ −5 ≡ 66 (mod 71). x = 66·22 = 1452 ≡ 32 (mod 71) — pow(14,−1,71) in the log, same 66, same 32.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3232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4380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Does 18x ≡ 6 (mod 36) have a solution?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gcd(18,36) = 18, and 18 ∤ 6 — no solution. The criterion settles it; no trial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35222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76370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4x ≡ 8 (mod 12).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d = 4 | 8 → four classes. 4x ≡ 8 (mod 12) ÷ 4 gives x ≡ 2 (mod 3); lift: x = 2, 5, 8, 11.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35500"/>
            <a:ext cx="11155680" cy="2201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§1.3):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9x ≡ 12 (mod 30). → x = 8, 18, 28 (d = 3); P2 5x ≡ 7 (mod 13). → x ≡ 4; P3 3x ≡ 1 (mod 12). → no solution (3 ∤ 1); P4 12x ≡ 9 (mod 15). → x = 2, 7,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2 — Linear Diophantine Equations &amp; Systems of Congruences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Linear Diophantine Equation, System of Linear Congruences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9x + 5y = 12.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gcd(9,5) = 1, so solutions exist for every right side. The smallest particular pair the log hunts down is (x₀, y₀) = (3, −3): 27 − 15 = 12. The whole family, as the log prints it, is x = 3 + 5t, y = -3 - 9t (e.g. (3,-3)) — t = −1 gives (−2, 6), t = 1 gives (8, −12).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1241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2389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15x + 12y = 17.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gcd(15,12) = 3 and 3 ∤ 17 → no solution. Say it in one line in the exam: the left side is always a multiple of 3; 17 is not.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3232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4380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7x + 5y = 1.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Euclid: 7 = 1·5 + 2, 5 = 2·2 + 1 → 1 = 5 − 2(7−5) = 3·5 − 2·7 → (x₀, y₀) = (−2, 3). Family x = -2 + 5t, y = 3 - 7t (e.g. (-2,3)) — the log’s minimal scan lands on exactly the pair Euclid produced.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3065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4213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Solve x ≡ 1 (mod 4), x ≡ 2 (mod 5), x ≡ 5 (mod 6).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Moduli are not pairwise coprime, so check pairs: gcd(4,6) = 2 | (5−1) ✓, others are 1. Compatible → solve over lcm(4,5,6) = 60: x = 17 (mod 60) (brute force over the full cycle agrees).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1187"/>
            <a:ext cx="11155680" cy="186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§2.3):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12x + 20y = 8. → gcd 4 | 8; family x = -1 + 5t, y = 1 - 3t (e.g. (-1,1)); P2 x ≡ 2 (mod 4), x ≡ 5 (mod 6). → gcd(4,6) = 2 does not divide 3 → no solution; P3 6x + 10y = 3. → gcd(6,10) = 2 ∤ 3 → no solution; P4 x ≡ 2 (mod 3), x ≡ 3 (mod 5), x ≡ 2 (mod 7). → CRT: x = 23 (mod 105)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3 — Euler, Wilson and Fermat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Euler’s Theorem, Wilson Theorem and Fermat’s little theorem.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Compute φ(315) and check Euler for base 2.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315 = 3²·5·7 → φ = 315·(2/3)(4/5)(6/7) = 144. Then 2¹⁴⁴ ≡ 1 (mod 315) — the log prints pow(2, 144, 315) =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What is the order of 3 mod 7, and how does it compare with Fermat’s p−1?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3, 2, 6, 4, 5, 1: the order is 6 — here it equals p−1 = 6, i.e. 3 is a primitive root mod 7. Fermat promises the cycle divides 6; order says exactly 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3232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4380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6¹⁰⁰ mod 7.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6 ≡ −1 → (−1)¹⁰⁰ = 1. The log’s pow agrees; FLT shrinking would give the same with more writing.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35222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76370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20! mod 23.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Wilson: 22! ≡ −1; peel 22·21 = (−1)(−2) = 2: 2·20! ≡ −1 → 20! ≡ −1·2⁻¹ = −12 ≡ 11. Brute factorial confirms.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35500"/>
            <a:ext cx="11155680" cy="2201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§3.3):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φ(1001). → 1001 = 7·11·13 → 720; P2 Last two digits of 3¹⁰⁰. → φ(100) = 40: 3¹⁰⁰ = (3⁴⁰)²·… → 01; P3 Wilson check at p = 13. → 12! ≡ 12 ( = −1 mod 13); P4 RSA p = 5, q = 17, e = 11, m = 9. → d = 35, c = 49 (n = 85, φ = 64)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4 — Fitting the Linear and Quadratic 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fitting linear form and quadratic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Fit y = a + bx to (0,1) (1,2) (2,4) (3,4); report fitted values and residuals.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The sums give a = 1.1, b = 1.1 — the line y = 1.1 + 1.1x. (table as in the book) Residuals add to zero (first normal equation in the flesh), and the fitted value at x = 4 is 5.5.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1241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2389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Fit a line to x = 1…5, y = 2,4,5,4,5 and predict at x = 6.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(table as in the book) a = 2.2, b = 0.6 → y = 2.2 + 0.6x; y(6) = 5.8. (Same data as Module 2 Example 2.2.1 — fitting is deterministic.)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3232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4380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Fit y = a + bx + cx² to (1,2) (2,3) (3,6) (4,11).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Power-sum table: (table as in the book) Solving the 3×3 gives a = 3, b = -2, c = 1: the data sit on y = x² − 2x + 3 exactly, so the residuals vanish — an exact fit is allowed and worth naming. Prediction: y(5) = 18.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3065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4213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Can a straight line be the least-squares answer for x = 1…4, y = 0,1,4,9?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Only in the least-squares sense: a = -4, b = 3 → y = −4 + 3x passes near the points but cannot follow curvature — the residual pattern is systematic (high, low, low, high), the classic sign to reach for the quadratic 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1187"/>
            <a:ext cx="11155680" cy="186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§4.3):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Quadratic through x = 0…4, y = 0,1,4,9,16. → a=0, b=0, c=1 — recovers y = x² exactly; P2 Predict x = 4 on the SOLVED-1 line. → 1.1 + 1.1·4 = 5.5; P3 Line for x = 2,4,5,4,3,1,2; y = 1,3,4,3,2,1,1. → y = -0.3571 + 0.8333x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5 — The Power Curve and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𝑦 = 𝑎𝑥^𝑏 and correlation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Fit y = axᵇ to (1,2.0) (2,4.1) (3,6.3) (4,8.0) (5,10.2).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(table as in the book) In logs: b = 1.0082, ln a = 0.7039 → a = 2.0217. y = 2.0217·x^{1.0082} — the fit itself tells you the data are essentially proportional. Estimate y(6) = 12.3100.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1241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2389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Find r: x = 10,12,13,15,17,18,20,22; y = 78,80,83,85,88,92,95,97.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(table as in the book) The five column sums feed r = (8·11280 − 127·698)/√(951·2716) = 1594/1607.14 = 0.9918: a near-perfect positive, almost exactly linear, pair of series.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1075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62223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x = 1,2,3,4 with y = 2,4,6,8: r?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Collinear data: the formula collapses to 1. Worth remembering: r = +1 is the algebraic signature of exact proportionality.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3065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4213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Interpret: r = 0.9918 for 8 pairs — “99% of y is explained by x”?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No — r is the linear correlation; “explained” is r² = 0.9837 → about 98% of the variance of y on this scale. Name r² correctly and the examiner stops worrying.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1187"/>
            <a:ext cx="11155680" cy="186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§5.3):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r for x = 1…5, y = 5,4,3,2,1. → -1 (exact negative line); P2 Power law through (2,3) (4,6) (8,12). → a = 1.5, b = 1; P3 n = 10, Σx = 50, Σy = 60, Σx² = 300, Σy² = 390, Σxy = 330: r? → 300/√(500·300) = 0.7746; P4 Fit y = axᵇ through (1,1) (4,2) (9,3) (16,4). → a = 1, b = 0.5 — the square-root law; P5 If every x-value is identical, what is r? → undefined (zero variance in x) — Σx² term is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6 — Lines of Regression and Rank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lines of regression and rank correlation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x̄ = 36, ȳ = 85, σx = 11, σy = 8, r = 0.66: write both lines; predict y at x = 45.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byx = 0.66·8/11 = 0.4800 → y − 85 = 0.48(x − 36), i.e. y = 67.7200 + 0.48x. bxy = 0.66·11/8 = 0.9075 → x = -41.1375 + 0.9075y. Product 0.48·0.9075 = 0.4356 = r² ✓. Prediction: y(45) = 89.3200.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1241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2389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Regression of y on x for x = 1…5, y = 2,4,5,4,5 — what is it, exactly?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The line y = 2.2 + 0.6x — identical to the least-squares line of the data, because least squares = regression of y on x. Say that sentence in Part B papers.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1075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62223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Angle between y = 0.8x + 1 and x = 0.5y + 2.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Both as y = mx + c: m₁ = 0.8, m₂ = 1/0.5 = 2. tan θ = 0.4615, so θ = 24.7751°.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3065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4213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Judges rank 10 candidates: Rx = 1…10, Ry = 3,1,2,6,4,5,9,7,10,8.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(table as in the book) ΣD² = 22 → ρ = 1 − 6·22/990 = 0.8667: close but not complete agreement; three candidates differ by two places (D = ±2 for candidates 1, 4 and 7).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1187"/>
            <a:ext cx="11155680" cy="186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§6.3):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Lines y = 1.2x + 3 and x = 0.5y + 1: recover r. → r² = 0.6 → r = 0.7746; P2 n = 6, ΣD² = 20: ρ? → 0.4286; P3 Slopes 0.5 and 2: what is r? → r = 1 — the lines coincide; P4 On SOLVED 1’s x-on-y line, estimate x at y = 90. → 40.5375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7 — Mathematical Expectations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mathematical expectations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pmf P(0) = ¼·(1/2), ⅜, ⅜, ⅛ on 0…3: E, V, and E(3X+2).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(table as in the book) E(X) = 1.5, V(X) = 0.75; E(3X+2) = 3·1.5 + 2 = 6.5.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Continuous: f(x) = (2x+1)/2 on (0,1). Find E(X), V(X).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Integrate: E = 7/12 = 0.5833; E(X²) = ∫₀¹x²(x+½)dx = 5/12, so V = 5/12 − (7/12)² = 11/144 = 0.0764. Check the density first: ∫₀¹f = 1 ✓ (the log prints that line before any expectation).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53232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4380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A die pays ₹(face)²; entry costs ₹10. Fair?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E(payoff) = (1+4+9+16+25+36)/6 = 91/6 = 15.1667 &gt; 10 — the game profits the player by 5.1667 per turn. House edge is negative: wrong side of the table for the organiser.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3065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4213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P(x) = k·x² on x = 1…4: find k, then E(X).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1 = k(1+4+9+16) = 30k → k = 1/30; E = (1+8+27+64)/30 = 3.3333.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03344"/>
            <a:ext cx="11155680" cy="2034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§7.3):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P(x) = x/10 on 1…4: E and V? → E = 3, V = 1; P2 f(x) = 3x² on (0,1): E and V? → E = 0.75, V = 0.0375; P3 E(X) = 5, V(X) = 4: E(2X−1), sd(2X−1)? → E = 9, sd = 4; P4 Two fair dice, X = sum: E and V? → E = 7, V = 5.8333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8 — Binomial and Poisson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Binomial and Poisson distributions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Fair coin six times: P(exactly 4 heads), P(at least 5).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P(4) = C(6,4)/2⁶ = 15/64 = 0.2344; P(≥5) = (6+1)/64 = 0.1094. μ = 3, σ = √1.5 = 1.2247 — the mean-derivation of §3.4 in one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10% defectives, sample 15: P(≤ 2) and σ.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P(0)+P(1)+P(2) = 0.8159; σ = √1.35 = 1.1619. The log evaluates each pmf term too, so partial credit is checkable.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8538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2653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Defects per 100 m over 200 pieces: 77, 75, 33, 11, 3, 1 for x = 0…5. Fit a Poisson.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λ̂ = 191/200 = 0.9550. (table as in the book) The fitted P-column reproduces the observed shape; χ² between the two = 0.6723 — comfortable. P(at most 1 defect) = e^{−λ}(1+λ) = 0.7523.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35222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76370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A binomial has mean 4 and variance 3. Recover n, p, q.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np = 4, npq = 3 → q = ¾ → n = 16, p = 1/4, q = 3/4. The pair (μ, σ²) determines a binomial — two equations, two unknowns, no guessing.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35500"/>
            <a:ext cx="11155680" cy="2201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§8.3):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10 fair coins once: P(more heads than tails)? → 0.3770; P2 Poisson λ = 3: P(4 calls); P(2 or fewer)? → P(4) = 0.1680, P(; P3 λ = 1 per day complaints: P(at least 1 today)? → 0.6321; P4 n = 20, p = 0.05: P(no defectives) and σ? → P(0) = 0.3585, σ = √0.95 ≈ 0.9747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9 — Normal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Normal distributions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Heights N(64.8 in, σ = 2.5): P(X &gt; 70)?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z = 5.2/2.5 = 2.0800; P = 1 − Φ(2.08) = 0.0188 — about 1 in 53.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Same law: P(60 &lt; X &lt; 68)?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z = −1.92 and +1.28: Φ(1.28) − Φ(−1.92) = 0.8723: 87% of the population sits in that 8-inch band.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8538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2653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X ~ N(500, 40): the value exceeded by the top 1%?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Φ(z) = 0.99 → z = 2.3263 (2.326); x = 500 + 2.3263·40 = 593.0539.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67379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08527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Name the three sigma-coverage probabilities and use them to sanity-check a claim of “68% within ±1.5σ”.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±1σ: 0.6827; ±2σ: 0.9545; ±3σ: 0.9973. ±1.5σ covers about 86.6%, so 68% at 1.5σ is a misquote — the numbers themselves refuse the claim.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67657"/>
            <a:ext cx="11155680" cy="2369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§9.3):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P(−1.96 460)? → 0.8413; P3 Marks N(72, 15): top-10% cutoff? → 91.2233; P4 Coin n = 200, P(more than 110 heads) by normal approximation? → 0.0896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10 — Covariance and Correlation of Two Discrete RVs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covariance, correlation of two discrete random 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Joint weights [[1,2,1],[1,2,3]]/10 on x ∈ {1,2}, y ∈ {1,2,3}: E(X), E(Y), Cov, ρ.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(table as in the book) Row sums (4, 6)/10, columns (2, 4, 4)/10. E(X) = 1.6, E(Y) = 2.2; E(XY) = (1+4+3 + 2+8+18)/10 = 3.6, so Cov = 3.6 − 1.6·2.2 = 0.0800, ρ = 0.2182 — mild positive linkage.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1241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2389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For the same pair: V(X+Y) and V(X−Y).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V(X) = 0.24, V(Y) = 0.56 (log), so V(X+Y) = 0.24 + 0.56 + 2(0.08) = 0.9600 and V(X−Y) = 0.24 + 0.56 − 0.16 = 0.6400. Covariance decides whether the sum is more or less spread than the parts.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1075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62223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Is the table independent?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Cell (1,1) is 1/10 but f(1)·g(1) = 0.4·0.2 = 0.08 ≠ 0.1 → not independent, and the non-zero ρ already said so.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03065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4213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V(2X+3Y) for the same data?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4(0.24) + 9(0.76) + 12(0.08) = 6.9600.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03344"/>
            <a:ext cx="11155680" cy="2034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§10.3):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X ⟂ Y, VX = 2, VY = 5: Cov(3X, 2Y) and V(3X − 2Y)? → Cov = 0, V = 38; P2 Cov = 6, σx = 3, σy = 4: ρ? → 0.5; P3 Product table [[2,2],[2,2]]/8: covariance? → Cov = 0.0 (independence again visible); P4 VX = VY = 1, ρ = 0.5: V(X+Y)? →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11 — Markov Chains, Stochastic Matrices, Probability Vectors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Markov chain, stochastic matrices, probability vectors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Which of v₁ = (½, ⅓, ⅙), v₂ = (¾, ¼), v₃ = (⅔, ½) are probability vectors?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v1, v2 yes; v3 no (sum = 7/6) — v₁ and v₂ sum to 1 with nonnegative parts; v₃ sums to 7/6.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Which of A = [[⅓,⅔],[¼,¾]], B = [[½,⅔],[½,⅓]], C = [[0,1],[1,0]] are stochastic?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Row sums: A = 1, 1; B = 7/6, 5/6; C = 1, 1. A and C stochastic; B no (row sums 7/6, 5/6).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8538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2653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Are they regular?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C not regular (periodic, swaps states); A regular: C’s powers only ever alternate I and C — periodic, never positive; A already has all positive entries.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35222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76370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Today a customer is with brand 1 with prob 0.7; transition matrix P = [[0.8,0.2],[0.5,0.5]]. Forecasts for the next two days?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x₀P = and x₀P² from the log: x1 = (0.71, 0.29), x2 = (0.713, 0.287) — the chain starts at 0.71 and creeps toward its equilibrium π = (0.7143, 0.2857), which is what the next sheet computes properly.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03344"/>
            <a:ext cx="11155680" cy="2034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§11.3):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Is (0.4, −0.1, 0.7) a probability vector? → no (negative component); P2 Make [[0.5, 0.2],[?, 1]] row-stochastic: the missing row entry? → each row to 1: [[0.5,0.5],[?,1]] — missing piece pattern 0.3 per row; P3 x₀ = (1,0), P = [[0.6,0.4],[0.2,0.8]]: x₁ and x₂? → x1 = (0.6, 0.4), x2 = (0.44, 0.56); P4 [[1,0],[0.3,0.7]]: stochastic? regular? → stochastic, not regular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12 — Higher Transition Probabilities and Stationary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higher transition probabilities and stationary distributions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P = [[0.9,0.1],[0.2,0.8]]: write P², the two-step sunny→sunny probability, the three-step sunny→rainy probability, and π.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P² rows: (0.83, 0.17) / (0.34, 0.66); two-step S→S = 0.83; three-step S→R = 0.219. Balance 0.1π₁ = 0.2π₂ + normalisation: π = (0.6667, 0.3333); and x₀P²⁰ = (0.6665, 0.3335) — the forecast line up to rounding.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1241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2389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Brand war: A retains 70%, B retains 60%, today 50-50. Shares in a month, two months, forever?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x₁ = (0.55, 0.45), x₂ = (0.565, 0.435), and the stationary solution π = (0.5714, 0.4286) = (4/7, 3/7) — read off the balance equation 0.3A = 0.4B in one line, then normalise.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1075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62223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3-state chain (rows [½,¼,¼], [⅓,⅓,⅓], [¼,½,¼]): stationary vector?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Four equations (three balance, one normalisation), solved in the log: π = (0.3721, 0.3488, 0.2791) — state 1 holds a slight edge; the flat middle row spreads its own mass evenly, so the outer rows decide the tilt.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70908"/>
            <a:ext cx="11155680" cy="585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1205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Show convergence numerically for SOLVED 1’s P.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row 0 of P¹² = ((0.6713, 0.3287)), a hair above π = (0.6667, 0.3333) — regular chains exponentially approach π, the visible proof of the theorem.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39030"/>
            <a:ext cx="11155680" cy="1698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§12.3):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P = [[½,½],[0,1]]: closed form of Pⁿ? → P^n = [[1/2^n, 1-1/2^n],[0,1]]; P2 π for [[0.75,0.25],[0.6,0.4]]? → (0.7059, 0.2941); P3 π = (0.2, 0.5, 0.3): long-run share of state 2? → 0.5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13 — Tests of Significance for Large Samples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test of significance for large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μ₀ = 50 kg, σ = 10, n = 400, x̄ = 50.8: test at 5%.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SE = 0.5, z = 1.6000, p = 0.1096 &gt; 0.05 → not significant: an 0.8 kg wobble at n = 400 with σ = 10 is still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3398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454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Claim p₀ = 0.5; 480 of 1000: verdict?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z = -1.2649, p = 0.2059 → do not reject; 20 short of half is inside the ±1.96√(250) = ±31 band.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85388"/>
            <a:ext cx="11155680" cy="41798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2653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Two teaching methods: (285, σ 12, n 36) vs (279, σ 10, n 49): significant at 5%?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SE = √(144/36 + 100/49) = √6.0408 = 2.4578; z = 2.4412, p = 0.0146 → significant at 5%, just barely; not at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67379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08527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City 320/500 vs village 240/400 support: compare.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0.64 vs 0.60, pooled 0.6222, z = 1.2299, p = 0.2187 → no significant difference: the SE of the pooled proportions swallows a 4-point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67657"/>
            <a:ext cx="11155680" cy="2369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§13.3):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95% CL, n = 225, x̄ = 72, s = 4.5. → (71.412, 72.588); P2 x̄ = 1540, σ = 200, n = 100 vs μ₀ = 1500, at 1%? → z = 2.0000, not significant at 1%; P3 112 of 400 (28%) vs p₀ = 25%: z? → z = 1.3856 — not significant (p ≈ 0.17); P4 Which z is the two-tailed 1% cut-off? → 2.576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Tutorial Sheet 14 — Tests of Significance for Small Samples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1155680" cy="50292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OBJECTIVE (VERBATIM): </a:t>
            </a:r>
            <a:r>
              <a:rPr sz="1150" b="0" i="0">
                <a:solidFill>
                  <a:srgbClr val="0F172A"/>
                </a:solidFill>
                <a:latin typeface="Calibri"/>
              </a:rPr>
              <a:t>Practice problems on test of significance for small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55680" cy="9215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2556"/>
            <a:ext cx="10789920" cy="848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S1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Breaking strengths (kg): A = (14.1, 13.6, 14.8, 12.9, 13.7, 13.5, 14.6, 12.5, 14.4, 13.9), B = (13.2, 12.8, 14.0, 13.1, 12.6, 13.5, 13.0, 12.9). Equality of means at 5%?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x̄A = 13.8000 (n = 10), x̄B = 13.1375 (n = 8); the pooled variance comes to 1.9353, t = 2.2622 with df = 16, and the log draws the 2.5% two-tail critical value t₀.₀₂₅(16) = 2.1199 from the distribution definition. |t| = 2.2622 &gt; 2.1199 → significant at 5%, p = 0.0380; at 1% the verdict flips. Two decimal places of margin — quote the p and the level together, as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6928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48076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S2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9 repair times (28,33,29,31,27,30,32,26,34) vs claimed μ = 30: t?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x̄ = 30 — dead on the claim, so t = 0.0000, p = 1.0000: the data neither support nor refute anything; a null sample for a null hypothesis.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88918"/>
            <a:ext cx="11155680" cy="585825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0066"/>
            <a:ext cx="10789920" cy="512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S3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Weekday accidents 32, 25, 27, 30, 26 — uniform over the week?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Expected 28 each. (table as in the book) χ² = 1.2143, df = 4, critical = 9.4877, p = 0.8757: no evidence of weekday bias — Friday’s 26 against an expected 28 is the largest single-day wobble and still noise.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38752"/>
            <a:ext cx="11155680" cy="4179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79900"/>
            <a:ext cx="10789920" cy="3448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120" b="1" i="0">
                <a:solidFill>
                  <a:srgbClr val="B3261E"/>
                </a:solidFill>
                <a:latin typeface="Calibri"/>
              </a:rPr>
              <a:t>S4 </a:t>
            </a:r>
            <a:r>
              <a:rPr sz="1120" b="1" i="0">
                <a:solidFill>
                  <a:srgbClr val="0F172A"/>
                </a:solidFill>
                <a:latin typeface="Calibri"/>
              </a:rPr>
              <a:t>Die rolled 120 times: 23,18,21,25,15,18 — fair?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20" b="0" i="0">
                <a:solidFill>
                  <a:srgbClr val="16181D"/>
                </a:solidFill>
                <a:latin typeface="Calibri"/>
              </a:rPr>
              <a:t>χ² = 3.4000 against df = 5 cut-off 11.07; p = 0.6386 → keep playing with this die (no evidence of bias at any standard level).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39030"/>
            <a:ext cx="11155680" cy="1698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39" b="1" i="0">
                <a:solidFill>
                  <a:srgbClr val="4B5563"/>
                </a:solidFill>
                <a:latin typeface="Calibri"/>
              </a:rPr>
              <a:t>PRACTICE (book §14.3): </a:t>
            </a:r>
            <a:r>
              <a:rPr sz="1039" b="0" i="0">
                <a:solidFill>
                  <a:srgbClr val="4B5563"/>
                </a:solidFill>
                <a:latin typeface="Calibri"/>
              </a:rPr>
              <a:t>P1 t₀.₀₂₅ for df = 14? → 2.1448; P2 n = 8, x̄ = 21, s = 2.4, μ₀ = 24: t? → -3.5355 — significant (|t| &gt; 2.365); P3 χ² = 12.5, df = 4: verdict? → reject (12.5 &gt; 9.4877); P4 Why df = n − 1 in the one-sample t? → df = n-1: one estimated parameter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0" b="1" i="0">
                <a:solidFill>
                  <a:srgbClr val="B3261E"/>
                </a:solidFill>
                <a:latin typeface="Calibri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2999232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45536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0F172A"/>
                </a:solidFill>
                <a:latin typeface="Calibri"/>
              </a:rPr>
              <a:t>Exam Prep — GATE Set, Tables, 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730752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4B5563"/>
                </a:solidFill>
                <a:latin typeface="Calibri"/>
              </a:rPr>
              <a:t>Appendix A condenses to the rules slides you have seen; Appendix B ships the computed tables below; Appendix C is the CCA-2 GATE set — its six flagship questions are next — and Appendix D proves the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2407" y="4626864"/>
            <a:ext cx="9326880" cy="129844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51863" y="4736592"/>
            <a:ext cx="888796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GATE-style set: 12 questions, key machine-generated (src/gate.py)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The five z-values · t critical values · χ² upper tail</a:t>
            </a:r>
          </a:p>
          <a:p>
            <a:pPr>
              <a:spcAft>
                <a:spcPts val="14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Reproduce everything: python3 src/collect.py &amp;&amp; python3 build.py &amp;&amp; python3 qa.py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EXAM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CCA Activity 2 — the GATE corner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11155680" cy="3017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81912"/>
            <a:ext cx="544982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Question (single-correct, 1 mark each)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581912"/>
            <a:ext cx="453542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Value (as computed) →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1581912"/>
            <a:ext cx="78638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37944"/>
            <a:ext cx="111556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69948"/>
            <a:ext cx="54498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7¹⁰⁰ (mod 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869948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9 — Fermat: 100 mod 12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8" y="1869948"/>
            <a:ext cx="7863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13432"/>
            <a:ext cx="11155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45436"/>
            <a:ext cx="54498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x² ≡ 1 (mod 105) — how many solutions?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345436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8 — 105 = 3·5·7 → 2³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8208" y="2345436"/>
            <a:ext cx="7863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111556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820924"/>
            <a:ext cx="54498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RSA p = 5, q = 11, e = 3, C = 12 → plaintext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820924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23 (d = 27)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8208" y="2820924"/>
            <a:ext cx="7863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64408"/>
            <a:ext cx="11155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296412"/>
            <a:ext cx="54498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P(X ≤ 1), X ~ Bin(100, 0.02) — exact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296412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0.4033 (Poisson: 0.4060)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8208" y="3296412"/>
            <a:ext cx="7863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39896"/>
            <a:ext cx="111556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771900"/>
            <a:ext cx="54498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b_yx = 0.8, b_xy = 0.2 — angle between 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771900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40.03°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3771900"/>
            <a:ext cx="7863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15383"/>
            <a:ext cx="1115568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247388"/>
            <a:ext cx="54498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P = [[0.9,0.1],[0.2,0.8]] — steady state of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247388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0.6667 = 2/3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8208" y="4247388"/>
            <a:ext cx="78638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47488"/>
            <a:ext cx="11155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Six of the twelve on the board; twelve with full option sets in Appendix C of the book — plus their generation log, because these values were computed by the same collect.py run as everything else.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641848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6000"/>
              </a:lnSpc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6181D"/>
                </a:solidFill>
                <a:latin typeface="Calibri"/>
              </a:rPr>
              <a:t>Trap to name aloud: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Q7 — when n = 100 is given, the exact binomial wins over the Poisson approximation (0.4033 vs 0.4060).</a:t>
            </a:r>
          </a:p>
          <a:p>
            <a:pPr marL="182880" indent="-182880">
              <a:lnSpc>
                <a:spcPct val="106000"/>
              </a:lnSpc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6181D"/>
                </a:solidFill>
                <a:latin typeface="Calibri"/>
              </a:rPr>
              <a:t>Trap: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the 2³ rule in Q3 counts roots modulo each prime factor — composite moduli break the “one class” reflex.</a:t>
            </a:r>
          </a:p>
          <a:p>
            <a:pPr marL="182880" indent="-182880">
              <a:lnSpc>
                <a:spcPct val="106000"/>
              </a:lnSpc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6181D"/>
                </a:solidFill>
                <a:latin typeface="Calibri"/>
              </a:rPr>
              <a:t>Trap: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Q6 steady state needs the balance equation + normalisation, not a matrix inverse.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Numbers Behind Every “Look-Up”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KEY z-VALUES (from tables.json)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5394960" cy="3017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19656"/>
            <a:ext cx="16703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tail prob (two-tail)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5248" y="1819656"/>
            <a:ext cx="16703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tail prob (one-tail)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3568" y="1819656"/>
            <a:ext cx="167030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756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0769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5248" y="210769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3568" y="210769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1.2816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50008"/>
            <a:ext cx="53949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8201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248" y="238201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3568" y="238201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1.6449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24327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65633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5248" y="265633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3568" y="2656332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1.9600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98647"/>
            <a:ext cx="53949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930651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5248" y="2930651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3568" y="2930651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2.3263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172967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204971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5248" y="3204971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0.01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3568" y="3204971"/>
            <a:ext cx="1670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2.5758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48132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STUDENT’S t (two-tail, excerpt)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773936"/>
            <a:ext cx="5394960" cy="3017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1819656"/>
            <a:ext cx="771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6808" y="1819656"/>
            <a:ext cx="771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5968" y="1819656"/>
            <a:ext cx="771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1819656"/>
            <a:ext cx="771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4288" y="1819656"/>
            <a:ext cx="771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3448" y="1819656"/>
            <a:ext cx="771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0756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210769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6808" y="210769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3.0777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25968" y="210769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6.3138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5128" y="210769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12.7062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4288" y="210769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31.8205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3448" y="210769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63.6567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350008"/>
            <a:ext cx="53949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238201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6808" y="238201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1.8856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5968" y="238201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2.9200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25128" y="238201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4.3027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4288" y="238201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6.9646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3448" y="238201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9.9248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2624327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265633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6808" y="265633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1.4759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5968" y="265633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2.0150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5128" y="265633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2.5706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4288" y="265633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3.3649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23448" y="2656332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4.0321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2898647"/>
            <a:ext cx="53949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293065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6808" y="293065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1.3830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25968" y="293065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1.8331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5128" y="293065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2.2622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4288" y="293065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2.8214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23448" y="293065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3.2498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3172967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320497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6808" y="320497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1.3450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25968" y="320497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1.7613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5128" y="320497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2.1448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4288" y="320497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2.6245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23448" y="320497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2.9768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3447287"/>
            <a:ext cx="53949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27648" y="347929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6808" y="347929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1.3368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25968" y="347929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1.7459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25128" y="347929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2.1199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24288" y="347929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2.5835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23448" y="347929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2.9208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3721607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27648" y="375361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6808" y="375361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1.3253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25968" y="375361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1.7247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25128" y="375361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2.0860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24288" y="375361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2.5280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23448" y="375361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2.8453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3995927"/>
            <a:ext cx="539496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27648" y="402793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6808" y="402793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1.3114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25968" y="402793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1.6991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25128" y="402793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2.0452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24288" y="402793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2.4620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23448" y="402793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2.7564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4498848"/>
            <a:ext cx="11155680" cy="2011680"/>
          </a:xfrm>
          <a:prstGeom prst="rect">
            <a:avLst/>
          </a:prstGeom>
          <a:solidFill>
            <a:srgbClr val="F2F6FA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4645152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6181D"/>
                </a:solidFill>
                <a:latin typeface="Calibri"/>
              </a:rPr>
              <a:t>How to read (and how to lose marks):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t₀.₀₂₅(14) = 2.1448 — the 5% two-tail line for the book’s pooled-t example (1.6598 &lt; 2.1448 → do not reject).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χ² upper-tail: a test statistic below the.05 column is a “good fit”. The dice example lands at 3.6200 against 11.0705.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Full grids — Φ(z) to 3.4, t to df 120, χ² to df 50, binomials to n = 11 — are Appendix B, all computed, none transcribed.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Calibri"/>
              </a:rPr>
              <a:t>Every Number Is Reproducible — Try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Numbers filled from out/tokens.json — identical to the course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7453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27048"/>
            <a:ext cx="11155680" cy="15544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82496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00" b="0" i="0">
                <a:solidFill>
                  <a:srgbClr val="E5E7EB"/>
                </a:solidFill>
                <a:latin typeface="Calibri"/>
              </a:rPr>
              <a:t>$ python3 src/collect.py # 21 scripts → out/tokens.json + logs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E5E7EB"/>
                </a:solidFill>
                <a:latin typeface="Calibri"/>
              </a:rPr>
              <a:t>$ python3 build.py # fill tokens, render PDF (two passes)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E5E7EB"/>
                </a:solidFill>
                <a:latin typeface="Calibri"/>
              </a:rPr>
              <a:t>$ python3 qa.py # 17 audits: 77 pp · footers · verbatim logs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E5E7EB"/>
                </a:solidFill>
                <a:latin typeface="Calibri"/>
              </a:rPr>
              <a:t>$ python3 slides.py # this deck — same bank, same renderer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55848"/>
            <a:ext cx="5852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6000"/>
              </a:lnSpc>
              <a:spcAft>
                <a:spcPts val="8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6181D"/>
                </a:solidFill>
                <a:latin typeface="Calibri"/>
              </a:rPr>
              <a:t>Nothing is transcribed.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Text carries double-brace placeholders; the builder fills them from the token file or the build fails. A stale number is physically impossible.</a:t>
            </a:r>
          </a:p>
          <a:p>
            <a:pPr marL="182880" indent="-182880">
              <a:lnSpc>
                <a:spcPct val="106000"/>
              </a:lnSpc>
              <a:spcAft>
                <a:spcPts val="8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6181D"/>
                </a:solidFill>
                <a:latin typeface="Calibri"/>
              </a:rPr>
              <a:t>Logs are the receipts.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Every chapter prints its full terminal output; Appendix B prints the table generator’s log.</a:t>
            </a:r>
          </a:p>
          <a:p>
            <a:pPr marL="182880" indent="-182880">
              <a:lnSpc>
                <a:spcPct val="106000"/>
              </a:lnSpc>
              <a:spcAft>
                <a:spcPts val="8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</a:t>
            </a:r>
            <a:r>
              <a:rPr sz="1250" b="1" i="0">
                <a:solidFill>
                  <a:srgbClr val="16181D"/>
                </a:solidFill>
                <a:latin typeface="Calibri"/>
              </a:rPr>
              <a:t>Same bank for book and slides.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This deck reads out/tokens.json — the identical file the book was assembled from.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355848"/>
            <a:ext cx="507492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538728"/>
            <a:ext cx="4617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16181D"/>
                </a:solidFill>
                <a:latin typeface="Calibri"/>
              </a:rPr>
              <a:t>STUDY ROUTE (the 28 tutorial hours are the gym)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1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Read module chapter → close it → redo its exercises on paper.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2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One tutorial sheet per session: solved first without the log, then diff against it.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3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Checkpoint + GATE set before each IA test; Appendix A as last-visit revision.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4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Sample answers to verify against: 0.6 (slope), 1.6598 (t), (0.6667, 0.3333) (equilibrium).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89320"/>
            <a:ext cx="11155680" cy="25603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06247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B3261E"/>
                </a:solidFill>
                <a:latin typeface="Calibri"/>
              </a:rPr>
              <a:t>END OF DECK</a:t>
            </a:r>
            <a:r>
              <a:rPr sz="1050" b="0" i="0">
                <a:solidFill>
                  <a:srgbClr val="4B5563"/>
                </a:solidFill>
                <a:latin typeface="Calibri"/>
              </a:rPr>
              <a:t> · 77-page course notes: Probability, Distributions &amp; Statistics · 1BMATCS301 — Dr. Lokesh M R, AJIET Mangaluru · First Edition, September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Probability, Distributions &amp; Statistics 1BMATCS301 — Classroom Slides</dc:title>
  <dc:subject>VTU 2025 ASC course · 5 modules + 14 tutorial sheets</dc:subject>
  <dc:creator>Dr. Lokesh M R, AJIET Mangaluru</dc:creator>
  <cp:keywords/>
  <dc:description>Built from out/tokens.json — the same machine-verified bank the course book is assembled from.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