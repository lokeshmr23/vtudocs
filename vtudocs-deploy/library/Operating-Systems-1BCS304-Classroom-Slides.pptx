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§1 concepts + demo out/os01_proc_calls.txt (course book §1.2–3). Every red value on this slide was verified against that capture by the deck build's self-check. Re-run: gcc -O0 -Wall -Wextra -std=gnu17 -o os01_proc_calls src/os01_proc_calls.c (add -pthread for the threaded demos) &amp;&amp; ./bin/os01_proc_calls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§1 concepts + demo out/os_m1_sysinfo.txt (course book §1.2–3). Every red value on this slide was verified against that capture by the deck build's self-check. Re-run: gcc -O0 -Wall -Wextra -std=gnu17 -o os_m1_sysinfo src/os_m1_sysinfo.c (add -pthread for the threaded demos) &amp;&amp; ./bin/os_m1_sysinfo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Reproduce: python3 collect.py regenerates out/os_m1_sysinfo.txt (twice — the run is kept only if both passes agree byte-for-byte); other Module 1 demos (os_m1_sysinfo, toolchain) with full transcripts are in the book's §1.2–3.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 answers for reference:</a:t>
            </a:r>
          </a:p>
          <a:p>
            <a:r>
              <a:t>Q1: Control program = manages execution to prevent errors/improper use (interfaces side); resource manager = allocates CPU/memory/IO among competing activities (efficiency side). Decision examples: control program argues for frozen stable APIs; resource manager argues for arbitration policy hooks.</a:t>
            </a:r>
          </a:p>
          <a:p>
            <a:r>
              <a:t>Q2: Several jobs live in memory at once and each issues I/O that can corrupt neighbours unless addresses are bounded and checked — the base/limit (later MMU) protection; simple batch systems ran one resident job, so protection never mattered.</a:t>
            </a:r>
          </a:p>
          <a:p>
            <a:r>
              <a:t>Q3: Process (fork/exec/wait), file (open/read/write), device (ioctl/read), information (getpid/time), communication (pipe/message). mkfifo is file management — it creates a file-system object; its USE (IPC) is the communication purpose.</a:t>
            </a:r>
          </a:p>
          <a:p>
            <a:r>
              <a:t>Q4: C wrapper parks args in rdi/rsi/rdx, executes the syscall instruction; CPU enters kernel mode, vector goes to the dispatcher entry; entry number indexes the sys_call_table; sys_getpid handler reads the task struct; return value lands in rax; sysret back to user mode with the saved PC.</a:t>
            </a:r>
          </a:p>
          <a:p>
            <a:r>
              <a:t>Q5: Robustness: a driver bug kills a user-space server, not the kernel (Mach/QNX). Cost: services now cross message boundaries instead of one call. Monolithic: Linux/UNIX (drivers in kernel), fast calls, one crash domain.</a:t>
            </a:r>
          </a:p>
          <a:p>
            <a:r>
              <a:t>Q6: pid_max 4194304 and threads-max 15835 (printed with their procfs paths); a jiffy = 1/CLK_TCK = 10 ms, since the demo prints clock ticks per second 100.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§2 concepts + demo out/os02_scheduling.txt (course book §2.2–3). Every red value on this slide was verified against that capture by the deck build's self-check. Re-run: gcc -O0 -Wall -Wextra -std=gnu17 -o os02_scheduling src/os02_scheduling.c (add -pthread for the threaded demos) &amp;&amp; ./bin/os02_scheduling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§2 concepts + demo out/os_m2_threads.txt (course book §2.2–3). Every red value on this slide was verified against that capture by the deck build's self-check. Re-run: gcc -O0 -Wall -Wextra -std=gnu17 -o os_m2_threads src/os_m2_threads.c (add -pthread for the threaded demos) &amp;&amp; ./bin/os_m2_threads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Reproduce: python3 collect.py regenerates out/os_m2_threads.txt (twice — the run is kept only if both passes agree byte-for-byte); other Module 2 demos (os02_scheduling, os_m2_threads) with full transcripts are in the book's §2.2–3.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 answers for reference:</a:t>
            </a:r>
          </a:p>
          <a:p>
            <a:r>
              <a:t>Q1: new—fork()—ready; ready—dispatch—running; running—I/O or wait()—waiting; waiting—I/O completion—ready; running—exit()—terminated; running—preemption—ready. The exit edge is what makes the capture's WIFEXITED report.</a:t>
            </a:r>
          </a:p>
          <a:p>
            <a:r>
              <a:t>Q2: The parent's wait queue entry — a zombie. The exit status lives in the retained PCB until wait() harvests it; Activity 1's three sequential reaps show the same plumbing from the parent side.</a:t>
            </a:r>
          </a:p>
          <a:p>
            <a:r>
              <a:t>Q3: FCFS order P1,P2,P3,P4: finish times 8,12,21,26 → P3 TAT=21, WT=21−9=12. The capture's P3 row reads 12 and 21 under FCFS.</a:t>
            </a:r>
          </a:p>
          <a:p>
            <a:r>
              <a:t>Q4: Under FCFS P3 runs third: wait = 8+4 = 12. Under RR it is sliced: it keeps re-entering the queue behind everyone, so its wait accumulates between its own quanta — 17 vs 12 — while every other process's first response comes within a quantum of the start. Fairness ≠ low average wait; the criteria genuinely conflict.</a:t>
            </a:r>
          </a:p>
          <a:p>
            <a:r>
              <a:t>Q5: Many-to-one: user-level switch, one block blocks all; one-to-one: kernel schedules each, blocks independent; many-to-many: multiplexed pool — blocking one user thread should free a kernel thread, requires an LW scheduler.</a:t>
            </a:r>
          </a:p>
          <a:p>
            <a:r>
              <a:t>Q6: pthread_t is opaque — printing it exposes raw addresses (unstable between runs and a small ASLR leak); pthread_equal is the defined comparison. The demo therefore counts pairs: 6 of 6 distinct, and that is the only thread-identity output in the capture.</a:t>
            </a:r>
          </a:p>
          <a:p>
            <a:r>
              <a:t>Q7: Boost prevents starvation of CPU-bound hogs (they would sit in the bottom queue forever); it invites gaming: hold the CPU just below the demotion threshold, ride the periodic boost — the known weakness of the simple rules.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§3 concepts + demo out/os_m3_peterson.txt (course book §3.2–3). Every red value on this slide was verified against that capture by the deck build's self-check. Re-run: gcc -O0 -Wall -Wextra -std=gnu17 -o os_m3_peterson src/os_m3_peterson.c (add -pthread for the threaded demos) &amp;&amp; ./bin/os_m3_peterson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§3 concepts + demo out/os05_bankers.txt (course book §3.2–3). Every red value on this slide was verified against that capture by the deck build's self-check. Re-run: gcc -O0 -Wall -Wextra -std=gnu17 -o os05_bankers src/os05_bankers.c (add -pthread for the threaded demos) &amp;&amp; ./bin/os05_bankers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Reproduce: python3 collect.py regenerates out/os05_bankers.txt (twice — the run is kept only if both passes agree byte-for-byte); other Module 3 demos (os_m3_peterson, os05_bankers) with full transcripts are in the book's §3.2–3.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 answers for reference:</a:t>
            </a:r>
          </a:p>
          <a:p>
            <a:r>
              <a:t>Q1: The progress clause is what the turn variable buys. With flags alone both processes can raise their flag and both spin on the other's — mutual exclusion survives, but nobody proceeds. turn names one of the two to wait, so exactly one enters: the loser is always the one that yielded the tie, never both blocked on each other.</a:t>
            </a:r>
          </a:p>
          <a:p>
            <a:r>
              <a:t>Q2: wait(S){S--; if S&lt;0 block/enqueue} post(S){S++; if S≤0 dequeue one waiter} (the counting form in the text's style). The blocked process is moved to that semaphore's wait queue by the kernel; it sleeps (no spin) until post wakes it.</a:t>
            </a:r>
          </a:p>
          <a:p>
            <a:r>
              <a:t>Q3: CPU store buffer can delay flag[i]=1 past turn=j — so the other core's loop test sees flag[j]=1 &amp; turn==i and enters, then the delayed store lands and both are inside; C11 seq-cst orders the two stores for all observers. Peterson is portable only on top of that promise.</a:t>
            </a:r>
          </a:p>
          <a:p>
            <a:r>
              <a:t>Q4: empty_slots=3, filled_slots=0, mutex=1. The logs are printed as two ordered blocks after both threads join: each block's sequence is program order (deterministic), the interleaving between blocks never touches the output — that is the capture-design trick, not a concurrency trick.</a:t>
            </a:r>
          </a:p>
          <a:p>
            <a:r>
              <a:t>Q5: No-ME: make resources sharable (read-only files). Hold-and-wait: request-all-up-front. No-preemption: allow forced release of a held resource. Circular-wait: impose a global acquisition order on all resource types.</a:t>
            </a:r>
          </a:p>
          <a:p>
            <a:r>
              <a:t>Q6: Work=Available {3,3,2}. P1 need {1,2,2} fits → work {5,3,2}; P3 {0,1,1} → {7,4,3}; P4 {4,3,1} → {9,5,4}; P0 {7,4,3} → {9,6,4}; P2 {6,0,0} → {15,6,6}: safe sequence P1 P3 P4 P0 P2, matching the capture. For P0's request {0,2,0}: need check passes ({0,2,0} ≤ {7,4,3}), availability passes ({0,2,0} ≤ {2,3,0}); the provisional state leaves work {2,1,0} — and no unfinished Need fits it (P1 needs 2 units of B, P2 needs 6 of A, P3 needs 1 of C, P4 needs 3 of B). Zero rows finish ⇒ unsafe ⇒ deny. Both simple checks pass and only the safety algorithm refuses: exactly why the algorithm is the interesting half.</a:t>
            </a:r>
          </a:p>
          <a:p>
            <a:r>
              <a:t>Q7: Avoidance needs Max claims up-front and runs before allocation; detection needs nothing and runs after (wait-for graph or reduction), recovery by kill or rollback. Prevention kills the four-condition conjunction statically; the ostrich just reboots.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§4 concepts + demo out/os_m4_paging.txt (course book §4.2–3). Every red value on this slide was verified against that capture by the deck build's self-check. Re-run: gcc -O0 -Wall -Wextra -std=gnu17 -o os_m4_paging src/os_m4_paging.c (add -pthread for the threaded demos) &amp;&amp; ./bin/os_m4_paging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§4 concepts + demo out/os07_pagereplace.txt (course book §4.2–3). Every red value on this slide was verified against that capture by the deck build's self-check. Re-run: gcc -O0 -Wall -Wextra -std=gnu17 -o os07_pagereplace src/os07_pagereplace.c (add -pthread for the threaded demos) &amp;&amp; ./bin/os07_pagereplace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Reproduce: python3 collect.py regenerates out/os_m4_paging.txt (twice — the run is kept only if both passes agree byte-for-byte); other Module 4 demos (os_m4_paging, os06_memfit, os07_pagereplace) with full transcripts are in the book's §4.2–3.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 answers for reference:</a:t>
            </a:r>
          </a:p>
          <a:p>
            <a:r>
              <a:t>Q1: 220 entries × 4 B = 4 MB per process. Two-level: a 4 MB top directory of PDEs (often shared/1-entry-per-4 MB region) plus a 4 KB leaf per touched region — 2 regions = one leaf each: ≈ 4 MB + 8 KB, or far less with sparse top directories — the point: the table pays only where the program pays.</a:t>
            </a:r>
          </a:p>
          <a:p>
            <a:r>
              <a:t>Q2: 0x2A5D = 10845 → p = 10, d = 605 (since 10×1024 = 10240). The table supplies f(p); d is already inside both spaces unchanged — translation only rewrites the page part, which is precisely why d never appears in the table.</a:t>
            </a:r>
          </a:p>
          <a:p>
            <a:r>
              <a:t>Q3: Internal = allocated-and-unused inside a block (page's tail = the last-page effect: avg half a page per process); external = unusable gaps between blocks (hole lists). Paging has internal, never external — frames are interchangeable.</a:t>
            </a:r>
          </a:p>
          <a:p>
            <a:r>
              <a:t>Q4: Before P3 the best-fit state is {200, 400, 100, 300, 22, 150} — hole #5 already shrank 600→174 for P1 and 174→22 for P2. The exactly-200 hole #1 beats 300 and 400 on size, so P3 gets the perfect fit (shrinks to 0). First fit never reaches this outcome because it had spent #1 on P2 already: same input row, different policy, different leftover.</a:t>
            </a:r>
          </a:p>
          <a:p>
            <a:r>
              <a:t>Q5: Take OPT's first divergence from an alleged better schedule; the page OPT evicts is by definition needed later than the one the better schedule evicted, so swapping the two victims cannot increase faults — exchange the choices, fault count unchanged or lower; induction over divergences.</a:t>
            </a:r>
          </a:p>
          <a:p>
            <a:r>
              <a:t>Q6: Reference 3 (step 6) loads over page 1 in FIFO (1 is oldest); LRU had touched 1 more recently (step 3), so LRU evicts 2 and keeps 0 — the split between the policies sits on the capture's row 6; it propagates into row 10's different victim.</a:t>
            </a:r>
          </a:p>
          <a:p>
            <a:r>
              <a:t>Q7: EAT = 0.999·100 + 0.001·8,000,000 ns = 8,099.9 ns ≈ 8.1 µs. Double p: 16,199.8 ns — EAT doubles. A single extra millisecond term dominates a 100 ns memory: that is the whole fault-rate economy.</a:t>
            </a:r>
          </a:p>
          <a:p>
            <a:r>
              <a:t>Q8: LRU's resident set with k+1 frames contains its k-frame resident set (stack property) — a hit with k is a hit with k+1, so faults are monotone in frames; FIFO's queue order is not a stack.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§5 concepts + demo out/os_m5_fsbitmap.txt (course book §5.2–3). Every red value on this slide was verified against that capture by the deck build's self-check. Re-run: gcc -O0 -Wall -Wextra -std=gnu17 -o os_m5_fsbitmap src/os_m5_fsbitmap.c (add -pthread for the threaded demos) &amp;&amp; ./bin/os_m5_fsbitmap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of truth: §5 concepts + demo out/os10_scan.txt (course book §5.2–3). Every red value on this slide was verified against that capture by the deck build's self-check. Re-run: gcc -O0 -Wall -Wextra -std=gnu17 -o os10_scan src/os10_scan.c (add -pthread for the threaded demos) &amp;&amp; ./bin/os10_scan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Reproduce: python3 collect.py regenerates out/os_m5_fsbitmap.txt (twice — the run is kept only if both passes agree byte-for-byte); other Module 5 demos (os_m5_fsbitmap, os09_linked, os10_scan) with full transcripts are in the book's §5.2–3.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 answers for reference:</a:t>
            </a:r>
          </a:p>
          <a:p>
            <a:r>
              <a:t>Q1: A named collection of bytes + kernel metadata: name, id, type, location, size, protection, owner, times. open() hands back an fd (per-process), the offset+status entries live in the system open-file table, the location/size/protection in the inode — three tables, three lifetimes.</a:t>
            </a:r>
          </a:p>
          <a:p>
            <a:r>
              <a:t>Q2: Single level: one global namespace — one test.c per system, the activity's flat table rejects the second. Two level: user-dir namespaces — user1/test.c ≠ user2/test.c, both created (19 vs 32 bytes apart in the capture); uniqueness only enforced inside each user table.</a:t>
            </a:r>
          </a:p>
          <a:p>
            <a:r>
              <a:t>Q3: fd → index in the process's open-file table → points to the system entry (offset, flags, mode, inode ptr) → in-memory inode (block map, size). The offset advances on the system entry, which is why two opens of one file read independently while two fds from one dup share it.</a:t>
            </a:r>
          </a:p>
          <a:p>
            <a:r>
              <a:t>Q4: Because first-fit on a contiguous allocator needs n ADJACENT free blocks and 5 &lt; 7. Pure linked allocation (Activity 9's method) accepts it instantly — any 7 scattered blocks work; that is the trade the two programs together prove.</a:t>
            </a:r>
          </a:p>
          <a:p>
            <a:r>
              <a:t>Q5: 12 + 1024 entries → 1036 blocks × 4 KB = 4,144 KB ≈ 4.05 MB. Byte 5,000,000 → block 1220 (offset 2,880): beyond the 12 direct entries → slot 1208 of the single-indirect block: two I/O (indirect block, then data) plus the inode fetch — the classic 'three reads for deep offsets' answer.</a:t>
            </a:r>
          </a:p>
          <a:p>
            <a:r>
              <a:t>Q6: FCFS: request order, no starvation. SSTF: nearest — starvation of far cylinders. SCAN: elevator to end — long tail for just-missed requests. C-SCAN: one-way — jump cost; C-LOOK/LOOK: skip empty travel. Linux default (mq-deadline family): C-LOOK with read deadlines.</a:t>
            </a:r>
          </a:p>
          <a:p>
            <a:r>
              <a:t>Q7: The capture's order line adds up: 16+23+14 (down to the 0 bounce) + 65+2+31+24+2+59 = 236; without the bounce at 0 the same sweep would be 208 — the 28-unit difference is the empty travel between 0 and the lowest request (14). LOOK is precisely the variant that skips it: reverse at the LAST REQUEST (14), not at cylinder 0, saving 2×14 = 28 here; on this queue every other endpoint already sits on a request, so LOOK's gain stops there — which is the honest reason the capture quotes SCAN rather than LOOK.</a:t>
            </a:r>
          </a:p>
          <a:p>
            <a:r>
              <a:t>Q8: badahead: reorders logical space around bad sectors (no remap table, every program sees fewer usable sectors). bbsmap: spare-forward table, logical addresses stable. SMART's reallocated count ⇒ the bbsmap style (drive-level remapping).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1 (7 sections). Re-run: python3 collect.py — the panel bytes come from out/os01_proc_calls.txt.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1 (book §1.6):</a:t>
            </a:r>
          </a:p>
          <a:p/>
          <a:p>
            <a:r>
              <a:t>Q1: Why does fork() return twice and exec() never return (on success)?</a:t>
            </a:r>
          </a:p>
          <a:p>
            <a:r>
              <a:t>   A: Fork runs once per address space that results — parent gets the child pid, child gets 0; exec replaces the calling image entirely, so there is no code left to return — only a -1/error return if the load fails.</a:t>
            </a:r>
          </a:p>
          <a:p>
            <a:r>
              <a:t>Q2: What did the child's extra print in demo A really demonstrate?</a:t>
            </a:r>
          </a:p>
          <a:p>
            <a:r>
              <a:t>   A: That fork copies memory including stdio buffers: the child flushed a copy of the parent's two unflushed lines before its own. fflush(NULL) before fork (demo B) removes the copy.</a:t>
            </a:r>
          </a:p>
          <a:p>
            <a:r>
              <a:t>Q3: Where does the exit status live between a child's death and the parent's wait?</a:t>
            </a:r>
          </a:p>
          <a:p>
            <a:r>
              <a:t>   A: In the retained PCB — the zombie state; wait() harvests it, which is why the codes 7, 11, 12, 13, 0 all arrive intact in this order.</a:t>
            </a:r>
          </a:p>
          <a:p>
            <a:r>
              <a:t>Q4: Could this report print real pids?</a:t>
            </a:r>
          </a:p>
          <a:p>
            <a:r>
              <a:t>   A: Not reproducibly — pids differ per run, so the program prints relationships (pid &gt; 0 in parent, 0 in child) and status codes only; a live shell with ps output can demonstrate the values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2 (7 sections). Re-run: python3 collect.py — the panel bytes come from out/os02_scheduling.txt.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2 (book §2.6):</a:t>
            </a:r>
          </a:p>
          <a:p/>
          <a:p>
            <a:r>
              <a:t>Q1: Why is TAT = completion here, and when would that shortcut break?</a:t>
            </a:r>
          </a:p>
          <a:p>
            <a:r>
              <a:t>   A: All arrivals are 0, so turnaround = finish − 0. With staggered arrivals TAT = finish − arrival and the RR/SJF choices change — the exercise adds exactly that (P5 arriving at 3).</a:t>
            </a:r>
          </a:p>
          <a:p>
            <a:r>
              <a:t>Q2: Prove SJF is optimal for this instance, not just better:</a:t>
            </a:r>
          </a:p>
          <a:p>
            <a:r>
              <a:t>   A: Any order that runs a longer job before a shorter one swaps them reduces both of their waits by (long − short) and leaves all later jobs unchanged — so only shortest-first has no improving swap.</a:t>
            </a:r>
          </a:p>
          <a:p>
            <a:r>
              <a:t>Q3: What does the quantum trade against, in one sentence with numbers from the tables?</a:t>
            </a:r>
          </a:p>
          <a:p>
            <a:r>
              <a:t>   A: Response versus waiting: at q=3 every job starts within 3 units, but P3's waiting grew from 12 (FCFS) to 17 (RR) because it re-queues three times — total work is constant, distribution is the policy.</a:t>
            </a:r>
          </a:p>
          <a:p>
            <a:r>
              <a:t>Q4: Why print the service order at all — isn't the table enough?</a:t>
            </a:r>
          </a:p>
          <a:p>
            <a:r>
              <a:t>   A: The order is the only line an examiner can check without recomputing: it proves the RR queue was real, and the table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3 (7 sections). Re-run: python3 collect.py — the panel bytes come from out/os03_producer_consumer.txt.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3 (book §3.6):</a:t>
            </a:r>
          </a:p>
          <a:p/>
          <a:p>
            <a:r>
              <a:t>Q1: Which two operations make the semaphore useful where a busy-wait flag is not?</a:t>
            </a:r>
          </a:p>
          <a:p>
            <a:r>
              <a:t>   A: Blocking: wait() sleeps a producer on an empty buffer instead of spinning; post() wakes one waiting thread — the queue inside the semaphore is what removes both CPU burn and starvation.</a:t>
            </a:r>
          </a:p>
          <a:p>
            <a:r>
              <a:t>Q2: Why does the buffer size matter if items are produced in order?</a:t>
            </a:r>
          </a:p>
          <a:p>
            <a:r>
              <a:t>   A: It bounds how far ahead the producer may run; at 3, item 4 waits for a consume — the empty-semaphore is the capacity law written as a counter.</a:t>
            </a:r>
          </a:p>
          <a:p>
            <a:r>
              <a:t>Q3: What would the capture look like if the mutex were removed?</a:t>
            </a:r>
          </a:p>
          <a:p>
            <a:r>
              <a:t>   A: Same totals most runs — which is the trap: without the mutex, buffer slots and the sum are a race; one thread could read a half-written slot. Correctness on a fast run proves nothing, which is why the instrumented overlap count of the M3 demo exists.</a:t>
            </a:r>
          </a:p>
          <a:p>
            <a:r>
              <a:t>Q4: Why are the two logs printed as blocks after join rather than as they happen?</a:t>
            </a:r>
          </a:p>
          <a:p>
            <a:r>
              <a:t>   A: Byte-for-byte reproducibility is this book's capture rule; interleaved stdout would change line order between runs. The log contents carry all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4 (7 sections). Re-run: python3 collect.py — the panel bytes come from out/os04_ipc_fifo.txt.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4 (book §4.6):</a:t>
            </a:r>
          </a:p>
          <a:p/>
          <a:p>
            <a:r>
              <a:t>Q1: Why does the first open() block, and on which side is that actually a problem?</a:t>
            </a:r>
          </a:p>
          <a:p>
            <a:r>
              <a:t>   A: A FIFO open waits for a counterpart: the reader's O_RDONLY blocks until some writer opens (and vice versa for O_WRONLY). Here the fork happens first, so both sides exist and they rendezvous; a single-threaded program would deadlock on its own open.</a:t>
            </a:r>
          </a:p>
          <a:p>
            <a:r>
              <a:t>Q2: What breaks without the length byte — exactly?</a:t>
            </a:r>
          </a:p>
          <a:p>
            <a:r>
              <a:t>   A: Message boundaries: one read can drain whatever bytes the pipe currently holds (two whole messages plus part of a third). The framing protocol makes each unit self-delimiting — the standard fix for stream IPC.</a:t>
            </a:r>
          </a:p>
          <a:p>
            <a:r>
              <a:t>Q3: Where are the bytes between write() and read()? Is it a file?</a:t>
            </a:r>
          </a:p>
          <a:p>
            <a:r>
              <a:t>   A: In the kernel's pipe buffer (typically 64 KiB on Linux); the filesystem entry is just a name and permissions — data never touches the disk blocks a real file would own.</a:t>
            </a:r>
          </a:p>
          <a:p>
            <a:r>
              <a:t>Q4: Why 0600 and what does it stop?</a:t>
            </a:r>
          </a:p>
          <a:p>
            <a:r>
              <a:t>   A: Owner read/write only: no other user can open the FIFO at all — the access-control layer of Module 5, applied to an IPC endpoint (a viva link to CO6).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5 (7 sections). Re-run: python3 collect.py — the panel bytes come from out/os05_bankers.txt.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5 (book §5.6):</a:t>
            </a:r>
          </a:p>
          <a:p/>
          <a:p>
            <a:r>
              <a:t>Q1: Unsafe state vs deadlock — why is the distinction the whole point of the algorithm?</a:t>
            </a:r>
          </a:p>
          <a:p>
            <a:r>
              <a:t>   A: Deadlock is present (circular wait holding); unsafe admits a future schedule that deadlocks. The Banker refuses to grant what it cannot guarantee recovery from — safety is a promise about ALL futures, hence the universal-quantifier shape of the algorithm.</a:t>
            </a:r>
          </a:p>
          <a:p>
            <a:r>
              <a:t>Q2: Which two checks precede the safety run, and in what order — and which request in this capture died on the second?</a:t>
            </a:r>
          </a:p>
          <a:p>
            <a:r>
              <a:t>   A: request ≤ Need (never over-claim), then request ≤ Available; P4 {3,3,0} passes the first and fails the second. P0 {0,2,0} passes both and fails safety.</a:t>
            </a:r>
          </a:p>
          <a:p>
            <a:r>
              <a:t>Q3: Why is a safe sequence not necessarily unique?</a:t>
            </a:r>
          </a:p>
          <a:p>
            <a:r>
              <a:t>   A: Any state may have several rows with Need ≤ work at some step; the algorithm takes the first found (index order here). The textbook lists P1 P3 P4 P0 P2 — matching this run — and the algorithm doesn't care which valid chain it names.</a:t>
            </a:r>
          </a:p>
          <a:p>
            <a:r>
              <a:t>Q4: What makes the Banker unused in real kernels? State the assumption that dies first.</a:t>
            </a:r>
          </a:p>
          <a:p>
            <a:r>
              <a:t>   A: The Max claim: processes must declare peak demand up front and release all at once — real programs can't. Production systems detect or kill instead (the Ostrich paragraph).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6 (7 sections). Re-run: python3 collect.py — the panel bytes come from out/os06_memfit.txt.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6 (book §6.6):</a:t>
            </a:r>
          </a:p>
          <a:p/>
          <a:p>
            <a:r>
              <a:t>Q1: Where does best fit's 226 KB come from, row by row?</a:t>
            </a:r>
          </a:p>
          <a:p>
            <a:r>
              <a:t>   A: 48 (200−152) + 22 (174−152) + 0 (200−200) + 30 (150−120) — the four shrinks-to values the capture prints in that block; the P2→#5 line is the one first-fit students always miss.</a:t>
            </a:r>
          </a:p>
          <a:p>
            <a:r>
              <a:t>Q2: Why is first fit usually the default anyway?</a:t>
            </a:r>
          </a:p>
          <a:p>
            <a:r>
              <a:t>   A: Speed (stops scanning at the first yes) and locality: it keeps large holes toward the back of the list — best fit's optimality is per-request, not per-run, and the 502-vs-226 gap here is instance luck as much as policy law.</a:t>
            </a:r>
          </a:p>
          <a:p>
            <a:r>
              <a:t>Q3: Give the one request sequence that makes worst fit beat best fit on this hole row.</a:t>
            </a:r>
          </a:p>
          <a:p>
            <a:r>
              <a:t>   A: 426, then 174: worst-fit's first move (600→174) leaves the perfect 174 for the second; best fit takes 400 for P1 (or 200→ no) and strands the 600. Constructing it IS the lesson: policy vs workload is the entire first fit/best fit literature.</a:t>
            </a:r>
          </a:p>
          <a:p>
            <a:r>
              <a:t>Q4: What external-fragmentation countermeasure does the text name, and why is it off the table here?</a:t>
            </a:r>
          </a:p>
          <a:p>
            <a:r>
              <a:t>   A: Compaction — it needs dynamically relocatable bindings (base/limit with per-reference check, or page tables); with static binding the addresses are burned in, and with paging the problem becomes the last-page internal waste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7 (7 sections). Re-run: python3 collect.py — the panel bytes come from out/os07_pagereplace.txt.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7 (book §7.6):</a:t>
            </a:r>
          </a:p>
          <a:p/>
          <a:p>
            <a:r>
              <a:t>Q1: Name the one reference, one step, that splits FIFO's and LRU's runs — and why.</a:t>
            </a:r>
          </a:p>
          <a:p>
            <a:r>
              <a:t>   A: Reference 3 at step 6: FIFO evicts the oldest (1), LRU evicts the least-recently-used (2), because 1 was touched at step 3. From that row on, the resident sets differ — and one later hit decides the final 9-vs-8 count.</a:t>
            </a:r>
          </a:p>
          <a:p>
            <a:r>
              <a:t>Q2: Why does adding a frame increase FIFO's faults on the anomaly string?</a:t>
            </a:r>
          </a:p>
          <a:p>
            <a:r>
              <a:t>   A: FIFO evicts by arrival, not by any locality signal; the wider queue reorders the victims so a page the future needs is thrown away that the narrower run kept. The count is a property of queue length vs string period {1..5}, not of capacity.</a:t>
            </a:r>
          </a:p>
          <a:p>
            <a:r>
              <a:t>Q3: State the stack/inclusion property in one line and name the two policies that have it.</a:t>
            </a:r>
          </a:p>
          <a:p>
            <a:r>
              <a:t>   A: The resident set under k frames is always a subset of the set under k+1 for the same prefix — faults monotone in frames: LRU and OPT both; FIFO is not stack-based, hence the anomaly.</a:t>
            </a:r>
          </a:p>
          <a:p>
            <a:r>
              <a:t>Q4: In EAT terms, what is one fault worth here?</a:t>
            </a:r>
          </a:p>
          <a:p>
            <a:r>
              <a:t>   A: One fault is the whole swap-access story — the Module 4 formula: memory access times hit-rate plus fault-rate × service time; 9 vs 8 faults over 10 refs is a 10% fault-rate swing, and at millisecond service times that dominates any memory-side speed-up.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8 (7 sections). Re-run: python3 collect.py — the panel bytes come from out/os08_dirs.txt.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8 (book §8.6):</a:t>
            </a:r>
          </a:p>
          <a:p/>
          <a:p>
            <a:r>
              <a:t>Q1: What does the master file table cost that a flat table doesn't — one entry each?</a:t>
            </a:r>
          </a:p>
          <a:p>
            <a:r>
              <a:t>   A: Two lookups instead of one per path component (root → user dir → file), in exchange for namespace isolation: the price of the two-level scheme is the extra indirection, the product is per-user name freedom — the tree is just this rule recursed.</a:t>
            </a:r>
          </a:p>
          <a:p>
            <a:r>
              <a:t>Q2: Where does a same-name collision actually live — the directory entry or the inode?</a:t>
            </a:r>
          </a:p>
          <a:p>
            <a:r>
              <a:t>   A: The entry: (name → inode-number) pairs. Two dirs may map different names? No — each dir's table needs unique names, but two tables may point to one inode (hard link): collision rules are per-table, identity is per-inode.</a:t>
            </a:r>
          </a:p>
          <a:p>
            <a:r>
              <a:t>Q3: Why sort readdir() output in a program that also could print it raw?</a:t>
            </a:r>
          </a:p>
          <a:p>
            <a:r>
              <a:t>   A: Readdir order is unspecified filesystem state (hash/creation order); a capture must be reproducible, and this one is — which also demonstrates knowing what the API does NOT guarantee.</a:t>
            </a:r>
          </a:p>
          <a:p>
            <a:r>
              <a:t>Q4: Name the directory scheme the syllabus does not list but the tree generalises.</a:t>
            </a:r>
          </a:p>
          <a:p>
            <a:r>
              <a:t>   A: Acyclic-graph (DAG) directories: sharing across users via links without a common table — UNIX allows hard links to files (not dirs) for exactly this, and the cycle case is why general-graph directories need garbage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9 (7 sections). Re-run: python3 collect.py — the panel bytes come from out/os09_linked.txt.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9 (book §9.6):</a:t>
            </a:r>
          </a:p>
          <a:p/>
          <a:p>
            <a:r>
              <a:t>Q1: Which single array IS the 'linked list' here, and what is the directory then?</a:t>
            </a:r>
          </a:p>
          <a:p>
            <a:r>
              <a:t>   A: next[block] holds every link (−1 terminates); the directory's job shrinks to first and last (last makes append O(1) instead of a full walk). That pairing is the entire implementation.</a:t>
            </a:r>
          </a:p>
          <a:p>
            <a:r>
              <a:t>Q2: Why is a random read of block k in a 1000-block file O(k) — and what does the file system actually do about it?</a:t>
            </a:r>
          </a:p>
          <a:p>
            <a:r>
              <a:t>   A: There is no index: every hop is a block read. FATS keep the chain in memory so the walk is cheap after mount, and indexed allocation (inodes) replaces walking with table lookups — the two answers in the text's own order.</a:t>
            </a:r>
          </a:p>
          <a:p>
            <a:r>
              <a:t>Q3: What does deletion cost in this method, per block?</a:t>
            </a:r>
          </a:p>
          <a:p>
            <a:r>
              <a:t>   A: One mark per block and nothing else — no coalescing, no contiguity to respect: the freed hole in this run (3 blocks) was reused by the very next request, lines 8–9 of the capture.</a:t>
            </a:r>
          </a:p>
          <a:p>
            <a:r>
              <a:t>Q4: Contrast the crash behaviour with contiguous in one sentence.</a:t>
            </a:r>
          </a:p>
          <a:p>
            <a:r>
              <a:t>   A: Contiguous loses one block = one hole in the middle of a still-findable file; linked loses one block = everything after that pointer, because the lost block carried the map forward — the capture's own closing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Aim: Execute the prescribed problem and produce report-ready, machine-verified evidence.. Tools: GCC 14.2 (Debian 14.2.0-19) with glibc 2.41 on Linux 6.1.158+ x86_64; built with -O0 -Wall -Wextra -std=gnu17 (-pthread where threads appear); sources in src/, captured transcripts in out/ of the course folder. Full approach, observations, model viva answers: course book Activity 10 (7 sections). Re-run: python3 collect.py — the panel bytes come from out/os10_scan.txt.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bank for Activity 10 (book §10.6):</a:t>
            </a:r>
          </a:p>
          <a:p/>
          <a:p>
            <a:r>
              <a:t>Q1: Why does SCAN bounce at cylinder 0 and not stop at 14 — and what is that costing here?</a:t>
            </a:r>
          </a:p>
          <a:p>
            <a:r>
              <a:t>   A: The algorithm's definition goes to the END of the range before reversing; stopping at the last request is LOOK. The cost is exactly 2×14 = 28 units (down to 0 and back up to 65's predecessor) — visible in this capture's order line.</a:t>
            </a:r>
          </a:p>
          <a:p>
            <a:r>
              <a:t>Q2: Give C-SCAN's fairness argument in one sentence against SCAN.</a:t>
            </a:r>
          </a:p>
          <a:p>
            <a:r>
              <a:t>   A: SCAN treats the just-missed cylinder worst (it waits for the full up-then-down cycle); C-SCAN's one-way sweep bounds every request's wait by one sweep + one jump — uniformity bought with the jump that SCAN spends on the reverse service.</a:t>
            </a:r>
          </a:p>
          <a:p>
            <a:r>
              <a:t>Q3: Which two of the printed totals can you reproduce without the program?</a:t>
            </a:r>
          </a:p>
          <a:p>
            <a:r>
              <a:t>   A: All three are additions of printed segments; but FCFS (the queue order) and SCAN (sort, split at 53, sweep) need no code — the C-SCAN jump convention is the only judgement call.</a:t>
            </a:r>
          </a:p>
          <a:p>
            <a:r>
              <a:t>Q4: Where is the disk scheduler in the stack on Linux today?</a:t>
            </a:r>
          </a:p>
          <a:p>
            <a:r>
              <a:t>   A: The block layer (mq-deadline/BF3 families over multi-queue), below the page cache; SSDs flatten the cost model so the scheduler mostly protects ordering semantics and read starvation — one honest sentence the viva likes, since 'elevator' assumes moving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3261E"/>
                </a:solidFill>
                <a:latin typeface="Calibri"/>
              </a:rPr>
              <a:t>PCC COURSE · SEMESTER III · C PROGRAMS RUN ON A REAL LINUX KERNEL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52144"/>
            <a:ext cx="10362895" cy="25603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5775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0F172A"/>
                </a:solidFill>
                <a:latin typeface="Calibri"/>
              </a:rPr>
              <a:t>OPERATING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0F172A"/>
                </a:solidFill>
                <a:latin typeface="Calibri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310128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Classroom presentation · 5 theory modules · 10 learning activities · every program compiled with gcc, executed on the machine itself, and captured byte-for-byte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9927" y="4041648"/>
            <a:ext cx="3291840" cy="713232"/>
          </a:xfrm>
          <a:prstGeom prst="rect">
            <a:avLst/>
          </a:prstGeom>
          <a:noFill/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9927" y="4123944"/>
            <a:ext cx="3291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COURSE 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172A"/>
                </a:solidFill>
                <a:latin typeface="Calibri"/>
              </a:rPr>
              <a:t>1BCS304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956048"/>
            <a:ext cx="9722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181D"/>
                </a:solidFill>
                <a:latin typeface="Calibri"/>
              </a:rPr>
              <a:t>3 credits   ·   Teaching 3 : 0 : 0   ·   CIE 50 (IA 25 + CCA 25)   ·   SEE 50 · 3 h   ·   Total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62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by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172A"/>
                </a:solidFill>
                <a:latin typeface="Calibri"/>
              </a:rPr>
              <a:t>Dr. Lokesh M 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B5563"/>
                </a:solidFill>
                <a:latin typeface="Calibri"/>
              </a:rPr>
              <a:t>Professor · Dept. of Information Science &amp; Engineering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B5563"/>
                </a:solidFill>
                <a:latin typeface="Calibri"/>
              </a:rPr>
              <a:t>A J Institute of Engineering and Technology (AJIET), Mangaluru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19088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Visvesvaraya Technological University (VTU) · 2025 Scheme · slides derived from the course notes book (same captures, same checks)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COURSE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The Course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989320" cy="4864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course with one spine — the </a:t>
            </a:r>
            <a:r>
              <a:rPr sz="1450" b="1" i="0">
                <a:solidFill>
                  <a:srgbClr val="16181D"/>
                </a:solidFill>
                <a:latin typeface="Calibri"/>
              </a:rPr>
              <a:t>process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: M1 the kernel and its calls, M2 processes and threads, M3 sharing and deadlock, M4 the mapped address space, M5 files and disks; protection and security (CO6) run through it all.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Teaching: </a:t>
            </a:r>
            <a:r>
              <a:rPr sz="1350" b="0" i="0">
                <a:solidFill>
                  <a:srgbClr val="16181D"/>
                </a:solidFill>
                <a:latin typeface="Consolas"/>
              </a:rPr>
              <a:t>3 : 0 : 0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 hours/week → 42 lecture hours (09+08+09+08+08) + 48 h self-learning + 90 h TW &amp; self-learning ledger.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Toolchain of record: </a:t>
            </a:r>
            <a:r>
              <a:rPr sz="1450" b="1" i="0">
                <a:solidFill>
                  <a:srgbClr val="16181D"/>
                </a:solidFill>
                <a:latin typeface="Calibri"/>
              </a:rPr>
              <a:t>gcc 14.2 on Debian 13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 — every program built with </a:t>
            </a:r>
            <a:r>
              <a:rPr sz="1200" b="0" i="0">
                <a:solidFill>
                  <a:srgbClr val="16181D"/>
                </a:solidFill>
                <a:latin typeface="Consolas"/>
              </a:rPr>
              <a:t>-O0 -Wall -Wextra -std=gnu17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 warning-free and run on the machine itself.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Every output on these slides is the byte-exact capture: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collect pass builds and runs all 16 captures twice and refuses on any byte difference — pids, timings and other volatile facts never reached a page.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Quantified where it counts: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scheduling tables, semaphore logs, Banker verdicts, fault counts, bitmap runs and cylinder sums — computed by the programs, not typed from a manual.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554480"/>
            <a:ext cx="4983480" cy="315468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554480"/>
            <a:ext cx="54864" cy="31546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1645920"/>
            <a:ext cx="4599432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COURSE OUTCOMES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6181D"/>
                </a:solidFill>
                <a:latin typeface="Calibri"/>
              </a:rPr>
              <a:t>CO1: Recall the structure, functions, and services of an operating system.  CO2: Explain process management concepts, CPU scheduling algorithms, and process synchronisation mechanisms.  CO3: Apply appropriate CPU scheduling algorithms and process synchronisation techniques to solve operating system problems.  CO4: Apply memory management techniques and deadlock-handling strategies to ensure efficient resource utilization.  CO5: Explain file system organisation and secondary storage management techniques.  CO6: Describe information protection mechanisms, security principles, and access control methods in operating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4800600"/>
            <a:ext cx="4983480" cy="150876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4882896"/>
            <a:ext cx="4654296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HOW TO USE THESE SLIDES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250" b="1" i="0">
                <a:solidFill>
                  <a:srgbClr val="16181D"/>
                </a:solidFill>
                <a:latin typeface="Calibri"/>
              </a:rPr>
              <a:t>Every panel is a file read: </a:t>
            </a:r>
            <a:r>
              <a:rPr sz="1150" b="0" i="0">
                <a:solidFill>
                  <a:srgbClr val="16181D"/>
                </a:solidFill>
                <a:latin typeface="Consolas"/>
              </a:rPr>
              <a:t>src/&lt;stem&gt;.c|sh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 code, </a:t>
            </a:r>
            <a:r>
              <a:rPr sz="1150" b="0" i="0">
                <a:solidFill>
                  <a:srgbClr val="16181D"/>
                </a:solidFill>
                <a:latin typeface="Consolas"/>
              </a:rPr>
              <a:t>out/&lt;stem&gt;.txt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 captured sessions — identical to the book's.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250" b="0" i="0">
                <a:solidFill>
                  <a:srgbClr val="16181D"/>
                </a:solidFill>
                <a:latin typeface="Calibri"/>
              </a:rPr>
              <a:t>Numbers quoted on slides were verified against the captures at build time (self-check pass).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COURSE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Assessment &amp; the Activity Report — Where Marks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7607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CIE — 50 marks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6181D"/>
                </a:solidFill>
                <a:latin typeface="Calibri"/>
              </a:rPr>
              <a:t>IA tests — 25 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two tests; first after Modules 1–2, second after 3–5; total 25.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6181D"/>
                </a:solidFill>
                <a:latin typeface="Calibri"/>
              </a:rPr>
              <a:t>CCA — 25 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C programs for the 10 prescribed problems, scored on the five rubric rows (5 × scale 1–5).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6181D"/>
                </a:solidFill>
                <a:latin typeface="Calibri"/>
              </a:rPr>
              <a:t>Term Work — 90 h 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the activity report, with relevant data, to the course instructor; ledger 42:0:0:48:90 — Springboard Unix cert (18 h) inside SL.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SEE — 50 marks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16181D"/>
                </a:solidFill>
                <a:latin typeface="Calibri"/>
              </a:rPr>
              <a:t>3-hour theory paper, all five modules, outcome-shaped questions.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6181D"/>
                </a:solidFill>
                <a:latin typeface="Calibri"/>
              </a:rPr>
              <a:t>Why the record must carry captures: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rubric row 4 — “Output Correctness and Analysis” — pays the 5 only for results that match the run exactly; typed-out output cannot score above row 1.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72768"/>
            <a:ext cx="5212080" cy="269748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572768"/>
            <a:ext cx="54864" cy="26974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7" y="1664208"/>
            <a:ext cx="4828032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ACTIVITY NOTE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Note: At the end of the course, the students need to submit the report on conduction of the activity with relevant data to the course instructor. Evaluation is for 25 marks.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434840"/>
            <a:ext cx="5212080" cy="182880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4517136"/>
            <a:ext cx="4882896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GATES (SYLLABUS PAGE, VERBATIM FIGURES)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200" b="0" i="0">
                <a:solidFill>
                  <a:srgbClr val="16181D"/>
                </a:solidFill>
                <a:latin typeface="Calibri"/>
              </a:rPr>
              <a:t>CIE ≥ 40% of 50 = 20 to be eligible for the SEE · SEE floor, verbatim: “a minimum of 35 marks out of 100”; CIE (of 50) + SEE scaled to 50 must be ≥ 40, else grade 'F'.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Ledger: L:T:P:SL:TW&amp;SL:TH = 42:0:0:48:90 · TW: “Implementation of Operating System Concepts using C Programming” (30 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P A R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36289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200" b="1" i="0">
                <a:solidFill>
                  <a:srgbClr val="B3261E"/>
                </a:solidFill>
                <a:latin typeface="Calibri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952" y="3310128"/>
            <a:ext cx="1527048" cy="228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Theory — Modules 1 to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114800"/>
            <a:ext cx="87169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Every syllabus line taught through C programs compiled and executed on a real Linux box — each module: the topics with the verbatim text, two rule slides quoting real output, one worked demo's captured session, and checkpoint questions in IA shape.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6727" y="4676775"/>
            <a:ext cx="8778240" cy="1742313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44471" y="4795647"/>
            <a:ext cx="8449056" cy="1522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IN THIS PART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Module 1 — Introduction to Operating Systems and…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Module 2 — Process Management, Threads and CPU…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Module 3 — Process Synchronization and Deadlocks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Module 1 — Introduction to Operating Systems and System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CO1</a:t>
            </a:r>
            <a:r>
              <a:rPr sz="1300" b="0" i="0">
                <a:solidFill>
                  <a:srgbClr val="4B5563"/>
                </a:solidFill>
                <a:latin typeface="Calibri"/>
              </a:rPr>
              <a:t>    ·    09 hours</a:t>
            </a:r>
            <a:r>
              <a:rPr sz="1250" b="0" i="0">
                <a:solidFill>
                  <a:srgbClr val="4B5563"/>
                </a:solidFill>
                <a:latin typeface="Calibri"/>
              </a:rPr>
              <a:t>    ·    Silberschatz: Chapter - 1 (1.1-1.8), 2 (2.2-2.7)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6720840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Operating systems, System structures: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What operating systems do; Computer System organization; Computer System architecture; Operating System structure; Operating System operations; Process management; Memory management; Storage management.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Operating System Services: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User - Operating System interface; System calls; Types of system calls; System programs; Operating system design and implementation; Operating System structure.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4B5563"/>
                </a:solidFill>
                <a:latin typeface="Calibri"/>
              </a:rPr>
              <a:t>Reading: </a:t>
            </a:r>
            <a:r>
              <a:rPr sz="1350" b="0" i="0">
                <a:solidFill>
                  <a:srgbClr val="4B5563"/>
                </a:solidFill>
                <a:latin typeface="Calibri"/>
              </a:rPr>
              <a:t>Textbook 1: Chapter – 1 (1.1-1.8), 2 (2.2-2.7)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057400"/>
            <a:ext cx="4251960" cy="3977639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2057400"/>
            <a:ext cx="54864" cy="3977639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2148840"/>
            <a:ext cx="3867912" cy="3794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MODULE-1 SYLLABUS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Operating systems, System structures: What operating systems do; Computer System organization; Computer System architecture; Operating System structure; Operating System operations; Process management; Memory management; Storage management. Operating System Services: User - Operating System interface; System calls; Types of system calls; System programs; Operating system design and implementation; Operating System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1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The kernel answers only through system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syllabus activity is the lifecycle itself; the capture proves each scene as it happens — the exec'd image answers under the old pid: </a:t>
            </a:r>
            <a:r>
              <a:rPr sz="1200" b="0" i="0">
                <a:solidFill>
                  <a:srgbClr val="B3261E"/>
                </a:solidFill>
                <a:latin typeface="Consolas"/>
              </a:rPr>
              <a:t>hello-from-the-exec-ed-program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Termination arithmetic first: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exit code recovered=7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with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WIFEXITED=yes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; a killed child is reported differently —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killing signal=9 (SIGKILL)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Create/terminate in one loop: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child 1 of 3 exited with code 11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… reaped one at a time — wait() is what turns zombies into accounting.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Buffer discipline, demonstrated not preached: </a:t>
            </a:r>
            <a:r>
              <a:rPr sz="1200" b="0" i="0">
                <a:solidFill>
                  <a:srgbClr val="B3261E"/>
                </a:solidFill>
                <a:latin typeface="Consolas"/>
              </a:rPr>
              <a:t>buffered replay 1x, clean fork 0x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fork() copies unflushed stdio buffers, so a child replays the parent's lines until someone fflush()es first.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Exam frame to keep: fork = duplicate, exec = replace, wait = reap, exit = end. Four verbs, one syscall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src/os01_proc_calls.c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/* OS-01: Process system calls -- fork(), exec(), wait(), create process, terminate process.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Textbook-1 ch.3 (3.6-3.8).  Two things this program demonstrates on purpose: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(1) fork() copies the WHOLE address space, including unflushed stdio buffers --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   capture below shows the parent's buffered lines replayed by the child (once), then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   fixed with fflush(NULL);  (2) pid values are NEVER printed -- they change every run,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   and every number in this capture must be reproducible.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#include &lt;signal.h&gt;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#include &lt;sys/wait.h&gt;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printf("== OS-01  fork / exec / wait / exit : the process lifecycle in one session ==\n");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printf("[lesson] stdout here is a pipe, so printf output waits in a buffer.\n");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printf("[lesson] fork() copies memory INCLUDING that buffer. Demo A lets it happen:\n");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fflush(NULL);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printf("[demo A]   parent line 1 (still in buffer at fork time)\n");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printf("[demo A]   parent line 2 (still in buffer at fork time)\n");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pid_t a = fork();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if (a == 0)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    printf("[demo A]   child line (child exits and flushes its own COPY of the buffer)\n");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    exit(0);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int st;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wait(&amp;st);                                   /* let the child flush first: fixed order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  printf("[demo A] the child just replayed the parent's two buffered lines -- count them above\n");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1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OS facts are sysconf calls — go and 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OS, asked about itself: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machine=x86_64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, kernel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release=6.1.158+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straight out of uname(), no folklore.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Tunables the chapters state in words, here as values: argument space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2097152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bytes, thread ceiling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15835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, stack soft limit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8388608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bytes.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Toolchain of record, captured: </a:t>
            </a:r>
            <a:r>
              <a:rPr sz="1100" b="0" i="0">
                <a:solidFill>
                  <a:srgbClr val="B3261E"/>
                </a:solidFill>
                <a:latin typeface="Consolas"/>
              </a:rPr>
              <a:t>gcc (Debian 14.2.0-19) 14.2.0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on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Debian GNU/Linux 13 (trixie)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every build in this deck is warning-free on that compiler.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Page size and clock tick are not assumptions: the demo printed 4096 and 100 from sysconf on this box — the book's formulas use the printed values.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11 machine facts printed from sysconf, procfs and getrlimit — that is the “system structure” question answered with receipts.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src/os_m1_sysinfo.c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/* OS-M1 demo: the machine underneath -- what the OS exposes about itself via sysconf() 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/proc/sys/kernel.  Textbook-1 ch.2 (system calls, system programs).  Every line printed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comes from a kernel/library query, not from prose, so this doubles as the environment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page for the whole book.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&lt;sys/utsname.h&gt;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&lt;sys/resource.h&gt;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void cat(const char *label, const char *path)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FILE *f = fopen(path, "r");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char buf[128] = "(unreadable)";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if (f)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if (fgets(buf, sizeof buf, f))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    size_t n = strlen(buf);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    while (n &amp;&amp; (buf[n-1] == '\n' || buf[n-1] == '\r')) buf[--n] = '\0';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fclose(f);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printf("  %-26s %s   [%s]\n", label, buf, path);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printf("== M1 demo  the OS, asked about itself: sysconf + /proc/sys/kernel + uname ==\n\n");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struct utsname u;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uname(&amp;u);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1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Worked Demo — os_m1_sysinfo (compiled &amp; captured)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126480" cy="4800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12648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23060"/>
            <a:ext cx="5833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src/os_m1_sysinfo.c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581558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OS-M1 demo: the machine underneath -- what the OS exposes about itself via sysconf() 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/proc/sys/kernel.  Textbook-1 ch.2 (system calls, system programs).  Every line printed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comes from a kernel/library query, not from prose, so this doubles as the environment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page for the whole book.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&lt;sys/utsname.h&gt;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&lt;sys/resource.h&gt;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void cat(const char *label, const char *path)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FILE *f = fopen(path, "r");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char buf[128] = "(unreadable)";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if (f)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if (fgets(buf, sizeof buf, f))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size_t n = strlen(buf);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while (n &amp;&amp; (buf[n-1] == '\n' || buf[n-1] == '\r')) buf[--n] = '\0';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fclose(f);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  %-26s %s   [%s]\n", label, buf, path);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printf("== M1 demo  the OS, asked about itself: sysconf + /proc/sys/kernel + uname ==\n\n");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struct utsname u;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uname(&amp;u);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  uname: sysname=%s  machine=%s  release=%s\n\n", u.sysname, u.machine, u.release);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printf("runtime configuration values (each printed exactly as sysconf returns it):\n");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  page size (PAGESIZE)          : %ld\n", sysconf(_SC_PAGESIZE));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72768"/>
            <a:ext cx="4846320" cy="480060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gcc · run — out/os_m1_sysinfo.txt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938528"/>
            <a:ext cx="457200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$ gcc -O0 -Wall -Wextra -std=gnu17 -o build/bin/os_m1_sysinfo src/os_m1_sysinfo.c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$ ./build/bin/os_m1_sysinfo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== M1 demo  the OS, asked about itself: sysconf + /proc/sys/kernel + uname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uname: sysname=Linux  machine=x86_64  release=6.1.158+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runtime configuration values (each printed exactly as sysconf returns it):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page size (PAGESIZE)          : 4096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clock ticks per second        : 100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processors configured         :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processors online             :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max argument bytes (ARG_MAX)  : 2097152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min thread stack size         : 16384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open files per process (soft) : 1024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kernel tunables, read straight out of procfs: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…  2 more lines omitted — complete listing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ostype                     Linux   [/proc/sys/kernel/ostype]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osrelease                  6.1.158+   [/proc/sys/kernel/osrelease]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RLIMIT_STACK soft = 8388608 bytes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 -&gt; these are the numbers an OS chapter likes to state in words; here they are values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30" b="0" i="0">
                <a:solidFill>
                  <a:srgbClr val="14171C"/>
                </a:solidFill>
                <a:latin typeface="Consolas"/>
              </a:rPr>
              <a:t>OS-M1 RESULT: 11 machine facts printed from sysconf/procfs/rlimit --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1 · SELF-TEST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1 — Checkpoint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15568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Q1.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Define the OS both as control program and as resource manager; give one design decision each definition would drive.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Q2.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Why does multiprogramming require hardware memory protection, and which earlier system lacked it?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Q3.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List the five system-call categories with two examples each; state which category mkfifo belongs to and why.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Q4.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Explain the trap sequence of a getpid() call from a C program to its return — name the table that is indexed.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Q5.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Microkernel vs monolithic: state the robustness claim, the performance cost, and one real system on each side.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Q6.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From the M1 demo capture, name the two kernel tunables and the unit of a jiffy on this machine.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B5563"/>
                </a:solidFill>
                <a:latin typeface="Calibri"/>
              </a:rPr>
              <a:t>Model answers: course book §1.5 — these are IA-test-shaped practice.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2 — Process Management, Threads and CPU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CO2, CO3</a:t>
            </a:r>
            <a:r>
              <a:rPr sz="1300" b="0" i="0">
                <a:solidFill>
                  <a:srgbClr val="4B5563"/>
                </a:solidFill>
                <a:latin typeface="Calibri"/>
              </a:rPr>
              <a:t>    ·    08 hours</a:t>
            </a:r>
            <a:r>
              <a:rPr sz="1250" b="0" i="0">
                <a:solidFill>
                  <a:srgbClr val="4B5563"/>
                </a:solidFill>
                <a:latin typeface="Calibri"/>
              </a:rPr>
              <a:t>    ·    Silberschatz: Chapter - 3 (3.1-3.4), 4 (4.1,4.3,4.4,4.6), 5 (5.1-5.5)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6720840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Process Management: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Process concept; Process scheduling; Operations on processes; Inter-process communication.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Multi-threaded Programming: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Overview; Multithreading models; Thread Libraries; Threading issues.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Process Scheduling: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Basic concepts; Scheduling Criteria; Scheduling Algorithms; Thread scheduling; Multiple-processor scheduling.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4B5563"/>
                </a:solidFill>
                <a:latin typeface="Calibri"/>
              </a:rPr>
              <a:t>Reading: </a:t>
            </a:r>
            <a:r>
              <a:rPr sz="1350" b="0" i="0">
                <a:solidFill>
                  <a:srgbClr val="4B5563"/>
                </a:solidFill>
                <a:latin typeface="Calibri"/>
              </a:rPr>
              <a:t>Textbook 1: Chapter – 3 (3.1-3.4), 4 (4.1,4.3,4.4,4.6), 5 (5.1-5.5)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057400"/>
            <a:ext cx="4251960" cy="3977639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2057400"/>
            <a:ext cx="54864" cy="3977639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2148840"/>
            <a:ext cx="3867912" cy="3794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MODULE-2 SYLLABUS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Process Management: Process concept; Process scheduling; Operations on processes; Inter-process communication. Multi-threaded Programming: Overview; Multithreading models; Thread Libraries; Threading issues. Process Scheduling: Basic concepts; Scheduling Criteria; Scheduling Algorithms; Thread scheduling; Multiple-processor scheduling.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2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Scheduling is arithmetic — four algorithms, one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One workload, four ledgers: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P1=8 P2=4 P3=9 P4=5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, all arriving at 0 — every difference below is the algorithm, not the data.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FCFS pays the convoy (avg WT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WT 10.25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); SJF, ordering the same bursts shortest-first, buys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WT 7.50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Round Robin q=3 shows its service order —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P1 P2 P3 P4 P1 P2 P3 P4 P1 P3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and pays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WT 15.00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for the privilege of preemption.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Priority lets P3 (priority 0, top) cut the whole line: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WT 10.00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turnaround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TAT 16.50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Recite cold: TAT = completion − arrival ; WT = TAT − burst. The capture's averages are exactly those, summed and divided by 4.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src/os02_scheduling.c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/* OS-02: CPU scheduling simulator -- FCFS, SJF, Round Robin, Priority -- turnaround 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waiting time.  Textbook-1 ch.5 (5.3).  Four processes, all arriving at t=0, so the only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degrees of freedom are the service orders; RR quantum = 3.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#define N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static int burst[N] = { 8, 4, 9, 5 };               /* P1..P4 CPU bursts  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static int prio[N]  = { 3, 1, 0, 2 };               /* 0 = highest priority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static int comp[N];                                 /* completion per process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static void report(const char *algo)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long tt = 0, tw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printf("%-9s  id  burst   WT  TAT\n", algo);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for (int i = 0; i &lt; N;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    long tat = comp[i];                         /* arrival 0, so TAT = completion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    long wt  = tat - burst[i];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    tt += tat; tw += wt;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    printf("            P%d   %2d    %2ld  %2ld\n", i + 1, burst[i], wt, tat);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printf("            averages:   WT %.2f  TAT %.2f\n", (double)tw / N, (double)tt / 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printf("== OS-02  FCFS / SJF / Round-Robin / Priority on one workload (bursts 8,4,9,5) ==\n");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  printf("workload: P1=8 P2=4 P3=9 P4=5 ; all arrive at 0 ; priorities 3,1,0,2 (0 top)\n\n");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4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2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Threads: many schedules, one address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Four workers, one process: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combined sum of the four partial results: 29998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each thread accumulated its own partial and returned it through join.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Identity check done exhaustively: pthread_equal over 6 id pairs →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distinct = 6, equal = 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line every threads question turns on: </a:t>
            </a:r>
            <a:r>
              <a:rPr sz="1200" b="0" i="0">
                <a:solidFill>
                  <a:srgbClr val="B3261E"/>
                </a:solidFill>
                <a:latin typeface="Consolas"/>
              </a:rPr>
              <a:t>SAME getpid() as the creator: yes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threads share the address space; processes never do.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Two cores, four runnable threads: </a:t>
            </a:r>
            <a:r>
              <a:rPr sz="1100" b="0" i="0">
                <a:solidFill>
                  <a:srgbClr val="B3261E"/>
                </a:solidFill>
                <a:latin typeface="Consolas"/>
              </a:rPr>
              <a:t>threads runnable: 4 -&gt; time-slicing is forced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concurrency without parallelism, visible in one capture.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Multithreading models to name: many-to-one (one blocking syscall stalls all), one-to-one, many-to-many.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src/os_m2_threads.c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OS-M2 demo: threads vs processes, observed.  Four pthreads do arithmetic, the parent joins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them in creation order (so the print order is fixed), proves the four thread IDs are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pairwise distinct with pthread_equal, and shows all threads share one pid while getppid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is constant.  Textbook-1 ch.4 (4.1, 4.3).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&lt;pthread.h&gt;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T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pthread_t th[T];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long res[T];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pid_t kidpid[T];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pthread_t self_in_thread[T];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void *work(void *arg)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long i = (long)arg;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self_in_thread[i] = pthread_self();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kidpid[i] = getpid();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long acc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(long k = 0; k &lt;= 1000 * (i + 1); k++)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acc += k % 7;                             /* some real work, order-independent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res[i] = acc;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return NULL;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2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Worked Demo — os_m2_threads (compiled &amp; captured)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126480" cy="4800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12648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23060"/>
            <a:ext cx="5833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src/os_m2_threads.c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581558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OS-M2 demo: threads vs processes, observed.  Four pthreads do arithmetic, the parent joins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them in creation order (so the print order is fixed), proves the four thread IDs are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pairwise distinct with pthread_equal, and shows all threads share one pid while getppid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is constant.  Textbook-1 ch.4 (4.1, 4.3).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&lt;pthread.h&gt;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T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pthread_t th[T];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long res[T];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pid_t kidpid[T];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pthread_t self_in_thread[T];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void *work(void *arg)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long i = (long)arg;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self_in_thread[i] = pthread_self();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kidpid[i] = getpid();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long acc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(long k = 0; k &lt;= 1000 * (i + 1); k++)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acc += k % 7;                             /* some real work, order-independent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res[i] = acc;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return NULL;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printf("== M2 demo  four threads inside one process: ids, pid sharing, joined results ==\n\n");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(long i = 0; i &lt; T; i++)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pthread_create(&amp;th[i], NULL, work, (void *)i);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72768"/>
            <a:ext cx="4846320" cy="480060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gcc · run — out/os_m2_threads.txt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938528"/>
            <a:ext cx="457200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$ gcc -O0 -Wall -Wextra -std=gnu17 -pthread -o build/bin/os_m2_threads src/os_m2_threads.c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$ ./build/bin/os_m2_threads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== M2 demo  four threads inside one process: ids, pid sharing, joined results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thread results, joined in creation order: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  worker 0: acc = 3003   (thread's getpid matches creator: yes)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  worker 1: acc = 6000   (thread's getpid matches creator: yes)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  worker 2: acc = 8998   (thread's getpid matches creator: yes)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  worker 3: acc = 11997   (thread's getpid matches creator: yes)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  combined sum of the four partial results: 29998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pthread_equal over all 6 id pairs: distinct = 6, equal =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all 4 threads reported the SAME getpid() as the creator: yes -&gt; threads share the address space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cores online: 2, threads runnable: 4 -&gt; time-slicing is forced by (T &gt; cores)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90" b="0" i="0">
                <a:solidFill>
                  <a:srgbClr val="14171C"/>
                </a:solidFill>
                <a:latin typeface="Consolas"/>
              </a:rPr>
              <a:t>OS-M2 RESULT: 4/4 joins returned, 6 of 6 id pairs distinct, pid shared by all -- 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2 · SELF-TEST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2 — Checkpoint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15568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Q1.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Draw the five-state process diagram with every transition labelled by the call that causes it (exit, wait, fork, I/O, interrupt).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Q2.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program forks, prints, and exits before the parent's wait() — which table keeps the child's status alive, and what is the state called?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Q3.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Give the TAT/WT definition pair, then compute both for P3 of the Activity 2 workload under FCFS and verify against the capture.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Q4.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Why does RR penalise the long job MORE than FCFS (compare P3's two WT rows) while helping response time? Quantitative answer expected.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Q5.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List the three multithreading models and state which blocking-call behaviour distinguishes each.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Q6.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Explain why the M2 demo compares thread ids with pthread_equal instead of printing them.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Q7.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MLFQ boosts all threads periodically. State the problem the boost solves and the one it creates (gaming).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B5563"/>
                </a:solidFill>
                <a:latin typeface="Calibri"/>
              </a:rPr>
              <a:t>Model answers: course book §2.5 — these are IA-test-shaped practice.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3 — Process Synchronization and Deadlocks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CO2, CO3, CO4</a:t>
            </a:r>
            <a:r>
              <a:rPr sz="1300" b="0" i="0">
                <a:solidFill>
                  <a:srgbClr val="4B5563"/>
                </a:solidFill>
                <a:latin typeface="Calibri"/>
              </a:rPr>
              <a:t>    ·    09 hours</a:t>
            </a:r>
            <a:r>
              <a:rPr sz="1250" b="0" i="0">
                <a:solidFill>
                  <a:srgbClr val="4B5563"/>
                </a:solidFill>
                <a:latin typeface="Calibri"/>
              </a:rPr>
              <a:t>    ·    Silberschatz: Chapter - 6 (6.1-6.4, 6.6, 6.7), 7 (7.1-7.7)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6720840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Process Synchronization: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Background, The critical section problem; Peterson's solution; Synchronization hardware; Semaphores; Classical problems of synchronization.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Deadlocks: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System model; Deadlock characterization; Methods for handling deadlocks; Deadlock prevention; Deadlock avoidance; Deadlock detection and recovery from deadlock.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4B5563"/>
                </a:solidFill>
                <a:latin typeface="Calibri"/>
              </a:rPr>
              <a:t>Reading: </a:t>
            </a:r>
            <a:r>
              <a:rPr sz="1350" b="0" i="0">
                <a:solidFill>
                  <a:srgbClr val="4B5563"/>
                </a:solidFill>
                <a:latin typeface="Calibri"/>
              </a:rPr>
              <a:t>Textbook 1: Chapter – 6 (6.1-6.4, 6.6, 6.7), 7 (7.1-7.7)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057400"/>
            <a:ext cx="4251960" cy="3977639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2057400"/>
            <a:ext cx="54864" cy="3977639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2148840"/>
            <a:ext cx="3867912" cy="3794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MODULE-3 SYLLABUS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Process Synchronization: Background, The critical section problem; Peterson's solution; Synchronization hardware; Semaphores; Classical problems of synchronization. Deadlocks: System model; Deadlock characterization; Methods for handling deadlocks; Deadlock prevention; Deadlock avoidance; Deadlock detection and recovery from deadlock.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3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Peterson's algorithm, stress-tested for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textbook solution, compiled and run: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per-thread iterations: 100000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two threads, one counter, every increment contested.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Arithmetic of the claim: </a:t>
            </a:r>
            <a:r>
              <a:rPr sz="1100" b="0" i="0">
                <a:solidFill>
                  <a:srgbClr val="B3261E"/>
                </a:solidFill>
                <a:latin typeface="Consolas"/>
              </a:rPr>
              <a:t>shared counter increments expected: 200000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and the same number printed as the final value.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two failure modes, each counted to zero: </a:t>
            </a:r>
            <a:r>
              <a:rPr sz="1200" b="0" i="0">
                <a:solidFill>
                  <a:srgbClr val="B3261E"/>
                </a:solidFill>
                <a:latin typeface="Consolas"/>
              </a:rPr>
              <a:t>counter exact at 200000, overlaps 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mutual exclusion held under stress.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Peterson's two ideas in one breath each: flag[me] announces intent, turn yields politely — progress and bounded waiting follow from that pair.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Hardware siblings for the 8-marker: disable interrupts, and atomic test-and-set / compare-and-swap.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src/os_m3_peterson.c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/* OS-M3 demo: Peterson's solution, run for real under stress.  Two threads each increment 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shared counter 100000 times inside the critical section the protocol protects.  If mutual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exclusion holds, the final count is EXACTLY 200000 -- any violation is additionally caught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by an in-CS overlap instrument (checked while holding the CS, so the check itself is safe).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Textbook-1 ch.6 (6.4, Fig. 6.6).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&lt;stdatomic.h&gt;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&lt;pthread.h&gt;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#define N 100000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_Atomic int flag[2];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_Atomic int turn;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long counter;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int inside;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long violations;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void crit_enter(int 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int other = me ^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atomic_store(&amp;flag[me], 1);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atomic_store(&amp;turn, other);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while (atomic_load(&amp;flag[other]) == 1 &amp;&amp; atomic_load(&amp;turn) == other)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;                                          /* busy wait -- bounded, that is the protocol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inside++;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if (inside != 1) violations++;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void crit_exit(int 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3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Banker's algorithm: lend only to the 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classic state (5 processes × 3 classes):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Available {3, 3, 2}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with Need = Max − Alloc for every row.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Safety first, printed: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safe sequence: P1 P3 P4 P0 P2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an order in which every process can finish.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Request 1 granted on the spot: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GRANTED -- provisional state is SAFE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Request 2 refused for arithmetic: </a:t>
            </a:r>
            <a:r>
              <a:rPr sz="1050" b="0" i="0">
                <a:solidFill>
                  <a:srgbClr val="B3261E"/>
                </a:solidFill>
                <a:latin typeface="Consolas"/>
              </a:rPr>
              <a:t>DENIED: resources not available (avail {2, 3, 0})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; request 3 refused for safety: </a:t>
            </a:r>
            <a:r>
              <a:rPr sz="1100" b="0" i="0">
                <a:solidFill>
                  <a:srgbClr val="B3261E"/>
                </a:solidFill>
                <a:latin typeface="Consolas"/>
              </a:rPr>
              <a:t>leave an UNSAFE state -- rolled back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Prevention vs avoidance is the 10-mark pair: prevention breaks one of the four necessary conditions up front; avoidance checks every state before lending.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src/os05_bankers.c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/* OS-05: Banker's algorithm for deadlock avoidance.  Textbook-1 ch.7 (7.5.3, Fig. 7.4 --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the classic 5-process / 3-resource example).  Prints the Need matrix, a safe sequence,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then evaluates three requests: one grant, two well-motivated denials.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#define P 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#define R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static int alloc[P][R] = { {0,1,0}, {2,0,0}, {3,0,2}, {2,1,1}, {0,0,2}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static int mx   [P][R] = { {7,5,3}, {3,2,2}, {9,0,2}, {2,2,2}, {4,3,3}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static int avail[R]    = { 3, 3, 2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static int need[P][R];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static int safe(int work[R], int finish[P], char *seq, int seqlen)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int done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for (int i = 0; i &lt; P; i++) finish[i]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int w[R];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for (int i = 0; i &lt; R; i++) w[i] = work[i];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seq[0] = '\0';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while (done &lt; P)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    int progressed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    for (int i = 0; i &lt; P;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        if (finish[i])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        int ok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        for (int j = 0; j &lt; R; j++)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            if (need[i][j] &gt; w[j]) { ok = 0; break;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        if (ok)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              finish[i] = 1; done++;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2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3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Worked Demo — os05_bankers (compiled &amp; captured)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126480" cy="4800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12648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23060"/>
            <a:ext cx="5833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src/os05_bankers.c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581558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OS-05: Banker's algorithm for deadlock avoidance.  Textbook-1 ch.7 (7.5.3, Fig. 7.4 --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the classic 5-process / 3-resource example).  Prints the Need matrix, a safe sequence,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then evaluates three requests: one grant, two well-motivated denials.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P 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R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alloc[P][R] = { {0,1,0}, {2,0,0}, {3,0,2}, {2,1,1}, {0,0,2}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mx   [P][R] = { {7,5,3}, {3,2,2}, {9,0,2}, {2,2,2}, {4,3,3}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avail[R]    = { 3, 3, 2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need[P][R];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safe(int work[R], int finish[P], char *seq, int seqlen)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done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P; i++) finish[i]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w[R];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R; i++) w[i] = work[i];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seq[0] = '\0';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while (done &lt; P)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int progressed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for (int i = 0; i &lt; P;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if (finish[i])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int ok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for (int j = 0; j &lt; R; j++)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    if (need[i][j] &gt; w[j]) { ok = 0; break;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if (ok)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    finish[i] = 1; done++;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    seqlen += snprintf(seq + seqlen, 64 - seqlen, "%sP%d", done == 1 ? "" : " ", i);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    for (int j = 0; j &lt; R; j++) w[j] += alloc[i][j];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    progressed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72768"/>
            <a:ext cx="4846320" cy="480060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gcc · run — out/os05_bankers.txt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938528"/>
            <a:ext cx="457200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$ gcc -O0 -Wall -Wextra -std=gnu17 -o build/bin/os05_bankers src/os05_bankers.c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$ ./build/bin/os05_bankers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== OS-05  Banker's algorithm: safety first, lend only to the safe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system: 5 processes, 3 resource classes, total allocation state from Fig. 7.4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P0  Alloc {0, 1, 0}   Max {7, 5, 3}   Need {7, 4, 3}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P1  Alloc {2, 0, 0}   Max {3, 2, 2}   Need {1, 2, 2}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P2  Alloc {3, 0, 2}   Max {9, 0, 2}   Need {6, 0, 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P3  Alloc {2, 1, 1}   Max {2, 2, 2}   Need {0, 1, 1}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P4  Alloc {0, 0, 2}   Max {4, 3, 3}   Need {4, 3, 1}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Available {3, 3, 2}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safety algorithm: state is SAFE; safe sequence: P1 P3 P4 P0 P2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three requests, evaluated exactly as the textbook does: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 P1 requests {1, 0, 2}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     GRANTED -- provisional state is SAFE, sequence P1 P3 P4 P0 P2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 P4 requests {3, 3, 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     DENIED: resources not available (avail {2, 3, 0})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 P0 requests {0, 2, 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     DENIED: granting it would leave an UNSAFE state -- rolled back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available after the single grant: {2, 3, 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850" b="0" i="0">
                <a:solidFill>
                  <a:srgbClr val="14171C"/>
                </a:solidFill>
                <a:latin typeface="Consolas"/>
              </a:rPr>
              <a:t>OS05 RESULT: initial safe seq P1 P3 P4 P0 P2, grant/deny/deny decisions as textbook -- PASS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3 · SELF-TEST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3 — Checkpoint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15568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Q1.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State the three requirements of a critical-section solution and show which one Peterson satisfies through the turn variable alone.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Q2.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Why must flag[] and turn be atomics in C11? One reordering scenario in three sentences.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Q3.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Give the wait/post pseudocode for the semaphore of this chapter's demo and mark where the blocked process goes while S≤0.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Q4.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For the bounded-buffer demo: name the three semaphores, their initial values, and the exact interleaving-free reason the capture's running sum is reproducible.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Q5.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The four deadlock conditions — one prevention mechanism per condition.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Q6.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Run the safety algorithm by hand on Activity 5's table with Available {3,3,2}; name the safe sequence; then show why P0's request {0,2,0} fails.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Q7.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Detection vs avoidance: what information each assumes, and what recovery each is allowed (one paragraph).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B5563"/>
                </a:solidFill>
                <a:latin typeface="Calibri"/>
              </a:rPr>
              <a:t>Model answers: course book §3.5 — these are IA-test-shaped practice.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4 — Memory Management and Virtual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CO4</a:t>
            </a:r>
            <a:r>
              <a:rPr sz="1300" b="0" i="0">
                <a:solidFill>
                  <a:srgbClr val="4B5563"/>
                </a:solidFill>
                <a:latin typeface="Calibri"/>
              </a:rPr>
              <a:t>    ·    08 hours</a:t>
            </a:r>
            <a:r>
              <a:rPr sz="1250" b="0" i="0">
                <a:solidFill>
                  <a:srgbClr val="4B5563"/>
                </a:solidFill>
                <a:latin typeface="Calibri"/>
              </a:rPr>
              <a:t>    ·    Silberschatz: Chapter -8 (8.1-8.6), 9 (9.1-9.6)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6720840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Memory Management: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Memory management strategies: Background; Swapping; Contiguous memory allocation; Paging; Structure of page table; Segmentation.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Virtual Memory Management: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Background; Demand paging; Copy-on-write; Page replacement; Allocation of frames; Thrashing.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4B5563"/>
                </a:solidFill>
                <a:latin typeface="Calibri"/>
              </a:rPr>
              <a:t>Reading: </a:t>
            </a:r>
            <a:r>
              <a:rPr sz="1350" b="0" i="0">
                <a:solidFill>
                  <a:srgbClr val="4B5563"/>
                </a:solidFill>
                <a:latin typeface="Calibri"/>
              </a:rPr>
              <a:t>Textbook 1: Chapter -8 (8.1-8.6), 9 (9.1-9.6)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057400"/>
            <a:ext cx="4251960" cy="3977639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2057400"/>
            <a:ext cx="54864" cy="3977639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2148840"/>
            <a:ext cx="3867912" cy="3794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MODULE-4 SYLLABUS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Memory Management: Memory management strategies: Background; Swapping; Contiguous memory allocation; Paging; Structure of page table; Segmentation. Virtual Memory Management: Background; Demand paging; Copy-on-write; Page replacement; Allocation of frames; Thrashing.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4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Paging is a table lookup — watch the addresses move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split every numerical uses: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page size 1024 bytes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low m bits never move; high bits index the 8-entry table.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A real translation from the demo: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page 5 offset 281 -&gt; frame 3 -&gt; physical 3353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Neighbours prove the point: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page 5 offset 282 -&gt; frame 3 -&gt; physical 3354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one byte apart logically, one byte apart physically, because the same page; 2212 lands at 2212 only because its frame happens to be 2.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Translation's bill: </a:t>
            </a:r>
            <a:r>
              <a:rPr sz="1100" b="0" i="0">
                <a:solidFill>
                  <a:srgbClr val="B3261E"/>
                </a:solidFill>
                <a:latin typeface="Consolas"/>
              </a:rPr>
              <a:t>2 memory accesses per reference without a TLB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; one with a TLB hit — why hit ratios own every exam question here.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Contiguous sibling (LA-6): FF / BF / WF differ only in which hole they pick — total waste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chosen holes): 502 KB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first-fit vs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chosen holes): 226 KB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best-fit on the capture.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src/os_m4_paging.c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/* OS-M4 demo: paging address translation, done the way the hardware's MMU does it: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p = a / 2^m ; d = a mod 2^m ; physical = f * 2^m + d.  1K pages, 8-entry page table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(Silberschatz Fig. 8.12 values).  Also: effective memory access count with a tlb.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static int pt[8] = { 6, 1, 2, 4, 5, 3, 7, 0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int m = 10;                                   /* 2^10 = 1024-byte page   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int pgsize = 1 &lt;&lt; m;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printf("== M4 demo  logical -&gt; physical translation through an 8-entry page table ==\n\n");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printf("page table (frame per page): 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for (int p = 0; p &lt; 8; p++) printf("%d ", pt[p]);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printf("\npage size %d bytes, address bits below m=%d are the offset\n\n", pgsize, m);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int addrs[3] = { 5401, 2212, 5402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for (int i = 0; i &lt; 3;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    int a = addrs[i];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    int p = a / pgsize, d = a % pgsize, f = pt[p];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    printf("logical %4d : page %d offset %3d -&gt; frame %d -&gt; physical %d\n",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           a, p, d, f, f * pgsize + d);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printf("\n5401 and 5402 differ by ONE byte of logical address but sit at %d and %d of physical\n",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       pt[5401 / pgsize] * pgsize + 5401 % pgsize,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       pt[5402 / pgsize] * pgsize + 5402 % pgsize);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printf("(the two pages are non-adjacent frames -- exactly why paging needs the table at all)\n\n");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printf("cost accounting for translation: 2 memory accesses per reference without a TLB;\n");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  printf("with a TLB hit, 1 -- that is why the hit-ratio rows appear in every exam question\n");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2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4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Page replacement: FIFO vs LRU, and Belady's spite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One reference string, traced frame by frame: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7 0 1 2 0 3 0 4 2 3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with 3 frames.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Counted faults: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FIFO page faults: 9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vs </a:t>
            </a:r>
            <a:r>
              <a:rPr sz="1300" b="0" i="0">
                <a:solidFill>
                  <a:srgbClr val="B3261E"/>
                </a:solidFill>
                <a:latin typeface="Consolas"/>
              </a:rPr>
              <a:t>LRU page faults: 8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the cheaper policy is workload-bound, not law.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Belady's anomaly, same family, twice more: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3 frames -&gt; 9 faults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but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4 frames -&gt; 10 faults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the capture's own words: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more frames, MORE faults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Why LRU never does that: it is a stack algorithm — adding frames never evicts sooner. Say it, it is the follow-up.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Thrashing is the same accounting gone global: too few frames → fault rate climbs → CPU utilisation collapses; working sets are the cure.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src/os07_pagereplace.c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/* OS-07: Page replacement -- FIFO and LRU with 3 frames, plus the Belady anomaly.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Textbook-1 ch.9 (9.5): reference string 7 0 1 2 0 3 0 4 2 3; anomaly string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1 2 3 4 1 2 5 1 2 3 4 5.  Frames are a shift register for FIFO and an age list for LRU.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int fifo_faults(const int *ref, int n, int fr)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int f[4] = { -1, -1, -1, -1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int faults = 0, ptr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for (int k = 0; k &lt; n; k++)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int hit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for (int i = 0; i &lt; fr; i++) if (f[i] == ref[k]) { hit = 1; break;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if (!hit)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    f[ptr] = ref[k];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    ptr = (ptr + 1) % fr;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    faults++;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return faults;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int ref[10]   = { 7, 0, 1, 2, 0, 3, 0, 4, 2, 3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int bad[12]   = { 1, 2, 3, 4, 1, 2, 5, 1, 2, 3, 4, 5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printf("== OS-07  FIFO vs LRU on 7 0 1 2 0 3 0 4 2 3 with 3 frames ==\n\n");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int f3[3] = { -1, -1, -1 }, ptr = 0, faults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4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Worked Demo — os_m4_paging (compiled &amp; captured)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126480" cy="4800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12648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23060"/>
            <a:ext cx="5833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src/os_m4_paging.c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581558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OS-M4 demo: paging address translation, done the way the hardware's MMU does it: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p = a / 2^m ; d = a mod 2^m ; physical = f * 2^m + d.  1K pages, 8-entry page table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(Silberschatz Fig. 8.12 values).  Also: effective memory access count with a tlb.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pt[8] = { 6, 1, 2, 4, 5, 3, 7, 0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m = 10;                                   /* 2^10 = 1024-byte page   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pgsize = 1 &lt;&lt; m;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printf("== M4 demo  logical -&gt; physical translation through an 8-entry page table ==\n\n");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printf("page table (frame per page): 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p = 0; p &lt; 8; p++) printf("%d ", pt[p]);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printf("\npage size %d bytes, address bits below m=%d are the offset\n\n", pgsize, m);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addrs[3] = { 5401, 2212, 5402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3;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int a = addrs[i];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int p = a / pgsize, d = a % pgsize, f = pt[p];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printf("logical %4d : page %d offset %3d -&gt; frame %d -&gt; physical %d\n",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   a, p, d, f, f * pgsize + d);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printf("\n5401 and 5402 differ by ONE byte of logical address but sit at %d and %d of physical\n",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pt[5401 / pgsize] * pgsize + 5401 % pgsize,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pt[5402 / pgsize] * pgsize + 5402 % pgsize);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printf("(the two pages are non-adjacent frames -- exactly why paging needs the table at all)\n\n");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printf("cost accounting for translation: 2 memory accesses per reference without a TLB;\n");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printf("with a TLB hit, 1 -- that is why the hit-ratio rows appear in every exam question\n");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printf("\nOS-M4 RESULT: 3 translations incl. the 1-byte-apart contrast, table of 8 entries -- PASS\n");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72768"/>
            <a:ext cx="4846320" cy="480060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gcc · run — out/os_m4_paging.txt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938528"/>
            <a:ext cx="457200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$ gcc -O0 -Wall -Wextra -std=gnu17 -o build/bin/os_m4_paging src/os_m4_paging.c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$ ./build/bin/os_m4_paging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== M4 demo  logical -&gt; physical translation through an 8-entry page table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page table (frame per page): 6 1 2 4 5 3 7 0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page size 1024 bytes, address bits below m=10 are the offset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logical 5401 : page 5 offset 281 -&gt; frame 3 -&gt; physical 3353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logical 2212 : page 2 offset 164 -&gt; frame 2 -&gt; physical 2212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logical 5402 : page 5 offset 282 -&gt; frame 3 -&gt; physical 3354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5401 and 5402 differ by ONE byte of logical address but sit at 3353 and 3354 of physical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(the two pages are non-adjacent frames -- exactly why paging needs the table at all)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cost accounting for translation: 2 memory accesses per reference without a TLB;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with a TLB hit, 1 -- that is why the hit-ratio rows appear in every exam question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970" b="0" i="0">
                <a:solidFill>
                  <a:srgbClr val="14171C"/>
                </a:solidFill>
                <a:latin typeface="Consolas"/>
              </a:rPr>
              <a:t>OS-M4 RESULT: 3 translations incl. the 1-byte-apart contrast, table of 8 entries -- PASS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4 · SELF-TEST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4 — Checkpoint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15568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Q1.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 32-bit machine, 4 KB pages, 4-byte PTE: size of a one-level page table per process? Then the two-level version's cost for a program touching 2 data regions.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Q2.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Translate 0x2A5D (assume 1K pages, the demo's table extended as you define): state p, d, frame choice; justify why d never appears in the table.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Q3.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Define internal vs external fragmentation with one allocation scheme each; which one does paging have (name the term for it: the last-page effect)?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Q4.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For the Activity 6 table: name every hole that BEST fit considered for P3 and why each lost.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Q5.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Prove that OPT is optimal via the exchange argument in three sentences.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Q6.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On the Activity 7 string: state which FIFO victim produced 9 vs LRU's 8 — which reference's arrival distinguishes them (row-level)?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Q7.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Give the EAT formula; then: memory access 100 ns, fault service 8 ms, p = 0.001 — EAT? Double p and compare.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Q8.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Why can LRU never show Belady's anomaly (one sentence about the stack property)?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B5563"/>
                </a:solidFill>
                <a:latin typeface="Calibri"/>
              </a:rPr>
              <a:t>Model answers: course book §4.5 — these are IA-test-shaped practice.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A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5 — File Systems and Mass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CO5</a:t>
            </a:r>
            <a:r>
              <a:rPr sz="1300" b="0" i="0">
                <a:solidFill>
                  <a:srgbClr val="4B5563"/>
                </a:solidFill>
                <a:latin typeface="Calibri"/>
              </a:rPr>
              <a:t>    ·    08 hours</a:t>
            </a:r>
            <a:r>
              <a:rPr sz="1250" b="0" i="0">
                <a:solidFill>
                  <a:srgbClr val="4B5563"/>
                </a:solidFill>
                <a:latin typeface="Calibri"/>
              </a:rPr>
              <a:t>    ·    Silberschatz: Chapter - 10 (10.1-10.5), 11 (11.1-11.5), 12 (12.1-12.5)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6720840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File System: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File concept; Access methods; Directory and Disk structure; File system mounting; File sharing.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Implementing File system: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File system structure; File system implementation; Directory implementation; Allocation methods; Free space management.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Mass Storage Structure: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Mass storage structures; Disk structure; Disk attachment; Disk scheduling; Disk management.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4B5563"/>
                </a:solidFill>
                <a:latin typeface="Calibri"/>
              </a:rPr>
              <a:t>Reading: </a:t>
            </a:r>
            <a:r>
              <a:rPr sz="1350" b="0" i="0">
                <a:solidFill>
                  <a:srgbClr val="4B5563"/>
                </a:solidFill>
                <a:latin typeface="Calibri"/>
              </a:rPr>
              <a:t>Textbook 1: Chapter – 10 (10.1-10.5), 11 (11.1-11.5), 12 (12.1-12.5)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057400"/>
            <a:ext cx="4251960" cy="3977639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2057400"/>
            <a:ext cx="54864" cy="3977639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2148840"/>
            <a:ext cx="3867912" cy="3794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MODULE-5 SYLLABUS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File System: File concept; Access methods; Directory and Disk structure; File system mounting; File sharing. Implementing File system: File system structure; File system implementation; Directory implementation; Allocation methods; Free space management. Mass Storage Structure: Mass storage structures; Disk structure; Disk attachment; Disk scheduling; Disk management.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5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What the OS keeps about a file — size, blocks, bitmap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One real file, metadata only: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st_size = 1500 bytes, mode = 0600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0600 is also CO6's first lesson: permissions are the policy.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Overwrite at an offset leaves size untouched; after ftruncate the capture prints </a:t>
            </a:r>
            <a:r>
              <a:rPr sz="1200" b="0" i="0">
                <a:solidFill>
                  <a:srgbClr val="B3261E"/>
                </a:solidFill>
                <a:latin typeface="Consolas"/>
              </a:rPr>
              <a:t>st_size = 1000 bytes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the OS drops the tail blocks for us.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Free space as a bitmap, watched block by block: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free data blocks: 27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after the free,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free data blocks: 20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when f3 arrives.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Contiguity's tax, printed: </a:t>
            </a:r>
            <a:r>
              <a:rPr sz="1250" b="0" i="0">
                <a:solidFill>
                  <a:srgbClr val="B3261E"/>
                </a:solidFill>
                <a:latin typeface="Consolas"/>
              </a:rPr>
              <a:t>15 blocks starting at 17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is the biggest contiguous run — a 7-block request needs consecutive blocks, and the 5-block hole is not enough.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Allocation methods in one line each: contiguous (fast, relocation pain), linked (no external frag, pointer tax), indexed (random access, index block cost).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src/os_m5_fsbitmap.c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/* OS-M5 demo: file system in miniature -- real file metadata (open/write/lseek/ftruncate/stat)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side by side with a simulated 32-block free-space bitmap managed first-fit.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Textbook-1 ch.10 (10.3 access methods, 10.5.4 free-space management).  argv[1] = work dir.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&lt;fcntl.h&gt;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&lt;sys/stat.h&gt;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#define NB 32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char bm[NB];                                /* 'u' used, '.' free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int first_fit(int want)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for (int b = 1; b + want &lt;= NB; b++) {          /* block 0 = superblock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int ok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for (int k = 0; k &lt; want; k++) if (bm[b + k] != '.') { ok = 0; break;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if (ok)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    for (int k = 0; k &lt; want; k++) bm[b + k] = 'u';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    return 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return -1;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void release(int start, int 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for (int k = 0; k &lt; n; k++) bm[start + k] = '.';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5 ·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Disk scheduling is seek arithmetic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40080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classic queue, unchanged by the syllabus: </a:t>
            </a:r>
            <a:r>
              <a:rPr sz="1100" b="0" i="0">
                <a:solidFill>
                  <a:srgbClr val="B3261E"/>
                </a:solidFill>
                <a:latin typeface="Consolas"/>
              </a:rPr>
              <a:t>queue 98,183,37,122,14,124,65,67 (head 53)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Three policies, three bills: </a:t>
            </a:r>
            <a:r>
              <a:rPr sz="1100" b="0" i="0">
                <a:solidFill>
                  <a:srgbClr val="B3261E"/>
                </a:solidFill>
                <a:latin typeface="Consolas"/>
              </a:rPr>
              <a:t>numbers from this run: FCFS 640, SCAN 236, C-SCAN 386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cylinders of head movement.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The elevator earns its keep: 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SCAN beats FCFS by 404 cylinders here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 — that is the whole argument, captured.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C-SCAN's premium is the return jump, counted; LOOK and C-LOOK simply stop at the last request.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6181D"/>
                </a:solidFill>
                <a:latin typeface="Calibri"/>
              </a:rPr>
              <a:t>Why FCFS survives in proofs: it is starvation-free; SSTF and SCAN favour the middle of the disk.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00200"/>
            <a:ext cx="4480560" cy="4754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600200"/>
            <a:ext cx="448056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1650492"/>
            <a:ext cx="4187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src/os10_scan.c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002536"/>
            <a:ext cx="4169664" cy="427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/* OS-10: Disk scheduling -- FCFS vs SCAN (elevator) vs C-SCAN on the classic queue.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Textbook-1 ch.12 (12.2.3, Fig. 12.9): queue 98 183 37 122 14 124 65 67, head at 53,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cylinders 0..199, initial direction = toward 0.  The program prints the service order,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every seek segment, and the total head movement for each policy.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int q[8] = { 98, 183, 37, 122, 14, 124, 65, 67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int cmp(const void *a, const void *b)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return *(const int *)a - *(const int *)b;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static long policy(const char *name, int mode, const char *note)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long move = 0, head = 53;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int n = 8, ord[16], m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int sorted[8];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for (int i = 0; i &lt; n; i++) sorted[i] = q[i];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qsort(sorted, n, sizeof sorted[0], cmp);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if (mode == 0) {                                /* FCFS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for (int i = 0; i &lt; n; i++) ord[m++] = q[i];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} else if (mode == 1) {                         /* SCAN toward 0 first, then up to 199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for (int i = n - 1; i &gt;= 0; i--)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    if (sorted[i] &lt; 53) ord[m++] = sorted[i];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ord[m++] = 0;                               /* bounce off cylinder 0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      for (int i = 0; i &lt; n; i++)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8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5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Worked Demo — os_m5_fsbitmap (compiled &amp; captured)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6126480" cy="4800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12648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23060"/>
            <a:ext cx="5833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src/os_m5_fsbitmap.c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5815584" cy="4325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OS-M5 demo: file system in miniature -- real file metadata (open/write/lseek/ftruncate/stat)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side by side with a simulated 32-block free-space bitmap managed first-fit.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Textbook-1 ch.10 (10.3 access methods, 10.5.4 free-space management).  argv[1] = work dir.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&lt;fcntl.h&gt;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&lt;sys/stat.h&gt;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NB 32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char bm[NB];                                /* 'u' used, '.' free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first_fit(int want)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b = 1; b + want &lt;= NB; b++) {          /* block 0 = superblock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int ok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for (int k = 0; k &lt; want; k++) if (bm[b + k] != '.') { ok = 0; break;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if (ok)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for (int k = 0; k &lt; want; k++) bm[b + k] = 'u';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return 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return -1;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void release(int start, int 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k = 0; k &lt; n; k++) bm[start + k] = '.';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void dump(const char *when)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72768"/>
            <a:ext cx="4846320" cy="480060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gcc · run — out/os_m5_fsbitmap.txt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4304" y="1938528"/>
            <a:ext cx="457200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$ gcc -O0 -Wall -Wextra -std=gnu17 -o build/bin/os_m5_fsbitmap src/os_m5_fsbitmap.c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$ ./build/bin/os_m5_fsbitmap /home/user/os-course/build/work/os_m5_fsbitmap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== M5 demo  what the OS records about a file, and how it keeps free space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PART 1 -- one real file, metadata only (this box, this filesystem):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after write 1500 : st_size = 1500 bytes, mode = 0600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byte 1024 now    : "OS"  (two bytes overwritten at an offset, size unchanged: yes)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after ftruncate  : st_size = 1000 bytes -- the OS drops the tail blocks for 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PART 2 -- free-space management: 32-block disk, bitmap, first-fit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empty (superblock only):     [#...............................]  free data blocks: 31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f1 wants 5 -&gt; starts at block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after allocate f1:           [######..........................]  free data blocks: 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f2 wants 4 -&gt; starts at block 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after allocate f2:           [##########......................]  free data blocks: 22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f1 deleted (5 blocks back to '.' at 1..5)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after free f1:               [#.....####......................]  free data blocks: 27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f3 wants 7 -&gt; first-fit needs 7 CONSECUTIVE free; the 5-block hole is not enough: starts at 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 after allocate f3:           [#.....###########...............]  free data blocks: 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biggest contiguous free run now: 15 blocks starting at 17 -- a 6-block request would FAIL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that is contiguous allocation's tax: free space exists (20 of 31 data blocks) but not where you need 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90" b="0" i="0">
                <a:solidFill>
                  <a:srgbClr val="14171C"/>
                </a:solidFill>
                <a:latin typeface="Consolas"/>
              </a:rPr>
              <a:t>OS-M5 RESULT: size checks 3/3 consistent; hole of 5 survives a 7-block request -- PASS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MODULE 5 · SELF-TEST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Module 5 — Checkpoint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15568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Q1.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Define a file as the OS sees it; list the attribute set and name which three the open() call returns to the caller's table.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Q2.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Single vs two-level directory: state the name-collision rules each enforces, quoting Activity 8's two verdict lines.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Q3.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Draw the three-level open plumbing and locate the read-offset in it — one arrow per lookup.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Q4.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Activity 9: why is a 6-block request in a 5-block hole a FAIL for a bitmap-first-fit CONTIGUOUS allocator? Which allocation method makes the same request succeed instantly?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Q5.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Compute: 4 KB block, 4 B pointer, inode with 12 direct + 1 single indirect. Max file size? Then how far do you seek to read byte 5,000,000?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Q6.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State the five disk schedulers and one sentence each on their failure/limit; name the one Linux's default replaces with a deadline.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Q7.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On Activity 10's queue: predict SCAN's total before the capture — bounce at 0 included — and explain what a LOOK variant saves.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B3261E"/>
                </a:solidFill>
                <a:latin typeface="Calibri"/>
              </a:rPr>
              <a:t>Q8.  </a:t>
            </a:r>
            <a:r>
              <a:rPr sz="1450" b="0" i="0">
                <a:solidFill>
                  <a:srgbClr val="16181D"/>
                </a:solidFill>
                <a:latin typeface="Calibri"/>
              </a:rPr>
              <a:t>badahead vs bbsmap in three lines; which one a vendor tool's reallocated-sector count implies.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B5563"/>
                </a:solidFill>
                <a:latin typeface="Calibri"/>
              </a:rPr>
              <a:t>Model answers: course book §5.5 — these are IA-test-shaped practice.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P A R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36289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200" b="1" i="0">
                <a:solidFill>
                  <a:srgbClr val="B3261E"/>
                </a:solidFill>
                <a:latin typeface="Calibri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952" y="3310128"/>
            <a:ext cx="1527048" cy="228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Learning Activities 1 to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041648"/>
            <a:ext cx="871697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The ten prescribed problems of the 25-mark activity. Each pair shows the question verbatim with its program and captured run, then the observations the rubric pays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167" y="4718304"/>
            <a:ext cx="10881360" cy="1679702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2911" y="4837176"/>
            <a:ext cx="5111496" cy="1460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IN THIS PART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1 — fork/exec/wait/exit live on the kernel +…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2 — FCFS/SJF/RR/Priority tables, WT/TAT…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3 — true concurrent producer/consumer, 2…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4 — reader/writer over mkfifo with framing;…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5 — Banker: safe sequence, one grant, two…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3591" y="4837176"/>
            <a:ext cx="5111496" cy="1460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6 — first/best/worst fit on the 6-hole row —…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7 — FIFO 9 vs LRU 8 faults + Belady 10&gt;9…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8 — one-level vs two-level directory,…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9 — linked allocation chains that scatter,…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94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940" b="0" i="0">
                <a:solidFill>
                  <a:srgbClr val="16181D"/>
                </a:solidFill>
                <a:latin typeface="Calibri"/>
              </a:rPr>
              <a:t>Activity 10 — FCFS/SCAN/C-SCAN head movement…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Learning Activity 1 — Process system calls: fork, exec, wait, create and terminate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Develop a C program to implement the Process system calls (fork (), exec(), wait(), create process, terminate process)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src/os01_proc_calls.c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OS-01: Process system calls -- fork(), exec(), wait(), create process, terminate process.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Textbook-1 ch.3 (3.6-3.8).  Two things this program demonstrates on purpose: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(1) fork() copies the WHOLE address space, including unflushed stdio buffers --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capture below shows the parent's buffered lines replayed by the child (once), then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fixed with fflush(NULL);  (2) pid values are NEVER printed -- they change every run,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and every number in this capture must be reproducible.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&lt;signal.h&gt;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&lt;sys/wait.h&gt;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printf("== OS-01  fork / exec / wait / exit : the process lifecycle in one session ==\n");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printf("[lesson] stdout here is a pipe, so printf output waits in a buffer.\n");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printf("[lesson] fork() copies memory INCLUDING that buffer. Demo A lets it happen:\n");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fflush(NULL);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printf("[demo A]   parent line 1 (still in buffer at fork time)\n");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printf("[demo A]   parent line 2 (still in buffer at fork time)\n");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pid_t a = fork();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if (a == 0)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printf("[demo A]   child line (child exits and flushes its own COPY of the buffer)\n");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exit(0);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out/os01_proc_calls.txt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$ gcc -O0 -Wall -Wextra -std=gnu17 -o build/bin/os01_proc_calls src/os01_proc_calls.c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$ ./build/bin/os01_proc_calls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== OS-01  fork / exec / wait / exit : the process lifecycle in one session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[lesson] stdout here is a pipe, so printf output waits in a buffer.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[lesson] fork() copies memory INCLUDING that buffer. Demo A lets it happen: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A]   parent line 1 (still in buffer at fork time)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A]   parent line 2 (still in buffer at fork time)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A]   child line (child exits and flushes its own COPY of the buffer)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A]   parent line 1 (still in buffer at fork time)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A]   parent line 2 (still in buffer at fork time)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A] the child just replayed the parent's two buffered lines -- count them above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B] same demo, fflush(NULL) BEFORE fork -- the child inherits nothing: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B]   parent line (flushed, so not in the child's buffer)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B]   child line (no duplicate parent lines this time)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[demo B] one copy of each line -- this is why OS code flushes before forking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[create] fork returns 0 in the child and a positive pid in the parent: parent saw &gt;0, child branch ran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[terminate] a child's exit(7) comes back through the wait status: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WIFEXITED=yes  exit code recovered=7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[create] three children, each created and reaped one at a time: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child 1 of 3 exited with code 11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child 2 of 3 exited with code 12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child 3 of 3 exited with code 13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[exec] fork then execlp("echo",...): the child IMAGE is replaced; its pid survives: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hello-from-the-exec-ed-program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exec'd child finished normally: yes (status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[terminate] death by signal is reported differently from death by exit():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WIFSIGNALED=yes  killing signal=9 (SIGKILL)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OS01 RESULT: fork/exec/wait/exit all exercised; buffered replay 1x, clean fork 0x -- PASS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1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exit code survives the kernel round-trip: the parent prints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exit code recovered=7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for a child that called</a:t>
            </a:r>
            <a:r>
              <a:rPr sz="1200" b="0" i="0">
                <a:solidFill>
                  <a:srgbClr val="16181D"/>
                </a:solidFill>
                <a:latin typeface="Consolas"/>
              </a:rPr>
              <a:t>exit(7)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proof the status word carries the code, and of why</a:t>
            </a:r>
            <a:r>
              <a:rPr sz="1200" b="0" i="0">
                <a:solidFill>
                  <a:srgbClr val="16181D"/>
                </a:solidFill>
                <a:latin typeface="Consolas"/>
              </a:rPr>
              <a:t>wait()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must run before it can be read.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three sequential reaps (codes 11, 12, 13) show creation and termination as paired bookkeeping: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child 1 of 3 exited with code 11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one child, one wait, in order, so no pid-value dependence sneaks into the capture.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exec demo prints the foreign program's stdout inside this one: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hello-from-the-exec-ed-program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a different image ran under the same pid; the parent's wait status then reports its normal exit.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Abnormal termination is a different branch, not a different code: the capture reads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killing signal=9 (SIGKILL)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exactly the fork/exit/wait/kill contract the problem statement asks to implement.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Demo A shows fork's buffered-copy effect — the parent's two lines appear again from the child's flush; demo B, after</a:t>
            </a:r>
            <a:r>
              <a:rPr sz="1200" b="0" i="0">
                <a:solidFill>
                  <a:srgbClr val="16181D"/>
                </a:solidFill>
                <a:latin typeface="Consolas"/>
              </a:rPr>
              <a:t>fflush(NULL)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, shows the single copy. The verdict line counts both: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buffered replay 1x, clean fork 0x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does fork() return twice and exec() never return (on success)?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What did the child's extra print in demo A really demonstrate?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Where does the exit status live between a child's death and the parent's wait?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Fork runs once per address space that results — parent gets the child pid, child gets 0; exec replaces the calling image entirely, so there is no code left to return — only a -1/error return if the load fails.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All five prescribed operations were executed against the real Linux kernel — 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Learning Activity 2 — CPU scheduling: FCFS, SJF, Round Robin and Priority — turnaround and waiting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Simulate the following CPU scheduling algorithms to find the turnaround time and waiting time: a) FCFS b) SJF c) Round Robin d) Priority.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src/os02_scheduling.c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OS-02: CPU scheduling simulator -- FCFS, SJF, Round Robin, Priority -- turnaround 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waiting time.  Textbook-1 ch.5 (5.3).  Four processes, all arriving at t=0, so the only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degrees of freedom are the service orders; RR quantum = 3.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N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burst[N] = { 8, 4, 9, 5 };               /* P1..P4 CPU bursts  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prio[N]  = { 3, 1, 0, 2 };               /* 0 = highest priority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comp[N];                                 /* completion per process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void report(const char *algo)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long tt = 0, tw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printf("%-9s  id  burst   WT  TAT\n", algo);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N;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long tat = comp[i];                         /* arrival 0, so TAT = completion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long wt  = tat - burst[i];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tt += tat; tw += wt;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printf("            P%d   %2d    %2ld  %2ld\n", i + 1, burst[i], wt, tat);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            averages:   WT %.2f  TAT %.2f\n", (double)tw / N, (double)tt / 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out/os02_scheduling.txt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$ gcc -O0 -Wall -Wextra -std=gnu17 -o build/bin/os02_scheduling src/os02_scheduling.c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$ ./build/bin/os02_scheduling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== OS-02  FCFS / SJF / Round-Robin / Priority on one workload (bursts 8,4,9,5)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workload: P1=8 P2=4 P3=9 P4=5 ; all arrive at 0 ; priorities 3,1,0,2 (0 top)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FCFS       id  burst   WT  TAT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P1    8     0   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P2    4     8  12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P3    9    12  21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P4    5    21  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averages:   WT 10.25  TAT 16.75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SJF        id  burst   WT  TAT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P1    8     9  17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P2    4     0  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P3    9    17  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P4    5     4   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averages:   WT 7.50  TAT 14.00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RR(q=3)   service order: P1 P2 P3 P4 P1 P2 P3 P4 P1 P3 (quantum 3)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RR         id  burst   WT  TAT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P1    8    15  23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P2    4    12  16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P3    9    17  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…  3 more lines omitted — complete listing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P1    8    18  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P2    4     9  13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P3    9     0   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P4    5    13  18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          averages:   WT 10.00  TAT 16.50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OS02 RESULT: four schedulers, same workload, WT/TAT computed -- PASS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2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Workload header, verbatim: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P1=8 P2=4 P3=9 P4=5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with all arrivals at 0 — every number in every table follows from this row alone.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FCFS queues the burst-9 job third: averages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WT 10.25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/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TAT 16.75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 SJF reorders to 4,5,8,9 and buys the theoretical minimum on this instance: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WT 7.50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/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TAT 14.00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RR is the fairness tax, quantified: average waiting rises to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WT 15.00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(every preemption pushes later work behind the queue) while every job's first slice arrives within one round — the service order line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service order: P1 P2 P3 P4 P1 P2 P3 P4 P1 P3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is reproducible by hand in a minute and belongs in the report next to the table.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Priority lands between: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WT 10.00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ordering by priority is not ordering by length, and the table shows why (P3, burst 9, runs first because its key is 0).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program's own closing verdict —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four schedulers, same workload, WT/TAT computed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is the one sentence the rubric's 'output correctness' row asks to quote.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is TAT = completion here, and when would that shortcut break?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Prove SJF is optimal for this instance, not just better: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What does the quantum trade against, in one sentence with numbers from the tables?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All arrivals are 0, so turnaround = finish − 0. With staggered arrivals TAT = finish − arrival and the RR/SJF choices change — the exercise adds exactly that (P5 arriving at 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All four algorithms were simulated on one shared workload; the captured 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Learning Activity 3 — Producer–consumer with semaphores (pthreads, POSIX unnamed)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Develop a C program to simulate producer-consumer problem using semaphores.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src/os03_producer_consumer.c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OS-03: Producer-consumer with POSIX semaphores + mutex, bounded buffer of 3, items 1..5.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Textbook-1 ch.6 (6.5 + Fig. 6.10).  The two threads run CONCURRENTLY; to keep the capture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deterministic each thread logs its own lines to its own buffer, and the parent prints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producer log and the consumer log as ordered blocks after both join.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&lt;pthread.h&gt;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&lt;semaphore.h&gt;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ITEMS 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BUFSZ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buf[BUFSZ], inq, outq, nbuf;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sem_t empty_slots, filled_slots, mutex;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char plog[ITEMS][96], clog[ITEMS][96];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void *producer(void *arg)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(void)arg;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k = 1; k &lt;= ITEMS; k++)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sem_wait(&amp;empty_slots);                 /* wait for a free slot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sem_wait(&amp;mutex);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int slot = inq;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buf[inq] = k;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out/os03_producer_consumer.txt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$ gcc -O0 -Wall -Wextra -std=gnu17 -pthread -o build/bin/os03_producer_consumer src/os03_producer_consumer.c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$ ./build/bin/os03_producer_consumer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== OS-03  bounded-buffer producer/consumer: 2 semaphores + 1 mutex, 5 items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buffer capacity 3, items 1..5 produced in order, consumed FIFO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producer log (in its own order):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[P] produced item 1 into slot 0 (producer at item 1/5)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[P] produced item 2 into slot 1 (producer at item 2/5)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[P] produced item 3 into slot 2 (producer at item 3/5)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[P] produced item 4 into slot 0 (producer at item 4/5)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[P] produced item 5 into slot 1 (producer at item 5/5)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consumer log (in its own order):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[C] consumed item 1 from slot 0 (running sum 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[C] consumed item 2 from slot 1 (running sum 3)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[C] consumed item 3 from slot 2 (running sum 6)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[C] consumed item 4 from slot 0 (running sum 10)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[C] consumed item 5 from slot 1 (running sum 15)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items produced 1..5 sum = 15 ; items consumed sum = 15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lost or duplicated items: 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final buffer occupancy after join: 0 (semaphores destroyed)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OS03 RESULT: 5 produced / 5 consumed / 0 lost, semaphore protocol held -- PASS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3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Setup line of the capture: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buffer capacity 3, items 1..5 produced in order, consumed FIFO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the ring is real (mod-3 cursor), visible at wrap time: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produced item 4 into slot 0 (producer at item 4/5)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consumer's ledger closes the arithmetic: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consumed item 5 from slot 1 (running sum 15)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against 1+2+3+4+5 = 15 — every item crossed the buffer exactly once.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audit line is the program's own: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lost or duplicated items: 0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computed, not claimed: the parent re-sums the parsed log lines.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Occupancy after join is 0 by construction and the verdict block reads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5 produced / 5 consumed / 0 lost, semaphore protocol held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Note what is absent: instantaneous occupancy numbers, which would be scheduler-dependent. The header explains why in one line: concurrency is real, print order is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Which two operations make the semaphore useful where a busy-wait flag is not?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does the buffer size matter if items are produced in order?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What would the capture look like if the mutex were removed?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Blocking: wait() sleeps a producer on an empty buffer instead of spinning; post() wakes one waiting thread — the queue inside the semaphore is what removes both CPU burn and starvation.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The classical bounded-buffer problem ran with true kernel-level concurrency; 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Learning Activity 4 — Reader/writer IPC over a FIFO: mkfifo, open, read, write, close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Develop a C program that demonstrates interprocess communication between a reader process and a writer process. Use mkfifo, open, read, write, and close APIs in your program.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src/os04_ipc_fifo.c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OS-04: Interprocess communication through a FIFO (named pipe) -- mkfifo, open, write,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read, close.  Textbook-1 ch.3 (3.8.1) + man 7 fifo.  Parent = writer, child = reader.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The reader's stdout would interleave with the writer's, so the reader logs to a side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file; the parent prints it as one ordered block after wait() -- capture stays stable.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argv[1] = work directory (created by the harness).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&lt;fcntl.h&gt;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&lt;sys/stat.h&gt;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&lt;sys/wait.h&gt;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ssize_t readn(int fd, void *buf, size_t n)   /* fill exactly n bytes, or hit EOF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size_t got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while (got &lt; n)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ssize_t r = read(fd, (char *)buf + got, n - got);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if (r &lt;= 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return got ? (ssize_t)got : 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got += (size_t)r;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return (ssize_t)got;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out/os04_ipc_fifo.txt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$ gcc -O0 -Wall -Wextra -std=gnu17 -o build/bin/os04_ipc_fifo src/os04_ipc_fifo.c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$ ./build/bin/os04_ipc_fifo /home/user/os-course/build/work/os04_ipc_fifo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== OS-04  reader/writer IPC over mkfifo: blocking open, write, read, close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mkfifo created 'readers-writers.fifo' (mode 0600)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note: a pipe is a BYTE stream -- one length byte per message gives it framing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stat: is a FIFO? yes   file type bits: 010000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writer: framed message 1 of 3: length byte 31  (message-1: page frame 12 freed)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writer: framed message 2 of 3: length byte 38  (message-2: child asked for resource 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writer: framed message 3 of 3: length byte 35  (message-3: goodbye from the writer)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writer: reader exited cleanly? yes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reader log (printed as a block after both ends closed):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reader: received 31 bytes: message-1: page frame 12 freed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reader: received 38 bytes: message-2: child asked for resource 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reader: received 35 bytes: message-3: goodbye from the writer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 reader: 3 messages, then EOF on the pipe (writer closed)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50" b="0" i="0">
                <a:solidFill>
                  <a:srgbClr val="14171C"/>
                </a:solidFill>
                <a:latin typeface="Consolas"/>
              </a:rPr>
              <a:t>OS04 RESULT: 3 messages written, 3 read, EOF observed by reader -- PASS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4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object is verifiably in the filesystem: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file type bits: 010000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010000 is S_IFIFO, so</a:t>
            </a:r>
            <a:r>
              <a:rPr sz="1200" b="0" i="0">
                <a:solidFill>
                  <a:srgbClr val="16181D"/>
                </a:solidFill>
                <a:latin typeface="Consolas"/>
              </a:rPr>
              <a:t>ls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would show the named pipe's type bit; the 0600 mode from mkfifo restricts both ends to the owner.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Framing is stated by the program, in its own output: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note: a pipe is a BYTE stream -- one length byte per message gives it framing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Writer side, one line per message: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writer: framed message 1 of 3: length byte 31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the length byte carries the payload's NUL, so the receiver needs no delimiter scan.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Reader side closes the ledger and the EOF story: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reader: 3 messages, then EOF on the pipe (writer closed)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read() returning 0 after the writer's close() is the end-of-stream contract, demonstrated, and the parent's wait confirms the reader exited cleanly.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whole session ends with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3 messages written, 3 read, EOF observed by reader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and both kernel objects (fifo, log file) are unlinked by the program: zero residue.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does the first open() block, and on which side is that actually a problem?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What breaks without the length byte — exactly?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Where are the bytes between write() and read()? Is it a file?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A FIFO open waits for a counterpart: the reader's O_RDONLY blocks until some writer opens (and vice versa for O_WRONLY). Here the fork happens first, so both sides exist and they rendezvous; a single-threaded program would deadlock on its own open.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A reader process and a writer process exchanged three length-framed messages …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Learning Activity 5 — Banker's algorithm for deadlock avoidance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Develop a C program to simulate Banker's Algorithm for Deadlock Avoidance.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src/os05_bankers.c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OS-05: Banker's algorithm for deadlock avoidance.  Textbook-1 ch.7 (7.5.3, Fig. 7.4 --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the classic 5-process / 3-resource example).  Prints the Need matrix, a safe sequence,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then evaluates three requests: one grant, two well-motivated denials.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P 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R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alloc[P][R] = { {0,1,0}, {2,0,0}, {3,0,2}, {2,1,1}, {0,0,2}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mx   [P][R] = { {7,5,3}, {3,2,2}, {9,0,2}, {2,2,2}, {4,3,3}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avail[R]    = { 3, 3, 2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need[P][R];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safe(int work[R], int finish[P], char *seq, int seqlen)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done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P; i++) finish[i]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w[R];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R; i++) w[i] = work[i];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seq[0] = '\0';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while (done &lt; P)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int progressed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for (int i = 0; i &lt; P;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if (finish[i])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int ok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out/os05_bankers.txt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$ gcc -O0 -Wall -Wextra -std=gnu17 -o build/bin/os05_bankers src/os05_bankers.c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$ ./build/bin/os05_bankers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== OS-05  Banker's algorithm: safety first, lend only to the safe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system: 5 processes, 3 resource classes, total allocation state from Fig. 7.4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P0  Alloc {0, 1, 0}   Max {7, 5, 3}   Need {7, 4, 3}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P1  Alloc {2, 0, 0}   Max {3, 2, 2}   Need {1, 2, 2}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P2  Alloc {3, 0, 2}   Max {9, 0, 2}   Need {6, 0, 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P3  Alloc {2, 1, 1}   Max {2, 2, 2}   Need {0, 1, 1}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P4  Alloc {0, 0, 2}   Max {4, 3, 3}   Need {4, 3, 1}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Available {3, 3, 2}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safety algorithm: state is SAFE; safe sequence: P1 P3 P4 P0 P2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three requests, evaluated exactly as the textbook does: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P1 requests {1, 0, 2}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    GRANTED -- provisional state is SAFE, sequence P1 P3 P4 P0 P2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P4 requests {3, 3, 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    DENIED: resources not available (avail {2, 3, 0})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P0 requests {0, 2, 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     DENIED: granting it would leave an UNSAFE state -- rolled back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available after the single grant: {2, 3, 0}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10" b="0" i="0">
                <a:solidFill>
                  <a:srgbClr val="14171C"/>
                </a:solidFill>
                <a:latin typeface="Consolas"/>
              </a:rPr>
              <a:t>OS05 RESULT: initial safe seq P1 P3 P4 P0 P2, grant/deny/deny decisions as textbook -- PASS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5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Need matrix is derived, not typed: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P0  Alloc {0, 1, 0}   Max {7, 5, 3}   Need {7, 4, 3}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Need = Max − Alloc on every row, and the first row is enough to audit the loop.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Safety verdict with the sequence the algorithm actually produced: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state is SAFE; safe sequence: P1 P3 P4 P0 P2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the textbook answer, arrived at by the code at runtime.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Request 1 succeeds with its own safety proof attached: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GRANTED -- provisional state is SAFE, sequence P1 P3 P4 P0 P2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Request 2 fails before the algorithm even matters — availability: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DENIED: resources not available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(the printed avail vector is the post-grant one: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available after the single grant: {2, 3, 0}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).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Request 3 is the interesting one: it passes both simple checks and dies inside safety —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DENIED: granting it would leave an UNSAFE state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followed by the rollback line in the code, because a simulation that cannot undo itself is not a check but a side effect.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Unsafe state vs deadlock — why is the distinction the whole point of the algorithm?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Which two checks precede the safety run, and in what order — and which request in this capture died on the second?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is a safe sequence not necessarily unique?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Deadlock is present (circular wait holding); unsafe admits a future schedule that deadlocks. The Banker refuses to grant what it cannot guarantee recovery from — safety is a promise about ALL futures, hence the universal-quantifier shape of the algorithm.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The Banker's safety algorithm and resource-request algorithm were implemented …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Learning Activity 6 — Contiguous memory allocation: worst fit, best fit, first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Develop a C program to simulate the following contiguous memory allocation techniques: a) Worst fit b) Best fit c) First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src/os06_memfit.c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OS-06: Contiguous memory allocation -- Worst fit, Best fit, First fit.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Textbook-1 ch.8 (8.3, Fig. 8.6 data): holes 200 400 100 300 600 150 (KB),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requests P1=426 P2=152 P3=200 P4=120.  All three strategies are run over the SAME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starting hole list so the comparison is honest.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NH 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NP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holes0[NH] = { 200, 400, 100, 300, 600, 150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psize[NP]  = { 426, 152, 200, 120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void run(const char *name, int mode)      /* mode 0 first, 1 best, 2 worst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h[NH];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NH; i++) h[i] = holes0[i];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printf("%s\n", name);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waste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p = 0; p &lt; NP; p++)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int pick = -1;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for (int i = 0; i &lt; NH; i++)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if (h[i] &lt; psize[p])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if (pick &lt; 0) { pick = i; continue;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if (mode == 1 &amp;&amp; h[i] &lt;  h[pick]) pick = i;     /* best fit 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if (mode == 2 &amp;&amp; h[i] &gt;  h[pick]) pick = i;     /* worst fit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out/os06_memfit.txt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$ gcc -O0 -Wall -Wextra -std=gnu17 -o build/bin/os06_memfit src/os06_memfit.c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$ ./build/bin/os06_memfit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== OS-06  first / best / worst fit on one hole list: 200 400 100 300 600 150 KB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FIRST FIT -- first hole that is big enough: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P1 (426 KB)  -&gt;  hole #5 (600 KB)  shrinks to 174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P2 (152 KB)  -&gt;  hole #1 (200 KB)  shrinks to  48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P3 (200 KB)  -&gt;  hole #2 (400 KB)  shrinks to 200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P4 (120 KB)  -&gt;  hole #2 (200 KB)  shrinks to  80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total internal waste (fragments left inside chosen holes): 502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BEST  FIT -- smallest hole that is big enough: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P1 (426 KB)  -&gt;  hole #5 (600 KB)  shrinks to 174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P2 (152 KB)  -&gt;  hole #5 (174 KB)  shrinks to  22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P3 (200 KB)  -&gt;  hole #1 (200 KB)  shrinks to   0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P4 (120 KB)  -&gt;  hole #6 (150 KB)  shrinks to  30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total internal waste (fragments left inside chosen holes): 226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WORST FIT -- biggest hole, keep the middling ones for later: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P1 (426 KB)  -&gt;  hole #5 (600 KB)  shrinks to 174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P2 (152 KB)  -&gt;  hole #2 (400 KB)  shrinks to 248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P3 (200 KB)  -&gt;  hole #4 (300 KB)  shrinks to 100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P4 (120 KB)  -&gt;  hole #2 (248 KB)  shrinks to 128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 total internal waste (fragments left inside chosen holes): 650 KB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read the three blocks back to back: best fit leaves the smallest fragments here;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worst fit pays for its policy in total waste. No theorem was cited -- you just saw it.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30" b="0" i="0">
                <a:solidFill>
                  <a:srgbClr val="14171C"/>
                </a:solidFill>
                <a:latin typeface="Consolas"/>
              </a:rPr>
              <a:t>OS06 RESULT: 12 allocations across 3 strategies, waste totals computed -- PASS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6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First fit spends the 600 KB hole on the first job: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hole #5 (600 KB)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for P1 — scan stops at the first yes, and its second placement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P2 (152 KB)  -›  hole #1 (200 KB)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shows the same short-sightedness on the other end.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Best fit's first move is identical (same scan) but its second is the policy: it reconsiders the leftover —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P2 (152 KB)  -›  hole #5 (174 KB)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a hole first fit stopped looking at, and the source of the whole 276 KB difference (best-fit waste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chosen holes): 226 KB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against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chosen holes): 502 KB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).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Worst fit is worst here, in its own ledger: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chosen holes): 650 KB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its promise (keep mid-size holes intact) buys nothing when every request is mid-size.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perfect fit in the middle of the best-fit block —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hole #1 (200 KB)  shrinks to   0 KB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is the one row the report should quote: no leftover at all, and the policy found it by construction.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All twelve placements are one loop over six holes at O(n·p) each; the verdict line —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12 allocations across 3 strategies, waste totals computed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states the arithmetic claim, and the tables carry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Where does best fit's 226 KB come from, row by row?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is first fit usually the default anyway?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Give the one request sequence that makes worst fit beat best fit on this hole row.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48 (200−152) + 22 (174−152) + 0 (200−200) + 30 (150−120) — the four shrinks-to values the capture prints in that block; the P2→#5 line is the one first-fit students always miss.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The three contiguous-allocation policies were simulated over one shared hole …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Learning Activity 7 — Page replacement: FIFO and LRU, with the Belady anomaly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Develop a C program to simulate page replacement algorithms: a) FIFO b) LRU.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src/os07_pagereplace.c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OS-07: Page replacement -- FIFO and LRU with 3 frames, plus the Belady anomaly.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Textbook-1 ch.9 (9.5): reference string 7 0 1 2 0 3 0 4 2 3; anomaly string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1 2 3 4 1 2 5 1 2 3 4 5.  Frames are a shift register for FIFO and an age list for LRU.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fifo_faults(const int *ref, int n, int fr)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f[4] = { -1, -1, -1, -1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faults = 0, ptr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k = 0; k &lt; n; k++)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int hit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for (int i = 0; i &lt; fr; i++) if (f[i] == ref[k]) { hit = 1; break;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if (!hit)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f[ptr] = ref[k];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ptr = (ptr + 1) % fr;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faults++;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return faults;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int main(void)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ref[10]   = { 7, 0, 1, 2, 0, 3, 0, 4, 2, 3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bad[12]   = { 1, 2, 3, 4, 1, 2, 5, 1, 2, 3, 4, 5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out/os07_pagereplace.txt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$ gcc -O0 -Wall -Wextra -std=gnu17 -o build/bin/os07_pagereplace src/os07_pagereplace.c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$ ./build/bin/os07_pagereplace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== OS-07  FIFO vs LRU on 7 0 1 2 0 3 0 4 2 3 with 3 frames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step  ref  frames(after)   result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1    7   | 7 -1 -1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2    0   | 7 0 -1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3    1   | 7 0 1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4    2   | 2 0 1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5    0   | 2 0 1 |    hit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6    3   | 2 3 1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7    0   | 2 3 0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8    4   | 4 3 0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 9    2   | 4 2 0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   10    3   | 4 2 3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FIFO page faults: 9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LRU   step  ref  frames(most-&gt;least)      result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LRU      1    7   | 7 -1 -1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LRU      2    0   | 0 7 -1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LRU      3    1   | 1 0 7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LRU      4    2   | 2 1 0 |    FAULT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…  7 more lines omitted — complete listing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on this string FIFO 9 vs LRU 8 -- the cheaper policy is not fixed, it is workload-bound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Belady's anomaly, same FIFO, same string 1 2 3 4 1 2 5 1 2 3 4 5: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 3 frames -&gt; 9 faults    4 frames -&gt; 10 faults    more frames, MORE faults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10" b="0" i="0">
                <a:solidFill>
                  <a:srgbClr val="14171C"/>
                </a:solidFill>
                <a:latin typeface="Consolas"/>
              </a:rPr>
              <a:t>OS07 RESULT: FIFO 9 / LRU 8 faults on the string; Belady 10&gt;9 demonstrated -- PASS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7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two verdict lines are the headline: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FIFO page faults: 9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against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LRU page faults: 8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and the split is a single victim choice at reference 3, step 6: FIFO's queue ejects 1, LRU's list protects recently touched 1 and drops 2 instead. One row of divergence costs FIFO one extra fault here — nothing more — and that's the honest read of the two tables side by side.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Both runs end with the same three frames {4,2,3} in some order — the string's last three references — a quick sanity check the tables are aligned.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anomaly block: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3 frames -› 9 faults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at three frames,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4 frames -› 10 faults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at four —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more frames, MORE faults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is not a typo in the transcript, it is Belady, computed by the same loop with a wider window.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program's framing sentence doubles as the analysis the rubric wants: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the cheaper policy is not fixed, it is workload-bound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LRU wins on locality-shaped strings and loses nothing structurally; FIFO can regress when the extra frame changes only the eviction order, not the reference order.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Whole-session verdict: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FIFO 9 / LRU 8 faults on the string; Belady 10›9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quotable exactly.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Name the one reference, one step, that splits FIFO's and LRU's runs — and why.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does adding a frame increase FIFO's faults on the anomaly string?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State the stack/inclusion property in one line and name the two policies that have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Reference 3 at step 6: FIFO evicts the oldest (1), LRU evicts the least-recently-used (2), because 1 was touched at step 3. From that row on, the resident sets differ — and one later hit decides the final 9-vs-8 count.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Both prescribed replacement policies were simulated step-by-step on the 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Learning Activity 8 — File organisation: single-level and two-level directories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Simulate following file organization techniques: a) Single level directory b) Two level directory.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src/os08_dirs.c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OS-08: File organization -- single-level vs two-level directory.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Textbook-1 ch.10 (10.4) / Dhamdhere ch.9.  Two halves: (a) a modelled directory showing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where the name-clash rule lives; (b) the SAME experiment on the real filesystem under the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work directory -- mkdir/open/write/stat -- listed via readdir() sorted, so the capture 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stable no matter what order the filesystem returns entries in.  argv[1] = work directory.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&lt;string.h&gt;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&lt;unistd.h&gt;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&lt;fcntl.h&gt;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&lt;sys/stat.h&gt;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&lt;dirent.h&gt;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&lt;errno.h&gt;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MAXE 8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struct { char user[16], name[24]; } lvl2[MAXE];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n2;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lvl2_add(const char *user, const char *name)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n2; i++)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if (!strcmp(lvl2[i].user, user) &amp;&amp; !strcmp(lvl2[i].name, name))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    return -1;                            /* duplicate WITHIN one user's directory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snprintf(lvl2[n2].user, 16, "%s", user);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out/os08_dirs.txt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$ gcc -O0 -Wall -Wextra -std=gnu17 -o build/bin/os08_dirs src/os08_dirs.c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$ ./build/bin/os08_dirs /home/user/os-course/build/work/os08_dirs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== OS-08  one flat directory vs one directory per user: the name-clash question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SINGLE-LEVEL directory (one global name space for the whole class):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created test.c, grade.c, notes.txt -- every name unique, end of rules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student-2 now wants their own test.c: REJECTED -- the flat table already holds 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TWO-LEVEL directory (root + one user directory per account):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user1/test.c   : created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user2/test.c   : created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user1/notes.txt: created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user1/test.c again: REJECTED -- uniqueness is required WITHIN each user dir only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entries in the modelled tree: 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real filesystem under the run directory (this program creates and removes it):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ls user1/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notes.txt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test.c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ls user2/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test.c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both leaves are named test.c: sizes 19 vs 32 bytes -&gt; different files, same name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 the clash rule live: open(user1/test.c, O_CREAT|O_EXCL) -&gt; fails with EEXIST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70" b="0" i="0">
                <a:solidFill>
                  <a:srgbClr val="14171C"/>
                </a:solidFill>
                <a:latin typeface="Consolas"/>
              </a:rPr>
              <a:t>OS08 RESULT: flat space rejects the duplicate, two-level accepts it, EEXIST proven -- PASS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8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modelled acceptance matrix prints in four lines: user1/test.c and user2/test.c both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em&gt;created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/em&gt;, and the duplicate inside one user dir gets the rejection line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uniqueness is required WITHIN each user dir only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the entire two-level contract in one sentence, enforced by the loop above it.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Real FS, same names: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sizes 19 vs 32 bytes -› different files, same name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two inodes, two contents, one leaf string; the stat pair is the proof the report cites.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flat-rule demo uses the kernel's own enforcement, not the simulation: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fails with EEXIST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the O_EXCL flag makes 'name already taken' atomic in the create call, which is also why</a:t>
            </a:r>
            <a:r>
              <a:rPr sz="1200" b="0" i="0">
                <a:solidFill>
                  <a:srgbClr val="16181D"/>
                </a:solidFill>
                <a:latin typeface="Consolas"/>
              </a:rPr>
              <a:t>ln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and</a:t>
            </a:r>
            <a:r>
              <a:rPr sz="1200" b="0" i="0">
                <a:solidFill>
                  <a:srgbClr val="16181D"/>
                </a:solidFill>
                <a:latin typeface="Consolas"/>
              </a:rPr>
              <a:t>touch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race-free work at all.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Both directories list sorted ({notes.txt, test.c} / {test.c}) — the sort is not cosmetics: readdir() order is a filesystem detail, and this book captures only reproducible bytes.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Session verdict: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flat space rejects the duplicate, two-level accepts it, EEXIST proven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and the program unlinks/rmdirs everything it made: zero residue.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What does the master file table cost that a flat table doesn't — one entry each?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Where does a same-name collision actually live — the directory entry or the inode?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sort readdir() output in a program that also could print it raw?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Two lookups instead of one per path component (root → user dir → file), in exchange for namespace isolation: the price of the two-level scheme is the extra indirection, the product is per-user name freedom — the tree is just this rule recursed.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Both prescribed organisation techniques were built twice — as data-structure 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Learning Activity 9 — Linked file allocation: chains, scatter and recovery of holes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Develop a C program to simulate the linked file allocation strategies.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src/os09_linked.c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OS-09: Linked file allocation -- directory keeps first/last block, each block points to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the next, free blocks anywhere.  Textbook-1 ch.10 (10.5.3, Fig. 10.13) / Dhamdhere 9.4.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Disk: 40 blocks of 1 KB; blocks 0-1 are directory+boot metadata.  Allocation policy: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first free block, every block separately -- so deletions scatter later files on purpose.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NB 40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#define META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next[NB];                                /* -1 = not part of a file chain 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used[NB];                                 /* 0 free, 1 taken             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struct { char name[12]; int first, last; int nblk; } dir[6];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ndir;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alloc_file(const char *name, int want)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first = -1, prev = -1, got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b = META; b &lt; NB &amp;&amp; got &lt; want; b++)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if (used[b])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used[b] = 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next[b] = -1;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if (first &lt; 0) first = 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if (prev &gt;= 0) next[prev] = 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prev = 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got++;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out/os09_linked.txt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$ gcc -O0 -Wall -Wextra -std=gnu17 -o build/bin/os09_linked src/os09_linked.c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$ ./build/bin/os09_linked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== OS-09  linked allocation on a 40-block fake disk: scatter, read, delete, reuse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allocate phase: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f1  : 5 blocks  chain 2 -&gt; 3 -&gt; 4 -&gt; 5 -&gt; 6   (dir records first 2, last 6)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f2  : 3 blocks  chain 7 -&gt; 8 -&gt; 9   (dir records first 7, last 9)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f3  : 4 blocks  chain 10 -&gt; 11 -&gt; 12 -&gt; 13   (dir records first 10, last 13)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drop f2, then ask for a bigger file -- it must take the freed hole plus fresh blocks: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delete f2  : released 3 blocks, scattered back into free space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f4  : 5 blocks  chain 7 -&gt; 8 -&gt; 9 -&gt; 14 -&gt; 15   (dir records first 7, last 15)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read each surviving file (every read pays one pointer hop per block):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read f1  : followed 5 links, got 5120 bytes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read f3  : followed 4 links, got 4096 bytes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 read f4  : followed 5 links, got 5120 bytes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free blocks now: 24 of 40 (after 2 metadata blocks)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cost facts, computed here: one 4-byte pointer per block = 0.39% of a 1024-byte block;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a 5-block file pays 20 bytes of pointer overhead and gives up 4 bytes of data space per block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crash hardening: if one block is lost the REST of that file is lost too (single point of failure per link)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650" b="0" i="0">
                <a:solidFill>
                  <a:srgbClr val="14171C"/>
                </a:solidFill>
                <a:latin typeface="Consolas"/>
              </a:rPr>
              <a:t>OS09 RESULT: 3 scattered chains, delete/reuse exercised, free-space accounting consistent -- PASS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9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Every chain prints as data, not abstraction: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chain 2 -› 3 -› 4 -› 5 -› 6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for f1 — and the directory's two-word contract on the same line ('dir records first 2, last 6') is the whole metadata cost of the method at file level.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delete/reuse act is the method's selling point: f4 lands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chain 7 -› 8 -› 9 -› 14 -› 15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three recycled blocks spliced to two fresh ones, and the released-hole line above says it plain: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released 3 blocks, scattered back into free space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Read cost, counted: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followed 5 links, got 5120 bytes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for f1 — five 1 KiB data blocks plus four hops; the same line for f3 (4/4096) and f4 shows the hop tax rises with file length — that is why the method is history's answer.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Free-space closure: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free blocks now: 24 of 40 (after 2 metadata blocks)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40 − 2 − (5+4+5) = 24: the three chains that remain, so the arithmetic audited from the capture alone.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two facts the viva always probes are both computed in-code: pointer overhead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0.39% of a 1024-byte block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, and the fragility line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if one block is lost the REST of that file is lost too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Which single array IS the 'linked list' here, and what is the directory then?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is a random read of block k in a 1000-block file O(k) — and what does the file system actually do about it?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What does deletion cost in this method, per block?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next[block] holds every link (−1 terminates); the directory's job shrinks to first and last (last makes append O(1) instead of a full walk). That pairing is the entire implementation.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Linked allocation was simulated end-to-end — scattered chains, directory 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10 — SCAN disk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932688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864" cy="9326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72768"/>
            <a:ext cx="107990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PROBLEM STATEMENT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Develop a C program to simulate SCAN disk scheduling algorithm.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6263640" cy="3794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3640" cy="3108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628900"/>
            <a:ext cx="59710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8B8"/>
                </a:solidFill>
                <a:latin typeface="Consolas"/>
              </a:rPr>
              <a:t>src/os10_scan.c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980944"/>
            <a:ext cx="5952744" cy="3319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/* OS-10: Disk scheduling -- FCFS vs SCAN (elevator) vs C-SCAN on the classic queue.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Textbook-1 ch.12 (12.2.3, Fig. 12.9): queue 98 183 37 122 14 124 65 67, head at 53,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cylinders 0..199, initial direction = toward 0.  The program prints the service order,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every seek segment, and the total head movement for each policy.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#include &lt;stdlib.h&gt;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q[8] = { 98, 183, 37, 122, 14, 124, 65, 67 };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int cmp(const void *a, const void *b)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return *(const int *)a - *(const int *)b;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static long policy(const char *name, int mode, const char *note)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long move = 0, head = 53;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n = 8, ord[16], m =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int sorted[8];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for (int i = 0; i &lt; n; i++) sorted[i] = q[i];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qsort(sorted, n, sizeof sorted[0], cmp);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if (mode == 0) {                                /* FCFS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    for (int i = 0; i &lt; n; i++) ord[m++] = q[i];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  } else if (mode == 1) {                         /* SCAN toward 0 first, then up to 199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00" b="0" i="0">
                <a:solidFill>
                  <a:srgbClr val="E5E7EB"/>
                </a:solidFill>
                <a:latin typeface="Consolas"/>
              </a:rPr>
              <a:t>  …  (complete source: the course book)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578608"/>
            <a:ext cx="4617720" cy="3794760"/>
          </a:xfrm>
          <a:prstGeom prst="rect">
            <a:avLst/>
          </a:prstGeom>
          <a:solidFill>
            <a:srgbClr val="F2F7F4"/>
          </a:solidFill>
          <a:ln w="9525">
            <a:solidFill>
              <a:srgbClr val="B7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2670048"/>
            <a:ext cx="4343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6534"/>
                </a:solidFill>
                <a:latin typeface="Calibri"/>
              </a:rPr>
              <a:t>$ run — out/os10_scan.txt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944368"/>
            <a:ext cx="434340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$ gcc -O0 -Wall -Wextra -std=gnu17 -o build/bin/os10_scan src/os10_scan.c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$ ./build/bin/os10_scan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== OS-10  FCFS / SCAN / C-SCAN on queue 98,183,37,122,14,124,65,67 (head 53) ==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FCFS  :  serve the queue in request order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order: 53 -&gt; 98 (45) -&gt; 183 (85) -&gt; 37 (146) -&gt; 122 (85) -&gt; 14 (108) -&gt; 124 (110) -&gt; 65 (59) -&gt; 67 (2)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total head movement: 640 cylinders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SCAN  :  elevator: go down to 0, sweep back 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order: 53 -&gt; 37 (16) -&gt; 14 (23) -&gt; 0 (14) -&gt; 65 (65) -&gt; 67 (2) -&gt; 98 (31) -&gt; 122 (24) -&gt; 124 (2) -&gt; 183 (59)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total head movement: 236 cylinders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…  2 more lines omitted — complete listing in the course book  …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order: 53 -&gt; 37 (16) -&gt; 14 (23) -&gt; 0 (14) -&gt; 199 (199) -&gt; 183 (16) -&gt; 124 (59) -&gt; 122 (2) -&gt; 98 (24) -&gt; 67 (31) -&gt; 65 (2)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 total head movement: 386 cylinders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numbers from this run: FCFS 640, SCAN 236, C-SCAN 386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SCAN beats FCFS by 404 cylinders here -- that is the whole argument for the elevator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"/>
              </a:spcAft>
            </a:pPr>
            <a:r>
              <a:rPr sz="730" b="0" i="0">
                <a:solidFill>
                  <a:srgbClr val="14171C"/>
                </a:solidFill>
                <a:latin typeface="Consolas"/>
              </a:rPr>
              <a:t>OS10 RESULT: three policies, totals 640/236/386, SCAN optimal of the three -- PASS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B ·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Learning Activity 10 — What the Capture Proves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OBSERVATIONS (each cites the capture)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630936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FCFS zig-zags the arm across the whole plate: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53 -› 98 (45) -› 183 (85)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then the 146-unit plunge for request 37 — total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total head movement: 640 cylinders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(this run, every segment visible).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SCAN orders the same eight requests: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53 -› 37 (16) -› 14 (23) -› 0 (14)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is the down-sweep with the bounce, then the up-side picks them in order; total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total head movement: 236 cylinders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the program's own summary line: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SCAN beats FCFS by 404 cylinders here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C-SCAN's 386 is the convention lesson: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total head movement: 386 cylinders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includes the counted return jump 0→199 (the order line prints it as a 199-unit move); subtract it and the served sweep is 187 — a report that states which one it quotes is a report that read the program.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All three totals, verbatim: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numbers from this run: FCFS 640, SCAN 236, C-SCAN 386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one vector sort away from each other, which is the point of implementing them together.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Verdict line:</a:t>
            </a:r>
            <a:r>
              <a:rPr sz="1150" b="0" i="0">
                <a:solidFill>
                  <a:srgbClr val="B3261E"/>
                </a:solidFill>
                <a:latin typeface="Consolas"/>
              </a:rPr>
              <a:t>three policies, totals 640/236/386, SCAN optimal of the three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— optimal here, and the report should say 'on this queue', because uniformity of waiting, not minimum travel, is why a real system might prefer the other shape.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572768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Calibri"/>
              </a:rPr>
              <a:t>VIVA — asked exactly like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01952"/>
            <a:ext cx="4617720" cy="451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Q1.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Why does SCAN bounce at cylinder 0 and not stop at 14 — and what is that costing here?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Q2.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Give C-SCAN's fairness argument in one sentence against SCAN.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B3261E"/>
                </a:solidFill>
                <a:latin typeface="Calibri"/>
              </a:rPr>
              <a:t>Q3. </a:t>
            </a:r>
            <a:r>
              <a:rPr sz="1200" b="0" i="0">
                <a:solidFill>
                  <a:srgbClr val="16181D"/>
                </a:solidFill>
                <a:latin typeface="Calibri"/>
              </a:rPr>
              <a:t>Which two of the printed totals can you reproduce without the program?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4297680"/>
            <a:ext cx="4617720" cy="17830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379976"/>
            <a:ext cx="4288536" cy="1618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MODEL ANSWER (Q1)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The algorithm's definition goes to the END of the range before reversing; stopping at the last request is LOOK. The cost is exactly 2×14 = 28 units (down to 0 and back up to 65's predecessor) — visible in this capture's order 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89904"/>
            <a:ext cx="63093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135624"/>
            <a:ext cx="59893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6534"/>
                </a:solidFill>
                <a:latin typeface="Calibri"/>
              </a:rPr>
              <a:t>Result — </a:t>
            </a:r>
            <a:r>
              <a:rPr sz="950" b="0" i="0">
                <a:solidFill>
                  <a:srgbClr val="4B5563"/>
                </a:solidFill>
                <a:latin typeface="Calibri"/>
              </a:rPr>
              <a:t>The prescribed SCAN simulation ran against FCFS and C-SCAN on the classic …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</a:rPr>
              <a:t>P A R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36289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200" b="1" i="0">
                <a:solidFill>
                  <a:srgbClr val="B3261E"/>
                </a:solidFill>
                <a:latin typeface="Calibri"/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0952" y="3310128"/>
            <a:ext cx="1527048" cy="228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Calibri"/>
              </a:rPr>
              <a:t>Appendices — Reference, Report, Viva, Reproduce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114800"/>
            <a:ext cx="87169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The plates behind the run: the one-screen OS reference, the report skeleton shaped to the five rubric rows, a recurring viva dozen, and the three-command pipeline that regenerates every capture, page and slide in this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6727" y="4930139"/>
            <a:ext cx="8778240" cy="1488948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44471" y="5049011"/>
            <a:ext cx="8449056" cy="1269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F172A"/>
                </a:solidFill>
                <a:latin typeface="Calibri"/>
              </a:rPr>
              <a:t>IN THIS PART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Appendix A — quick-reference sheet (six plates)</a:t>
            </a:r>
          </a:p>
          <a:p>
            <a:pPr>
              <a:spcBef>
                <a:spcPts val="0"/>
              </a:spcBef>
              <a:spcAft>
                <a:spcPts val="16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Appendix B — the report IS the rubric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C · APPENDICES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One-Page OS Reference (Appendix 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611880" cy="3657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6687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Processes &amp;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075688"/>
            <a:ext cx="336499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fork(): 0 in child, pid in parent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exec replaces image, pid survives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wait(): reap = status to parent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PCB: pid, state, pc, regs, limits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states: new ready running wait term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context switch = pure overhead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361188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611880" cy="3657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6687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075688"/>
            <a:ext cx="336499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TAT = completion - arrival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WT = TAT - burst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FCFS: convoy · SJF: min avg WT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RR: quantum big -&gt; FCFS-like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priority: aging cures starvation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MLQ/MLFQ: queues + demotion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361188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00200"/>
            <a:ext cx="3611880" cy="3657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16687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Sync &amp; deadlock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075688"/>
            <a:ext cx="336499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CS: entry, critical, exit, exit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Peterson: flag[] announce, turn yield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semaphore: wait()/signal() atomic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deadlock: 4 conditions, break one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Banker: Need = Max - Alloc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safe = some order everyone finishes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23360"/>
            <a:ext cx="361188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23360"/>
            <a:ext cx="3611880" cy="3657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40919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Memory &amp; 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4498848"/>
            <a:ext cx="336499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p = addr / 2^m ; d = addr mod 2^m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internal frag &lt; 1 page (paging)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FF / BF / WF: hole choice only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TLB hit: 1 access · miss: 2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FIFO can Belady-anomaly · LRU no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thrash: few frames -&gt; fault storm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023360"/>
            <a:ext cx="361188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023360"/>
            <a:ext cx="3611880" cy="3657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40919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File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4498848"/>
            <a:ext cx="336499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dirs: single, two-level, tree, DAG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access: seq, direct, indexed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alloc: contig / linked / indexed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free space: bitmap or linked list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inode-ish: size, blocks, mode, times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two-level names clash-proof (LA-8)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4023360"/>
            <a:ext cx="361188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4023360"/>
            <a:ext cx="3611880" cy="3657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40919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5E7EB"/>
                </a:solidFill>
                <a:latin typeface="Calibri"/>
              </a:rPr>
              <a:t>Disks &amp; CO6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498848"/>
            <a:ext cx="336499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seek = the bill; SCAN = elevator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FCFS fair · SSTF can starve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C-SCAN: count the return jump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protection: domain matrix, lists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access list = who · cap = what</a:t>
            </a:r>
          </a:p>
          <a:p>
            <a:pPr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16181D"/>
                </a:solidFill>
                <a:latin typeface="Consolas"/>
              </a:rPr>
              <a:t>mode 0600 + O_EXCL = policy (LA-4)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29107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4B5563"/>
                </a:solidFill>
                <a:latin typeface="Calibri"/>
              </a:rPr>
              <a:t>Six defects the captures caught while writing this book — and their fixes — are logged in Appendix A.6. Learn the compiler's and the kernel's voice; the viva quotes it.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C · APPENDICES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The Report Is the Rubric (Appendix B)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400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Seven sections per activity, mapped one-to-one to the rubric: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problem verbatim → Understanding of OS Concept · approach → Algorithm Design · program + build line → C Program Implementation · captured run + observations → Output Correctness and Analysis · formatting → Code Quality and Documentation.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Score: </a:t>
            </a:r>
            <a:r>
              <a:rPr sz="1350" b="0" i="0">
                <a:solidFill>
                  <a:srgbClr val="16181D"/>
                </a:solidFill>
                <a:latin typeface="Consolas"/>
              </a:rPr>
              <a:t>5 criteria × (1–5)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 = the full 25-mark CCA component; rubric rows as printed on the syllabus page.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Superior row, verbatim: </a:t>
            </a:r>
            <a:r>
              <a:rPr sz="1350" b="0" i="1">
                <a:solidFill>
                  <a:srgbClr val="16181D"/>
                </a:solidFill>
                <a:latin typeface="Calibri"/>
              </a:rPr>
              <a:t>“Produces correct results for all test cases and accurately analyzes the outcome.”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 — the RESULT lines in this deck are literally that row.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Run it, don't type it: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every activity ships the $ gcc build line and the $ ./prog session as one capture file — receipts the examiner can re-make.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Kernel facts count as evidence: sysconf, /proc/sys, getrlimit, real files under build/work/ — created and removed inside the capture.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Submission gate: report with relevant data to the course instructor — the syllabus sentence every cover page should quote.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72768"/>
            <a:ext cx="4572000" cy="251460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1572768"/>
            <a:ext cx="54864" cy="25146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664208"/>
            <a:ext cx="4187952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CCA STRUCTURE (VERBATIM)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81D"/>
                </a:solidFill>
                <a:latin typeface="Calibri"/>
              </a:rPr>
              <a:t>Implementation of Operating System Concepts using C Programming — maximum marks 25. — Internal Assessment (IA) = 25  +  Continuous Comprehensive Assessment (CCA) = 25  =  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4572000" cy="201168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4334256"/>
            <a:ext cx="4242816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SHOWING THE RUN (RECEIPT)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050" b="0" i="0">
                <a:solidFill>
                  <a:srgbClr val="16181D"/>
                </a:solidFill>
                <a:latin typeface="Consolas"/>
              </a:rPr>
              <a:t>gcc -O0 -Wall -Wextra -std=gnu17 -o prog src/prog.c &amp;&amp; ./prog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 — or record the whole session with the “script” command; keep the build line and the RESULT line in one screenshot.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0">
                <a:solidFill>
                  <a:srgbClr val="16181D"/>
                </a:solidFill>
                <a:latin typeface="Calibri"/>
              </a:rPr>
              <a:t>Per-activity screenshot targets: LA-2's four tables, LA-5's three verdicts, LA-10's three totals.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C · APPENDICES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Viva Preparation — the Recurring Dozen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7223760" cy="4818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1.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What is an operating system — give both classic definitions.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2.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What is the one piece of state that makes user mode vs kernel mode real?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3.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Difference between a trap and an interrupt, and which one a system call uses?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4.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Why does fork() return twice? What does exec() do to that child?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5.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What is a zombie, and who cleans it?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6.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Give the context switch in two sentences and name its cost term.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7.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Process vs thread, and which shared items cause all thread bugs?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8.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three requirements of a critical-section solution — name the hardest and why.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9.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Explain Peterson's two moves and what the modern CPU does to break it.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10.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test_and_set vs a semaphore: what does each give you?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11.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producer/consumer: why three semaphores, and what breaks if mutex is dropped?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450"/>
              </a:spcAft>
            </a:pPr>
            <a:r>
              <a:rPr sz="12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B3261E"/>
                </a:solidFill>
                <a:latin typeface="Calibri"/>
              </a:rPr>
              <a:t>12.  </a:t>
            </a:r>
            <a:r>
              <a:rPr sz="1250" b="0" i="0">
                <a:solidFill>
                  <a:srgbClr val="16181D"/>
                </a:solidFill>
                <a:latin typeface="Calibri"/>
              </a:rPr>
              <a:t>The four deadlock conditions — and one prevention per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600200"/>
            <a:ext cx="3703320" cy="4480560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682496"/>
            <a:ext cx="3374136" cy="4315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HOW AN INTERNAL VIVA RUNS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1" i="0">
                <a:solidFill>
                  <a:srgbClr val="16181D"/>
                </a:solidFill>
                <a:latin typeface="Calibri"/>
              </a:rPr>
              <a:t>1 ·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the activity is picked from your report — open it at the capture.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1" i="0">
                <a:solidFill>
                  <a:srgbClr val="16181D"/>
                </a:solidFill>
                <a:latin typeface="Calibri"/>
              </a:rPr>
              <a:t>2 ·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questions land on constructs in YOUR program — name each syscall on a line.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1" i="0">
                <a:solidFill>
                  <a:srgbClr val="16181D"/>
                </a:solidFill>
                <a:latin typeface="Calibri"/>
              </a:rPr>
              <a:t>3 ·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expect “prove it”: point at the RESULT line of the transcript you submitted.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150" b="0" i="1">
                <a:solidFill>
                  <a:srgbClr val="16181D"/>
                </a:solidFill>
                <a:latin typeface="Calibri"/>
              </a:rPr>
              <a:t>'Answer the why': </a:t>
            </a:r>
            <a:r>
              <a:rPr sz="1150" b="0" i="0">
                <a:solidFill>
                  <a:srgbClr val="16181D"/>
                </a:solidFill>
                <a:latin typeface="Calibri"/>
              </a:rPr>
              <a:t>the SJF win is arithmetic on the burst table — facts earn the row, reasons earn the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B5563"/>
                </a:solidFill>
                <a:latin typeface="Calibri"/>
              </a:rPr>
              <a:t>Full 25-question bank with model answers: course book Appendix C — phrased for speaking.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B5563"/>
                </a:solidFill>
                <a:latin typeface="Calibri"/>
              </a:rPr>
              <a:t>PART C · APPENDICES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Everything Here Is Reproducible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777240" cy="32004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5855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8368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B5563"/>
                </a:solidFill>
                <a:latin typeface="Calibri"/>
              </a:rPr>
              <a:t>Operating Systems · 1BCS304 —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583680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B5563"/>
                </a:solidFill>
                <a:latin typeface="Calibri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630936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Fifteen C programs and one environment script: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10 learning activities + 5 module demos — all in the same repo as these slides and the book.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Every code panel was read from </a:t>
            </a:r>
            <a:r>
              <a:rPr sz="1300" b="0" i="0">
                <a:solidFill>
                  <a:srgbClr val="16181D"/>
                </a:solidFill>
                <a:latin typeface="Consolas"/>
              </a:rPr>
              <a:t>src/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 at deck-build time; no listing was retyped.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Every transcript panel is the byte-exact </a:t>
            </a:r>
            <a:r>
              <a:rPr sz="1300" b="0" i="0">
                <a:solidFill>
                  <a:srgbClr val="16181D"/>
                </a:solidFill>
                <a:latin typeface="Consolas"/>
              </a:rPr>
              <a:t>out/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 capture — the compiler and the kernel did the talking.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6181D"/>
                </a:solidFill>
                <a:latin typeface="Calibri"/>
              </a:rPr>
              <a:t>Red values quoted in bullets were machine-verified against those captures </a:t>
            </a:r>
            <a:r>
              <a:rPr sz="1350" b="1" i="0">
                <a:solidFill>
                  <a:srgbClr val="B3261E"/>
                </a:solidFill>
                <a:latin typeface="Calibri"/>
              </a:rPr>
              <a:t>at generation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 (the check runs below; failures abort the save).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Reproducibility, enforced: collect.py builds and runs every program twice and refuses any capture that differs byte-for-byte — pids and timings can never survive to print.</a:t>
            </a:r>
          </a:p>
          <a:p>
            <a:pPr marL="201168" indent="-201168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B3261E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6181D"/>
                </a:solidFill>
                <a:latin typeface="Calibri"/>
              </a:rPr>
              <a:t>The book (95 pp) embeds the same files and passes 24 QA gates; this deck shares its corpus.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64608"/>
            <a:ext cx="6309360" cy="13716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974336"/>
            <a:ext cx="594360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50"/>
              </a:spcAft>
            </a:pPr>
            <a:r>
              <a:rPr sz="1250" b="0" i="0">
                <a:solidFill>
                  <a:srgbClr val="E5E7EB"/>
                </a:solidFill>
                <a:latin typeface="Consolas"/>
              </a:rPr>
              <a:t>$ cd os-course</a:t>
            </a:r>
          </a:p>
          <a:p>
            <a:pPr>
              <a:spcBef>
                <a:spcPts val="0"/>
              </a:spcBef>
              <a:spcAft>
                <a:spcPts val="350"/>
              </a:spcAft>
            </a:pPr>
            <a:r>
              <a:rPr sz="1250" b="0" i="0">
                <a:solidFill>
                  <a:srgbClr val="E5E7EB"/>
                </a:solidFill>
                <a:latin typeface="Consolas"/>
              </a:rPr>
              <a:t>$ python3 collect.py   # 16 gcc builds + runs ×2, byte gate</a:t>
            </a:r>
          </a:p>
          <a:p>
            <a:pPr>
              <a:spcBef>
                <a:spcPts val="0"/>
              </a:spcBef>
              <a:spcAft>
                <a:spcPts val="350"/>
              </a:spcAft>
            </a:pPr>
            <a:r>
              <a:rPr sz="1250" b="0" i="0">
                <a:solidFill>
                  <a:srgbClr val="E5E7EB"/>
                </a:solidFill>
                <a:latin typeface="Consolas"/>
              </a:rPr>
              <a:t>$ python3 build.py      # two-pass PDF, footers stamped</a:t>
            </a:r>
          </a:p>
          <a:p>
            <a:pPr>
              <a:spcBef>
                <a:spcPts val="0"/>
              </a:spcBef>
              <a:spcAft>
                <a:spcPts val="350"/>
              </a:spcAft>
            </a:pPr>
            <a:r>
              <a:rPr sz="1250" b="0" i="0">
                <a:solidFill>
                  <a:srgbClr val="E5E7EB"/>
                </a:solidFill>
                <a:latin typeface="Consolas"/>
              </a:rPr>
              <a:t>$ python3 qa.py         # 24 gates against the captures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572768"/>
            <a:ext cx="4526280" cy="2926080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572768"/>
            <a:ext cx="54864" cy="29260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1664208"/>
            <a:ext cx="414223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261E"/>
                </a:solidFill>
                <a:latin typeface="Calibri"/>
              </a:rPr>
              <a:t>RESOURCES (AS PRESCRIBED)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81D"/>
                </a:solidFill>
                <a:latin typeface="Calibri"/>
              </a:rPr>
              <a:t>Textbook: Abraham Silberschatz, Peter Baer Galvin, Greg Gagne, Operating System Principles, 9th edition, Wiley-India, 2015.  References: Ann McHoes Ida M Fylnn, Understanding Operating System, Cengage Learning, 7th Edition.  D.M Dhamdhere, Operating Systems: A Concept Based Approach 3rd Ed, McGraw-Hill, 2013.  William Stallings Operating Systems: Internals and Design Principles, 7th Edition, Pearson.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663440"/>
            <a:ext cx="4526280" cy="1572768"/>
          </a:xfrm>
          <a:prstGeom prst="rect">
            <a:avLst/>
          </a:prstGeom>
          <a:solidFill>
            <a:srgbClr val="F0F5FF"/>
          </a:solidFill>
          <a:ln w="9525">
            <a:solidFill>
              <a:srgbClr val="C7D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1" y="4745736"/>
            <a:ext cx="4197096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D4ED8"/>
                </a:solidFill>
                <a:latin typeface="Calibri"/>
              </a:rPr>
              <a:t>E-RESOURCES &amp; PEDAGOGY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Infosys Springboard: Introduction to Unix — 18 h SL · OS Virtual Lab (erpjietuniverse)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Syllabus-linked video: Intro to OS · Types of OS · Process Synchronisation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20"/>
              </a:spcAft>
            </a:pPr>
            <a:r>
              <a:rPr sz="1050" b="0" i="0">
                <a:solidFill>
                  <a:srgbClr val="16181D"/>
                </a:solidFill>
                <a:latin typeface="Calibri"/>
              </a:rPr>
              <a:t>Case-Based Teaching · Simulation &amp; Virtual Labs · ICT-Enabled · Peer teaching/learning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607161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B5563"/>
                </a:solidFill>
                <a:latin typeface="Calibri"/>
              </a:rPr>
              <a:t>Dr. Lokesh M R · AJIET Mangaluru · VTU 2025 scheme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