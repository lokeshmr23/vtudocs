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live if the lab machines are up: python3 src/m01.py from the py-course folder. The transcript panel is the verified capture (out/m01_r1.txt); full source and every line's explanation are in the course book, Module 1 §2–§3. Walk the loop values for one row by hand before showing output.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A syntax error breaks parsing before any instruction runs — the interpreter prints a traceback and refuses to start. A semantic error means the program runs but does the wrong thing; there is no traceback at all, so it is found by testing, not by reading. Runtime errors (exceptions) sit between: parsing succeeded, execution began, then something failed at a named point.</a:t>
            </a:r>
          </a:p>
          <a:p>
            <a:r>
              <a:t>Q4: collatz(7): 7→22→11→34→17→52→26→13→40→20→10→5→16→8→4→2→1 is 16 steps — matching the table row in the demo output, which the program computed the same way.</a:t>
            </a:r>
          </a:p>
          <a:p>
            <a:r>
              <a:t>Full model answers for every question: course book §1.5.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live if the lab machines are up: python3 src/m02.py from the py-course folder. The transcript panel is the verified capture (out/m02_r1.txt); full source and every line's explanation are in the course book, Module 2 §2–§3. Walk the loop values for one row by hand before showing output.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Q2: True (value-equal). Slicing splits the string at any index and re-concatenation reproduces it — the slice returns new strings, so nothing mutated the original, which is exactly what immutability guarantees: every operation that looks like “taking part” is really building a new whole.</a:t>
            </a:r>
          </a:p>
          <a:p>
            <a:r>
              <a:t>Q4: Because sort() is a modifier — it reorders the list in place and returns None, a deliberate signal that no new list was produced. Assigning x = nums.sort() stores None; the classic semantic error of the module, and the reason pure-function style (sorted(nums)) exists side by side.</a:t>
            </a:r>
          </a:p>
          <a:p>
            <a:r>
              <a:t>Full model answers for every question: course book §2.5.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live if the lab machines are up: python3 src/m03.py from the py-course folder. The transcript panel is the verified capture (out/m03_r1.txt); full source and every line's explanation are in the course book, Module 3 §2–§3. Walk the loop values for one row by hand before showing output.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Q3: A NumPy slice arr[:, 1] is a view — writing through it edits the original array, because the slice shares memory; a Python list slice always builds a copy. One of these is a feature (in-place column fixes), the other a safety (no accidental alias). The viva loves the contrast.</a:t>
            </a:r>
          </a:p>
          <a:p>
            <a:r>
              <a:t>Q5: read() returns one str of the whole file (two copies of its size in memory worst case); readlines() returns a list of str — one element per line, which is exactly what Lab 6 must sort; iterating the file object yields lines one at a time with constant memory — the streaming choice for big files.</a:t>
            </a:r>
          </a:p>
          <a:p>
            <a:r>
              <a:t>Full model answers for every question: course book §3.5.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live if the lab machines are up: python3 src/m04.py from the py-course folder. The transcript panel is the verified capture (out/m04_r1.txt); full source and every line's explanation are in the course book, Module 4 §2–§3. Walk the loop values for one row by hand before showing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Q2: Inside the function, the read of counter would find the module global — until the assignment makes counter local to the function for its entire body, so the read now precedes a local binding and Python raises UnboundLocalError. The error is the feature: silent reads of a global you are about to shadow would make every function a landmine; adding global counter states the intent.</a:t>
            </a:r>
          </a:p>
          <a:p>
            <a:r>
              <a:t>Q4: True — bag is created once when the def executes, so both calls share one list object: first is second. The fix is the sentinel idiom: def add_item(item, bag=None): if bag is None: bag = [].</a:t>
            </a:r>
          </a:p>
          <a:p>
            <a:r>
              <a:t>Full model answers for every question: course book §4.5.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live if the lab machines are up: python3 src/m05.py from the py-course folder. The transcript panel is the verified capture (out/m05_r1.txt); full source and every line's explanation are in the course book, Module 5 §2–§3. Walk the loop values for one row by hand before showing output.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Q4: assert states a developer postulate — “if this is false, the program logic is broken” — optimised away with the -O flag, message owned by AssertionError; raise ValueError is a designed API decision for callers — it ships with the program always, carries a written diagnosis, and is what a record grader expects to see guarding user input. In Lab 7 the assertion covers a&gt;0 (the contract) and the raise covers b==0 (the legitimate refusal), so each failure prints a different, named reason.</a:t>
            </a:r>
          </a:p>
          <a:p>
            <a:r>
              <a:t>Q6: Pure — no receiver changes, the result is a fresh object; overloading expresses the same rule as __add__ so that x + y compiles, while add_complex(x, y) remains the graded call form in Lab 8. The record should say both sentences: which style was chosen and what the syllabus asked for.</a:t>
            </a:r>
          </a:p>
          <a:p>
            <a:r>
              <a:t>Full model answers for every question: course book §5.5.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src/lab01a.py</a:t>
            </a:r>
          </a:p>
          <a:p>
            <a:r>
              <a:t>Captured files: out/lab01a_r1.txt and out/lab01a_r2.txt. First captured prompt line: === Simple Calculator ===.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src/lab01b.py</a:t>
            </a:r>
          </a:p>
          <a:p>
            <a:r>
              <a:t>Captured files: out/lab01b_r1.txt and out/lab01b_r2.txt. First captured prompt line: Enter the name of the person     : Ramesh.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§1.6):</a:t>
            </a:r>
          </a:p>
          <a:p/>
          <a:p>
            <a:r>
              <a:t>Q1: Why float(input(...)) and not int(input(...)) in the calculator?</a:t>
            </a:r>
          </a:p>
          <a:p>
            <a:r>
              <a:t>Q2: What would print('25 * 10 =', a*b) output — is the format string necessary?</a:t>
            </a:r>
          </a:p>
          <a:p>
            <a:r>
              <a:t>Q3: Where exactly does the program stop if b is zero — which statement ends it?</a:t>
            </a:r>
          </a:p>
          <a:p>
            <a:r>
              <a:t>Q4: How would you make the senior-citizen check boundary-inclusive at 60? Quote the line.</a:t>
            </a:r>
          </a:p>
          <a:p>
            <a:r>
              <a:t>Q5: State one semantic error each program is guarded against.</a:t>
            </a:r>
          </a:p>
          <a:p>
            <a:r>
              <a:t>A3: print('25 * 10 =', a*b) gives '25 * 10 = 250.0' — the comma form shows the raw float. The f-string with :g renders 250, which is why record-friendly output uses it; both are syntactically correct, only one prints like a calculator.</a:t>
            </a:r>
          </a:p>
          <a:p>
            <a:r>
              <a:t>A5: The calculator guards the semantic error of trusting input(): a string entering arithmetic would raise TypeError, so conversion happens immediately and the choice is validated. The age program guards the impossible input (birth year in the future) that would otherwise print 'Age: -9 years, not a senior citizen' — an answer that is confidently wrong.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src/lab02a.py</a:t>
            </a:r>
          </a:p>
          <a:p>
            <a:r>
              <a:t>Captured files: out/lab02a_r1.txt and out/lab02a_r2.txt. First captured prompt line: How many Fibonacci numbers? 10.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src/lab02b.py</a:t>
            </a:r>
          </a:p>
          <a:p>
            <a:r>
              <a:t>Captured files: out/lab02b_r1.txt. First captured prompt line: initial       : ['mango', 'apple', 'guava'].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§2.6):</a:t>
            </a:r>
          </a:p>
          <a:p/>
          <a:p>
            <a:r>
              <a:t>Q1: Why does a, b = b, a+b need no temporary variable?</a:t>
            </a:r>
          </a:p>
          <a:p>
            <a:r>
              <a:t>Q2: What does pop(2) return and what remains in the list — give both from the transcript.</a:t>
            </a:r>
          </a:p>
          <a:p>
            <a:r>
              <a:t>Q3: Distinguish remove('apple') from pop(2) in one sentence each.</a:t>
            </a:r>
          </a:p>
          <a:p>
            <a:r>
              <a:t>Q4: If the list were cloned before clear(), would the clone be affected? Name the module-2 concept.</a:t>
            </a:r>
          </a:p>
          <a:p>
            <a:r>
              <a:t>Q5: Why is the empty sequence for N=0 not printed as a blank line by this program?</a:t>
            </a:r>
          </a:p>
          <a:p>
            <a:r>
              <a:t>A4: No — this list is not shared: nothing aliased it. But in general clear() is a modifier, so every alias sees the emptied list; a clone taken before clear() survives untouched. This is exactly the aliasing/clone pair of Module 2.</a:t>
            </a:r>
          </a:p>
          <a:p>
            <a:r>
              <a:t>A5: Because N≤0 takes the guard branch that prints 'Please enter a positive integer.' and never enters the loop — the program distinguishes 'sequence of length zero' (a valid request it declines) from silently printing an empty 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src/lab03a.py</a:t>
            </a:r>
          </a:p>
          <a:p>
            <a:r>
              <a:t>Captured files: out/lab03a_r1.txt and out/lab03a_r2.txt. First captured prompt line: How many numbers? 5.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src/lab03b.py</a:t>
            </a:r>
          </a:p>
          <a:p>
            <a:r>
              <a:t>Captured files: out/lab03b_r1.txt and out/lab03b_r2.txt. First captured prompt line: Enter a multi-digit number: 12332211.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§3.6):</a:t>
            </a:r>
          </a:p>
          <a:p/>
          <a:p>
            <a:r>
              <a:t>Q1: Why does the program treat the number as a string and not convert to int in (b)?</a:t>
            </a:r>
          </a:p>
          <a:p>
            <a:r>
              <a:t>Q2: Write the variance line without a generator expression; how many extra lines does it cost?</a:t>
            </a:r>
          </a:p>
          <a:p>
            <a:r>
              <a:t>Q3: What does .get(d, 0) protect against? Give the failing alternative.</a:t>
            </a:r>
          </a:p>
          <a:p>
            <a:r>
              <a:t>Q4: If the input were 1234567890, how many dict entries exist at the end — justify without running.</a:t>
            </a:r>
          </a:p>
          <a:p>
            <a:r>
              <a:t>Q5: State which formula (population vs sample variance) the program uses and where the difference would appear.</a:t>
            </a:r>
          </a:p>
          <a:p>
            <a:r>
              <a:t>A1: Because the task is about digits, not magnitude: int conversion would drop the leading-zero case and buys nothing — iterating the raw string gives single characters directly, which are exactly the dict keys wanted. ('As chars' in the question is an instruction to keep it text.)</a:t>
            </a:r>
          </a:p>
          <a:p>
            <a:r>
              <a:t>A5: Population variance: divide by n. Sample variance divides by n−1; with five numbers the value would be 250 instead of 200 (σ = 15.8114). The record should state which one it implemented — this one states: /n, population.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src/lab04.py</a:t>
            </a:r>
          </a:p>
          <a:p>
            <a:r>
              <a:t>Captured files: out/lab04_r1.txt and out/lab04_r2.txt. First captured prompt line: rank  count  word.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§4.6):</a:t>
            </a:r>
          </a:p>
          <a:p/>
          <a:p>
            <a:r>
              <a:t>Q1: Which single line would you delete to show the whole frequency dictionary, not just ten?</a:t>
            </a:r>
          </a:p>
          <a:p>
            <a:r>
              <a:t>Q2: Why lower() before counting, and what breaks without it? Quote the run’s numbers.</a:t>
            </a:r>
          </a:p>
          <a:p>
            <a:r>
              <a:t>Q3: Explain the key lambda’s tuple — why minus the count, why the word as second element?</a:t>
            </a:r>
          </a:p>
          <a:p>
            <a:r>
              <a:t>Q4: What happens if the file name is wrong: which exception, and where could you catch it?</a:t>
            </a:r>
          </a:p>
          <a:p>
            <a:r>
              <a:t>Q5: items() returns what kind of object, and why does sorted() accept it?</a:t>
            </a:r>
          </a:p>
          <a:p>
            <a:r>
              <a:t>A3: (-count, word): sorted() is ascending, so negating the count flips frequency to descending; the word (ascending) then breaks ties alphabetically. One tuple, two sort orders — and the deterministic table the record shows.</a:t>
            </a:r>
          </a:p>
          <a:p>
            <a:r>
              <a:t>A5: A list of (key, value) tuples — dict.items() is a view of pairs, and sorted() consumes any iterable, producing a list of tuples that unpacks cleanly in the for-loop header.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src/lab05.py</a:t>
            </a:r>
          </a:p>
          <a:p>
            <a:r>
              <a:t>Captured files: out/lab05_r1.txt and out/lab05_r2.txt. First captured prompt line: Enter marks for Maths     : 78.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§5.6):</a:t>
            </a:r>
          </a:p>
          <a:p/>
          <a:p>
            <a:r>
              <a:t>Q1: Trace one pass by hand for 78 92 65 … — which swaps fire and where does 49 end up after pass 1?</a:t>
            </a:r>
          </a:p>
          <a:p>
            <a:r>
              <a:t>Q2: Why sort the order list instead of marks.sort(reverse=True)? The question says bubble sort — which part satisfies it?</a:t>
            </a:r>
          </a:p>
          <a:p>
            <a:r>
              <a:t>Q3: What makes this sort stable in Run 2? Name the comparator property.</a:t>
            </a:r>
          </a:p>
          <a:p>
            <a:r>
              <a:t>Q4: If the inner loop ran to j = 5 instead of 5−i, would the output change? What costs would rise?</a:t>
            </a:r>
          </a:p>
          <a:p>
            <a:r>
              <a:t>Q5: Extend the report with grade letters — which line of this program already gives you the sorted list to walk?</a:t>
            </a:r>
          </a:p>
          <a:p>
            <a:r>
              <a:t>A2: Because sorting marks directly would sever the marks from their subject names; an index permutation is the classic answer, and the syllabus demands the bubble routine — the nested loop with neighbour swaps below satisfies that literally, while sort() would satisfy only the result, not the method.</a:t>
            </a:r>
          </a:p>
          <a:p>
            <a:r>
              <a:t>A3: The strict &lt; comparator: equal marks never trigger a swap, so their relative order survives — a stable sort. With &lt;= the equal entries would churn and the output order would change for Run 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src/lab06.py</a:t>
            </a:r>
          </a:p>
          <a:p>
            <a:r>
              <a:t>Captured files: out/lab06_r1.txt. First captured prompt line: Input file name: ../data/lines.txt.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§6.6):</a:t>
            </a:r>
          </a:p>
          <a:p/>
          <a:p>
            <a:r>
              <a:t>Q1: Why not just text.splitlines() then sort? What does the hint force you to demonstrate?</a:t>
            </a:r>
          </a:p>
          <a:p>
            <a:r>
              <a:t>Q2: What does the file look like if you forget + '\n' in the write loop?</a:t>
            </a:r>
          </a:p>
          <a:p>
            <a:r>
              <a:t>Q3: lines.sort() returns None — how would you have gotten the sorted list differently?</a:t>
            </a:r>
          </a:p>
          <a:p>
            <a:r>
              <a:t>Q4: Where in this program is the one risk of overwriting data, and why is it safe here?</a:t>
            </a:r>
          </a:p>
          <a:p>
            <a:r>
              <a:t>Q5: How would you make the sort case-insensitive? One keyword argument, one line.</a:t>
            </a:r>
          </a:p>
          <a:p>
            <a:r>
              <a:t>A3: None — it is an in-place modifier. The pure alternative is sorted(lines), which returns a new list; the record says so when it names which style the program uses.</a:t>
            </a:r>
          </a:p>
          <a:p>
            <a:r>
              <a:t>A4: Opening the output with mode 'w' truncates whatever is there — the risk of writing. It is safe because the name is always prefixed sorted_ in the same directory, never equal to the input name.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src/lab07.py</a:t>
            </a:r>
          </a:p>
          <a:p>
            <a:r>
              <a:t>Captured files: out/lab07_r1.txt and out/lab07_r2.txt. First captured prompt line: Enter value of a: 12.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§7.6):</a:t>
            </a:r>
          </a:p>
          <a:p/>
          <a:p>
            <a:r>
              <a:t>Q1: Why raise instead of return None for b = 0 in this design?</a:t>
            </a:r>
          </a:p>
          <a:p>
            <a:r>
              <a:t>Q2: Assertion vs exception — which one is for programmer contracts and which for caller input? Justify from the transcript.</a:t>
            </a:r>
          </a:p>
          <a:p>
            <a:r>
              <a:t>Q3: What line ends the program if the except clause were missing? Sketch the traceback.</a:t>
            </a:r>
          </a:p>
          <a:p>
            <a:r>
              <a:t>Q4: Where does the assert message go in the output, and which exception type prefixes it?</a:t>
            </a:r>
          </a:p>
          <a:p>
            <a:r>
              <a:t>Q5: Would assert a &gt; 0 still fire if python were run with -O? What does that imply for production code?</a:t>
            </a:r>
          </a:p>
          <a:p>
            <a:r>
              <a:t>A1: None is a value the caller can forget to check — the division would keep flowing with a poison payload. Raising makes ignoring the error impossible and names it; the caller above prints a diagnosis instead of garbage.</a:t>
            </a:r>
          </a:p>
          <a:p>
            <a:r>
              <a:t>A5: No — with -O assertions are skipped (optimised out). Production checks like these must be explicit if/raise; assert is for development-time postulates, which is precisely why the question pairs both mechanisms in one function.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src/lab08.py</a:t>
            </a:r>
          </a:p>
          <a:p>
            <a:r>
              <a:t>Captured files: out/lab08_r1.txt and out/lab08_r2.txt. First captured prompt line: How many complex numbers (N &gt;= 2)? 3.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§8.6):</a:t>
            </a:r>
          </a:p>
          <a:p/>
          <a:p>
            <a:r>
              <a:t>Q1: Give the two evidence lines that show add_complex is pure, not a modifier.</a:t>
            </a:r>
          </a:p>
          <a:p>
            <a:r>
              <a:t>Q2: Why is __str__ better here than a helper display(z)? One sentence for the caller side, one for the print().</a:t>
            </a:r>
          </a:p>
          <a:p>
            <a:r>
              <a:t>Q3: The question says N≥2 — where is that enforced and what is the failure output?</a:t>
            </a:r>
          </a:p>
          <a:p>
            <a:r>
              <a:t>Q4: How does the program decide the sign in '3 - 4i'? Name the exact expression.</a:t>
            </a:r>
          </a:p>
          <a:p>
            <a:r>
              <a:t>Q5: Which line makes the whole N-way sum; rewrite that line as a loop over pairs of your choice.</a:t>
            </a:r>
          </a:p>
          <a:p>
            <a:r>
              <a:t>A1: The Reading line printed after the sum shows the originals unchanged, and add_complex’s return statement constructs Complex(...) instead of touching x or y — one is transcript evidence, one is code evidence.</a:t>
            </a:r>
          </a:p>
          <a:p>
            <a:r>
              <a:t>A5: total = numbers[0]; for z in numbers[1:]: total = add_complex(total, z) — that is the fold. An equivalent walk: pairwise reduce until one element remains; both are N−1 applications of the same binary rule, which is what the question’s wording implies.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src/lab09.py</a:t>
            </a:r>
          </a:p>
          <a:p>
            <a:r>
              <a:t>Captured files: out/lab09_r1.txt and out/lab09_r2.txt. First captured prompt line: Paste the paragraph (one line): Python is fun and Python helps; fun times! Python rocks..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§9.6):</a:t>
            </a:r>
          </a:p>
          <a:p/>
          <a:p>
            <a:r>
              <a:t>Q1: Why is stating “a word = token stripped of punctuation” worth marks even though it costs three lines?</a:t>
            </a:r>
          </a:p>
          <a:p>
            <a:r>
              <a:t>Q2: Give the one-line change that would treat ';' as a sentence terminator too.</a:t>
            </a:r>
          </a:p>
          <a:p>
            <a:r>
              <a:t>Q3: max(words, key=len) on two 6-letter words — which wins, and why is that acceptable?</a:t>
            </a:r>
          </a:p>
          <a:p>
            <a:r>
              <a:t>Q4: Which single structure carries the whole frequency feature; name the module-3 idiom behind it.</a:t>
            </a:r>
          </a:p>
          <a:p>
            <a:r>
              <a:t>Q5: If the paragraph came from a file instead of input(), which Lab’s two lines transfer verbatim?</a:t>
            </a:r>
          </a:p>
          <a:p>
            <a:r>
              <a:t>A1: Because an open-ended tool is graded on design, not just output: the convention decides every number in the report, so writing it down turns 'our count says 10' into 'our count says 10 — by definition' and closes the viva question before it is asked.</a:t>
            </a:r>
          </a:p>
          <a:p>
            <a:r>
              <a:t>A5: Lab 6’s with open(...) + readlines() (or Lab 4’s read() and one split) — the input layer is a swap, every analysis line is untouched — which is what building a tool, rather than a snippet, means.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src/lab10.py</a:t>
            </a:r>
          </a:p>
          <a:p>
            <a:r>
              <a:t>Captured files: out/lab10_r1.txt and out/lab10_r2.txt. First captured prompt line: CSV file: ../data/weather.csv.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§10.6):</a:t>
            </a:r>
          </a:p>
          <a:p/>
          <a:p>
            <a:r>
              <a:t>Q1: Where exactly is the “dictionary form” created, and what does zip do if a row is short?</a:t>
            </a:r>
          </a:p>
          <a:p>
            <a:r>
              <a:t>Q2: Which two lines make a column numeric or disqualify it? Name the exception caught.</a:t>
            </a:r>
          </a:p>
          <a:p>
            <a:r>
              <a:t>Q3: avg rain_mm = 18.30 — reproduce that number with a hand sum of the four values.</a:t>
            </a:r>
          </a:p>
          <a:p>
            <a:r>
              <a:t>Q4: Why print the prompt with the user’s query inside the transcript (pty vs pipe)?</a:t>
            </a:r>
          </a:p>
          <a:p>
            <a:r>
              <a:t>Q5: State one design choice you would defend differently in the viva, and its cost.</a:t>
            </a:r>
          </a:p>
          <a:p>
            <a:r>
              <a:t>A1: data = [dict(zip(header, r.split(","))) for r in rows[1:]] — one comprehension. If a row is short, zip stops at the shorter sequence: that record simply lacks the trailing keys, which the numeric detector tolerates (KeyError is not even reached because float() never sees it) — a design choice with an explicit limit, said out loud.</a:t>
            </a:r>
          </a:p>
          <a:p>
            <a:r>
              <a:t>A4: Because the pty echo puts the typed query on the prompt line — the transcript then reads prompt → answer, the way the student actually sat at the bench; a piped run would show all inputs first and lose the conversation shape the record shows.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src/lab11.py</a:t>
            </a:r>
          </a:p>
          <a:p>
            <a:r>
              <a:t>Captured files: out/lab11_r1.txt and out/lab11_r2.txt. First captured prompt line: Name,mark1,mark2,mark3 (blank line to finish): Asha,88,92,79.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§11.6):</a:t>
            </a:r>
          </a:p>
          <a:p/>
          <a:p>
            <a:r>
              <a:t>Q1: Why dictionaries over tuples for a store with four fields?</a:t>
            </a:r>
          </a:p>
          <a:p>
            <a:r>
              <a:t>Q2: Which line decides the topper and what does its key argument do?</a:t>
            </a:r>
          </a:p>
          <a:p>
            <a:r>
              <a:t>Q3: Add a student with four subjects — which code lines change? Answer: name the number, it is zero.</a:t>
            </a:r>
          </a:p>
          <a:p>
            <a:r>
              <a:t>Q4: State the grade boundary behaviour at exactly 70: inclusive or not, and where the answer lives.</a:t>
            </a:r>
          </a:p>
          <a:p>
            <a:r>
              <a:t>Q5: Which single structure makes the report table print aligned — name the format feature.</a:t>
            </a:r>
          </a:p>
          <a:p>
            <a:r>
              <a:t>A1: Field names in the report come free: s["avg"] reads the way the question words it; a tuple would be s[2] with a comment, and every extra column shifts every index. Both satisfy the syllabus — the dict just survives the viva better.</a:t>
            </a:r>
          </a:p>
          <a:p>
            <a:r>
              <a:t>A3: None of the report or input lines: marks is a list of whatever length was typed, and every statistic folds over it (sum, len). That is the payoff of storing computed-per-record instead of fixed columns.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run: python3 src/lab12.py</a:t>
            </a:r>
          </a:p>
          <a:p>
            <a:r>
              <a:t>Captured files: out/lab12_r1.txt and out/lab12_r2.txt. First captured prompt line: Folder to list: ../data/demo. The listing on screen is byte-identical to the file on the lab machine; guard run (right/bottom) is part of the record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this experiment (course book §12.6):</a:t>
            </a:r>
          </a:p>
          <a:p/>
          <a:p>
            <a:r>
              <a:t>Q1: Why sort the entries at every call rather than once at the top?</a:t>
            </a:r>
          </a:p>
          <a:p>
            <a:r>
              <a:t>Q2: Name the parameter that replaces the stack you would otherwise hand-manage, and its starting value.</a:t>
            </a:r>
          </a:p>
          <a:p>
            <a:r>
              <a:t>Q3: What line of output would the program print for an empty directory — defend it with the code path.</a:t>
            </a:r>
          </a:p>
          <a:p>
            <a:r>
              <a:t>Q4: Where does splitext lose the trailing dot on '.hidden' files, and does that matter here?</a:t>
            </a:r>
          </a:p>
          <a:p>
            <a:r>
              <a:t>Q5: Which single os module function could replace the whole recursion, and what would the record lose?</a:t>
            </a:r>
          </a:p>
          <a:p>
            <a:r>
              <a:t>A1: Because recursion yields each directory in isolation — a directory sorted at the top would only order level 1; sortedness must hold at every listdir call to make the whole tree deterministic.</a:t>
            </a:r>
          </a:p>
          <a:p>
            <a:r>
              <a:t>A5: os.walk — but the syllabus line says recursively, and the record's credit sits in showing the recursion (level parameter, descent decision, base case); a one-line library call would hide exactly the concept being examined.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10362895" cy="457200"/>
          </a:xfrm>
          <a:prstGeom prst="rect">
            <a:avLst/>
          </a:prstGeom>
          <a:noFill/>
        </p:spPr>
        <p:txBody>
          <a:bodyPr wrap="square" anchor="t" lIns="0" rIns="0" tIns="0" bIns="0">
            <a:spAutoFit/>
          </a:bodyPr>
          <a:lstStyle/>
          <a:p>
            <a:pPr algn="ctr">
              <a:spcBef>
                <a:spcPts val="0"/>
              </a:spcBef>
              <a:spcAft>
                <a:spcPts val="0"/>
              </a:spcAft>
            </a:pPr>
            <a:r>
              <a:rPr sz="1500" b="1" i="0">
                <a:solidFill>
                  <a:srgbClr val="B3261E"/>
                </a:solidFill>
                <a:latin typeface="Calibri"/>
              </a:rPr>
              <a:t>INTEGRATED THEORY &amp; PRACTICAL COURSE · SEMESTER I / II</a:t>
            </a:r>
          </a:p>
        </p:txBody>
      </p:sp>
      <p:sp>
        <p:nvSpPr>
          <p:cNvPr id="4" name="Rectangle 3"/>
          <p:cNvSpPr/>
          <p:nvPr/>
        </p:nvSpPr>
        <p:spPr>
          <a:xfrm>
            <a:off x="914400" y="1115568"/>
            <a:ext cx="10362895" cy="2560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62895" cy="1737360"/>
          </a:xfrm>
          <a:prstGeom prst="rect">
            <a:avLst/>
          </a:prstGeom>
          <a:noFill/>
        </p:spPr>
        <p:txBody>
          <a:bodyPr wrap="square" anchor="t" lIns="0" rIns="0" tIns="0" bIns="0">
            <a:spAutoFit/>
          </a:bodyPr>
          <a:lstStyle/>
          <a:p>
            <a:pPr algn="ctr">
              <a:spcBef>
                <a:spcPts val="0"/>
              </a:spcBef>
              <a:spcAft>
                <a:spcPts val="200"/>
              </a:spcAft>
            </a:pPr>
            <a:r>
              <a:rPr sz="5400" b="1" i="0">
                <a:solidFill>
                  <a:srgbClr val="0F172A"/>
                </a:solidFill>
                <a:latin typeface="Calibri"/>
              </a:rPr>
              <a:t>PYTHON</a:t>
            </a:r>
          </a:p>
          <a:p>
            <a:pPr algn="ctr">
              <a:spcBef>
                <a:spcPts val="0"/>
              </a:spcBef>
              <a:spcAft>
                <a:spcPts val="200"/>
              </a:spcAft>
            </a:pPr>
            <a:r>
              <a:rPr sz="5400" b="1" i="0">
                <a:solidFill>
                  <a:srgbClr val="0F172A"/>
                </a:solidFill>
                <a:latin typeface="Calibri"/>
              </a:rPr>
              <a:t>PROGRAMMING</a:t>
            </a:r>
          </a:p>
        </p:txBody>
      </p:sp>
      <p:sp>
        <p:nvSpPr>
          <p:cNvPr id="6" name="TextBox 5"/>
          <p:cNvSpPr txBox="1"/>
          <p:nvPr/>
        </p:nvSpPr>
        <p:spPr>
          <a:xfrm>
            <a:off x="1463040" y="3063240"/>
            <a:ext cx="9265615" cy="685800"/>
          </a:xfrm>
          <a:prstGeom prst="rect">
            <a:avLst/>
          </a:prstGeom>
          <a:noFill/>
        </p:spPr>
        <p:txBody>
          <a:bodyPr wrap="square" anchor="t" lIns="0" rIns="0" tIns="0" bIns="0">
            <a:spAutoFit/>
          </a:bodyPr>
          <a:lstStyle/>
          <a:p>
            <a:pPr algn="ctr">
              <a:spcBef>
                <a:spcPts val="0"/>
              </a:spcBef>
              <a:spcAft>
                <a:spcPts val="0"/>
              </a:spcAft>
            </a:pPr>
            <a:r>
              <a:rPr sz="1700" b="0" i="0">
                <a:solidFill>
                  <a:srgbClr val="4B5563"/>
                </a:solidFill>
                <a:latin typeface="Calibri"/>
              </a:rPr>
              <a:t>Classroom presentation · 5 theory modules in full + all 12 laboratory questions · every output captured from real runs (CPython 3.13)</a:t>
            </a:r>
          </a:p>
        </p:txBody>
      </p:sp>
      <p:sp>
        <p:nvSpPr>
          <p:cNvPr id="7" name="Rectangle 6"/>
          <p:cNvSpPr/>
          <p:nvPr/>
        </p:nvSpPr>
        <p:spPr>
          <a:xfrm>
            <a:off x="4449927" y="3794760"/>
            <a:ext cx="3291840" cy="713232"/>
          </a:xfrm>
          <a:prstGeom prst="rect">
            <a:avLst/>
          </a:prstGeom>
          <a:noFill/>
          <a:ln w="95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9927" y="3895344"/>
            <a:ext cx="3291840" cy="548640"/>
          </a:xfrm>
          <a:prstGeom prst="rect">
            <a:avLst/>
          </a:prstGeom>
          <a:noFill/>
        </p:spPr>
        <p:txBody>
          <a:bodyPr wrap="square" anchor="t" lIns="0" rIns="0" tIns="0" bIns="0">
            <a:spAutoFit/>
          </a:bodyPr>
          <a:lstStyle/>
          <a:p>
            <a:pPr algn="ctr">
              <a:spcBef>
                <a:spcPts val="0"/>
              </a:spcBef>
              <a:spcAft>
                <a:spcPts val="100"/>
              </a:spcAft>
            </a:pPr>
            <a:r>
              <a:rPr sz="1050" b="1" i="0">
                <a:solidFill>
                  <a:srgbClr val="4B5563"/>
                </a:solidFill>
                <a:latin typeface="Calibri"/>
              </a:rPr>
              <a:t>COURSE CODE</a:t>
            </a:r>
          </a:p>
          <a:p>
            <a:pPr algn="ctr">
              <a:spcBef>
                <a:spcPts val="0"/>
              </a:spcBef>
              <a:spcAft>
                <a:spcPts val="0"/>
              </a:spcAft>
            </a:pPr>
            <a:r>
              <a:rPr sz="2100" b="1" i="0">
                <a:solidFill>
                  <a:srgbClr val="0F172A"/>
                </a:solidFill>
                <a:latin typeface="Calibri"/>
              </a:rPr>
              <a:t>1BPLC105B/205B</a:t>
            </a:r>
          </a:p>
        </p:txBody>
      </p:sp>
      <p:sp>
        <p:nvSpPr>
          <p:cNvPr id="9" name="TextBox 8"/>
          <p:cNvSpPr txBox="1"/>
          <p:nvPr/>
        </p:nvSpPr>
        <p:spPr>
          <a:xfrm>
            <a:off x="1920240" y="4736592"/>
            <a:ext cx="8351215" cy="457200"/>
          </a:xfrm>
          <a:prstGeom prst="rect">
            <a:avLst/>
          </a:prstGeom>
          <a:noFill/>
        </p:spPr>
        <p:txBody>
          <a:bodyPr wrap="square" anchor="t" lIns="0" rIns="0" tIns="0" bIns="0">
            <a:spAutoFit/>
          </a:bodyPr>
          <a:lstStyle/>
          <a:p>
            <a:pPr algn="ctr">
              <a:spcBef>
                <a:spcPts val="0"/>
              </a:spcBef>
              <a:spcAft>
                <a:spcPts val="0"/>
              </a:spcAft>
            </a:pPr>
            <a:r>
              <a:rPr sz="1350" b="0" i="0">
                <a:solidFill>
                  <a:srgbClr val="16181D"/>
                </a:solidFill>
                <a:latin typeface="Calibri"/>
              </a:rPr>
              <a:t>4 credits   ·   Teaching 3 : 0 : 2 : 0   ·   CIE 50  (theory 25 + practical 25)   ·   SEE 50 · 3 h theory   ·   Total 100</a:t>
            </a:r>
          </a:p>
        </p:txBody>
      </p:sp>
      <p:sp>
        <p:nvSpPr>
          <p:cNvPr id="10" name="TextBox 9"/>
          <p:cNvSpPr txBox="1"/>
          <p:nvPr/>
        </p:nvSpPr>
        <p:spPr>
          <a:xfrm>
            <a:off x="914400" y="5440680"/>
            <a:ext cx="10362895" cy="731520"/>
          </a:xfrm>
          <a:prstGeom prst="rect">
            <a:avLst/>
          </a:prstGeom>
          <a:noFill/>
        </p:spPr>
        <p:txBody>
          <a:bodyPr wrap="square" anchor="t" lIns="0" rIns="0" tIns="0" bIns="0">
            <a:spAutoFit/>
          </a:bodyPr>
          <a:lstStyle/>
          <a:p>
            <a:pPr algn="ctr">
              <a:spcBef>
                <a:spcPts val="0"/>
              </a:spcBef>
              <a:spcAft>
                <a:spcPts val="100"/>
              </a:spcAft>
            </a:pPr>
            <a:r>
              <a:rPr sz="1200" b="0" i="1">
                <a:solidFill>
                  <a:srgbClr val="4B5563"/>
                </a:solidFill>
                <a:latin typeface="Calibri"/>
              </a:rPr>
              <a:t>by</a:t>
            </a:r>
          </a:p>
          <a:p>
            <a:pPr algn="ctr">
              <a:spcBef>
                <a:spcPts val="0"/>
              </a:spcBef>
              <a:spcAft>
                <a:spcPts val="100"/>
              </a:spcAft>
            </a:pPr>
            <a:r>
              <a:rPr sz="2200" b="1" i="0">
                <a:solidFill>
                  <a:srgbClr val="0F172A"/>
                </a:solidFill>
                <a:latin typeface="Calibri"/>
              </a:rPr>
              <a:t>Dr. Lokesh M R</a:t>
            </a:r>
          </a:p>
          <a:p>
            <a:pPr algn="ctr">
              <a:spcBef>
                <a:spcPts val="0"/>
              </a:spcBef>
              <a:spcAft>
                <a:spcPts val="0"/>
              </a:spcAft>
            </a:pPr>
            <a:r>
              <a:rPr sz="1250" b="0" i="0">
                <a:solidFill>
                  <a:srgbClr val="4B5563"/>
                </a:solidFill>
                <a:latin typeface="Calibri"/>
              </a:rPr>
              <a:t>Professor, Dept. of Information Science &amp; Engineering · A J Institute of Engineering and Technology (AJIET), Mangaluru</a:t>
            </a:r>
          </a:p>
        </p:txBody>
      </p:sp>
      <p:sp>
        <p:nvSpPr>
          <p:cNvPr id="11" name="TextBox 10"/>
          <p:cNvSpPr txBox="1"/>
          <p:nvPr/>
        </p:nvSpPr>
        <p:spPr>
          <a:xfrm>
            <a:off x="914400" y="6419088"/>
            <a:ext cx="10362895" cy="365760"/>
          </a:xfrm>
          <a:prstGeom prst="rect">
            <a:avLst/>
          </a:prstGeom>
          <a:noFill/>
        </p:spPr>
        <p:txBody>
          <a:bodyPr wrap="square" anchor="t" lIns="0" rIns="0" tIns="0" bIns="0">
            <a:spAutoFit/>
          </a:bodyPr>
          <a:lstStyle/>
          <a:p>
            <a:pPr algn="ctr">
              <a:spcBef>
                <a:spcPts val="0"/>
              </a:spcBef>
              <a:spcAft>
                <a:spcPts val="0"/>
              </a:spcAft>
            </a:pPr>
            <a:r>
              <a:rPr sz="1000" b="0" i="0">
                <a:solidFill>
                  <a:srgbClr val="4B5563"/>
                </a:solidFill>
                <a:latin typeface="Calibri"/>
              </a:rPr>
              <a:t>Visvesvaraya Technological University (VTU) · 2022/2025 Scheme · IPCC circular VTU/BGM/IPCC 2025/3748 (24 Oct 2025) — slides derived from the course &amp; lab notes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The Course at a Glance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a:t>
            </a:r>
          </a:p>
        </p:txBody>
      </p:sp>
      <p:sp>
        <p:nvSpPr>
          <p:cNvPr id="8" name="TextBox 7"/>
          <p:cNvSpPr txBox="1"/>
          <p:nvPr/>
        </p:nvSpPr>
        <p:spPr>
          <a:xfrm>
            <a:off x="502920" y="1554480"/>
            <a:ext cx="5577840" cy="486460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550" b="1" i="0">
                <a:solidFill>
                  <a:srgbClr val="B3261E"/>
                </a:solidFill>
                <a:latin typeface="Calibri"/>
              </a:rPr>
              <a:t>•  </a:t>
            </a:r>
            <a:r>
              <a:rPr sz="1550" b="0" i="0">
                <a:solidFill>
                  <a:srgbClr val="16181D"/>
                </a:solidFill>
                <a:latin typeface="Calibri"/>
              </a:rPr>
              <a:t>Integrated course: </a:t>
            </a:r>
            <a:r>
              <a:rPr sz="1550" b="1" i="0">
                <a:solidFill>
                  <a:srgbClr val="16181D"/>
                </a:solidFill>
                <a:latin typeface="Calibri"/>
              </a:rPr>
              <a:t>one scheme, two halves</a:t>
            </a:r>
            <a:r>
              <a:rPr sz="1550" b="0" i="0">
                <a:solidFill>
                  <a:srgbClr val="16181D"/>
                </a:solidFill>
                <a:latin typeface="Calibri"/>
              </a:rPr>
              <a:t> — theory modules and lab questions are assessed together, not sequentially.</a:t>
            </a:r>
          </a:p>
          <a:p>
            <a:pPr marL="201168" indent="-201168">
              <a:lnSpc>
                <a:spcPct val="104000"/>
              </a:lnSpc>
              <a:spcBef>
                <a:spcPts val="0"/>
              </a:spcBef>
              <a:spcAft>
                <a:spcPts val="500"/>
              </a:spcAft>
            </a:pPr>
            <a:r>
              <a:rPr sz="1550" b="1" i="0">
                <a:solidFill>
                  <a:srgbClr val="B3261E"/>
                </a:solidFill>
                <a:latin typeface="Calibri"/>
              </a:rPr>
              <a:t>•  </a:t>
            </a:r>
            <a:r>
              <a:rPr sz="1550" b="0" i="0">
                <a:solidFill>
                  <a:srgbClr val="16181D"/>
                </a:solidFill>
                <a:latin typeface="Calibri"/>
              </a:rPr>
              <a:t>Teaching: </a:t>
            </a:r>
            <a:r>
              <a:rPr sz="1350" b="0" i="0">
                <a:solidFill>
                  <a:srgbClr val="16181D"/>
                </a:solidFill>
                <a:latin typeface="Consolas"/>
              </a:rPr>
              <a:t>3 lecture + 0 tutorial + 2 practical + 0 self-study</a:t>
            </a:r>
            <a:r>
              <a:rPr sz="1550" b="0" i="0">
                <a:solidFill>
                  <a:srgbClr val="16181D"/>
                </a:solidFill>
                <a:latin typeface="Calibri"/>
              </a:rPr>
              <a:t> hours per week → 40 theory + 24 lab hours.</a:t>
            </a:r>
          </a:p>
          <a:p>
            <a:pPr marL="201168" indent="-201168">
              <a:lnSpc>
                <a:spcPct val="104000"/>
              </a:lnSpc>
              <a:spcBef>
                <a:spcPts val="0"/>
              </a:spcBef>
              <a:spcAft>
                <a:spcPts val="500"/>
              </a:spcAft>
            </a:pPr>
            <a:r>
              <a:rPr sz="1550" b="1" i="0">
                <a:solidFill>
                  <a:srgbClr val="B3261E"/>
                </a:solidFill>
                <a:latin typeface="Calibri"/>
              </a:rPr>
              <a:t>•  </a:t>
            </a:r>
            <a:r>
              <a:rPr sz="1550" b="0" i="0">
                <a:solidFill>
                  <a:srgbClr val="16181D"/>
                </a:solidFill>
                <a:latin typeface="Calibri"/>
              </a:rPr>
              <a:t>Textbook: </a:t>
            </a:r>
            <a:r>
              <a:rPr sz="1550" b="0" i="1">
                <a:solidFill>
                  <a:srgbClr val="16181D"/>
                </a:solidFill>
                <a:latin typeface="Calibri"/>
              </a:rPr>
              <a:t>How to Think Like a Computer Scientist: learning with Python 3</a:t>
            </a:r>
            <a:r>
              <a:rPr sz="1550" b="0" i="0">
                <a:solidFill>
                  <a:srgbClr val="16181D"/>
                </a:solidFill>
                <a:latin typeface="Calibri"/>
              </a:rPr>
              <a:t> (Wentworth, Elkner, Downey, Meyers; Green Tea Press 2020) — the module headers quote its chapters.</a:t>
            </a:r>
          </a:p>
          <a:p>
            <a:pPr marL="201168" indent="-201168">
              <a:lnSpc>
                <a:spcPct val="104000"/>
              </a:lnSpc>
              <a:spcBef>
                <a:spcPts val="0"/>
              </a:spcBef>
              <a:spcAft>
                <a:spcPts val="500"/>
              </a:spcAft>
            </a:pPr>
            <a:r>
              <a:rPr sz="1550" b="1" i="0">
                <a:solidFill>
                  <a:srgbClr val="B3261E"/>
                </a:solidFill>
                <a:latin typeface="Calibri"/>
              </a:rPr>
              <a:t>•  </a:t>
            </a:r>
            <a:r>
              <a:rPr sz="1550" b="0" i="0">
                <a:solidFill>
                  <a:srgbClr val="16181D"/>
                </a:solidFill>
                <a:latin typeface="Calibri"/>
              </a:rPr>
              <a:t>Language runtime: </a:t>
            </a:r>
            <a:r>
              <a:rPr sz="1550" b="1" i="0">
                <a:solidFill>
                  <a:srgbClr val="16181D"/>
                </a:solidFill>
                <a:latin typeface="Calibri"/>
              </a:rPr>
              <a:t>Python 3</a:t>
            </a:r>
            <a:r>
              <a:rPr sz="1550" b="0" i="0">
                <a:solidFill>
                  <a:srgbClr val="16181D"/>
                </a:solidFill>
                <a:latin typeface="Calibri"/>
              </a:rPr>
              <a:t> — everything in these slides was executed on </a:t>
            </a:r>
            <a:r>
              <a:rPr sz="1550" b="1" i="0">
                <a:solidFill>
                  <a:srgbClr val="16181D"/>
                </a:solidFill>
                <a:latin typeface="Calibri"/>
              </a:rPr>
              <a:t>CPython 3.13.14 with NumPy 2.3</a:t>
            </a:r>
            <a:r>
              <a:rPr sz="1550" b="0" i="0">
                <a:solidFill>
                  <a:srgbClr val="16181D"/>
                </a:solidFill>
                <a:latin typeface="Calibri"/>
              </a:rPr>
              <a:t> before being printed.</a:t>
            </a:r>
          </a:p>
        </p:txBody>
      </p:sp>
      <p:sp>
        <p:nvSpPr>
          <p:cNvPr id="9" name="Rectangle 8"/>
          <p:cNvSpPr/>
          <p:nvPr/>
        </p:nvSpPr>
        <p:spPr>
          <a:xfrm>
            <a:off x="6400800" y="1554480"/>
            <a:ext cx="5303520" cy="265176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554480"/>
            <a:ext cx="54864" cy="26517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645920"/>
            <a:ext cx="4919472" cy="246887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COURSE OUTCOMES (VERBATIM)</a:t>
            </a:r>
          </a:p>
          <a:p>
            <a:pPr>
              <a:lnSpc>
                <a:spcPct val="108000"/>
              </a:lnSpc>
              <a:spcBef>
                <a:spcPts val="0"/>
              </a:spcBef>
              <a:spcAft>
                <a:spcPts val="0"/>
              </a:spcAft>
            </a:pPr>
            <a:r>
              <a:rPr sz="1250" b="0" i="0">
                <a:solidFill>
                  <a:srgbClr val="16181D"/>
                </a:solidFill>
                <a:latin typeface="Calibri"/>
              </a:rPr>
              <a:t>CO1: Develop scripts using primitive language constructs of python. CO2: Identify the methods to manipulate primitive python data structures. CO3: Make use of Python standard libraries for programming. CO4: Build scripts for performing file operations. CO5: Illustrate the concepts of Object-Oriented Programming as used in Python.</a:t>
            </a:r>
          </a:p>
        </p:txBody>
      </p:sp>
      <p:sp>
        <p:nvSpPr>
          <p:cNvPr id="12" name="Rectangle 11"/>
          <p:cNvSpPr/>
          <p:nvPr/>
        </p:nvSpPr>
        <p:spPr>
          <a:xfrm>
            <a:off x="6400800" y="4370832"/>
            <a:ext cx="5303520" cy="192024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4453128"/>
            <a:ext cx="4974336" cy="175564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THE SHAPE OF THE COURSE</a:t>
            </a:r>
          </a:p>
          <a:p>
            <a:pPr>
              <a:lnSpc>
                <a:spcPct val="105000"/>
              </a:lnSpc>
              <a:spcBef>
                <a:spcPts val="0"/>
              </a:spcBef>
              <a:spcAft>
                <a:spcPts val="320"/>
              </a:spcAft>
            </a:pPr>
            <a:r>
              <a:rPr sz="1250" b="1" i="0">
                <a:solidFill>
                  <a:srgbClr val="16181D"/>
                </a:solidFill>
                <a:latin typeface="Calibri"/>
              </a:rPr>
              <a:t>Part A</a:t>
            </a:r>
            <a:r>
              <a:rPr sz="1250" b="0" i="0">
                <a:solidFill>
                  <a:srgbClr val="16181D"/>
                </a:solidFill>
                <a:latin typeface="Calibri"/>
              </a:rPr>
              <a:t> — Modules 1–5, 8 h each: programs, data structures, libraries, files, OOP.</a:t>
            </a:r>
          </a:p>
          <a:p>
            <a:pPr>
              <a:lnSpc>
                <a:spcPct val="105000"/>
              </a:lnSpc>
              <a:spcBef>
                <a:spcPts val="0"/>
              </a:spcBef>
              <a:spcAft>
                <a:spcPts val="320"/>
              </a:spcAft>
            </a:pPr>
            <a:r>
              <a:rPr sz="1250" b="1" i="0">
                <a:solidFill>
                  <a:srgbClr val="16181D"/>
                </a:solidFill>
                <a:latin typeface="Calibri"/>
              </a:rPr>
              <a:t>Part B</a:t>
            </a:r>
            <a:r>
              <a:rPr sz="1250" b="0" i="0">
                <a:solidFill>
                  <a:srgbClr val="16181D"/>
                </a:solidFill>
                <a:latin typeface="Calibri"/>
              </a:rPr>
              <a:t> — Lab Q1–8 fixed (Q1–3 have a/b parts → 15 programs) + Q9–12 open-ended tools.</a:t>
            </a:r>
          </a:p>
          <a:p>
            <a:pPr>
              <a:lnSpc>
                <a:spcPct val="105000"/>
              </a:lnSpc>
              <a:spcBef>
                <a:spcPts val="0"/>
              </a:spcBef>
              <a:spcAft>
                <a:spcPts val="320"/>
              </a:spcAft>
            </a:pPr>
            <a:r>
              <a:rPr sz="1250" b="0" i="0">
                <a:solidFill>
                  <a:srgbClr val="16181D"/>
                </a:solidFill>
                <a:latin typeface="Calibri"/>
              </a:rPr>
              <a:t>Every lab answer = program + run + guard run — what the record and the viva demand.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Assessment: How Marks and Gates Work</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a:t>
            </a:r>
          </a:p>
        </p:txBody>
      </p:sp>
      <p:sp>
        <p:nvSpPr>
          <p:cNvPr id="8" name="TextBox 7"/>
          <p:cNvSpPr txBox="1"/>
          <p:nvPr/>
        </p:nvSpPr>
        <p:spPr>
          <a:xfrm>
            <a:off x="502920" y="1600200"/>
            <a:ext cx="5486400" cy="4206240"/>
          </a:xfrm>
          <a:prstGeom prst="rect">
            <a:avLst/>
          </a:prstGeom>
          <a:noFill/>
        </p:spPr>
        <p:txBody>
          <a:bodyPr wrap="square" anchor="t" lIns="0" rIns="0" tIns="0" bIns="0">
            <a:spAutoFit/>
          </a:bodyPr>
          <a:lstStyle/>
          <a:p>
            <a:pPr>
              <a:spcBef>
                <a:spcPts val="0"/>
              </a:spcBef>
              <a:spcAft>
                <a:spcPts val="800"/>
              </a:spcAft>
            </a:pPr>
            <a:r>
              <a:rPr sz="1700" b="1" i="0">
                <a:solidFill>
                  <a:srgbClr val="0F172A"/>
                </a:solidFill>
                <a:latin typeface="Calibri"/>
              </a:rPr>
              <a:t>CIE — 50 marks (continuous internal evaluation)</a:t>
            </a:r>
          </a:p>
          <a:p>
            <a:pPr>
              <a:spcBef>
                <a:spcPts val="0"/>
              </a:spcBef>
              <a:spcAft>
                <a:spcPts val="700"/>
              </a:spcAft>
            </a:pPr>
            <a:r>
              <a:rPr sz="1500" b="1" i="0">
                <a:solidFill>
                  <a:srgbClr val="16181D"/>
                </a:solidFill>
                <a:latin typeface="Calibri"/>
              </a:rPr>
              <a:t>CIE Theory — 25</a:t>
            </a:r>
            <a:r>
              <a:rPr sz="1500" b="0" i="0">
                <a:solidFill>
                  <a:srgbClr val="16181D"/>
                </a:solidFill>
                <a:latin typeface="Calibri"/>
              </a:rPr>
              <a:t>   Two internal assessment tests on the module content.</a:t>
            </a:r>
          </a:p>
          <a:p>
            <a:pPr>
              <a:spcBef>
                <a:spcPts val="0"/>
              </a:spcBef>
              <a:spcAft>
                <a:spcPts val="700"/>
              </a:spcAft>
            </a:pPr>
            <a:r>
              <a:rPr sz="1500" b="1" i="0">
                <a:solidFill>
                  <a:srgbClr val="16181D"/>
                </a:solidFill>
                <a:latin typeface="Calibri"/>
              </a:rPr>
              <a:t>CIE Practical — 15</a:t>
            </a:r>
            <a:r>
              <a:rPr sz="1500" b="0" i="0">
                <a:solidFill>
                  <a:srgbClr val="16181D"/>
                </a:solidFill>
                <a:latin typeface="Calibri"/>
              </a:rPr>
              <a:t>   Lab record evaluated through rubrics (entries expected every 2 experiments).</a:t>
            </a:r>
          </a:p>
          <a:p>
            <a:pPr>
              <a:spcBef>
                <a:spcPts val="0"/>
              </a:spcBef>
              <a:spcAft>
                <a:spcPts val="700"/>
              </a:spcAft>
            </a:pPr>
            <a:r>
              <a:rPr sz="1500" b="1" i="0">
                <a:solidFill>
                  <a:srgbClr val="16181D"/>
                </a:solidFill>
                <a:latin typeface="Calibri"/>
              </a:rPr>
              <a:t>CIE Practical — 10</a:t>
            </a:r>
            <a:r>
              <a:rPr sz="1500" b="0" i="0">
                <a:solidFill>
                  <a:srgbClr val="16181D"/>
                </a:solidFill>
                <a:latin typeface="Calibri"/>
              </a:rPr>
              <a:t>   Lab internal assessment: live run + viva at the bench, end of term.</a:t>
            </a:r>
          </a:p>
          <a:p>
            <a:pPr>
              <a:spcBef>
                <a:spcPts val="800"/>
              </a:spcBef>
              <a:spcAft>
                <a:spcPts val="600"/>
              </a:spcAft>
            </a:pPr>
            <a:r>
              <a:rPr sz="1700" b="1" i="0">
                <a:solidFill>
                  <a:srgbClr val="0F172A"/>
                </a:solidFill>
                <a:latin typeface="Calibri"/>
              </a:rPr>
              <a:t>SEE — 50 marks</a:t>
            </a:r>
          </a:p>
          <a:p>
            <a:pPr>
              <a:spcBef>
                <a:spcPts val="0"/>
              </a:spcBef>
              <a:spcAft>
                <a:spcPts val="800"/>
              </a:spcAft>
            </a:pPr>
            <a:r>
              <a:rPr sz="1500" b="0" i="0">
                <a:solidFill>
                  <a:srgbClr val="16181D"/>
                </a:solidFill>
                <a:latin typeface="Calibri"/>
              </a:rPr>
              <a:t>3-hour theory paper covering all five modules, drawn from the module syllabus as printed.</a:t>
            </a:r>
          </a:p>
          <a:p>
            <a:pPr>
              <a:spcBef>
                <a:spcPts val="0"/>
              </a:spcBef>
              <a:spcAft>
                <a:spcPts val="0"/>
              </a:spcAft>
            </a:pPr>
            <a:r>
              <a:rPr sz="1500" b="1" i="0">
                <a:solidFill>
                  <a:srgbClr val="16181D"/>
                </a:solidFill>
                <a:latin typeface="Calibri"/>
              </a:rPr>
              <a:t>Total: 100 marks · 4 credits</a:t>
            </a:r>
          </a:p>
        </p:txBody>
      </p:sp>
      <p:sp>
        <p:nvSpPr>
          <p:cNvPr id="9" name="Rectangle 8"/>
          <p:cNvSpPr/>
          <p:nvPr/>
        </p:nvSpPr>
        <p:spPr>
          <a:xfrm>
            <a:off x="6309360" y="1600200"/>
            <a:ext cx="5394960" cy="274320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00200"/>
            <a:ext cx="54864" cy="27432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691640"/>
            <a:ext cx="5010912" cy="256032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ELIGIBILITY &amp; PASS RULES — IPCC CIRCULAR (VERBATIM)</a:t>
            </a:r>
          </a:p>
          <a:p>
            <a:pPr>
              <a:lnSpc>
                <a:spcPct val="108000"/>
              </a:lnSpc>
              <a:spcBef>
                <a:spcPts val="0"/>
              </a:spcBef>
              <a:spcAft>
                <a:spcPts val="0"/>
              </a:spcAft>
            </a:pPr>
            <a:r>
              <a:rPr sz="1200" b="0" i="0">
                <a:solidFill>
                  <a:srgbClr val="16181D"/>
                </a:solidFill>
                <a:latin typeface="Calibri"/>
              </a:rPr>
              <a:t>To qualify and become eligible to appear for SEE, in the CIE theory component, a student must score at least 40% of 25 marks, i.e., 10 marks.  To qualify … in the CIE Practical component, a student must secure a minimum of 40% of 25 marks, i.e., 10 marks.  To pass the SEE, a student must secure a minimum of 35% of 50 marks, i.e., 18 marks.  A student is deemed to have completed the course if the combined total of CIE and SEE is at least 40 out of 100 marks.</a:t>
            </a:r>
          </a:p>
        </p:txBody>
      </p:sp>
      <p:sp>
        <p:nvSpPr>
          <p:cNvPr id="12" name="Rectangle 11"/>
          <p:cNvSpPr/>
          <p:nvPr/>
        </p:nvSpPr>
        <p:spPr>
          <a:xfrm>
            <a:off x="6309360" y="4526280"/>
            <a:ext cx="5394960" cy="1737360"/>
          </a:xfrm>
          <a:prstGeom prst="rect">
            <a:avLst/>
          </a:prstGeom>
          <a:solidFill>
            <a:srgbClr val="FDF3F2"/>
          </a:solidFill>
          <a:ln w="9525">
            <a:solidFill>
              <a:srgbClr val="E5C4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4608576"/>
            <a:ext cx="5065776" cy="1572768"/>
          </a:xfrm>
          <a:prstGeom prst="rect">
            <a:avLst/>
          </a:prstGeom>
          <a:noFill/>
        </p:spPr>
        <p:txBody>
          <a:bodyPr wrap="square" anchor="t" lIns="0" rIns="0" tIns="0" bIns="0">
            <a:spAutoFit/>
          </a:bodyPr>
          <a:lstStyle/>
          <a:p>
            <a:pPr>
              <a:spcBef>
                <a:spcPts val="0"/>
              </a:spcBef>
              <a:spcAft>
                <a:spcPts val="300"/>
              </a:spcAft>
            </a:pPr>
            <a:r>
              <a:rPr sz="1000" b="1" i="0">
                <a:solidFill>
                  <a:srgbClr val="B3261E"/>
                </a:solidFill>
                <a:latin typeface="Calibri"/>
              </a:rPr>
              <a:t>THE GATES AS A LADDER</a:t>
            </a:r>
          </a:p>
          <a:p>
            <a:pPr>
              <a:lnSpc>
                <a:spcPct val="105000"/>
              </a:lnSpc>
              <a:spcBef>
                <a:spcPts val="0"/>
              </a:spcBef>
              <a:spcAft>
                <a:spcPts val="320"/>
              </a:spcAft>
            </a:pPr>
            <a:r>
              <a:rPr sz="1250" b="0" i="0">
                <a:solidFill>
                  <a:srgbClr val="16181D"/>
                </a:solidFill>
                <a:latin typeface="Consolas"/>
              </a:rPr>
              <a:t>≥10/25 theory  AND  ≥10/25 practical</a:t>
            </a:r>
            <a:r>
              <a:rPr sz="1250" b="0" i="0">
                <a:solidFill>
                  <a:srgbClr val="16181D"/>
                </a:solidFill>
                <a:latin typeface="Calibri"/>
              </a:rPr>
              <a:t>  open the SEE door.</a:t>
            </a:r>
          </a:p>
          <a:p>
            <a:pPr>
              <a:lnSpc>
                <a:spcPct val="105000"/>
              </a:lnSpc>
              <a:spcBef>
                <a:spcPts val="0"/>
              </a:spcBef>
              <a:spcAft>
                <a:spcPts val="320"/>
              </a:spcAft>
            </a:pPr>
            <a:r>
              <a:rPr sz="1250" b="0" i="0">
                <a:solidFill>
                  <a:srgbClr val="16181D"/>
                </a:solidFill>
                <a:latin typeface="Consolas"/>
              </a:rPr>
              <a:t>≥18/50 SEE</a:t>
            </a:r>
            <a:r>
              <a:rPr sz="1250" b="0" i="0">
                <a:solidFill>
                  <a:srgbClr val="16181D"/>
                </a:solidFill>
                <a:latin typeface="Calibri"/>
              </a:rPr>
              <a:t>  clears the paper · </a:t>
            </a:r>
            <a:r>
              <a:rPr sz="1250" b="0" i="0">
                <a:solidFill>
                  <a:srgbClr val="16181D"/>
                </a:solidFill>
                <a:latin typeface="Consolas"/>
              </a:rPr>
              <a:t>CIE+SEE ≥ 40/100</a:t>
            </a:r>
            <a:r>
              <a:rPr sz="1250" b="0" i="0">
                <a:solidFill>
                  <a:srgbClr val="16181D"/>
                </a:solidFill>
                <a:latin typeface="Calibri"/>
              </a:rPr>
              <a:t>  closes the course — every component needed.</a:t>
            </a:r>
          </a:p>
          <a:p>
            <a:pPr>
              <a:lnSpc>
                <a:spcPct val="105000"/>
              </a:lnSpc>
              <a:spcBef>
                <a:spcPts val="0"/>
              </a:spcBef>
              <a:spcAft>
                <a:spcPts val="320"/>
              </a:spcAft>
            </a:pPr>
            <a:r>
              <a:rPr sz="1250" b="0" i="0">
                <a:solidFill>
                  <a:srgbClr val="16181D"/>
                </a:solidFill>
                <a:latin typeface="Calibri"/>
              </a:rPr>
              <a:t>Worked: 10 + 10 + 18 = 38 &lt; 40 → gates cleared but course not — the total is a gate of its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How These Slides Map to the Book</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a:t>
            </a:r>
          </a:p>
        </p:txBody>
      </p:sp>
      <p:sp>
        <p:nvSpPr>
          <p:cNvPr id="8" name="TextBox 7"/>
          <p:cNvSpPr txBox="1"/>
          <p:nvPr/>
        </p:nvSpPr>
        <p:spPr>
          <a:xfrm>
            <a:off x="502920" y="1554480"/>
            <a:ext cx="6035040" cy="486460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550" b="1" i="0">
                <a:solidFill>
                  <a:srgbClr val="B3261E"/>
                </a:solidFill>
                <a:latin typeface="Calibri"/>
              </a:rPr>
              <a:t>•  </a:t>
            </a:r>
            <a:r>
              <a:rPr sz="1550" b="1" i="0">
                <a:solidFill>
                  <a:srgbClr val="16181D"/>
                </a:solidFill>
                <a:latin typeface="Calibri"/>
              </a:rPr>
              <a:t>Part A here</a:t>
            </a:r>
            <a:r>
              <a:rPr sz="1550" b="0" i="0">
                <a:solidFill>
                  <a:srgbClr val="16181D"/>
                </a:solidFill>
                <a:latin typeface="Calibri"/>
              </a:rPr>
              <a:t> = the 5 module chapters: concepts per syllabus line, one demo program each, </a:t>
            </a:r>
            <a:r>
              <a:rPr sz="1550" b="0" i="1">
                <a:solidFill>
                  <a:srgbClr val="16181D"/>
                </a:solidFill>
                <a:latin typeface="Calibri"/>
              </a:rPr>
              <a:t>captured output</a:t>
            </a:r>
            <a:r>
              <a:rPr sz="1550" b="0" i="0">
                <a:solidFill>
                  <a:srgbClr val="16181D"/>
                </a:solidFill>
                <a:latin typeface="Calibri"/>
              </a:rPr>
              <a:t> exactly as printed in the notes.</a:t>
            </a:r>
          </a:p>
          <a:p>
            <a:pPr marL="201168" indent="-201168">
              <a:lnSpc>
                <a:spcPct val="104000"/>
              </a:lnSpc>
              <a:spcBef>
                <a:spcPts val="0"/>
              </a:spcBef>
              <a:spcAft>
                <a:spcPts val="500"/>
              </a:spcAft>
            </a:pPr>
            <a:r>
              <a:rPr sz="1550" b="1" i="0">
                <a:solidFill>
                  <a:srgbClr val="B3261E"/>
                </a:solidFill>
                <a:latin typeface="Calibri"/>
              </a:rPr>
              <a:t>•  </a:t>
            </a:r>
            <a:r>
              <a:rPr sz="1550" b="1" i="0">
                <a:solidFill>
                  <a:srgbClr val="16181D"/>
                </a:solidFill>
                <a:latin typeface="Calibri"/>
              </a:rPr>
              <a:t>Part B here</a:t>
            </a:r>
            <a:r>
              <a:rPr sz="1550" b="0" i="0">
                <a:solidFill>
                  <a:srgbClr val="16181D"/>
                </a:solidFill>
                <a:latin typeface="Calibri"/>
              </a:rPr>
              <a:t> = the 12 lab questions: aim verbatim, full source as executed, transcripts including the guard runs.</a:t>
            </a:r>
          </a:p>
          <a:p>
            <a:pPr marL="201168" indent="-201168">
              <a:lnSpc>
                <a:spcPct val="104000"/>
              </a:lnSpc>
              <a:spcBef>
                <a:spcPts val="0"/>
              </a:spcBef>
              <a:spcAft>
                <a:spcPts val="500"/>
              </a:spcAft>
            </a:pPr>
            <a:r>
              <a:rPr sz="1550" b="1" i="0">
                <a:solidFill>
                  <a:srgbClr val="B3261E"/>
                </a:solidFill>
                <a:latin typeface="Calibri"/>
              </a:rPr>
              <a:t>•  </a:t>
            </a:r>
            <a:r>
              <a:rPr sz="1550" b="1" i="0">
                <a:solidFill>
                  <a:srgbClr val="16181D"/>
                </a:solidFill>
                <a:latin typeface="Calibri"/>
              </a:rPr>
              <a:t>Checkpoint &amp; viva slides</a:t>
            </a:r>
            <a:r>
              <a:rPr sz="1550" b="0" i="0">
                <a:solidFill>
                  <a:srgbClr val="16181D"/>
                </a:solidFill>
                <a:latin typeface="Calibri"/>
              </a:rPr>
              <a:t> reproduce the book's question lists — model answers live in §x.5 of each chapter.</a:t>
            </a:r>
          </a:p>
          <a:p>
            <a:pPr marL="201168" indent="-201168">
              <a:lnSpc>
                <a:spcPct val="104000"/>
              </a:lnSpc>
              <a:spcBef>
                <a:spcPts val="0"/>
              </a:spcBef>
              <a:spcAft>
                <a:spcPts val="500"/>
              </a:spcAft>
            </a:pPr>
            <a:r>
              <a:rPr sz="1550" b="1" i="0">
                <a:solidFill>
                  <a:srgbClr val="B3261E"/>
                </a:solidFill>
                <a:latin typeface="Calibri"/>
              </a:rPr>
              <a:t>•  </a:t>
            </a:r>
            <a:r>
              <a:rPr sz="1550" b="0" i="0">
                <a:solidFill>
                  <a:srgbClr val="16181D"/>
                </a:solidFill>
                <a:latin typeface="Calibri"/>
              </a:rPr>
              <a:t>Nothing on these slides was hand-typed into the deck: code is read from the same </a:t>
            </a:r>
            <a:r>
              <a:rPr sz="1300" b="0" i="0">
                <a:solidFill>
                  <a:srgbClr val="16181D"/>
                </a:solidFill>
                <a:latin typeface="Consolas"/>
              </a:rPr>
              <a:t>src/*.py</a:t>
            </a:r>
            <a:r>
              <a:rPr sz="1550" b="0" i="0">
                <a:solidFill>
                  <a:srgbClr val="16181D"/>
                </a:solidFill>
                <a:latin typeface="Calibri"/>
              </a:rPr>
              <a:t> files and output from the same </a:t>
            </a:r>
            <a:r>
              <a:rPr sz="1300" b="0" i="0">
                <a:solidFill>
                  <a:srgbClr val="16181D"/>
                </a:solidFill>
                <a:latin typeface="Consolas"/>
              </a:rPr>
              <a:t>out/*.txt</a:t>
            </a:r>
            <a:r>
              <a:rPr sz="1550" b="0" i="0">
                <a:solidFill>
                  <a:srgbClr val="16181D"/>
                </a:solidFill>
                <a:latin typeface="Calibri"/>
              </a:rPr>
              <a:t> pty captures as the book.</a:t>
            </a:r>
          </a:p>
        </p:txBody>
      </p:sp>
      <p:sp>
        <p:nvSpPr>
          <p:cNvPr id="9" name="Rectangle 8"/>
          <p:cNvSpPr/>
          <p:nvPr/>
        </p:nvSpPr>
        <p:spPr>
          <a:xfrm>
            <a:off x="6720840" y="1554480"/>
            <a:ext cx="5029200" cy="3749039"/>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1719072"/>
            <a:ext cx="4572000" cy="3474720"/>
          </a:xfrm>
          <a:prstGeom prst="rect">
            <a:avLst/>
          </a:prstGeom>
          <a:noFill/>
        </p:spPr>
        <p:txBody>
          <a:bodyPr wrap="square" anchor="t" lIns="0" rIns="0" tIns="0" bIns="0">
            <a:spAutoFit/>
          </a:bodyPr>
          <a:lstStyle/>
          <a:p>
            <a:pPr>
              <a:spcBef>
                <a:spcPts val="0"/>
              </a:spcBef>
              <a:spcAft>
                <a:spcPts val="800"/>
              </a:spcAft>
            </a:pPr>
            <a:r>
              <a:rPr sz="1300" b="1" i="0">
                <a:solidFill>
                  <a:srgbClr val="0F172A"/>
                </a:solidFill>
                <a:latin typeface="Calibri"/>
              </a:rPr>
              <a:t>THE MODULE AT A GLANCE</a:t>
            </a:r>
          </a:p>
          <a:p>
            <a:pPr>
              <a:spcBef>
                <a:spcPts val="0"/>
              </a:spcBef>
              <a:spcAft>
                <a:spcPts val="250"/>
              </a:spcAft>
            </a:pPr>
            <a:r>
              <a:rPr sz="1450" b="1" i="0">
                <a:solidFill>
                  <a:srgbClr val="B3261E"/>
                </a:solidFill>
                <a:latin typeface="Calibri"/>
              </a:rPr>
              <a:t>M1  </a:t>
            </a:r>
            <a:r>
              <a:rPr sz="1350" b="0" i="0">
                <a:solidFill>
                  <a:srgbClr val="16181D"/>
                </a:solidFill>
                <a:latin typeface="Calibri"/>
              </a:rPr>
              <a:t>Programs · errors · variables · expressions · iteration · functions</a:t>
            </a:r>
          </a:p>
          <a:p>
            <a:pPr>
              <a:spcBef>
                <a:spcPts val="0"/>
              </a:spcBef>
              <a:spcAft>
                <a:spcPts val="700"/>
              </a:spcAft>
            </a:pPr>
            <a:r>
              <a:rPr sz="1150" b="0" i="0">
                <a:solidFill>
                  <a:srgbClr val="4B5563"/>
                </a:solidFill>
                <a:latin typeface="Calibri"/>
              </a:rPr>
              <a:t>      8 h → Q1–3</a:t>
            </a:r>
          </a:p>
          <a:p>
            <a:pPr>
              <a:spcBef>
                <a:spcPts val="0"/>
              </a:spcBef>
              <a:spcAft>
                <a:spcPts val="250"/>
              </a:spcAft>
            </a:pPr>
            <a:r>
              <a:rPr sz="1450" b="1" i="0">
                <a:solidFill>
                  <a:srgbClr val="B3261E"/>
                </a:solidFill>
                <a:latin typeface="Calibri"/>
              </a:rPr>
              <a:t>M2  </a:t>
            </a:r>
            <a:r>
              <a:rPr sz="1350" b="0" i="0">
                <a:solidFill>
                  <a:srgbClr val="16181D"/>
                </a:solidFill>
                <a:latin typeface="Calibri"/>
              </a:rPr>
              <a:t>Strings · tuples · lists (+ mutability, aliasing)</a:t>
            </a:r>
          </a:p>
          <a:p>
            <a:pPr>
              <a:spcBef>
                <a:spcPts val="0"/>
              </a:spcBef>
              <a:spcAft>
                <a:spcPts val="700"/>
              </a:spcAft>
            </a:pPr>
            <a:r>
              <a:rPr sz="1150" b="0" i="0">
                <a:solidFill>
                  <a:srgbClr val="4B5563"/>
                </a:solidFill>
                <a:latin typeface="Calibri"/>
              </a:rPr>
              <a:t>      8 h → Q2b, 3</a:t>
            </a:r>
          </a:p>
          <a:p>
            <a:pPr>
              <a:spcBef>
                <a:spcPts val="0"/>
              </a:spcBef>
              <a:spcAft>
                <a:spcPts val="250"/>
              </a:spcAft>
            </a:pPr>
            <a:r>
              <a:rPr sz="1450" b="1" i="0">
                <a:solidFill>
                  <a:srgbClr val="B3261E"/>
                </a:solidFill>
                <a:latin typeface="Calibri"/>
              </a:rPr>
              <a:t>M3  </a:t>
            </a:r>
            <a:r>
              <a:rPr sz="1350" b="0" i="0">
                <a:solidFill>
                  <a:srgbClr val="16181D"/>
                </a:solidFill>
                <a:latin typeface="Calibri"/>
              </a:rPr>
              <a:t>Dictionaries · NumPy · files · directories · web</a:t>
            </a:r>
          </a:p>
          <a:p>
            <a:pPr>
              <a:spcBef>
                <a:spcPts val="0"/>
              </a:spcBef>
              <a:spcAft>
                <a:spcPts val="700"/>
              </a:spcAft>
            </a:pPr>
            <a:r>
              <a:rPr sz="1150" b="0" i="0">
                <a:solidFill>
                  <a:srgbClr val="4B5563"/>
                </a:solidFill>
                <a:latin typeface="Calibri"/>
              </a:rPr>
              <a:t>      8 h → Q4, 6</a:t>
            </a:r>
          </a:p>
          <a:p>
            <a:pPr>
              <a:spcBef>
                <a:spcPts val="0"/>
              </a:spcBef>
              <a:spcAft>
                <a:spcPts val="250"/>
              </a:spcAft>
            </a:pPr>
            <a:r>
              <a:rPr sz="1450" b="1" i="0">
                <a:solidFill>
                  <a:srgbClr val="B3261E"/>
                </a:solidFill>
                <a:latin typeface="Calibri"/>
              </a:rPr>
              <a:t>M4  </a:t>
            </a:r>
            <a:r>
              <a:rPr sz="1350" b="0" i="0">
                <a:solidFill>
                  <a:srgbClr val="16181D"/>
                </a:solidFill>
                <a:latin typeface="Calibri"/>
              </a:rPr>
              <a:t>Modules · scope · classes &amp; objects basics</a:t>
            </a:r>
          </a:p>
          <a:p>
            <a:pPr>
              <a:spcBef>
                <a:spcPts val="0"/>
              </a:spcBef>
              <a:spcAft>
                <a:spcPts val="700"/>
              </a:spcAft>
            </a:pPr>
            <a:r>
              <a:rPr sz="1150" b="0" i="0">
                <a:solidFill>
                  <a:srgbClr val="4B5563"/>
                </a:solidFill>
                <a:latin typeface="Calibri"/>
              </a:rPr>
              <a:t>      8 h → Q7, 8</a:t>
            </a:r>
          </a:p>
          <a:p>
            <a:pPr>
              <a:spcBef>
                <a:spcPts val="0"/>
              </a:spcBef>
              <a:spcAft>
                <a:spcPts val="250"/>
              </a:spcAft>
            </a:pPr>
            <a:r>
              <a:rPr sz="1450" b="1" i="0">
                <a:solidFill>
                  <a:srgbClr val="B3261E"/>
                </a:solidFill>
                <a:latin typeface="Calibri"/>
              </a:rPr>
              <a:t>M5  </a:t>
            </a:r>
            <a:r>
              <a:rPr sz="1350" b="0" i="0">
                <a:solidFill>
                  <a:srgbClr val="16181D"/>
                </a:solidFill>
                <a:latin typeface="Calibri"/>
              </a:rPr>
              <a:t>Mutable objects · copying · inheritance · overloading · exceptions</a:t>
            </a:r>
          </a:p>
          <a:p>
            <a:pPr>
              <a:spcBef>
                <a:spcPts val="0"/>
              </a:spcBef>
              <a:spcAft>
                <a:spcPts val="700"/>
              </a:spcAft>
            </a:pPr>
            <a:r>
              <a:rPr sz="1150" b="0" i="0">
                <a:solidFill>
                  <a:srgbClr val="4B5563"/>
                </a:solidFill>
                <a:latin typeface="Calibri"/>
              </a:rPr>
              <a:t>      8 h → Q7, 8</a:t>
            </a:r>
          </a:p>
        </p:txBody>
      </p:sp>
      <p:sp>
        <p:nvSpPr>
          <p:cNvPr id="11" name="TextBox 10"/>
          <p:cNvSpPr txBox="1"/>
          <p:nvPr/>
        </p:nvSpPr>
        <p:spPr>
          <a:xfrm>
            <a:off x="502920" y="5623560"/>
            <a:ext cx="6035040" cy="731520"/>
          </a:xfrm>
          <a:prstGeom prst="rect">
            <a:avLst/>
          </a:prstGeom>
          <a:noFill/>
        </p:spPr>
        <p:txBody>
          <a:bodyPr wrap="square" anchor="t" lIns="0" rIns="0" tIns="0" bIns="0">
            <a:spAutoFit/>
          </a:bodyPr>
          <a:lstStyle/>
          <a:p>
            <a:pPr>
              <a:spcBef>
                <a:spcPts val="0"/>
              </a:spcBef>
              <a:spcAft>
                <a:spcPts val="0"/>
              </a:spcAft>
            </a:pPr>
            <a:r>
              <a:rPr sz="1450" b="1" i="0">
                <a:solidFill>
                  <a:srgbClr val="16181D"/>
                </a:solidFill>
                <a:latin typeface="Calibri"/>
              </a:rPr>
              <a:t>Lab questions 9–12 are open-ended: </a:t>
            </a:r>
            <a:r>
              <a:rPr sz="1450" b="0" i="0">
                <a:solidFill>
                  <a:srgbClr val="16181D"/>
                </a:solidFill>
                <a:latin typeface="Calibri"/>
              </a:rPr>
              <a:t>the rubric rewards stated design choices — each tool slide carries them on purpose.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A</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Theory — Modules 1 to 5</a:t>
            </a:r>
          </a:p>
        </p:txBody>
      </p:sp>
      <p:sp>
        <p:nvSpPr>
          <p:cNvPr id="6" name="TextBox 5"/>
          <p:cNvSpPr txBox="1"/>
          <p:nvPr/>
        </p:nvSpPr>
        <p:spPr>
          <a:xfrm>
            <a:off x="1737360" y="4114800"/>
            <a:ext cx="871697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Every syllabus line taught the way Python is actually written: the rule, the code that proves it, and the output the machine gave back. Demo programs are printed in full with their captured sessions.</a:t>
            </a:r>
          </a:p>
        </p:txBody>
      </p:sp>
      <p:sp>
        <p:nvSpPr>
          <p:cNvPr id="7" name="Rectangle 6"/>
          <p:cNvSpPr/>
          <p:nvPr/>
        </p:nvSpPr>
        <p:spPr>
          <a:xfrm>
            <a:off x="1889607" y="4325112"/>
            <a:ext cx="8412480" cy="212140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5639" y="4480559"/>
            <a:ext cx="7900415" cy="1847088"/>
          </a:xfrm>
          <a:prstGeom prst="rect">
            <a:avLst/>
          </a:prstGeom>
          <a:noFill/>
        </p:spPr>
        <p:txBody>
          <a:bodyPr wrap="square" anchor="t" lIns="0" rIns="0" tIns="0" bIns="0">
            <a:spAutoFit/>
          </a:bodyPr>
          <a:lstStyle/>
          <a:p>
            <a:pPr>
              <a:spcBef>
                <a:spcPts val="0"/>
              </a:spcBef>
              <a:spcAft>
                <a:spcPts val="400"/>
              </a:spcAft>
            </a:pPr>
            <a:r>
              <a:rPr sz="1100" b="1" i="0">
                <a:solidFill>
                  <a:srgbClr val="0F172A"/>
                </a:solidFill>
                <a:latin typeface="Calibri"/>
              </a:rPr>
              <a:t>IN THIS PART</a:t>
            </a:r>
          </a:p>
          <a:p>
            <a:pPr>
              <a:spcBef>
                <a:spcPts val="0"/>
              </a:spcBef>
              <a:spcAft>
                <a:spcPts val="200"/>
              </a:spcAft>
            </a:pPr>
            <a:r>
              <a:rPr sz="1600" b="1" i="0">
                <a:solidFill>
                  <a:srgbClr val="B3261E"/>
                </a:solidFill>
                <a:latin typeface="Calibri"/>
              </a:rPr>
              <a:t>•  </a:t>
            </a:r>
            <a:r>
              <a:rPr sz="1250" b="0" i="0">
                <a:solidFill>
                  <a:srgbClr val="16181D"/>
                </a:solidFill>
                <a:latin typeface="Calibri"/>
              </a:rPr>
              <a:t>Module 1 — The Way of the Program, Variables, Iteration &amp; Functions</a:t>
            </a:r>
          </a:p>
          <a:p>
            <a:pPr>
              <a:spcBef>
                <a:spcPts val="0"/>
              </a:spcBef>
              <a:spcAft>
                <a:spcPts val="200"/>
              </a:spcAft>
            </a:pPr>
            <a:r>
              <a:rPr sz="1600" b="1" i="0">
                <a:solidFill>
                  <a:srgbClr val="B3261E"/>
                </a:solidFill>
                <a:latin typeface="Calibri"/>
              </a:rPr>
              <a:t>•  </a:t>
            </a:r>
            <a:r>
              <a:rPr sz="1250" b="0" i="0">
                <a:solidFill>
                  <a:srgbClr val="16181D"/>
                </a:solidFill>
                <a:latin typeface="Calibri"/>
              </a:rPr>
              <a:t>Module 2 — Strings, Tuples and Lists</a:t>
            </a:r>
          </a:p>
          <a:p>
            <a:pPr>
              <a:spcBef>
                <a:spcPts val="0"/>
              </a:spcBef>
              <a:spcAft>
                <a:spcPts val="200"/>
              </a:spcAft>
            </a:pPr>
            <a:r>
              <a:rPr sz="1600" b="1" i="0">
                <a:solidFill>
                  <a:srgbClr val="B3261E"/>
                </a:solidFill>
                <a:latin typeface="Calibri"/>
              </a:rPr>
              <a:t>•  </a:t>
            </a:r>
            <a:r>
              <a:rPr sz="1250" b="0" i="0">
                <a:solidFill>
                  <a:srgbClr val="16181D"/>
                </a:solidFill>
                <a:latin typeface="Calibri"/>
              </a:rPr>
              <a:t>Module 3 — Dictionaries, NumPy and File Handling</a:t>
            </a:r>
          </a:p>
          <a:p>
            <a:pPr>
              <a:spcBef>
                <a:spcPts val="0"/>
              </a:spcBef>
              <a:spcAft>
                <a:spcPts val="200"/>
              </a:spcAft>
            </a:pPr>
            <a:r>
              <a:rPr sz="1600" b="1" i="0">
                <a:solidFill>
                  <a:srgbClr val="B3261E"/>
                </a:solidFill>
                <a:latin typeface="Calibri"/>
              </a:rPr>
              <a:t>•  </a:t>
            </a:r>
            <a:r>
              <a:rPr sz="1250" b="0" i="0">
                <a:solidFill>
                  <a:srgbClr val="16181D"/>
                </a:solidFill>
                <a:latin typeface="Calibri"/>
              </a:rPr>
              <a:t>Module 4 — Modules, Namespaces and the Basics of Classes</a:t>
            </a:r>
          </a:p>
          <a:p>
            <a:pPr>
              <a:spcBef>
                <a:spcPts val="0"/>
              </a:spcBef>
              <a:spcAft>
                <a:spcPts val="200"/>
              </a:spcAft>
            </a:pPr>
            <a:r>
              <a:rPr sz="1600" b="1" i="0">
                <a:solidFill>
                  <a:srgbClr val="B3261E"/>
                </a:solidFill>
                <a:latin typeface="Calibri"/>
              </a:rPr>
              <a:t>•  </a:t>
            </a:r>
            <a:r>
              <a:rPr sz="1250" b="0" i="0">
                <a:solidFill>
                  <a:srgbClr val="16181D"/>
                </a:solidFill>
                <a:latin typeface="Calibri"/>
              </a:rPr>
              <a:t>Module 5 — Objects, Inheritance, Operator Overloading and Exceptions</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1 — The Way of the Program, Variables, Iteration &amp; Functions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CO1 (primary) · CO5 groundwork</a:t>
            </a:r>
            <a:r>
              <a:rPr sz="1350" b="0" i="0">
                <a:solidFill>
                  <a:srgbClr val="4B5563"/>
                </a:solidFill>
                <a:latin typeface="Calibri"/>
              </a:rPr>
              <a:t>    ·    8 lecture hours · supports Lab Experiments 1–3</a:t>
            </a:r>
            <a:r>
              <a:rPr sz="1250" b="0" i="0">
                <a:solidFill>
                  <a:srgbClr val="4B5563"/>
                </a:solidFill>
                <a:latin typeface="Calibri"/>
              </a:rPr>
              <a:t>    ·    textbook 1.1–1.7, 2.1–2.12, 3.3, 4.4, 4.5</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The way of the program — what a program is, what debugging is</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Syntax / runtime / semantic errors, experimental debugging</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Variables &amp; expressions — data types, keywords, precedence, type converters, input(), modulus</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Iteration — for / while, Collatz 3n+1, tables, break &amp; continue, nested loops for nested data</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Functions — arguments and return values (§4.4–4.5)</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MODULE-1 SYLLABUS (VERBATIM)</a:t>
            </a:r>
          </a:p>
          <a:p>
            <a:pPr>
              <a:lnSpc>
                <a:spcPct val="108000"/>
              </a:lnSpc>
              <a:spcBef>
                <a:spcPts val="0"/>
              </a:spcBef>
              <a:spcAft>
                <a:spcPts val="0"/>
              </a:spcAft>
            </a:pPr>
            <a:r>
              <a:rPr sz="1100" b="0" i="0">
                <a:solidFill>
                  <a:srgbClr val="16181D"/>
                </a:solidFill>
                <a:latin typeface="Calibri"/>
              </a:rPr>
              <a:t>The way of the program: The Python programming language, what is a program? What is debugging? Syntax errors, Runtime errors, Semantic errors, Experimental debugging. Variables, Expressions and Statements: Values and data types, Variables, Variable names and keywords, Statements, Evaluating expressions, Operators and operands, Type converter functions, Order of operations, Operations on strings, Input, Composition, The modulus operator. Iteration: Assignment, Updating variables, the for loop, the while statement, The Collatz 3n + 1 sequence, tables, two-dimensional tables, break statement, continue statement, paired data, Nested Loops for Nested Data. Functions: Functions with arguments and return values. Chapters: 1.1-1.7, 2.1-2.12, 3.3, 4.4, 4.5 · Number of Hours: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Programs &amp; the three errors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550" b="1" i="0">
                <a:solidFill>
                  <a:srgbClr val="B3261E"/>
                </a:solidFill>
                <a:latin typeface="Calibri"/>
              </a:rPr>
              <a:t>•  </a:t>
            </a:r>
            <a:r>
              <a:rPr sz="1550" b="1" i="0">
                <a:solidFill>
                  <a:srgbClr val="16181D"/>
                </a:solidFill>
                <a:latin typeface="Calibri"/>
              </a:rPr>
              <a:t>A program</a:t>
            </a:r>
            <a:r>
              <a:rPr sz="1550" b="0" i="0">
                <a:solidFill>
                  <a:srgbClr val="16181D"/>
                </a:solidFill>
                <a:latin typeface="Calibri"/>
              </a:rPr>
              <a:t> is a sequence of instructions the machine follows — the sequence is exact.</a:t>
            </a:r>
          </a:p>
          <a:p>
            <a:pPr marL="201168" indent="-201168">
              <a:lnSpc>
                <a:spcPct val="104000"/>
              </a:lnSpc>
              <a:spcBef>
                <a:spcPts val="0"/>
              </a:spcBef>
              <a:spcAft>
                <a:spcPts val="800"/>
              </a:spcAft>
            </a:pPr>
            <a:r>
              <a:rPr sz="1550" b="1" i="0">
                <a:solidFill>
                  <a:srgbClr val="B3261E"/>
                </a:solidFill>
                <a:latin typeface="Calibri"/>
              </a:rPr>
              <a:t>•  </a:t>
            </a:r>
            <a:r>
              <a:rPr sz="1550" b="1" i="0">
                <a:solidFill>
                  <a:srgbClr val="B3261E"/>
                </a:solidFill>
                <a:latin typeface="Calibri"/>
              </a:rPr>
              <a:t>Syntax error</a:t>
            </a:r>
            <a:r>
              <a:rPr sz="1550" b="0" i="0">
                <a:solidFill>
                  <a:srgbClr val="16181D"/>
                </a:solidFill>
                <a:latin typeface="Calibri"/>
              </a:rPr>
              <a:t> — </a:t>
            </a:r>
            <a:r>
              <a:rPr sz="1300" b="0" i="0">
                <a:solidFill>
                  <a:srgbClr val="16181D"/>
                </a:solidFill>
                <a:latin typeface="Consolas"/>
              </a:rPr>
              <a:t>print("hi"</a:t>
            </a:r>
            <a:r>
              <a:rPr sz="1550" b="0" i="0">
                <a:solidFill>
                  <a:srgbClr val="16181D"/>
                </a:solidFill>
                <a:latin typeface="Calibri"/>
              </a:rPr>
              <a:t>  · parser refuses the file; nothing runs.</a:t>
            </a:r>
          </a:p>
          <a:p>
            <a:pPr marL="201168" indent="-201168">
              <a:lnSpc>
                <a:spcPct val="104000"/>
              </a:lnSpc>
              <a:spcBef>
                <a:spcPts val="0"/>
              </a:spcBef>
              <a:spcAft>
                <a:spcPts val="800"/>
              </a:spcAft>
            </a:pPr>
            <a:r>
              <a:rPr sz="1550" b="1" i="0">
                <a:solidFill>
                  <a:srgbClr val="B3261E"/>
                </a:solidFill>
                <a:latin typeface="Calibri"/>
              </a:rPr>
              <a:t>•  </a:t>
            </a:r>
            <a:r>
              <a:rPr sz="1550" b="1" i="0">
                <a:solidFill>
                  <a:srgbClr val="B3261E"/>
                </a:solidFill>
                <a:latin typeface="Calibri"/>
              </a:rPr>
              <a:t>Runtime error</a:t>
            </a:r>
            <a:r>
              <a:rPr sz="1550" b="0" i="0">
                <a:solidFill>
                  <a:srgbClr val="16181D"/>
                </a:solidFill>
                <a:latin typeface="Calibri"/>
              </a:rPr>
              <a:t> — </a:t>
            </a:r>
            <a:r>
              <a:rPr sz="1300" b="0" i="0">
                <a:solidFill>
                  <a:srgbClr val="16181D"/>
                </a:solidFill>
                <a:latin typeface="Consolas"/>
              </a:rPr>
              <a:t>10/0</a:t>
            </a:r>
            <a:r>
              <a:rPr sz="1550" b="0" i="0">
                <a:solidFill>
                  <a:srgbClr val="16181D"/>
                </a:solidFill>
                <a:latin typeface="Calibri"/>
              </a:rPr>
              <a:t>  · starts, then dies with a named exception.</a:t>
            </a:r>
          </a:p>
          <a:p>
            <a:pPr marL="201168" indent="-201168">
              <a:lnSpc>
                <a:spcPct val="104000"/>
              </a:lnSpc>
              <a:spcBef>
                <a:spcPts val="0"/>
              </a:spcBef>
              <a:spcAft>
                <a:spcPts val="800"/>
              </a:spcAft>
            </a:pPr>
            <a:r>
              <a:rPr sz="1550" b="1" i="0">
                <a:solidFill>
                  <a:srgbClr val="B3261E"/>
                </a:solidFill>
                <a:latin typeface="Calibri"/>
              </a:rPr>
              <a:t>•  </a:t>
            </a:r>
            <a:r>
              <a:rPr sz="1550" b="1" i="0">
                <a:solidFill>
                  <a:srgbClr val="B3261E"/>
                </a:solidFill>
                <a:latin typeface="Calibri"/>
              </a:rPr>
              <a:t>Semantic error</a:t>
            </a:r>
            <a:r>
              <a:rPr sz="1550" b="0" i="0">
                <a:solidFill>
                  <a:srgbClr val="16181D"/>
                </a:solidFill>
                <a:latin typeface="Calibri"/>
              </a:rPr>
              <a:t> — runs cleanly, prints the wrong thing. No traceback: </a:t>
            </a:r>
            <a:r>
              <a:rPr sz="1550" b="0" i="1">
                <a:solidFill>
                  <a:srgbClr val="16181D"/>
                </a:solidFill>
                <a:latin typeface="Calibri"/>
              </a:rPr>
              <a:t>you</a:t>
            </a:r>
            <a:r>
              <a:rPr sz="1550" b="0" i="0">
                <a:solidFill>
                  <a:srgbClr val="16181D"/>
                </a:solidFill>
                <a:latin typeface="Calibri"/>
              </a:rPr>
              <a:t> are the debugger.</a:t>
            </a:r>
          </a:p>
          <a:p>
            <a:pPr marL="201168" indent="-201168">
              <a:lnSpc>
                <a:spcPct val="104000"/>
              </a:lnSpc>
              <a:spcBef>
                <a:spcPts val="0"/>
              </a:spcBef>
              <a:spcAft>
                <a:spcPts val="800"/>
              </a:spcAft>
            </a:pPr>
            <a:r>
              <a:rPr sz="1550" b="1" i="0">
                <a:solidFill>
                  <a:srgbClr val="B3261E"/>
                </a:solidFill>
                <a:latin typeface="Calibri"/>
              </a:rPr>
              <a:t>•  </a:t>
            </a:r>
            <a:r>
              <a:rPr sz="1550" b="1" i="0">
                <a:solidFill>
                  <a:srgbClr val="16181D"/>
                </a:solidFill>
                <a:latin typeface="Calibri"/>
              </a:rPr>
              <a:t>Experimental debugging</a:t>
            </a:r>
            <a:r>
              <a:rPr sz="1550" b="0" i="0">
                <a:solidFill>
                  <a:srgbClr val="16181D"/>
                </a:solidFill>
                <a:latin typeface="Calibri"/>
              </a:rPr>
              <a:t> — small runs, change one thing at a time, keep the smallest failing example.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Values, expressions, input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type(v)</a:t>
            </a:r>
            <a:r>
              <a:rPr sz="1500" b="0" i="0">
                <a:solidFill>
                  <a:srgbClr val="16181D"/>
                </a:solidFill>
                <a:latin typeface="Calibri"/>
              </a:rPr>
              <a:t> → </a:t>
            </a:r>
            <a:r>
              <a:rPr sz="1300" b="0" i="0">
                <a:solidFill>
                  <a:srgbClr val="16181D"/>
                </a:solidFill>
                <a:latin typeface="Consolas"/>
              </a:rPr>
              <a:t>int  float  str  bool</a:t>
            </a:r>
            <a:r>
              <a:rPr sz="1500" b="0" i="0">
                <a:solidFill>
                  <a:srgbClr val="16181D"/>
                </a:solidFill>
                <a:latin typeface="Calibri"/>
              </a:rPr>
              <a:t> — variables are names bound to values, not boxes.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Precedence: </a:t>
            </a:r>
            <a:r>
              <a:rPr sz="1300" b="0" i="0">
                <a:solidFill>
                  <a:srgbClr val="16181D"/>
                </a:solidFill>
                <a:latin typeface="Consolas"/>
              </a:rPr>
              <a:t>() → ** (right→left) → unary − → * / // % → + −</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Type converters at the edge: </a:t>
            </a:r>
            <a:r>
              <a:rPr sz="1300" b="0" i="0">
                <a:solidFill>
                  <a:srgbClr val="16181D"/>
                </a:solidFill>
                <a:latin typeface="Consolas"/>
              </a:rPr>
              <a:t>int("42")</a:t>
            </a:r>
            <a:r>
              <a:rPr sz="1500" b="0" i="0">
                <a:solidFill>
                  <a:srgbClr val="16181D"/>
                </a:solidFill>
                <a:latin typeface="Calibri"/>
              </a:rPr>
              <a:t>  </a:t>
            </a:r>
            <a:r>
              <a:rPr sz="1300" b="0" i="0">
                <a:solidFill>
                  <a:srgbClr val="16181D"/>
                </a:solidFill>
                <a:latin typeface="Consolas"/>
              </a:rPr>
              <a:t>str(42)</a:t>
            </a:r>
            <a:r>
              <a:rPr sz="1500" b="0" i="0">
                <a:solidFill>
                  <a:srgbClr val="16181D"/>
                </a:solidFill>
                <a:latin typeface="Calibri"/>
              </a:rPr>
              <a:t> — but </a:t>
            </a:r>
            <a:r>
              <a:rPr sz="1300" b="0" i="0">
                <a:solidFill>
                  <a:srgbClr val="16181D"/>
                </a:solidFill>
                <a:latin typeface="Consolas"/>
              </a:rPr>
              <a:t>int("4.2")</a:t>
            </a:r>
            <a:r>
              <a:rPr sz="1500" b="0" i="0">
                <a:solidFill>
                  <a:srgbClr val="16181D"/>
                </a:solidFill>
                <a:latin typeface="Calibri"/>
              </a:rPr>
              <a:t> raises ValueError.</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input() always returns a str</a:t>
            </a:r>
            <a:r>
              <a:rPr sz="1500" b="0" i="0">
                <a:solidFill>
                  <a:srgbClr val="16181D"/>
                </a:solidFill>
                <a:latin typeface="Calibri"/>
              </a:rPr>
              <a:t> — the course's most common semantic error is feeding it to arithmetic raw.</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Modulus pair: </a:t>
            </a:r>
            <a:r>
              <a:rPr sz="1300" b="0" i="0">
                <a:solidFill>
                  <a:srgbClr val="16181D"/>
                </a:solidFill>
                <a:latin typeface="Consolas"/>
              </a:rPr>
              <a:t>17//5 == 3, 17%5 == 2,  a == (a//b)*b + a%b</a:t>
            </a:r>
            <a:r>
              <a:rPr sz="1500" b="0" i="0">
                <a:solidFill>
                  <a:srgbClr val="16181D"/>
                </a:solidFill>
                <a:latin typeface="Calibri"/>
              </a:rPr>
              <a:t>  — divisibility &amp; digit peeling.</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values.py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742" b="0" i="0">
                <a:solidFill>
                  <a:srgbClr val="E5E7EB"/>
                </a:solidFill>
                <a:latin typeface="Consolas"/>
              </a:rPr>
              <a:t>x = 5            # int          y = 2.5      # float</a:t>
            </a:r>
          </a:p>
          <a:p>
            <a:pPr>
              <a:lnSpc>
                <a:spcPct val="100000"/>
              </a:lnSpc>
              <a:spcBef>
                <a:spcPts val="0"/>
              </a:spcBef>
              <a:spcAft>
                <a:spcPts val="60"/>
              </a:spcAft>
            </a:pPr>
            <a:r>
              <a:rPr sz="742" b="0" i="0">
                <a:solidFill>
                  <a:srgbClr val="E5E7EB"/>
                </a:solidFill>
                <a:latin typeface="Consolas"/>
              </a:rPr>
              <a:t>name = "Ravi"    # str          ok = True    # bool</a:t>
            </a:r>
          </a:p>
          <a:p>
            <a:pPr>
              <a:lnSpc>
                <a:spcPct val="100000"/>
              </a:lnSpc>
              <a:spcBef>
                <a:spcPts val="0"/>
              </a:spcBef>
              <a:spcAft>
                <a:spcPts val="60"/>
              </a:spcAft>
            </a:pPr>
            <a:r>
              <a:rPr sz="742" b="0" i="0">
                <a:solidFill>
                  <a:srgbClr val="E5E7EB"/>
                </a:solidFill>
                <a:latin typeface="Consolas"/>
              </a:rPr>
              <a:t>print(type(x))                    # &lt;class 'int'&gt;</a:t>
            </a:r>
          </a:p>
          <a:p>
            <a:pPr>
              <a:lnSpc>
                <a:spcPct val="100000"/>
              </a:lnSpc>
              <a:spcBef>
                <a:spcPts val="0"/>
              </a:spcBef>
              <a:spcAft>
                <a:spcPts val="60"/>
              </a:spcAft>
            </a:pPr>
            <a:r>
              <a:rPr sz="742" b="0" i="0">
                <a:solidFill>
                  <a:srgbClr val="E5E7EB"/>
                </a:solidFill>
                <a:latin typeface="Consolas"/>
              </a:rPr>
              <a:t>print(1 + 2 * 3 ** 2)             # 19  (** beats *, right side first)</a:t>
            </a:r>
          </a:p>
          <a:p>
            <a:pPr>
              <a:lnSpc>
                <a:spcPct val="100000"/>
              </a:lnSpc>
              <a:spcBef>
                <a:spcPts val="0"/>
              </a:spcBef>
              <a:spcAft>
                <a:spcPts val="60"/>
              </a:spcAft>
            </a:pPr>
            <a:r>
              <a:rPr sz="742" b="0" i="0">
                <a:solidFill>
                  <a:srgbClr val="E5E7EB"/>
                </a:solidFill>
                <a:latin typeface="Consolas"/>
              </a:rPr>
              <a:t>print(int("42") + float("4.2"))   # 46.2</a:t>
            </a:r>
          </a:p>
          <a:p>
            <a:pPr>
              <a:lnSpc>
                <a:spcPct val="100000"/>
              </a:lnSpc>
              <a:spcBef>
                <a:spcPts val="0"/>
              </a:spcBef>
              <a:spcAft>
                <a:spcPts val="60"/>
              </a:spcAft>
            </a:pPr>
            <a:r>
              <a:rPr sz="742" b="0" i="0">
                <a:solidFill>
                  <a:srgbClr val="E5E7EB"/>
                </a:solidFill>
                <a:latin typeface="Consolas"/>
              </a:rPr>
              <a:t>n = int(input("Enter an integer: "))</a:t>
            </a:r>
          </a:p>
          <a:p>
            <a:pPr>
              <a:lnSpc>
                <a:spcPct val="100000"/>
              </a:lnSpc>
              <a:spcBef>
                <a:spcPts val="0"/>
              </a:spcBef>
              <a:spcAft>
                <a:spcPts val="60"/>
              </a:spcAft>
            </a:pPr>
            <a:r>
              <a:rPr sz="742" b="0" i="0">
                <a:solidFill>
                  <a:srgbClr val="E5E7EB"/>
                </a:solidFill>
                <a:latin typeface="Consolas"/>
              </a:rPr>
              <a:t>print(17 // 5, 17 % 5)           # 3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Iteration &amp; functions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8</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for</a:t>
            </a:r>
            <a:r>
              <a:rPr sz="1500" b="0" i="0">
                <a:solidFill>
                  <a:srgbClr val="16181D"/>
                </a:solidFill>
                <a:latin typeface="Calibri"/>
              </a:rPr>
              <a:t> walks a sequence; </a:t>
            </a:r>
            <a:r>
              <a:rPr sz="1300" b="0" i="0">
                <a:solidFill>
                  <a:srgbClr val="16181D"/>
                </a:solidFill>
                <a:latin typeface="Consolas"/>
              </a:rPr>
              <a:t>while</a:t>
            </a:r>
            <a:r>
              <a:rPr sz="1500" b="0" i="0">
                <a:solidFill>
                  <a:srgbClr val="16181D"/>
                </a:solidFill>
                <a:latin typeface="Calibri"/>
              </a:rPr>
              <a:t> tests each pass — the body must eventually falsify the condition.</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Collatz 3n+1</a:t>
            </a:r>
            <a:r>
              <a:rPr sz="1500" b="0" i="0">
                <a:solidFill>
                  <a:srgbClr val="16181D"/>
                </a:solidFill>
                <a:latin typeface="Calibri"/>
              </a:rPr>
              <a:t> — even: n//2 · odd: 3n+1 · stops at 1. The canonical while loop (§3.3).</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break</a:t>
            </a:r>
            <a:r>
              <a:rPr sz="1500" b="0" i="0">
                <a:solidFill>
                  <a:srgbClr val="16181D"/>
                </a:solidFill>
                <a:latin typeface="Calibri"/>
              </a:rPr>
              <a:t> leaves the innermost loop · </a:t>
            </a:r>
            <a:r>
              <a:rPr sz="1300" b="0" i="0">
                <a:solidFill>
                  <a:srgbClr val="16181D"/>
                </a:solidFill>
                <a:latin typeface="Consolas"/>
              </a:rPr>
              <a:t>continue</a:t>
            </a:r>
            <a:r>
              <a:rPr sz="1500" b="0" i="0">
                <a:solidFill>
                  <a:srgbClr val="16181D"/>
                </a:solidFill>
                <a:latin typeface="Calibri"/>
              </a:rPr>
              <a:t> skips one iteration.  </a:t>
            </a:r>
            <a:r>
              <a:rPr sz="1500" b="1" i="0">
                <a:solidFill>
                  <a:srgbClr val="16181D"/>
                </a:solidFill>
                <a:latin typeface="Calibri"/>
              </a:rPr>
              <a:t>Updating</a:t>
            </a:r>
            <a:r>
              <a:rPr sz="1500" b="0" i="0">
                <a:solidFill>
                  <a:srgbClr val="16181D"/>
                </a:solidFill>
                <a:latin typeface="Calibri"/>
              </a:rPr>
              <a:t>: </a:t>
            </a:r>
            <a:r>
              <a:rPr sz="1300" b="0" i="0">
                <a:solidFill>
                  <a:srgbClr val="16181D"/>
                </a:solidFill>
                <a:latin typeface="Consolas"/>
              </a:rPr>
              <a:t>total += n</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Nested loops for nested data</a:t>
            </a:r>
            <a:r>
              <a:rPr sz="1500" b="0" i="0">
                <a:solidFill>
                  <a:srgbClr val="16181D"/>
                </a:solidFill>
                <a:latin typeface="Calibri"/>
              </a:rPr>
              <a:t> — one loop level per data level; two-dimensional tables use </a:t>
            </a:r>
            <a:r>
              <a:rPr sz="1300" b="0" i="0">
                <a:solidFill>
                  <a:srgbClr val="16181D"/>
                </a:solidFill>
                <a:latin typeface="Consolas"/>
              </a:rPr>
              <a:t>print(f"{v:4d}", end="")</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def name(p1, p2): … return v</a:t>
            </a:r>
            <a:r>
              <a:rPr sz="1500" b="0" i="0">
                <a:solidFill>
                  <a:srgbClr val="16181D"/>
                </a:solidFill>
                <a:latin typeface="Calibri"/>
              </a:rPr>
              <a:t> — a call </a:t>
            </a:r>
            <a:r>
              <a:rPr sz="1500" b="0" i="1">
                <a:solidFill>
                  <a:srgbClr val="16181D"/>
                </a:solidFill>
                <a:latin typeface="Calibri"/>
              </a:rPr>
              <a:t>composes</a:t>
            </a:r>
            <a:r>
              <a:rPr sz="1500" b="0" i="0">
                <a:solidFill>
                  <a:srgbClr val="16181D"/>
                </a:solidFill>
                <a:latin typeface="Calibri"/>
              </a:rPr>
              <a:t> into any expression; no return means </a:t>
            </a:r>
            <a:r>
              <a:rPr sz="1300" b="0" i="0">
                <a:solidFill>
                  <a:srgbClr val="16181D"/>
                </a:solidFill>
                <a:latin typeface="Consolas"/>
              </a:rPr>
              <a:t>None</a:t>
            </a:r>
            <a:r>
              <a:rPr sz="1500" b="0" i="0">
                <a:solidFill>
                  <a:srgbClr val="16181D"/>
                </a:solidFill>
                <a:latin typeface="Calibri"/>
              </a:rPr>
              <a:t>.</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loops.py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911" b="0" i="0">
                <a:solidFill>
                  <a:srgbClr val="E5E7EB"/>
                </a:solidFill>
                <a:latin typeface="Consolas"/>
              </a:rPr>
              <a:t>def collatz_steps(n):</a:t>
            </a:r>
          </a:p>
          <a:p>
            <a:pPr>
              <a:lnSpc>
                <a:spcPct val="100000"/>
              </a:lnSpc>
              <a:spcBef>
                <a:spcPts val="0"/>
              </a:spcBef>
              <a:spcAft>
                <a:spcPts val="60"/>
              </a:spcAft>
            </a:pPr>
            <a:r>
              <a:rPr sz="911" b="0" i="0">
                <a:solidFill>
                  <a:srgbClr val="E5E7EB"/>
                </a:solidFill>
                <a:latin typeface="Consolas"/>
              </a:rPr>
              <a:t>    steps = 0</a:t>
            </a:r>
          </a:p>
          <a:p>
            <a:pPr>
              <a:lnSpc>
                <a:spcPct val="100000"/>
              </a:lnSpc>
              <a:spcBef>
                <a:spcPts val="0"/>
              </a:spcBef>
              <a:spcAft>
                <a:spcPts val="60"/>
              </a:spcAft>
            </a:pPr>
            <a:r>
              <a:rPr sz="911" b="0" i="0">
                <a:solidFill>
                  <a:srgbClr val="E5E7EB"/>
                </a:solidFill>
                <a:latin typeface="Consolas"/>
              </a:rPr>
              <a:t>    while n != 1:</a:t>
            </a:r>
          </a:p>
          <a:p>
            <a:pPr>
              <a:lnSpc>
                <a:spcPct val="100000"/>
              </a:lnSpc>
              <a:spcBef>
                <a:spcPts val="0"/>
              </a:spcBef>
              <a:spcAft>
                <a:spcPts val="60"/>
              </a:spcAft>
            </a:pPr>
            <a:r>
              <a:rPr sz="911" b="0" i="0">
                <a:solidFill>
                  <a:srgbClr val="E5E7EB"/>
                </a:solidFill>
                <a:latin typeface="Consolas"/>
              </a:rPr>
              <a:t>        n = n // 2 if n % 2 == 0 else 3 * n + 1</a:t>
            </a:r>
          </a:p>
          <a:p>
            <a:pPr>
              <a:lnSpc>
                <a:spcPct val="100000"/>
              </a:lnSpc>
              <a:spcBef>
                <a:spcPts val="0"/>
              </a:spcBef>
              <a:spcAft>
                <a:spcPts val="60"/>
              </a:spcAft>
            </a:pPr>
            <a:r>
              <a:rPr sz="911" b="0" i="0">
                <a:solidFill>
                  <a:srgbClr val="E5E7EB"/>
                </a:solidFill>
                <a:latin typeface="Consolas"/>
              </a:rPr>
              <a:t>        steps += 1</a:t>
            </a:r>
          </a:p>
          <a:p>
            <a:pPr>
              <a:lnSpc>
                <a:spcPct val="100000"/>
              </a:lnSpc>
              <a:spcBef>
                <a:spcPts val="0"/>
              </a:spcBef>
              <a:spcAft>
                <a:spcPts val="60"/>
              </a:spcAft>
            </a:pPr>
            <a:r>
              <a:rPr sz="911" b="0" i="0">
                <a:solidFill>
                  <a:srgbClr val="E5E7EB"/>
                </a:solidFill>
                <a:latin typeface="Consolas"/>
              </a:rPr>
              <a:t>    return steps</a:t>
            </a:r>
          </a:p>
          <a:p>
            <a:pPr>
              <a:lnSpc>
                <a:spcPct val="100000"/>
              </a:lnSpc>
              <a:spcBef>
                <a:spcPts val="0"/>
              </a:spcBef>
              <a:spcAft>
                <a:spcPts val="60"/>
              </a:spcAft>
            </a:pPr>
            <a:r>
              <a:rPr sz="911" b="0" i="0">
                <a:solidFill>
                  <a:srgbClr val="E5E7EB"/>
                </a:solidFill>
                <a:latin typeface="Consolas"/>
              </a:rPr>
              <a:t> </a:t>
            </a:r>
          </a:p>
          <a:p>
            <a:pPr>
              <a:lnSpc>
                <a:spcPct val="100000"/>
              </a:lnSpc>
              <a:spcBef>
                <a:spcPts val="0"/>
              </a:spcBef>
              <a:spcAft>
                <a:spcPts val="60"/>
              </a:spcAft>
            </a:pPr>
            <a:r>
              <a:rPr sz="911" b="0" i="0">
                <a:solidFill>
                  <a:srgbClr val="E5E7EB"/>
                </a:solidFill>
                <a:latin typeface="Consolas"/>
              </a:rPr>
              <a:t>for start in range(3, 8):          # demo table</a:t>
            </a:r>
          </a:p>
          <a:p>
            <a:pPr>
              <a:lnSpc>
                <a:spcPct val="100000"/>
              </a:lnSpc>
              <a:spcBef>
                <a:spcPts val="0"/>
              </a:spcBef>
              <a:spcAft>
                <a:spcPts val="60"/>
              </a:spcAft>
            </a:pPr>
            <a:r>
              <a:rPr sz="911" b="0" i="0">
                <a:solidFill>
                  <a:srgbClr val="E5E7EB"/>
                </a:solidFill>
                <a:latin typeface="Consolas"/>
              </a:rPr>
              <a:t>    if start == 5: continue        # skip one row</a:t>
            </a:r>
          </a:p>
          <a:p>
            <a:pPr>
              <a:lnSpc>
                <a:spcPct val="100000"/>
              </a:lnSpc>
              <a:spcBef>
                <a:spcPts val="0"/>
              </a:spcBef>
              <a:spcAft>
                <a:spcPts val="60"/>
              </a:spcAft>
            </a:pPr>
            <a:r>
              <a:rPr sz="911" b="0" i="0">
                <a:solidFill>
                  <a:srgbClr val="E5E7EB"/>
                </a:solidFill>
                <a:latin typeface="Consolas"/>
              </a:rPr>
              <a:t>    if start &gt; 6: break            # leave the loop</a:t>
            </a:r>
          </a:p>
          <a:p>
            <a:pPr>
              <a:lnSpc>
                <a:spcPct val="100000"/>
              </a:lnSpc>
              <a:spcBef>
                <a:spcPts val="0"/>
              </a:spcBef>
              <a:spcAft>
                <a:spcPts val="60"/>
              </a:spcAft>
            </a:pPr>
            <a:r>
              <a:rPr sz="911" b="0" i="0">
                <a:solidFill>
                  <a:srgbClr val="E5E7EB"/>
                </a:solidFill>
                <a:latin typeface="Consolas"/>
              </a:rPr>
              <a:t>    print(f" {start} -&gt; {collatz_steps(start):2d}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Worked Demo — m01.py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9</a:t>
            </a:r>
          </a:p>
        </p:txBody>
      </p:sp>
      <p:sp>
        <p:nvSpPr>
          <p:cNvPr id="8" name="Rectangle 7"/>
          <p:cNvSpPr/>
          <p:nvPr/>
        </p:nvSpPr>
        <p:spPr>
          <a:xfrm>
            <a:off x="502920" y="1572768"/>
            <a:ext cx="598932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9893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69671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m01.py</a:t>
            </a:r>
          </a:p>
        </p:txBody>
      </p:sp>
      <p:sp>
        <p:nvSpPr>
          <p:cNvPr id="11" name="TextBox 10"/>
          <p:cNvSpPr txBox="1"/>
          <p:nvPr/>
        </p:nvSpPr>
        <p:spPr>
          <a:xfrm>
            <a:off x="667512" y="1975104"/>
            <a:ext cx="5678424" cy="4325112"/>
          </a:xfrm>
          <a:prstGeom prst="rect">
            <a:avLst/>
          </a:prstGeom>
          <a:noFill/>
        </p:spPr>
        <p:txBody>
          <a:bodyPr wrap="none" anchor="t" lIns="0" rIns="0" tIns="0" bIns="0">
            <a:spAutoFit/>
          </a:bodyPr>
          <a:lstStyle/>
          <a:p>
            <a:pPr>
              <a:lnSpc>
                <a:spcPct val="100000"/>
              </a:lnSpc>
              <a:spcBef>
                <a:spcPts val="0"/>
              </a:spcBef>
              <a:spcAft>
                <a:spcPts val="60"/>
              </a:spcAft>
            </a:pPr>
            <a:r>
              <a:rPr sz="1035" b="0" i="0">
                <a:solidFill>
                  <a:srgbClr val="E5E7EB"/>
                </a:solidFill>
                <a:latin typeface="Consolas"/>
              </a:rPr>
              <a:t># Module 1 demo -- program errors, variables, iteration, functions</a:t>
            </a:r>
          </a:p>
          <a:p>
            <a:pPr>
              <a:lnSpc>
                <a:spcPct val="100000"/>
              </a:lnSpc>
              <a:spcBef>
                <a:spcPts val="0"/>
              </a:spcBef>
              <a:spcAft>
                <a:spcPts val="60"/>
              </a:spcAft>
            </a:pPr>
            <a:r>
              <a:rPr sz="1035" b="0" i="0">
                <a:solidFill>
                  <a:srgbClr val="E5E7EB"/>
                </a:solidFill>
                <a:latin typeface="Consolas"/>
              </a:rPr>
              <a:t># Run   : python3 m01.py</a:t>
            </a:r>
          </a:p>
          <a:p>
            <a:pPr>
              <a:lnSpc>
                <a:spcPct val="100000"/>
              </a:lnSpc>
              <a:spcBef>
                <a:spcPts val="0"/>
              </a:spcBef>
              <a:spcAft>
                <a:spcPts val="60"/>
              </a:spcAft>
            </a:pPr>
            <a:r>
              <a:rPr sz="1035" b="0" i="0">
                <a:solidFill>
                  <a:srgbClr val="E5E7EB"/>
                </a:solidFill>
                <a:latin typeface="Consolas"/>
              </a:rPr>
              <a:t> </a:t>
            </a:r>
          </a:p>
          <a:p>
            <a:pPr>
              <a:lnSpc>
                <a:spcPct val="100000"/>
              </a:lnSpc>
              <a:spcBef>
                <a:spcPts val="0"/>
              </a:spcBef>
              <a:spcAft>
                <a:spcPts val="60"/>
              </a:spcAft>
            </a:pPr>
            <a:r>
              <a:rPr sz="1035" b="0" i="0">
                <a:solidFill>
                  <a:srgbClr val="E5E7EB"/>
                </a:solidFill>
                <a:latin typeface="Consolas"/>
              </a:rPr>
              <a:t>def collatz(n):</a:t>
            </a:r>
          </a:p>
          <a:p>
            <a:pPr>
              <a:lnSpc>
                <a:spcPct val="100000"/>
              </a:lnSpc>
              <a:spcBef>
                <a:spcPts val="0"/>
              </a:spcBef>
              <a:spcAft>
                <a:spcPts val="60"/>
              </a:spcAft>
            </a:pPr>
            <a:r>
              <a:rPr sz="1035" b="0" i="0">
                <a:solidFill>
                  <a:srgbClr val="E5E7EB"/>
                </a:solidFill>
                <a:latin typeface="Consolas"/>
              </a:rPr>
              <a:t>    """Steps for the 3n+1 sequence started at n to reach 1."""</a:t>
            </a:r>
          </a:p>
          <a:p>
            <a:pPr>
              <a:lnSpc>
                <a:spcPct val="100000"/>
              </a:lnSpc>
              <a:spcBef>
                <a:spcPts val="0"/>
              </a:spcBef>
              <a:spcAft>
                <a:spcPts val="60"/>
              </a:spcAft>
            </a:pPr>
            <a:r>
              <a:rPr sz="1035" b="0" i="0">
                <a:solidFill>
                  <a:srgbClr val="E5E7EB"/>
                </a:solidFill>
                <a:latin typeface="Consolas"/>
              </a:rPr>
              <a:t>    steps = 0</a:t>
            </a:r>
          </a:p>
          <a:p>
            <a:pPr>
              <a:lnSpc>
                <a:spcPct val="100000"/>
              </a:lnSpc>
              <a:spcBef>
                <a:spcPts val="0"/>
              </a:spcBef>
              <a:spcAft>
                <a:spcPts val="60"/>
              </a:spcAft>
            </a:pPr>
            <a:r>
              <a:rPr sz="1035" b="0" i="0">
                <a:solidFill>
                  <a:srgbClr val="E5E7EB"/>
                </a:solidFill>
                <a:latin typeface="Consolas"/>
              </a:rPr>
              <a:t>    while n != 1:</a:t>
            </a:r>
          </a:p>
          <a:p>
            <a:pPr>
              <a:lnSpc>
                <a:spcPct val="100000"/>
              </a:lnSpc>
              <a:spcBef>
                <a:spcPts val="0"/>
              </a:spcBef>
              <a:spcAft>
                <a:spcPts val="60"/>
              </a:spcAft>
            </a:pPr>
            <a:r>
              <a:rPr sz="1035" b="0" i="0">
                <a:solidFill>
                  <a:srgbClr val="E5E7EB"/>
                </a:solidFill>
                <a:latin typeface="Consolas"/>
              </a:rPr>
              <a:t>        n = n // 2 if n % 2 == 0 else 3 * n + 1</a:t>
            </a:r>
          </a:p>
          <a:p>
            <a:pPr>
              <a:lnSpc>
                <a:spcPct val="100000"/>
              </a:lnSpc>
              <a:spcBef>
                <a:spcPts val="0"/>
              </a:spcBef>
              <a:spcAft>
                <a:spcPts val="60"/>
              </a:spcAft>
            </a:pPr>
            <a:r>
              <a:rPr sz="1035" b="0" i="0">
                <a:solidFill>
                  <a:srgbClr val="E5E7EB"/>
                </a:solidFill>
                <a:latin typeface="Consolas"/>
              </a:rPr>
              <a:t>        steps += 1</a:t>
            </a:r>
          </a:p>
          <a:p>
            <a:pPr>
              <a:lnSpc>
                <a:spcPct val="100000"/>
              </a:lnSpc>
              <a:spcBef>
                <a:spcPts val="0"/>
              </a:spcBef>
              <a:spcAft>
                <a:spcPts val="60"/>
              </a:spcAft>
            </a:pPr>
            <a:r>
              <a:rPr sz="1035" b="0" i="0">
                <a:solidFill>
                  <a:srgbClr val="E5E7EB"/>
                </a:solidFill>
                <a:latin typeface="Consolas"/>
              </a:rPr>
              <a:t>    return steps</a:t>
            </a:r>
          </a:p>
          <a:p>
            <a:pPr>
              <a:lnSpc>
                <a:spcPct val="100000"/>
              </a:lnSpc>
              <a:spcBef>
                <a:spcPts val="0"/>
              </a:spcBef>
              <a:spcAft>
                <a:spcPts val="60"/>
              </a:spcAft>
            </a:pPr>
            <a:r>
              <a:rPr sz="1035" b="0" i="0">
                <a:solidFill>
                  <a:srgbClr val="E5E7EB"/>
                </a:solidFill>
                <a:latin typeface="Consolas"/>
              </a:rPr>
              <a:t> </a:t>
            </a:r>
          </a:p>
          <a:p>
            <a:pPr>
              <a:lnSpc>
                <a:spcPct val="100000"/>
              </a:lnSpc>
              <a:spcBef>
                <a:spcPts val="0"/>
              </a:spcBef>
              <a:spcAft>
                <a:spcPts val="60"/>
              </a:spcAft>
            </a:pPr>
            <a:r>
              <a:rPr sz="1035" b="0" i="0">
                <a:solidFill>
                  <a:srgbClr val="E5E7EB"/>
                </a:solidFill>
                <a:latin typeface="Consolas"/>
              </a:rPr>
              <a:t>value = input("Enter an integer: ")      # input() always yields a str</a:t>
            </a:r>
          </a:p>
          <a:p>
            <a:pPr>
              <a:lnSpc>
                <a:spcPct val="100000"/>
              </a:lnSpc>
              <a:spcBef>
                <a:spcPts val="0"/>
              </a:spcBef>
              <a:spcAft>
                <a:spcPts val="60"/>
              </a:spcAft>
            </a:pPr>
            <a:r>
              <a:rPr sz="1035" b="0" i="0">
                <a:solidFill>
                  <a:srgbClr val="E5E7EB"/>
                </a:solidFill>
                <a:latin typeface="Consolas"/>
              </a:rPr>
              <a:t>number = int(value)                       # type converter: str -&gt; int</a:t>
            </a:r>
          </a:p>
          <a:p>
            <a:pPr>
              <a:lnSpc>
                <a:spcPct val="100000"/>
              </a:lnSpc>
              <a:spcBef>
                <a:spcPts val="0"/>
              </a:spcBef>
              <a:spcAft>
                <a:spcPts val="60"/>
              </a:spcAft>
            </a:pPr>
            <a:r>
              <a:rPr sz="1035" b="0" i="0">
                <a:solidFill>
                  <a:srgbClr val="E5E7EB"/>
                </a:solidFill>
                <a:latin typeface="Consolas"/>
              </a:rPr>
              <a:t>print("As int:", number, "| as float:", float(number))</a:t>
            </a:r>
          </a:p>
          <a:p>
            <a:pPr>
              <a:lnSpc>
                <a:spcPct val="100000"/>
              </a:lnSpc>
              <a:spcBef>
                <a:spcPts val="0"/>
              </a:spcBef>
              <a:spcAft>
                <a:spcPts val="60"/>
              </a:spcAft>
            </a:pPr>
            <a:r>
              <a:rPr sz="1035" b="0" i="0">
                <a:solidFill>
                  <a:srgbClr val="E5E7EB"/>
                </a:solidFill>
                <a:latin typeface="Consolas"/>
              </a:rPr>
              <a:t>  …  (complete source in the course book, §1.2)</a:t>
            </a:r>
          </a:p>
        </p:txBody>
      </p:sp>
      <p:sp>
        <p:nvSpPr>
          <p:cNvPr id="12" name="Rectangle 11"/>
          <p:cNvSpPr/>
          <p:nvPr/>
        </p:nvSpPr>
        <p:spPr>
          <a:xfrm>
            <a:off x="6812280" y="1572768"/>
            <a:ext cx="489204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1664208"/>
            <a:ext cx="461772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SESSION — python3 m01.py</a:t>
            </a:r>
          </a:p>
        </p:txBody>
      </p:sp>
      <p:sp>
        <p:nvSpPr>
          <p:cNvPr id="14" name="TextBox 13"/>
          <p:cNvSpPr txBox="1"/>
          <p:nvPr/>
        </p:nvSpPr>
        <p:spPr>
          <a:xfrm>
            <a:off x="6958584" y="1938528"/>
            <a:ext cx="4617720" cy="434340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an integer: 12</a:t>
            </a:r>
          </a:p>
          <a:p>
            <a:pPr>
              <a:lnSpc>
                <a:spcPct val="100000"/>
              </a:lnSpc>
              <a:spcBef>
                <a:spcPts val="0"/>
              </a:spcBef>
              <a:spcAft>
                <a:spcPts val="60"/>
              </a:spcAft>
            </a:pPr>
            <a:r>
              <a:rPr sz="1250" b="0" i="0">
                <a:solidFill>
                  <a:srgbClr val="14171C"/>
                </a:solidFill>
                <a:latin typeface="Consolas"/>
              </a:rPr>
              <a:t>As int: 12 | as float: 12.0</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Modulus &amp; floor division:</a:t>
            </a:r>
          </a:p>
          <a:p>
            <a:pPr>
              <a:lnSpc>
                <a:spcPct val="100000"/>
              </a:lnSpc>
              <a:spcBef>
                <a:spcPts val="0"/>
              </a:spcBef>
              <a:spcAft>
                <a:spcPts val="60"/>
              </a:spcAft>
            </a:pPr>
            <a:r>
              <a:rPr sz="1250" b="0" i="0">
                <a:solidFill>
                  <a:srgbClr val="14171C"/>
                </a:solidFill>
                <a:latin typeface="Consolas"/>
              </a:rPr>
              <a:t>17 // 5 = 3   17 % 5 = 2</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Collatz table (start, steps to reach 1):</a:t>
            </a:r>
          </a:p>
          <a:p>
            <a:pPr>
              <a:lnSpc>
                <a:spcPct val="100000"/>
              </a:lnSpc>
              <a:spcBef>
                <a:spcPts val="0"/>
              </a:spcBef>
              <a:spcAft>
                <a:spcPts val="60"/>
              </a:spcAft>
            </a:pPr>
            <a:r>
              <a:rPr sz="1250" b="0" i="0">
                <a:solidFill>
                  <a:srgbClr val="14171C"/>
                </a:solidFill>
                <a:latin typeface="Consolas"/>
              </a:rPr>
              <a:t> 3 -&gt;  7 steps</a:t>
            </a:r>
          </a:p>
          <a:p>
            <a:pPr>
              <a:lnSpc>
                <a:spcPct val="100000"/>
              </a:lnSpc>
              <a:spcBef>
                <a:spcPts val="0"/>
              </a:spcBef>
              <a:spcAft>
                <a:spcPts val="60"/>
              </a:spcAft>
            </a:pPr>
            <a:r>
              <a:rPr sz="1250" b="0" i="0">
                <a:solidFill>
                  <a:srgbClr val="14171C"/>
                </a:solidFill>
                <a:latin typeface="Consolas"/>
              </a:rPr>
              <a:t> 4 -&gt;  2 steps</a:t>
            </a:r>
          </a:p>
          <a:p>
            <a:pPr>
              <a:lnSpc>
                <a:spcPct val="100000"/>
              </a:lnSpc>
              <a:spcBef>
                <a:spcPts val="0"/>
              </a:spcBef>
              <a:spcAft>
                <a:spcPts val="60"/>
              </a:spcAft>
            </a:pPr>
            <a:r>
              <a:rPr sz="1250" b="0" i="0">
                <a:solidFill>
                  <a:srgbClr val="14171C"/>
                </a:solidFill>
                <a:latin typeface="Consolas"/>
              </a:rPr>
              <a:t> 5 -&gt;  5 steps</a:t>
            </a:r>
          </a:p>
          <a:p>
            <a:pPr>
              <a:lnSpc>
                <a:spcPct val="100000"/>
              </a:lnSpc>
              <a:spcBef>
                <a:spcPts val="0"/>
              </a:spcBef>
              <a:spcAft>
                <a:spcPts val="60"/>
              </a:spcAft>
            </a:pPr>
            <a:r>
              <a:rPr sz="1250" b="0" i="0">
                <a:solidFill>
                  <a:srgbClr val="14171C"/>
                </a:solidFill>
                <a:latin typeface="Consolas"/>
              </a:rPr>
              <a:t> 6 -&gt;  8 steps</a:t>
            </a:r>
          </a:p>
          <a:p>
            <a:pPr>
              <a:lnSpc>
                <a:spcPct val="100000"/>
              </a:lnSpc>
              <a:spcBef>
                <a:spcPts val="0"/>
              </a:spcBef>
              <a:spcAft>
                <a:spcPts val="60"/>
              </a:spcAft>
            </a:pPr>
            <a:r>
              <a:rPr sz="1250" b="0" i="0">
                <a:solidFill>
                  <a:srgbClr val="14171C"/>
                </a:solidFill>
                <a:latin typeface="Consolas"/>
              </a:rPr>
              <a:t> 7 -&gt; 16 steps</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Updating variables with a for loop:</a:t>
            </a:r>
          </a:p>
          <a:p>
            <a:pPr>
              <a:lnSpc>
                <a:spcPct val="100000"/>
              </a:lnSpc>
              <a:spcBef>
                <a:spcPts val="0"/>
              </a:spcBef>
              <a:spcAft>
                <a:spcPts val="60"/>
              </a:spcAft>
            </a:pPr>
            <a:r>
              <a:rPr sz="1250" b="0" i="0">
                <a:solidFill>
                  <a:srgbClr val="14171C"/>
                </a:solidFill>
                <a:latin typeface="Consolas"/>
              </a:rPr>
              <a:t>1 + ... + 12 = 78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1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10</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Q1.  </a:t>
            </a:r>
            <a:r>
              <a:rPr sz="1500" b="0" i="0">
                <a:solidFill>
                  <a:srgbClr val="16181D"/>
                </a:solidFill>
                <a:latin typeface="Calibri"/>
              </a:rPr>
              <a:t>What is the difference between a syntax error and a semantic error, and which one produces a traceback?</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Q2.  </a:t>
            </a:r>
            <a:r>
              <a:rPr sz="1500" b="0" i="0">
                <a:solidFill>
                  <a:srgbClr val="16181D"/>
                </a:solidFill>
                <a:latin typeface="Calibri"/>
              </a:rPr>
              <a:t>Why does input() usually need a type converter before arithmetic? Show both directions of the mistake.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Q3.  </a:t>
            </a:r>
            <a:r>
              <a:rPr sz="1500" b="0" i="0">
                <a:solidFill>
                  <a:srgbClr val="16181D"/>
                </a:solidFill>
                <a:latin typeface="Calibri"/>
              </a:rPr>
              <a:t>Evaluate: 17 // 5, 17 % 5, 2 ** 3 ** 2. Justify each with the precedence rules.</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Q4.  </a:t>
            </a:r>
            <a:r>
              <a:rPr sz="1500" b="0" i="0">
                <a:solidFill>
                  <a:srgbClr val="16181D"/>
                </a:solidFill>
                <a:latin typeface="Calibri"/>
              </a:rPr>
              <a:t>Write the Collatz step function in two lines and state what collatz(7) returns after computing by hand (16).</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Q5.  </a:t>
            </a:r>
            <a:r>
              <a:rPr sz="1500" b="0" i="0">
                <a:solidFill>
                  <a:srgbClr val="16181D"/>
                </a:solidFill>
                <a:latin typeface="Calibri"/>
              </a:rPr>
              <a:t>When does break differ from continue? Give a loop where each is the correct choice.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Q6.  </a:t>
            </a:r>
            <a:r>
              <a:rPr sz="1500" b="0" i="0">
                <a:solidFill>
                  <a:srgbClr val="16181D"/>
                </a:solidFill>
                <a:latin typeface="Calibri"/>
              </a:rPr>
              <a:t>Why must a while-loop body change a variable tested in the condition? Name the failure mode if it does not.</a:t>
            </a:r>
          </a:p>
        </p:txBody>
      </p:sp>
      <p:sp>
        <p:nvSpPr>
          <p:cNvPr id="9" name="TextBox 8"/>
          <p:cNvSpPr txBox="1"/>
          <p:nvPr/>
        </p:nvSpPr>
        <p:spPr>
          <a:xfrm>
            <a:off x="502920" y="6035040"/>
            <a:ext cx="11155680" cy="36576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Model answers: course book §1.5 · these are also IA-test-shaped practice.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2 — Strings, Tuples and Lists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11</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CO2 (primary) · CO1 groundwork</a:t>
            </a:r>
            <a:r>
              <a:rPr sz="1350" b="0" i="0">
                <a:solidFill>
                  <a:srgbClr val="4B5563"/>
                </a:solidFill>
                <a:latin typeface="Calibri"/>
              </a:rPr>
              <a:t>    ·    8 lecture hours · supports Lab Experiments 2b, 3a, 3b</a:t>
            </a:r>
            <a:r>
              <a:rPr sz="1250" b="0" i="0">
                <a:solidFill>
                  <a:srgbClr val="4B5563"/>
                </a:solidFill>
                <a:latin typeface="Calibri"/>
              </a:rPr>
              <a:t>    ·    textbook 5.1, 5.2, 5.3 (with 2.x string basics)</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Strings — index, traversal, slices, comparison, immutability, in/not in, find, split, strip, format</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Tuples — grouping, tuple assignment, as return values, composability</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Lists — membership/operations/slices, mutability, deletion</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Objects &amp; references — aliasing, cloning, list methods, pure functions vs modifiers</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Strings↔lists, list(range()), nested lists and matrices</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MODULE-2 SYLLABUS (VERBATIM)</a:t>
            </a:r>
          </a:p>
          <a:p>
            <a:pPr>
              <a:lnSpc>
                <a:spcPct val="108000"/>
              </a:lnSpc>
              <a:spcBef>
                <a:spcPts val="0"/>
              </a:spcBef>
              <a:spcAft>
                <a:spcPts val="0"/>
              </a:spcAft>
            </a:pPr>
            <a:r>
              <a:rPr sz="1100" b="0" i="0">
                <a:solidFill>
                  <a:srgbClr val="16181D"/>
                </a:solidFill>
                <a:latin typeface="Calibri"/>
              </a:rPr>
              <a:t>Strings: Working with strings as single things, working with the parts of a string, Length, Traversal and the for loop, Slices, String comparison, Strings are immutable, the in and not in operators, A find function, Looping and counting, Optional parameters, The built-in find method, The split method, Cleaning up your strings, The string format method. Tuples: Tuples are used for grouping data, Tuple assignment, Tuples as return values, Composability of Data Structures. Lists: List values, accessing elements, List length, List membership, List operations, List slices, Lists are mutable, List deletion, Objects and references, Aliasing, cloning lists, Lists and for loops, List parameters, List methods, Pure functions and modifiers, Functions that produce lists, Strings and lists, list and range, Nested lists, Matrices. Chapter: 5.1, 5.2, 5.3 · Number of Hours: 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Strings I — sequence behaviour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12</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s[i]</a:t>
            </a:r>
            <a:r>
              <a:rPr sz="1500" b="0" i="0">
                <a:solidFill>
                  <a:srgbClr val="16181D"/>
                </a:solidFill>
                <a:latin typeface="Calibri"/>
              </a:rPr>
              <a:t> indexes 0…</a:t>
            </a:r>
            <a:r>
              <a:rPr sz="1300" b="0" i="0">
                <a:solidFill>
                  <a:srgbClr val="16181D"/>
                </a:solidFill>
                <a:latin typeface="Consolas"/>
              </a:rPr>
              <a:t>len(s)-1</a:t>
            </a:r>
            <a:r>
              <a:rPr sz="1500" b="0" i="0">
                <a:solidFill>
                  <a:srgbClr val="16181D"/>
                </a:solidFill>
                <a:latin typeface="Calibri"/>
              </a:rPr>
              <a:t> or negatives; </a:t>
            </a:r>
            <a:r>
              <a:rPr sz="1300" b="0" i="0">
                <a:solidFill>
                  <a:srgbClr val="16181D"/>
                </a:solidFill>
                <a:latin typeface="Consolas"/>
              </a:rPr>
              <a:t>for ch in s:</a:t>
            </a:r>
            <a:r>
              <a:rPr sz="1500" b="0" i="0">
                <a:solidFill>
                  <a:srgbClr val="16181D"/>
                </a:solidFill>
                <a:latin typeface="Calibri"/>
              </a:rPr>
              <a:t> is the traversal idiom.</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Slices </a:t>
            </a:r>
            <a:r>
              <a:rPr sz="1300" b="0" i="0">
                <a:solidFill>
                  <a:srgbClr val="16181D"/>
                </a:solidFill>
                <a:latin typeface="Consolas"/>
              </a:rPr>
              <a:t>s[i:j]</a:t>
            </a:r>
            <a:r>
              <a:rPr sz="1500" b="0" i="0">
                <a:solidFill>
                  <a:srgbClr val="16181D"/>
                </a:solidFill>
                <a:latin typeface="Calibri"/>
              </a:rPr>
              <a:t> take i up-to-not-j; omit either end; </a:t>
            </a:r>
            <a:r>
              <a:rPr sz="1300" b="0" i="0">
                <a:solidFill>
                  <a:srgbClr val="16181D"/>
                </a:solidFill>
                <a:latin typeface="Consolas"/>
              </a:rPr>
              <a:t>s[::-1]</a:t>
            </a:r>
            <a:r>
              <a:rPr sz="1500" b="0" i="0">
                <a:solidFill>
                  <a:srgbClr val="16181D"/>
                </a:solidFill>
                <a:latin typeface="Calibri"/>
              </a:rPr>
              <a:t> reverses. A slice is a NEW string — never an alias.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Comparison is lexicographic by code point: </a:t>
            </a:r>
            <a:r>
              <a:rPr sz="1300" b="0" i="0">
                <a:solidFill>
                  <a:srgbClr val="16181D"/>
                </a:solidFill>
                <a:latin typeface="Consolas"/>
              </a:rPr>
              <a:t>"Zoo" &lt; "apple"</a:t>
            </a:r>
            <a:r>
              <a:rPr sz="1500" b="0" i="0">
                <a:solidFill>
                  <a:srgbClr val="16181D"/>
                </a:solidFill>
                <a:latin typeface="Calibri"/>
              </a:rPr>
              <a:t> — normalise with </a:t>
            </a:r>
            <a:r>
              <a:rPr sz="1300" b="0" i="0">
                <a:solidFill>
                  <a:srgbClr val="16181D"/>
                </a:solidFill>
                <a:latin typeface="Consolas"/>
              </a:rPr>
              <a:t>.lower()</a:t>
            </a:r>
            <a:r>
              <a:rPr sz="1500" b="0" i="0">
                <a:solidFill>
                  <a:srgbClr val="16181D"/>
                </a:solidFill>
                <a:latin typeface="Calibri"/>
              </a:rPr>
              <a:t> before sorting text.</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Strings are immutable</a:t>
            </a:r>
            <a:r>
              <a:rPr sz="1500" b="0" i="0">
                <a:solidFill>
                  <a:srgbClr val="16181D"/>
                </a:solidFill>
                <a:latin typeface="Calibri"/>
              </a:rPr>
              <a:t> — </a:t>
            </a:r>
            <a:r>
              <a:rPr sz="1300" b="0" i="0">
                <a:solidFill>
                  <a:srgbClr val="16181D"/>
                </a:solidFill>
                <a:latin typeface="Consolas"/>
              </a:rPr>
              <a:t>s[0]="J"</a:t>
            </a:r>
            <a:r>
              <a:rPr sz="1500" b="0" i="0">
                <a:solidFill>
                  <a:srgbClr val="16181D"/>
                </a:solidFill>
                <a:latin typeface="Calibri"/>
              </a:rPr>
              <a:t> raises TypeError; build a new string: </a:t>
            </a:r>
            <a:r>
              <a:rPr sz="1300" b="0" i="0">
                <a:solidFill>
                  <a:srgbClr val="16181D"/>
                </a:solidFill>
                <a:latin typeface="Consolas"/>
              </a:rPr>
              <a:t>s = "J" + s[1:]</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in / not in</a:t>
            </a:r>
            <a:r>
              <a:rPr sz="1500" b="0" i="0">
                <a:solidFill>
                  <a:srgbClr val="16181D"/>
                </a:solidFill>
                <a:latin typeface="Calibri"/>
              </a:rPr>
              <a:t> test substrings in one boolean expression.</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strings1.py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1060" b="0" i="0">
                <a:solidFill>
                  <a:srgbClr val="E5E7EB"/>
                </a:solidFill>
                <a:latin typeface="Consolas"/>
              </a:rPr>
              <a:t>s = "banana"</a:t>
            </a:r>
          </a:p>
          <a:p>
            <a:pPr>
              <a:lnSpc>
                <a:spcPct val="100000"/>
              </a:lnSpc>
              <a:spcBef>
                <a:spcPts val="0"/>
              </a:spcBef>
              <a:spcAft>
                <a:spcPts val="60"/>
              </a:spcAft>
            </a:pPr>
            <a:r>
              <a:rPr sz="1060" b="0" i="0">
                <a:solidFill>
                  <a:srgbClr val="E5E7EB"/>
                </a:solidFill>
                <a:latin typeface="Consolas"/>
              </a:rPr>
              <a:t>print(len(s), s[0], s[-1])        # 6 b a</a:t>
            </a:r>
          </a:p>
          <a:p>
            <a:pPr>
              <a:lnSpc>
                <a:spcPct val="100000"/>
              </a:lnSpc>
              <a:spcBef>
                <a:spcPts val="0"/>
              </a:spcBef>
              <a:spcAft>
                <a:spcPts val="60"/>
              </a:spcAft>
            </a:pPr>
            <a:r>
              <a:rPr sz="1060" b="0" i="0">
                <a:solidFill>
                  <a:srgbClr val="E5E7EB"/>
                </a:solidFill>
                <a:latin typeface="Consolas"/>
              </a:rPr>
              <a:t>print(s[1:4], s[::-1])             # ana | ananab</a:t>
            </a:r>
          </a:p>
          <a:p>
            <a:pPr>
              <a:lnSpc>
                <a:spcPct val="100000"/>
              </a:lnSpc>
              <a:spcBef>
                <a:spcPts val="0"/>
              </a:spcBef>
              <a:spcAft>
                <a:spcPts val="60"/>
              </a:spcAft>
            </a:pPr>
            <a:r>
              <a:rPr sz="1060" b="0" i="0">
                <a:solidFill>
                  <a:srgbClr val="E5E7EB"/>
                </a:solidFill>
                <a:latin typeface="Consolas"/>
              </a:rPr>
              <a:t>for ch in s:                       # traversal</a:t>
            </a:r>
          </a:p>
          <a:p>
            <a:pPr>
              <a:lnSpc>
                <a:spcPct val="100000"/>
              </a:lnSpc>
              <a:spcBef>
                <a:spcPts val="0"/>
              </a:spcBef>
              <a:spcAft>
                <a:spcPts val="60"/>
              </a:spcAft>
            </a:pPr>
            <a:r>
              <a:rPr sz="1060" b="0" i="0">
                <a:solidFill>
                  <a:srgbClr val="E5E7EB"/>
                </a:solidFill>
                <a:latin typeface="Consolas"/>
              </a:rPr>
              <a:t>    if ch == "a": print("hit")     #     3 times</a:t>
            </a:r>
          </a:p>
          <a:p>
            <a:pPr>
              <a:lnSpc>
                <a:spcPct val="100000"/>
              </a:lnSpc>
              <a:spcBef>
                <a:spcPts val="0"/>
              </a:spcBef>
              <a:spcAft>
                <a:spcPts val="60"/>
              </a:spcAft>
            </a:pPr>
            <a:r>
              <a:rPr sz="1060" b="0" i="0">
                <a:solidFill>
                  <a:srgbClr val="E5E7EB"/>
                </a:solidFill>
                <a:latin typeface="Consolas"/>
              </a:rPr>
              <a:t># s[0] = "J"                       # TypeError!</a:t>
            </a:r>
          </a:p>
          <a:p>
            <a:pPr>
              <a:lnSpc>
                <a:spcPct val="100000"/>
              </a:lnSpc>
              <a:spcBef>
                <a:spcPts val="0"/>
              </a:spcBef>
              <a:spcAft>
                <a:spcPts val="60"/>
              </a:spcAft>
            </a:pPr>
            <a:r>
              <a:rPr sz="1060" b="0" i="0">
                <a:solidFill>
                  <a:srgbClr val="E5E7EB"/>
                </a:solidFill>
                <a:latin typeface="Consolas"/>
              </a:rPr>
              <a:t>s = "J" + s[1:]                    # the fix</a:t>
            </a:r>
          </a:p>
          <a:p>
            <a:pPr>
              <a:lnSpc>
                <a:spcPct val="100000"/>
              </a:lnSpc>
              <a:spcBef>
                <a:spcPts val="0"/>
              </a:spcBef>
              <a:spcAft>
                <a:spcPts val="60"/>
              </a:spcAft>
            </a:pPr>
            <a:r>
              <a:rPr sz="1060" b="0" i="0">
                <a:solidFill>
                  <a:srgbClr val="E5E7EB"/>
                </a:solidFill>
                <a:latin typeface="Consolas"/>
              </a:rPr>
              <a:t>print("an" in s, "x" not in s)     # True True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Strings II — find, split, format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13</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Hand-written </a:t>
            </a:r>
            <a:r>
              <a:rPr sz="1300" b="0" i="0">
                <a:solidFill>
                  <a:srgbClr val="16181D"/>
                </a:solidFill>
                <a:latin typeface="Consolas"/>
              </a:rPr>
              <a:t>find(word, ch, start=0)</a:t>
            </a:r>
            <a:r>
              <a:rPr sz="1500" b="0" i="0">
                <a:solidFill>
                  <a:srgbClr val="16181D"/>
                </a:solidFill>
                <a:latin typeface="Calibri"/>
              </a:rPr>
              <a:t> with an optional parameter — then the built-in </a:t>
            </a:r>
            <a:r>
              <a:rPr sz="1300" b="0" i="0">
                <a:solidFill>
                  <a:srgbClr val="16181D"/>
                </a:solidFill>
                <a:latin typeface="Consolas"/>
              </a:rPr>
              <a:t>s.find(ch)</a:t>
            </a:r>
            <a:r>
              <a:rPr sz="1500" b="0" i="0">
                <a:solidFill>
                  <a:srgbClr val="16181D"/>
                </a:solidFill>
                <a:latin typeface="Calibri"/>
              </a:rPr>
              <a:t> which returns −1 when absent.</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Looping and counting: </a:t>
            </a:r>
            <a:r>
              <a:rPr sz="1300" b="0" i="0">
                <a:solidFill>
                  <a:srgbClr val="16181D"/>
                </a:solidFill>
                <a:latin typeface="Consolas"/>
              </a:rPr>
              <a:t>pos = s.find(ch, pos+1)</a:t>
            </a:r>
            <a:r>
              <a:rPr sz="1500" b="0" i="0">
                <a:solidFill>
                  <a:srgbClr val="16181D"/>
                </a:solidFill>
                <a:latin typeface="Calibri"/>
              </a:rPr>
              <a:t> until −1.</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Cleaning: </a:t>
            </a:r>
            <a:r>
              <a:rPr sz="1300" b="0" i="0">
                <a:solidFill>
                  <a:srgbClr val="16181D"/>
                </a:solidFill>
                <a:latin typeface="Consolas"/>
              </a:rPr>
              <a:t>s.strip(punct).lower()</a:t>
            </a:r>
            <a:r>
              <a:rPr sz="1500" b="0" i="0">
                <a:solidFill>
                  <a:srgbClr val="16181D"/>
                </a:solidFill>
                <a:latin typeface="Calibri"/>
              </a:rPr>
              <a:t> · splitting: </a:t>
            </a:r>
            <a:r>
              <a:rPr sz="1300" b="0" i="0">
                <a:solidFill>
                  <a:srgbClr val="16181D"/>
                </a:solidFill>
                <a:latin typeface="Consolas"/>
              </a:rPr>
              <a:t>s.split() → list</a:t>
            </a:r>
            <a:r>
              <a:rPr sz="1500" b="0" i="0">
                <a:solidFill>
                  <a:srgbClr val="16181D"/>
                </a:solidFill>
                <a:latin typeface="Calibri"/>
              </a:rPr>
              <a:t> of words.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Building: </a:t>
            </a:r>
            <a:r>
              <a:rPr sz="1300" b="0" i="0">
                <a:solidFill>
                  <a:srgbClr val="16181D"/>
                </a:solidFill>
                <a:latin typeface="Consolas"/>
              </a:rPr>
              <a:t>"{} has {} parts".format(a, b)</a:t>
            </a:r>
            <a:r>
              <a:rPr sz="1500" b="0" i="0">
                <a:solidFill>
                  <a:srgbClr val="16181D"/>
                </a:solidFill>
                <a:latin typeface="Calibri"/>
              </a:rPr>
              <a:t> or f-strings — every report line in the lab uses them.</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strings2.py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812" b="0" i="0">
                <a:solidFill>
                  <a:srgbClr val="E5E7EB"/>
                </a:solidFill>
                <a:latin typeface="Consolas"/>
              </a:rPr>
              <a:t>def find(word, ch, start=0):       # hand-written</a:t>
            </a:r>
          </a:p>
          <a:p>
            <a:pPr>
              <a:lnSpc>
                <a:spcPct val="100000"/>
              </a:lnSpc>
              <a:spcBef>
                <a:spcPts val="0"/>
              </a:spcBef>
              <a:spcAft>
                <a:spcPts val="60"/>
              </a:spcAft>
            </a:pPr>
            <a:r>
              <a:rPr sz="812" b="0" i="0">
                <a:solidFill>
                  <a:srgbClr val="E5E7EB"/>
                </a:solidFill>
                <a:latin typeface="Consolas"/>
              </a:rPr>
              <a:t>    i = start</a:t>
            </a:r>
          </a:p>
          <a:p>
            <a:pPr>
              <a:lnSpc>
                <a:spcPct val="100000"/>
              </a:lnSpc>
              <a:spcBef>
                <a:spcPts val="0"/>
              </a:spcBef>
              <a:spcAft>
                <a:spcPts val="60"/>
              </a:spcAft>
            </a:pPr>
            <a:r>
              <a:rPr sz="812" b="0" i="0">
                <a:solidFill>
                  <a:srgbClr val="E5E7EB"/>
                </a:solidFill>
                <a:latin typeface="Consolas"/>
              </a:rPr>
              <a:t>    while i &lt; len(word):</a:t>
            </a:r>
          </a:p>
          <a:p>
            <a:pPr>
              <a:lnSpc>
                <a:spcPct val="100000"/>
              </a:lnSpc>
              <a:spcBef>
                <a:spcPts val="0"/>
              </a:spcBef>
              <a:spcAft>
                <a:spcPts val="60"/>
              </a:spcAft>
            </a:pPr>
            <a:r>
              <a:rPr sz="812" b="0" i="0">
                <a:solidFill>
                  <a:srgbClr val="E5E7EB"/>
                </a:solidFill>
                <a:latin typeface="Consolas"/>
              </a:rPr>
              <a:t>        if word[i] == ch: return i</a:t>
            </a:r>
          </a:p>
          <a:p>
            <a:pPr>
              <a:lnSpc>
                <a:spcPct val="100000"/>
              </a:lnSpc>
              <a:spcBef>
                <a:spcPts val="0"/>
              </a:spcBef>
              <a:spcAft>
                <a:spcPts val="60"/>
              </a:spcAft>
            </a:pPr>
            <a:r>
              <a:rPr sz="812" b="0" i="0">
                <a:solidFill>
                  <a:srgbClr val="E5E7EB"/>
                </a:solidFill>
                <a:latin typeface="Consolas"/>
              </a:rPr>
              <a:t>        i += 1</a:t>
            </a:r>
          </a:p>
          <a:p>
            <a:pPr>
              <a:lnSpc>
                <a:spcPct val="100000"/>
              </a:lnSpc>
              <a:spcBef>
                <a:spcPts val="0"/>
              </a:spcBef>
              <a:spcAft>
                <a:spcPts val="60"/>
              </a:spcAft>
            </a:pPr>
            <a:r>
              <a:rPr sz="812" b="0" i="0">
                <a:solidFill>
                  <a:srgbClr val="E5E7EB"/>
                </a:solidFill>
                <a:latin typeface="Consolas"/>
              </a:rPr>
              <a:t>    return -1                      # the −1 convention</a:t>
            </a:r>
          </a:p>
          <a:p>
            <a:pPr>
              <a:lnSpc>
                <a:spcPct val="100000"/>
              </a:lnSpc>
              <a:spcBef>
                <a:spcPts val="0"/>
              </a:spcBef>
              <a:spcAft>
                <a:spcPts val="60"/>
              </a:spcAft>
            </a:pPr>
            <a:r>
              <a:rPr sz="812" b="0" i="0">
                <a:solidFill>
                  <a:srgbClr val="E5E7EB"/>
                </a:solidFill>
                <a:latin typeface="Consolas"/>
              </a:rPr>
              <a:t> </a:t>
            </a:r>
          </a:p>
          <a:p>
            <a:pPr>
              <a:lnSpc>
                <a:spcPct val="100000"/>
              </a:lnSpc>
              <a:spcBef>
                <a:spcPts val="0"/>
              </a:spcBef>
              <a:spcAft>
                <a:spcPts val="60"/>
              </a:spcAft>
            </a:pPr>
            <a:r>
              <a:rPr sz="812" b="0" i="0">
                <a:solidFill>
                  <a:srgbClr val="E5E7EB"/>
                </a:solidFill>
                <a:latin typeface="Consolas"/>
              </a:rPr>
              <a:t>raw = "  Code, AND coffee. "</a:t>
            </a:r>
          </a:p>
          <a:p>
            <a:pPr>
              <a:lnSpc>
                <a:spcPct val="100000"/>
              </a:lnSpc>
              <a:spcBef>
                <a:spcPts val="0"/>
              </a:spcBef>
              <a:spcAft>
                <a:spcPts val="60"/>
              </a:spcAft>
            </a:pPr>
            <a:r>
              <a:rPr sz="812" b="0" i="0">
                <a:solidFill>
                  <a:srgbClr val="E5E7EB"/>
                </a:solidFill>
                <a:latin typeface="Consolas"/>
              </a:rPr>
              <a:t>print(raw.strip().lower().split()) # ['code,', 'and', 'coffee.']</a:t>
            </a:r>
          </a:p>
          <a:p>
            <a:pPr>
              <a:lnSpc>
                <a:spcPct val="100000"/>
              </a:lnSpc>
              <a:spcBef>
                <a:spcPts val="0"/>
              </a:spcBef>
              <a:spcAft>
                <a:spcPts val="60"/>
              </a:spcAft>
            </a:pPr>
            <a:r>
              <a:rPr sz="812" b="0" i="0">
                <a:solidFill>
                  <a:srgbClr val="E5E7EB"/>
                </a:solidFill>
                <a:latin typeface="Consolas"/>
              </a:rPr>
              <a:t>print("{} + {} = {}".format(2, 3, 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Tuples &amp; lists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14</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Tuples group fixed parts; </a:t>
            </a:r>
            <a:r>
              <a:rPr sz="1300" b="0" i="0">
                <a:solidFill>
                  <a:srgbClr val="16181D"/>
                </a:solidFill>
                <a:latin typeface="Consolas"/>
              </a:rPr>
              <a:t>a, b = b, a</a:t>
            </a:r>
            <a:r>
              <a:rPr sz="1500" b="0" i="0">
                <a:solidFill>
                  <a:srgbClr val="16181D"/>
                </a:solidFill>
                <a:latin typeface="Calibri"/>
              </a:rPr>
              <a:t> swaps without a temp; return tuples for multi-value answers.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Lists: same navigation + </a:t>
            </a:r>
            <a:r>
              <a:rPr sz="1300" b="0" i="0">
                <a:solidFill>
                  <a:srgbClr val="16181D"/>
                </a:solidFill>
                <a:latin typeface="Consolas"/>
              </a:rPr>
              <a:t>append insert remove pop sort reverse clear</a:t>
            </a:r>
            <a:r>
              <a:rPr sz="1500" b="0" i="0">
                <a:solidFill>
                  <a:srgbClr val="16181D"/>
                </a:solidFill>
                <a:latin typeface="Calibri"/>
              </a:rPr>
              <a:t> and </a:t>
            </a:r>
            <a:r>
              <a:rPr sz="1300" b="0" i="0">
                <a:solidFill>
                  <a:srgbClr val="16181D"/>
                </a:solidFill>
                <a:latin typeface="Consolas"/>
              </a:rPr>
              <a:t>del</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Aliasing</a:t>
            </a:r>
            <a:r>
              <a:rPr sz="1500" b="0" i="0">
                <a:solidFill>
                  <a:srgbClr val="16181D"/>
                </a:solidFill>
                <a:latin typeface="Calibri"/>
              </a:rPr>
              <a:t>: </a:t>
            </a:r>
            <a:r>
              <a:rPr sz="1300" b="0" i="0">
                <a:solidFill>
                  <a:srgbClr val="16181D"/>
                </a:solidFill>
                <a:latin typeface="Consolas"/>
              </a:rPr>
              <a:t>b = a</a:t>
            </a:r>
            <a:r>
              <a:rPr sz="1500" b="0" i="0">
                <a:solidFill>
                  <a:srgbClr val="16181D"/>
                </a:solidFill>
                <a:latin typeface="Calibri"/>
              </a:rPr>
              <a:t> shares one list; clone with </a:t>
            </a:r>
            <a:r>
              <a:rPr sz="1300" b="0" i="0">
                <a:solidFill>
                  <a:srgbClr val="16181D"/>
                </a:solidFill>
                <a:latin typeface="Consolas"/>
              </a:rPr>
              <a:t>b = a[:]</a:t>
            </a:r>
            <a:r>
              <a:rPr sz="1500" b="0" i="0">
                <a:solidFill>
                  <a:srgbClr val="16181D"/>
                </a:solidFill>
                <a:latin typeface="Calibri"/>
              </a:rPr>
              <a:t> to separate.</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Pure function</a:t>
            </a:r>
            <a:r>
              <a:rPr sz="1500" b="0" i="0">
                <a:solidFill>
                  <a:srgbClr val="16181D"/>
                </a:solidFill>
                <a:latin typeface="Calibri"/>
              </a:rPr>
              <a:t> returns new data · </a:t>
            </a:r>
            <a:r>
              <a:rPr sz="1500" b="1" i="0">
                <a:solidFill>
                  <a:srgbClr val="16181D"/>
                </a:solidFill>
                <a:latin typeface="Calibri"/>
              </a:rPr>
              <a:t>modifier</a:t>
            </a:r>
            <a:r>
              <a:rPr sz="1500" b="0" i="0">
                <a:solidFill>
                  <a:srgbClr val="16181D"/>
                </a:solidFill>
                <a:latin typeface="Calibri"/>
              </a:rPr>
              <a:t> changes the caller's list. </a:t>
            </a:r>
            <a:r>
              <a:rPr sz="1300" b="0" i="0">
                <a:solidFill>
                  <a:srgbClr val="16181D"/>
                </a:solidFill>
                <a:latin typeface="Consolas"/>
              </a:rPr>
              <a:t>nums.sort() → None</a:t>
            </a:r>
            <a:r>
              <a:rPr sz="1500" b="0" i="0">
                <a:solidFill>
                  <a:srgbClr val="16181D"/>
                </a:solidFill>
                <a:latin typeface="Calibri"/>
              </a:rPr>
              <a:t> (the trap); </a:t>
            </a:r>
            <a:r>
              <a:rPr sz="1300" b="0" i="0">
                <a:solidFill>
                  <a:srgbClr val="16181D"/>
                </a:solidFill>
                <a:latin typeface="Consolas"/>
              </a:rPr>
              <a:t>sorted(nums)</a:t>
            </a:r>
            <a:r>
              <a:rPr sz="1500" b="0" i="0">
                <a:solidFill>
                  <a:srgbClr val="16181D"/>
                </a:solidFill>
                <a:latin typeface="Calibri"/>
              </a:rPr>
              <a:t> is the pure twin.</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list(range(2,10,3))</a:t>
            </a:r>
            <a:r>
              <a:rPr sz="1500" b="0" i="0">
                <a:solidFill>
                  <a:srgbClr val="16181D"/>
                </a:solidFill>
                <a:latin typeface="Calibri"/>
              </a:rPr>
              <a:t> · </a:t>
            </a:r>
            <a:r>
              <a:rPr sz="1300" b="0" i="0">
                <a:solidFill>
                  <a:srgbClr val="16181D"/>
                </a:solidFill>
                <a:latin typeface="Consolas"/>
              </a:rPr>
              <a:t>list("abc")</a:t>
            </a:r>
            <a:r>
              <a:rPr sz="1500" b="0" i="0">
                <a:solidFill>
                  <a:srgbClr val="16181D"/>
                </a:solidFill>
                <a:latin typeface="Calibri"/>
              </a:rPr>
              <a:t> · matrices are nested lists: </a:t>
            </a:r>
            <a:r>
              <a:rPr sz="1300" b="0" i="0">
                <a:solidFill>
                  <a:srgbClr val="16181D"/>
                </a:solidFill>
                <a:latin typeface="Consolas"/>
              </a:rPr>
              <a:t>m[row][col]</a:t>
            </a:r>
            <a:r>
              <a:rPr sz="1500" b="0" i="0">
                <a:solidFill>
                  <a:srgbClr val="16181D"/>
                </a:solidFill>
                <a:latin typeface="Calibri"/>
              </a:rPr>
              <a:t>.</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lists.py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852" b="0" i="0">
                <a:solidFill>
                  <a:srgbClr val="E5E7EB"/>
                </a:solidFill>
                <a:latin typeface="Consolas"/>
              </a:rPr>
              <a:t>nums = [4, 9, 15, 16, 23, 42, 99]</a:t>
            </a:r>
          </a:p>
          <a:p>
            <a:pPr>
              <a:lnSpc>
                <a:spcPct val="100000"/>
              </a:lnSpc>
              <a:spcBef>
                <a:spcPts val="0"/>
              </a:spcBef>
              <a:spcAft>
                <a:spcPts val="60"/>
              </a:spcAft>
            </a:pPr>
            <a:r>
              <a:rPr sz="852" b="0" i="0">
                <a:solidFill>
                  <a:srgbClr val="E5E7EB"/>
                </a:solidFill>
                <a:latin typeface="Consolas"/>
              </a:rPr>
              <a:t>print(len(nums), 15 in nums, nums[1:3])</a:t>
            </a:r>
          </a:p>
          <a:p>
            <a:pPr>
              <a:lnSpc>
                <a:spcPct val="100000"/>
              </a:lnSpc>
              <a:spcBef>
                <a:spcPts val="0"/>
              </a:spcBef>
              <a:spcAft>
                <a:spcPts val="60"/>
              </a:spcAft>
            </a:pPr>
            <a:r>
              <a:rPr sz="852" b="0" i="0">
                <a:solidFill>
                  <a:srgbClr val="E5E7EB"/>
                </a:solidFill>
                <a:latin typeface="Consolas"/>
              </a:rPr>
              <a:t>a = [1, 2, 3]</a:t>
            </a:r>
          </a:p>
          <a:p>
            <a:pPr>
              <a:lnSpc>
                <a:spcPct val="100000"/>
              </a:lnSpc>
              <a:spcBef>
                <a:spcPts val="0"/>
              </a:spcBef>
              <a:spcAft>
                <a:spcPts val="60"/>
              </a:spcAft>
            </a:pPr>
            <a:r>
              <a:rPr sz="852" b="0" i="0">
                <a:solidFill>
                  <a:srgbClr val="E5E7EB"/>
                </a:solidFill>
                <a:latin typeface="Consolas"/>
              </a:rPr>
              <a:t>b = a                              # one list, two names</a:t>
            </a:r>
          </a:p>
          <a:p>
            <a:pPr>
              <a:lnSpc>
                <a:spcPct val="100000"/>
              </a:lnSpc>
              <a:spcBef>
                <a:spcPts val="0"/>
              </a:spcBef>
              <a:spcAft>
                <a:spcPts val="60"/>
              </a:spcAft>
            </a:pPr>
            <a:r>
              <a:rPr sz="852" b="0" i="0">
                <a:solidFill>
                  <a:srgbClr val="E5E7EB"/>
                </a:solidFill>
                <a:latin typeface="Consolas"/>
              </a:rPr>
              <a:t>b.append(4)                        # a sees it: True</a:t>
            </a:r>
          </a:p>
          <a:p>
            <a:pPr>
              <a:lnSpc>
                <a:spcPct val="100000"/>
              </a:lnSpc>
              <a:spcBef>
                <a:spcPts val="0"/>
              </a:spcBef>
              <a:spcAft>
                <a:spcPts val="60"/>
              </a:spcAft>
            </a:pPr>
            <a:r>
              <a:rPr sz="852" b="0" i="0">
                <a:solidFill>
                  <a:srgbClr val="E5E7EB"/>
                </a:solidFill>
                <a:latin typeface="Consolas"/>
              </a:rPr>
              <a:t>c = a[:]                           # clone: independent</a:t>
            </a:r>
          </a:p>
          <a:p>
            <a:pPr>
              <a:lnSpc>
                <a:spcPct val="100000"/>
              </a:lnSpc>
              <a:spcBef>
                <a:spcPts val="0"/>
              </a:spcBef>
              <a:spcAft>
                <a:spcPts val="60"/>
              </a:spcAft>
            </a:pPr>
            <a:r>
              <a:rPr sz="852" b="0" i="0">
                <a:solidFill>
                  <a:srgbClr val="E5E7EB"/>
                </a:solidFill>
                <a:latin typeface="Consolas"/>
              </a:rPr>
              <a:t>c.remove(4)</a:t>
            </a:r>
          </a:p>
          <a:p>
            <a:pPr>
              <a:lnSpc>
                <a:spcPct val="100000"/>
              </a:lnSpc>
              <a:spcBef>
                <a:spcPts val="0"/>
              </a:spcBef>
              <a:spcAft>
                <a:spcPts val="60"/>
              </a:spcAft>
            </a:pPr>
            <a:r>
              <a:rPr sz="852" b="0" i="0">
                <a:solidFill>
                  <a:srgbClr val="E5E7EB"/>
                </a:solidFill>
                <a:latin typeface="Consolas"/>
              </a:rPr>
              <a:t>print(a.sort())                    # None!  (modifier)</a:t>
            </a:r>
          </a:p>
          <a:p>
            <a:pPr>
              <a:lnSpc>
                <a:spcPct val="100000"/>
              </a:lnSpc>
              <a:spcBef>
                <a:spcPts val="0"/>
              </a:spcBef>
              <a:spcAft>
                <a:spcPts val="60"/>
              </a:spcAft>
            </a:pPr>
            <a:r>
              <a:rPr sz="852" b="0" i="0">
                <a:solidFill>
                  <a:srgbClr val="E5E7EB"/>
                </a:solidFill>
                <a:latin typeface="Consolas"/>
              </a:rPr>
              <a:t>print(sorted(a))                   # pure twin:  [1, 2, 3, 4]</a:t>
            </a:r>
          </a:p>
          <a:p>
            <a:pPr>
              <a:lnSpc>
                <a:spcPct val="100000"/>
              </a:lnSpc>
              <a:spcBef>
                <a:spcPts val="0"/>
              </a:spcBef>
              <a:spcAft>
                <a:spcPts val="60"/>
              </a:spcAft>
            </a:pPr>
            <a:r>
              <a:rPr sz="852" b="0" i="0">
                <a:solidFill>
                  <a:srgbClr val="E5E7EB"/>
                </a:solidFill>
                <a:latin typeface="Consolas"/>
              </a:rPr>
              <a:t>m = [[1, 2], [3, 4]]               # matrix</a:t>
            </a:r>
          </a:p>
          <a:p>
            <a:pPr>
              <a:lnSpc>
                <a:spcPct val="100000"/>
              </a:lnSpc>
              <a:spcBef>
                <a:spcPts val="0"/>
              </a:spcBef>
              <a:spcAft>
                <a:spcPts val="60"/>
              </a:spcAft>
            </a:pPr>
            <a:r>
              <a:rPr sz="852" b="0" i="0">
                <a:solidFill>
                  <a:srgbClr val="E5E7EB"/>
                </a:solidFill>
                <a:latin typeface="Consolas"/>
              </a:rPr>
              <a:t>print(m[0][1] + m[1][0])           # 5  (diagonal)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Worked Demo — m02.py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15</a:t>
            </a:r>
          </a:p>
        </p:txBody>
      </p:sp>
      <p:sp>
        <p:nvSpPr>
          <p:cNvPr id="8" name="Rectangle 7"/>
          <p:cNvSpPr/>
          <p:nvPr/>
        </p:nvSpPr>
        <p:spPr>
          <a:xfrm>
            <a:off x="502920" y="1572768"/>
            <a:ext cx="598932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9893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69671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m02.py</a:t>
            </a:r>
          </a:p>
        </p:txBody>
      </p:sp>
      <p:sp>
        <p:nvSpPr>
          <p:cNvPr id="11" name="TextBox 10"/>
          <p:cNvSpPr txBox="1"/>
          <p:nvPr/>
        </p:nvSpPr>
        <p:spPr>
          <a:xfrm>
            <a:off x="667512" y="1975104"/>
            <a:ext cx="5678424" cy="4325112"/>
          </a:xfrm>
          <a:prstGeom prst="rect">
            <a:avLst/>
          </a:prstGeom>
          <a:noFill/>
        </p:spPr>
        <p:txBody>
          <a:bodyPr wrap="none" anchor="t" lIns="0" rIns="0" tIns="0" bIns="0">
            <a:spAutoFit/>
          </a:bodyPr>
          <a:lstStyle/>
          <a:p>
            <a:pPr>
              <a:lnSpc>
                <a:spcPct val="100000"/>
              </a:lnSpc>
              <a:spcBef>
                <a:spcPts val="0"/>
              </a:spcBef>
              <a:spcAft>
                <a:spcPts val="60"/>
              </a:spcAft>
            </a:pPr>
            <a:r>
              <a:rPr sz="917" b="0" i="0">
                <a:solidFill>
                  <a:srgbClr val="E5E7EB"/>
                </a:solidFill>
                <a:latin typeface="Consolas"/>
              </a:rPr>
              <a:t># Module 2 demo -- strings, tuples, lists</a:t>
            </a:r>
          </a:p>
          <a:p>
            <a:pPr>
              <a:lnSpc>
                <a:spcPct val="100000"/>
              </a:lnSpc>
              <a:spcBef>
                <a:spcPts val="0"/>
              </a:spcBef>
              <a:spcAft>
                <a:spcPts val="60"/>
              </a:spcAft>
            </a:pPr>
            <a:r>
              <a:rPr sz="917" b="0" i="0">
                <a:solidFill>
                  <a:srgbClr val="E5E7EB"/>
                </a:solidFill>
                <a:latin typeface="Consolas"/>
              </a:rPr>
              <a:t># Run   : python3 m02.py</a:t>
            </a:r>
          </a:p>
          <a:p>
            <a:pPr>
              <a:lnSpc>
                <a:spcPct val="100000"/>
              </a:lnSpc>
              <a:spcBef>
                <a:spcPts val="0"/>
              </a:spcBef>
              <a:spcAft>
                <a:spcPts val="60"/>
              </a:spcAft>
            </a:pPr>
            <a:r>
              <a:rPr sz="917" b="0" i="0">
                <a:solidFill>
                  <a:srgbClr val="E5E7EB"/>
                </a:solidFill>
                <a:latin typeface="Consolas"/>
              </a:rPr>
              <a:t> </a:t>
            </a:r>
          </a:p>
          <a:p>
            <a:pPr>
              <a:lnSpc>
                <a:spcPct val="100000"/>
              </a:lnSpc>
              <a:spcBef>
                <a:spcPts val="0"/>
              </a:spcBef>
              <a:spcAft>
                <a:spcPts val="60"/>
              </a:spcAft>
            </a:pPr>
            <a:r>
              <a:rPr sz="917" b="0" i="0">
                <a:solidFill>
                  <a:srgbClr val="E5E7EB"/>
                </a:solidFill>
                <a:latin typeface="Consolas"/>
              </a:rPr>
              <a:t>word = "  Python-Lab-2026  "</a:t>
            </a:r>
          </a:p>
          <a:p>
            <a:pPr>
              <a:lnSpc>
                <a:spcPct val="100000"/>
              </a:lnSpc>
              <a:spcBef>
                <a:spcPts val="0"/>
              </a:spcBef>
              <a:spcAft>
                <a:spcPts val="60"/>
              </a:spcAft>
            </a:pPr>
            <a:r>
              <a:rPr sz="917" b="0" i="0">
                <a:solidFill>
                  <a:srgbClr val="E5E7EB"/>
                </a:solidFill>
                <a:latin typeface="Consolas"/>
              </a:rPr>
              <a:t>clean = word.strip()</a:t>
            </a:r>
          </a:p>
          <a:p>
            <a:pPr>
              <a:lnSpc>
                <a:spcPct val="100000"/>
              </a:lnSpc>
              <a:spcBef>
                <a:spcPts val="0"/>
              </a:spcBef>
              <a:spcAft>
                <a:spcPts val="60"/>
              </a:spcAft>
            </a:pPr>
            <a:r>
              <a:rPr sz="917" b="0" i="0">
                <a:solidFill>
                  <a:srgbClr val="E5E7EB"/>
                </a:solidFill>
                <a:latin typeface="Consolas"/>
              </a:rPr>
              <a:t>print("strip()      -&gt;", repr(clean))</a:t>
            </a:r>
          </a:p>
          <a:p>
            <a:pPr>
              <a:lnSpc>
                <a:spcPct val="100000"/>
              </a:lnSpc>
              <a:spcBef>
                <a:spcPts val="0"/>
              </a:spcBef>
              <a:spcAft>
                <a:spcPts val="60"/>
              </a:spcAft>
            </a:pPr>
            <a:r>
              <a:rPr sz="917" b="0" i="0">
                <a:solidFill>
                  <a:srgbClr val="E5E7EB"/>
                </a:solidFill>
                <a:latin typeface="Consolas"/>
              </a:rPr>
              <a:t>parts = clean.split("-")</a:t>
            </a:r>
          </a:p>
          <a:p>
            <a:pPr>
              <a:lnSpc>
                <a:spcPct val="100000"/>
              </a:lnSpc>
              <a:spcBef>
                <a:spcPts val="0"/>
              </a:spcBef>
              <a:spcAft>
                <a:spcPts val="60"/>
              </a:spcAft>
            </a:pPr>
            <a:r>
              <a:rPr sz="917" b="0" i="0">
                <a:solidFill>
                  <a:srgbClr val="E5E7EB"/>
                </a:solidFill>
                <a:latin typeface="Consolas"/>
              </a:rPr>
              <a:t>print("split('-')   -&gt;", parts)</a:t>
            </a:r>
          </a:p>
          <a:p>
            <a:pPr>
              <a:lnSpc>
                <a:spcPct val="100000"/>
              </a:lnSpc>
              <a:spcBef>
                <a:spcPts val="0"/>
              </a:spcBef>
              <a:spcAft>
                <a:spcPts val="60"/>
              </a:spcAft>
            </a:pPr>
            <a:r>
              <a:rPr sz="917" b="0" i="0">
                <a:solidFill>
                  <a:srgbClr val="E5E7EB"/>
                </a:solidFill>
                <a:latin typeface="Consolas"/>
              </a:rPr>
              <a:t>print("format       -&gt; {} has {} parts".format(clean, len(parts)))</a:t>
            </a:r>
          </a:p>
          <a:p>
            <a:pPr>
              <a:lnSpc>
                <a:spcPct val="100000"/>
              </a:lnSpc>
              <a:spcBef>
                <a:spcPts val="0"/>
              </a:spcBef>
              <a:spcAft>
                <a:spcPts val="60"/>
              </a:spcAft>
            </a:pPr>
            <a:r>
              <a:rPr sz="917" b="0" i="0">
                <a:solidFill>
                  <a:srgbClr val="E5E7EB"/>
                </a:solidFill>
                <a:latin typeface="Consolas"/>
              </a:rPr>
              <a:t>print("slice/upper  -&gt;", clean[:6].upper(), "| reversed:", clean[::-1])</a:t>
            </a:r>
          </a:p>
          <a:p>
            <a:pPr>
              <a:lnSpc>
                <a:spcPct val="100000"/>
              </a:lnSpc>
              <a:spcBef>
                <a:spcPts val="0"/>
              </a:spcBef>
              <a:spcAft>
                <a:spcPts val="60"/>
              </a:spcAft>
            </a:pPr>
            <a:r>
              <a:rPr sz="917" b="0" i="0">
                <a:solidFill>
                  <a:srgbClr val="E5E7EB"/>
                </a:solidFill>
                <a:latin typeface="Consolas"/>
              </a:rPr>
              <a:t>print('"Py" in clean:', "Py" in clean, '| "x" not in clean:', "x" not in clean)</a:t>
            </a:r>
          </a:p>
          <a:p>
            <a:pPr>
              <a:lnSpc>
                <a:spcPct val="100000"/>
              </a:lnSpc>
              <a:spcBef>
                <a:spcPts val="0"/>
              </a:spcBef>
              <a:spcAft>
                <a:spcPts val="60"/>
              </a:spcAft>
            </a:pPr>
            <a:r>
              <a:rPr sz="917" b="0" i="0">
                <a:solidFill>
                  <a:srgbClr val="E5E7EB"/>
                </a:solidFill>
                <a:latin typeface="Consolas"/>
              </a:rPr>
              <a:t> </a:t>
            </a:r>
          </a:p>
          <a:p>
            <a:pPr>
              <a:lnSpc>
                <a:spcPct val="100000"/>
              </a:lnSpc>
              <a:spcBef>
                <a:spcPts val="0"/>
              </a:spcBef>
              <a:spcAft>
                <a:spcPts val="60"/>
              </a:spcAft>
            </a:pPr>
            <a:r>
              <a:rPr sz="917" b="0" i="0">
                <a:solidFill>
                  <a:srgbClr val="E5E7EB"/>
                </a:solidFill>
                <a:latin typeface="Consolas"/>
              </a:rPr>
              <a:t>try:</a:t>
            </a:r>
          </a:p>
          <a:p>
            <a:pPr>
              <a:lnSpc>
                <a:spcPct val="100000"/>
              </a:lnSpc>
              <a:spcBef>
                <a:spcPts val="0"/>
              </a:spcBef>
              <a:spcAft>
                <a:spcPts val="60"/>
              </a:spcAft>
            </a:pPr>
            <a:r>
              <a:rPr sz="917" b="0" i="0">
                <a:solidFill>
                  <a:srgbClr val="E5E7EB"/>
                </a:solidFill>
                <a:latin typeface="Consolas"/>
              </a:rPr>
              <a:t>    clean[0] = "J"                        # strings are immutable</a:t>
            </a:r>
          </a:p>
          <a:p>
            <a:pPr>
              <a:lnSpc>
                <a:spcPct val="100000"/>
              </a:lnSpc>
              <a:spcBef>
                <a:spcPts val="0"/>
              </a:spcBef>
              <a:spcAft>
                <a:spcPts val="60"/>
              </a:spcAft>
            </a:pPr>
            <a:r>
              <a:rPr sz="917" b="0" i="0">
                <a:solidFill>
                  <a:srgbClr val="E5E7EB"/>
                </a:solidFill>
                <a:latin typeface="Consolas"/>
              </a:rPr>
              <a:t>  …  (complete source in the course book, §2.2)</a:t>
            </a:r>
          </a:p>
        </p:txBody>
      </p:sp>
      <p:sp>
        <p:nvSpPr>
          <p:cNvPr id="12" name="Rectangle 11"/>
          <p:cNvSpPr/>
          <p:nvPr/>
        </p:nvSpPr>
        <p:spPr>
          <a:xfrm>
            <a:off x="6812280" y="1572768"/>
            <a:ext cx="489204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1664208"/>
            <a:ext cx="461772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SESSION — python3 m02.py</a:t>
            </a:r>
          </a:p>
        </p:txBody>
      </p:sp>
      <p:sp>
        <p:nvSpPr>
          <p:cNvPr id="14" name="TextBox 13"/>
          <p:cNvSpPr txBox="1"/>
          <p:nvPr/>
        </p:nvSpPr>
        <p:spPr>
          <a:xfrm>
            <a:off x="6958584" y="1938528"/>
            <a:ext cx="4617720" cy="4343400"/>
          </a:xfrm>
          <a:prstGeom prst="rect">
            <a:avLst/>
          </a:prstGeom>
          <a:noFill/>
        </p:spPr>
        <p:txBody>
          <a:bodyPr wrap="none" anchor="t" lIns="0" rIns="0" tIns="0" bIns="0">
            <a:spAutoFit/>
          </a:bodyPr>
          <a:lstStyle/>
          <a:p>
            <a:pPr>
              <a:lnSpc>
                <a:spcPct val="100000"/>
              </a:lnSpc>
              <a:spcBef>
                <a:spcPts val="0"/>
              </a:spcBef>
              <a:spcAft>
                <a:spcPts val="60"/>
              </a:spcAft>
            </a:pPr>
            <a:r>
              <a:rPr sz="965" b="0" i="0">
                <a:solidFill>
                  <a:srgbClr val="14171C"/>
                </a:solidFill>
                <a:latin typeface="Consolas"/>
              </a:rPr>
              <a:t>strip()      -&gt; 'Python-Lab-2026'</a:t>
            </a:r>
          </a:p>
          <a:p>
            <a:pPr>
              <a:lnSpc>
                <a:spcPct val="100000"/>
              </a:lnSpc>
              <a:spcBef>
                <a:spcPts val="0"/>
              </a:spcBef>
              <a:spcAft>
                <a:spcPts val="60"/>
              </a:spcAft>
            </a:pPr>
            <a:r>
              <a:rPr sz="965" b="0" i="0">
                <a:solidFill>
                  <a:srgbClr val="14171C"/>
                </a:solidFill>
                <a:latin typeface="Consolas"/>
              </a:rPr>
              <a:t>split('-')   -&gt; ['Python', 'Lab', '2026']</a:t>
            </a:r>
          </a:p>
          <a:p>
            <a:pPr>
              <a:lnSpc>
                <a:spcPct val="100000"/>
              </a:lnSpc>
              <a:spcBef>
                <a:spcPts val="0"/>
              </a:spcBef>
              <a:spcAft>
                <a:spcPts val="60"/>
              </a:spcAft>
            </a:pPr>
            <a:r>
              <a:rPr sz="965" b="0" i="0">
                <a:solidFill>
                  <a:srgbClr val="14171C"/>
                </a:solidFill>
                <a:latin typeface="Consolas"/>
              </a:rPr>
              <a:t>format       -&gt; Python-Lab-2026 has 3 parts</a:t>
            </a:r>
          </a:p>
          <a:p>
            <a:pPr>
              <a:lnSpc>
                <a:spcPct val="100000"/>
              </a:lnSpc>
              <a:spcBef>
                <a:spcPts val="0"/>
              </a:spcBef>
              <a:spcAft>
                <a:spcPts val="60"/>
              </a:spcAft>
            </a:pPr>
            <a:r>
              <a:rPr sz="965" b="0" i="0">
                <a:solidFill>
                  <a:srgbClr val="14171C"/>
                </a:solidFill>
                <a:latin typeface="Consolas"/>
              </a:rPr>
              <a:t>slice/upper  -&gt; PYTHON | reversed: 6202-baL-nohtyP</a:t>
            </a:r>
          </a:p>
          <a:p>
            <a:pPr>
              <a:lnSpc>
                <a:spcPct val="100000"/>
              </a:lnSpc>
              <a:spcBef>
                <a:spcPts val="0"/>
              </a:spcBef>
              <a:spcAft>
                <a:spcPts val="60"/>
              </a:spcAft>
            </a:pPr>
            <a:r>
              <a:rPr sz="965" b="0" i="0">
                <a:solidFill>
                  <a:srgbClr val="14171C"/>
                </a:solidFill>
                <a:latin typeface="Consolas"/>
              </a:rPr>
              <a:t>"Py" in clean: True | "x" not in clean: True</a:t>
            </a:r>
          </a:p>
          <a:p>
            <a:pPr>
              <a:lnSpc>
                <a:spcPct val="100000"/>
              </a:lnSpc>
              <a:spcBef>
                <a:spcPts val="0"/>
              </a:spcBef>
              <a:spcAft>
                <a:spcPts val="60"/>
              </a:spcAft>
            </a:pPr>
            <a:r>
              <a:rPr sz="965" b="0" i="0">
                <a:solidFill>
                  <a:srgbClr val="14171C"/>
                </a:solidFill>
                <a:latin typeface="Consolas"/>
              </a:rPr>
              <a:t>immutable    -&gt; 'str' object does not support item assignment</a:t>
            </a:r>
          </a:p>
          <a:p>
            <a:pPr>
              <a:lnSpc>
                <a:spcPct val="100000"/>
              </a:lnSpc>
              <a:spcBef>
                <a:spcPts val="0"/>
              </a:spcBef>
              <a:spcAft>
                <a:spcPts val="60"/>
              </a:spcAft>
            </a:pPr>
            <a:r>
              <a:rPr sz="965" b="0" i="0">
                <a:solidFill>
                  <a:srgbClr val="14171C"/>
                </a:solidFill>
                <a:latin typeface="Consolas"/>
              </a:rPr>
              <a:t> </a:t>
            </a:r>
          </a:p>
          <a:p>
            <a:pPr>
              <a:lnSpc>
                <a:spcPct val="100000"/>
              </a:lnSpc>
              <a:spcBef>
                <a:spcPts val="0"/>
              </a:spcBef>
              <a:spcAft>
                <a:spcPts val="60"/>
              </a:spcAft>
            </a:pPr>
            <a:r>
              <a:rPr sz="965" b="0" i="0">
                <a:solidFill>
                  <a:srgbClr val="14171C"/>
                </a:solidFill>
                <a:latin typeface="Consolas"/>
              </a:rPr>
              <a:t>tuple unpack: 10 20 | swap works: True</a:t>
            </a:r>
          </a:p>
          <a:p>
            <a:pPr>
              <a:lnSpc>
                <a:spcPct val="100000"/>
              </a:lnSpc>
              <a:spcBef>
                <a:spcPts val="0"/>
              </a:spcBef>
              <a:spcAft>
                <a:spcPts val="60"/>
              </a:spcAft>
            </a:pPr>
            <a:r>
              <a:rPr sz="965" b="0" i="0">
                <a:solidFill>
                  <a:srgbClr val="14171C"/>
                </a:solidFill>
                <a:latin typeface="Consolas"/>
              </a:rPr>
              <a:t>list mutable : [4, 9, 15, 16, 23, 42, 99]</a:t>
            </a:r>
          </a:p>
          <a:p>
            <a:pPr>
              <a:lnSpc>
                <a:spcPct val="100000"/>
              </a:lnSpc>
              <a:spcBef>
                <a:spcPts val="0"/>
              </a:spcBef>
              <a:spcAft>
                <a:spcPts val="60"/>
              </a:spcAft>
            </a:pPr>
            <a:r>
              <a:rPr sz="965" b="0" i="0">
                <a:solidFill>
                  <a:srgbClr val="14171C"/>
                </a:solidFill>
                <a:latin typeface="Consolas"/>
              </a:rPr>
              <a:t>len: 7 | 15 in nums: True</a:t>
            </a:r>
          </a:p>
          <a:p>
            <a:pPr>
              <a:lnSpc>
                <a:spcPct val="100000"/>
              </a:lnSpc>
              <a:spcBef>
                <a:spcPts val="0"/>
              </a:spcBef>
              <a:spcAft>
                <a:spcPts val="60"/>
              </a:spcAft>
            </a:pPr>
            <a:r>
              <a:rPr sz="965" b="0" i="0">
                <a:solidFill>
                  <a:srgbClr val="14171C"/>
                </a:solidFill>
                <a:latin typeface="Consolas"/>
              </a:rPr>
              <a:t>slice param  : [4, 9]</a:t>
            </a:r>
          </a:p>
          <a:p>
            <a:pPr>
              <a:lnSpc>
                <a:spcPct val="100000"/>
              </a:lnSpc>
              <a:spcBef>
                <a:spcPts val="0"/>
              </a:spcBef>
              <a:spcAft>
                <a:spcPts val="60"/>
              </a:spcAft>
            </a:pPr>
            <a:r>
              <a:rPr sz="965" b="0" i="0">
                <a:solidFill>
                  <a:srgbClr val="14171C"/>
                </a:solidFill>
                <a:latin typeface="Consolas"/>
              </a:rPr>
              <a:t>nested sum   : 5 (diagonal 1 + 4)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2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16</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Q1.  </a:t>
            </a:r>
            <a:r>
              <a:rPr sz="1500" b="0" i="0">
                <a:solidFill>
                  <a:srgbClr val="16181D"/>
                </a:solidFill>
                <a:latin typeface="Calibri"/>
              </a:rPr>
              <a:t>Give the two reasons a slice never creates an alias, but b = a does.</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Q2.  </a:t>
            </a:r>
            <a:r>
              <a:rPr sz="1500" b="0" i="0">
                <a:solidFill>
                  <a:srgbClr val="16181D"/>
                </a:solidFill>
                <a:latin typeface="Calibri"/>
              </a:rPr>
              <a:t>What does "Python"[:3] + "Python"[3:] == "Python" evaluate to, and which string property does it celebrate?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Q3.  </a:t>
            </a:r>
            <a:r>
              <a:rPr sz="1500" b="0" i="0">
                <a:solidFill>
                  <a:srgbClr val="16181D"/>
                </a:solidFill>
                <a:latin typeface="Calibri"/>
              </a:rPr>
              <a:t>Write count_char(s, ch) twice: with a hand-written find loop, and with s.count(ch). Explain the −1 convention.</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Q4.  </a:t>
            </a:r>
            <a:r>
              <a:rPr sz="1500" b="0" i="0">
                <a:solidFill>
                  <a:srgbClr val="16181D"/>
                </a:solidFill>
                <a:latin typeface="Calibri"/>
              </a:rPr>
              <a:t>Why does nums.sort() return None? What class of mistake is x = nums.sort()?</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Q5.  </a:t>
            </a:r>
            <a:r>
              <a:rPr sz="1500" b="0" i="0">
                <a:solidFill>
                  <a:srgbClr val="16181D"/>
                </a:solidFill>
                <a:latin typeface="Calibri"/>
              </a:rPr>
              <a:t>Explain tuple assignment as the mechanism behind a, b = b, a, and why a function would return a tuple.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Q6.  </a:t>
            </a:r>
            <a:r>
              <a:rPr sz="1500" b="0" i="0">
                <a:solidFill>
                  <a:srgbClr val="16181D"/>
                </a:solidFill>
                <a:latin typeface="Calibri"/>
              </a:rPr>
              <a:t>How is a 3×3 matrix represented as a nested list? Write the expression for its trace.</a:t>
            </a:r>
          </a:p>
        </p:txBody>
      </p:sp>
      <p:sp>
        <p:nvSpPr>
          <p:cNvPr id="9" name="TextBox 8"/>
          <p:cNvSpPr txBox="1"/>
          <p:nvPr/>
        </p:nvSpPr>
        <p:spPr>
          <a:xfrm>
            <a:off x="502920" y="6035040"/>
            <a:ext cx="11155680" cy="36576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Model answers: course book §2.5 · these are also IA-test-shaped practice.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3 — Dictionaries, NumPy and File Handling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17</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CO3 + CO4 (primary) · CO2 supporting</a:t>
            </a:r>
            <a:r>
              <a:rPr sz="1350" b="0" i="0">
                <a:solidFill>
                  <a:srgbClr val="4B5563"/>
                </a:solidFill>
                <a:latin typeface="Calibri"/>
              </a:rPr>
              <a:t>    ·    8 lecture hours · supports Lab Experiments 4, 6, 9, 10, 12</a:t>
            </a:r>
            <a:r>
              <a:rPr sz="1250" b="0" i="0">
                <a:solidFill>
                  <a:srgbClr val="4B5563"/>
                </a:solidFill>
                <a:latin typeface="Calibri"/>
              </a:rPr>
              <a:t>    ·    textbook 5.4 (dicts), 6.1–6.5 (files/web); NumPy sections 7.1–7.8</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Dictionaries — operations, methods, aliasing and copying</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NumPy — ndarray, shape, slicing, masking, broadcasting, dtype</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Files — open/write, line-at-a-time, file→list of lines, read-all</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Binary files, directories, fetching from the Web</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MODULE-3 SYLLABUS (VERBATIM)</a:t>
            </a:r>
          </a:p>
          <a:p>
            <a:pPr>
              <a:lnSpc>
                <a:spcPct val="108000"/>
              </a:lnSpc>
              <a:spcBef>
                <a:spcPts val="0"/>
              </a:spcBef>
              <a:spcAft>
                <a:spcPts val="0"/>
              </a:spcAft>
            </a:pPr>
            <a:r>
              <a:rPr sz="1100" b="0" i="0">
                <a:solidFill>
                  <a:srgbClr val="16181D"/>
                </a:solidFill>
                <a:latin typeface="Calibri"/>
              </a:rPr>
              <a:t>Dictionaries: Dictionary operations, dictionary methods, aliasing and copying. Numpy: About, Shape, Slicing, masking, Broadcasting, dtype. Files: About files, writing our first file, reading a file line-at-a-time, turning a file into a list of lines, Reading the whole file at once, working with binary files, Directories, fetching something from the Web. Chapter: 5.4, 6.1-6.5, 7.1-7.8 · Number of Hours: 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Dictionaries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18</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key → value map; any hashable key. </a:t>
            </a:r>
            <a:r>
              <a:rPr sz="1300" b="0" i="0">
                <a:solidFill>
                  <a:srgbClr val="16181D"/>
                </a:solidFill>
                <a:latin typeface="Consolas"/>
              </a:rPr>
              <a:t>d[k]=v · del d[k] · k in d · len(d)</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get(k, default)</a:t>
            </a:r>
            <a:r>
              <a:rPr sz="1500" b="0" i="0">
                <a:solidFill>
                  <a:srgbClr val="16181D"/>
                </a:solidFill>
                <a:latin typeface="Calibri"/>
              </a:rPr>
              <a:t> is the graceful lookup; </a:t>
            </a:r>
            <a:r>
              <a:rPr sz="1300" b="0" i="0">
                <a:solidFill>
                  <a:srgbClr val="16181D"/>
                </a:solidFill>
                <a:latin typeface="Consolas"/>
              </a:rPr>
              <a:t>keys() values() items()</a:t>
            </a:r>
            <a:r>
              <a:rPr sz="1500" b="0" i="0">
                <a:solidFill>
                  <a:srgbClr val="16181D"/>
                </a:solidFill>
                <a:latin typeface="Calibri"/>
              </a:rPr>
              <a:t> traverse.</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The counting idiom</a:t>
            </a:r>
            <a:r>
              <a:rPr sz="1500" b="0" i="0">
                <a:solidFill>
                  <a:srgbClr val="16181D"/>
                </a:solidFill>
                <a:latin typeface="Calibri"/>
              </a:rPr>
              <a:t> (labs 3b/4/9 run on this): </a:t>
            </a:r>
            <a:r>
              <a:rPr sz="1300" b="0" i="0">
                <a:solidFill>
                  <a:srgbClr val="B3261E"/>
                </a:solidFill>
                <a:latin typeface="Consolas"/>
              </a:rPr>
              <a:t>freq[w] = freq.get(w, 0) + 1</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alias vs copy: </a:t>
            </a:r>
            <a:r>
              <a:rPr sz="1300" b="0" i="0">
                <a:solidFill>
                  <a:srgbClr val="16181D"/>
                </a:solidFill>
                <a:latin typeface="Consolas"/>
              </a:rPr>
              <a:t>b = a</a:t>
            </a:r>
            <a:r>
              <a:rPr sz="1500" b="0" i="0">
                <a:solidFill>
                  <a:srgbClr val="16181D"/>
                </a:solidFill>
                <a:latin typeface="Calibri"/>
              </a:rPr>
              <a:t> shares storage · </a:t>
            </a:r>
            <a:r>
              <a:rPr sz="1300" b="0" i="0">
                <a:solidFill>
                  <a:srgbClr val="16181D"/>
                </a:solidFill>
                <a:latin typeface="Consolas"/>
              </a:rPr>
              <a:t>b = a.copy()</a:t>
            </a:r>
            <a:r>
              <a:rPr sz="1500" b="0" i="0">
                <a:solidFill>
                  <a:srgbClr val="16181D"/>
                </a:solidFill>
                <a:latin typeface="Calibri"/>
              </a:rPr>
              <a:t> separates the top level only.</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Rank by value: </a:t>
            </a:r>
            <a:r>
              <a:rPr sz="1300" b="0" i="0">
                <a:solidFill>
                  <a:srgbClr val="16181D"/>
                </a:solidFill>
                <a:latin typeface="Consolas"/>
              </a:rPr>
              <a:t>sorted(d.items(), key=lambda kv: (-kv[1], kv[0]))</a:t>
            </a:r>
            <a:r>
              <a:rPr sz="1500" b="0" i="0">
                <a:solidFill>
                  <a:srgbClr val="16181D"/>
                </a:solidFill>
                <a:latin typeface="Calibri"/>
              </a:rPr>
              <a:t> then slice </a:t>
            </a:r>
            <a:r>
              <a:rPr sz="1300" b="0" i="0">
                <a:solidFill>
                  <a:srgbClr val="16181D"/>
                </a:solidFill>
                <a:latin typeface="Consolas"/>
              </a:rPr>
              <a:t>[:10]</a:t>
            </a:r>
            <a:r>
              <a:rPr sz="1500" b="0" i="0">
                <a:solidFill>
                  <a:srgbClr val="16181D"/>
                </a:solidFill>
                <a:latin typeface="Calibri"/>
              </a:rPr>
              <a:t>.</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dicts.py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1105" b="0" i="0">
                <a:solidFill>
                  <a:srgbClr val="E5E7EB"/>
                </a:solidFill>
                <a:latin typeface="Consolas"/>
              </a:rPr>
              <a:t>freq = {}</a:t>
            </a:r>
          </a:p>
          <a:p>
            <a:pPr>
              <a:lnSpc>
                <a:spcPct val="100000"/>
              </a:lnSpc>
              <a:spcBef>
                <a:spcPts val="0"/>
              </a:spcBef>
              <a:spcAft>
                <a:spcPts val="60"/>
              </a:spcAft>
            </a:pPr>
            <a:r>
              <a:rPr sz="1105" b="0" i="0">
                <a:solidFill>
                  <a:srgbClr val="E5E7EB"/>
                </a:solidFill>
                <a:latin typeface="Consolas"/>
              </a:rPr>
              <a:t>for word in "banana apple banana".split():</a:t>
            </a:r>
          </a:p>
          <a:p>
            <a:pPr>
              <a:lnSpc>
                <a:spcPct val="100000"/>
              </a:lnSpc>
              <a:spcBef>
                <a:spcPts val="0"/>
              </a:spcBef>
              <a:spcAft>
                <a:spcPts val="60"/>
              </a:spcAft>
            </a:pPr>
            <a:r>
              <a:rPr sz="1105" b="0" i="0">
                <a:solidFill>
                  <a:srgbClr val="E5E7EB"/>
                </a:solidFill>
                <a:latin typeface="Consolas"/>
              </a:rPr>
              <a:t>    freq[word] = freq.get(word, 0) + 1</a:t>
            </a:r>
          </a:p>
          <a:p>
            <a:pPr>
              <a:lnSpc>
                <a:spcPct val="100000"/>
              </a:lnSpc>
              <a:spcBef>
                <a:spcPts val="0"/>
              </a:spcBef>
              <a:spcAft>
                <a:spcPts val="60"/>
              </a:spcAft>
            </a:pPr>
            <a:r>
              <a:rPr sz="1105" b="0" i="0">
                <a:solidFill>
                  <a:srgbClr val="E5E7EB"/>
                </a:solidFill>
                <a:latin typeface="Consolas"/>
              </a:rPr>
              <a:t>print(freq)</a:t>
            </a:r>
          </a:p>
          <a:p>
            <a:pPr>
              <a:lnSpc>
                <a:spcPct val="100000"/>
              </a:lnSpc>
              <a:spcBef>
                <a:spcPts val="0"/>
              </a:spcBef>
              <a:spcAft>
                <a:spcPts val="60"/>
              </a:spcAft>
            </a:pPr>
            <a:r>
              <a:rPr sz="1105" b="0" i="0">
                <a:solidFill>
                  <a:srgbClr val="E5E7EB"/>
                </a:solidFill>
                <a:latin typeface="Consolas"/>
              </a:rPr>
              <a:t># {'banana': 2, 'apple': 1}</a:t>
            </a:r>
          </a:p>
          <a:p>
            <a:pPr>
              <a:lnSpc>
                <a:spcPct val="100000"/>
              </a:lnSpc>
              <a:spcBef>
                <a:spcPts val="0"/>
              </a:spcBef>
              <a:spcAft>
                <a:spcPts val="60"/>
              </a:spcAft>
            </a:pPr>
            <a:r>
              <a:rPr sz="1105" b="0" i="0">
                <a:solidFill>
                  <a:srgbClr val="E5E7EB"/>
                </a:solidFill>
                <a:latin typeface="Consolas"/>
              </a:rPr>
              <a:t> </a:t>
            </a:r>
          </a:p>
          <a:p>
            <a:pPr>
              <a:lnSpc>
                <a:spcPct val="100000"/>
              </a:lnSpc>
              <a:spcBef>
                <a:spcPts val="0"/>
              </a:spcBef>
              <a:spcAft>
                <a:spcPts val="60"/>
              </a:spcAft>
            </a:pPr>
            <a:r>
              <a:rPr sz="1105" b="0" i="0">
                <a:solidFill>
                  <a:srgbClr val="E5E7EB"/>
                </a:solidFill>
                <a:latin typeface="Consolas"/>
              </a:rPr>
              <a:t>ranked = sorted(freq.items(),</a:t>
            </a:r>
          </a:p>
          <a:p>
            <a:pPr>
              <a:lnSpc>
                <a:spcPct val="100000"/>
              </a:lnSpc>
              <a:spcBef>
                <a:spcPts val="0"/>
              </a:spcBef>
              <a:spcAft>
                <a:spcPts val="60"/>
              </a:spcAft>
            </a:pPr>
            <a:r>
              <a:rPr sz="1105" b="0" i="0">
                <a:solidFill>
                  <a:srgbClr val="E5E7EB"/>
                </a:solidFill>
                <a:latin typeface="Consolas"/>
              </a:rPr>
              <a:t>                key=lambda kv: (-kv[1], kv[0]))</a:t>
            </a:r>
          </a:p>
          <a:p>
            <a:pPr>
              <a:lnSpc>
                <a:spcPct val="100000"/>
              </a:lnSpc>
              <a:spcBef>
                <a:spcPts val="0"/>
              </a:spcBef>
              <a:spcAft>
                <a:spcPts val="60"/>
              </a:spcAft>
            </a:pPr>
            <a:r>
              <a:rPr sz="1105" b="0" i="0">
                <a:solidFill>
                  <a:srgbClr val="E5E7EB"/>
                </a:solidFill>
                <a:latin typeface="Consolas"/>
              </a:rPr>
              <a:t>print(ranked[:10])   # Lab 4 in two lines</a:t>
            </a:r>
          </a:p>
          <a:p>
            <a:pPr>
              <a:lnSpc>
                <a:spcPct val="100000"/>
              </a:lnSpc>
              <a:spcBef>
                <a:spcPts val="0"/>
              </a:spcBef>
              <a:spcAft>
                <a:spcPts val="60"/>
              </a:spcAft>
            </a:pPr>
            <a:r>
              <a:rPr sz="1105" b="0" i="0">
                <a:solidFill>
                  <a:srgbClr val="E5E7EB"/>
                </a:solidFill>
                <a:latin typeface="Consolas"/>
              </a:rPr>
              <a:t> </a:t>
            </a:r>
          </a:p>
          <a:p>
            <a:pPr>
              <a:lnSpc>
                <a:spcPct val="100000"/>
              </a:lnSpc>
              <a:spcBef>
                <a:spcPts val="0"/>
              </a:spcBef>
              <a:spcAft>
                <a:spcPts val="60"/>
              </a:spcAft>
            </a:pPr>
            <a:r>
              <a:rPr sz="1105" b="0" i="0">
                <a:solidFill>
                  <a:srgbClr val="E5E7EB"/>
                </a:solidFill>
                <a:latin typeface="Consolas"/>
              </a:rPr>
              <a:t>copy = dict(freq)     # independent top level</a:t>
            </a:r>
          </a:p>
          <a:p>
            <a:pPr>
              <a:lnSpc>
                <a:spcPct val="100000"/>
              </a:lnSpc>
              <a:spcBef>
                <a:spcPts val="0"/>
              </a:spcBef>
              <a:spcAft>
                <a:spcPts val="60"/>
              </a:spcAft>
            </a:pPr>
            <a:r>
              <a:rPr sz="1105" b="0" i="0">
                <a:solidFill>
                  <a:srgbClr val="E5E7EB"/>
                </a:solidFill>
                <a:latin typeface="Consolas"/>
              </a:rPr>
              <a:t>del copy["apple"]     # freq unchanged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NumPy in one slide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19</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One dtype per array, dense memory, whole-array arithmetic — NumPy replaces most hand loops over lists.</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Shape &amp; dtype</a:t>
            </a:r>
            <a:r>
              <a:rPr sz="1500" b="0" i="0">
                <a:solidFill>
                  <a:srgbClr val="16181D"/>
                </a:solidFill>
                <a:latin typeface="Calibri"/>
              </a:rPr>
              <a:t>: </a:t>
            </a:r>
            <a:r>
              <a:rPr sz="1300" b="0" i="0">
                <a:solidFill>
                  <a:srgbClr val="16181D"/>
                </a:solidFill>
                <a:latin typeface="Consolas"/>
              </a:rPr>
              <a:t>a.shape == (2,3) · a.dtype → int64/float64</a:t>
            </a:r>
            <a:r>
              <a:rPr sz="1500" b="0" i="0">
                <a:solidFill>
                  <a:srgbClr val="16181D"/>
                </a:solidFill>
                <a:latin typeface="Calibri"/>
              </a:rPr>
              <a:t> — the difference between halves and truncation.</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Slices are views</a:t>
            </a:r>
            <a:r>
              <a:rPr sz="1500" b="0" i="0">
                <a:solidFill>
                  <a:srgbClr val="16181D"/>
                </a:solidFill>
                <a:latin typeface="Calibri"/>
              </a:rPr>
              <a:t>: </a:t>
            </a:r>
            <a:r>
              <a:rPr sz="1300" b="0" i="0">
                <a:solidFill>
                  <a:srgbClr val="16181D"/>
                </a:solidFill>
                <a:latin typeface="Consolas"/>
              </a:rPr>
              <a:t>a[:,1]</a:t>
            </a:r>
            <a:r>
              <a:rPr sz="1500" b="0" i="0">
                <a:solidFill>
                  <a:srgbClr val="16181D"/>
                </a:solidFill>
                <a:latin typeface="Calibri"/>
              </a:rPr>
              <a:t> writes through to the original. List slices copy; array slices alias — by design.</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Masking: </a:t>
            </a:r>
            <a:r>
              <a:rPr sz="1300" b="0" i="0">
                <a:solidFill>
                  <a:srgbClr val="16181D"/>
                </a:solidFill>
                <a:latin typeface="Consolas"/>
              </a:rPr>
              <a:t>a[a &gt; 3]</a:t>
            </a:r>
            <a:r>
              <a:rPr sz="1500" b="0" i="0">
                <a:solidFill>
                  <a:srgbClr val="16181D"/>
                </a:solidFill>
                <a:latin typeface="Calibri"/>
              </a:rPr>
              <a:t> is the filter that replaces a loop.</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Broadcasting: </a:t>
            </a:r>
            <a:r>
              <a:rPr sz="1300" b="0" i="0">
                <a:solidFill>
                  <a:srgbClr val="16181D"/>
                </a:solidFill>
                <a:latin typeface="Consolas"/>
              </a:rPr>
              <a:t>a + np.array([10,20,30])</a:t>
            </a:r>
            <a:r>
              <a:rPr sz="1500" b="0" i="0">
                <a:solidFill>
                  <a:srgbClr val="16181D"/>
                </a:solidFill>
                <a:latin typeface="Calibri"/>
              </a:rPr>
              <a:t> stretches the (3,) row over every row of a (2,3).</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numpy_demo.py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1019" b="0" i="0">
                <a:solidFill>
                  <a:srgbClr val="E5E7EB"/>
                </a:solidFill>
                <a:latin typeface="Consolas"/>
              </a:rPr>
              <a:t>import numpy as np</a:t>
            </a:r>
          </a:p>
          <a:p>
            <a:pPr>
              <a:lnSpc>
                <a:spcPct val="100000"/>
              </a:lnSpc>
              <a:spcBef>
                <a:spcPts val="0"/>
              </a:spcBef>
              <a:spcAft>
                <a:spcPts val="60"/>
              </a:spcAft>
            </a:pPr>
            <a:r>
              <a:rPr sz="1019" b="0" i="0">
                <a:solidFill>
                  <a:srgbClr val="E5E7EB"/>
                </a:solidFill>
                <a:latin typeface="Consolas"/>
              </a:rPr>
              <a:t>a = np.array([[1, 2, 3],</a:t>
            </a:r>
          </a:p>
          <a:p>
            <a:pPr>
              <a:lnSpc>
                <a:spcPct val="100000"/>
              </a:lnSpc>
              <a:spcBef>
                <a:spcPts val="0"/>
              </a:spcBef>
              <a:spcAft>
                <a:spcPts val="60"/>
              </a:spcAft>
            </a:pPr>
            <a:r>
              <a:rPr sz="1019" b="0" i="0">
                <a:solidFill>
                  <a:srgbClr val="E5E7EB"/>
                </a:solidFill>
                <a:latin typeface="Consolas"/>
              </a:rPr>
              <a:t>              [4, 5, 6]])</a:t>
            </a:r>
          </a:p>
          <a:p>
            <a:pPr>
              <a:lnSpc>
                <a:spcPct val="100000"/>
              </a:lnSpc>
              <a:spcBef>
                <a:spcPts val="0"/>
              </a:spcBef>
              <a:spcAft>
                <a:spcPts val="60"/>
              </a:spcAft>
            </a:pPr>
            <a:r>
              <a:rPr sz="1019" b="0" i="0">
                <a:solidFill>
                  <a:srgbClr val="E5E7EB"/>
                </a:solidFill>
                <a:latin typeface="Consolas"/>
              </a:rPr>
              <a:t>print(a.shape, a.dtype)      # (2, 3) int64</a:t>
            </a:r>
          </a:p>
          <a:p>
            <a:pPr>
              <a:lnSpc>
                <a:spcPct val="100000"/>
              </a:lnSpc>
              <a:spcBef>
                <a:spcPts val="0"/>
              </a:spcBef>
              <a:spcAft>
                <a:spcPts val="60"/>
              </a:spcAft>
            </a:pPr>
            <a:r>
              <a:rPr sz="1019" b="0" i="0">
                <a:solidFill>
                  <a:srgbClr val="E5E7EB"/>
                </a:solidFill>
                <a:latin typeface="Consolas"/>
              </a:rPr>
              <a:t> </a:t>
            </a:r>
          </a:p>
          <a:p>
            <a:pPr>
              <a:lnSpc>
                <a:spcPct val="100000"/>
              </a:lnSpc>
              <a:spcBef>
                <a:spcPts val="0"/>
              </a:spcBef>
              <a:spcAft>
                <a:spcPts val="60"/>
              </a:spcAft>
            </a:pPr>
            <a:r>
              <a:rPr sz="1019" b="0" i="0">
                <a:solidFill>
                  <a:srgbClr val="E5E7EB"/>
                </a:solidFill>
                <a:latin typeface="Consolas"/>
              </a:rPr>
              <a:t>print(a[:, 1])                # [2 5]  (a VIEW)</a:t>
            </a:r>
          </a:p>
          <a:p>
            <a:pPr>
              <a:lnSpc>
                <a:spcPct val="100000"/>
              </a:lnSpc>
              <a:spcBef>
                <a:spcPts val="0"/>
              </a:spcBef>
              <a:spcAft>
                <a:spcPts val="60"/>
              </a:spcAft>
            </a:pPr>
            <a:r>
              <a:rPr sz="1019" b="0" i="0">
                <a:solidFill>
                  <a:srgbClr val="E5E7EB"/>
                </a:solidFill>
                <a:latin typeface="Consolas"/>
              </a:rPr>
              <a:t>print(a[a &gt; 3])               # [4 5 6] mask</a:t>
            </a:r>
          </a:p>
          <a:p>
            <a:pPr>
              <a:lnSpc>
                <a:spcPct val="100000"/>
              </a:lnSpc>
              <a:spcBef>
                <a:spcPts val="0"/>
              </a:spcBef>
              <a:spcAft>
                <a:spcPts val="60"/>
              </a:spcAft>
            </a:pPr>
            <a:r>
              <a:rPr sz="1019" b="0" i="0">
                <a:solidFill>
                  <a:srgbClr val="E5E7EB"/>
                </a:solidFill>
                <a:latin typeface="Consolas"/>
              </a:rPr>
              <a:t>print(a + np.array([10, 20, 30]))</a:t>
            </a:r>
          </a:p>
          <a:p>
            <a:pPr>
              <a:lnSpc>
                <a:spcPct val="100000"/>
              </a:lnSpc>
              <a:spcBef>
                <a:spcPts val="0"/>
              </a:spcBef>
              <a:spcAft>
                <a:spcPts val="60"/>
              </a:spcAft>
            </a:pPr>
            <a:r>
              <a:rPr sz="1019" b="0" i="0">
                <a:solidFill>
                  <a:srgbClr val="E5E7EB"/>
                </a:solidFill>
                <a:latin typeface="Consolas"/>
              </a:rPr>
              <a:t># [[11 22 23] ... ] broadcast: every row</a:t>
            </a:r>
          </a:p>
          <a:p>
            <a:pPr>
              <a:lnSpc>
                <a:spcPct val="100000"/>
              </a:lnSpc>
              <a:spcBef>
                <a:spcPts val="0"/>
              </a:spcBef>
              <a:spcAft>
                <a:spcPts val="60"/>
              </a:spcAft>
            </a:pPr>
            <a:r>
              <a:rPr sz="1019" b="0" i="0">
                <a:solidFill>
                  <a:srgbClr val="E5E7EB"/>
                </a:solidFill>
                <a:latin typeface="Consolas"/>
              </a:rPr>
              <a:t>print(a.sum(axis=0))          # column sums [5 7 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Files &amp; the Web</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20</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Open modes: </a:t>
            </a:r>
            <a:r>
              <a:rPr sz="1300" b="0" i="0">
                <a:solidFill>
                  <a:srgbClr val="16181D"/>
                </a:solidFill>
                <a:latin typeface="Consolas"/>
              </a:rPr>
              <a:t>r  w (truncate!)  a  +b for binary</a:t>
            </a:r>
            <a:r>
              <a:rPr sz="1500" b="0" i="0">
                <a:solidFill>
                  <a:srgbClr val="16181D"/>
                </a:solidFill>
                <a:latin typeface="Calibri"/>
              </a:rPr>
              <a:t> · </a:t>
            </a:r>
            <a:r>
              <a:rPr sz="1300" b="0" i="0">
                <a:solidFill>
                  <a:srgbClr val="16181D"/>
                </a:solidFill>
                <a:latin typeface="Consolas"/>
              </a:rPr>
              <a:t>with open(p) as f:</a:t>
            </a:r>
            <a:r>
              <a:rPr sz="1500" b="0" i="0">
                <a:solidFill>
                  <a:srgbClr val="16181D"/>
                </a:solidFill>
                <a:latin typeface="Calibri"/>
              </a:rPr>
              <a:t> closes for you.</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f.write(s)</a:t>
            </a:r>
            <a:r>
              <a:rPr sz="1500" b="0" i="0">
                <a:solidFill>
                  <a:srgbClr val="16181D"/>
                </a:solidFill>
                <a:latin typeface="Calibri"/>
              </a:rPr>
              <a:t> — </a:t>
            </a:r>
            <a:r>
              <a:rPr sz="1500" b="0" i="1">
                <a:solidFill>
                  <a:srgbClr val="16181D"/>
                </a:solidFill>
                <a:latin typeface="Calibri"/>
              </a:rPr>
              <a:t>you</a:t>
            </a:r>
            <a:r>
              <a:rPr sz="1500" b="0" i="0">
                <a:solidFill>
                  <a:srgbClr val="16181D"/>
                </a:solidFill>
                <a:latin typeface="Calibri"/>
              </a:rPr>
              <a:t> add the newline. Missing </a:t>
            </a:r>
            <a:r>
              <a:rPr sz="1300" b="0" i="0">
                <a:solidFill>
                  <a:srgbClr val="16181D"/>
                </a:solidFill>
                <a:latin typeface="Consolas"/>
              </a:rPr>
              <a:t>"\n"</a:t>
            </a:r>
            <a:r>
              <a:rPr sz="1500" b="0" i="0">
                <a:solidFill>
                  <a:srgbClr val="16181D"/>
                </a:solidFill>
                <a:latin typeface="Calibri"/>
              </a:rPr>
              <a:t> is the classic corrupted-file bug.</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Read three ways: </a:t>
            </a:r>
            <a:r>
              <a:rPr sz="1300" b="0" i="0">
                <a:solidFill>
                  <a:srgbClr val="16181D"/>
                </a:solidFill>
                <a:latin typeface="Consolas"/>
              </a:rPr>
              <a:t>read()</a:t>
            </a:r>
            <a:r>
              <a:rPr sz="1500" b="0" i="0">
                <a:solidFill>
                  <a:srgbClr val="16181D"/>
                </a:solidFill>
                <a:latin typeface="Calibri"/>
              </a:rPr>
              <a:t> whole str · </a:t>
            </a:r>
            <a:r>
              <a:rPr sz="1300" b="0" i="0">
                <a:solidFill>
                  <a:srgbClr val="16181D"/>
                </a:solidFill>
                <a:latin typeface="Consolas"/>
              </a:rPr>
              <a:t>readlines()</a:t>
            </a:r>
            <a:r>
              <a:rPr sz="1500" b="0" i="0">
                <a:solidFill>
                  <a:srgbClr val="16181D"/>
                </a:solidFill>
                <a:latin typeface="Calibri"/>
              </a:rPr>
              <a:t> list of lines (the Lab-6 hint) · </a:t>
            </a:r>
            <a:r>
              <a:rPr sz="1300" b="0" i="0">
                <a:solidFill>
                  <a:srgbClr val="16181D"/>
                </a:solidFill>
                <a:latin typeface="Consolas"/>
              </a:rPr>
              <a:t>for ln in f:</a:t>
            </a:r>
            <a:r>
              <a:rPr sz="1500" b="0" i="0">
                <a:solidFill>
                  <a:srgbClr val="16181D"/>
                </a:solidFill>
                <a:latin typeface="Calibri"/>
              </a:rPr>
              <a:t> stream.</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Binary: </a:t>
            </a:r>
            <a:r>
              <a:rPr sz="1300" b="0" i="0">
                <a:solidFill>
                  <a:srgbClr val="16181D"/>
                </a:solidFill>
                <a:latin typeface="Consolas"/>
              </a:rPr>
              <a:t>open(p, "rb")</a:t>
            </a:r>
            <a:r>
              <a:rPr sz="1500" b="0" i="0">
                <a:solidFill>
                  <a:srgbClr val="16181D"/>
                </a:solidFill>
                <a:latin typeface="Calibri"/>
              </a:rPr>
              <a:t> → bytes.  Directories: </a:t>
            </a:r>
            <a:r>
              <a:rPr sz="1300" b="0" i="0">
                <a:solidFill>
                  <a:srgbClr val="16181D"/>
                </a:solidFill>
                <a:latin typeface="Consolas"/>
              </a:rPr>
              <a:t>os.listdir / join / isdir / walk</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Web: </a:t>
            </a:r>
            <a:r>
              <a:rPr sz="1300" b="0" i="0">
                <a:solidFill>
                  <a:srgbClr val="16181D"/>
                </a:solidFill>
                <a:latin typeface="Consolas"/>
              </a:rPr>
              <a:t>urlopen(url).read().decode()</a:t>
            </a:r>
            <a:r>
              <a:rPr sz="1500" b="0" i="0">
                <a:solidFill>
                  <a:srgbClr val="16181D"/>
                </a:solidFill>
                <a:latin typeface="Calibri"/>
              </a:rPr>
              <a:t> — open/read/close with a network as the pipe.</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files.py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945" b="0" i="0">
                <a:solidFill>
                  <a:srgbClr val="E5E7EB"/>
                </a:solidFill>
                <a:latin typeface="Consolas"/>
              </a:rPr>
              <a:t>with open("notes.txt", "w") as f:</a:t>
            </a:r>
          </a:p>
          <a:p>
            <a:pPr>
              <a:lnSpc>
                <a:spcPct val="100000"/>
              </a:lnSpc>
              <a:spcBef>
                <a:spcPts val="0"/>
              </a:spcBef>
              <a:spcAft>
                <a:spcPts val="60"/>
              </a:spcAft>
            </a:pPr>
            <a:r>
              <a:rPr sz="945" b="0" i="0">
                <a:solidFill>
                  <a:srgbClr val="E5E7EB"/>
                </a:solidFill>
                <a:latin typeface="Consolas"/>
              </a:rPr>
              <a:t>    f.write("first line\n")     # YOU add \n</a:t>
            </a:r>
          </a:p>
          <a:p>
            <a:pPr>
              <a:lnSpc>
                <a:spcPct val="100000"/>
              </a:lnSpc>
              <a:spcBef>
                <a:spcPts val="0"/>
              </a:spcBef>
              <a:spcAft>
                <a:spcPts val="60"/>
              </a:spcAft>
            </a:pPr>
            <a:r>
              <a:rPr sz="945" b="0" i="0">
                <a:solidFill>
                  <a:srgbClr val="E5E7EB"/>
                </a:solidFill>
                <a:latin typeface="Consolas"/>
              </a:rPr>
              <a:t> </a:t>
            </a:r>
          </a:p>
          <a:p>
            <a:pPr>
              <a:lnSpc>
                <a:spcPct val="100000"/>
              </a:lnSpc>
              <a:spcBef>
                <a:spcPts val="0"/>
              </a:spcBef>
              <a:spcAft>
                <a:spcPts val="60"/>
              </a:spcAft>
            </a:pPr>
            <a:r>
              <a:rPr sz="945" b="0" i="0">
                <a:solidFill>
                  <a:srgbClr val="E5E7EB"/>
                </a:solidFill>
                <a:latin typeface="Consolas"/>
              </a:rPr>
              <a:t>with open("notes.txt") as f:</a:t>
            </a:r>
          </a:p>
          <a:p>
            <a:pPr>
              <a:lnSpc>
                <a:spcPct val="100000"/>
              </a:lnSpc>
              <a:spcBef>
                <a:spcPts val="0"/>
              </a:spcBef>
              <a:spcAft>
                <a:spcPts val="60"/>
              </a:spcAft>
            </a:pPr>
            <a:r>
              <a:rPr sz="945" b="0" i="0">
                <a:solidFill>
                  <a:srgbClr val="E5E7EB"/>
                </a:solidFill>
                <a:latin typeface="Consolas"/>
              </a:rPr>
              <a:t>    all_text = f.read()         # one str</a:t>
            </a:r>
          </a:p>
          <a:p>
            <a:pPr>
              <a:lnSpc>
                <a:spcPct val="100000"/>
              </a:lnSpc>
              <a:spcBef>
                <a:spcPts val="0"/>
              </a:spcBef>
              <a:spcAft>
                <a:spcPts val="60"/>
              </a:spcAft>
            </a:pPr>
            <a:r>
              <a:rPr sz="945" b="0" i="0">
                <a:solidFill>
                  <a:srgbClr val="E5E7EB"/>
                </a:solidFill>
                <a:latin typeface="Consolas"/>
              </a:rPr>
              <a:t>with open("notes.txt") as f:</a:t>
            </a:r>
          </a:p>
          <a:p>
            <a:pPr>
              <a:lnSpc>
                <a:spcPct val="100000"/>
              </a:lnSpc>
              <a:spcBef>
                <a:spcPts val="0"/>
              </a:spcBef>
              <a:spcAft>
                <a:spcPts val="60"/>
              </a:spcAft>
            </a:pPr>
            <a:r>
              <a:rPr sz="945" b="0" i="0">
                <a:solidFill>
                  <a:srgbClr val="E5E7EB"/>
                </a:solidFill>
                <a:latin typeface="Consolas"/>
              </a:rPr>
              <a:t>    lines = f.readlines()       # list of lines</a:t>
            </a:r>
          </a:p>
          <a:p>
            <a:pPr>
              <a:lnSpc>
                <a:spcPct val="100000"/>
              </a:lnSpc>
              <a:spcBef>
                <a:spcPts val="0"/>
              </a:spcBef>
              <a:spcAft>
                <a:spcPts val="60"/>
              </a:spcAft>
            </a:pPr>
            <a:r>
              <a:rPr sz="945" b="0" i="0">
                <a:solidFill>
                  <a:srgbClr val="E5E7EB"/>
                </a:solidFill>
                <a:latin typeface="Consolas"/>
              </a:rPr>
              <a:t>with open("notes.txt") as f:</a:t>
            </a:r>
          </a:p>
          <a:p>
            <a:pPr>
              <a:lnSpc>
                <a:spcPct val="100000"/>
              </a:lnSpc>
              <a:spcBef>
                <a:spcPts val="0"/>
              </a:spcBef>
              <a:spcAft>
                <a:spcPts val="60"/>
              </a:spcAft>
            </a:pPr>
            <a:r>
              <a:rPr sz="945" b="0" i="0">
                <a:solidFill>
                  <a:srgbClr val="E5E7EB"/>
                </a:solidFill>
                <a:latin typeface="Consolas"/>
              </a:rPr>
              <a:t>    for ln in f:                # stream: 1 line in RAM</a:t>
            </a:r>
          </a:p>
          <a:p>
            <a:pPr>
              <a:lnSpc>
                <a:spcPct val="100000"/>
              </a:lnSpc>
              <a:spcBef>
                <a:spcPts val="0"/>
              </a:spcBef>
              <a:spcAft>
                <a:spcPts val="60"/>
              </a:spcAft>
            </a:pPr>
            <a:r>
              <a:rPr sz="945" b="0" i="0">
                <a:solidFill>
                  <a:srgbClr val="E5E7EB"/>
                </a:solidFill>
                <a:latin typeface="Consolas"/>
              </a:rPr>
              <a:t>        print(ln, end="")</a:t>
            </a:r>
          </a:p>
          <a:p>
            <a:pPr>
              <a:lnSpc>
                <a:spcPct val="100000"/>
              </a:lnSpc>
              <a:spcBef>
                <a:spcPts val="0"/>
              </a:spcBef>
              <a:spcAft>
                <a:spcPts val="60"/>
              </a:spcAft>
            </a:pPr>
            <a:r>
              <a:rPr sz="945" b="0" i="0">
                <a:solidFill>
                  <a:srgbClr val="E5E7EB"/>
                </a:solidFill>
                <a:latin typeface="Consolas"/>
              </a:rPr>
              <a:t>with open("img.png", "rb") as f:</a:t>
            </a:r>
          </a:p>
          <a:p>
            <a:pPr>
              <a:lnSpc>
                <a:spcPct val="100000"/>
              </a:lnSpc>
              <a:spcBef>
                <a:spcPts val="0"/>
              </a:spcBef>
              <a:spcAft>
                <a:spcPts val="60"/>
              </a:spcAft>
            </a:pPr>
            <a:r>
              <a:rPr sz="945" b="0" i="0">
                <a:solidFill>
                  <a:srgbClr val="E5E7EB"/>
                </a:solidFill>
                <a:latin typeface="Consolas"/>
              </a:rPr>
              <a:t>    head = f.read(16)           # bytes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Worked Demo — m03.py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21</a:t>
            </a:r>
          </a:p>
        </p:txBody>
      </p:sp>
      <p:sp>
        <p:nvSpPr>
          <p:cNvPr id="8" name="Rectangle 7"/>
          <p:cNvSpPr/>
          <p:nvPr/>
        </p:nvSpPr>
        <p:spPr>
          <a:xfrm>
            <a:off x="502920" y="1572768"/>
            <a:ext cx="598932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9893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69671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m03.py</a:t>
            </a:r>
          </a:p>
        </p:txBody>
      </p:sp>
      <p:sp>
        <p:nvSpPr>
          <p:cNvPr id="11" name="TextBox 10"/>
          <p:cNvSpPr txBox="1"/>
          <p:nvPr/>
        </p:nvSpPr>
        <p:spPr>
          <a:xfrm>
            <a:off x="667512" y="1975104"/>
            <a:ext cx="5678424" cy="4325112"/>
          </a:xfrm>
          <a:prstGeom prst="rect">
            <a:avLst/>
          </a:prstGeom>
          <a:noFill/>
        </p:spPr>
        <p:txBody>
          <a:bodyPr wrap="none" anchor="t" lIns="0" rIns="0" tIns="0" bIns="0">
            <a:spAutoFit/>
          </a:bodyPr>
          <a:lstStyle/>
          <a:p>
            <a:pPr>
              <a:lnSpc>
                <a:spcPct val="100000"/>
              </a:lnSpc>
              <a:spcBef>
                <a:spcPts val="0"/>
              </a:spcBef>
              <a:spcAft>
                <a:spcPts val="60"/>
              </a:spcAft>
            </a:pPr>
            <a:r>
              <a:rPr sz="1050" b="0" i="0">
                <a:solidFill>
                  <a:srgbClr val="E5E7EB"/>
                </a:solidFill>
                <a:latin typeface="Consolas"/>
              </a:rPr>
              <a:t># Module 3 demo -- dictionaries, numpy basics, files &amp; directories</a:t>
            </a:r>
          </a:p>
          <a:p>
            <a:pPr>
              <a:lnSpc>
                <a:spcPct val="100000"/>
              </a:lnSpc>
              <a:spcBef>
                <a:spcPts val="0"/>
              </a:spcBef>
              <a:spcAft>
                <a:spcPts val="60"/>
              </a:spcAft>
            </a:pPr>
            <a:r>
              <a:rPr sz="1050" b="0" i="0">
                <a:solidFill>
                  <a:srgbClr val="E5E7EB"/>
                </a:solidFill>
                <a:latin typeface="Consolas"/>
              </a:rPr>
              <a:t># Run   : python3 m03.py</a:t>
            </a:r>
          </a:p>
          <a:p>
            <a:pPr>
              <a:lnSpc>
                <a:spcPct val="100000"/>
              </a:lnSpc>
              <a:spcBef>
                <a:spcPts val="0"/>
              </a:spcBef>
              <a:spcAft>
                <a:spcPts val="60"/>
              </a:spcAft>
            </a:pPr>
            <a:r>
              <a:rPr sz="1050" b="0" i="0">
                <a:solidFill>
                  <a:srgbClr val="E5E7EB"/>
                </a:solidFill>
                <a:latin typeface="Consolas"/>
              </a:rPr>
              <a:t>import os</a:t>
            </a:r>
          </a:p>
          <a:p>
            <a:pPr>
              <a:lnSpc>
                <a:spcPct val="100000"/>
              </a:lnSpc>
              <a:spcBef>
                <a:spcPts val="0"/>
              </a:spcBef>
              <a:spcAft>
                <a:spcPts val="60"/>
              </a:spcAft>
            </a:pPr>
            <a:r>
              <a:rPr sz="1050" b="0" i="0">
                <a:solidFill>
                  <a:srgbClr val="E5E7EB"/>
                </a:solidFill>
                <a:latin typeface="Consolas"/>
              </a:rPr>
              <a:t>import numpy as np</a:t>
            </a:r>
          </a:p>
          <a:p>
            <a:pPr>
              <a:lnSpc>
                <a:spcPct val="100000"/>
              </a:lnSpc>
              <a:spcBef>
                <a:spcPts val="0"/>
              </a:spcBef>
              <a:spcAft>
                <a:spcPts val="60"/>
              </a:spcAft>
            </a:pPr>
            <a:r>
              <a:rPr sz="1050" b="0" i="0">
                <a:solidFill>
                  <a:srgbClr val="E5E7EB"/>
                </a:solidFill>
                <a:latin typeface="Consolas"/>
              </a:rPr>
              <a:t> </a:t>
            </a:r>
          </a:p>
          <a:p>
            <a:pPr>
              <a:lnSpc>
                <a:spcPct val="100000"/>
              </a:lnSpc>
              <a:spcBef>
                <a:spcPts val="0"/>
              </a:spcBef>
              <a:spcAft>
                <a:spcPts val="60"/>
              </a:spcAft>
            </a:pPr>
            <a:r>
              <a:rPr sz="1050" b="0" i="0">
                <a:solidFill>
                  <a:srgbClr val="E5E7EB"/>
                </a:solidFill>
                <a:latin typeface="Consolas"/>
              </a:rPr>
              <a:t>freq = {}</a:t>
            </a:r>
          </a:p>
          <a:p>
            <a:pPr>
              <a:lnSpc>
                <a:spcPct val="100000"/>
              </a:lnSpc>
              <a:spcBef>
                <a:spcPts val="0"/>
              </a:spcBef>
              <a:spcAft>
                <a:spcPts val="60"/>
              </a:spcAft>
            </a:pPr>
            <a:r>
              <a:rPr sz="1050" b="0" i="0">
                <a:solidFill>
                  <a:srgbClr val="E5E7EB"/>
                </a:solidFill>
                <a:latin typeface="Consolas"/>
              </a:rPr>
              <a:t>for letter in "banana":</a:t>
            </a:r>
          </a:p>
          <a:p>
            <a:pPr>
              <a:lnSpc>
                <a:spcPct val="100000"/>
              </a:lnSpc>
              <a:spcBef>
                <a:spcPts val="0"/>
              </a:spcBef>
              <a:spcAft>
                <a:spcPts val="60"/>
              </a:spcAft>
            </a:pPr>
            <a:r>
              <a:rPr sz="1050" b="0" i="0">
                <a:solidFill>
                  <a:srgbClr val="E5E7EB"/>
                </a:solidFill>
                <a:latin typeface="Consolas"/>
              </a:rPr>
              <a:t>    freq[letter] = freq.get(letter, 0) + 1</a:t>
            </a:r>
          </a:p>
          <a:p>
            <a:pPr>
              <a:lnSpc>
                <a:spcPct val="100000"/>
              </a:lnSpc>
              <a:spcBef>
                <a:spcPts val="0"/>
              </a:spcBef>
              <a:spcAft>
                <a:spcPts val="60"/>
              </a:spcAft>
            </a:pPr>
            <a:r>
              <a:rPr sz="1050" b="0" i="0">
                <a:solidFill>
                  <a:srgbClr val="E5E7EB"/>
                </a:solidFill>
                <a:latin typeface="Consolas"/>
              </a:rPr>
              <a:t>print("dict from loop   :", freq)</a:t>
            </a:r>
          </a:p>
          <a:p>
            <a:pPr>
              <a:lnSpc>
                <a:spcPct val="100000"/>
              </a:lnSpc>
              <a:spcBef>
                <a:spcPts val="0"/>
              </a:spcBef>
              <a:spcAft>
                <a:spcPts val="60"/>
              </a:spcAft>
            </a:pPr>
            <a:r>
              <a:rPr sz="1050" b="0" i="0">
                <a:solidFill>
                  <a:srgbClr val="E5E7EB"/>
                </a:solidFill>
                <a:latin typeface="Consolas"/>
              </a:rPr>
              <a:t>print("get() with default:", freq.get("a", 0), "|", freq.get("z", 0))</a:t>
            </a:r>
          </a:p>
          <a:p>
            <a:pPr>
              <a:lnSpc>
                <a:spcPct val="100000"/>
              </a:lnSpc>
              <a:spcBef>
                <a:spcPts val="0"/>
              </a:spcBef>
              <a:spcAft>
                <a:spcPts val="60"/>
              </a:spcAft>
            </a:pPr>
            <a:r>
              <a:rPr sz="1050" b="0" i="0">
                <a:solidFill>
                  <a:srgbClr val="E5E7EB"/>
                </a:solidFill>
                <a:latin typeface="Consolas"/>
              </a:rPr>
              <a:t>shared = freq</a:t>
            </a:r>
          </a:p>
          <a:p>
            <a:pPr>
              <a:lnSpc>
                <a:spcPct val="100000"/>
              </a:lnSpc>
              <a:spcBef>
                <a:spcPts val="0"/>
              </a:spcBef>
              <a:spcAft>
                <a:spcPts val="60"/>
              </a:spcAft>
            </a:pPr>
            <a:r>
              <a:rPr sz="1050" b="0" i="0">
                <a:solidFill>
                  <a:srgbClr val="E5E7EB"/>
                </a:solidFill>
                <a:latin typeface="Consolas"/>
              </a:rPr>
              <a:t>copied = freq.copy()</a:t>
            </a:r>
          </a:p>
          <a:p>
            <a:pPr>
              <a:lnSpc>
                <a:spcPct val="100000"/>
              </a:lnSpc>
              <a:spcBef>
                <a:spcPts val="0"/>
              </a:spcBef>
              <a:spcAft>
                <a:spcPts val="60"/>
              </a:spcAft>
            </a:pPr>
            <a:r>
              <a:rPr sz="1050" b="0" i="0">
                <a:solidFill>
                  <a:srgbClr val="E5E7EB"/>
                </a:solidFill>
                <a:latin typeface="Consolas"/>
              </a:rPr>
              <a:t>shared["z"] = 9</a:t>
            </a:r>
          </a:p>
          <a:p>
            <a:pPr>
              <a:lnSpc>
                <a:spcPct val="100000"/>
              </a:lnSpc>
              <a:spcBef>
                <a:spcPts val="0"/>
              </a:spcBef>
              <a:spcAft>
                <a:spcPts val="60"/>
              </a:spcAft>
            </a:pPr>
            <a:r>
              <a:rPr sz="1050" b="0" i="0">
                <a:solidFill>
                  <a:srgbClr val="E5E7EB"/>
                </a:solidFill>
                <a:latin typeface="Consolas"/>
              </a:rPr>
              <a:t>print("alias sees write :", freq)</a:t>
            </a:r>
          </a:p>
          <a:p>
            <a:pPr>
              <a:lnSpc>
                <a:spcPct val="100000"/>
              </a:lnSpc>
              <a:spcBef>
                <a:spcPts val="0"/>
              </a:spcBef>
              <a:spcAft>
                <a:spcPts val="60"/>
              </a:spcAft>
            </a:pPr>
            <a:r>
              <a:rPr sz="1050" b="0" i="0">
                <a:solidFill>
                  <a:srgbClr val="E5E7EB"/>
                </a:solidFill>
                <a:latin typeface="Consolas"/>
              </a:rPr>
              <a:t>  …  (complete source in the course book, §3.2)</a:t>
            </a:r>
          </a:p>
        </p:txBody>
      </p:sp>
      <p:sp>
        <p:nvSpPr>
          <p:cNvPr id="12" name="Rectangle 11"/>
          <p:cNvSpPr/>
          <p:nvPr/>
        </p:nvSpPr>
        <p:spPr>
          <a:xfrm>
            <a:off x="6812280" y="1572768"/>
            <a:ext cx="489204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1664208"/>
            <a:ext cx="461772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SESSION — python3 m03.py</a:t>
            </a:r>
          </a:p>
        </p:txBody>
      </p:sp>
      <p:sp>
        <p:nvSpPr>
          <p:cNvPr id="14" name="TextBox 13"/>
          <p:cNvSpPr txBox="1"/>
          <p:nvPr/>
        </p:nvSpPr>
        <p:spPr>
          <a:xfrm>
            <a:off x="6958584" y="1938528"/>
            <a:ext cx="4617720" cy="4343400"/>
          </a:xfrm>
          <a:prstGeom prst="rect">
            <a:avLst/>
          </a:prstGeom>
          <a:noFill/>
        </p:spPr>
        <p:txBody>
          <a:bodyPr wrap="none" anchor="t" lIns="0" rIns="0" tIns="0" bIns="0">
            <a:spAutoFit/>
          </a:bodyPr>
          <a:lstStyle/>
          <a:p>
            <a:pPr>
              <a:lnSpc>
                <a:spcPct val="100000"/>
              </a:lnSpc>
              <a:spcBef>
                <a:spcPts val="0"/>
              </a:spcBef>
              <a:spcAft>
                <a:spcPts val="60"/>
              </a:spcAft>
            </a:pPr>
            <a:r>
              <a:rPr sz="892" b="0" i="0">
                <a:solidFill>
                  <a:srgbClr val="14171C"/>
                </a:solidFill>
                <a:latin typeface="Consolas"/>
              </a:rPr>
              <a:t>dict from loop   : {'b': 1, 'a': 3, 'n': 2}</a:t>
            </a:r>
          </a:p>
          <a:p>
            <a:pPr>
              <a:lnSpc>
                <a:spcPct val="100000"/>
              </a:lnSpc>
              <a:spcBef>
                <a:spcPts val="0"/>
              </a:spcBef>
              <a:spcAft>
                <a:spcPts val="60"/>
              </a:spcAft>
            </a:pPr>
            <a:r>
              <a:rPr sz="892" b="0" i="0">
                <a:solidFill>
                  <a:srgbClr val="14171C"/>
                </a:solidFill>
                <a:latin typeface="Consolas"/>
              </a:rPr>
              <a:t>get() with default: 3 | 0</a:t>
            </a:r>
          </a:p>
          <a:p>
            <a:pPr>
              <a:lnSpc>
                <a:spcPct val="100000"/>
              </a:lnSpc>
              <a:spcBef>
                <a:spcPts val="0"/>
              </a:spcBef>
              <a:spcAft>
                <a:spcPts val="60"/>
              </a:spcAft>
            </a:pPr>
            <a:r>
              <a:rPr sz="892" b="0" i="0">
                <a:solidFill>
                  <a:srgbClr val="14171C"/>
                </a:solidFill>
                <a:latin typeface="Consolas"/>
              </a:rPr>
              <a:t>alias sees write : {'b': 1, 'a': 3, 'n': 2, 'z': 9}</a:t>
            </a:r>
          </a:p>
          <a:p>
            <a:pPr>
              <a:lnSpc>
                <a:spcPct val="100000"/>
              </a:lnSpc>
              <a:spcBef>
                <a:spcPts val="0"/>
              </a:spcBef>
              <a:spcAft>
                <a:spcPts val="60"/>
              </a:spcAft>
            </a:pPr>
            <a:r>
              <a:rPr sz="892" b="0" i="0">
                <a:solidFill>
                  <a:srgbClr val="14171C"/>
                </a:solidFill>
                <a:latin typeface="Consolas"/>
              </a:rPr>
              <a:t>copy then fix    : 9 -&gt; independent now</a:t>
            </a:r>
          </a:p>
          <a:p>
            <a:pPr>
              <a:lnSpc>
                <a:spcPct val="100000"/>
              </a:lnSpc>
              <a:spcBef>
                <a:spcPts val="0"/>
              </a:spcBef>
              <a:spcAft>
                <a:spcPts val="60"/>
              </a:spcAft>
            </a:pPr>
            <a:r>
              <a:rPr sz="892" b="0" i="0">
                <a:solidFill>
                  <a:srgbClr val="14171C"/>
                </a:solidFill>
                <a:latin typeface="Consolas"/>
              </a:rPr>
              <a:t> </a:t>
            </a:r>
          </a:p>
          <a:p>
            <a:pPr>
              <a:lnSpc>
                <a:spcPct val="100000"/>
              </a:lnSpc>
              <a:spcBef>
                <a:spcPts val="0"/>
              </a:spcBef>
              <a:spcAft>
                <a:spcPts val="60"/>
              </a:spcAft>
            </a:pPr>
            <a:r>
              <a:rPr sz="892" b="0" i="0">
                <a:solidFill>
                  <a:srgbClr val="14171C"/>
                </a:solidFill>
                <a:latin typeface="Consolas"/>
              </a:rPr>
              <a:t>ndarray:</a:t>
            </a:r>
          </a:p>
          <a:p>
            <a:pPr>
              <a:lnSpc>
                <a:spcPct val="100000"/>
              </a:lnSpc>
              <a:spcBef>
                <a:spcPts val="0"/>
              </a:spcBef>
              <a:spcAft>
                <a:spcPts val="60"/>
              </a:spcAft>
            </a:pPr>
            <a:r>
              <a:rPr sz="892" b="0" i="0">
                <a:solidFill>
                  <a:srgbClr val="14171C"/>
                </a:solidFill>
                <a:latin typeface="Consolas"/>
              </a:rPr>
              <a:t> [[1 2 3]</a:t>
            </a:r>
          </a:p>
          <a:p>
            <a:pPr>
              <a:lnSpc>
                <a:spcPct val="100000"/>
              </a:lnSpc>
              <a:spcBef>
                <a:spcPts val="0"/>
              </a:spcBef>
              <a:spcAft>
                <a:spcPts val="60"/>
              </a:spcAft>
            </a:pPr>
            <a:r>
              <a:rPr sz="892" b="0" i="0">
                <a:solidFill>
                  <a:srgbClr val="14171C"/>
                </a:solidFill>
                <a:latin typeface="Consolas"/>
              </a:rPr>
              <a:t> [4 5 6]]</a:t>
            </a:r>
          </a:p>
          <a:p>
            <a:pPr>
              <a:lnSpc>
                <a:spcPct val="100000"/>
              </a:lnSpc>
              <a:spcBef>
                <a:spcPts val="0"/>
              </a:spcBef>
              <a:spcAft>
                <a:spcPts val="60"/>
              </a:spcAft>
            </a:pPr>
            <a:r>
              <a:rPr sz="892" b="0" i="0">
                <a:solidFill>
                  <a:srgbClr val="14171C"/>
                </a:solidFill>
                <a:latin typeface="Consolas"/>
              </a:rPr>
              <a:t>shape: (2, 3) | dtype: int64</a:t>
            </a:r>
          </a:p>
          <a:p>
            <a:pPr>
              <a:lnSpc>
                <a:spcPct val="100000"/>
              </a:lnSpc>
              <a:spcBef>
                <a:spcPts val="0"/>
              </a:spcBef>
              <a:spcAft>
                <a:spcPts val="60"/>
              </a:spcAft>
            </a:pPr>
            <a:r>
              <a:rPr sz="892" b="0" i="0">
                <a:solidFill>
                  <a:srgbClr val="14171C"/>
                </a:solidFill>
                <a:latin typeface="Consolas"/>
              </a:rPr>
              <a:t>column slice: [2 5] | mask &gt; 3: [4 5 6]</a:t>
            </a:r>
          </a:p>
          <a:p>
            <a:pPr>
              <a:lnSpc>
                <a:spcPct val="100000"/>
              </a:lnSpc>
              <a:spcBef>
                <a:spcPts val="0"/>
              </a:spcBef>
              <a:spcAft>
                <a:spcPts val="60"/>
              </a:spcAft>
            </a:pPr>
            <a:r>
              <a:rPr sz="892" b="0" i="0">
                <a:solidFill>
                  <a:srgbClr val="14171C"/>
                </a:solidFill>
                <a:latin typeface="Consolas"/>
              </a:rPr>
              <a:t>broadcast add: [[11 22 33]</a:t>
            </a:r>
          </a:p>
          <a:p>
            <a:pPr>
              <a:lnSpc>
                <a:spcPct val="100000"/>
              </a:lnSpc>
              <a:spcBef>
                <a:spcPts val="0"/>
              </a:spcBef>
              <a:spcAft>
                <a:spcPts val="60"/>
              </a:spcAft>
            </a:pPr>
            <a:r>
              <a:rPr sz="892" b="0" i="0">
                <a:solidFill>
                  <a:srgbClr val="14171C"/>
                </a:solidFill>
                <a:latin typeface="Consolas"/>
              </a:rPr>
              <a:t> [14 25 36]]</a:t>
            </a:r>
          </a:p>
          <a:p>
            <a:pPr>
              <a:lnSpc>
                <a:spcPct val="100000"/>
              </a:lnSpc>
              <a:spcBef>
                <a:spcPts val="0"/>
              </a:spcBef>
              <a:spcAft>
                <a:spcPts val="60"/>
              </a:spcAft>
            </a:pPr>
            <a:r>
              <a:rPr sz="892" b="0" i="0">
                <a:solidFill>
                  <a:srgbClr val="14171C"/>
                </a:solidFill>
                <a:latin typeface="Consolas"/>
              </a:rPr>
              <a:t> </a:t>
            </a:r>
          </a:p>
          <a:p>
            <a:pPr>
              <a:lnSpc>
                <a:spcPct val="100000"/>
              </a:lnSpc>
              <a:spcBef>
                <a:spcPts val="0"/>
              </a:spcBef>
              <a:spcAft>
                <a:spcPts val="60"/>
              </a:spcAft>
            </a:pPr>
            <a:r>
              <a:rPr sz="892" b="0" i="0">
                <a:solidFill>
                  <a:srgbClr val="14171C"/>
                </a:solidFill>
                <a:latin typeface="Consolas"/>
              </a:rPr>
              <a:t>file as list of lines: ['first line', 'second line', 'third line']</a:t>
            </a:r>
          </a:p>
          <a:p>
            <a:pPr>
              <a:lnSpc>
                <a:spcPct val="100000"/>
              </a:lnSpc>
              <a:spcBef>
                <a:spcPts val="0"/>
              </a:spcBef>
              <a:spcAft>
                <a:spcPts val="60"/>
              </a:spcAft>
            </a:pPr>
            <a:r>
              <a:rPr sz="892" b="0" i="0">
                <a:solidFill>
                  <a:srgbClr val="14171C"/>
                </a:solidFill>
                <a:latin typeface="Consolas"/>
              </a:rPr>
              <a:t>binary read: 34 bytes | head: b'first line\n'</a:t>
            </a:r>
          </a:p>
          <a:p>
            <a:pPr>
              <a:lnSpc>
                <a:spcPct val="100000"/>
              </a:lnSpc>
              <a:spcBef>
                <a:spcPts val="0"/>
              </a:spcBef>
              <a:spcAft>
                <a:spcPts val="60"/>
              </a:spcAft>
            </a:pPr>
            <a:r>
              <a:rPr sz="892" b="0" i="0">
                <a:solidFill>
                  <a:srgbClr val="14171C"/>
                </a:solidFill>
                <a:latin typeface="Consolas"/>
              </a:rPr>
              <a:t>exists: True | size: 34 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3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22</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Q1.  </a:t>
            </a:r>
            <a:r>
              <a:rPr sz="1500" b="0" i="0">
                <a:solidFill>
                  <a:srgbClr val="16181D"/>
                </a:solidFill>
                <a:latin typeface="Calibri"/>
              </a:rPr>
              <a:t>Why is a dictionary the right structure for word counting, and where does a list fail at the same job?</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Q2.  </a:t>
            </a:r>
            <a:r>
              <a:rPr sz="1500" b="0" i="0">
                <a:solidFill>
                  <a:srgbClr val="16181D"/>
                </a:solidFill>
                <a:latin typeface="Calibri"/>
              </a:rPr>
              <a:t>Write the three-line counting loop without get(), then with it; explain which line raises KeyError on which input.</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Q3.  </a:t>
            </a:r>
            <a:r>
              <a:rPr sz="1500" b="0" i="0">
                <a:solidFill>
                  <a:srgbClr val="16181D"/>
                </a:solidFill>
                <a:latin typeface="Calibri"/>
              </a:rPr>
              <a:t>Contrast NumPy column slicing with list slicing: which returns data you can edit without touching the original?</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Q4.  </a:t>
            </a:r>
            <a:r>
              <a:rPr sz="1500" b="0" i="0">
                <a:solidFill>
                  <a:srgbClr val="16181D"/>
                </a:solidFill>
                <a:latin typeface="Calibri"/>
              </a:rPr>
              <a:t>What does broadcasting do when a (3,) array is added to a (2,3) array? Give the result for [1 2 3]/[4 5 6] + [10 20 30].</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Q5.  </a:t>
            </a:r>
            <a:r>
              <a:rPr sz="1500" b="0" i="0">
                <a:solidFill>
                  <a:srgbClr val="16181D"/>
                </a:solidFill>
                <a:latin typeface="Calibri"/>
              </a:rPr>
              <a:t>Compare read(), readlines() and a for-loop over the file object: memory, return type, and which one the Lab-6 hint demands.</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Q6.  </a:t>
            </a:r>
            <a:r>
              <a:rPr sz="1500" b="0" i="0">
                <a:solidFill>
                  <a:srgbClr val="16181D"/>
                </a:solidFill>
                <a:latin typeface="Calibri"/>
              </a:rPr>
              <a:t>Explain the difference between w and a modes, and why with makes the record’s file code safer.</a:t>
            </a:r>
          </a:p>
        </p:txBody>
      </p:sp>
      <p:sp>
        <p:nvSpPr>
          <p:cNvPr id="9" name="TextBox 8"/>
          <p:cNvSpPr txBox="1"/>
          <p:nvPr/>
        </p:nvSpPr>
        <p:spPr>
          <a:xfrm>
            <a:off x="502920" y="6035040"/>
            <a:ext cx="11155680" cy="36576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Model answers: course book §3.5 · these are also IA-test-shaped practice.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4 — Modules, Namespaces and the Basics of Classes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23</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CO3 + CO5 (primary) · CO1 supporting</a:t>
            </a:r>
            <a:r>
              <a:rPr sz="1350" b="0" i="0">
                <a:solidFill>
                  <a:srgbClr val="4B5563"/>
                </a:solidFill>
                <a:latin typeface="Calibri"/>
              </a:rPr>
              <a:t>    ·    8 lecture hours · supports Lab Experiments 7, 8</a:t>
            </a:r>
            <a:r>
              <a:rPr sz="1250" b="0" i="0">
                <a:solidFill>
                  <a:srgbClr val="4B5563"/>
                </a:solidFill>
                <a:latin typeface="Calibri"/>
              </a:rPr>
              <a:t>    ·    textbook 8.1–8.8, 9.1, 11.1</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Modules — random, time, math; creating your own modules</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Namespaces, scope and lookup rules, attributes and the dot operator, three import variants</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Mutable vs immutable and aliasing</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Classes &amp; objects — attributes, methods, instances as arguments, __str__, instances as return values</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MODULE-4 SYLLABUS (VERBATIM)</a:t>
            </a:r>
          </a:p>
          <a:p>
            <a:pPr>
              <a:lnSpc>
                <a:spcPct val="108000"/>
              </a:lnSpc>
              <a:spcBef>
                <a:spcPts val="0"/>
              </a:spcBef>
              <a:spcAft>
                <a:spcPts val="0"/>
              </a:spcAft>
            </a:pPr>
            <a:r>
              <a:rPr sz="1100" b="0" i="0">
                <a:solidFill>
                  <a:srgbClr val="16181D"/>
                </a:solidFill>
                <a:latin typeface="Calibri"/>
              </a:rPr>
              <a:t>Modules: Random numbers, the time module, the math module, creating your own modules, Namespaces, Scope and lookup rules, Attributes and the dot Operator, Three import statement variants. Mutable versus immutable and aliasing. Object oriented programming: Classes and Objects — The Basics, Attributes, Adding methods to our class, Instances as arguments and parameters, Converting an instance to a string, Instances as return values. Chapter: 8.1-8.8, 9.1, 11.1 · Number of Hours: 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Modules, imports, scope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24</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random</a:t>
            </a:r>
            <a:r>
              <a:rPr sz="1500" b="0" i="0">
                <a:solidFill>
                  <a:srgbClr val="16181D"/>
                </a:solidFill>
                <a:latin typeface="Calibri"/>
              </a:rPr>
              <a:t>: </a:t>
            </a:r>
            <a:r>
              <a:rPr sz="1300" b="0" i="0">
                <a:solidFill>
                  <a:srgbClr val="16181D"/>
                </a:solidFill>
                <a:latin typeface="Consolas"/>
              </a:rPr>
              <a:t>random(), randint(a,b), choice, shuffle</a:t>
            </a:r>
            <a:r>
              <a:rPr sz="1500" b="0" i="0">
                <a:solidFill>
                  <a:srgbClr val="16181D"/>
                </a:solidFill>
                <a:latin typeface="Calibri"/>
              </a:rPr>
              <a:t> — </a:t>
            </a:r>
            <a:r>
              <a:rPr sz="1300" b="0" i="0">
                <a:solidFill>
                  <a:srgbClr val="16181D"/>
                </a:solidFill>
                <a:latin typeface="Consolas"/>
              </a:rPr>
              <a:t>seed(7)</a:t>
            </a:r>
            <a:r>
              <a:rPr sz="1500" b="0" i="0">
                <a:solidFill>
                  <a:srgbClr val="16181D"/>
                </a:solidFill>
                <a:latin typeface="Calibri"/>
              </a:rPr>
              <a:t> makes lab output reproducible.</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math / time</a:t>
            </a:r>
            <a:r>
              <a:rPr sz="1500" b="0" i="0">
                <a:solidFill>
                  <a:srgbClr val="16181D"/>
                </a:solidFill>
                <a:latin typeface="Calibri"/>
              </a:rPr>
              <a:t> read with a dot: </a:t>
            </a:r>
            <a:r>
              <a:rPr sz="1300" b="0" i="0">
                <a:solidFill>
                  <a:srgbClr val="16181D"/>
                </a:solidFill>
                <a:latin typeface="Consolas"/>
              </a:rPr>
              <a:t>math.pi, math.factorial, time.time()</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Any </a:t>
            </a:r>
            <a:r>
              <a:rPr sz="1300" b="0" i="0">
                <a:solidFill>
                  <a:srgbClr val="16181D"/>
                </a:solidFill>
                <a:latin typeface="Consolas"/>
              </a:rPr>
              <a:t>.py</a:t>
            </a:r>
            <a:r>
              <a:rPr sz="1500" b="0" i="0">
                <a:solidFill>
                  <a:srgbClr val="16181D"/>
                </a:solidFill>
                <a:latin typeface="Calibri"/>
              </a:rPr>
              <a:t> file is a module — </a:t>
            </a:r>
            <a:r>
              <a:rPr sz="1300" b="0" i="0">
                <a:solidFill>
                  <a:srgbClr val="16181D"/>
                </a:solidFill>
                <a:latin typeface="Consolas"/>
              </a:rPr>
              <a:t>import mytools</a:t>
            </a:r>
            <a:r>
              <a:rPr sz="1500" b="0" i="0">
                <a:solidFill>
                  <a:srgbClr val="16181D"/>
                </a:solidFill>
                <a:latin typeface="Calibri"/>
              </a:rPr>
              <a:t> runs it once and binds its names.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Three import variants: </a:t>
            </a:r>
            <a:r>
              <a:rPr sz="1300" b="0" i="0">
                <a:solidFill>
                  <a:srgbClr val="16181D"/>
                </a:solidFill>
                <a:latin typeface="Consolas"/>
              </a:rPr>
              <a:t>import m</a:t>
            </a:r>
            <a:r>
              <a:rPr sz="1500" b="0" i="0">
                <a:solidFill>
                  <a:srgbClr val="16181D"/>
                </a:solidFill>
                <a:latin typeface="Calibri"/>
              </a:rPr>
              <a:t> · </a:t>
            </a:r>
            <a:r>
              <a:rPr sz="1300" b="0" i="0">
                <a:solidFill>
                  <a:srgbClr val="16181D"/>
                </a:solidFill>
                <a:latin typeface="Consolas"/>
              </a:rPr>
              <a:t>from m import f</a:t>
            </a:r>
            <a:r>
              <a:rPr sz="1500" b="0" i="0">
                <a:solidFill>
                  <a:srgbClr val="16181D"/>
                </a:solidFill>
                <a:latin typeface="Calibri"/>
              </a:rPr>
              <a:t> · </a:t>
            </a:r>
            <a:r>
              <a:rPr sz="1300" b="0" i="0">
                <a:solidFill>
                  <a:srgbClr val="16181D"/>
                </a:solidFill>
                <a:latin typeface="Consolas"/>
              </a:rPr>
              <a:t>from m import f as g</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Scope is LEGB</a:t>
            </a:r>
            <a:r>
              <a:rPr sz="1500" b="0" i="0">
                <a:solidFill>
                  <a:srgbClr val="16181D"/>
                </a:solidFill>
                <a:latin typeface="Calibri"/>
              </a:rPr>
              <a:t> — local → enclosing → global → built-in; </a:t>
            </a:r>
            <a:r>
              <a:rPr sz="1300" b="0" i="0">
                <a:solidFill>
                  <a:srgbClr val="16181D"/>
                </a:solidFill>
                <a:latin typeface="Consolas"/>
              </a:rPr>
              <a:t>global x</a:t>
            </a:r>
            <a:r>
              <a:rPr sz="1500" b="0" i="0">
                <a:solidFill>
                  <a:srgbClr val="16181D"/>
                </a:solidFill>
                <a:latin typeface="Calibri"/>
              </a:rPr>
              <a:t> is needed to rebind, never to read.</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scopes.py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866" b="0" i="0">
                <a:solidFill>
                  <a:srgbClr val="E5E7EB"/>
                </a:solidFill>
                <a:latin typeface="Consolas"/>
              </a:rPr>
              <a:t>import random, math</a:t>
            </a:r>
          </a:p>
          <a:p>
            <a:pPr>
              <a:lnSpc>
                <a:spcPct val="100000"/>
              </a:lnSpc>
              <a:spcBef>
                <a:spcPts val="0"/>
              </a:spcBef>
              <a:spcAft>
                <a:spcPts val="60"/>
              </a:spcAft>
            </a:pPr>
            <a:r>
              <a:rPr sz="866" b="0" i="0">
                <a:solidFill>
                  <a:srgbClr val="E5E7EB"/>
                </a:solidFill>
                <a:latin typeface="Consolas"/>
              </a:rPr>
              <a:t>from math import sqrt</a:t>
            </a:r>
          </a:p>
          <a:p>
            <a:pPr>
              <a:lnSpc>
                <a:spcPct val="100000"/>
              </a:lnSpc>
              <a:spcBef>
                <a:spcPts val="0"/>
              </a:spcBef>
              <a:spcAft>
                <a:spcPts val="60"/>
              </a:spcAft>
            </a:pPr>
            <a:r>
              <a:rPr sz="866" b="0" i="0">
                <a:solidFill>
                  <a:srgbClr val="E5E7EB"/>
                </a:solidFill>
                <a:latin typeface="Consolas"/>
              </a:rPr>
              <a:t>import mytools as tools           # variant 3</a:t>
            </a:r>
          </a:p>
          <a:p>
            <a:pPr>
              <a:lnSpc>
                <a:spcPct val="100000"/>
              </a:lnSpc>
              <a:spcBef>
                <a:spcPts val="0"/>
              </a:spcBef>
              <a:spcAft>
                <a:spcPts val="60"/>
              </a:spcAft>
            </a:pPr>
            <a:r>
              <a:rPr sz="866" b="0" i="0">
                <a:solidFill>
                  <a:srgbClr val="E5E7EB"/>
                </a:solidFill>
                <a:latin typeface="Consolas"/>
              </a:rPr>
              <a:t> </a:t>
            </a:r>
          </a:p>
          <a:p>
            <a:pPr>
              <a:lnSpc>
                <a:spcPct val="100000"/>
              </a:lnSpc>
              <a:spcBef>
                <a:spcPts val="0"/>
              </a:spcBef>
              <a:spcAft>
                <a:spcPts val="60"/>
              </a:spcAft>
            </a:pPr>
            <a:r>
              <a:rPr sz="866" b="0" i="0">
                <a:solidFill>
                  <a:srgbClr val="E5E7EB"/>
                </a:solidFill>
                <a:latin typeface="Consolas"/>
              </a:rPr>
              <a:t>random.seed(7)</a:t>
            </a:r>
          </a:p>
          <a:p>
            <a:pPr>
              <a:lnSpc>
                <a:spcPct val="100000"/>
              </a:lnSpc>
              <a:spcBef>
                <a:spcPts val="0"/>
              </a:spcBef>
              <a:spcAft>
                <a:spcPts val="60"/>
              </a:spcAft>
            </a:pPr>
            <a:r>
              <a:rPr sz="866" b="0" i="0">
                <a:solidFill>
                  <a:srgbClr val="E5E7EB"/>
                </a:solidFill>
                <a:latin typeface="Consolas"/>
              </a:rPr>
              <a:t>print(random.randint(1, 6), math.pi)  # 2 3.1415…</a:t>
            </a:r>
          </a:p>
          <a:p>
            <a:pPr>
              <a:lnSpc>
                <a:spcPct val="100000"/>
              </a:lnSpc>
              <a:spcBef>
                <a:spcPts val="0"/>
              </a:spcBef>
              <a:spcAft>
                <a:spcPts val="60"/>
              </a:spcAft>
            </a:pPr>
            <a:r>
              <a:rPr sz="866" b="0" i="0">
                <a:solidFill>
                  <a:srgbClr val="E5E7EB"/>
                </a:solidFill>
                <a:latin typeface="Consolas"/>
              </a:rPr>
              <a:t> </a:t>
            </a:r>
          </a:p>
          <a:p>
            <a:pPr>
              <a:lnSpc>
                <a:spcPct val="100000"/>
              </a:lnSpc>
              <a:spcBef>
                <a:spcPts val="0"/>
              </a:spcBef>
              <a:spcAft>
                <a:spcPts val="60"/>
              </a:spcAft>
            </a:pPr>
            <a:r>
              <a:rPr sz="866" b="0" i="0">
                <a:solidFill>
                  <a:srgbClr val="E5E7EB"/>
                </a:solidFill>
                <a:latin typeface="Consolas"/>
              </a:rPr>
              <a:t>counter = 0</a:t>
            </a:r>
          </a:p>
          <a:p>
            <a:pPr>
              <a:lnSpc>
                <a:spcPct val="100000"/>
              </a:lnSpc>
              <a:spcBef>
                <a:spcPts val="0"/>
              </a:spcBef>
              <a:spcAft>
                <a:spcPts val="60"/>
              </a:spcAft>
            </a:pPr>
            <a:r>
              <a:rPr sz="866" b="0" i="0">
                <a:solidFill>
                  <a:srgbClr val="E5E7EB"/>
                </a:solidFill>
                <a:latin typeface="Consolas"/>
              </a:rPr>
              <a:t>def bump():</a:t>
            </a:r>
          </a:p>
          <a:p>
            <a:pPr>
              <a:lnSpc>
                <a:spcPct val="100000"/>
              </a:lnSpc>
              <a:spcBef>
                <a:spcPts val="0"/>
              </a:spcBef>
              <a:spcAft>
                <a:spcPts val="60"/>
              </a:spcAft>
            </a:pPr>
            <a:r>
              <a:rPr sz="866" b="0" i="0">
                <a:solidFill>
                  <a:srgbClr val="E5E7EB"/>
                </a:solidFill>
                <a:latin typeface="Consolas"/>
              </a:rPr>
              <a:t>    global counter                # rebind needs the keyword</a:t>
            </a:r>
          </a:p>
          <a:p>
            <a:pPr>
              <a:lnSpc>
                <a:spcPct val="100000"/>
              </a:lnSpc>
              <a:spcBef>
                <a:spcPts val="0"/>
              </a:spcBef>
              <a:spcAft>
                <a:spcPts val="60"/>
              </a:spcAft>
            </a:pPr>
            <a:r>
              <a:rPr sz="866" b="0" i="0">
                <a:solidFill>
                  <a:srgbClr val="E5E7EB"/>
                </a:solidFill>
                <a:latin typeface="Consolas"/>
              </a:rPr>
              <a:t>    counter += 1</a:t>
            </a:r>
          </a:p>
          <a:p>
            <a:pPr>
              <a:lnSpc>
                <a:spcPct val="100000"/>
              </a:lnSpc>
              <a:spcBef>
                <a:spcPts val="0"/>
              </a:spcBef>
              <a:spcAft>
                <a:spcPts val="60"/>
              </a:spcAft>
            </a:pPr>
            <a:r>
              <a:rPr sz="866" b="0" i="0">
                <a:solidFill>
                  <a:srgbClr val="E5E7EB"/>
                </a:solidFill>
                <a:latin typeface="Consolas"/>
              </a:rPr>
              <a:t>    return counter  # read without global is fine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Classes — the basics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25</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class Point:</a:t>
            </a:r>
            <a:r>
              <a:rPr sz="1500" b="0" i="0">
                <a:solidFill>
                  <a:srgbClr val="16181D"/>
                </a:solidFill>
                <a:latin typeface="Calibri"/>
              </a:rPr>
              <a:t> defines a type · </a:t>
            </a:r>
            <a:r>
              <a:rPr sz="1300" b="0" i="0">
                <a:solidFill>
                  <a:srgbClr val="16181D"/>
                </a:solidFill>
                <a:latin typeface="Consolas"/>
              </a:rPr>
              <a:t>p = Point()</a:t>
            </a:r>
            <a:r>
              <a:rPr sz="1500" b="0" i="0">
                <a:solidFill>
                  <a:srgbClr val="16181D"/>
                </a:solidFill>
                <a:latin typeface="Calibri"/>
              </a:rPr>
              <a:t> makes an instance · </a:t>
            </a:r>
            <a:r>
              <a:rPr sz="1300" b="0" i="0">
                <a:solidFill>
                  <a:srgbClr val="16181D"/>
                </a:solidFill>
                <a:latin typeface="Consolas"/>
              </a:rPr>
              <a:t>__init__(self, x, y)</a:t>
            </a:r>
            <a:r>
              <a:rPr sz="1500" b="0" i="0">
                <a:solidFill>
                  <a:srgbClr val="16181D"/>
                </a:solidFill>
                <a:latin typeface="Calibri"/>
              </a:rPr>
              <a:t> sets state at creation.</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Methods</a:t>
            </a:r>
            <a:r>
              <a:rPr sz="1500" b="0" i="0">
                <a:solidFill>
                  <a:srgbClr val="16181D"/>
                </a:solidFill>
                <a:latin typeface="Calibri"/>
              </a:rPr>
              <a:t> are functions in the class; the first parameter </a:t>
            </a:r>
            <a:r>
              <a:rPr sz="1300" b="0" i="0">
                <a:solidFill>
                  <a:srgbClr val="B3261E"/>
                </a:solidFill>
                <a:latin typeface="Consolas"/>
              </a:rPr>
              <a:t>self</a:t>
            </a:r>
            <a:r>
              <a:rPr sz="1500" b="0" i="0">
                <a:solidFill>
                  <a:srgbClr val="16181D"/>
                </a:solidFill>
                <a:latin typeface="Calibri"/>
              </a:rPr>
              <a:t> is the instance the method was called on — passed implicitly.</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Instances pass by reference</a:t>
            </a:r>
            <a:r>
              <a:rPr sz="1500" b="0" i="0">
                <a:solidFill>
                  <a:srgbClr val="16181D"/>
                </a:solidFill>
                <a:latin typeface="Calibri"/>
              </a:rPr>
              <a:t> — a function can mutate the caller's object (modifiers vs pure, again).</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__str__</a:t>
            </a:r>
            <a:r>
              <a:rPr sz="1500" b="0" i="0">
                <a:solidFill>
                  <a:srgbClr val="16181D"/>
                </a:solidFill>
                <a:latin typeface="Calibri"/>
              </a:rPr>
              <a:t> makes </a:t>
            </a:r>
            <a:r>
              <a:rPr sz="1300" b="0" i="0">
                <a:solidFill>
                  <a:srgbClr val="16181D"/>
                </a:solidFill>
                <a:latin typeface="Consolas"/>
              </a:rPr>
              <a:t>print(obj)</a:t>
            </a:r>
            <a:r>
              <a:rPr sz="1500" b="0" i="0">
                <a:solidFill>
                  <a:srgbClr val="16181D"/>
                </a:solidFill>
                <a:latin typeface="Calibri"/>
              </a:rPr>
              <a:t> readable — every lab tool uses it.</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Return new instances</a:t>
            </a:r>
            <a:r>
              <a:rPr sz="1500" b="0" i="0">
                <a:solidFill>
                  <a:srgbClr val="16181D"/>
                </a:solidFill>
                <a:latin typeface="Calibri"/>
              </a:rPr>
              <a:t> for pure style: </a:t>
            </a:r>
            <a:r>
              <a:rPr sz="1300" b="0" i="0">
                <a:solidFill>
                  <a:srgbClr val="16181D"/>
                </a:solidFill>
                <a:latin typeface="Consolas"/>
              </a:rPr>
              <a:t>def add(a, b): return Point(…)</a:t>
            </a:r>
            <a:r>
              <a:rPr sz="1500" b="0" i="0">
                <a:solidFill>
                  <a:srgbClr val="16181D"/>
                </a:solidFill>
                <a:latin typeface="Calibri"/>
              </a:rPr>
              <a:t> — Lab 8's exact demand.</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point.py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945" b="0" i="0">
                <a:solidFill>
                  <a:srgbClr val="E5E7EB"/>
                </a:solidFill>
                <a:latin typeface="Consolas"/>
              </a:rPr>
              <a:t>class Point:</a:t>
            </a:r>
          </a:p>
          <a:p>
            <a:pPr>
              <a:lnSpc>
                <a:spcPct val="100000"/>
              </a:lnSpc>
              <a:spcBef>
                <a:spcPts val="0"/>
              </a:spcBef>
              <a:spcAft>
                <a:spcPts val="60"/>
              </a:spcAft>
            </a:pPr>
            <a:r>
              <a:rPr sz="945" b="0" i="0">
                <a:solidFill>
                  <a:srgbClr val="E5E7EB"/>
                </a:solidFill>
                <a:latin typeface="Consolas"/>
              </a:rPr>
              <a:t>    def __init__(self, x, y):</a:t>
            </a:r>
          </a:p>
          <a:p>
            <a:pPr>
              <a:lnSpc>
                <a:spcPct val="100000"/>
              </a:lnSpc>
              <a:spcBef>
                <a:spcPts val="0"/>
              </a:spcBef>
              <a:spcAft>
                <a:spcPts val="60"/>
              </a:spcAft>
            </a:pPr>
            <a:r>
              <a:rPr sz="945" b="0" i="0">
                <a:solidFill>
                  <a:srgbClr val="E5E7EB"/>
                </a:solidFill>
                <a:latin typeface="Consolas"/>
              </a:rPr>
              <a:t>        self.x = x               # attributes</a:t>
            </a:r>
          </a:p>
          <a:p>
            <a:pPr>
              <a:lnSpc>
                <a:spcPct val="100000"/>
              </a:lnSpc>
              <a:spcBef>
                <a:spcPts val="0"/>
              </a:spcBef>
              <a:spcAft>
                <a:spcPts val="60"/>
              </a:spcAft>
            </a:pPr>
            <a:r>
              <a:rPr sz="945" b="0" i="0">
                <a:solidFill>
                  <a:srgbClr val="E5E7EB"/>
                </a:solidFill>
                <a:latin typeface="Consolas"/>
              </a:rPr>
              <a:t>        self.y = y</a:t>
            </a:r>
          </a:p>
          <a:p>
            <a:pPr>
              <a:lnSpc>
                <a:spcPct val="100000"/>
              </a:lnSpc>
              <a:spcBef>
                <a:spcPts val="0"/>
              </a:spcBef>
              <a:spcAft>
                <a:spcPts val="60"/>
              </a:spcAft>
            </a:pPr>
            <a:r>
              <a:rPr sz="945" b="0" i="0">
                <a:solidFill>
                  <a:srgbClr val="E5E7EB"/>
                </a:solidFill>
                <a:latin typeface="Consolas"/>
              </a:rPr>
              <a:t> </a:t>
            </a:r>
          </a:p>
          <a:p>
            <a:pPr>
              <a:lnSpc>
                <a:spcPct val="100000"/>
              </a:lnSpc>
              <a:spcBef>
                <a:spcPts val="0"/>
              </a:spcBef>
              <a:spcAft>
                <a:spcPts val="60"/>
              </a:spcAft>
            </a:pPr>
            <a:r>
              <a:rPr sz="945" b="0" i="0">
                <a:solidFill>
                  <a:srgbClr val="E5E7EB"/>
                </a:solidFill>
                <a:latin typeface="Consolas"/>
              </a:rPr>
              <a:t>    def __str__(self):            # print(p) reads well</a:t>
            </a:r>
          </a:p>
          <a:p>
            <a:pPr>
              <a:lnSpc>
                <a:spcPct val="100000"/>
              </a:lnSpc>
              <a:spcBef>
                <a:spcPts val="0"/>
              </a:spcBef>
              <a:spcAft>
                <a:spcPts val="60"/>
              </a:spcAft>
            </a:pPr>
            <a:r>
              <a:rPr sz="945" b="0" i="0">
                <a:solidFill>
                  <a:srgbClr val="E5E7EB"/>
                </a:solidFill>
                <a:latin typeface="Consolas"/>
              </a:rPr>
              <a:t>        return f"Point({self.x}, {self.y})"</a:t>
            </a:r>
          </a:p>
          <a:p>
            <a:pPr>
              <a:lnSpc>
                <a:spcPct val="100000"/>
              </a:lnSpc>
              <a:spcBef>
                <a:spcPts val="0"/>
              </a:spcBef>
              <a:spcAft>
                <a:spcPts val="60"/>
              </a:spcAft>
            </a:pPr>
            <a:r>
              <a:rPr sz="945" b="0" i="0">
                <a:solidFill>
                  <a:srgbClr val="E5E7EB"/>
                </a:solidFill>
                <a:latin typeface="Consolas"/>
              </a:rPr>
              <a:t> </a:t>
            </a:r>
          </a:p>
          <a:p>
            <a:pPr>
              <a:lnSpc>
                <a:spcPct val="100000"/>
              </a:lnSpc>
              <a:spcBef>
                <a:spcPts val="0"/>
              </a:spcBef>
              <a:spcAft>
                <a:spcPts val="60"/>
              </a:spcAft>
            </a:pPr>
            <a:r>
              <a:rPr sz="945" b="0" i="0">
                <a:solidFill>
                  <a:srgbClr val="E5E7EB"/>
                </a:solidFill>
                <a:latin typeface="Consolas"/>
              </a:rPr>
              <a:t>    def move(self, dx, dy):       # modifier</a:t>
            </a:r>
          </a:p>
          <a:p>
            <a:pPr>
              <a:lnSpc>
                <a:spcPct val="100000"/>
              </a:lnSpc>
              <a:spcBef>
                <a:spcPts val="0"/>
              </a:spcBef>
              <a:spcAft>
                <a:spcPts val="60"/>
              </a:spcAft>
            </a:pPr>
            <a:r>
              <a:rPr sz="945" b="0" i="0">
                <a:solidFill>
                  <a:srgbClr val="E5E7EB"/>
                </a:solidFill>
                <a:latin typeface="Consolas"/>
              </a:rPr>
              <a:t>        self.x += dx</a:t>
            </a:r>
          </a:p>
          <a:p>
            <a:pPr>
              <a:lnSpc>
                <a:spcPct val="100000"/>
              </a:lnSpc>
              <a:spcBef>
                <a:spcPts val="0"/>
              </a:spcBef>
              <a:spcAft>
                <a:spcPts val="60"/>
              </a:spcAft>
            </a:pPr>
            <a:r>
              <a:rPr sz="945" b="0" i="0">
                <a:solidFill>
                  <a:srgbClr val="E5E7EB"/>
                </a:solidFill>
                <a:latin typeface="Consolas"/>
              </a:rPr>
              <a:t>        self.y += dy</a:t>
            </a:r>
          </a:p>
          <a:p>
            <a:pPr>
              <a:lnSpc>
                <a:spcPct val="100000"/>
              </a:lnSpc>
              <a:spcBef>
                <a:spcPts val="0"/>
              </a:spcBef>
              <a:spcAft>
                <a:spcPts val="60"/>
              </a:spcAft>
            </a:pPr>
            <a:r>
              <a:rPr sz="945" b="0" i="0">
                <a:solidFill>
                  <a:srgbClr val="E5E7EB"/>
                </a:solidFill>
                <a:latin typeface="Consolas"/>
              </a:rPr>
              <a:t> </a:t>
            </a:r>
          </a:p>
          <a:p>
            <a:pPr>
              <a:lnSpc>
                <a:spcPct val="100000"/>
              </a:lnSpc>
              <a:spcBef>
                <a:spcPts val="0"/>
              </a:spcBef>
              <a:spcAft>
                <a:spcPts val="60"/>
              </a:spcAft>
            </a:pPr>
            <a:r>
              <a:rPr sz="945" b="0" i="0">
                <a:solidFill>
                  <a:srgbClr val="E5E7EB"/>
                </a:solidFill>
                <a:latin typeface="Consolas"/>
              </a:rPr>
              <a:t>def shift(p, dx):                 # pure: new instance</a:t>
            </a:r>
          </a:p>
          <a:p>
            <a:pPr>
              <a:lnSpc>
                <a:spcPct val="100000"/>
              </a:lnSpc>
              <a:spcBef>
                <a:spcPts val="0"/>
              </a:spcBef>
              <a:spcAft>
                <a:spcPts val="60"/>
              </a:spcAft>
            </a:pPr>
            <a:r>
              <a:rPr sz="945" b="0" i="0">
                <a:solidFill>
                  <a:srgbClr val="E5E7EB"/>
                </a:solidFill>
                <a:latin typeface="Consolas"/>
              </a:rPr>
              <a:t>    return Point(p.x + dx, 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Worked Demo — m04.py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26</a:t>
            </a:r>
          </a:p>
        </p:txBody>
      </p:sp>
      <p:sp>
        <p:nvSpPr>
          <p:cNvPr id="8" name="Rectangle 7"/>
          <p:cNvSpPr/>
          <p:nvPr/>
        </p:nvSpPr>
        <p:spPr>
          <a:xfrm>
            <a:off x="502920" y="1572768"/>
            <a:ext cx="598932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9893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69671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m04.py</a:t>
            </a:r>
          </a:p>
        </p:txBody>
      </p:sp>
      <p:sp>
        <p:nvSpPr>
          <p:cNvPr id="11" name="TextBox 10"/>
          <p:cNvSpPr txBox="1"/>
          <p:nvPr/>
        </p:nvSpPr>
        <p:spPr>
          <a:xfrm>
            <a:off x="667512" y="1975104"/>
            <a:ext cx="5678424" cy="4325112"/>
          </a:xfrm>
          <a:prstGeom prst="rect">
            <a:avLst/>
          </a:prstGeom>
          <a:noFill/>
        </p:spPr>
        <p:txBody>
          <a:bodyPr wrap="none" anchor="t" lIns="0" rIns="0" tIns="0" bIns="0">
            <a:spAutoFit/>
          </a:bodyPr>
          <a:lstStyle/>
          <a:p>
            <a:pPr>
              <a:lnSpc>
                <a:spcPct val="100000"/>
              </a:lnSpc>
              <a:spcBef>
                <a:spcPts val="0"/>
              </a:spcBef>
              <a:spcAft>
                <a:spcPts val="60"/>
              </a:spcAft>
            </a:pPr>
            <a:r>
              <a:rPr sz="796" b="0" i="0">
                <a:solidFill>
                  <a:srgbClr val="E5E7EB"/>
                </a:solidFill>
                <a:latin typeface="Consolas"/>
              </a:rPr>
              <a:t># Module 4 demo -- modules, namespaces &amp; scope, import variants, aliasing</a:t>
            </a:r>
          </a:p>
          <a:p>
            <a:pPr>
              <a:lnSpc>
                <a:spcPct val="100000"/>
              </a:lnSpc>
              <a:spcBef>
                <a:spcPts val="0"/>
              </a:spcBef>
              <a:spcAft>
                <a:spcPts val="60"/>
              </a:spcAft>
            </a:pPr>
            <a:r>
              <a:rPr sz="796" b="0" i="0">
                <a:solidFill>
                  <a:srgbClr val="E5E7EB"/>
                </a:solidFill>
                <a:latin typeface="Consolas"/>
              </a:rPr>
              <a:t># Run   : python3 m04.py</a:t>
            </a:r>
          </a:p>
          <a:p>
            <a:pPr>
              <a:lnSpc>
                <a:spcPct val="100000"/>
              </a:lnSpc>
              <a:spcBef>
                <a:spcPts val="0"/>
              </a:spcBef>
              <a:spcAft>
                <a:spcPts val="60"/>
              </a:spcAft>
            </a:pPr>
            <a:r>
              <a:rPr sz="796" b="0" i="0">
                <a:solidFill>
                  <a:srgbClr val="E5E7EB"/>
                </a:solidFill>
                <a:latin typeface="Consolas"/>
              </a:rPr>
              <a:t>import math                                 # variant 1: whole module</a:t>
            </a:r>
          </a:p>
          <a:p>
            <a:pPr>
              <a:lnSpc>
                <a:spcPct val="100000"/>
              </a:lnSpc>
              <a:spcBef>
                <a:spcPts val="0"/>
              </a:spcBef>
              <a:spcAft>
                <a:spcPts val="60"/>
              </a:spcAft>
            </a:pPr>
            <a:r>
              <a:rPr sz="796" b="0" i="0">
                <a:solidFill>
                  <a:srgbClr val="E5E7EB"/>
                </a:solidFill>
                <a:latin typeface="Consolas"/>
              </a:rPr>
              <a:t>from math import factorial                  # variant 2: one name</a:t>
            </a:r>
          </a:p>
          <a:p>
            <a:pPr>
              <a:lnSpc>
                <a:spcPct val="100000"/>
              </a:lnSpc>
              <a:spcBef>
                <a:spcPts val="0"/>
              </a:spcBef>
              <a:spcAft>
                <a:spcPts val="60"/>
              </a:spcAft>
            </a:pPr>
            <a:r>
              <a:rPr sz="796" b="0" i="0">
                <a:solidFill>
                  <a:srgbClr val="E5E7EB"/>
                </a:solidFill>
                <a:latin typeface="Consolas"/>
              </a:rPr>
              <a:t>from math import sqrt as square_root        # variant 3: renamed import</a:t>
            </a:r>
          </a:p>
          <a:p>
            <a:pPr>
              <a:lnSpc>
                <a:spcPct val="100000"/>
              </a:lnSpc>
              <a:spcBef>
                <a:spcPts val="0"/>
              </a:spcBef>
              <a:spcAft>
                <a:spcPts val="60"/>
              </a:spcAft>
            </a:pPr>
            <a:r>
              <a:rPr sz="796" b="0" i="0">
                <a:solidFill>
                  <a:srgbClr val="E5E7EB"/>
                </a:solidFill>
                <a:latin typeface="Consolas"/>
              </a:rPr>
              <a:t>import random, time</a:t>
            </a:r>
          </a:p>
          <a:p>
            <a:pPr>
              <a:lnSpc>
                <a:spcPct val="100000"/>
              </a:lnSpc>
              <a:spcBef>
                <a:spcPts val="0"/>
              </a:spcBef>
              <a:spcAft>
                <a:spcPts val="60"/>
              </a:spcAft>
            </a:pPr>
            <a:r>
              <a:rPr sz="796" b="0" i="0">
                <a:solidFill>
                  <a:srgbClr val="E5E7EB"/>
                </a:solidFill>
                <a:latin typeface="Consolas"/>
              </a:rPr>
              <a:t> </a:t>
            </a:r>
          </a:p>
          <a:p>
            <a:pPr>
              <a:lnSpc>
                <a:spcPct val="100000"/>
              </a:lnSpc>
              <a:spcBef>
                <a:spcPts val="0"/>
              </a:spcBef>
              <a:spcAft>
                <a:spcPts val="60"/>
              </a:spcAft>
            </a:pPr>
            <a:r>
              <a:rPr sz="796" b="0" i="0">
                <a:solidFill>
                  <a:srgbClr val="E5E7EB"/>
                </a:solidFill>
                <a:latin typeface="Consolas"/>
              </a:rPr>
              <a:t>random.seed(7)                              # deterministic dice, not luck</a:t>
            </a:r>
          </a:p>
          <a:p>
            <a:pPr>
              <a:lnSpc>
                <a:spcPct val="100000"/>
              </a:lnSpc>
              <a:spcBef>
                <a:spcPts val="0"/>
              </a:spcBef>
              <a:spcAft>
                <a:spcPts val="60"/>
              </a:spcAft>
            </a:pPr>
            <a:r>
              <a:rPr sz="796" b="0" i="0">
                <a:solidFill>
                  <a:srgbClr val="E5E7EB"/>
                </a:solidFill>
                <a:latin typeface="Consolas"/>
              </a:rPr>
              <a:t>print("random.random(): %.6f | randint(1,6): %d" % (random.random(), random.randint(1, 6)))</a:t>
            </a:r>
          </a:p>
          <a:p>
            <a:pPr>
              <a:lnSpc>
                <a:spcPct val="100000"/>
              </a:lnSpc>
              <a:spcBef>
                <a:spcPts val="0"/>
              </a:spcBef>
              <a:spcAft>
                <a:spcPts val="60"/>
              </a:spcAft>
            </a:pPr>
            <a:r>
              <a:rPr sz="796" b="0" i="0">
                <a:solidFill>
                  <a:srgbClr val="E5E7EB"/>
                </a:solidFill>
                <a:latin typeface="Consolas"/>
              </a:rPr>
              <a:t>print("math.pi: %.6f | time.time() is a float: %s" % (math.pi, type(time.time()) is float))</a:t>
            </a:r>
          </a:p>
          <a:p>
            <a:pPr>
              <a:lnSpc>
                <a:spcPct val="100000"/>
              </a:lnSpc>
              <a:spcBef>
                <a:spcPts val="0"/>
              </a:spcBef>
              <a:spcAft>
                <a:spcPts val="60"/>
              </a:spcAft>
            </a:pPr>
            <a:r>
              <a:rPr sz="796" b="0" i="0">
                <a:solidFill>
                  <a:srgbClr val="E5E7EB"/>
                </a:solidFill>
                <a:latin typeface="Consolas"/>
              </a:rPr>
              <a:t>print("factorial(6):", factorial(6), "| sqrt(99): %.4f" % square_root(99))</a:t>
            </a:r>
          </a:p>
          <a:p>
            <a:pPr>
              <a:lnSpc>
                <a:spcPct val="100000"/>
              </a:lnSpc>
              <a:spcBef>
                <a:spcPts val="0"/>
              </a:spcBef>
              <a:spcAft>
                <a:spcPts val="60"/>
              </a:spcAft>
            </a:pPr>
            <a:r>
              <a:rPr sz="796" b="0" i="0">
                <a:solidFill>
                  <a:srgbClr val="E5E7EB"/>
                </a:solidFill>
                <a:latin typeface="Consolas"/>
              </a:rPr>
              <a:t> </a:t>
            </a:r>
          </a:p>
          <a:p>
            <a:pPr>
              <a:lnSpc>
                <a:spcPct val="100000"/>
              </a:lnSpc>
              <a:spcBef>
                <a:spcPts val="0"/>
              </a:spcBef>
              <a:spcAft>
                <a:spcPts val="60"/>
              </a:spcAft>
            </a:pPr>
            <a:r>
              <a:rPr sz="796" b="0" i="0">
                <a:solidFill>
                  <a:srgbClr val="E5E7EB"/>
                </a:solidFill>
                <a:latin typeface="Consolas"/>
              </a:rPr>
              <a:t># a module can also be CREATED from code and imported at run time:</a:t>
            </a:r>
          </a:p>
          <a:p>
            <a:pPr>
              <a:lnSpc>
                <a:spcPct val="100000"/>
              </a:lnSpc>
              <a:spcBef>
                <a:spcPts val="0"/>
              </a:spcBef>
              <a:spcAft>
                <a:spcPts val="60"/>
              </a:spcAft>
            </a:pPr>
            <a:r>
              <a:rPr sz="796" b="0" i="0">
                <a:solidFill>
                  <a:srgbClr val="E5E7EB"/>
                </a:solidFill>
                <a:latin typeface="Consolas"/>
              </a:rPr>
              <a:t>  …  (complete source in the course book, §4.2)</a:t>
            </a:r>
          </a:p>
        </p:txBody>
      </p:sp>
      <p:sp>
        <p:nvSpPr>
          <p:cNvPr id="12" name="Rectangle 11"/>
          <p:cNvSpPr/>
          <p:nvPr/>
        </p:nvSpPr>
        <p:spPr>
          <a:xfrm>
            <a:off x="6812280" y="1572768"/>
            <a:ext cx="489204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1664208"/>
            <a:ext cx="461772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SESSION — python3 m04.py</a:t>
            </a:r>
          </a:p>
        </p:txBody>
      </p:sp>
      <p:sp>
        <p:nvSpPr>
          <p:cNvPr id="14" name="TextBox 13"/>
          <p:cNvSpPr txBox="1"/>
          <p:nvPr/>
        </p:nvSpPr>
        <p:spPr>
          <a:xfrm>
            <a:off x="6958584" y="1938528"/>
            <a:ext cx="4617720" cy="4343400"/>
          </a:xfrm>
          <a:prstGeom prst="rect">
            <a:avLst/>
          </a:prstGeom>
          <a:noFill/>
        </p:spPr>
        <p:txBody>
          <a:bodyPr wrap="none" anchor="t" lIns="0" rIns="0" tIns="0" bIns="0">
            <a:spAutoFit/>
          </a:bodyPr>
          <a:lstStyle/>
          <a:p>
            <a:pPr>
              <a:lnSpc>
                <a:spcPct val="100000"/>
              </a:lnSpc>
              <a:spcBef>
                <a:spcPts val="0"/>
              </a:spcBef>
              <a:spcAft>
                <a:spcPts val="60"/>
              </a:spcAft>
            </a:pPr>
            <a:r>
              <a:rPr sz="865" b="0" i="0">
                <a:solidFill>
                  <a:srgbClr val="14171C"/>
                </a:solidFill>
                <a:latin typeface="Consolas"/>
              </a:rPr>
              <a:t>random.random(): 0.323833 | randint(1,6): 2</a:t>
            </a:r>
          </a:p>
          <a:p>
            <a:pPr>
              <a:lnSpc>
                <a:spcPct val="100000"/>
              </a:lnSpc>
              <a:spcBef>
                <a:spcPts val="0"/>
              </a:spcBef>
              <a:spcAft>
                <a:spcPts val="60"/>
              </a:spcAft>
            </a:pPr>
            <a:r>
              <a:rPr sz="865" b="0" i="0">
                <a:solidFill>
                  <a:srgbClr val="14171C"/>
                </a:solidFill>
                <a:latin typeface="Consolas"/>
              </a:rPr>
              <a:t>math.pi: 3.141593 | time.time() is a float: True</a:t>
            </a:r>
          </a:p>
          <a:p>
            <a:pPr>
              <a:lnSpc>
                <a:spcPct val="100000"/>
              </a:lnSpc>
              <a:spcBef>
                <a:spcPts val="0"/>
              </a:spcBef>
              <a:spcAft>
                <a:spcPts val="60"/>
              </a:spcAft>
            </a:pPr>
            <a:r>
              <a:rPr sz="865" b="0" i="0">
                <a:solidFill>
                  <a:srgbClr val="14171C"/>
                </a:solidFill>
                <a:latin typeface="Consolas"/>
              </a:rPr>
              <a:t>factorial(6): 720 | sqrt(99): 9.9499</a:t>
            </a:r>
          </a:p>
          <a:p>
            <a:pPr>
              <a:lnSpc>
                <a:spcPct val="100000"/>
              </a:lnSpc>
              <a:spcBef>
                <a:spcPts val="0"/>
              </a:spcBef>
              <a:spcAft>
                <a:spcPts val="60"/>
              </a:spcAft>
            </a:pPr>
            <a:r>
              <a:rPr sz="865" b="0" i="0">
                <a:solidFill>
                  <a:srgbClr val="14171C"/>
                </a:solidFill>
                <a:latin typeface="Consolas"/>
              </a:rPr>
              <a:t>created module mytools.f_to_c(98.6): 37.00 C</a:t>
            </a:r>
          </a:p>
          <a:p>
            <a:pPr>
              <a:lnSpc>
                <a:spcPct val="100000"/>
              </a:lnSpc>
              <a:spcBef>
                <a:spcPts val="0"/>
              </a:spcBef>
              <a:spcAft>
                <a:spcPts val="60"/>
              </a:spcAft>
            </a:pPr>
            <a:r>
              <a:rPr sz="865" b="0" i="0">
                <a:solidFill>
                  <a:srgbClr val="14171C"/>
                </a:solidFill>
                <a:latin typeface="Consolas"/>
              </a:rPr>
              <a:t> </a:t>
            </a:r>
          </a:p>
          <a:p>
            <a:pPr>
              <a:lnSpc>
                <a:spcPct val="100000"/>
              </a:lnSpc>
              <a:spcBef>
                <a:spcPts val="0"/>
              </a:spcBef>
              <a:spcAft>
                <a:spcPts val="60"/>
              </a:spcAft>
            </a:pPr>
            <a:r>
              <a:rPr sz="865" b="0" i="0">
                <a:solidFill>
                  <a:srgbClr val="14171C"/>
                </a:solidFill>
                <a:latin typeface="Consolas"/>
              </a:rPr>
              <a:t>global counter after two bump(): 2 (lookup: local-&gt;global-&gt;built-in)</a:t>
            </a:r>
          </a:p>
          <a:p>
            <a:pPr>
              <a:lnSpc>
                <a:spcPct val="100000"/>
              </a:lnSpc>
              <a:spcBef>
                <a:spcPts val="0"/>
              </a:spcBef>
              <a:spcAft>
                <a:spcPts val="60"/>
              </a:spcAft>
            </a:pPr>
            <a:r>
              <a:rPr sz="865" b="0" i="0">
                <a:solidFill>
                  <a:srgbClr val="14171C"/>
                </a:solidFill>
                <a:latin typeface="Consolas"/>
              </a:rPr>
              <a:t>shared default list aliased: True -&gt; ['a', 'b']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4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27</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Q1.  </a:t>
            </a:r>
            <a:r>
              <a:rPr sz="1500" b="0" i="0">
                <a:solidFill>
                  <a:srgbClr val="16181D"/>
                </a:solidFill>
                <a:latin typeface="Calibri"/>
              </a:rPr>
              <a:t>List the three import variants with their call-site syntax, and state when each is the right choice.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Q2.  </a:t>
            </a:r>
            <a:r>
              <a:rPr sz="1500" b="0" i="0">
                <a:solidFill>
                  <a:srgbClr val="16181D"/>
                </a:solidFill>
                <a:latin typeface="Calibri"/>
              </a:rPr>
              <a:t>Trace the lookup of name counter in: module defines it, function reads it, function assigns it without global. What error appears, and why is that a feature?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Q3.  </a:t>
            </a:r>
            <a:r>
              <a:rPr sz="1500" b="0" i="0">
                <a:solidFill>
                  <a:srgbClr val="16181D"/>
                </a:solidFill>
                <a:latin typeface="Calibri"/>
              </a:rPr>
              <a:t>Explain the mutable-default trap: what is first is second after two calls to def add_item(item, bag=[]), and how do you fix the signature?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Q4.  </a:t>
            </a:r>
            <a:r>
              <a:rPr sz="1500" b="0" i="0">
                <a:solidFill>
                  <a:srgbClr val="16181D"/>
                </a:solidFill>
                <a:latin typeface="Calibri"/>
              </a:rPr>
              <a:t>Why is aliasing harmless for tuples and strings but not for lists? Connect the answer to mutability, not to syntax.</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Q5.  </a:t>
            </a:r>
            <a:r>
              <a:rPr sz="1500" b="0" i="0">
                <a:solidFill>
                  <a:srgbClr val="16181D"/>
                </a:solidFill>
                <a:latin typeface="Calibri"/>
              </a:rPr>
              <a:t>Write the Point class with __init__ and __str__ so that print(Point(3, 4)) reads “Point(3, 4)”.</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Q6.  </a:t>
            </a:r>
            <a:r>
              <a:rPr sz="1500" b="0" i="0">
                <a:solidFill>
                  <a:srgbClr val="16181D"/>
                </a:solidFill>
                <a:latin typeface="Calibri"/>
              </a:rPr>
              <a:t>Give one use each of time.time(), random.choice() and math.floor() that a lab record would accept.</a:t>
            </a:r>
          </a:p>
        </p:txBody>
      </p:sp>
      <p:sp>
        <p:nvSpPr>
          <p:cNvPr id="9" name="TextBox 8"/>
          <p:cNvSpPr txBox="1"/>
          <p:nvPr/>
        </p:nvSpPr>
        <p:spPr>
          <a:xfrm>
            <a:off x="502920" y="6035040"/>
            <a:ext cx="11155680" cy="36576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Model answers: course book §4.5 · these are also IA-test-shaped practice.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5 — Objects, Inheritance, Operator Overloading and Exceptions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28</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CO5 (primary) · CO1 + CO3 supporting</a:t>
            </a:r>
            <a:r>
              <a:rPr sz="1350" b="0" i="0">
                <a:solidFill>
                  <a:srgbClr val="4B5563"/>
                </a:solidFill>
                <a:latin typeface="Calibri"/>
              </a:rPr>
              <a:t>    ·    8 lecture hours · supports Lab Experiments 7, 8, 10, 11</a:t>
            </a:r>
            <a:r>
              <a:rPr sz="1250" b="0" i="0">
                <a:solidFill>
                  <a:srgbClr val="4B5563"/>
                </a:solidFill>
                <a:latin typeface="Calibri"/>
              </a:rPr>
              <a:t>    ·    textbook 11.2.2–11.2.4, 11.3.2–11.3.9, 12.1, 12.2</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OOP continued — objects are mutable, sameness (is vs ==), copying (shallow vs deep)</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Inheritance — pure functions, modifiers, generalization, operator overloading, polymorphism</a:t>
            </a:r>
          </a:p>
          <a:p>
            <a:pPr marL="201168" indent="-201168">
              <a:lnSpc>
                <a:spcPct val="104000"/>
              </a:lnSpc>
              <a:spcBef>
                <a:spcPts val="0"/>
              </a:spcBef>
              <a:spcAft>
                <a:spcPts val="800"/>
              </a:spcAft>
            </a:pPr>
            <a:r>
              <a:rPr sz="1450" b="1" i="0">
                <a:solidFill>
                  <a:srgbClr val="B3261E"/>
                </a:solidFill>
                <a:latin typeface="Calibri"/>
              </a:rPr>
              <a:t>•  </a:t>
            </a:r>
            <a:r>
              <a:rPr sz="1450" b="0" i="0">
                <a:solidFill>
                  <a:srgbClr val="16181D"/>
                </a:solidFill>
                <a:latin typeface="Calibri"/>
              </a:rPr>
              <a:t>Exceptions — catching, and raising your own</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MODULE-5 SYLLABUS (VERBATIM)</a:t>
            </a:r>
          </a:p>
          <a:p>
            <a:pPr>
              <a:lnSpc>
                <a:spcPct val="108000"/>
              </a:lnSpc>
              <a:spcBef>
                <a:spcPts val="0"/>
              </a:spcBef>
              <a:spcAft>
                <a:spcPts val="0"/>
              </a:spcAft>
            </a:pPr>
            <a:r>
              <a:rPr sz="1100" b="0" i="0">
                <a:solidFill>
                  <a:srgbClr val="16181D"/>
                </a:solidFill>
                <a:latin typeface="Calibri"/>
              </a:rPr>
              <a:t>Object oriented programming: Objects are mutable, Sameness, Copying. Inheritance: Pure functions, Modifiers, Generalization, Operator Overloading, Polymorphism. Exceptions: Catching Exceptions, Raising your own exceptions. Chapter: 11.2.2-11.2.4, 11.3.2-11.3.9, 12.1, 12.2 · Number of Hours: 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Sameness &amp; copying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29</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Objects are mutable</a:t>
            </a:r>
            <a:r>
              <a:rPr sz="1500" b="0" i="0">
                <a:solidFill>
                  <a:srgbClr val="16181D"/>
                </a:solidFill>
                <a:latin typeface="Calibri"/>
              </a:rPr>
              <a:t> — a method through any alias changes the state every alias sees.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Sameness has two tests: </a:t>
            </a:r>
            <a:r>
              <a:rPr sz="1300" b="0" i="0">
                <a:solidFill>
                  <a:srgbClr val="B3261E"/>
                </a:solidFill>
                <a:latin typeface="Consolas"/>
              </a:rPr>
              <a:t>a is b</a:t>
            </a:r>
            <a:r>
              <a:rPr sz="1500" b="0" i="0">
                <a:solidFill>
                  <a:srgbClr val="16181D"/>
                </a:solidFill>
                <a:latin typeface="Calibri"/>
              </a:rPr>
              <a:t> (one object) vs </a:t>
            </a:r>
            <a:r>
              <a:rPr sz="1300" b="0" i="0">
                <a:solidFill>
                  <a:srgbClr val="B3261E"/>
                </a:solidFill>
                <a:latin typeface="Consolas"/>
              </a:rPr>
              <a:t>a == b</a:t>
            </a:r>
            <a:r>
              <a:rPr sz="1500" b="0" i="0">
                <a:solidFill>
                  <a:srgbClr val="16181D"/>
                </a:solidFill>
                <a:latin typeface="Calibri"/>
              </a:rPr>
              <a:t> (equal state; identity without </a:t>
            </a:r>
            <a:r>
              <a:rPr sz="1300" b="0" i="0">
                <a:solidFill>
                  <a:srgbClr val="16181D"/>
                </a:solidFill>
                <a:latin typeface="Consolas"/>
              </a:rPr>
              <a:t>__eq__</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Shallow copy</a:t>
            </a:r>
            <a:r>
              <a:rPr sz="1500" b="0" i="0">
                <a:solidFill>
                  <a:srgbClr val="16181D"/>
                </a:solidFill>
                <a:latin typeface="Calibri"/>
              </a:rPr>
              <a:t> </a:t>
            </a:r>
            <a:r>
              <a:rPr sz="1300" b="0" i="0">
                <a:solidFill>
                  <a:srgbClr val="16181D"/>
                </a:solidFill>
                <a:latin typeface="Consolas"/>
              </a:rPr>
              <a:t>copy.copy</a:t>
            </a:r>
            <a:r>
              <a:rPr sz="1500" b="0" i="0">
                <a:solidFill>
                  <a:srgbClr val="16181D"/>
                </a:solidFill>
                <a:latin typeface="Calibri"/>
              </a:rPr>
              <a:t> — new top level, nested shared · </a:t>
            </a:r>
            <a:r>
              <a:rPr sz="1500" b="1" i="0">
                <a:solidFill>
                  <a:srgbClr val="16181D"/>
                </a:solidFill>
                <a:latin typeface="Calibri"/>
              </a:rPr>
              <a:t>deep copy</a:t>
            </a:r>
            <a:r>
              <a:rPr sz="1500" b="0" i="0">
                <a:solidFill>
                  <a:srgbClr val="16181D"/>
                </a:solidFill>
                <a:latin typeface="Calibri"/>
              </a:rPr>
              <a:t> </a:t>
            </a:r>
            <a:r>
              <a:rPr sz="1300" b="0" i="0">
                <a:solidFill>
                  <a:srgbClr val="16181D"/>
                </a:solidFill>
                <a:latin typeface="Consolas"/>
              </a:rPr>
              <a:t>copy.deepcopy</a:t>
            </a:r>
            <a:r>
              <a:rPr sz="1500" b="0" i="0">
                <a:solidFill>
                  <a:srgbClr val="16181D"/>
                </a:solidFill>
                <a:latin typeface="Calibri"/>
              </a:rPr>
              <a:t> — fully separate.</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copying.py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1082" b="0" i="0">
                <a:solidFill>
                  <a:srgbClr val="E5E7EB"/>
                </a:solidFill>
                <a:latin typeface="Consolas"/>
              </a:rPr>
              <a:t>import copy</a:t>
            </a:r>
          </a:p>
          <a:p>
            <a:pPr>
              <a:lnSpc>
                <a:spcPct val="100000"/>
              </a:lnSpc>
              <a:spcBef>
                <a:spcPts val="0"/>
              </a:spcBef>
              <a:spcAft>
                <a:spcPts val="60"/>
              </a:spcAft>
            </a:pPr>
            <a:r>
              <a:rPr sz="1082" b="0" i="0">
                <a:solidFill>
                  <a:srgbClr val="E5E7EB"/>
                </a:solidFill>
                <a:latin typeface="Consolas"/>
              </a:rPr>
              <a:t>a = Account("Ravi", 100)</a:t>
            </a:r>
          </a:p>
          <a:p>
            <a:pPr>
              <a:lnSpc>
                <a:spcPct val="100000"/>
              </a:lnSpc>
              <a:spcBef>
                <a:spcPts val="0"/>
              </a:spcBef>
              <a:spcAft>
                <a:spcPts val="60"/>
              </a:spcAft>
            </a:pPr>
            <a:r>
              <a:rPr sz="1082" b="0" i="0">
                <a:solidFill>
                  <a:srgbClr val="E5E7EB"/>
                </a:solidFill>
                <a:latin typeface="Consolas"/>
              </a:rPr>
              <a:t>b = a                             # alias</a:t>
            </a:r>
          </a:p>
          <a:p>
            <a:pPr>
              <a:lnSpc>
                <a:spcPct val="100000"/>
              </a:lnSpc>
              <a:spcBef>
                <a:spcPts val="0"/>
              </a:spcBef>
              <a:spcAft>
                <a:spcPts val="60"/>
              </a:spcAft>
            </a:pPr>
            <a:r>
              <a:rPr sz="1082" b="0" i="0">
                <a:solidFill>
                  <a:srgbClr val="E5E7EB"/>
                </a:solidFill>
                <a:latin typeface="Consolas"/>
              </a:rPr>
              <a:t>c = copy.deepcopy(a)             # separate</a:t>
            </a:r>
          </a:p>
          <a:p>
            <a:pPr>
              <a:lnSpc>
                <a:spcPct val="100000"/>
              </a:lnSpc>
              <a:spcBef>
                <a:spcPts val="0"/>
              </a:spcBef>
              <a:spcAft>
                <a:spcPts val="60"/>
              </a:spcAft>
            </a:pPr>
            <a:r>
              <a:rPr sz="1082" b="0" i="0">
                <a:solidFill>
                  <a:srgbClr val="E5E7EB"/>
                </a:solidFill>
                <a:latin typeface="Consolas"/>
              </a:rPr>
              <a:t>b.deposit(50)</a:t>
            </a:r>
          </a:p>
          <a:p>
            <a:pPr>
              <a:lnSpc>
                <a:spcPct val="100000"/>
              </a:lnSpc>
              <a:spcBef>
                <a:spcPts val="0"/>
              </a:spcBef>
              <a:spcAft>
                <a:spcPts val="60"/>
              </a:spcAft>
            </a:pPr>
            <a:r>
              <a:rPr sz="1082" b="0" i="0">
                <a:solidFill>
                  <a:srgbClr val="E5E7EB"/>
                </a:solidFill>
                <a:latin typeface="Consolas"/>
              </a:rPr>
              <a:t>print(a.balance, c.balance)       # 150.0  100.0</a:t>
            </a:r>
          </a:p>
          <a:p>
            <a:pPr>
              <a:lnSpc>
                <a:spcPct val="100000"/>
              </a:lnSpc>
              <a:spcBef>
                <a:spcPts val="0"/>
              </a:spcBef>
              <a:spcAft>
                <a:spcPts val="60"/>
              </a:spcAft>
            </a:pPr>
            <a:r>
              <a:rPr sz="1082" b="0" i="0">
                <a:solidFill>
                  <a:srgbClr val="E5E7EB"/>
                </a:solidFill>
                <a:latin typeface="Consolas"/>
              </a:rPr>
              <a:t>print(a is b, a == c)             # True   False</a:t>
            </a:r>
          </a:p>
          <a:p>
            <a:pPr>
              <a:lnSpc>
                <a:spcPct val="100000"/>
              </a:lnSpc>
              <a:spcBef>
                <a:spcPts val="0"/>
              </a:spcBef>
              <a:spcAft>
                <a:spcPts val="60"/>
              </a:spcAft>
            </a:pPr>
            <a:r>
              <a:rPr sz="1082" b="0" i="0">
                <a:solidFill>
                  <a:srgbClr val="E5E7EB"/>
                </a:solidFill>
                <a:latin typeface="Consolas"/>
              </a:rPr>
              <a:t># __str__ shows: Account(Ravi, Rs 150.00)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Inheritance, overloading, polymorphism</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30</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class Savings(Account):</a:t>
            </a:r>
            <a:r>
              <a:rPr sz="1500" b="0" i="0">
                <a:solidFill>
                  <a:srgbClr val="16181D"/>
                </a:solidFill>
                <a:latin typeface="Calibri"/>
              </a:rPr>
              <a:t> gains everything · </a:t>
            </a:r>
            <a:r>
              <a:rPr sz="1300" b="0" i="0">
                <a:solidFill>
                  <a:srgbClr val="16181D"/>
                </a:solidFill>
                <a:latin typeface="Consolas"/>
              </a:rPr>
              <a:t>super().__init__(…)</a:t>
            </a:r>
            <a:r>
              <a:rPr sz="1500" b="0" i="0">
                <a:solidFill>
                  <a:srgbClr val="16181D"/>
                </a:solidFill>
                <a:latin typeface="Calibri"/>
              </a:rPr>
              <a:t> chains construction · redefine = </a:t>
            </a:r>
            <a:r>
              <a:rPr sz="1500" b="1" i="0">
                <a:solidFill>
                  <a:srgbClr val="16181D"/>
                </a:solidFill>
                <a:latin typeface="Calibri"/>
              </a:rPr>
              <a:t>override</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Generalization</a:t>
            </a:r>
            <a:r>
              <a:rPr sz="1500" b="0" i="0">
                <a:solidFill>
                  <a:srgbClr val="16181D"/>
                </a:solidFill>
                <a:latin typeface="Calibri"/>
              </a:rPr>
              <a:t> — pull shared state/methods into a base class; differences stay in children.</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Polymorphism</a:t>
            </a:r>
            <a:r>
              <a:rPr sz="1500" b="0" i="0">
                <a:solidFill>
                  <a:srgbClr val="16181D"/>
                </a:solidFill>
                <a:latin typeface="Calibri"/>
              </a:rPr>
              <a:t> — one </a:t>
            </a:r>
            <a:r>
              <a:rPr sz="1300" b="0" i="0">
                <a:solidFill>
                  <a:srgbClr val="16181D"/>
                </a:solidFill>
                <a:latin typeface="Consolas"/>
              </a:rPr>
              <a:t>print</a:t>
            </a:r>
            <a:r>
              <a:rPr sz="1500" b="0" i="0">
                <a:solidFill>
                  <a:srgbClr val="16181D"/>
                </a:solidFill>
                <a:latin typeface="Calibri"/>
              </a:rPr>
              <a:t> call, many classes; </a:t>
            </a:r>
            <a:r>
              <a:rPr sz="1300" b="0" i="0">
                <a:solidFill>
                  <a:srgbClr val="16181D"/>
                </a:solidFill>
                <a:latin typeface="Consolas"/>
              </a:rPr>
              <a:t>isinstance(Savings(), Account)</a:t>
            </a:r>
            <a:r>
              <a:rPr sz="1500" b="0" i="0">
                <a:solidFill>
                  <a:srgbClr val="16181D"/>
                </a:solidFill>
                <a:latin typeface="Calibri"/>
              </a:rPr>
              <a:t> stays True ("is-a").</a:t>
            </a:r>
          </a:p>
          <a:p>
            <a:pPr marL="201168" indent="-201168">
              <a:lnSpc>
                <a:spcPct val="104000"/>
              </a:lnSpc>
              <a:spcBef>
                <a:spcPts val="0"/>
              </a:spcBef>
              <a:spcAft>
                <a:spcPts val="700"/>
              </a:spcAft>
            </a:pPr>
            <a:r>
              <a:rPr sz="1500" b="1" i="0">
                <a:solidFill>
                  <a:srgbClr val="B3261E"/>
                </a:solidFill>
                <a:latin typeface="Calibri"/>
              </a:rPr>
              <a:t>•  </a:t>
            </a:r>
            <a:r>
              <a:rPr sz="1500" b="1" i="0">
                <a:solidFill>
                  <a:srgbClr val="16181D"/>
                </a:solidFill>
                <a:latin typeface="Calibri"/>
              </a:rPr>
              <a:t>Operator overloading</a:t>
            </a:r>
            <a:r>
              <a:rPr sz="1500" b="0" i="0">
                <a:solidFill>
                  <a:srgbClr val="16181D"/>
                </a:solidFill>
                <a:latin typeface="Calibri"/>
              </a:rPr>
              <a:t> — </a:t>
            </a:r>
            <a:r>
              <a:rPr sz="1300" b="0" i="0">
                <a:solidFill>
                  <a:srgbClr val="16181D"/>
                </a:solidFill>
                <a:latin typeface="Consolas"/>
              </a:rPr>
              <a:t>__add__, __lt__, __str__</a:t>
            </a:r>
            <a:r>
              <a:rPr sz="1500" b="0" i="0">
                <a:solidFill>
                  <a:srgbClr val="16181D"/>
                </a:solidFill>
                <a:latin typeface="Calibri"/>
              </a:rPr>
              <a:t> teach </a:t>
            </a:r>
            <a:r>
              <a:rPr sz="1300" b="0" i="0">
                <a:solidFill>
                  <a:srgbClr val="16181D"/>
                </a:solidFill>
                <a:latin typeface="Consolas"/>
              </a:rPr>
              <a:t>+ &lt; print</a:t>
            </a:r>
            <a:r>
              <a:rPr sz="1500" b="0" i="0">
                <a:solidFill>
                  <a:srgbClr val="16181D"/>
                </a:solidFill>
                <a:latin typeface="Calibri"/>
              </a:rPr>
              <a:t> to your class.</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inherit.py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838" b="0" i="0">
                <a:solidFill>
                  <a:srgbClr val="E5E7EB"/>
                </a:solidFill>
                <a:latin typeface="Consolas"/>
              </a:rPr>
              <a:t>class Account:</a:t>
            </a:r>
          </a:p>
          <a:p>
            <a:pPr>
              <a:lnSpc>
                <a:spcPct val="100000"/>
              </a:lnSpc>
              <a:spcBef>
                <a:spcPts val="0"/>
              </a:spcBef>
              <a:spcAft>
                <a:spcPts val="60"/>
              </a:spcAft>
            </a:pPr>
            <a:r>
              <a:rPr sz="838" b="0" i="0">
                <a:solidFill>
                  <a:srgbClr val="E5E7EB"/>
                </a:solidFill>
                <a:latin typeface="Consolas"/>
              </a:rPr>
              <a:t>    def __init__(self, owner, bal=0.0):</a:t>
            </a:r>
          </a:p>
          <a:p>
            <a:pPr>
              <a:lnSpc>
                <a:spcPct val="100000"/>
              </a:lnSpc>
              <a:spcBef>
                <a:spcPts val="0"/>
              </a:spcBef>
              <a:spcAft>
                <a:spcPts val="60"/>
              </a:spcAft>
            </a:pPr>
            <a:r>
              <a:rPr sz="838" b="0" i="0">
                <a:solidFill>
                  <a:srgbClr val="E5E7EB"/>
                </a:solidFill>
                <a:latin typeface="Consolas"/>
              </a:rPr>
              <a:t>        self.owner, self.balance = owner, bal</a:t>
            </a:r>
          </a:p>
          <a:p>
            <a:pPr>
              <a:lnSpc>
                <a:spcPct val="100000"/>
              </a:lnSpc>
              <a:spcBef>
                <a:spcPts val="0"/>
              </a:spcBef>
              <a:spcAft>
                <a:spcPts val="60"/>
              </a:spcAft>
            </a:pPr>
            <a:r>
              <a:rPr sz="838" b="0" i="0">
                <a:solidFill>
                  <a:srgbClr val="E5E7EB"/>
                </a:solidFill>
                <a:latin typeface="Consolas"/>
              </a:rPr>
              <a:t>    def __str__(self):</a:t>
            </a:r>
          </a:p>
          <a:p>
            <a:pPr>
              <a:lnSpc>
                <a:spcPct val="100000"/>
              </a:lnSpc>
              <a:spcBef>
                <a:spcPts val="0"/>
              </a:spcBef>
              <a:spcAft>
                <a:spcPts val="60"/>
              </a:spcAft>
            </a:pPr>
            <a:r>
              <a:rPr sz="838" b="0" i="0">
                <a:solidFill>
                  <a:srgbClr val="E5E7EB"/>
                </a:solidFill>
                <a:latin typeface="Consolas"/>
              </a:rPr>
              <a:t>        return f"Account({self.owner}, Rs {self.balance:.2f})"</a:t>
            </a:r>
          </a:p>
          <a:p>
            <a:pPr>
              <a:lnSpc>
                <a:spcPct val="100000"/>
              </a:lnSpc>
              <a:spcBef>
                <a:spcPts val="0"/>
              </a:spcBef>
              <a:spcAft>
                <a:spcPts val="60"/>
              </a:spcAft>
            </a:pPr>
            <a:r>
              <a:rPr sz="838" b="0" i="0">
                <a:solidFill>
                  <a:srgbClr val="E5E7EB"/>
                </a:solidFill>
                <a:latin typeface="Consolas"/>
              </a:rPr>
              <a:t> </a:t>
            </a:r>
          </a:p>
          <a:p>
            <a:pPr>
              <a:lnSpc>
                <a:spcPct val="100000"/>
              </a:lnSpc>
              <a:spcBef>
                <a:spcPts val="0"/>
              </a:spcBef>
              <a:spcAft>
                <a:spcPts val="60"/>
              </a:spcAft>
            </a:pPr>
            <a:r>
              <a:rPr sz="838" b="0" i="0">
                <a:solidFill>
                  <a:srgbClr val="E5E7EB"/>
                </a:solidFill>
                <a:latin typeface="Consolas"/>
              </a:rPr>
              <a:t>class Savings(Account):           # inheritance</a:t>
            </a:r>
          </a:p>
          <a:p>
            <a:pPr>
              <a:lnSpc>
                <a:spcPct val="100000"/>
              </a:lnSpc>
              <a:spcBef>
                <a:spcPts val="0"/>
              </a:spcBef>
              <a:spcAft>
                <a:spcPts val="60"/>
              </a:spcAft>
            </a:pPr>
            <a:r>
              <a:rPr sz="838" b="0" i="0">
                <a:solidFill>
                  <a:srgbClr val="E5E7EB"/>
                </a:solidFill>
                <a:latin typeface="Consolas"/>
              </a:rPr>
              <a:t>    def __str__(self):            # override</a:t>
            </a:r>
          </a:p>
          <a:p>
            <a:pPr>
              <a:lnSpc>
                <a:spcPct val="100000"/>
              </a:lnSpc>
              <a:spcBef>
                <a:spcPts val="0"/>
              </a:spcBef>
              <a:spcAft>
                <a:spcPts val="60"/>
              </a:spcAft>
            </a:pPr>
            <a:r>
              <a:rPr sz="838" b="0" i="0">
                <a:solidFill>
                  <a:srgbClr val="E5E7EB"/>
                </a:solidFill>
                <a:latin typeface="Consolas"/>
              </a:rPr>
              <a:t>        return super().__str__() + " (saver)"</a:t>
            </a:r>
          </a:p>
          <a:p>
            <a:pPr>
              <a:lnSpc>
                <a:spcPct val="100000"/>
              </a:lnSpc>
              <a:spcBef>
                <a:spcPts val="0"/>
              </a:spcBef>
              <a:spcAft>
                <a:spcPts val="60"/>
              </a:spcAft>
            </a:pPr>
            <a:r>
              <a:rPr sz="838" b="0" i="0">
                <a:solidFill>
                  <a:srgbClr val="E5E7EB"/>
                </a:solidFill>
                <a:latin typeface="Consolas"/>
              </a:rPr>
              <a:t> </a:t>
            </a:r>
          </a:p>
          <a:p>
            <a:pPr>
              <a:lnSpc>
                <a:spcPct val="100000"/>
              </a:lnSpc>
              <a:spcBef>
                <a:spcPts val="0"/>
              </a:spcBef>
              <a:spcAft>
                <a:spcPts val="60"/>
              </a:spcAft>
            </a:pPr>
            <a:r>
              <a:rPr sz="838" b="0" i="0">
                <a:solidFill>
                  <a:srgbClr val="E5E7EB"/>
                </a:solidFill>
                <a:latin typeface="Consolas"/>
              </a:rPr>
              <a:t>for acc in [a, s]:                # polymorphism</a:t>
            </a:r>
          </a:p>
          <a:p>
            <a:pPr>
              <a:lnSpc>
                <a:spcPct val="100000"/>
              </a:lnSpc>
              <a:spcBef>
                <a:spcPts val="0"/>
              </a:spcBef>
              <a:spcAft>
                <a:spcPts val="60"/>
              </a:spcAft>
            </a:pPr>
            <a:r>
              <a:rPr sz="838" b="0" i="0">
                <a:solidFill>
                  <a:srgbClr val="E5E7EB"/>
                </a:solidFill>
                <a:latin typeface="Consolas"/>
              </a:rPr>
              <a:t>    print(acc)                    # each class's __str__</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CONCEPTS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Exceptions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31</a:t>
            </a:r>
          </a:p>
        </p:txBody>
      </p:sp>
      <p:sp>
        <p:nvSpPr>
          <p:cNvPr id="8" name="TextBox 7"/>
          <p:cNvSpPr txBox="1"/>
          <p:nvPr/>
        </p:nvSpPr>
        <p:spPr>
          <a:xfrm>
            <a:off x="502920" y="1600200"/>
            <a:ext cx="6537960" cy="4818888"/>
          </a:xfrm>
          <a:prstGeom prst="rect">
            <a:avLst/>
          </a:prstGeom>
          <a:noFill/>
        </p:spPr>
        <p:txBody>
          <a:bodyPr wrap="square" anchor="t" lIns="0" rIns="0" tIns="0" bIns="0">
            <a:spAutoFit/>
          </a:bodyPr>
          <a:lstStyle/>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Catching: </a:t>
            </a:r>
            <a:r>
              <a:rPr sz="1300" b="0" i="0">
                <a:solidFill>
                  <a:srgbClr val="16181D"/>
                </a:solidFill>
                <a:latin typeface="Consolas"/>
              </a:rPr>
              <a:t>try: … except ValueError as e: … else: … finally: …</a:t>
            </a:r>
            <a:r>
              <a:rPr sz="1500" b="0" i="0">
                <a:solidFill>
                  <a:srgbClr val="16181D"/>
                </a:solidFill>
                <a:latin typeface="Calibri"/>
              </a:rPr>
              <a:t> — except arms match top-down; catch narrow, never bare.</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assert a &gt; 0, "msg"</a:t>
            </a:r>
            <a:r>
              <a:rPr sz="1500" b="0" i="0">
                <a:solidFill>
                  <a:srgbClr val="16181D"/>
                </a:solidFill>
                <a:latin typeface="Calibri"/>
              </a:rPr>
              <a:t> — developer postulate; vanishes under </a:t>
            </a:r>
            <a:r>
              <a:rPr sz="1300" b="0" i="0">
                <a:solidFill>
                  <a:srgbClr val="16181D"/>
                </a:solidFill>
                <a:latin typeface="Consolas"/>
              </a:rPr>
              <a:t>python -O</a:t>
            </a:r>
            <a:r>
              <a:rPr sz="1500" b="0" i="0">
                <a:solidFill>
                  <a:srgbClr val="16181D"/>
                </a:solidFill>
                <a:latin typeface="Calibri"/>
              </a:rPr>
              <a:t>.</a:t>
            </a:r>
          </a:p>
          <a:p>
            <a:pPr marL="201168" indent="-201168">
              <a:lnSpc>
                <a:spcPct val="104000"/>
              </a:lnSpc>
              <a:spcBef>
                <a:spcPts val="0"/>
              </a:spcBef>
              <a:spcAft>
                <a:spcPts val="700"/>
              </a:spcAft>
            </a:pPr>
            <a:r>
              <a:rPr sz="1500" b="1" i="0">
                <a:solidFill>
                  <a:srgbClr val="B3261E"/>
                </a:solidFill>
                <a:latin typeface="Calibri"/>
              </a:rPr>
              <a:t>•  </a:t>
            </a:r>
            <a:r>
              <a:rPr sz="1300" b="0" i="0">
                <a:solidFill>
                  <a:srgbClr val="16181D"/>
                </a:solidFill>
                <a:latin typeface="Consolas"/>
              </a:rPr>
              <a:t>raise ValueError("why")</a:t>
            </a:r>
            <a:r>
              <a:rPr sz="1500" b="0" i="0">
                <a:solidFill>
                  <a:srgbClr val="16181D"/>
                </a:solidFill>
                <a:latin typeface="Calibri"/>
              </a:rPr>
              <a:t> — caller-facing refusal; ships in production.</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Lab 7 pairs both, deliberately: </a:t>
            </a:r>
            <a:r>
              <a:rPr sz="1300" b="0" i="0">
                <a:solidFill>
                  <a:srgbClr val="16181D"/>
                </a:solidFill>
                <a:latin typeface="Consolas"/>
              </a:rPr>
              <a:t>assert</a:t>
            </a:r>
            <a:r>
              <a:rPr sz="1500" b="0" i="0">
                <a:solidFill>
                  <a:srgbClr val="16181D"/>
                </a:solidFill>
                <a:latin typeface="Calibri"/>
              </a:rPr>
              <a:t> guards the contract </a:t>
            </a:r>
            <a:r>
              <a:rPr sz="1300" b="0" i="0">
                <a:solidFill>
                  <a:srgbClr val="16181D"/>
                </a:solidFill>
                <a:latin typeface="Consolas"/>
              </a:rPr>
              <a:t>a&gt;0</a:t>
            </a:r>
            <a:r>
              <a:rPr sz="1500" b="0" i="0">
                <a:solidFill>
                  <a:srgbClr val="16181D"/>
                </a:solidFill>
                <a:latin typeface="Calibri"/>
              </a:rPr>
              <a:t>, </a:t>
            </a:r>
            <a:r>
              <a:rPr sz="1300" b="0" i="0">
                <a:solidFill>
                  <a:srgbClr val="16181D"/>
                </a:solidFill>
                <a:latin typeface="Consolas"/>
              </a:rPr>
              <a:t>raise</a:t>
            </a:r>
            <a:r>
              <a:rPr sz="1500" b="0" i="0">
                <a:solidFill>
                  <a:srgbClr val="16181D"/>
                </a:solidFill>
                <a:latin typeface="Calibri"/>
              </a:rPr>
              <a:t> answers </a:t>
            </a:r>
            <a:r>
              <a:rPr sz="1300" b="0" i="0">
                <a:solidFill>
                  <a:srgbClr val="16181D"/>
                </a:solidFill>
                <a:latin typeface="Consolas"/>
              </a:rPr>
              <a:t>b==0</a:t>
            </a:r>
            <a:r>
              <a:rPr sz="1500" b="0" i="0">
                <a:solidFill>
                  <a:srgbClr val="16181D"/>
                </a:solidFill>
                <a:latin typeface="Calibri"/>
              </a:rPr>
              <a:t> — two different printed reasons.</a:t>
            </a:r>
          </a:p>
          <a:p>
            <a:pPr marL="201168" indent="-201168">
              <a:lnSpc>
                <a:spcPct val="104000"/>
              </a:lnSpc>
              <a:spcBef>
                <a:spcPts val="0"/>
              </a:spcBef>
              <a:spcAft>
                <a:spcPts val="700"/>
              </a:spcAft>
            </a:pPr>
            <a:r>
              <a:rPr sz="1500" b="1" i="0">
                <a:solidFill>
                  <a:srgbClr val="B3261E"/>
                </a:solidFill>
                <a:latin typeface="Calibri"/>
              </a:rPr>
              <a:t>•  </a:t>
            </a:r>
            <a:r>
              <a:rPr sz="1500" b="0" i="0">
                <a:solidFill>
                  <a:srgbClr val="16181D"/>
                </a:solidFill>
                <a:latin typeface="Calibri"/>
              </a:rPr>
              <a:t>Traceback anatomy: exception name line LAST, message after the colon; the lines above it are the call chain.</a:t>
            </a:r>
          </a:p>
        </p:txBody>
      </p:sp>
      <p:sp>
        <p:nvSpPr>
          <p:cNvPr id="9" name="Rectangle 8"/>
          <p:cNvSpPr/>
          <p:nvPr/>
        </p:nvSpPr>
        <p:spPr>
          <a:xfrm>
            <a:off x="7315200" y="1600200"/>
            <a:ext cx="4389120" cy="4572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0" y="1600200"/>
            <a:ext cx="43891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1650492"/>
            <a:ext cx="409651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guards.py</a:t>
            </a:r>
          </a:p>
        </p:txBody>
      </p:sp>
      <p:sp>
        <p:nvSpPr>
          <p:cNvPr id="12" name="TextBox 11"/>
          <p:cNvSpPr txBox="1"/>
          <p:nvPr/>
        </p:nvSpPr>
        <p:spPr>
          <a:xfrm>
            <a:off x="7479792" y="2002536"/>
            <a:ext cx="4078224" cy="4096512"/>
          </a:xfrm>
          <a:prstGeom prst="rect">
            <a:avLst/>
          </a:prstGeom>
          <a:noFill/>
        </p:spPr>
        <p:txBody>
          <a:bodyPr wrap="none" anchor="t" lIns="0" rIns="0" tIns="0" bIns="0">
            <a:spAutoFit/>
          </a:bodyPr>
          <a:lstStyle/>
          <a:p>
            <a:pPr>
              <a:lnSpc>
                <a:spcPct val="100000"/>
              </a:lnSpc>
              <a:spcBef>
                <a:spcPts val="0"/>
              </a:spcBef>
              <a:spcAft>
                <a:spcPts val="60"/>
              </a:spcAft>
            </a:pPr>
            <a:r>
              <a:rPr sz="928" b="0" i="0">
                <a:solidFill>
                  <a:srgbClr val="E5E7EB"/>
                </a:solidFill>
                <a:latin typeface="Consolas"/>
              </a:rPr>
              <a:t>def DivExp(a, b):</a:t>
            </a:r>
          </a:p>
          <a:p>
            <a:pPr>
              <a:lnSpc>
                <a:spcPct val="100000"/>
              </a:lnSpc>
              <a:spcBef>
                <a:spcPts val="0"/>
              </a:spcBef>
              <a:spcAft>
                <a:spcPts val="60"/>
              </a:spcAft>
            </a:pPr>
            <a:r>
              <a:rPr sz="928" b="0" i="0">
                <a:solidFill>
                  <a:srgbClr val="E5E7EB"/>
                </a:solidFill>
                <a:latin typeface="Consolas"/>
              </a:rPr>
              <a:t>    assert a &gt; 0, "assertion failed: a must be positive"</a:t>
            </a:r>
          </a:p>
          <a:p>
            <a:pPr>
              <a:lnSpc>
                <a:spcPct val="100000"/>
              </a:lnSpc>
              <a:spcBef>
                <a:spcPts val="0"/>
              </a:spcBef>
              <a:spcAft>
                <a:spcPts val="60"/>
              </a:spcAft>
            </a:pPr>
            <a:r>
              <a:rPr sz="928" b="0" i="0">
                <a:solidFill>
                  <a:srgbClr val="E5E7EB"/>
                </a:solidFill>
                <a:latin typeface="Consolas"/>
              </a:rPr>
              <a:t>    if b == 0:</a:t>
            </a:r>
          </a:p>
          <a:p>
            <a:pPr>
              <a:lnSpc>
                <a:spcPct val="100000"/>
              </a:lnSpc>
              <a:spcBef>
                <a:spcPts val="0"/>
              </a:spcBef>
              <a:spcAft>
                <a:spcPts val="60"/>
              </a:spcAft>
            </a:pPr>
            <a:r>
              <a:rPr sz="928" b="0" i="0">
                <a:solidFill>
                  <a:srgbClr val="E5E7EB"/>
                </a:solidFill>
                <a:latin typeface="Consolas"/>
              </a:rPr>
              <a:t>        raise ZeroDivisionError("DivExp refuses b = 0")</a:t>
            </a:r>
          </a:p>
          <a:p>
            <a:pPr>
              <a:lnSpc>
                <a:spcPct val="100000"/>
              </a:lnSpc>
              <a:spcBef>
                <a:spcPts val="0"/>
              </a:spcBef>
              <a:spcAft>
                <a:spcPts val="60"/>
              </a:spcAft>
            </a:pPr>
            <a:r>
              <a:rPr sz="928" b="0" i="0">
                <a:solidFill>
                  <a:srgbClr val="E5E7EB"/>
                </a:solidFill>
                <a:latin typeface="Consolas"/>
              </a:rPr>
              <a:t>    return a / b</a:t>
            </a:r>
          </a:p>
          <a:p>
            <a:pPr>
              <a:lnSpc>
                <a:spcPct val="100000"/>
              </a:lnSpc>
              <a:spcBef>
                <a:spcPts val="0"/>
              </a:spcBef>
              <a:spcAft>
                <a:spcPts val="60"/>
              </a:spcAft>
            </a:pPr>
            <a:r>
              <a:rPr sz="928" b="0" i="0">
                <a:solidFill>
                  <a:srgbClr val="E5E7EB"/>
                </a:solidFill>
                <a:latin typeface="Consolas"/>
              </a:rPr>
              <a:t> </a:t>
            </a:r>
          </a:p>
          <a:p>
            <a:pPr>
              <a:lnSpc>
                <a:spcPct val="100000"/>
              </a:lnSpc>
              <a:spcBef>
                <a:spcPts val="0"/>
              </a:spcBef>
              <a:spcAft>
                <a:spcPts val="60"/>
              </a:spcAft>
            </a:pPr>
            <a:r>
              <a:rPr sz="928" b="0" i="0">
                <a:solidFill>
                  <a:srgbClr val="E5E7EB"/>
                </a:solidFill>
                <a:latin typeface="Consolas"/>
              </a:rPr>
              <a:t>try:</a:t>
            </a:r>
          </a:p>
          <a:p>
            <a:pPr>
              <a:lnSpc>
                <a:spcPct val="100000"/>
              </a:lnSpc>
              <a:spcBef>
                <a:spcPts val="0"/>
              </a:spcBef>
              <a:spcAft>
                <a:spcPts val="60"/>
              </a:spcAft>
            </a:pPr>
            <a:r>
              <a:rPr sz="928" b="0" i="0">
                <a:solidFill>
                  <a:srgbClr val="E5E7EB"/>
                </a:solidFill>
                <a:latin typeface="Consolas"/>
              </a:rPr>
              <a:t>    c = DivExp(a, b)</a:t>
            </a:r>
          </a:p>
          <a:p>
            <a:pPr>
              <a:lnSpc>
                <a:spcPct val="100000"/>
              </a:lnSpc>
              <a:spcBef>
                <a:spcPts val="0"/>
              </a:spcBef>
              <a:spcAft>
                <a:spcPts val="60"/>
              </a:spcAft>
            </a:pPr>
            <a:r>
              <a:rPr sz="928" b="0" i="0">
                <a:solidFill>
                  <a:srgbClr val="E5E7EB"/>
                </a:solidFill>
                <a:latin typeface="Consolas"/>
              </a:rPr>
              <a:t>except ZeroDivisionError as e:</a:t>
            </a:r>
          </a:p>
          <a:p>
            <a:pPr>
              <a:lnSpc>
                <a:spcPct val="100000"/>
              </a:lnSpc>
              <a:spcBef>
                <a:spcPts val="0"/>
              </a:spcBef>
              <a:spcAft>
                <a:spcPts val="60"/>
              </a:spcAft>
            </a:pPr>
            <a:r>
              <a:rPr sz="928" b="0" i="0">
                <a:solidFill>
                  <a:srgbClr val="E5E7EB"/>
                </a:solidFill>
                <a:latin typeface="Consolas"/>
              </a:rPr>
              <a:t>    print(f"{type(e).__name__}: {e}")</a:t>
            </a:r>
          </a:p>
          <a:p>
            <a:pPr>
              <a:lnSpc>
                <a:spcPct val="100000"/>
              </a:lnSpc>
              <a:spcBef>
                <a:spcPts val="0"/>
              </a:spcBef>
              <a:spcAft>
                <a:spcPts val="60"/>
              </a:spcAft>
            </a:pPr>
            <a:r>
              <a:rPr sz="928" b="0" i="0">
                <a:solidFill>
                  <a:srgbClr val="E5E7EB"/>
                </a:solidFill>
                <a:latin typeface="Consolas"/>
              </a:rPr>
              <a:t>except AssertionError as e:</a:t>
            </a:r>
          </a:p>
          <a:p>
            <a:pPr>
              <a:lnSpc>
                <a:spcPct val="100000"/>
              </a:lnSpc>
              <a:spcBef>
                <a:spcPts val="0"/>
              </a:spcBef>
              <a:spcAft>
                <a:spcPts val="60"/>
              </a:spcAft>
            </a:pPr>
            <a:r>
              <a:rPr sz="928" b="0" i="0">
                <a:solidFill>
                  <a:srgbClr val="E5E7EB"/>
                </a:solidFill>
                <a:latin typeface="Consolas"/>
              </a:rPr>
              <a:t>    print(f"AssertionError: {e}")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Worked Demo — m05.py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32</a:t>
            </a:r>
          </a:p>
        </p:txBody>
      </p:sp>
      <p:sp>
        <p:nvSpPr>
          <p:cNvPr id="8" name="Rectangle 7"/>
          <p:cNvSpPr/>
          <p:nvPr/>
        </p:nvSpPr>
        <p:spPr>
          <a:xfrm>
            <a:off x="502920" y="1572768"/>
            <a:ext cx="598932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98932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69671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m05.py</a:t>
            </a:r>
          </a:p>
        </p:txBody>
      </p:sp>
      <p:sp>
        <p:nvSpPr>
          <p:cNvPr id="11" name="TextBox 10"/>
          <p:cNvSpPr txBox="1"/>
          <p:nvPr/>
        </p:nvSpPr>
        <p:spPr>
          <a:xfrm>
            <a:off x="667512" y="1975104"/>
            <a:ext cx="5678424" cy="4325112"/>
          </a:xfrm>
          <a:prstGeom prst="rect">
            <a:avLst/>
          </a:prstGeom>
          <a:noFill/>
        </p:spPr>
        <p:txBody>
          <a:bodyPr wrap="none" anchor="t" lIns="0" rIns="0" tIns="0" bIns="0">
            <a:spAutoFit/>
          </a:bodyPr>
          <a:lstStyle/>
          <a:p>
            <a:pPr>
              <a:lnSpc>
                <a:spcPct val="100000"/>
              </a:lnSpc>
              <a:spcBef>
                <a:spcPts val="0"/>
              </a:spcBef>
              <a:spcAft>
                <a:spcPts val="60"/>
              </a:spcAft>
            </a:pPr>
            <a:r>
              <a:rPr sz="929" b="0" i="0">
                <a:solidFill>
                  <a:srgbClr val="E5E7EB"/>
                </a:solidFill>
                <a:latin typeface="Consolas"/>
              </a:rPr>
              <a:t># Module 5 demo -- mutable objects, sameness, copying, inheritance, exceptions</a:t>
            </a:r>
          </a:p>
          <a:p>
            <a:pPr>
              <a:lnSpc>
                <a:spcPct val="100000"/>
              </a:lnSpc>
              <a:spcBef>
                <a:spcPts val="0"/>
              </a:spcBef>
              <a:spcAft>
                <a:spcPts val="60"/>
              </a:spcAft>
            </a:pPr>
            <a:r>
              <a:rPr sz="929" b="0" i="0">
                <a:solidFill>
                  <a:srgbClr val="E5E7EB"/>
                </a:solidFill>
                <a:latin typeface="Consolas"/>
              </a:rPr>
              <a:t># Run   : python3 m05.py</a:t>
            </a:r>
          </a:p>
          <a:p>
            <a:pPr>
              <a:lnSpc>
                <a:spcPct val="100000"/>
              </a:lnSpc>
              <a:spcBef>
                <a:spcPts val="0"/>
              </a:spcBef>
              <a:spcAft>
                <a:spcPts val="60"/>
              </a:spcAft>
            </a:pPr>
            <a:r>
              <a:rPr sz="929" b="0" i="0">
                <a:solidFill>
                  <a:srgbClr val="E5E7EB"/>
                </a:solidFill>
                <a:latin typeface="Consolas"/>
              </a:rPr>
              <a:t>import copy</a:t>
            </a:r>
          </a:p>
          <a:p>
            <a:pPr>
              <a:lnSpc>
                <a:spcPct val="100000"/>
              </a:lnSpc>
              <a:spcBef>
                <a:spcPts val="0"/>
              </a:spcBef>
              <a:spcAft>
                <a:spcPts val="60"/>
              </a:spcAft>
            </a:pPr>
            <a:r>
              <a:rPr sz="929" b="0" i="0">
                <a:solidFill>
                  <a:srgbClr val="E5E7EB"/>
                </a:solidFill>
                <a:latin typeface="Consolas"/>
              </a:rPr>
              <a:t> </a:t>
            </a:r>
          </a:p>
          <a:p>
            <a:pPr>
              <a:lnSpc>
                <a:spcPct val="100000"/>
              </a:lnSpc>
              <a:spcBef>
                <a:spcPts val="0"/>
              </a:spcBef>
              <a:spcAft>
                <a:spcPts val="60"/>
              </a:spcAft>
            </a:pPr>
            <a:r>
              <a:rPr sz="929" b="0" i="0">
                <a:solidFill>
                  <a:srgbClr val="E5E7EB"/>
                </a:solidFill>
                <a:latin typeface="Consolas"/>
              </a:rPr>
              <a:t>class Account:</a:t>
            </a:r>
          </a:p>
          <a:p>
            <a:pPr>
              <a:lnSpc>
                <a:spcPct val="100000"/>
              </a:lnSpc>
              <a:spcBef>
                <a:spcPts val="0"/>
              </a:spcBef>
              <a:spcAft>
                <a:spcPts val="60"/>
              </a:spcAft>
            </a:pPr>
            <a:r>
              <a:rPr sz="929" b="0" i="0">
                <a:solidFill>
                  <a:srgbClr val="E5E7EB"/>
                </a:solidFill>
                <a:latin typeface="Consolas"/>
              </a:rPr>
              <a:t>    def __init__(self, owner, balance=0.0):</a:t>
            </a:r>
          </a:p>
          <a:p>
            <a:pPr>
              <a:lnSpc>
                <a:spcPct val="100000"/>
              </a:lnSpc>
              <a:spcBef>
                <a:spcPts val="0"/>
              </a:spcBef>
              <a:spcAft>
                <a:spcPts val="60"/>
              </a:spcAft>
            </a:pPr>
            <a:r>
              <a:rPr sz="929" b="0" i="0">
                <a:solidFill>
                  <a:srgbClr val="E5E7EB"/>
                </a:solidFill>
                <a:latin typeface="Consolas"/>
              </a:rPr>
              <a:t>        self.owner = owner</a:t>
            </a:r>
          </a:p>
          <a:p>
            <a:pPr>
              <a:lnSpc>
                <a:spcPct val="100000"/>
              </a:lnSpc>
              <a:spcBef>
                <a:spcPts val="0"/>
              </a:spcBef>
              <a:spcAft>
                <a:spcPts val="60"/>
              </a:spcAft>
            </a:pPr>
            <a:r>
              <a:rPr sz="929" b="0" i="0">
                <a:solidFill>
                  <a:srgbClr val="E5E7EB"/>
                </a:solidFill>
                <a:latin typeface="Consolas"/>
              </a:rPr>
              <a:t>        self.balance = balance</a:t>
            </a:r>
          </a:p>
          <a:p>
            <a:pPr>
              <a:lnSpc>
                <a:spcPct val="100000"/>
              </a:lnSpc>
              <a:spcBef>
                <a:spcPts val="0"/>
              </a:spcBef>
              <a:spcAft>
                <a:spcPts val="60"/>
              </a:spcAft>
            </a:pPr>
            <a:r>
              <a:rPr sz="929" b="0" i="0">
                <a:solidFill>
                  <a:srgbClr val="E5E7EB"/>
                </a:solidFill>
                <a:latin typeface="Consolas"/>
              </a:rPr>
              <a:t>    def deposit(self, amount):</a:t>
            </a:r>
          </a:p>
          <a:p>
            <a:pPr>
              <a:lnSpc>
                <a:spcPct val="100000"/>
              </a:lnSpc>
              <a:spcBef>
                <a:spcPts val="0"/>
              </a:spcBef>
              <a:spcAft>
                <a:spcPts val="60"/>
              </a:spcAft>
            </a:pPr>
            <a:r>
              <a:rPr sz="929" b="0" i="0">
                <a:solidFill>
                  <a:srgbClr val="E5E7EB"/>
                </a:solidFill>
                <a:latin typeface="Consolas"/>
              </a:rPr>
              <a:t>        self.balance += amount</a:t>
            </a:r>
          </a:p>
          <a:p>
            <a:pPr>
              <a:lnSpc>
                <a:spcPct val="100000"/>
              </a:lnSpc>
              <a:spcBef>
                <a:spcPts val="0"/>
              </a:spcBef>
              <a:spcAft>
                <a:spcPts val="60"/>
              </a:spcAft>
            </a:pPr>
            <a:r>
              <a:rPr sz="929" b="0" i="0">
                <a:solidFill>
                  <a:srgbClr val="E5E7EB"/>
                </a:solidFill>
                <a:latin typeface="Consolas"/>
              </a:rPr>
              <a:t>    def __str__(self):</a:t>
            </a:r>
          </a:p>
          <a:p>
            <a:pPr>
              <a:lnSpc>
                <a:spcPct val="100000"/>
              </a:lnSpc>
              <a:spcBef>
                <a:spcPts val="0"/>
              </a:spcBef>
              <a:spcAft>
                <a:spcPts val="60"/>
              </a:spcAft>
            </a:pPr>
            <a:r>
              <a:rPr sz="929" b="0" i="0">
                <a:solidFill>
                  <a:srgbClr val="E5E7EB"/>
                </a:solidFill>
                <a:latin typeface="Consolas"/>
              </a:rPr>
              <a:t>        return f"Account({self.owner}, Rs {self.balance:.2f})"</a:t>
            </a:r>
          </a:p>
          <a:p>
            <a:pPr>
              <a:lnSpc>
                <a:spcPct val="100000"/>
              </a:lnSpc>
              <a:spcBef>
                <a:spcPts val="0"/>
              </a:spcBef>
              <a:spcAft>
                <a:spcPts val="60"/>
              </a:spcAft>
            </a:pPr>
            <a:r>
              <a:rPr sz="929" b="0" i="0">
                <a:solidFill>
                  <a:srgbClr val="E5E7EB"/>
                </a:solidFill>
                <a:latin typeface="Consolas"/>
              </a:rPr>
              <a:t> </a:t>
            </a:r>
          </a:p>
          <a:p>
            <a:pPr>
              <a:lnSpc>
                <a:spcPct val="100000"/>
              </a:lnSpc>
              <a:spcBef>
                <a:spcPts val="0"/>
              </a:spcBef>
              <a:spcAft>
                <a:spcPts val="60"/>
              </a:spcAft>
            </a:pPr>
            <a:r>
              <a:rPr sz="929" b="0" i="0">
                <a:solidFill>
                  <a:srgbClr val="E5E7EB"/>
                </a:solidFill>
                <a:latin typeface="Consolas"/>
              </a:rPr>
              <a:t>a = Account("Ravi", 100.0)</a:t>
            </a:r>
          </a:p>
          <a:p>
            <a:pPr>
              <a:lnSpc>
                <a:spcPct val="100000"/>
              </a:lnSpc>
              <a:spcBef>
                <a:spcPts val="0"/>
              </a:spcBef>
              <a:spcAft>
                <a:spcPts val="60"/>
              </a:spcAft>
            </a:pPr>
            <a:r>
              <a:rPr sz="929" b="0" i="0">
                <a:solidFill>
                  <a:srgbClr val="E5E7EB"/>
                </a:solidFill>
                <a:latin typeface="Consolas"/>
              </a:rPr>
              <a:t>b = a                       # aliasing: two names, ONE object</a:t>
            </a:r>
          </a:p>
          <a:p>
            <a:pPr>
              <a:lnSpc>
                <a:spcPct val="100000"/>
              </a:lnSpc>
              <a:spcBef>
                <a:spcPts val="0"/>
              </a:spcBef>
              <a:spcAft>
                <a:spcPts val="60"/>
              </a:spcAft>
            </a:pPr>
            <a:r>
              <a:rPr sz="929" b="0" i="0">
                <a:solidFill>
                  <a:srgbClr val="E5E7EB"/>
                </a:solidFill>
                <a:latin typeface="Consolas"/>
              </a:rPr>
              <a:t>c = copy.deepcopy(a)        # independent copy -- same state, different object</a:t>
            </a:r>
          </a:p>
          <a:p>
            <a:pPr>
              <a:lnSpc>
                <a:spcPct val="100000"/>
              </a:lnSpc>
              <a:spcBef>
                <a:spcPts val="0"/>
              </a:spcBef>
              <a:spcAft>
                <a:spcPts val="60"/>
              </a:spcAft>
            </a:pPr>
            <a:r>
              <a:rPr sz="929" b="0" i="0">
                <a:solidFill>
                  <a:srgbClr val="E5E7EB"/>
                </a:solidFill>
                <a:latin typeface="Consolas"/>
              </a:rPr>
              <a:t>  …  (complete source in the course book, §5.2)</a:t>
            </a:r>
          </a:p>
        </p:txBody>
      </p:sp>
      <p:sp>
        <p:nvSpPr>
          <p:cNvPr id="12" name="Rectangle 11"/>
          <p:cNvSpPr/>
          <p:nvPr/>
        </p:nvSpPr>
        <p:spPr>
          <a:xfrm>
            <a:off x="6812280" y="1572768"/>
            <a:ext cx="489204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1664208"/>
            <a:ext cx="461772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SESSION — python3 m05.py</a:t>
            </a:r>
          </a:p>
        </p:txBody>
      </p:sp>
      <p:sp>
        <p:nvSpPr>
          <p:cNvPr id="14" name="TextBox 13"/>
          <p:cNvSpPr txBox="1"/>
          <p:nvPr/>
        </p:nvSpPr>
        <p:spPr>
          <a:xfrm>
            <a:off x="6958584" y="1938528"/>
            <a:ext cx="4617720" cy="4343400"/>
          </a:xfrm>
          <a:prstGeom prst="rect">
            <a:avLst/>
          </a:prstGeom>
          <a:noFill/>
        </p:spPr>
        <p:txBody>
          <a:bodyPr wrap="none" anchor="t" lIns="0" rIns="0" tIns="0" bIns="0">
            <a:spAutoFit/>
          </a:bodyPr>
          <a:lstStyle/>
          <a:p>
            <a:pPr>
              <a:lnSpc>
                <a:spcPct val="100000"/>
              </a:lnSpc>
              <a:spcBef>
                <a:spcPts val="0"/>
              </a:spcBef>
              <a:spcAft>
                <a:spcPts val="60"/>
              </a:spcAft>
            </a:pPr>
            <a:r>
              <a:rPr sz="1033" b="0" i="0">
                <a:solidFill>
                  <a:srgbClr val="14171C"/>
                </a:solidFill>
                <a:latin typeface="Consolas"/>
              </a:rPr>
              <a:t>after aliased deposit: Account(Ravi, Rs 150.00)</a:t>
            </a:r>
          </a:p>
          <a:p>
            <a:pPr>
              <a:lnSpc>
                <a:spcPct val="100000"/>
              </a:lnSpc>
              <a:spcBef>
                <a:spcPts val="0"/>
              </a:spcBef>
              <a:spcAft>
                <a:spcPts val="60"/>
              </a:spcAft>
            </a:pPr>
            <a:r>
              <a:rPr sz="1033" b="0" i="0">
                <a:solidFill>
                  <a:srgbClr val="14171C"/>
                </a:solidFill>
                <a:latin typeface="Consolas"/>
              </a:rPr>
              <a:t>deep copy untouched : Account(Ravi, Rs 100.00)</a:t>
            </a:r>
          </a:p>
          <a:p>
            <a:pPr>
              <a:lnSpc>
                <a:spcPct val="100000"/>
              </a:lnSpc>
              <a:spcBef>
                <a:spcPts val="0"/>
              </a:spcBef>
              <a:spcAft>
                <a:spcPts val="60"/>
              </a:spcAft>
            </a:pPr>
            <a:r>
              <a:rPr sz="1033" b="0" i="0">
                <a:solidFill>
                  <a:srgbClr val="14171C"/>
                </a:solidFill>
                <a:latin typeface="Consolas"/>
              </a:rPr>
              <a:t>sameness: a is b -&gt; True | a is c -&gt; False</a:t>
            </a:r>
          </a:p>
          <a:p>
            <a:pPr>
              <a:lnSpc>
                <a:spcPct val="100000"/>
              </a:lnSpc>
              <a:spcBef>
                <a:spcPts val="0"/>
              </a:spcBef>
              <a:spcAft>
                <a:spcPts val="60"/>
              </a:spcAft>
            </a:pPr>
            <a:r>
              <a:rPr sz="1033" b="0" i="0">
                <a:solidFill>
                  <a:srgbClr val="14171C"/>
                </a:solidFill>
                <a:latin typeface="Consolas"/>
              </a:rPr>
              <a:t> </a:t>
            </a:r>
          </a:p>
          <a:p>
            <a:pPr>
              <a:lnSpc>
                <a:spcPct val="100000"/>
              </a:lnSpc>
              <a:spcBef>
                <a:spcPts val="0"/>
              </a:spcBef>
              <a:spcAft>
                <a:spcPts val="60"/>
              </a:spcAft>
            </a:pPr>
            <a:r>
              <a:rPr sz="1033" b="0" i="0">
                <a:solidFill>
                  <a:srgbClr val="14171C"/>
                </a:solidFill>
                <a:latin typeface="Consolas"/>
              </a:rPr>
              <a:t>polymorphism -- print uses each class's __str__:</a:t>
            </a:r>
          </a:p>
          <a:p>
            <a:pPr>
              <a:lnSpc>
                <a:spcPct val="100000"/>
              </a:lnSpc>
              <a:spcBef>
                <a:spcPts val="0"/>
              </a:spcBef>
              <a:spcAft>
                <a:spcPts val="60"/>
              </a:spcAft>
            </a:pPr>
            <a:r>
              <a:rPr sz="1033" b="0" i="0">
                <a:solidFill>
                  <a:srgbClr val="14171C"/>
                </a:solidFill>
                <a:latin typeface="Consolas"/>
              </a:rPr>
              <a:t>    Account(Ravi, Rs 150.00) | isinstance Account: True</a:t>
            </a:r>
          </a:p>
          <a:p>
            <a:pPr>
              <a:lnSpc>
                <a:spcPct val="100000"/>
              </a:lnSpc>
              <a:spcBef>
                <a:spcPts val="0"/>
              </a:spcBef>
              <a:spcAft>
                <a:spcPts val="60"/>
              </a:spcAft>
            </a:pPr>
            <a:r>
              <a:rPr sz="1033" b="0" i="0">
                <a:solidFill>
                  <a:srgbClr val="14171C"/>
                </a:solidFill>
                <a:latin typeface="Consolas"/>
              </a:rPr>
              <a:t>    Account(Meera, Rs 1060.00) | isinstance Account: True</a:t>
            </a:r>
          </a:p>
          <a:p>
            <a:pPr>
              <a:lnSpc>
                <a:spcPct val="100000"/>
              </a:lnSpc>
              <a:spcBef>
                <a:spcPts val="0"/>
              </a:spcBef>
              <a:spcAft>
                <a:spcPts val="60"/>
              </a:spcAft>
            </a:pPr>
            <a:r>
              <a:rPr sz="1033" b="0" i="0">
                <a:solidFill>
                  <a:srgbClr val="14171C"/>
                </a:solidFill>
                <a:latin typeface="Consolas"/>
              </a:rPr>
              <a:t> </a:t>
            </a:r>
          </a:p>
          <a:p>
            <a:pPr>
              <a:lnSpc>
                <a:spcPct val="100000"/>
              </a:lnSpc>
              <a:spcBef>
                <a:spcPts val="0"/>
              </a:spcBef>
              <a:spcAft>
                <a:spcPts val="60"/>
              </a:spcAft>
            </a:pPr>
            <a:r>
              <a:rPr sz="1033" b="0" i="0">
                <a:solidFill>
                  <a:srgbClr val="14171C"/>
                </a:solidFill>
                <a:latin typeface="Consolas"/>
              </a:rPr>
              <a:t>Money(150) + Money(250) = Rs 400</a:t>
            </a:r>
          </a:p>
          <a:p>
            <a:pPr>
              <a:lnSpc>
                <a:spcPct val="100000"/>
              </a:lnSpc>
              <a:spcBef>
                <a:spcPts val="0"/>
              </a:spcBef>
              <a:spcAft>
                <a:spcPts val="60"/>
              </a:spcAft>
            </a:pPr>
            <a:r>
              <a:rPr sz="1033" b="0" i="0">
                <a:solidFill>
                  <a:srgbClr val="14171C"/>
                </a:solidFill>
                <a:latin typeface="Consolas"/>
              </a:rPr>
              <a:t>caught our own exception -&gt; price cannot be negative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Module 5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Q1.  </a:t>
            </a:r>
            <a:r>
              <a:rPr sz="1500" b="0" i="0">
                <a:solidFill>
                  <a:srgbClr val="16181D"/>
                </a:solidFill>
                <a:latin typeface="Calibri"/>
              </a:rPr>
              <a:t>Prove with two lines of code that aliasing and shallow copying behave differently on an object holding a list.</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Q2.  </a:t>
            </a:r>
            <a:r>
              <a:rPr sz="1500" b="0" i="0">
                <a:solidFill>
                  <a:srgbClr val="16181D"/>
                </a:solidFill>
                <a:latin typeface="Calibri"/>
              </a:rPr>
              <a:t>When is __eq__ identity in disguise? What must a class define to make == about state?</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Q3.  </a:t>
            </a:r>
            <a:r>
              <a:rPr sz="1500" b="0" i="0">
                <a:solidFill>
                  <a:srgbClr val="16181D"/>
                </a:solidFill>
                <a:latin typeface="Calibri"/>
              </a:rPr>
              <a:t>Explain, with the Savings demo as witness, how generalization and polymorphism combine: which class’s __str__ runs, and why?</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Q4.  </a:t>
            </a:r>
            <a:r>
              <a:rPr sz="1500" b="0" i="0">
                <a:solidFill>
                  <a:srgbClr val="16181D"/>
                </a:solidFill>
                <a:latin typeface="Calibri"/>
              </a:rPr>
              <a:t>Contrast assert a &gt; 0 with if a &lt;= 0: raise ValueError(...): audience, message, and what each is for in a lab program.</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Q5.  </a:t>
            </a:r>
            <a:r>
              <a:rPr sz="1500" b="0" i="0">
                <a:solidFill>
                  <a:srgbClr val="16181D"/>
                </a:solidFill>
                <a:latin typeface="Calibri"/>
              </a:rPr>
              <a:t>Write the exception ladder for reading an integer from a file: ValueError, FileNotFoundError, then a general Exception — what does each catch mean, and why that order?</a:t>
            </a:r>
          </a:p>
          <a:p>
            <a:pPr marL="201168" indent="-201168">
              <a:lnSpc>
                <a:spcPct val="104000"/>
              </a:lnSpc>
              <a:spcBef>
                <a:spcPts val="0"/>
              </a:spcBef>
              <a:spcAft>
                <a:spcPts val="900"/>
              </a:spcAft>
            </a:pPr>
            <a:r>
              <a:rPr sz="1500" b="1" i="0">
                <a:solidFill>
                  <a:srgbClr val="B3261E"/>
                </a:solidFill>
                <a:latin typeface="Calibri"/>
              </a:rPr>
              <a:t>•  </a:t>
            </a:r>
            <a:r>
              <a:rPr sz="1500" b="1" i="0">
                <a:solidFill>
                  <a:srgbClr val="B3261E"/>
                </a:solidFill>
                <a:latin typeface="Calibri"/>
              </a:rPr>
              <a:t>Q6.  </a:t>
            </a:r>
            <a:r>
              <a:rPr sz="1500" b="0" i="0">
                <a:solidFill>
                  <a:srgbClr val="16181D"/>
                </a:solidFill>
                <a:latin typeface="Calibri"/>
              </a:rPr>
              <a:t>Lab 8 demands add_complex(x, y) returning a NEW Complex. State in one sentence which style (pure/modifier) that is, and how the same class would express it as overloading.</a:t>
            </a:r>
          </a:p>
        </p:txBody>
      </p:sp>
      <p:sp>
        <p:nvSpPr>
          <p:cNvPr id="9" name="TextBox 8"/>
          <p:cNvSpPr txBox="1"/>
          <p:nvPr/>
        </p:nvSpPr>
        <p:spPr>
          <a:xfrm>
            <a:off x="502920" y="6035040"/>
            <a:ext cx="11155680" cy="36576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Model answers: course book §5.5 · these are also IA-test-shaped practice.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B</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Laboratory — Questions 1 to 12</a:t>
            </a:r>
          </a:p>
        </p:txBody>
      </p:sp>
      <p:sp>
        <p:nvSpPr>
          <p:cNvPr id="6" name="TextBox 5"/>
          <p:cNvSpPr txBox="1"/>
          <p:nvPr/>
        </p:nvSpPr>
        <p:spPr>
          <a:xfrm>
            <a:off x="1737360" y="4114800"/>
            <a:ext cx="871697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The eight fixed experiments (15 programs across the a/b parts) and four open-ended tools. Each question shown complete: approach, full source as executed, captured transcripts including the guard runs, and the viva trail.</a:t>
            </a:r>
          </a:p>
        </p:txBody>
      </p:sp>
      <p:sp>
        <p:nvSpPr>
          <p:cNvPr id="7" name="Rectangle 6"/>
          <p:cNvSpPr/>
          <p:nvPr/>
        </p:nvSpPr>
        <p:spPr>
          <a:xfrm>
            <a:off x="1889607" y="4014215"/>
            <a:ext cx="8412480" cy="2432304"/>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5639" y="4169663"/>
            <a:ext cx="7900415" cy="2157984"/>
          </a:xfrm>
          <a:prstGeom prst="rect">
            <a:avLst/>
          </a:prstGeom>
          <a:noFill/>
        </p:spPr>
        <p:txBody>
          <a:bodyPr wrap="square" anchor="t" lIns="0" rIns="0" tIns="0" bIns="0">
            <a:spAutoFit/>
          </a:bodyPr>
          <a:lstStyle/>
          <a:p>
            <a:pPr>
              <a:spcBef>
                <a:spcPts val="0"/>
              </a:spcBef>
              <a:spcAft>
                <a:spcPts val="400"/>
              </a:spcAft>
            </a:pPr>
            <a:r>
              <a:rPr sz="1100" b="1" i="0">
                <a:solidFill>
                  <a:srgbClr val="0F172A"/>
                </a:solidFill>
                <a:latin typeface="Calibri"/>
              </a:rPr>
              <a:t>IN THIS PART</a:t>
            </a:r>
          </a:p>
          <a:p>
            <a:pPr>
              <a:spcBef>
                <a:spcPts val="0"/>
              </a:spcBef>
              <a:spcAft>
                <a:spcPts val="200"/>
              </a:spcAft>
            </a:pPr>
            <a:r>
              <a:rPr sz="1600" b="1" i="0">
                <a:solidFill>
                  <a:srgbClr val="B3261E"/>
                </a:solidFill>
                <a:latin typeface="Calibri"/>
              </a:rPr>
              <a:t>•  </a:t>
            </a:r>
            <a:r>
              <a:rPr sz="1250" b="0" i="0">
                <a:solidFill>
                  <a:srgbClr val="16181D"/>
                </a:solidFill>
                <a:latin typeface="Calibri"/>
              </a:rPr>
              <a:t>Q1–3 — calculator · senior citizen · Fibonacci · list ops · stats · digit frequency  (7 programs)</a:t>
            </a:r>
          </a:p>
          <a:p>
            <a:pPr>
              <a:spcBef>
                <a:spcPts val="0"/>
              </a:spcBef>
              <a:spcAft>
                <a:spcPts val="200"/>
              </a:spcAft>
            </a:pPr>
            <a:r>
              <a:rPr sz="1600" b="1" i="0">
                <a:solidFill>
                  <a:srgbClr val="B3261E"/>
                </a:solidFill>
                <a:latin typeface="Calibri"/>
              </a:rPr>
              <a:t>•  </a:t>
            </a:r>
            <a:r>
              <a:rPr sz="1250" b="0" i="0">
                <a:solidFill>
                  <a:srgbClr val="16181D"/>
                </a:solidFill>
                <a:latin typeface="Calibri"/>
              </a:rPr>
              <a:t>Q4 — ten most frequent words in a file   ·   Q5 — bubble-sort marks report</a:t>
            </a:r>
          </a:p>
          <a:p>
            <a:pPr>
              <a:spcBef>
                <a:spcPts val="0"/>
              </a:spcBef>
              <a:spcAft>
                <a:spcPts val="200"/>
              </a:spcAft>
            </a:pPr>
            <a:r>
              <a:rPr sz="1600" b="1" i="0">
                <a:solidFill>
                  <a:srgbClr val="B3261E"/>
                </a:solidFill>
                <a:latin typeface="Calibri"/>
              </a:rPr>
              <a:t>•  </a:t>
            </a:r>
            <a:r>
              <a:rPr sz="1250" b="0" i="0">
                <a:solidFill>
                  <a:srgbClr val="16181D"/>
                </a:solidFill>
                <a:latin typeface="Calibri"/>
              </a:rPr>
              <a:t>Q6 — sort a file's lines   ·   Q7 — DivExp assert + raise   ·   Q8 — Complex numbers</a:t>
            </a:r>
          </a:p>
          <a:p>
            <a:pPr>
              <a:spcBef>
                <a:spcPts val="0"/>
              </a:spcBef>
              <a:spcAft>
                <a:spcPts val="200"/>
              </a:spcAft>
            </a:pPr>
            <a:r>
              <a:rPr sz="1600" b="1" i="0">
                <a:solidFill>
                  <a:srgbClr val="B3261E"/>
                </a:solidFill>
                <a:latin typeface="Calibri"/>
              </a:rPr>
              <a:t>•  </a:t>
            </a:r>
            <a:r>
              <a:rPr sz="1250" b="0" i="0">
                <a:solidFill>
                  <a:srgbClr val="16181D"/>
                </a:solidFill>
                <a:latin typeface="Calibri"/>
              </a:rPr>
              <a:t>Q9 — text analysis tool   ·   Q10 — CSV summary generator</a:t>
            </a:r>
          </a:p>
          <a:p>
            <a:pPr>
              <a:spcBef>
                <a:spcPts val="0"/>
              </a:spcBef>
              <a:spcAft>
                <a:spcPts val="200"/>
              </a:spcAft>
            </a:pPr>
            <a:r>
              <a:rPr sz="1600" b="1" i="0">
                <a:solidFill>
                  <a:srgbClr val="B3261E"/>
                </a:solidFill>
                <a:latin typeface="Calibri"/>
              </a:rPr>
              <a:t>•  </a:t>
            </a:r>
            <a:r>
              <a:rPr sz="1250" b="0" i="0">
                <a:solidFill>
                  <a:srgbClr val="16181D"/>
                </a:solidFill>
                <a:latin typeface="Calibri"/>
              </a:rPr>
              <a:t>Q11 — student grade tracker   ·   Q12 — recursive folder listing</a:t>
            </a:r>
          </a:p>
          <a:p>
            <a:pPr>
              <a:spcBef>
                <a:spcPts val="0"/>
              </a:spcBef>
              <a:spcAft>
                <a:spcPts val="200"/>
              </a:spcAft>
            </a:pPr>
            <a:r>
              <a:rPr sz="1600" b="1" i="0">
                <a:solidFill>
                  <a:srgbClr val="B3261E"/>
                </a:solidFill>
                <a:latin typeface="Calibri"/>
              </a:rPr>
              <a:t>•  </a:t>
            </a:r>
            <a:r>
              <a:rPr sz="1250" b="0" i="0">
                <a:solidFill>
                  <a:srgbClr val="16181D"/>
                </a:solidFill>
                <a:latin typeface="Calibri"/>
              </a:rPr>
              <a:t>Open-ended (9–12): design choices stated in the record are the graded half of the rubric</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ROADMAP</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Laboratory Agenda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35</a:t>
            </a:r>
          </a:p>
        </p:txBody>
      </p:sp>
      <p:sp>
        <p:nvSpPr>
          <p:cNvPr id="8" name="Rectangle 7"/>
          <p:cNvSpPr/>
          <p:nvPr/>
        </p:nvSpPr>
        <p:spPr>
          <a:xfrm>
            <a:off x="502920" y="1645920"/>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709928"/>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Q1  </a:t>
            </a:r>
            <a:r>
              <a:rPr sz="1350" b="1" i="0">
                <a:solidFill>
                  <a:srgbClr val="0F172A"/>
                </a:solidFill>
                <a:latin typeface="Calibri"/>
              </a:rPr>
              <a:t>Calculator by Choice, and a Senior-Citizen Test</a:t>
            </a:r>
          </a:p>
          <a:p>
            <a:pPr>
              <a:spcBef>
                <a:spcPts val="0"/>
              </a:spcBef>
              <a:spcAft>
                <a:spcPts val="0"/>
              </a:spcAft>
            </a:pPr>
            <a:r>
              <a:rPr sz="1100" b="0" i="0">
                <a:solidFill>
                  <a:srgbClr val="4B5563"/>
                </a:solidFill>
                <a:latin typeface="Calibri"/>
              </a:rPr>
              <a:t>CO1   ·   fixed</a:t>
            </a:r>
          </a:p>
        </p:txBody>
      </p:sp>
      <p:sp>
        <p:nvSpPr>
          <p:cNvPr id="10" name="Rectangle 9"/>
          <p:cNvSpPr/>
          <p:nvPr/>
        </p:nvSpPr>
        <p:spPr>
          <a:xfrm>
            <a:off x="502920" y="2414016"/>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478024"/>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Q2  </a:t>
            </a:r>
            <a:r>
              <a:rPr sz="1350" b="1" i="0">
                <a:solidFill>
                  <a:srgbClr val="0F172A"/>
                </a:solidFill>
                <a:latin typeface="Calibri"/>
              </a:rPr>
              <a:t>Fibonacci to Length N, and the Full List Lifecycle</a:t>
            </a:r>
          </a:p>
          <a:p>
            <a:pPr>
              <a:spcBef>
                <a:spcPts val="0"/>
              </a:spcBef>
              <a:spcAft>
                <a:spcPts val="0"/>
              </a:spcAft>
            </a:pPr>
            <a:r>
              <a:rPr sz="1100" b="0" i="0">
                <a:solidFill>
                  <a:srgbClr val="4B5563"/>
                </a:solidFill>
                <a:latin typeface="Calibri"/>
              </a:rPr>
              <a:t>CO1 + CO2   ·   fixed</a:t>
            </a:r>
          </a:p>
        </p:txBody>
      </p:sp>
      <p:sp>
        <p:nvSpPr>
          <p:cNvPr id="12" name="Rectangle 11"/>
          <p:cNvSpPr/>
          <p:nvPr/>
        </p:nvSpPr>
        <p:spPr>
          <a:xfrm>
            <a:off x="502920" y="3182112"/>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3246120"/>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Q3  </a:t>
            </a:r>
            <a:r>
              <a:rPr sz="1350" b="1" i="0">
                <a:solidFill>
                  <a:srgbClr val="0F172A"/>
                </a:solidFill>
                <a:latin typeface="Calibri"/>
              </a:rPr>
              <a:t>Mean, Variance, Standard Deviation — and Digit Frequencies</a:t>
            </a:r>
          </a:p>
          <a:p>
            <a:pPr>
              <a:spcBef>
                <a:spcPts val="0"/>
              </a:spcBef>
              <a:spcAft>
                <a:spcPts val="0"/>
              </a:spcAft>
            </a:pPr>
            <a:r>
              <a:rPr sz="1100" b="0" i="0">
                <a:solidFill>
                  <a:srgbClr val="4B5563"/>
                </a:solidFill>
                <a:latin typeface="Calibri"/>
              </a:rPr>
              <a:t>CO1 + CO2   ·   fixed</a:t>
            </a:r>
          </a:p>
        </p:txBody>
      </p:sp>
      <p:sp>
        <p:nvSpPr>
          <p:cNvPr id="14" name="Rectangle 13"/>
          <p:cNvSpPr/>
          <p:nvPr/>
        </p:nvSpPr>
        <p:spPr>
          <a:xfrm>
            <a:off x="502920" y="3950208"/>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4014216"/>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Q4  </a:t>
            </a:r>
            <a:r>
              <a:rPr sz="1350" b="1" i="0">
                <a:solidFill>
                  <a:srgbClr val="0F172A"/>
                </a:solidFill>
                <a:latin typeface="Calibri"/>
              </a:rPr>
              <a:t>Ten Most Frequent Words in a Text File</a:t>
            </a:r>
          </a:p>
          <a:p>
            <a:pPr>
              <a:spcBef>
                <a:spcPts val="0"/>
              </a:spcBef>
              <a:spcAft>
                <a:spcPts val="0"/>
              </a:spcAft>
            </a:pPr>
            <a:r>
              <a:rPr sz="1100" b="0" i="0">
                <a:solidFill>
                  <a:srgbClr val="4B5563"/>
                </a:solidFill>
                <a:latin typeface="Calibri"/>
              </a:rPr>
              <a:t>CO2 + CO4   ·   fixed</a:t>
            </a:r>
          </a:p>
        </p:txBody>
      </p:sp>
      <p:sp>
        <p:nvSpPr>
          <p:cNvPr id="16" name="Rectangle 15"/>
          <p:cNvSpPr/>
          <p:nvPr/>
        </p:nvSpPr>
        <p:spPr>
          <a:xfrm>
            <a:off x="502920" y="4718304"/>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4782312"/>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Q5  </a:t>
            </a:r>
            <a:r>
              <a:rPr sz="1350" b="1" i="0">
                <a:solidFill>
                  <a:srgbClr val="0F172A"/>
                </a:solidFill>
                <a:latin typeface="Calibri"/>
              </a:rPr>
              <a:t>Marks Report by Bubble Sort (Highest → Lowest)</a:t>
            </a:r>
          </a:p>
          <a:p>
            <a:pPr>
              <a:spcBef>
                <a:spcPts val="0"/>
              </a:spcBef>
              <a:spcAft>
                <a:spcPts val="0"/>
              </a:spcAft>
            </a:pPr>
            <a:r>
              <a:rPr sz="1100" b="0" i="0">
                <a:solidFill>
                  <a:srgbClr val="4B5563"/>
                </a:solidFill>
                <a:latin typeface="Calibri"/>
              </a:rPr>
              <a:t>CO1 + CO2   ·   fixed</a:t>
            </a:r>
          </a:p>
        </p:txBody>
      </p:sp>
      <p:sp>
        <p:nvSpPr>
          <p:cNvPr id="18" name="Rectangle 17"/>
          <p:cNvSpPr/>
          <p:nvPr/>
        </p:nvSpPr>
        <p:spPr>
          <a:xfrm>
            <a:off x="502920" y="5486400"/>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5550408"/>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Q6  </a:t>
            </a:r>
            <a:r>
              <a:rPr sz="1350" b="1" i="0">
                <a:solidFill>
                  <a:srgbClr val="0F172A"/>
                </a:solidFill>
                <a:latin typeface="Calibri"/>
              </a:rPr>
              <a:t>Sort a File’s Lines into a Separate Sorted File</a:t>
            </a:r>
          </a:p>
          <a:p>
            <a:pPr>
              <a:spcBef>
                <a:spcPts val="0"/>
              </a:spcBef>
              <a:spcAft>
                <a:spcPts val="0"/>
              </a:spcAft>
            </a:pPr>
            <a:r>
              <a:rPr sz="1100" b="0" i="0">
                <a:solidFill>
                  <a:srgbClr val="4B5563"/>
                </a:solidFill>
                <a:latin typeface="Calibri"/>
              </a:rPr>
              <a:t>CO2 + CO4   ·   fixed</a:t>
            </a:r>
          </a:p>
        </p:txBody>
      </p:sp>
      <p:sp>
        <p:nvSpPr>
          <p:cNvPr id="20" name="Rectangle 19"/>
          <p:cNvSpPr/>
          <p:nvPr/>
        </p:nvSpPr>
        <p:spPr>
          <a:xfrm>
            <a:off x="6263640" y="1645920"/>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1709928"/>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Q7  </a:t>
            </a:r>
            <a:r>
              <a:rPr sz="1350" b="1" i="0">
                <a:solidFill>
                  <a:srgbClr val="0F172A"/>
                </a:solidFill>
                <a:latin typeface="Calibri"/>
              </a:rPr>
              <a:t>DivExp with an Assertion and a Raised Exception</a:t>
            </a:r>
          </a:p>
          <a:p>
            <a:pPr>
              <a:spcBef>
                <a:spcPts val="0"/>
              </a:spcBef>
              <a:spcAft>
                <a:spcPts val="0"/>
              </a:spcAft>
            </a:pPr>
            <a:r>
              <a:rPr sz="1100" b="0" i="0">
                <a:solidFill>
                  <a:srgbClr val="4B5563"/>
                </a:solidFill>
                <a:latin typeface="Calibri"/>
              </a:rPr>
              <a:t>CO1 + CO5   ·   fixed</a:t>
            </a:r>
          </a:p>
        </p:txBody>
      </p:sp>
      <p:sp>
        <p:nvSpPr>
          <p:cNvPr id="22" name="Rectangle 21"/>
          <p:cNvSpPr/>
          <p:nvPr/>
        </p:nvSpPr>
        <p:spPr>
          <a:xfrm>
            <a:off x="6263640" y="2414016"/>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2478024"/>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Q8  </a:t>
            </a:r>
            <a:r>
              <a:rPr sz="1350" b="1" i="0">
                <a:solidFill>
                  <a:srgbClr val="0F172A"/>
                </a:solidFill>
                <a:latin typeface="Calibri"/>
              </a:rPr>
              <a:t>Complex Numbers as Objects — Summing N with a Pure Adder</a:t>
            </a:r>
          </a:p>
          <a:p>
            <a:pPr>
              <a:spcBef>
                <a:spcPts val="0"/>
              </a:spcBef>
              <a:spcAft>
                <a:spcPts val="0"/>
              </a:spcAft>
            </a:pPr>
            <a:r>
              <a:rPr sz="1100" b="0" i="0">
                <a:solidFill>
                  <a:srgbClr val="4B5563"/>
                </a:solidFill>
                <a:latin typeface="Calibri"/>
              </a:rPr>
              <a:t>CO5   ·   fixed</a:t>
            </a:r>
          </a:p>
        </p:txBody>
      </p:sp>
      <p:sp>
        <p:nvSpPr>
          <p:cNvPr id="24" name="Rectangle 23"/>
          <p:cNvSpPr/>
          <p:nvPr/>
        </p:nvSpPr>
        <p:spPr>
          <a:xfrm>
            <a:off x="6263640" y="3182112"/>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9944" y="3246120"/>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Q9  </a:t>
            </a:r>
            <a:r>
              <a:rPr sz="1350" b="1" i="0">
                <a:solidFill>
                  <a:srgbClr val="0F172A"/>
                </a:solidFill>
                <a:latin typeface="Calibri"/>
              </a:rPr>
              <a:t>Text Analysis Tool (Open-Ended)</a:t>
            </a:r>
          </a:p>
          <a:p>
            <a:pPr>
              <a:spcBef>
                <a:spcPts val="0"/>
              </a:spcBef>
              <a:spcAft>
                <a:spcPts val="0"/>
              </a:spcAft>
            </a:pPr>
            <a:r>
              <a:rPr sz="1100" b="0" i="0">
                <a:solidFill>
                  <a:srgbClr val="4B5563"/>
                </a:solidFill>
                <a:latin typeface="Calibri"/>
              </a:rPr>
              <a:t>CO2 + CO4 + CO5   ·   open-ended</a:t>
            </a:r>
          </a:p>
        </p:txBody>
      </p:sp>
      <p:sp>
        <p:nvSpPr>
          <p:cNvPr id="26" name="Rectangle 25"/>
          <p:cNvSpPr/>
          <p:nvPr/>
        </p:nvSpPr>
        <p:spPr>
          <a:xfrm>
            <a:off x="6263640" y="3950208"/>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014216"/>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Q10  </a:t>
            </a:r>
            <a:r>
              <a:rPr sz="1350" b="1" i="0">
                <a:solidFill>
                  <a:srgbClr val="0F172A"/>
                </a:solidFill>
                <a:latin typeface="Calibri"/>
              </a:rPr>
              <a:t>CSV Data Summary Generator (Open-Ended)</a:t>
            </a:r>
          </a:p>
          <a:p>
            <a:pPr>
              <a:spcBef>
                <a:spcPts val="0"/>
              </a:spcBef>
              <a:spcAft>
                <a:spcPts val="0"/>
              </a:spcAft>
            </a:pPr>
            <a:r>
              <a:rPr sz="1100" b="0" i="0">
                <a:solidFill>
                  <a:srgbClr val="4B5563"/>
                </a:solidFill>
                <a:latin typeface="Calibri"/>
              </a:rPr>
              <a:t>CO2 + CO3 + CO4   ·   open-ended</a:t>
            </a:r>
          </a:p>
        </p:txBody>
      </p:sp>
      <p:sp>
        <p:nvSpPr>
          <p:cNvPr id="28" name="Rectangle 27"/>
          <p:cNvSpPr/>
          <p:nvPr/>
        </p:nvSpPr>
        <p:spPr>
          <a:xfrm>
            <a:off x="6263640" y="4718304"/>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4782312"/>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Q11  </a:t>
            </a:r>
            <a:r>
              <a:rPr sz="1350" b="1" i="0">
                <a:solidFill>
                  <a:srgbClr val="0F172A"/>
                </a:solidFill>
                <a:latin typeface="Calibri"/>
              </a:rPr>
              <a:t>Student Grade Tracker (Open-Ended)</a:t>
            </a:r>
          </a:p>
          <a:p>
            <a:pPr>
              <a:spcBef>
                <a:spcPts val="0"/>
              </a:spcBef>
              <a:spcAft>
                <a:spcPts val="0"/>
              </a:spcAft>
            </a:pPr>
            <a:r>
              <a:rPr sz="1100" b="0" i="0">
                <a:solidFill>
                  <a:srgbClr val="4B5563"/>
                </a:solidFill>
                <a:latin typeface="Calibri"/>
              </a:rPr>
              <a:t>CO2 + CO5   ·   open-ended</a:t>
            </a:r>
          </a:p>
        </p:txBody>
      </p:sp>
      <p:sp>
        <p:nvSpPr>
          <p:cNvPr id="30" name="Rectangle 29"/>
          <p:cNvSpPr/>
          <p:nvPr/>
        </p:nvSpPr>
        <p:spPr>
          <a:xfrm>
            <a:off x="6263640" y="5486400"/>
            <a:ext cx="5440680" cy="65836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5550408"/>
            <a:ext cx="5212080" cy="566928"/>
          </a:xfrm>
          <a:prstGeom prst="rect">
            <a:avLst/>
          </a:prstGeom>
          <a:noFill/>
        </p:spPr>
        <p:txBody>
          <a:bodyPr wrap="square" anchor="t" lIns="0" rIns="0" tIns="0" bIns="0">
            <a:spAutoFit/>
          </a:bodyPr>
          <a:lstStyle/>
          <a:p>
            <a:pPr>
              <a:spcBef>
                <a:spcPts val="0"/>
              </a:spcBef>
              <a:spcAft>
                <a:spcPts val="150"/>
              </a:spcAft>
            </a:pPr>
            <a:r>
              <a:rPr sz="1500" b="1" i="0">
                <a:solidFill>
                  <a:srgbClr val="B3261E"/>
                </a:solidFill>
                <a:latin typeface="Calibri"/>
              </a:rPr>
              <a:t>Q12  </a:t>
            </a:r>
            <a:r>
              <a:rPr sz="1350" b="1" i="0">
                <a:solidFill>
                  <a:srgbClr val="0F172A"/>
                </a:solidFill>
                <a:latin typeface="Calibri"/>
              </a:rPr>
              <a:t>Recursive Folder Listing (Open-Ended)</a:t>
            </a:r>
          </a:p>
          <a:p>
            <a:pPr>
              <a:spcBef>
                <a:spcPts val="0"/>
              </a:spcBef>
              <a:spcAft>
                <a:spcPts val="0"/>
              </a:spcAft>
            </a:pPr>
            <a:r>
              <a:rPr sz="1100" b="0" i="0">
                <a:solidFill>
                  <a:srgbClr val="4B5563"/>
                </a:solidFill>
                <a:latin typeface="Calibri"/>
              </a:rPr>
              <a:t>CO3 + CO4   ·   open-ended</a:t>
            </a:r>
          </a:p>
        </p:txBody>
      </p:sp>
      <p:sp>
        <p:nvSpPr>
          <p:cNvPr id="32" name="TextBox 31"/>
          <p:cNvSpPr txBox="1"/>
          <p:nvPr/>
        </p:nvSpPr>
        <p:spPr>
          <a:xfrm>
            <a:off x="502920" y="6080760"/>
            <a:ext cx="11155680" cy="274320"/>
          </a:xfrm>
          <a:prstGeom prst="rect">
            <a:avLst/>
          </a:prstGeom>
          <a:noFill/>
        </p:spPr>
        <p:txBody>
          <a:bodyPr wrap="square" anchor="t" lIns="0" rIns="0" tIns="0" bIns="0">
            <a:spAutoFit/>
          </a:bodyPr>
          <a:lstStyle/>
          <a:p>
            <a:pPr>
              <a:spcBef>
                <a:spcPts val="0"/>
              </a:spcBef>
              <a:spcAft>
                <a:spcPts val="0"/>
              </a:spcAft>
            </a:pPr>
            <a:r>
              <a:rPr sz="1200" b="0" i="1">
                <a:solidFill>
                  <a:srgbClr val="4B5563"/>
                </a:solidFill>
                <a:latin typeface="Calibri"/>
              </a:rPr>
              <a:t>Questions 1–3 carry two programs each — both appear in one chapter of the notes and one stop here.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ASSESSMENT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What the Record Must Show (and Why)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36</a:t>
            </a:r>
          </a:p>
        </p:txBody>
      </p:sp>
      <p:sp>
        <p:nvSpPr>
          <p:cNvPr id="8" name="TextBox 7"/>
          <p:cNvSpPr txBox="1"/>
          <p:nvPr/>
        </p:nvSpPr>
        <p:spPr>
          <a:xfrm>
            <a:off x="502920" y="1600200"/>
            <a:ext cx="6035040" cy="48188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500" b="1" i="0">
                <a:solidFill>
                  <a:srgbClr val="B3261E"/>
                </a:solidFill>
                <a:latin typeface="Calibri"/>
              </a:rPr>
              <a:t>•  </a:t>
            </a:r>
            <a:r>
              <a:rPr sz="1500" b="1" i="0">
                <a:solidFill>
                  <a:srgbClr val="16181D"/>
                </a:solidFill>
                <a:latin typeface="Calibri"/>
              </a:rPr>
              <a:t>CIE Practical = 15</a:t>
            </a:r>
            <a:r>
              <a:rPr sz="1500" b="0" i="0">
                <a:solidFill>
                  <a:srgbClr val="16181D"/>
                </a:solidFill>
                <a:latin typeface="Calibri"/>
              </a:rPr>
              <a:t> (record, via rubrics, every ~2 experiments) + </a:t>
            </a:r>
            <a:r>
              <a:rPr sz="1500" b="1" i="0">
                <a:solidFill>
                  <a:srgbClr val="16181D"/>
                </a:solidFill>
                <a:latin typeface="Calibri"/>
              </a:rPr>
              <a:t>10</a:t>
            </a:r>
            <a:r>
              <a:rPr sz="1500" b="0" i="0">
                <a:solidFill>
                  <a:srgbClr val="16181D"/>
                </a:solidFill>
                <a:latin typeface="Calibri"/>
              </a:rPr>
              <a:t> (lab internal: run + viva, rubrics).</a:t>
            </a:r>
          </a:p>
          <a:p>
            <a:pPr marL="201168" indent="-201168">
              <a:lnSpc>
                <a:spcPct val="104000"/>
              </a:lnSpc>
              <a:spcBef>
                <a:spcPts val="0"/>
              </a:spcBef>
              <a:spcAft>
                <a:spcPts val="800"/>
              </a:spcAft>
            </a:pPr>
            <a:r>
              <a:rPr sz="1500" b="1" i="0">
                <a:solidFill>
                  <a:srgbClr val="B3261E"/>
                </a:solidFill>
                <a:latin typeface="Calibri"/>
              </a:rPr>
              <a:t>•  </a:t>
            </a:r>
            <a:r>
              <a:rPr sz="1500" b="0" i="0">
                <a:solidFill>
                  <a:srgbClr val="16181D"/>
                </a:solidFill>
                <a:latin typeface="Calibri"/>
              </a:rPr>
              <a:t>The record entry skeleton is the book's section list — copy it column by column:</a:t>
            </a:r>
          </a:p>
          <a:p>
            <a:pPr marL="475488" indent="-201168">
              <a:lnSpc>
                <a:spcPct val="104000"/>
              </a:lnSpc>
              <a:spcBef>
                <a:spcPts val="0"/>
              </a:spcBef>
              <a:spcAft>
                <a:spcPts val="800"/>
              </a:spcAft>
            </a:pPr>
            <a:r>
              <a:rPr sz="1500" b="1" i="0">
                <a:solidFill>
                  <a:srgbClr val="16181D"/>
                </a:solidFill>
                <a:latin typeface="Calibri"/>
              </a:rPr>
              <a:t>–  </a:t>
            </a:r>
            <a:r>
              <a:rPr sz="1500" b="0" i="0">
                <a:solidFill>
                  <a:srgbClr val="16181D"/>
                </a:solidFill>
                <a:latin typeface="Calibri"/>
              </a:rPr>
              <a:t>Aim (the question verbatim) → approach → code → </a:t>
            </a:r>
            <a:r>
              <a:rPr sz="1500" b="1" i="0">
                <a:solidFill>
                  <a:srgbClr val="B3261E"/>
                </a:solidFill>
                <a:latin typeface="Calibri"/>
              </a:rPr>
              <a:t>captured output incl. one bad-input run</a:t>
            </a:r>
            <a:r>
              <a:rPr sz="1500" b="0" i="0">
                <a:solidFill>
                  <a:srgbClr val="16181D"/>
                </a:solidFill>
                <a:latin typeface="Calibri"/>
              </a:rPr>
              <a:t> → observations → result → viva trail.</a:t>
            </a:r>
          </a:p>
          <a:p>
            <a:pPr marL="201168" indent="-201168">
              <a:lnSpc>
                <a:spcPct val="104000"/>
              </a:lnSpc>
              <a:spcBef>
                <a:spcPts val="0"/>
              </a:spcBef>
              <a:spcAft>
                <a:spcPts val="800"/>
              </a:spcAft>
            </a:pPr>
            <a:r>
              <a:rPr sz="1500" b="1" i="0">
                <a:solidFill>
                  <a:srgbClr val="B3261E"/>
                </a:solidFill>
                <a:latin typeface="Calibri"/>
              </a:rPr>
              <a:t>•  </a:t>
            </a:r>
            <a:r>
              <a:rPr sz="1500" b="1" i="0">
                <a:solidFill>
                  <a:srgbClr val="16181D"/>
                </a:solidFill>
                <a:latin typeface="Calibri"/>
              </a:rPr>
              <a:t>Guard runs are not optional</a:t>
            </a:r>
            <a:r>
              <a:rPr sz="1500" b="0" i="0">
                <a:solidFill>
                  <a:srgbClr val="16181D"/>
                </a:solidFill>
                <a:latin typeface="Calibri"/>
              </a:rPr>
              <a:t> — 'divide by zero → printed error message' is evidence the program is finished, not decoration.</a:t>
            </a:r>
          </a:p>
          <a:p>
            <a:pPr marL="201168" indent="-201168">
              <a:lnSpc>
                <a:spcPct val="104000"/>
              </a:lnSpc>
              <a:spcBef>
                <a:spcPts val="0"/>
              </a:spcBef>
              <a:spcAft>
                <a:spcPts val="800"/>
              </a:spcAft>
            </a:pPr>
            <a:r>
              <a:rPr sz="1500" b="1" i="0">
                <a:solidFill>
                  <a:srgbClr val="B3261E"/>
                </a:solidFill>
                <a:latin typeface="Calibri"/>
              </a:rPr>
              <a:t>•  </a:t>
            </a:r>
            <a:r>
              <a:rPr sz="1500" b="0" i="0">
                <a:solidFill>
                  <a:srgbClr val="16181D"/>
                </a:solidFill>
                <a:latin typeface="Calibri"/>
              </a:rPr>
              <a:t>Open-ended Q9–12: state the design choices in the record (what is a word? ties broken how?) — that is the graded half of the rubric.</a:t>
            </a:r>
          </a:p>
        </p:txBody>
      </p:sp>
      <p:sp>
        <p:nvSpPr>
          <p:cNvPr id="9" name="Rectangle 8"/>
          <p:cNvSpPr/>
          <p:nvPr/>
        </p:nvSpPr>
        <p:spPr>
          <a:xfrm>
            <a:off x="6766560" y="1600200"/>
            <a:ext cx="4937760" cy="2286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0" y="1600200"/>
            <a:ext cx="49377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12864" y="1650492"/>
            <a:ext cx="46451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the pattern (Lab 7)</a:t>
            </a:r>
          </a:p>
        </p:txBody>
      </p:sp>
      <p:sp>
        <p:nvSpPr>
          <p:cNvPr id="12" name="TextBox 11"/>
          <p:cNvSpPr txBox="1"/>
          <p:nvPr/>
        </p:nvSpPr>
        <p:spPr>
          <a:xfrm>
            <a:off x="6931152" y="2002536"/>
            <a:ext cx="4626864" cy="1810512"/>
          </a:xfrm>
          <a:prstGeom prst="rect">
            <a:avLst/>
          </a:prstGeom>
          <a:noFill/>
        </p:spPr>
        <p:txBody>
          <a:bodyPr wrap="none" anchor="t" lIns="0" rIns="0" tIns="0" bIns="0">
            <a:spAutoFit/>
          </a:bodyPr>
          <a:lstStyle/>
          <a:p>
            <a:pPr>
              <a:lnSpc>
                <a:spcPct val="100000"/>
              </a:lnSpc>
              <a:spcBef>
                <a:spcPts val="0"/>
              </a:spcBef>
              <a:spcAft>
                <a:spcPts val="60"/>
              </a:spcAft>
            </a:pPr>
            <a:r>
              <a:rPr sz="1053" b="0" i="0">
                <a:solidFill>
                  <a:srgbClr val="E5E7EB"/>
                </a:solidFill>
                <a:latin typeface="Consolas"/>
              </a:rPr>
              <a:t>def DivExp(a, b):</a:t>
            </a:r>
          </a:p>
          <a:p>
            <a:pPr>
              <a:lnSpc>
                <a:spcPct val="100000"/>
              </a:lnSpc>
              <a:spcBef>
                <a:spcPts val="0"/>
              </a:spcBef>
              <a:spcAft>
                <a:spcPts val="60"/>
              </a:spcAft>
            </a:pPr>
            <a:r>
              <a:rPr sz="1053" b="0" i="0">
                <a:solidFill>
                  <a:srgbClr val="E5E7EB"/>
                </a:solidFill>
                <a:latin typeface="Consolas"/>
              </a:rPr>
              <a:t>    assert a &gt; 0, "assertion failed: a must be positive"</a:t>
            </a:r>
          </a:p>
          <a:p>
            <a:pPr>
              <a:lnSpc>
                <a:spcPct val="100000"/>
              </a:lnSpc>
              <a:spcBef>
                <a:spcPts val="0"/>
              </a:spcBef>
              <a:spcAft>
                <a:spcPts val="60"/>
              </a:spcAft>
            </a:pPr>
            <a:r>
              <a:rPr sz="1053" b="0" i="0">
                <a:solidFill>
                  <a:srgbClr val="E5E7EB"/>
                </a:solidFill>
                <a:latin typeface="Consolas"/>
              </a:rPr>
              <a:t>    if b == 0:</a:t>
            </a:r>
          </a:p>
          <a:p>
            <a:pPr>
              <a:lnSpc>
                <a:spcPct val="100000"/>
              </a:lnSpc>
              <a:spcBef>
                <a:spcPts val="0"/>
              </a:spcBef>
              <a:spcAft>
                <a:spcPts val="60"/>
              </a:spcAft>
            </a:pPr>
            <a:r>
              <a:rPr sz="1053" b="0" i="0">
                <a:solidFill>
                  <a:srgbClr val="E5E7EB"/>
                </a:solidFill>
                <a:latin typeface="Consolas"/>
              </a:rPr>
              <a:t>        raise ZeroDivisionError("DivExp refuses b = 0")</a:t>
            </a:r>
          </a:p>
          <a:p>
            <a:pPr>
              <a:lnSpc>
                <a:spcPct val="100000"/>
              </a:lnSpc>
              <a:spcBef>
                <a:spcPts val="0"/>
              </a:spcBef>
              <a:spcAft>
                <a:spcPts val="60"/>
              </a:spcAft>
            </a:pPr>
            <a:r>
              <a:rPr sz="1053" b="0" i="0">
                <a:solidFill>
                  <a:srgbClr val="E5E7EB"/>
                </a:solidFill>
                <a:latin typeface="Consolas"/>
              </a:rPr>
              <a:t>    return a / b</a:t>
            </a:r>
          </a:p>
        </p:txBody>
      </p:sp>
      <p:sp>
        <p:nvSpPr>
          <p:cNvPr id="13" name="Rectangle 12"/>
          <p:cNvSpPr/>
          <p:nvPr/>
        </p:nvSpPr>
        <p:spPr>
          <a:xfrm>
            <a:off x="6766560" y="4041648"/>
            <a:ext cx="4937760" cy="201168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12864" y="4133087"/>
            <a:ext cx="46634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the transcript a rubric tick wants</a:t>
            </a:r>
          </a:p>
        </p:txBody>
      </p:sp>
      <p:sp>
        <p:nvSpPr>
          <p:cNvPr id="15" name="TextBox 14"/>
          <p:cNvSpPr txBox="1"/>
          <p:nvPr/>
        </p:nvSpPr>
        <p:spPr>
          <a:xfrm>
            <a:off x="6912864" y="4407407"/>
            <a:ext cx="4663440" cy="1554480"/>
          </a:xfrm>
          <a:prstGeom prst="rect">
            <a:avLst/>
          </a:prstGeom>
          <a:noFill/>
        </p:spPr>
        <p:txBody>
          <a:bodyPr wrap="none" anchor="t" lIns="0" rIns="0" tIns="0" bIns="0">
            <a:spAutoFit/>
          </a:bodyPr>
          <a:lstStyle/>
          <a:p>
            <a:pPr>
              <a:lnSpc>
                <a:spcPct val="100000"/>
              </a:lnSpc>
              <a:spcBef>
                <a:spcPts val="0"/>
              </a:spcBef>
              <a:spcAft>
                <a:spcPts val="60"/>
              </a:spcAft>
            </a:pPr>
            <a:r>
              <a:rPr sz="1200" b="0" i="0">
                <a:solidFill>
                  <a:srgbClr val="14171C"/>
                </a:solidFill>
                <a:latin typeface="Consolas"/>
              </a:rPr>
              <a:t>Enter value of a: 12</a:t>
            </a:r>
          </a:p>
          <a:p>
            <a:pPr>
              <a:lnSpc>
                <a:spcPct val="100000"/>
              </a:lnSpc>
              <a:spcBef>
                <a:spcPts val="0"/>
              </a:spcBef>
              <a:spcAft>
                <a:spcPts val="60"/>
              </a:spcAft>
            </a:pPr>
            <a:r>
              <a:rPr sz="1200" b="0" i="0">
                <a:solidFill>
                  <a:srgbClr val="14171C"/>
                </a:solidFill>
                <a:latin typeface="Consolas"/>
              </a:rPr>
              <a:t>Enter value of b: 0</a:t>
            </a:r>
          </a:p>
          <a:p>
            <a:pPr>
              <a:lnSpc>
                <a:spcPct val="100000"/>
              </a:lnSpc>
              <a:spcBef>
                <a:spcPts val="0"/>
              </a:spcBef>
              <a:spcAft>
                <a:spcPts val="60"/>
              </a:spcAft>
            </a:pPr>
            <a:r>
              <a:rPr sz="1200" b="0" i="0">
                <a:solidFill>
                  <a:srgbClr val="14171C"/>
                </a:solidFill>
                <a:latin typeface="Consolas"/>
              </a:rPr>
              <a:t>ZeroDivisionError: DivExp refuses b = 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 — Calculator by Choice, and a Senior-Citizen Test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37</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CO1</a:t>
            </a:r>
            <a:r>
              <a:rPr sz="1250" b="0" i="0">
                <a:solidFill>
                  <a:srgbClr val="4B5563"/>
                </a:solidFill>
                <a:latin typeface="Calibri"/>
              </a:rPr>
              <a:t>    int/float conversion, if-elif ladder with an else, comparison operators, guarded division by zero, fixed reference year for reproducible age.</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1 a. Develop a python program to read 2 numbers from the keyboard and perform the basic arithmetic operations based on the choice. (1-Add, 2-Subtract, 3-Multiply, 4-Divide). b. Develop a program to read the name and year of birth of a person. Display whether the person is a senior citizen or not.</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Convert once at the edge:</a:t>
            </a:r>
            <a:r>
              <a:rPr sz="1250" b="0" i="0">
                <a:solidFill>
                  <a:srgbClr val="16181D"/>
                </a:solidFill>
                <a:latin typeface="Consolas"/>
              </a:rPr>
              <a:t>float(input(...))</a:t>
            </a:r>
            <a:r>
              <a:rPr sz="1250" b="0" i="0">
                <a:solidFill>
                  <a:srgbClr val="16181D"/>
                </a:solidFill>
                <a:latin typeface="Calibri"/>
              </a:rPr>
              <a:t>— every later use is numeric.</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The choice is an</a:t>
            </a:r>
            <a:r>
              <a:rPr sz="1250" b="0" i="0">
                <a:solidFill>
                  <a:srgbClr val="16181D"/>
                </a:solidFill>
                <a:latin typeface="Consolas"/>
              </a:rPr>
              <a:t>if-elif-elif-else</a:t>
            </a:r>
            <a:r>
              <a:rPr sz="1250" b="0" i="0">
                <a:solidFill>
                  <a:srgbClr val="16181D"/>
                </a:solidFill>
                <a:latin typeface="Calibri"/>
              </a:rPr>
              <a:t>ladder over integer constants 1..4; the final else is “invalid choice”, not a silent pass.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Division checks</a:t>
            </a:r>
            <a:r>
              <a:rPr sz="1250" b="0" i="0">
                <a:solidFill>
                  <a:srgbClr val="16181D"/>
                </a:solidFill>
                <a:latin typeface="Consolas"/>
              </a:rPr>
              <a:t>b == 0</a:t>
            </a:r>
            <a:r>
              <a:rPr sz="1250" b="0" i="0">
                <a:solidFill>
                  <a:srgbClr val="16181D"/>
                </a:solidFill>
                <a:latin typeface="Calibri"/>
              </a:rPr>
              <a:t>before dividing and stops with a message — the record must show this run, not just describe it.</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Part (b) fixes</a:t>
            </a:r>
            <a:r>
              <a:rPr sz="1250" b="0" i="0">
                <a:solidFill>
                  <a:srgbClr val="16181D"/>
                </a:solidFill>
                <a:latin typeface="Consolas"/>
              </a:rPr>
              <a:t>CURRENT_YEAR = 2026</a:t>
            </a:r>
            <a:r>
              <a:rPr sz="1250" b="0" i="0">
                <a:solidFill>
                  <a:srgbClr val="16181D"/>
                </a:solidFill>
                <a:latin typeface="Calibri"/>
              </a:rPr>
              <a:t>so the captured output never drifts between the day it was run and the day it is read; age is one subtraction, status is one comparison ladder (&lt;0 guard, ≥60 senior, else not).</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lab01a.py</a:t>
            </a:r>
            <a:r>
              <a:rPr sz="1250" b="0" i="0">
                <a:solidFill>
                  <a:srgbClr val="16181D"/>
                </a:solidFill>
                <a:latin typeface="Calibri"/>
              </a:rPr>
              <a:t>  —  calculator</a:t>
            </a:r>
          </a:p>
          <a:p>
            <a:pPr>
              <a:spcBef>
                <a:spcPts val="0"/>
              </a:spcBef>
              <a:spcAft>
                <a:spcPts val="300"/>
              </a:spcAft>
            </a:pPr>
            <a:r>
              <a:rPr sz="1300" b="1" i="0">
                <a:solidFill>
                  <a:srgbClr val="B3261E"/>
                </a:solidFill>
                <a:latin typeface="Consolas"/>
              </a:rPr>
              <a:t>lab01b.py</a:t>
            </a:r>
            <a:r>
              <a:rPr sz="1250" b="0" i="0">
                <a:solidFill>
                  <a:srgbClr val="16181D"/>
                </a:solidFill>
                <a:latin typeface="Calibri"/>
              </a:rPr>
              <a:t>  —  senior citizen</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 — lab01a.py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38</a:t>
            </a:r>
          </a:p>
        </p:txBody>
      </p:sp>
      <p:sp>
        <p:nvSpPr>
          <p:cNvPr id="8" name="Rectangle 7"/>
          <p:cNvSpPr/>
          <p:nvPr/>
        </p:nvSpPr>
        <p:spPr>
          <a:xfrm>
            <a:off x="411480" y="1572768"/>
            <a:ext cx="708660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7086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23060"/>
            <a:ext cx="6793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lab01a.py  ·  3 captured run(s)</a:t>
            </a:r>
          </a:p>
        </p:txBody>
      </p:sp>
      <p:sp>
        <p:nvSpPr>
          <p:cNvPr id="11" name="TextBox 10"/>
          <p:cNvSpPr txBox="1"/>
          <p:nvPr/>
        </p:nvSpPr>
        <p:spPr>
          <a:xfrm>
            <a:off x="576072" y="1975104"/>
            <a:ext cx="6775704" cy="4325112"/>
          </a:xfrm>
          <a:prstGeom prst="rect">
            <a:avLst/>
          </a:prstGeom>
          <a:noFill/>
        </p:spPr>
        <p:txBody>
          <a:bodyPr wrap="none" anchor="t" lIns="0" rIns="0" tIns="0" bIns="0">
            <a:spAutoFit/>
          </a:bodyPr>
          <a:lstStyle/>
          <a:p>
            <a:pPr>
              <a:lnSpc>
                <a:spcPct val="100000"/>
              </a:lnSpc>
              <a:spcBef>
                <a:spcPts val="0"/>
              </a:spcBef>
              <a:spcAft>
                <a:spcPts val="60"/>
              </a:spcAft>
            </a:pPr>
            <a:r>
              <a:rPr sz="935" b="0" i="0">
                <a:solidFill>
                  <a:srgbClr val="E5E7EB"/>
                </a:solidFill>
                <a:latin typeface="Consolas"/>
              </a:rPr>
              <a:t># Lab 1a -- two numbers, basic arithmetic by choice (1-Add 2-Sub 3-Mul 4-Div)</a:t>
            </a:r>
          </a:p>
          <a:p>
            <a:pPr>
              <a:lnSpc>
                <a:spcPct val="100000"/>
              </a:lnSpc>
              <a:spcBef>
                <a:spcPts val="0"/>
              </a:spcBef>
              <a:spcAft>
                <a:spcPts val="60"/>
              </a:spcAft>
            </a:pPr>
            <a:r>
              <a:rPr sz="935" b="0" i="0">
                <a:solidFill>
                  <a:srgbClr val="E5E7EB"/>
                </a:solidFill>
                <a:latin typeface="Consolas"/>
              </a:rPr>
              <a:t># Run   : python3 lab01a.py</a:t>
            </a:r>
          </a:p>
          <a:p>
            <a:pPr>
              <a:lnSpc>
                <a:spcPct val="100000"/>
              </a:lnSpc>
              <a:spcBef>
                <a:spcPts val="0"/>
              </a:spcBef>
              <a:spcAft>
                <a:spcPts val="60"/>
              </a:spcAft>
            </a:pPr>
            <a:r>
              <a:rPr sz="935" b="0" i="0">
                <a:solidFill>
                  <a:srgbClr val="E5E7EB"/>
                </a:solidFill>
                <a:latin typeface="Consolas"/>
              </a:rPr>
              <a:t>print("=== Simple Calculator ===")</a:t>
            </a:r>
          </a:p>
          <a:p>
            <a:pPr>
              <a:lnSpc>
                <a:spcPct val="100000"/>
              </a:lnSpc>
              <a:spcBef>
                <a:spcPts val="0"/>
              </a:spcBef>
              <a:spcAft>
                <a:spcPts val="60"/>
              </a:spcAft>
            </a:pPr>
            <a:r>
              <a:rPr sz="935" b="0" i="0">
                <a:solidFill>
                  <a:srgbClr val="E5E7EB"/>
                </a:solidFill>
                <a:latin typeface="Consolas"/>
              </a:rPr>
              <a:t>a = float(input("Enter first number  : "))</a:t>
            </a:r>
          </a:p>
          <a:p>
            <a:pPr>
              <a:lnSpc>
                <a:spcPct val="100000"/>
              </a:lnSpc>
              <a:spcBef>
                <a:spcPts val="0"/>
              </a:spcBef>
              <a:spcAft>
                <a:spcPts val="60"/>
              </a:spcAft>
            </a:pPr>
            <a:r>
              <a:rPr sz="935" b="0" i="0">
                <a:solidFill>
                  <a:srgbClr val="E5E7EB"/>
                </a:solidFill>
                <a:latin typeface="Consolas"/>
              </a:rPr>
              <a:t>b = float(input("Enter second number: "))</a:t>
            </a:r>
          </a:p>
          <a:p>
            <a:pPr>
              <a:lnSpc>
                <a:spcPct val="100000"/>
              </a:lnSpc>
              <a:spcBef>
                <a:spcPts val="0"/>
              </a:spcBef>
              <a:spcAft>
                <a:spcPts val="60"/>
              </a:spcAft>
            </a:pPr>
            <a:r>
              <a:rPr sz="935" b="0" i="0">
                <a:solidFill>
                  <a:srgbClr val="E5E7EB"/>
                </a:solidFill>
                <a:latin typeface="Consolas"/>
              </a:rPr>
              <a:t>print("1-Add   2-Subtract   3-Multiply   4-Divide")</a:t>
            </a:r>
          </a:p>
          <a:p>
            <a:pPr>
              <a:lnSpc>
                <a:spcPct val="100000"/>
              </a:lnSpc>
              <a:spcBef>
                <a:spcPts val="0"/>
              </a:spcBef>
              <a:spcAft>
                <a:spcPts val="60"/>
              </a:spcAft>
            </a:pPr>
            <a:r>
              <a:rPr sz="935" b="0" i="0">
                <a:solidFill>
                  <a:srgbClr val="E5E7EB"/>
                </a:solidFill>
                <a:latin typeface="Consolas"/>
              </a:rPr>
              <a:t>choice = int(input("Enter your choice  : "))</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if choice == 1:</a:t>
            </a:r>
          </a:p>
          <a:p>
            <a:pPr>
              <a:lnSpc>
                <a:spcPct val="100000"/>
              </a:lnSpc>
              <a:spcBef>
                <a:spcPts val="0"/>
              </a:spcBef>
              <a:spcAft>
                <a:spcPts val="60"/>
              </a:spcAft>
            </a:pPr>
            <a:r>
              <a:rPr sz="935" b="0" i="0">
                <a:solidFill>
                  <a:srgbClr val="E5E7EB"/>
                </a:solidFill>
                <a:latin typeface="Consolas"/>
              </a:rPr>
              <a:t>    result = a + b</a:t>
            </a:r>
          </a:p>
          <a:p>
            <a:pPr>
              <a:lnSpc>
                <a:spcPct val="100000"/>
              </a:lnSpc>
              <a:spcBef>
                <a:spcPts val="0"/>
              </a:spcBef>
              <a:spcAft>
                <a:spcPts val="60"/>
              </a:spcAft>
            </a:pPr>
            <a:r>
              <a:rPr sz="935" b="0" i="0">
                <a:solidFill>
                  <a:srgbClr val="E5E7EB"/>
                </a:solidFill>
                <a:latin typeface="Consolas"/>
              </a:rPr>
              <a:t>    sign = "+"</a:t>
            </a:r>
          </a:p>
          <a:p>
            <a:pPr>
              <a:lnSpc>
                <a:spcPct val="100000"/>
              </a:lnSpc>
              <a:spcBef>
                <a:spcPts val="0"/>
              </a:spcBef>
              <a:spcAft>
                <a:spcPts val="60"/>
              </a:spcAft>
            </a:pPr>
            <a:r>
              <a:rPr sz="935" b="0" i="0">
                <a:solidFill>
                  <a:srgbClr val="E5E7EB"/>
                </a:solidFill>
                <a:latin typeface="Consolas"/>
              </a:rPr>
              <a:t>elif choice == 2:</a:t>
            </a:r>
          </a:p>
          <a:p>
            <a:pPr>
              <a:lnSpc>
                <a:spcPct val="100000"/>
              </a:lnSpc>
              <a:spcBef>
                <a:spcPts val="0"/>
              </a:spcBef>
              <a:spcAft>
                <a:spcPts val="60"/>
              </a:spcAft>
            </a:pPr>
            <a:r>
              <a:rPr sz="935" b="0" i="0">
                <a:solidFill>
                  <a:srgbClr val="E5E7EB"/>
                </a:solidFill>
                <a:latin typeface="Consolas"/>
              </a:rPr>
              <a:t>    result = a - b</a:t>
            </a:r>
          </a:p>
          <a:p>
            <a:pPr>
              <a:lnSpc>
                <a:spcPct val="100000"/>
              </a:lnSpc>
              <a:spcBef>
                <a:spcPts val="0"/>
              </a:spcBef>
              <a:spcAft>
                <a:spcPts val="60"/>
              </a:spcAft>
            </a:pPr>
            <a:r>
              <a:rPr sz="935" b="0" i="0">
                <a:solidFill>
                  <a:srgbClr val="E5E7EB"/>
                </a:solidFill>
                <a:latin typeface="Consolas"/>
              </a:rPr>
              <a:t>    sign = "-"</a:t>
            </a:r>
          </a:p>
          <a:p>
            <a:pPr>
              <a:lnSpc>
                <a:spcPct val="100000"/>
              </a:lnSpc>
              <a:spcBef>
                <a:spcPts val="0"/>
              </a:spcBef>
              <a:spcAft>
                <a:spcPts val="60"/>
              </a:spcAft>
            </a:pPr>
            <a:r>
              <a:rPr sz="935" b="0" i="0">
                <a:solidFill>
                  <a:srgbClr val="E5E7EB"/>
                </a:solidFill>
                <a:latin typeface="Consolas"/>
              </a:rPr>
              <a:t>elif choice == 3:</a:t>
            </a:r>
          </a:p>
          <a:p>
            <a:pPr>
              <a:lnSpc>
                <a:spcPct val="100000"/>
              </a:lnSpc>
              <a:spcBef>
                <a:spcPts val="0"/>
              </a:spcBef>
              <a:spcAft>
                <a:spcPts val="60"/>
              </a:spcAft>
            </a:pPr>
            <a:r>
              <a:rPr sz="935" b="0" i="0">
                <a:solidFill>
                  <a:srgbClr val="E5E7EB"/>
                </a:solidFill>
                <a:latin typeface="Consolas"/>
              </a:rPr>
              <a:t>    result = a * b</a:t>
            </a:r>
          </a:p>
          <a:p>
            <a:pPr>
              <a:lnSpc>
                <a:spcPct val="100000"/>
              </a:lnSpc>
              <a:spcBef>
                <a:spcPts val="0"/>
              </a:spcBef>
              <a:spcAft>
                <a:spcPts val="60"/>
              </a:spcAft>
            </a:pPr>
            <a:r>
              <a:rPr sz="935" b="0" i="0">
                <a:solidFill>
                  <a:srgbClr val="E5E7EB"/>
                </a:solidFill>
                <a:latin typeface="Consolas"/>
              </a:rPr>
              <a:t>    sign = "*"</a:t>
            </a:r>
          </a:p>
          <a:p>
            <a:pPr>
              <a:lnSpc>
                <a:spcPct val="100000"/>
              </a:lnSpc>
              <a:spcBef>
                <a:spcPts val="0"/>
              </a:spcBef>
              <a:spcAft>
                <a:spcPts val="60"/>
              </a:spcAft>
            </a:pPr>
            <a:r>
              <a:rPr sz="935" b="0" i="0">
                <a:solidFill>
                  <a:srgbClr val="E5E7EB"/>
                </a:solidFill>
                <a:latin typeface="Consolas"/>
              </a:rPr>
              <a:t>elif choice == 4:</a:t>
            </a:r>
          </a:p>
          <a:p>
            <a:pPr>
              <a:lnSpc>
                <a:spcPct val="100000"/>
              </a:lnSpc>
              <a:spcBef>
                <a:spcPts val="0"/>
              </a:spcBef>
              <a:spcAft>
                <a:spcPts val="60"/>
              </a:spcAft>
            </a:pPr>
            <a:r>
              <a:rPr sz="935" b="0" i="0">
                <a:solidFill>
                  <a:srgbClr val="E5E7EB"/>
                </a:solidFill>
                <a:latin typeface="Consolas"/>
              </a:rPr>
              <a:t>    if b == 0:</a:t>
            </a:r>
          </a:p>
          <a:p>
            <a:pPr>
              <a:lnSpc>
                <a:spcPct val="100000"/>
              </a:lnSpc>
              <a:spcBef>
                <a:spcPts val="0"/>
              </a:spcBef>
              <a:spcAft>
                <a:spcPts val="60"/>
              </a:spcAft>
            </a:pPr>
            <a:r>
              <a:rPr sz="935" b="0" i="0">
                <a:solidFill>
                  <a:srgbClr val="E5E7EB"/>
                </a:solidFill>
                <a:latin typeface="Consolas"/>
              </a:rPr>
              <a:t>        print("Error: division by zero is not defined.")</a:t>
            </a:r>
          </a:p>
          <a:p>
            <a:pPr>
              <a:lnSpc>
                <a:spcPct val="100000"/>
              </a:lnSpc>
              <a:spcBef>
                <a:spcPts val="0"/>
              </a:spcBef>
              <a:spcAft>
                <a:spcPts val="60"/>
              </a:spcAft>
            </a:pPr>
            <a:r>
              <a:rPr sz="935" b="0" i="0">
                <a:solidFill>
                  <a:srgbClr val="E5E7EB"/>
                </a:solidFill>
                <a:latin typeface="Consolas"/>
              </a:rPr>
              <a:t>        raise SystemExit</a:t>
            </a:r>
          </a:p>
          <a:p>
            <a:pPr>
              <a:lnSpc>
                <a:spcPct val="100000"/>
              </a:lnSpc>
              <a:spcBef>
                <a:spcPts val="0"/>
              </a:spcBef>
              <a:spcAft>
                <a:spcPts val="60"/>
              </a:spcAft>
            </a:pPr>
            <a:r>
              <a:rPr sz="935" b="0" i="0">
                <a:solidFill>
                  <a:srgbClr val="E5E7EB"/>
                </a:solidFill>
                <a:latin typeface="Consolas"/>
              </a:rPr>
              <a:t>    result = a / b</a:t>
            </a:r>
          </a:p>
          <a:p>
            <a:pPr>
              <a:lnSpc>
                <a:spcPct val="100000"/>
              </a:lnSpc>
              <a:spcBef>
                <a:spcPts val="0"/>
              </a:spcBef>
              <a:spcAft>
                <a:spcPts val="60"/>
              </a:spcAft>
            </a:pPr>
            <a:r>
              <a:rPr sz="935" b="0" i="0">
                <a:solidFill>
                  <a:srgbClr val="E5E7EB"/>
                </a:solidFill>
                <a:latin typeface="Consolas"/>
              </a:rPr>
              <a:t>    sign = "/"</a:t>
            </a:r>
          </a:p>
          <a:p>
            <a:pPr>
              <a:lnSpc>
                <a:spcPct val="100000"/>
              </a:lnSpc>
              <a:spcBef>
                <a:spcPts val="0"/>
              </a:spcBef>
              <a:spcAft>
                <a:spcPts val="60"/>
              </a:spcAft>
            </a:pPr>
            <a:r>
              <a:rPr sz="935" b="0" i="0">
                <a:solidFill>
                  <a:srgbClr val="E5E7EB"/>
                </a:solidFill>
                <a:latin typeface="Consolas"/>
              </a:rPr>
              <a:t>else:</a:t>
            </a:r>
          </a:p>
          <a:p>
            <a:pPr>
              <a:lnSpc>
                <a:spcPct val="100000"/>
              </a:lnSpc>
              <a:spcBef>
                <a:spcPts val="0"/>
              </a:spcBef>
              <a:spcAft>
                <a:spcPts val="60"/>
              </a:spcAft>
            </a:pPr>
            <a:r>
              <a:rPr sz="935" b="0" i="0">
                <a:solidFill>
                  <a:srgbClr val="E5E7EB"/>
                </a:solidFill>
                <a:latin typeface="Consolas"/>
              </a:rPr>
              <a:t>    print("Invalid choice -- run again with 1..4.")</a:t>
            </a:r>
          </a:p>
          <a:p>
            <a:pPr>
              <a:lnSpc>
                <a:spcPct val="100000"/>
              </a:lnSpc>
              <a:spcBef>
                <a:spcPts val="0"/>
              </a:spcBef>
              <a:spcAft>
                <a:spcPts val="60"/>
              </a:spcAft>
            </a:pPr>
            <a:r>
              <a:rPr sz="935" b="0" i="0">
                <a:solidFill>
                  <a:srgbClr val="E5E7EB"/>
                </a:solidFill>
                <a:latin typeface="Consolas"/>
              </a:rPr>
              <a:t>    raise SystemExit</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print(f"{a:g} {sign} {b:g} = {result:g}")</a:t>
            </a:r>
          </a:p>
        </p:txBody>
      </p:sp>
      <p:sp>
        <p:nvSpPr>
          <p:cNvPr id="12" name="Rectangle 11"/>
          <p:cNvSpPr/>
          <p:nvPr/>
        </p:nvSpPr>
        <p:spPr>
          <a:xfrm>
            <a:off x="7680959" y="157276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3" y="1664208"/>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01a run 1</a:t>
            </a:r>
          </a:p>
        </p:txBody>
      </p:sp>
      <p:sp>
        <p:nvSpPr>
          <p:cNvPr id="14" name="TextBox 13"/>
          <p:cNvSpPr txBox="1"/>
          <p:nvPr/>
        </p:nvSpPr>
        <p:spPr>
          <a:xfrm>
            <a:off x="7827263" y="1938528"/>
            <a:ext cx="3794760" cy="1874519"/>
          </a:xfrm>
          <a:prstGeom prst="rect">
            <a:avLst/>
          </a:prstGeom>
          <a:noFill/>
        </p:spPr>
        <p:txBody>
          <a:bodyPr wrap="none" anchor="t" lIns="0" rIns="0" tIns="0" bIns="0">
            <a:spAutoFit/>
          </a:bodyPr>
          <a:lstStyle/>
          <a:p>
            <a:pPr>
              <a:lnSpc>
                <a:spcPct val="100000"/>
              </a:lnSpc>
              <a:spcBef>
                <a:spcPts val="0"/>
              </a:spcBef>
              <a:spcAft>
                <a:spcPts val="60"/>
              </a:spcAft>
            </a:pPr>
            <a:r>
              <a:rPr sz="1151" b="0" i="0">
                <a:solidFill>
                  <a:srgbClr val="14171C"/>
                </a:solidFill>
                <a:latin typeface="Consolas"/>
              </a:rPr>
              <a:t>=== Simple Calculator ===</a:t>
            </a:r>
          </a:p>
          <a:p>
            <a:pPr>
              <a:lnSpc>
                <a:spcPct val="100000"/>
              </a:lnSpc>
              <a:spcBef>
                <a:spcPts val="0"/>
              </a:spcBef>
              <a:spcAft>
                <a:spcPts val="60"/>
              </a:spcAft>
            </a:pPr>
            <a:r>
              <a:rPr sz="1151" b="0" i="0">
                <a:solidFill>
                  <a:srgbClr val="14171C"/>
                </a:solidFill>
                <a:latin typeface="Consolas"/>
              </a:rPr>
              <a:t>Enter first number  : 25</a:t>
            </a:r>
          </a:p>
          <a:p>
            <a:pPr>
              <a:lnSpc>
                <a:spcPct val="100000"/>
              </a:lnSpc>
              <a:spcBef>
                <a:spcPts val="0"/>
              </a:spcBef>
              <a:spcAft>
                <a:spcPts val="60"/>
              </a:spcAft>
            </a:pPr>
            <a:r>
              <a:rPr sz="1151" b="0" i="0">
                <a:solidFill>
                  <a:srgbClr val="14171C"/>
                </a:solidFill>
                <a:latin typeface="Consolas"/>
              </a:rPr>
              <a:t>Enter second number: 10</a:t>
            </a:r>
          </a:p>
          <a:p>
            <a:pPr>
              <a:lnSpc>
                <a:spcPct val="100000"/>
              </a:lnSpc>
              <a:spcBef>
                <a:spcPts val="0"/>
              </a:spcBef>
              <a:spcAft>
                <a:spcPts val="60"/>
              </a:spcAft>
            </a:pPr>
            <a:r>
              <a:rPr sz="1151" b="0" i="0">
                <a:solidFill>
                  <a:srgbClr val="14171C"/>
                </a:solidFill>
                <a:latin typeface="Consolas"/>
              </a:rPr>
              <a:t>1-Add   2-Subtract   3-Multiply   4-Divide</a:t>
            </a:r>
          </a:p>
          <a:p>
            <a:pPr>
              <a:lnSpc>
                <a:spcPct val="100000"/>
              </a:lnSpc>
              <a:spcBef>
                <a:spcPts val="0"/>
              </a:spcBef>
              <a:spcAft>
                <a:spcPts val="60"/>
              </a:spcAft>
            </a:pPr>
            <a:r>
              <a:rPr sz="1151" b="0" i="0">
                <a:solidFill>
                  <a:srgbClr val="14171C"/>
                </a:solidFill>
                <a:latin typeface="Consolas"/>
              </a:rPr>
              <a:t>Enter your choice  : 3</a:t>
            </a:r>
          </a:p>
          <a:p>
            <a:pPr>
              <a:lnSpc>
                <a:spcPct val="100000"/>
              </a:lnSpc>
              <a:spcBef>
                <a:spcPts val="0"/>
              </a:spcBef>
              <a:spcAft>
                <a:spcPts val="60"/>
              </a:spcAft>
            </a:pPr>
            <a:r>
              <a:rPr sz="1151" b="0" i="0">
                <a:solidFill>
                  <a:srgbClr val="14171C"/>
                </a:solidFill>
                <a:latin typeface="Consolas"/>
              </a:rPr>
              <a:t>25 * 10 = 250</a:t>
            </a:r>
          </a:p>
        </p:txBody>
      </p:sp>
      <p:sp>
        <p:nvSpPr>
          <p:cNvPr id="15" name="Rectangle 14"/>
          <p:cNvSpPr/>
          <p:nvPr/>
        </p:nvSpPr>
        <p:spPr>
          <a:xfrm>
            <a:off x="7680959" y="404164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3" y="4133087"/>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lab01a run 2</a:t>
            </a:r>
          </a:p>
        </p:txBody>
      </p:sp>
      <p:sp>
        <p:nvSpPr>
          <p:cNvPr id="17" name="TextBox 16"/>
          <p:cNvSpPr txBox="1"/>
          <p:nvPr/>
        </p:nvSpPr>
        <p:spPr>
          <a:xfrm>
            <a:off x="7827263" y="4407407"/>
            <a:ext cx="3794760" cy="1874520"/>
          </a:xfrm>
          <a:prstGeom prst="rect">
            <a:avLst/>
          </a:prstGeom>
          <a:noFill/>
        </p:spPr>
        <p:txBody>
          <a:bodyPr wrap="none" anchor="t" lIns="0" rIns="0" tIns="0" bIns="0">
            <a:spAutoFit/>
          </a:bodyPr>
          <a:lstStyle/>
          <a:p>
            <a:pPr>
              <a:lnSpc>
                <a:spcPct val="100000"/>
              </a:lnSpc>
              <a:spcBef>
                <a:spcPts val="0"/>
              </a:spcBef>
              <a:spcAft>
                <a:spcPts val="60"/>
              </a:spcAft>
            </a:pPr>
            <a:r>
              <a:rPr sz="1151" b="0" i="0">
                <a:solidFill>
                  <a:srgbClr val="14171C"/>
                </a:solidFill>
                <a:latin typeface="Consolas"/>
              </a:rPr>
              <a:t>=== Simple Calculator ===</a:t>
            </a:r>
          </a:p>
          <a:p>
            <a:pPr>
              <a:lnSpc>
                <a:spcPct val="100000"/>
              </a:lnSpc>
              <a:spcBef>
                <a:spcPts val="0"/>
              </a:spcBef>
              <a:spcAft>
                <a:spcPts val="60"/>
              </a:spcAft>
            </a:pPr>
            <a:r>
              <a:rPr sz="1151" b="0" i="0">
                <a:solidFill>
                  <a:srgbClr val="14171C"/>
                </a:solidFill>
                <a:latin typeface="Consolas"/>
              </a:rPr>
              <a:t>Enter first number  : 48</a:t>
            </a:r>
          </a:p>
          <a:p>
            <a:pPr>
              <a:lnSpc>
                <a:spcPct val="100000"/>
              </a:lnSpc>
              <a:spcBef>
                <a:spcPts val="0"/>
              </a:spcBef>
              <a:spcAft>
                <a:spcPts val="60"/>
              </a:spcAft>
            </a:pPr>
            <a:r>
              <a:rPr sz="1151" b="0" i="0">
                <a:solidFill>
                  <a:srgbClr val="14171C"/>
                </a:solidFill>
                <a:latin typeface="Consolas"/>
              </a:rPr>
              <a:t>Enter second number: 0</a:t>
            </a:r>
          </a:p>
          <a:p>
            <a:pPr>
              <a:lnSpc>
                <a:spcPct val="100000"/>
              </a:lnSpc>
              <a:spcBef>
                <a:spcPts val="0"/>
              </a:spcBef>
              <a:spcAft>
                <a:spcPts val="60"/>
              </a:spcAft>
            </a:pPr>
            <a:r>
              <a:rPr sz="1151" b="0" i="0">
                <a:solidFill>
                  <a:srgbClr val="14171C"/>
                </a:solidFill>
                <a:latin typeface="Consolas"/>
              </a:rPr>
              <a:t>1-Add   2-Subtract   3-Multiply   4-Divide</a:t>
            </a:r>
          </a:p>
          <a:p>
            <a:pPr>
              <a:lnSpc>
                <a:spcPct val="100000"/>
              </a:lnSpc>
              <a:spcBef>
                <a:spcPts val="0"/>
              </a:spcBef>
              <a:spcAft>
                <a:spcPts val="60"/>
              </a:spcAft>
            </a:pPr>
            <a:r>
              <a:rPr sz="1151" b="0" i="0">
                <a:solidFill>
                  <a:srgbClr val="14171C"/>
                </a:solidFill>
                <a:latin typeface="Consolas"/>
              </a:rPr>
              <a:t>Enter your choice  : 4</a:t>
            </a:r>
          </a:p>
          <a:p>
            <a:pPr>
              <a:lnSpc>
                <a:spcPct val="100000"/>
              </a:lnSpc>
              <a:spcBef>
                <a:spcPts val="0"/>
              </a:spcBef>
              <a:spcAft>
                <a:spcPts val="60"/>
              </a:spcAft>
            </a:pPr>
            <a:r>
              <a:rPr sz="1151" b="0" i="0">
                <a:solidFill>
                  <a:srgbClr val="14171C"/>
                </a:solidFill>
                <a:latin typeface="Consolas"/>
              </a:rPr>
              <a:t>Error: division by zero is not defined.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 — lab01b.py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39</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lab01b.py  ·  3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47" b="0" i="0">
                <a:solidFill>
                  <a:srgbClr val="E5E7EB"/>
                </a:solidFill>
                <a:latin typeface="Consolas"/>
              </a:rPr>
              <a:t># Lab 1b -- name + birth year -&gt; senior citizen? (60+ as per GoI norm)</a:t>
            </a:r>
          </a:p>
          <a:p>
            <a:pPr>
              <a:lnSpc>
                <a:spcPct val="100000"/>
              </a:lnSpc>
              <a:spcBef>
                <a:spcPts val="0"/>
              </a:spcBef>
              <a:spcAft>
                <a:spcPts val="60"/>
              </a:spcAft>
            </a:pPr>
            <a:r>
              <a:rPr sz="947" b="0" i="0">
                <a:solidFill>
                  <a:srgbClr val="E5E7EB"/>
                </a:solidFill>
                <a:latin typeface="Consolas"/>
              </a:rPr>
              <a:t># Run   : python3 lab01b.py</a:t>
            </a:r>
          </a:p>
          <a:p>
            <a:pPr>
              <a:lnSpc>
                <a:spcPct val="100000"/>
              </a:lnSpc>
              <a:spcBef>
                <a:spcPts val="0"/>
              </a:spcBef>
              <a:spcAft>
                <a:spcPts val="60"/>
              </a:spcAft>
            </a:pPr>
            <a:r>
              <a:rPr sz="947" b="0" i="0">
                <a:solidFill>
                  <a:srgbClr val="E5E7EB"/>
                </a:solidFill>
                <a:latin typeface="Consolas"/>
              </a:rPr>
              <a:t>CURRENT_YEAR = 2026         # fixed so the record's output is reproducible</a:t>
            </a:r>
          </a:p>
          <a:p>
            <a:pPr>
              <a:lnSpc>
                <a:spcPct val="100000"/>
              </a:lnSpc>
              <a:spcBef>
                <a:spcPts val="0"/>
              </a:spcBef>
              <a:spcAft>
                <a:spcPts val="60"/>
              </a:spcAft>
            </a:pPr>
            <a:r>
              <a:rPr sz="947" b="0" i="0">
                <a:solidFill>
                  <a:srgbClr val="E5E7EB"/>
                </a:solidFill>
                <a:latin typeface="Consolas"/>
              </a:rPr>
              <a:t> </a:t>
            </a:r>
          </a:p>
          <a:p>
            <a:pPr>
              <a:lnSpc>
                <a:spcPct val="100000"/>
              </a:lnSpc>
              <a:spcBef>
                <a:spcPts val="0"/>
              </a:spcBef>
              <a:spcAft>
                <a:spcPts val="60"/>
              </a:spcAft>
            </a:pPr>
            <a:r>
              <a:rPr sz="947" b="0" i="0">
                <a:solidFill>
                  <a:srgbClr val="E5E7EB"/>
                </a:solidFill>
                <a:latin typeface="Consolas"/>
              </a:rPr>
              <a:t>name = input("Enter the name of the person     : ")</a:t>
            </a:r>
          </a:p>
          <a:p>
            <a:pPr>
              <a:lnSpc>
                <a:spcPct val="100000"/>
              </a:lnSpc>
              <a:spcBef>
                <a:spcPts val="0"/>
              </a:spcBef>
              <a:spcAft>
                <a:spcPts val="60"/>
              </a:spcAft>
            </a:pPr>
            <a:r>
              <a:rPr sz="947" b="0" i="0">
                <a:solidFill>
                  <a:srgbClr val="E5E7EB"/>
                </a:solidFill>
                <a:latin typeface="Consolas"/>
              </a:rPr>
              <a:t>year = int(input("Enter the year of birth (YYYY) : "))</a:t>
            </a:r>
          </a:p>
          <a:p>
            <a:pPr>
              <a:lnSpc>
                <a:spcPct val="100000"/>
              </a:lnSpc>
              <a:spcBef>
                <a:spcPts val="0"/>
              </a:spcBef>
              <a:spcAft>
                <a:spcPts val="60"/>
              </a:spcAft>
            </a:pPr>
            <a:r>
              <a:rPr sz="947" b="0" i="0">
                <a:solidFill>
                  <a:srgbClr val="E5E7EB"/>
                </a:solidFill>
                <a:latin typeface="Consolas"/>
              </a:rPr>
              <a:t>age = CURRENT_YEAR - year</a:t>
            </a:r>
          </a:p>
          <a:p>
            <a:pPr>
              <a:lnSpc>
                <a:spcPct val="100000"/>
              </a:lnSpc>
              <a:spcBef>
                <a:spcPts val="0"/>
              </a:spcBef>
              <a:spcAft>
                <a:spcPts val="60"/>
              </a:spcAft>
            </a:pPr>
            <a:r>
              <a:rPr sz="947" b="0" i="0">
                <a:solidFill>
                  <a:srgbClr val="E5E7EB"/>
                </a:solidFill>
                <a:latin typeface="Consolas"/>
              </a:rPr>
              <a:t> </a:t>
            </a:r>
          </a:p>
          <a:p>
            <a:pPr>
              <a:lnSpc>
                <a:spcPct val="100000"/>
              </a:lnSpc>
              <a:spcBef>
                <a:spcPts val="0"/>
              </a:spcBef>
              <a:spcAft>
                <a:spcPts val="60"/>
              </a:spcAft>
            </a:pPr>
            <a:r>
              <a:rPr sz="947" b="0" i="0">
                <a:solidFill>
                  <a:srgbClr val="E5E7EB"/>
                </a:solidFill>
                <a:latin typeface="Consolas"/>
              </a:rPr>
              <a:t>print("Name:", name)</a:t>
            </a:r>
          </a:p>
          <a:p>
            <a:pPr>
              <a:lnSpc>
                <a:spcPct val="100000"/>
              </a:lnSpc>
              <a:spcBef>
                <a:spcPts val="0"/>
              </a:spcBef>
              <a:spcAft>
                <a:spcPts val="60"/>
              </a:spcAft>
            </a:pPr>
            <a:r>
              <a:rPr sz="947" b="0" i="0">
                <a:solidFill>
                  <a:srgbClr val="E5E7EB"/>
                </a:solidFill>
                <a:latin typeface="Consolas"/>
              </a:rPr>
              <a:t>print(f"Age in {CURRENT_YEAR}: {age} years")</a:t>
            </a:r>
          </a:p>
          <a:p>
            <a:pPr>
              <a:lnSpc>
                <a:spcPct val="100000"/>
              </a:lnSpc>
              <a:spcBef>
                <a:spcPts val="0"/>
              </a:spcBef>
              <a:spcAft>
                <a:spcPts val="60"/>
              </a:spcAft>
            </a:pPr>
            <a:r>
              <a:rPr sz="947" b="0" i="0">
                <a:solidFill>
                  <a:srgbClr val="E5E7EB"/>
                </a:solidFill>
                <a:latin typeface="Consolas"/>
              </a:rPr>
              <a:t>if age &lt; 0:</a:t>
            </a:r>
          </a:p>
          <a:p>
            <a:pPr>
              <a:lnSpc>
                <a:spcPct val="100000"/>
              </a:lnSpc>
              <a:spcBef>
                <a:spcPts val="0"/>
              </a:spcBef>
              <a:spcAft>
                <a:spcPts val="60"/>
              </a:spcAft>
            </a:pPr>
            <a:r>
              <a:rPr sz="947" b="0" i="0">
                <a:solidFill>
                  <a:srgbClr val="E5E7EB"/>
                </a:solidFill>
                <a:latin typeface="Consolas"/>
              </a:rPr>
              <a:t>    print("Check the input -- birth year lies in the future.")</a:t>
            </a:r>
          </a:p>
          <a:p>
            <a:pPr>
              <a:lnSpc>
                <a:spcPct val="100000"/>
              </a:lnSpc>
              <a:spcBef>
                <a:spcPts val="0"/>
              </a:spcBef>
              <a:spcAft>
                <a:spcPts val="60"/>
              </a:spcAft>
            </a:pPr>
            <a:r>
              <a:rPr sz="947" b="0" i="0">
                <a:solidFill>
                  <a:srgbClr val="E5E7EB"/>
                </a:solidFill>
                <a:latin typeface="Consolas"/>
              </a:rPr>
              <a:t>elif age &gt;= 60:</a:t>
            </a:r>
          </a:p>
          <a:p>
            <a:pPr>
              <a:lnSpc>
                <a:spcPct val="100000"/>
              </a:lnSpc>
              <a:spcBef>
                <a:spcPts val="0"/>
              </a:spcBef>
              <a:spcAft>
                <a:spcPts val="60"/>
              </a:spcAft>
            </a:pPr>
            <a:r>
              <a:rPr sz="947" b="0" i="0">
                <a:solidFill>
                  <a:srgbClr val="E5E7EB"/>
                </a:solidFill>
                <a:latin typeface="Consolas"/>
              </a:rPr>
              <a:t>    print("Status: SENIOR CITIZEN")</a:t>
            </a:r>
          </a:p>
          <a:p>
            <a:pPr>
              <a:lnSpc>
                <a:spcPct val="100000"/>
              </a:lnSpc>
              <a:spcBef>
                <a:spcPts val="0"/>
              </a:spcBef>
              <a:spcAft>
                <a:spcPts val="60"/>
              </a:spcAft>
            </a:pPr>
            <a:r>
              <a:rPr sz="947" b="0" i="0">
                <a:solidFill>
                  <a:srgbClr val="E5E7EB"/>
                </a:solidFill>
                <a:latin typeface="Consolas"/>
              </a:rPr>
              <a:t>else:</a:t>
            </a:r>
          </a:p>
          <a:p>
            <a:pPr>
              <a:lnSpc>
                <a:spcPct val="100000"/>
              </a:lnSpc>
              <a:spcBef>
                <a:spcPts val="0"/>
              </a:spcBef>
              <a:spcAft>
                <a:spcPts val="60"/>
              </a:spcAft>
            </a:pPr>
            <a:r>
              <a:rPr sz="947" b="0" i="0">
                <a:solidFill>
                  <a:srgbClr val="E5E7EB"/>
                </a:solidFill>
                <a:latin typeface="Consolas"/>
              </a:rPr>
              <a:t>    print("Status: not a senior citizen")</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01b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the name of the person     : Ramesh</a:t>
            </a:r>
          </a:p>
          <a:p>
            <a:pPr>
              <a:lnSpc>
                <a:spcPct val="100000"/>
              </a:lnSpc>
              <a:spcBef>
                <a:spcPts val="0"/>
              </a:spcBef>
              <a:spcAft>
                <a:spcPts val="60"/>
              </a:spcAft>
            </a:pPr>
            <a:r>
              <a:rPr sz="1250" b="0" i="0">
                <a:solidFill>
                  <a:srgbClr val="14171C"/>
                </a:solidFill>
                <a:latin typeface="Consolas"/>
              </a:rPr>
              <a:t>Enter the year of birth (YYYY) : 1958</a:t>
            </a:r>
          </a:p>
          <a:p>
            <a:pPr>
              <a:lnSpc>
                <a:spcPct val="100000"/>
              </a:lnSpc>
              <a:spcBef>
                <a:spcPts val="0"/>
              </a:spcBef>
              <a:spcAft>
                <a:spcPts val="60"/>
              </a:spcAft>
            </a:pPr>
            <a:r>
              <a:rPr sz="1250" b="0" i="0">
                <a:solidFill>
                  <a:srgbClr val="14171C"/>
                </a:solidFill>
                <a:latin typeface="Consolas"/>
              </a:rPr>
              <a:t>Name: Ramesh</a:t>
            </a:r>
          </a:p>
          <a:p>
            <a:pPr>
              <a:lnSpc>
                <a:spcPct val="100000"/>
              </a:lnSpc>
              <a:spcBef>
                <a:spcPts val="0"/>
              </a:spcBef>
              <a:spcAft>
                <a:spcPts val="60"/>
              </a:spcAft>
            </a:pPr>
            <a:r>
              <a:rPr sz="1250" b="0" i="0">
                <a:solidFill>
                  <a:srgbClr val="14171C"/>
                </a:solidFill>
                <a:latin typeface="Consolas"/>
              </a:rPr>
              <a:t>Age in 2026: 68 years</a:t>
            </a:r>
          </a:p>
          <a:p>
            <a:pPr>
              <a:lnSpc>
                <a:spcPct val="100000"/>
              </a:lnSpc>
              <a:spcBef>
                <a:spcPts val="0"/>
              </a:spcBef>
              <a:spcAft>
                <a:spcPts val="60"/>
              </a:spcAft>
            </a:pPr>
            <a:r>
              <a:rPr sz="1250" b="0" i="0">
                <a:solidFill>
                  <a:srgbClr val="14171C"/>
                </a:solidFill>
                <a:latin typeface="Consolas"/>
              </a:rPr>
              <a:t>Status: SENIOR CITIZEN</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lab01b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the name of the person     : Kavya</a:t>
            </a:r>
          </a:p>
          <a:p>
            <a:pPr>
              <a:lnSpc>
                <a:spcPct val="100000"/>
              </a:lnSpc>
              <a:spcBef>
                <a:spcPts val="0"/>
              </a:spcBef>
              <a:spcAft>
                <a:spcPts val="60"/>
              </a:spcAft>
            </a:pPr>
            <a:r>
              <a:rPr sz="1250" b="0" i="0">
                <a:solidFill>
                  <a:srgbClr val="14171C"/>
                </a:solidFill>
                <a:latin typeface="Consolas"/>
              </a:rPr>
              <a:t>Enter the year of birth (YYYY) : 2000</a:t>
            </a:r>
          </a:p>
          <a:p>
            <a:pPr>
              <a:lnSpc>
                <a:spcPct val="100000"/>
              </a:lnSpc>
              <a:spcBef>
                <a:spcPts val="0"/>
              </a:spcBef>
              <a:spcAft>
                <a:spcPts val="60"/>
              </a:spcAft>
            </a:pPr>
            <a:r>
              <a:rPr sz="1250" b="0" i="0">
                <a:solidFill>
                  <a:srgbClr val="14171C"/>
                </a:solidFill>
                <a:latin typeface="Consolas"/>
              </a:rPr>
              <a:t>Name: Kavya</a:t>
            </a:r>
          </a:p>
          <a:p>
            <a:pPr>
              <a:lnSpc>
                <a:spcPct val="100000"/>
              </a:lnSpc>
              <a:spcBef>
                <a:spcPts val="0"/>
              </a:spcBef>
              <a:spcAft>
                <a:spcPts val="60"/>
              </a:spcAft>
            </a:pPr>
            <a:r>
              <a:rPr sz="1250" b="0" i="0">
                <a:solidFill>
                  <a:srgbClr val="14171C"/>
                </a:solidFill>
                <a:latin typeface="Consolas"/>
              </a:rPr>
              <a:t>Age in 2026: 26 years</a:t>
            </a:r>
          </a:p>
          <a:p>
            <a:pPr>
              <a:lnSpc>
                <a:spcPct val="100000"/>
              </a:lnSpc>
              <a:spcBef>
                <a:spcPts val="0"/>
              </a:spcBef>
              <a:spcAft>
                <a:spcPts val="60"/>
              </a:spcAft>
            </a:pPr>
            <a:r>
              <a:rPr sz="1250" b="0" i="0">
                <a:solidFill>
                  <a:srgbClr val="14171C"/>
                </a:solidFill>
                <a:latin typeface="Consolas"/>
              </a:rPr>
              <a:t>Status: not a senior citizen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40</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The three calculator runs cover the three exits of the ladder (valid operation, refused division, out-of-range choice); the age runs cover the three exits of the comparison (senior, not senior, impossible). Note that {a:g} prints 250 without a trailing “.0” — format choices are part of the observable output. InputPath takenOutput 25, 10, choice 3elif 3 → a*b25 * 10 = 250 48, 0, choice 4elif 4, b==0 branchError message, SystemExit Ramesh, 1958age ≥ 60SENIOR CITIZEN person, 2035age &lt; 0input check message</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float(input(...)) and not int(input(...)) in the calculator?</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What would print('25 * 10 =', a*b) output — is the format string necessary?</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Where exactly does the program stop if b is zero — which statement ends it?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How would you make the senior-citizen check boundary-inclusive at 60? Quote the line.</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(Q3) — </a:t>
            </a:r>
            <a:r>
              <a:rPr sz="1200" b="0" i="0">
                <a:solidFill>
                  <a:srgbClr val="16181D"/>
                </a:solidFill>
                <a:latin typeface="Calibri"/>
              </a:rPr>
              <a:t>print('25 * 10 =', a*b) gives '25 * 10 = 250.0' — the comma form shows the raw float. The f-string with :g renders 250, which is why record-friendly output uses it; both are syntactically correct, only one prints like a calculator.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2 — Fibonacci to Length N, and the Full List Lifecycle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41</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CO1 + CO2</a:t>
            </a:r>
            <a:r>
              <a:rPr sz="1250" b="0" i="0">
                <a:solidFill>
                  <a:srgbClr val="4B5563"/>
                </a:solidFill>
                <a:latin typeface="Calibri"/>
              </a:rPr>
              <a:t>    tuple assignment as the update step, list as an accumulator, the exact semantics of each list method (value vs index removal, pop returns).</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2 a. Develop a program to generate Fibonacci sequence of length (N). Read N from the console. b. Write a python program to create a list and perform the following operations: Inserting an element, Removing an element, Appending an element, Displaying the length of the list, Popping an element, Clearing the list.</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Fibonacci: hold the pair (a, b) = (0, 1); append</a:t>
            </a:r>
            <a:r>
              <a:rPr sz="1250" b="0" i="0">
                <a:solidFill>
                  <a:srgbClr val="16181D"/>
                </a:solidFill>
                <a:latin typeface="Consolas"/>
              </a:rPr>
              <a:t>a</a:t>
            </a:r>
            <a:r>
              <a:rPr sz="1250" b="0" i="0">
                <a:solidFill>
                  <a:srgbClr val="16181D"/>
                </a:solidFill>
                <a:latin typeface="Calibri"/>
              </a:rPr>
              <a:t>, then</a:t>
            </a:r>
            <a:r>
              <a:rPr sz="1250" b="0" i="0">
                <a:solidFill>
                  <a:srgbClr val="16181D"/>
                </a:solidFill>
                <a:latin typeface="Consolas"/>
              </a:rPr>
              <a:t>a, b = b, a + b</a:t>
            </a:r>
            <a:r>
              <a:rPr sz="1250" b="0" i="0">
                <a:solidFill>
                  <a:srgbClr val="16181D"/>
                </a:solidFill>
                <a:latin typeface="Calibri"/>
              </a:rPr>
              <a:t>— one line, no temporary, because tuple assignment evaluates the right side first.</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Validate N once at the top; N≤0 prints a message instead of an empty “sequence”.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For (b), print the list after</a:t>
            </a:r>
            <a:r>
              <a:rPr sz="1250" b="0" i="0">
                <a:solidFill>
                  <a:srgbClr val="16181D"/>
                </a:solidFill>
                <a:latin typeface="Calibri"/>
              </a:rPr>
              <a:t>em&gt;every</a:t>
            </a:r>
            <a:r>
              <a:rPr sz="1250" b="0" i="0">
                <a:solidFill>
                  <a:srgbClr val="16181D"/>
                </a:solidFill>
                <a:latin typeface="Calibri"/>
              </a:rPr>
              <a:t>/em&gt; operation — the difference between insert-at-index and append-at-end, remove-by-value and pop-by-index, becomes visible in the transcript itself.</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lab02a.py</a:t>
            </a:r>
            <a:r>
              <a:rPr sz="1250" b="0" i="0">
                <a:solidFill>
                  <a:srgbClr val="16181D"/>
                </a:solidFill>
                <a:latin typeface="Calibri"/>
              </a:rPr>
              <a:t>  —  fibonacci</a:t>
            </a:r>
          </a:p>
          <a:p>
            <a:pPr>
              <a:spcBef>
                <a:spcPts val="0"/>
              </a:spcBef>
              <a:spcAft>
                <a:spcPts val="300"/>
              </a:spcAft>
            </a:pPr>
            <a:r>
              <a:rPr sz="1300" b="1" i="0">
                <a:solidFill>
                  <a:srgbClr val="B3261E"/>
                </a:solidFill>
                <a:latin typeface="Consolas"/>
              </a:rPr>
              <a:t>lab02b.py</a:t>
            </a:r>
            <a:r>
              <a:rPr sz="1250" b="0" i="0">
                <a:solidFill>
                  <a:srgbClr val="16181D"/>
                </a:solidFill>
                <a:latin typeface="Calibri"/>
              </a:rPr>
              <a:t>  —  list operations</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2 — lab02a.py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42</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lab02a.py  ·  3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22" b="0" i="0">
                <a:solidFill>
                  <a:srgbClr val="E5E7EB"/>
                </a:solidFill>
                <a:latin typeface="Consolas"/>
              </a:rPr>
              <a:t># Lab 2a -- Fibonacci sequence of length N read from the console</a:t>
            </a:r>
          </a:p>
          <a:p>
            <a:pPr>
              <a:lnSpc>
                <a:spcPct val="100000"/>
              </a:lnSpc>
              <a:spcBef>
                <a:spcPts val="0"/>
              </a:spcBef>
              <a:spcAft>
                <a:spcPts val="60"/>
              </a:spcAft>
            </a:pPr>
            <a:r>
              <a:rPr sz="922" b="0" i="0">
                <a:solidFill>
                  <a:srgbClr val="E5E7EB"/>
                </a:solidFill>
                <a:latin typeface="Consolas"/>
              </a:rPr>
              <a:t># Run   : python3 lab02a.py</a:t>
            </a:r>
          </a:p>
          <a:p>
            <a:pPr>
              <a:lnSpc>
                <a:spcPct val="100000"/>
              </a:lnSpc>
              <a:spcBef>
                <a:spcPts val="0"/>
              </a:spcBef>
              <a:spcAft>
                <a:spcPts val="60"/>
              </a:spcAft>
            </a:pPr>
            <a:r>
              <a:rPr sz="922" b="0" i="0">
                <a:solidFill>
                  <a:srgbClr val="E5E7EB"/>
                </a:solidFill>
                <a:latin typeface="Consolas"/>
              </a:rPr>
              <a:t>n = int(input("How many Fibonacci numbers? "))</a:t>
            </a:r>
          </a:p>
          <a:p>
            <a:pPr>
              <a:lnSpc>
                <a:spcPct val="100000"/>
              </a:lnSpc>
              <a:spcBef>
                <a:spcPts val="0"/>
              </a:spcBef>
              <a:spcAft>
                <a:spcPts val="60"/>
              </a:spcAft>
            </a:pPr>
            <a:r>
              <a:rPr sz="922" b="0" i="0">
                <a:solidFill>
                  <a:srgbClr val="E5E7EB"/>
                </a:solidFill>
                <a:latin typeface="Consolas"/>
              </a:rPr>
              <a:t>if n &lt;= 0:</a:t>
            </a:r>
          </a:p>
          <a:p>
            <a:pPr>
              <a:lnSpc>
                <a:spcPct val="100000"/>
              </a:lnSpc>
              <a:spcBef>
                <a:spcPts val="0"/>
              </a:spcBef>
              <a:spcAft>
                <a:spcPts val="60"/>
              </a:spcAft>
            </a:pPr>
            <a:r>
              <a:rPr sz="922" b="0" i="0">
                <a:solidFill>
                  <a:srgbClr val="E5E7EB"/>
                </a:solidFill>
                <a:latin typeface="Consolas"/>
              </a:rPr>
              <a:t>    print("Please enter a positive integer.")</a:t>
            </a:r>
          </a:p>
          <a:p>
            <a:pPr>
              <a:lnSpc>
                <a:spcPct val="100000"/>
              </a:lnSpc>
              <a:spcBef>
                <a:spcPts val="0"/>
              </a:spcBef>
              <a:spcAft>
                <a:spcPts val="60"/>
              </a:spcAft>
            </a:pPr>
            <a:r>
              <a:rPr sz="922" b="0" i="0">
                <a:solidFill>
                  <a:srgbClr val="E5E7EB"/>
                </a:solidFill>
                <a:latin typeface="Consolas"/>
              </a:rPr>
              <a:t>else:</a:t>
            </a:r>
          </a:p>
          <a:p>
            <a:pPr>
              <a:lnSpc>
                <a:spcPct val="100000"/>
              </a:lnSpc>
              <a:spcBef>
                <a:spcPts val="0"/>
              </a:spcBef>
              <a:spcAft>
                <a:spcPts val="60"/>
              </a:spcAft>
            </a:pPr>
            <a:r>
              <a:rPr sz="922" b="0" i="0">
                <a:solidFill>
                  <a:srgbClr val="E5E7EB"/>
                </a:solidFill>
                <a:latin typeface="Consolas"/>
              </a:rPr>
              <a:t>    a, b = 0, 1                 # tuple assignment does the swap in one line</a:t>
            </a:r>
          </a:p>
          <a:p>
            <a:pPr>
              <a:lnSpc>
                <a:spcPct val="100000"/>
              </a:lnSpc>
              <a:spcBef>
                <a:spcPts val="0"/>
              </a:spcBef>
              <a:spcAft>
                <a:spcPts val="60"/>
              </a:spcAft>
            </a:pPr>
            <a:r>
              <a:rPr sz="922" b="0" i="0">
                <a:solidFill>
                  <a:srgbClr val="E5E7EB"/>
                </a:solidFill>
                <a:latin typeface="Consolas"/>
              </a:rPr>
              <a:t>    seq = []</a:t>
            </a:r>
          </a:p>
          <a:p>
            <a:pPr>
              <a:lnSpc>
                <a:spcPct val="100000"/>
              </a:lnSpc>
              <a:spcBef>
                <a:spcPts val="0"/>
              </a:spcBef>
              <a:spcAft>
                <a:spcPts val="60"/>
              </a:spcAft>
            </a:pPr>
            <a:r>
              <a:rPr sz="922" b="0" i="0">
                <a:solidFill>
                  <a:srgbClr val="E5E7EB"/>
                </a:solidFill>
                <a:latin typeface="Consolas"/>
              </a:rPr>
              <a:t>    for _ in range(n):</a:t>
            </a:r>
          </a:p>
          <a:p>
            <a:pPr>
              <a:lnSpc>
                <a:spcPct val="100000"/>
              </a:lnSpc>
              <a:spcBef>
                <a:spcPts val="0"/>
              </a:spcBef>
              <a:spcAft>
                <a:spcPts val="60"/>
              </a:spcAft>
            </a:pPr>
            <a:r>
              <a:rPr sz="922" b="0" i="0">
                <a:solidFill>
                  <a:srgbClr val="E5E7EB"/>
                </a:solidFill>
                <a:latin typeface="Consolas"/>
              </a:rPr>
              <a:t>        seq.append(a)</a:t>
            </a:r>
          </a:p>
          <a:p>
            <a:pPr>
              <a:lnSpc>
                <a:spcPct val="100000"/>
              </a:lnSpc>
              <a:spcBef>
                <a:spcPts val="0"/>
              </a:spcBef>
              <a:spcAft>
                <a:spcPts val="60"/>
              </a:spcAft>
            </a:pPr>
            <a:r>
              <a:rPr sz="922" b="0" i="0">
                <a:solidFill>
                  <a:srgbClr val="E5E7EB"/>
                </a:solidFill>
                <a:latin typeface="Consolas"/>
              </a:rPr>
              <a:t>        a, b = b, a + b</a:t>
            </a:r>
          </a:p>
          <a:p>
            <a:pPr>
              <a:lnSpc>
                <a:spcPct val="100000"/>
              </a:lnSpc>
              <a:spcBef>
                <a:spcPts val="0"/>
              </a:spcBef>
              <a:spcAft>
                <a:spcPts val="60"/>
              </a:spcAft>
            </a:pPr>
            <a:r>
              <a:rPr sz="922" b="0" i="0">
                <a:solidFill>
                  <a:srgbClr val="E5E7EB"/>
                </a:solidFill>
                <a:latin typeface="Consolas"/>
              </a:rPr>
              <a:t>    print(f"Fibonacci sequence of length {n}:")</a:t>
            </a:r>
          </a:p>
          <a:p>
            <a:pPr>
              <a:lnSpc>
                <a:spcPct val="100000"/>
              </a:lnSpc>
              <a:spcBef>
                <a:spcPts val="0"/>
              </a:spcBef>
              <a:spcAft>
                <a:spcPts val="60"/>
              </a:spcAft>
            </a:pPr>
            <a:r>
              <a:rPr sz="922" b="0" i="0">
                <a:solidFill>
                  <a:srgbClr val="E5E7EB"/>
                </a:solidFill>
                <a:latin typeface="Consolas"/>
              </a:rPr>
              <a:t>    print(", ".join(str(x) for x in seq))</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02a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How many Fibonacci numbers? 10</a:t>
            </a:r>
          </a:p>
          <a:p>
            <a:pPr>
              <a:lnSpc>
                <a:spcPct val="100000"/>
              </a:lnSpc>
              <a:spcBef>
                <a:spcPts val="0"/>
              </a:spcBef>
              <a:spcAft>
                <a:spcPts val="60"/>
              </a:spcAft>
            </a:pPr>
            <a:r>
              <a:rPr sz="1250" b="0" i="0">
                <a:solidFill>
                  <a:srgbClr val="14171C"/>
                </a:solidFill>
                <a:latin typeface="Consolas"/>
              </a:rPr>
              <a:t>Fibonacci sequence of length 10:</a:t>
            </a:r>
          </a:p>
          <a:p>
            <a:pPr>
              <a:lnSpc>
                <a:spcPct val="100000"/>
              </a:lnSpc>
              <a:spcBef>
                <a:spcPts val="0"/>
              </a:spcBef>
              <a:spcAft>
                <a:spcPts val="60"/>
              </a:spcAft>
            </a:pPr>
            <a:r>
              <a:rPr sz="1250" b="0" i="0">
                <a:solidFill>
                  <a:srgbClr val="14171C"/>
                </a:solidFill>
                <a:latin typeface="Consolas"/>
              </a:rPr>
              <a:t>0, 1, 1, 2, 3, 5, 8, 13, 21, 34</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lab02a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How many Fibonacci numbers? 1</a:t>
            </a:r>
          </a:p>
          <a:p>
            <a:pPr>
              <a:lnSpc>
                <a:spcPct val="100000"/>
              </a:lnSpc>
              <a:spcBef>
                <a:spcPts val="0"/>
              </a:spcBef>
              <a:spcAft>
                <a:spcPts val="60"/>
              </a:spcAft>
            </a:pPr>
            <a:r>
              <a:rPr sz="1250" b="0" i="0">
                <a:solidFill>
                  <a:srgbClr val="14171C"/>
                </a:solidFill>
                <a:latin typeface="Consolas"/>
              </a:rPr>
              <a:t>Fibonacci sequence of length 1:</a:t>
            </a:r>
          </a:p>
          <a:p>
            <a:pPr>
              <a:lnSpc>
                <a:spcPct val="100000"/>
              </a:lnSpc>
              <a:spcBef>
                <a:spcPts val="0"/>
              </a:spcBef>
              <a:spcAft>
                <a:spcPts val="60"/>
              </a:spcAft>
            </a:pPr>
            <a:r>
              <a:rPr sz="1250" b="0" i="0">
                <a:solidFill>
                  <a:srgbClr val="14171C"/>
                </a:solidFill>
                <a:latin typeface="Consolas"/>
              </a:rPr>
              <a:t>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2 — lab02b.py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43</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lab02b.py  ·  1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87" b="0" i="0">
                <a:solidFill>
                  <a:srgbClr val="E5E7EB"/>
                </a:solidFill>
                <a:latin typeface="Consolas"/>
              </a:rPr>
              <a:t># Lab 2b -- list lifecycle: insert, remove, append, len, pop, clear</a:t>
            </a:r>
          </a:p>
          <a:p>
            <a:pPr>
              <a:lnSpc>
                <a:spcPct val="100000"/>
              </a:lnSpc>
              <a:spcBef>
                <a:spcPts val="0"/>
              </a:spcBef>
              <a:spcAft>
                <a:spcPts val="60"/>
              </a:spcAft>
            </a:pPr>
            <a:r>
              <a:rPr sz="987" b="0" i="0">
                <a:solidFill>
                  <a:srgbClr val="E5E7EB"/>
                </a:solidFill>
                <a:latin typeface="Consolas"/>
              </a:rPr>
              <a:t># Run   : python3 lab02b.py</a:t>
            </a:r>
          </a:p>
          <a:p>
            <a:pPr>
              <a:lnSpc>
                <a:spcPct val="100000"/>
              </a:lnSpc>
              <a:spcBef>
                <a:spcPts val="0"/>
              </a:spcBef>
              <a:spcAft>
                <a:spcPts val="60"/>
              </a:spcAft>
            </a:pPr>
            <a:r>
              <a:rPr sz="987" b="0" i="0">
                <a:solidFill>
                  <a:srgbClr val="E5E7EB"/>
                </a:solidFill>
                <a:latin typeface="Consolas"/>
              </a:rPr>
              <a:t>fruits = ["mango", "apple", "guava"]</a:t>
            </a:r>
          </a:p>
          <a:p>
            <a:pPr>
              <a:lnSpc>
                <a:spcPct val="100000"/>
              </a:lnSpc>
              <a:spcBef>
                <a:spcPts val="0"/>
              </a:spcBef>
              <a:spcAft>
                <a:spcPts val="60"/>
              </a:spcAft>
            </a:pPr>
            <a:r>
              <a:rPr sz="987" b="0" i="0">
                <a:solidFill>
                  <a:srgbClr val="E5E7EB"/>
                </a:solidFill>
                <a:latin typeface="Consolas"/>
              </a:rPr>
              <a:t>print("initial       :", 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fruits.insert(1, "jackfruit")           # position matters with insert</a:t>
            </a:r>
          </a:p>
          <a:p>
            <a:pPr>
              <a:lnSpc>
                <a:spcPct val="100000"/>
              </a:lnSpc>
              <a:spcBef>
                <a:spcPts val="0"/>
              </a:spcBef>
              <a:spcAft>
                <a:spcPts val="60"/>
              </a:spcAft>
            </a:pPr>
            <a:r>
              <a:rPr sz="987" b="0" i="0">
                <a:solidFill>
                  <a:srgbClr val="E5E7EB"/>
                </a:solidFill>
                <a:latin typeface="Consolas"/>
              </a:rPr>
              <a:t>print("insert at 1   :", 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fruits.remove("apple")                  # remove by VALUE, not by index</a:t>
            </a:r>
          </a:p>
          <a:p>
            <a:pPr>
              <a:lnSpc>
                <a:spcPct val="100000"/>
              </a:lnSpc>
              <a:spcBef>
                <a:spcPts val="0"/>
              </a:spcBef>
              <a:spcAft>
                <a:spcPts val="60"/>
              </a:spcAft>
            </a:pPr>
            <a:r>
              <a:rPr sz="987" b="0" i="0">
                <a:solidFill>
                  <a:srgbClr val="E5E7EB"/>
                </a:solidFill>
                <a:latin typeface="Consolas"/>
              </a:rPr>
              <a:t>print("remove 'apple':", 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fruits.append("banana")                 # add at the end</a:t>
            </a:r>
          </a:p>
          <a:p>
            <a:pPr>
              <a:lnSpc>
                <a:spcPct val="100000"/>
              </a:lnSpc>
              <a:spcBef>
                <a:spcPts val="0"/>
              </a:spcBef>
              <a:spcAft>
                <a:spcPts val="60"/>
              </a:spcAft>
            </a:pPr>
            <a:r>
              <a:rPr sz="987" b="0" i="0">
                <a:solidFill>
                  <a:srgbClr val="E5E7EB"/>
                </a:solidFill>
                <a:latin typeface="Consolas"/>
              </a:rPr>
              <a:t>print("append banana :", 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print("length        :", len(fruits))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popped = fruits.pop(2)                  # pop RETURNS what it removes</a:t>
            </a:r>
          </a:p>
          <a:p>
            <a:pPr>
              <a:lnSpc>
                <a:spcPct val="100000"/>
              </a:lnSpc>
              <a:spcBef>
                <a:spcPts val="0"/>
              </a:spcBef>
              <a:spcAft>
                <a:spcPts val="60"/>
              </a:spcAft>
            </a:pPr>
            <a:r>
              <a:rPr sz="987" b="0" i="0">
                <a:solidFill>
                  <a:srgbClr val="E5E7EB"/>
                </a:solidFill>
                <a:latin typeface="Consolas"/>
              </a:rPr>
              <a:t>print(f"pop(2) took {popped!r} -&gt;", fruits)</a:t>
            </a:r>
          </a:p>
          <a:p>
            <a:pPr>
              <a:lnSpc>
                <a:spcPct val="100000"/>
              </a:lnSpc>
              <a:spcBef>
                <a:spcPts val="0"/>
              </a:spcBef>
              <a:spcAft>
                <a:spcPts val="60"/>
              </a:spcAft>
            </a:pPr>
            <a:r>
              <a:rPr sz="987" b="0" i="0">
                <a:solidFill>
                  <a:srgbClr val="E5E7EB"/>
                </a:solidFill>
                <a:latin typeface="Consolas"/>
              </a:rPr>
              <a:t>fruits.pop()                            # no index: the last item</a:t>
            </a:r>
          </a:p>
          <a:p>
            <a:pPr>
              <a:lnSpc>
                <a:spcPct val="100000"/>
              </a:lnSpc>
              <a:spcBef>
                <a:spcPts val="0"/>
              </a:spcBef>
              <a:spcAft>
                <a:spcPts val="60"/>
              </a:spcAft>
            </a:pPr>
            <a:r>
              <a:rPr sz="987" b="0" i="0">
                <a:solidFill>
                  <a:srgbClr val="E5E7EB"/>
                </a:solidFill>
                <a:latin typeface="Consolas"/>
              </a:rPr>
              <a:t>print("pop last      :", fruits)</a:t>
            </a:r>
          </a:p>
          <a:p>
            <a:pPr>
              <a:lnSpc>
                <a:spcPct val="100000"/>
              </a:lnSpc>
              <a:spcBef>
                <a:spcPts val="0"/>
              </a:spcBef>
              <a:spcAft>
                <a:spcPts val="60"/>
              </a:spcAft>
            </a:pPr>
            <a:r>
              <a:rPr sz="987" b="0" i="0">
                <a:solidFill>
                  <a:srgbClr val="E5E7EB"/>
                </a:solidFill>
                <a:latin typeface="Consolas"/>
              </a:rPr>
              <a:t> </a:t>
            </a:r>
          </a:p>
          <a:p>
            <a:pPr>
              <a:lnSpc>
                <a:spcPct val="100000"/>
              </a:lnSpc>
              <a:spcBef>
                <a:spcPts val="0"/>
              </a:spcBef>
              <a:spcAft>
                <a:spcPts val="60"/>
              </a:spcAft>
            </a:pPr>
            <a:r>
              <a:rPr sz="987" b="0" i="0">
                <a:solidFill>
                  <a:srgbClr val="E5E7EB"/>
                </a:solidFill>
                <a:latin typeface="Consolas"/>
              </a:rPr>
              <a:t>fruits.clear()</a:t>
            </a:r>
          </a:p>
          <a:p>
            <a:pPr>
              <a:lnSpc>
                <a:spcPct val="100000"/>
              </a:lnSpc>
              <a:spcBef>
                <a:spcPts val="0"/>
              </a:spcBef>
              <a:spcAft>
                <a:spcPts val="60"/>
              </a:spcAft>
            </a:pPr>
            <a:r>
              <a:rPr sz="987" b="0" i="0">
                <a:solidFill>
                  <a:srgbClr val="E5E7EB"/>
                </a:solidFill>
                <a:latin typeface="Consolas"/>
              </a:rPr>
              <a:t>print("clear()       :", fruits, "| length now:", len(fruits))</a:t>
            </a:r>
          </a:p>
        </p:txBody>
      </p:sp>
      <p:sp>
        <p:nvSpPr>
          <p:cNvPr id="12" name="Rectangle 11"/>
          <p:cNvSpPr/>
          <p:nvPr/>
        </p:nvSpPr>
        <p:spPr>
          <a:xfrm>
            <a:off x="6537960" y="1572768"/>
            <a:ext cx="516636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02b run 1</a:t>
            </a:r>
          </a:p>
        </p:txBody>
      </p:sp>
      <p:sp>
        <p:nvSpPr>
          <p:cNvPr id="14" name="TextBox 13"/>
          <p:cNvSpPr txBox="1"/>
          <p:nvPr/>
        </p:nvSpPr>
        <p:spPr>
          <a:xfrm>
            <a:off x="6684264" y="1938528"/>
            <a:ext cx="4892040" cy="4343400"/>
          </a:xfrm>
          <a:prstGeom prst="rect">
            <a:avLst/>
          </a:prstGeom>
          <a:noFill/>
        </p:spPr>
        <p:txBody>
          <a:bodyPr wrap="none" anchor="t" lIns="0" rIns="0" tIns="0" bIns="0">
            <a:spAutoFit/>
          </a:bodyPr>
          <a:lstStyle/>
          <a:p>
            <a:pPr>
              <a:lnSpc>
                <a:spcPct val="100000"/>
              </a:lnSpc>
              <a:spcBef>
                <a:spcPts val="0"/>
              </a:spcBef>
              <a:spcAft>
                <a:spcPts val="60"/>
              </a:spcAft>
            </a:pPr>
            <a:r>
              <a:rPr sz="1094" b="0" i="0">
                <a:solidFill>
                  <a:srgbClr val="14171C"/>
                </a:solidFill>
                <a:latin typeface="Consolas"/>
              </a:rPr>
              <a:t>initial       : ['mango', 'apple', 'guava']</a:t>
            </a:r>
          </a:p>
          <a:p>
            <a:pPr>
              <a:lnSpc>
                <a:spcPct val="100000"/>
              </a:lnSpc>
              <a:spcBef>
                <a:spcPts val="0"/>
              </a:spcBef>
              <a:spcAft>
                <a:spcPts val="60"/>
              </a:spcAft>
            </a:pPr>
            <a:r>
              <a:rPr sz="1094" b="0" i="0">
                <a:solidFill>
                  <a:srgbClr val="14171C"/>
                </a:solidFill>
                <a:latin typeface="Consolas"/>
              </a:rPr>
              <a:t>insert at 1   : ['mango', 'jackfruit', 'apple', 'guava']</a:t>
            </a:r>
          </a:p>
          <a:p>
            <a:pPr>
              <a:lnSpc>
                <a:spcPct val="100000"/>
              </a:lnSpc>
              <a:spcBef>
                <a:spcPts val="0"/>
              </a:spcBef>
              <a:spcAft>
                <a:spcPts val="60"/>
              </a:spcAft>
            </a:pPr>
            <a:r>
              <a:rPr sz="1094" b="0" i="0">
                <a:solidFill>
                  <a:srgbClr val="14171C"/>
                </a:solidFill>
                <a:latin typeface="Consolas"/>
              </a:rPr>
              <a:t>remove 'apple': ['mango', 'jackfruit', 'guava']</a:t>
            </a:r>
          </a:p>
          <a:p>
            <a:pPr>
              <a:lnSpc>
                <a:spcPct val="100000"/>
              </a:lnSpc>
              <a:spcBef>
                <a:spcPts val="0"/>
              </a:spcBef>
              <a:spcAft>
                <a:spcPts val="60"/>
              </a:spcAft>
            </a:pPr>
            <a:r>
              <a:rPr sz="1094" b="0" i="0">
                <a:solidFill>
                  <a:srgbClr val="14171C"/>
                </a:solidFill>
                <a:latin typeface="Consolas"/>
              </a:rPr>
              <a:t>append banana : ['mango', 'jackfruit', 'guava', 'banana']</a:t>
            </a:r>
          </a:p>
          <a:p>
            <a:pPr>
              <a:lnSpc>
                <a:spcPct val="100000"/>
              </a:lnSpc>
              <a:spcBef>
                <a:spcPts val="0"/>
              </a:spcBef>
              <a:spcAft>
                <a:spcPts val="60"/>
              </a:spcAft>
            </a:pPr>
            <a:r>
              <a:rPr sz="1094" b="0" i="0">
                <a:solidFill>
                  <a:srgbClr val="14171C"/>
                </a:solidFill>
                <a:latin typeface="Consolas"/>
              </a:rPr>
              <a:t>length        : 4</a:t>
            </a:r>
          </a:p>
          <a:p>
            <a:pPr>
              <a:lnSpc>
                <a:spcPct val="100000"/>
              </a:lnSpc>
              <a:spcBef>
                <a:spcPts val="0"/>
              </a:spcBef>
              <a:spcAft>
                <a:spcPts val="60"/>
              </a:spcAft>
            </a:pPr>
            <a:r>
              <a:rPr sz="1094" b="0" i="0">
                <a:solidFill>
                  <a:srgbClr val="14171C"/>
                </a:solidFill>
                <a:latin typeface="Consolas"/>
              </a:rPr>
              <a:t>pop(2) took 'guava' -&gt; ['mango', 'jackfruit', 'banana']</a:t>
            </a:r>
          </a:p>
          <a:p>
            <a:pPr>
              <a:lnSpc>
                <a:spcPct val="100000"/>
              </a:lnSpc>
              <a:spcBef>
                <a:spcPts val="0"/>
              </a:spcBef>
              <a:spcAft>
                <a:spcPts val="60"/>
              </a:spcAft>
            </a:pPr>
            <a:r>
              <a:rPr sz="1094" b="0" i="0">
                <a:solidFill>
                  <a:srgbClr val="14171C"/>
                </a:solidFill>
                <a:latin typeface="Consolas"/>
              </a:rPr>
              <a:t>pop last      : ['mango', 'jackfruit']</a:t>
            </a:r>
          </a:p>
          <a:p>
            <a:pPr>
              <a:lnSpc>
                <a:spcPct val="100000"/>
              </a:lnSpc>
              <a:spcBef>
                <a:spcPts val="0"/>
              </a:spcBef>
              <a:spcAft>
                <a:spcPts val="60"/>
              </a:spcAft>
            </a:pPr>
            <a:r>
              <a:rPr sz="1094" b="0" i="0">
                <a:solidFill>
                  <a:srgbClr val="14171C"/>
                </a:solidFill>
                <a:latin typeface="Consolas"/>
              </a:rPr>
              <a:t>clear()       : [] | length now: 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2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44</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Length 10 yields 0,1,1,2,3,5,8,13,21,34 — ten terms starting at F(0). The pair update never uses a temp variable; removing 'apple' (a value) and popping index 2 (a position, which returned 'guava' and left the list one shorter) are the two removal semantics the viva separates. clear() leaves [] with length 0, and the list object itself still exists — clearing is not deletion.</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does a, b = b, a+b need no temporary variable?</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What does pop(2) return and what remains in the list — give both from the transcript.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Distinguish remove('apple') from pop(2) in one sentence each.</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If the list were cloned before clear(), would the clone be affected? Name the module-2 concept.</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(Q4) — </a:t>
            </a:r>
            <a:r>
              <a:rPr sz="1200" b="0" i="0">
                <a:solidFill>
                  <a:srgbClr val="16181D"/>
                </a:solidFill>
                <a:latin typeface="Calibri"/>
              </a:rPr>
              <a:t>No — this list is not shared: nothing aliased it. But in general clear() is a modifier, so every alias sees the emptied list; a clone taken before clear() survives untouched. This is exactly the aliasing/clone pair of Module 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3 — Mean, Variance, Standard Deviation — and Digit Frequencies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45</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CO1 + CO2</a:t>
            </a:r>
            <a:r>
              <a:rPr sz="1250" b="0" i="0">
                <a:solidFill>
                  <a:srgbClr val="4B5563"/>
                </a:solidFill>
                <a:latin typeface="Calibri"/>
              </a:rPr>
              <a:t>    accumulator loops, the variance formula as a generator expression, str-iteration for digit counting, dict.get for safe counting, input validation by str.isdigit.</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3 a. Read N numbers from the console and create a list. Develop a program to print mean, variance and standard deviation with suitable messages. b. Read a multi-digit number (as chars) from the console. Develop a program to print the frequency of each digit with a suitable message.</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(a) mean = sum(data)/n; variance = Σ(x−mean)²/n — written as one generator expression; std = variance ** 0.5 (no math import needed —</a:t>
            </a:r>
            <a:r>
              <a:rPr sz="1250" b="0" i="0">
                <a:solidFill>
                  <a:srgbClr val="16181D"/>
                </a:solidFill>
                <a:latin typeface="Consolas"/>
              </a:rPr>
              <a:t>x ** 0.5</a:t>
            </a:r>
            <a:r>
              <a:rPr sz="1250" b="0" i="0">
                <a:solidFill>
                  <a:srgbClr val="16181D"/>
                </a:solidFill>
                <a:latin typeface="Calibri"/>
              </a:rPr>
              <a:t>is the course idiom here).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Print all four decimals ({:.4f}) — “suitable messages” includes labelled, aligned output.</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(b) The number is a</a:t>
            </a:r>
            <a:r>
              <a:rPr sz="1250" b="0" i="0">
                <a:solidFill>
                  <a:srgbClr val="16181D"/>
                </a:solidFill>
                <a:latin typeface="Calibri"/>
              </a:rPr>
              <a:t>em&gt;string</a:t>
            </a:r>
            <a:r>
              <a:rPr sz="1250" b="0" i="0">
                <a:solidFill>
                  <a:srgbClr val="16181D"/>
                </a:solidFill>
                <a:latin typeface="Calibri"/>
              </a:rPr>
              <a:t>/em&gt;; iterate it character by character; a dict with</a:t>
            </a:r>
            <a:r>
              <a:rPr sz="1250" b="0" i="0">
                <a:solidFill>
                  <a:srgbClr val="16181D"/>
                </a:solidFill>
                <a:latin typeface="Consolas"/>
              </a:rPr>
              <a:t>freq[d] = freq.get(d, 0) + 1</a:t>
            </a:r>
            <a:r>
              <a:rPr sz="1250" b="0" i="0">
                <a:solidFill>
                  <a:srgbClr val="16181D"/>
                </a:solidFill>
                <a:latin typeface="Calibri"/>
              </a:rPr>
              <a:t>counts; digits-only validation before counting (</a:t>
            </a:r>
            <a:r>
              <a:rPr sz="1250" b="0" i="0">
                <a:solidFill>
                  <a:srgbClr val="16181D"/>
                </a:solidFill>
                <a:latin typeface="Consolas"/>
              </a:rPr>
              <a:t>raw.lstrip("-").isdigit()</a:t>
            </a:r>
            <a:r>
              <a:rPr sz="1250" b="0" i="0">
                <a:solidFill>
                  <a:srgbClr val="16181D"/>
                </a:solidFill>
                <a:latin typeface="Calibri"/>
              </a:rPr>
              <a:t>), negative sign accepted and ignored.</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lab03a.py</a:t>
            </a:r>
            <a:r>
              <a:rPr sz="1250" b="0" i="0">
                <a:solidFill>
                  <a:srgbClr val="16181D"/>
                </a:solidFill>
                <a:latin typeface="Calibri"/>
              </a:rPr>
              <a:t>  —  statistics</a:t>
            </a:r>
          </a:p>
          <a:p>
            <a:pPr>
              <a:spcBef>
                <a:spcPts val="0"/>
              </a:spcBef>
              <a:spcAft>
                <a:spcPts val="300"/>
              </a:spcAft>
            </a:pPr>
            <a:r>
              <a:rPr sz="1300" b="1" i="0">
                <a:solidFill>
                  <a:srgbClr val="B3261E"/>
                </a:solidFill>
                <a:latin typeface="Consolas"/>
              </a:rPr>
              <a:t>lab03b.py</a:t>
            </a:r>
            <a:r>
              <a:rPr sz="1250" b="0" i="0">
                <a:solidFill>
                  <a:srgbClr val="16181D"/>
                </a:solidFill>
                <a:latin typeface="Calibri"/>
              </a:rPr>
              <a:t>  —  digit frequency</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3 — lab03a.py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46</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lab03a.py  ·  2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47" b="0" i="0">
                <a:solidFill>
                  <a:srgbClr val="E5E7EB"/>
                </a:solidFill>
                <a:latin typeface="Consolas"/>
              </a:rPr>
              <a:t># Lab 3a -- N numbers -&gt; mean, variance, standard deviation</a:t>
            </a:r>
          </a:p>
          <a:p>
            <a:pPr>
              <a:lnSpc>
                <a:spcPct val="100000"/>
              </a:lnSpc>
              <a:spcBef>
                <a:spcPts val="0"/>
              </a:spcBef>
              <a:spcAft>
                <a:spcPts val="60"/>
              </a:spcAft>
            </a:pPr>
            <a:r>
              <a:rPr sz="947" b="0" i="0">
                <a:solidFill>
                  <a:srgbClr val="E5E7EB"/>
                </a:solidFill>
                <a:latin typeface="Consolas"/>
              </a:rPr>
              <a:t># Run   : python3 lab03a.py</a:t>
            </a:r>
          </a:p>
          <a:p>
            <a:pPr>
              <a:lnSpc>
                <a:spcPct val="100000"/>
              </a:lnSpc>
              <a:spcBef>
                <a:spcPts val="0"/>
              </a:spcBef>
              <a:spcAft>
                <a:spcPts val="60"/>
              </a:spcAft>
            </a:pPr>
            <a:r>
              <a:rPr sz="947" b="0" i="0">
                <a:solidFill>
                  <a:srgbClr val="E5E7EB"/>
                </a:solidFill>
                <a:latin typeface="Consolas"/>
              </a:rPr>
              <a:t>n = int(input("How many numbers? "))</a:t>
            </a:r>
          </a:p>
          <a:p>
            <a:pPr>
              <a:lnSpc>
                <a:spcPct val="100000"/>
              </a:lnSpc>
              <a:spcBef>
                <a:spcPts val="0"/>
              </a:spcBef>
              <a:spcAft>
                <a:spcPts val="60"/>
              </a:spcAft>
            </a:pPr>
            <a:r>
              <a:rPr sz="947" b="0" i="0">
                <a:solidFill>
                  <a:srgbClr val="E5E7EB"/>
                </a:solidFill>
                <a:latin typeface="Consolas"/>
              </a:rPr>
              <a:t>data = []</a:t>
            </a:r>
          </a:p>
          <a:p>
            <a:pPr>
              <a:lnSpc>
                <a:spcPct val="100000"/>
              </a:lnSpc>
              <a:spcBef>
                <a:spcPts val="0"/>
              </a:spcBef>
              <a:spcAft>
                <a:spcPts val="60"/>
              </a:spcAft>
            </a:pPr>
            <a:r>
              <a:rPr sz="947" b="0" i="0">
                <a:solidFill>
                  <a:srgbClr val="E5E7EB"/>
                </a:solidFill>
                <a:latin typeface="Consolas"/>
              </a:rPr>
              <a:t>for i in range(n):</a:t>
            </a:r>
          </a:p>
          <a:p>
            <a:pPr>
              <a:lnSpc>
                <a:spcPct val="100000"/>
              </a:lnSpc>
              <a:spcBef>
                <a:spcPts val="0"/>
              </a:spcBef>
              <a:spcAft>
                <a:spcPts val="60"/>
              </a:spcAft>
            </a:pPr>
            <a:r>
              <a:rPr sz="947" b="0" i="0">
                <a:solidFill>
                  <a:srgbClr val="E5E7EB"/>
                </a:solidFill>
                <a:latin typeface="Consolas"/>
              </a:rPr>
              <a:t>    data.append(float(input(f"Number {i + 1}: ")))</a:t>
            </a:r>
          </a:p>
          <a:p>
            <a:pPr>
              <a:lnSpc>
                <a:spcPct val="100000"/>
              </a:lnSpc>
              <a:spcBef>
                <a:spcPts val="0"/>
              </a:spcBef>
              <a:spcAft>
                <a:spcPts val="60"/>
              </a:spcAft>
            </a:pPr>
            <a:r>
              <a:rPr sz="947" b="0" i="0">
                <a:solidFill>
                  <a:srgbClr val="E5E7EB"/>
                </a:solidFill>
                <a:latin typeface="Consolas"/>
              </a:rPr>
              <a:t> </a:t>
            </a:r>
          </a:p>
          <a:p>
            <a:pPr>
              <a:lnSpc>
                <a:spcPct val="100000"/>
              </a:lnSpc>
              <a:spcBef>
                <a:spcPts val="0"/>
              </a:spcBef>
              <a:spcAft>
                <a:spcPts val="60"/>
              </a:spcAft>
            </a:pPr>
            <a:r>
              <a:rPr sz="947" b="0" i="0">
                <a:solidFill>
                  <a:srgbClr val="E5E7EB"/>
                </a:solidFill>
                <a:latin typeface="Consolas"/>
              </a:rPr>
              <a:t>mean = sum(data) / n</a:t>
            </a:r>
          </a:p>
          <a:p>
            <a:pPr>
              <a:lnSpc>
                <a:spcPct val="100000"/>
              </a:lnSpc>
              <a:spcBef>
                <a:spcPts val="0"/>
              </a:spcBef>
              <a:spcAft>
                <a:spcPts val="60"/>
              </a:spcAft>
            </a:pPr>
            <a:r>
              <a:rPr sz="947" b="0" i="0">
                <a:solidFill>
                  <a:srgbClr val="E5E7EB"/>
                </a:solidFill>
                <a:latin typeface="Consolas"/>
              </a:rPr>
              <a:t>variance = sum((x - mean) ** 2 for x in data) / n    # population variance</a:t>
            </a:r>
          </a:p>
          <a:p>
            <a:pPr>
              <a:lnSpc>
                <a:spcPct val="100000"/>
              </a:lnSpc>
              <a:spcBef>
                <a:spcPts val="0"/>
              </a:spcBef>
              <a:spcAft>
                <a:spcPts val="60"/>
              </a:spcAft>
            </a:pPr>
            <a:r>
              <a:rPr sz="947" b="0" i="0">
                <a:solidFill>
                  <a:srgbClr val="E5E7EB"/>
                </a:solidFill>
                <a:latin typeface="Consolas"/>
              </a:rPr>
              <a:t>std = variance ** 0.5</a:t>
            </a:r>
          </a:p>
          <a:p>
            <a:pPr>
              <a:lnSpc>
                <a:spcPct val="100000"/>
              </a:lnSpc>
              <a:spcBef>
                <a:spcPts val="0"/>
              </a:spcBef>
              <a:spcAft>
                <a:spcPts val="60"/>
              </a:spcAft>
            </a:pPr>
            <a:r>
              <a:rPr sz="947" b="0" i="0">
                <a:solidFill>
                  <a:srgbClr val="E5E7EB"/>
                </a:solidFill>
                <a:latin typeface="Consolas"/>
              </a:rPr>
              <a:t> </a:t>
            </a:r>
          </a:p>
          <a:p>
            <a:pPr>
              <a:lnSpc>
                <a:spcPct val="100000"/>
              </a:lnSpc>
              <a:spcBef>
                <a:spcPts val="0"/>
              </a:spcBef>
              <a:spcAft>
                <a:spcPts val="60"/>
              </a:spcAft>
            </a:pPr>
            <a:r>
              <a:rPr sz="947" b="0" i="0">
                <a:solidFill>
                  <a:srgbClr val="E5E7EB"/>
                </a:solidFill>
                <a:latin typeface="Consolas"/>
              </a:rPr>
              <a:t>print("\nData set:", data)</a:t>
            </a:r>
          </a:p>
          <a:p>
            <a:pPr>
              <a:lnSpc>
                <a:spcPct val="100000"/>
              </a:lnSpc>
              <a:spcBef>
                <a:spcPts val="0"/>
              </a:spcBef>
              <a:spcAft>
                <a:spcPts val="60"/>
              </a:spcAft>
            </a:pPr>
            <a:r>
              <a:rPr sz="947" b="0" i="0">
                <a:solidFill>
                  <a:srgbClr val="E5E7EB"/>
                </a:solidFill>
                <a:latin typeface="Consolas"/>
              </a:rPr>
              <a:t>print(f"Mean               = {mean:.4f}")</a:t>
            </a:r>
          </a:p>
          <a:p>
            <a:pPr>
              <a:lnSpc>
                <a:spcPct val="100000"/>
              </a:lnSpc>
              <a:spcBef>
                <a:spcPts val="0"/>
              </a:spcBef>
              <a:spcAft>
                <a:spcPts val="60"/>
              </a:spcAft>
            </a:pPr>
            <a:r>
              <a:rPr sz="947" b="0" i="0">
                <a:solidFill>
                  <a:srgbClr val="E5E7EB"/>
                </a:solidFill>
                <a:latin typeface="Consolas"/>
              </a:rPr>
              <a:t>print(f"Variance           = {variance:.4f}")</a:t>
            </a:r>
          </a:p>
          <a:p>
            <a:pPr>
              <a:lnSpc>
                <a:spcPct val="100000"/>
              </a:lnSpc>
              <a:spcBef>
                <a:spcPts val="0"/>
              </a:spcBef>
              <a:spcAft>
                <a:spcPts val="60"/>
              </a:spcAft>
            </a:pPr>
            <a:r>
              <a:rPr sz="947" b="0" i="0">
                <a:solidFill>
                  <a:srgbClr val="E5E7EB"/>
                </a:solidFill>
                <a:latin typeface="Consolas"/>
              </a:rPr>
              <a:t>print(f"Standard deviation = {std:.4f}")</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03a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936" b="0" i="0">
                <a:solidFill>
                  <a:srgbClr val="14171C"/>
                </a:solidFill>
                <a:latin typeface="Consolas"/>
              </a:rPr>
              <a:t>How many numbers? 5</a:t>
            </a:r>
          </a:p>
          <a:p>
            <a:pPr>
              <a:lnSpc>
                <a:spcPct val="100000"/>
              </a:lnSpc>
              <a:spcBef>
                <a:spcPts val="0"/>
              </a:spcBef>
              <a:spcAft>
                <a:spcPts val="60"/>
              </a:spcAft>
            </a:pPr>
            <a:r>
              <a:rPr sz="936" b="0" i="0">
                <a:solidFill>
                  <a:srgbClr val="14171C"/>
                </a:solidFill>
                <a:latin typeface="Consolas"/>
              </a:rPr>
              <a:t>Number 1: 10</a:t>
            </a:r>
          </a:p>
          <a:p>
            <a:pPr>
              <a:lnSpc>
                <a:spcPct val="100000"/>
              </a:lnSpc>
              <a:spcBef>
                <a:spcPts val="0"/>
              </a:spcBef>
              <a:spcAft>
                <a:spcPts val="60"/>
              </a:spcAft>
            </a:pPr>
            <a:r>
              <a:rPr sz="936" b="0" i="0">
                <a:solidFill>
                  <a:srgbClr val="14171C"/>
                </a:solidFill>
                <a:latin typeface="Consolas"/>
              </a:rPr>
              <a:t>Number 2: 20</a:t>
            </a:r>
          </a:p>
          <a:p>
            <a:pPr>
              <a:lnSpc>
                <a:spcPct val="100000"/>
              </a:lnSpc>
              <a:spcBef>
                <a:spcPts val="0"/>
              </a:spcBef>
              <a:spcAft>
                <a:spcPts val="60"/>
              </a:spcAft>
            </a:pPr>
            <a:r>
              <a:rPr sz="936" b="0" i="0">
                <a:solidFill>
                  <a:srgbClr val="14171C"/>
                </a:solidFill>
                <a:latin typeface="Consolas"/>
              </a:rPr>
              <a:t>Number 3: 30</a:t>
            </a:r>
          </a:p>
          <a:p>
            <a:pPr>
              <a:lnSpc>
                <a:spcPct val="100000"/>
              </a:lnSpc>
              <a:spcBef>
                <a:spcPts val="0"/>
              </a:spcBef>
              <a:spcAft>
                <a:spcPts val="60"/>
              </a:spcAft>
            </a:pPr>
            <a:r>
              <a:rPr sz="936" b="0" i="0">
                <a:solidFill>
                  <a:srgbClr val="14171C"/>
                </a:solidFill>
                <a:latin typeface="Consolas"/>
              </a:rPr>
              <a:t>Number 4: 40</a:t>
            </a:r>
          </a:p>
          <a:p>
            <a:pPr>
              <a:lnSpc>
                <a:spcPct val="100000"/>
              </a:lnSpc>
              <a:spcBef>
                <a:spcPts val="0"/>
              </a:spcBef>
              <a:spcAft>
                <a:spcPts val="60"/>
              </a:spcAft>
            </a:pPr>
            <a:r>
              <a:rPr sz="936" b="0" i="0">
                <a:solidFill>
                  <a:srgbClr val="14171C"/>
                </a:solidFill>
                <a:latin typeface="Consolas"/>
              </a:rPr>
              <a:t>Number 5: 50</a:t>
            </a:r>
          </a:p>
          <a:p>
            <a:pPr>
              <a:lnSpc>
                <a:spcPct val="100000"/>
              </a:lnSpc>
              <a:spcBef>
                <a:spcPts val="0"/>
              </a:spcBef>
              <a:spcAft>
                <a:spcPts val="60"/>
              </a:spcAft>
            </a:pPr>
            <a:r>
              <a:rPr sz="936" b="0" i="0">
                <a:solidFill>
                  <a:srgbClr val="14171C"/>
                </a:solidFill>
                <a:latin typeface="Consolas"/>
              </a:rPr>
              <a:t> </a:t>
            </a:r>
          </a:p>
          <a:p>
            <a:pPr>
              <a:lnSpc>
                <a:spcPct val="100000"/>
              </a:lnSpc>
              <a:spcBef>
                <a:spcPts val="0"/>
              </a:spcBef>
              <a:spcAft>
                <a:spcPts val="60"/>
              </a:spcAft>
            </a:pPr>
            <a:r>
              <a:rPr sz="936" b="0" i="0">
                <a:solidFill>
                  <a:srgbClr val="14171C"/>
                </a:solidFill>
                <a:latin typeface="Consolas"/>
              </a:rPr>
              <a:t>Data set: [10.0, 20.0, 30.0, 40.0, 50.0]</a:t>
            </a:r>
          </a:p>
          <a:p>
            <a:pPr>
              <a:lnSpc>
                <a:spcPct val="100000"/>
              </a:lnSpc>
              <a:spcBef>
                <a:spcPts val="0"/>
              </a:spcBef>
              <a:spcAft>
                <a:spcPts val="60"/>
              </a:spcAft>
            </a:pPr>
            <a:r>
              <a:rPr sz="936" b="0" i="0">
                <a:solidFill>
                  <a:srgbClr val="14171C"/>
                </a:solidFill>
                <a:latin typeface="Consolas"/>
              </a:rPr>
              <a:t>Mean               = 30.0000</a:t>
            </a:r>
          </a:p>
          <a:p>
            <a:pPr>
              <a:lnSpc>
                <a:spcPct val="100000"/>
              </a:lnSpc>
              <a:spcBef>
                <a:spcPts val="0"/>
              </a:spcBef>
              <a:spcAft>
                <a:spcPts val="60"/>
              </a:spcAft>
            </a:pPr>
            <a:r>
              <a:rPr sz="936" b="0" i="0">
                <a:solidFill>
                  <a:srgbClr val="14171C"/>
                </a:solidFill>
                <a:latin typeface="Consolas"/>
              </a:rPr>
              <a:t>Variance           = 200.0000</a:t>
            </a:r>
          </a:p>
          <a:p>
            <a:pPr>
              <a:lnSpc>
                <a:spcPct val="100000"/>
              </a:lnSpc>
              <a:spcBef>
                <a:spcPts val="0"/>
              </a:spcBef>
              <a:spcAft>
                <a:spcPts val="60"/>
              </a:spcAft>
            </a:pPr>
            <a:r>
              <a:rPr sz="936" b="0" i="0">
                <a:solidFill>
                  <a:srgbClr val="14171C"/>
                </a:solidFill>
                <a:latin typeface="Consolas"/>
              </a:rPr>
              <a:t>Standard deviation = 14.1421</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lab03a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022" b="0" i="0">
                <a:solidFill>
                  <a:srgbClr val="14171C"/>
                </a:solidFill>
                <a:latin typeface="Consolas"/>
              </a:rPr>
              <a:t>How many numbers? 4</a:t>
            </a:r>
          </a:p>
          <a:p>
            <a:pPr>
              <a:lnSpc>
                <a:spcPct val="100000"/>
              </a:lnSpc>
              <a:spcBef>
                <a:spcPts val="0"/>
              </a:spcBef>
              <a:spcAft>
                <a:spcPts val="60"/>
              </a:spcAft>
            </a:pPr>
            <a:r>
              <a:rPr sz="1022" b="0" i="0">
                <a:solidFill>
                  <a:srgbClr val="14171C"/>
                </a:solidFill>
                <a:latin typeface="Consolas"/>
              </a:rPr>
              <a:t>Number 1: 5</a:t>
            </a:r>
          </a:p>
          <a:p>
            <a:pPr>
              <a:lnSpc>
                <a:spcPct val="100000"/>
              </a:lnSpc>
              <a:spcBef>
                <a:spcPts val="0"/>
              </a:spcBef>
              <a:spcAft>
                <a:spcPts val="60"/>
              </a:spcAft>
            </a:pPr>
            <a:r>
              <a:rPr sz="1022" b="0" i="0">
                <a:solidFill>
                  <a:srgbClr val="14171C"/>
                </a:solidFill>
                <a:latin typeface="Consolas"/>
              </a:rPr>
              <a:t>Number 2: 5</a:t>
            </a:r>
          </a:p>
          <a:p>
            <a:pPr>
              <a:lnSpc>
                <a:spcPct val="100000"/>
              </a:lnSpc>
              <a:spcBef>
                <a:spcPts val="0"/>
              </a:spcBef>
              <a:spcAft>
                <a:spcPts val="60"/>
              </a:spcAft>
            </a:pPr>
            <a:r>
              <a:rPr sz="1022" b="0" i="0">
                <a:solidFill>
                  <a:srgbClr val="14171C"/>
                </a:solidFill>
                <a:latin typeface="Consolas"/>
              </a:rPr>
              <a:t>Number 3: 5</a:t>
            </a:r>
          </a:p>
          <a:p>
            <a:pPr>
              <a:lnSpc>
                <a:spcPct val="100000"/>
              </a:lnSpc>
              <a:spcBef>
                <a:spcPts val="0"/>
              </a:spcBef>
              <a:spcAft>
                <a:spcPts val="60"/>
              </a:spcAft>
            </a:pPr>
            <a:r>
              <a:rPr sz="1022" b="0" i="0">
                <a:solidFill>
                  <a:srgbClr val="14171C"/>
                </a:solidFill>
                <a:latin typeface="Consolas"/>
              </a:rPr>
              <a:t>Number 4: 5</a:t>
            </a:r>
          </a:p>
          <a:p>
            <a:pPr>
              <a:lnSpc>
                <a:spcPct val="100000"/>
              </a:lnSpc>
              <a:spcBef>
                <a:spcPts val="0"/>
              </a:spcBef>
              <a:spcAft>
                <a:spcPts val="60"/>
              </a:spcAft>
            </a:pPr>
            <a:r>
              <a:rPr sz="1022" b="0" i="0">
                <a:solidFill>
                  <a:srgbClr val="14171C"/>
                </a:solidFill>
                <a:latin typeface="Consolas"/>
              </a:rPr>
              <a:t> </a:t>
            </a:r>
          </a:p>
          <a:p>
            <a:pPr>
              <a:lnSpc>
                <a:spcPct val="100000"/>
              </a:lnSpc>
              <a:spcBef>
                <a:spcPts val="0"/>
              </a:spcBef>
              <a:spcAft>
                <a:spcPts val="60"/>
              </a:spcAft>
            </a:pPr>
            <a:r>
              <a:rPr sz="1022" b="0" i="0">
                <a:solidFill>
                  <a:srgbClr val="14171C"/>
                </a:solidFill>
                <a:latin typeface="Consolas"/>
              </a:rPr>
              <a:t>Data set: [5.0, 5.0, 5.0, 5.0]</a:t>
            </a:r>
          </a:p>
          <a:p>
            <a:pPr>
              <a:lnSpc>
                <a:spcPct val="100000"/>
              </a:lnSpc>
              <a:spcBef>
                <a:spcPts val="0"/>
              </a:spcBef>
              <a:spcAft>
                <a:spcPts val="60"/>
              </a:spcAft>
            </a:pPr>
            <a:r>
              <a:rPr sz="1022" b="0" i="0">
                <a:solidFill>
                  <a:srgbClr val="14171C"/>
                </a:solidFill>
                <a:latin typeface="Consolas"/>
              </a:rPr>
              <a:t>Mean               = 5.0000</a:t>
            </a:r>
          </a:p>
          <a:p>
            <a:pPr>
              <a:lnSpc>
                <a:spcPct val="100000"/>
              </a:lnSpc>
              <a:spcBef>
                <a:spcPts val="0"/>
              </a:spcBef>
              <a:spcAft>
                <a:spcPts val="60"/>
              </a:spcAft>
            </a:pPr>
            <a:r>
              <a:rPr sz="1022" b="0" i="0">
                <a:solidFill>
                  <a:srgbClr val="14171C"/>
                </a:solidFill>
                <a:latin typeface="Consolas"/>
              </a:rPr>
              <a:t>Variance           = 0.0000</a:t>
            </a:r>
          </a:p>
          <a:p>
            <a:pPr>
              <a:lnSpc>
                <a:spcPct val="100000"/>
              </a:lnSpc>
              <a:spcBef>
                <a:spcPts val="0"/>
              </a:spcBef>
              <a:spcAft>
                <a:spcPts val="60"/>
              </a:spcAft>
            </a:pPr>
            <a:r>
              <a:rPr sz="1022" b="0" i="0">
                <a:solidFill>
                  <a:srgbClr val="14171C"/>
                </a:solidFill>
                <a:latin typeface="Consolas"/>
              </a:rPr>
              <a:t>Standard deviation = 0.0000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3 — lab03b.py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47</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lab03b.py  ·  3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899" b="0" i="0">
                <a:solidFill>
                  <a:srgbClr val="E5E7EB"/>
                </a:solidFill>
                <a:latin typeface="Consolas"/>
              </a:rPr>
              <a:t># Lab 3b -- multi-digit number read AS CHARS -&gt; frequency of each digit</a:t>
            </a:r>
          </a:p>
          <a:p>
            <a:pPr>
              <a:lnSpc>
                <a:spcPct val="100000"/>
              </a:lnSpc>
              <a:spcBef>
                <a:spcPts val="0"/>
              </a:spcBef>
              <a:spcAft>
                <a:spcPts val="60"/>
              </a:spcAft>
            </a:pPr>
            <a:r>
              <a:rPr sz="899" b="0" i="0">
                <a:solidFill>
                  <a:srgbClr val="E5E7EB"/>
                </a:solidFill>
                <a:latin typeface="Consolas"/>
              </a:rPr>
              <a:t># Run   : python3 lab03b.py</a:t>
            </a:r>
          </a:p>
          <a:p>
            <a:pPr>
              <a:lnSpc>
                <a:spcPct val="100000"/>
              </a:lnSpc>
              <a:spcBef>
                <a:spcPts val="0"/>
              </a:spcBef>
              <a:spcAft>
                <a:spcPts val="60"/>
              </a:spcAft>
            </a:pPr>
            <a:r>
              <a:rPr sz="899" b="0" i="0">
                <a:solidFill>
                  <a:srgbClr val="E5E7EB"/>
                </a:solidFill>
                <a:latin typeface="Consolas"/>
              </a:rPr>
              <a:t>raw = input("Enter a multi-digit number: ").strip()</a:t>
            </a:r>
          </a:p>
          <a:p>
            <a:pPr>
              <a:lnSpc>
                <a:spcPct val="100000"/>
              </a:lnSpc>
              <a:spcBef>
                <a:spcPts val="0"/>
              </a:spcBef>
              <a:spcAft>
                <a:spcPts val="60"/>
              </a:spcAft>
            </a:pPr>
            <a:r>
              <a:rPr sz="899" b="0" i="0">
                <a:solidFill>
                  <a:srgbClr val="E5E7EB"/>
                </a:solidFill>
                <a:latin typeface="Consolas"/>
              </a:rPr>
              <a:t>if not raw.lstrip("-").isdigit():</a:t>
            </a:r>
          </a:p>
          <a:p>
            <a:pPr>
              <a:lnSpc>
                <a:spcPct val="100000"/>
              </a:lnSpc>
              <a:spcBef>
                <a:spcPts val="0"/>
              </a:spcBef>
              <a:spcAft>
                <a:spcPts val="60"/>
              </a:spcAft>
            </a:pPr>
            <a:r>
              <a:rPr sz="899" b="0" i="0">
                <a:solidFill>
                  <a:srgbClr val="E5E7EB"/>
                </a:solidFill>
                <a:latin typeface="Consolas"/>
              </a:rPr>
              <a:t>    print("That is not a whole number -- check the input.")</a:t>
            </a:r>
          </a:p>
          <a:p>
            <a:pPr>
              <a:lnSpc>
                <a:spcPct val="100000"/>
              </a:lnSpc>
              <a:spcBef>
                <a:spcPts val="0"/>
              </a:spcBef>
              <a:spcAft>
                <a:spcPts val="60"/>
              </a:spcAft>
            </a:pPr>
            <a:r>
              <a:rPr sz="899" b="0" i="0">
                <a:solidFill>
                  <a:srgbClr val="E5E7EB"/>
                </a:solidFill>
                <a:latin typeface="Consolas"/>
              </a:rPr>
              <a:t>    raise SystemExit</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digits = raw.lstrip("-")</a:t>
            </a:r>
          </a:p>
          <a:p>
            <a:pPr>
              <a:lnSpc>
                <a:spcPct val="100000"/>
              </a:lnSpc>
              <a:spcBef>
                <a:spcPts val="0"/>
              </a:spcBef>
              <a:spcAft>
                <a:spcPts val="60"/>
              </a:spcAft>
            </a:pPr>
            <a:r>
              <a:rPr sz="899" b="0" i="0">
                <a:solidFill>
                  <a:srgbClr val="E5E7EB"/>
                </a:solidFill>
                <a:latin typeface="Consolas"/>
              </a:rPr>
              <a:t>freq = {}</a:t>
            </a:r>
          </a:p>
          <a:p>
            <a:pPr>
              <a:lnSpc>
                <a:spcPct val="100000"/>
              </a:lnSpc>
              <a:spcBef>
                <a:spcPts val="0"/>
              </a:spcBef>
              <a:spcAft>
                <a:spcPts val="60"/>
              </a:spcAft>
            </a:pPr>
            <a:r>
              <a:rPr sz="899" b="0" i="0">
                <a:solidFill>
                  <a:srgbClr val="E5E7EB"/>
                </a:solidFill>
                <a:latin typeface="Consolas"/>
              </a:rPr>
              <a:t>for ch in digits:                   # iterating the string, one char at a time</a:t>
            </a:r>
          </a:p>
          <a:p>
            <a:pPr>
              <a:lnSpc>
                <a:spcPct val="100000"/>
              </a:lnSpc>
              <a:spcBef>
                <a:spcPts val="0"/>
              </a:spcBef>
              <a:spcAft>
                <a:spcPts val="60"/>
              </a:spcAft>
            </a:pPr>
            <a:r>
              <a:rPr sz="899" b="0" i="0">
                <a:solidFill>
                  <a:srgbClr val="E5E7EB"/>
                </a:solidFill>
                <a:latin typeface="Consolas"/>
              </a:rPr>
              <a:t>    freq[ch] = freq.get(ch, 0) + 1</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print(f"\nFrequency of each digit in {raw}:")</a:t>
            </a:r>
          </a:p>
          <a:p>
            <a:pPr>
              <a:lnSpc>
                <a:spcPct val="100000"/>
              </a:lnSpc>
              <a:spcBef>
                <a:spcPts val="0"/>
              </a:spcBef>
              <a:spcAft>
                <a:spcPts val="60"/>
              </a:spcAft>
            </a:pPr>
            <a:r>
              <a:rPr sz="899" b="0" i="0">
                <a:solidFill>
                  <a:srgbClr val="E5E7EB"/>
                </a:solidFill>
                <a:latin typeface="Consolas"/>
              </a:rPr>
              <a:t>for d in sorted(freq):</a:t>
            </a:r>
          </a:p>
          <a:p>
            <a:pPr>
              <a:lnSpc>
                <a:spcPct val="100000"/>
              </a:lnSpc>
              <a:spcBef>
                <a:spcPts val="0"/>
              </a:spcBef>
              <a:spcAft>
                <a:spcPts val="60"/>
              </a:spcAft>
            </a:pPr>
            <a:r>
              <a:rPr sz="899" b="0" i="0">
                <a:solidFill>
                  <a:srgbClr val="E5E7EB"/>
                </a:solidFill>
                <a:latin typeface="Consolas"/>
              </a:rPr>
              <a:t>    times = "time" if freq[d] == 1 else "times"</a:t>
            </a:r>
          </a:p>
          <a:p>
            <a:pPr>
              <a:lnSpc>
                <a:spcPct val="100000"/>
              </a:lnSpc>
              <a:spcBef>
                <a:spcPts val="0"/>
              </a:spcBef>
              <a:spcAft>
                <a:spcPts val="60"/>
              </a:spcAft>
            </a:pPr>
            <a:r>
              <a:rPr sz="899" b="0" i="0">
                <a:solidFill>
                  <a:srgbClr val="E5E7EB"/>
                </a:solidFill>
                <a:latin typeface="Consolas"/>
              </a:rPr>
              <a:t>    print(f"  digit {d} appears {freq[d]} {times}")</a:t>
            </a:r>
          </a:p>
          <a:p>
            <a:pPr>
              <a:lnSpc>
                <a:spcPct val="100000"/>
              </a:lnSpc>
              <a:spcBef>
                <a:spcPts val="0"/>
              </a:spcBef>
              <a:spcAft>
                <a:spcPts val="60"/>
              </a:spcAft>
            </a:pPr>
            <a:r>
              <a:rPr sz="899" b="0" i="0">
                <a:solidFill>
                  <a:srgbClr val="E5E7EB"/>
                </a:solidFill>
                <a:latin typeface="Consolas"/>
              </a:rPr>
              <a:t>print("Total digits counted:", len(digits))</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03b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a multi-digit number: 12332211</a:t>
            </a:r>
          </a:p>
          <a:p>
            <a:pPr>
              <a:lnSpc>
                <a:spcPct val="100000"/>
              </a:lnSpc>
              <a:spcBef>
                <a:spcPts val="0"/>
              </a:spcBef>
              <a:spcAft>
                <a:spcPts val="60"/>
              </a:spcAft>
            </a:pPr>
            <a:r>
              <a:rPr sz="1250" b="0" i="0">
                <a:solidFill>
                  <a:srgbClr val="14171C"/>
                </a:solidFill>
                <a:latin typeface="Consolas"/>
              </a:rPr>
              <a:t> </a:t>
            </a:r>
          </a:p>
          <a:p>
            <a:pPr>
              <a:lnSpc>
                <a:spcPct val="100000"/>
              </a:lnSpc>
              <a:spcBef>
                <a:spcPts val="0"/>
              </a:spcBef>
              <a:spcAft>
                <a:spcPts val="60"/>
              </a:spcAft>
            </a:pPr>
            <a:r>
              <a:rPr sz="1250" b="0" i="0">
                <a:solidFill>
                  <a:srgbClr val="14171C"/>
                </a:solidFill>
                <a:latin typeface="Consolas"/>
              </a:rPr>
              <a:t>Frequency of each digit in 12332211:</a:t>
            </a:r>
          </a:p>
          <a:p>
            <a:pPr>
              <a:lnSpc>
                <a:spcPct val="100000"/>
              </a:lnSpc>
              <a:spcBef>
                <a:spcPts val="0"/>
              </a:spcBef>
              <a:spcAft>
                <a:spcPts val="60"/>
              </a:spcAft>
            </a:pPr>
            <a:r>
              <a:rPr sz="1250" b="0" i="0">
                <a:solidFill>
                  <a:srgbClr val="14171C"/>
                </a:solidFill>
                <a:latin typeface="Consolas"/>
              </a:rPr>
              <a:t>  digit 1 appears 3 times</a:t>
            </a:r>
          </a:p>
          <a:p>
            <a:pPr>
              <a:lnSpc>
                <a:spcPct val="100000"/>
              </a:lnSpc>
              <a:spcBef>
                <a:spcPts val="0"/>
              </a:spcBef>
              <a:spcAft>
                <a:spcPts val="60"/>
              </a:spcAft>
            </a:pPr>
            <a:r>
              <a:rPr sz="1250" b="0" i="0">
                <a:solidFill>
                  <a:srgbClr val="14171C"/>
                </a:solidFill>
                <a:latin typeface="Consolas"/>
              </a:rPr>
              <a:t>  digit 2 appears 3 times</a:t>
            </a:r>
          </a:p>
          <a:p>
            <a:pPr>
              <a:lnSpc>
                <a:spcPct val="100000"/>
              </a:lnSpc>
              <a:spcBef>
                <a:spcPts val="0"/>
              </a:spcBef>
              <a:spcAft>
                <a:spcPts val="60"/>
              </a:spcAft>
            </a:pPr>
            <a:r>
              <a:rPr sz="1250" b="0" i="0">
                <a:solidFill>
                  <a:srgbClr val="14171C"/>
                </a:solidFill>
                <a:latin typeface="Consolas"/>
              </a:rPr>
              <a:t>  digit 3 appears 2 times</a:t>
            </a:r>
          </a:p>
          <a:p>
            <a:pPr>
              <a:lnSpc>
                <a:spcPct val="100000"/>
              </a:lnSpc>
              <a:spcBef>
                <a:spcPts val="0"/>
              </a:spcBef>
              <a:spcAft>
                <a:spcPts val="60"/>
              </a:spcAft>
            </a:pPr>
            <a:r>
              <a:rPr sz="1250" b="0" i="0">
                <a:solidFill>
                  <a:srgbClr val="14171C"/>
                </a:solidFill>
                <a:latin typeface="Consolas"/>
              </a:rPr>
              <a:t>Total digits counted: 8</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lab03b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49" b="0" i="0">
                <a:solidFill>
                  <a:srgbClr val="14171C"/>
                </a:solidFill>
                <a:latin typeface="Consolas"/>
              </a:rPr>
              <a:t>Enter a multi-digit number: 90210</a:t>
            </a:r>
          </a:p>
          <a:p>
            <a:pPr>
              <a:lnSpc>
                <a:spcPct val="100000"/>
              </a:lnSpc>
              <a:spcBef>
                <a:spcPts val="0"/>
              </a:spcBef>
              <a:spcAft>
                <a:spcPts val="60"/>
              </a:spcAft>
            </a:pPr>
            <a:r>
              <a:rPr sz="1249" b="0" i="0">
                <a:solidFill>
                  <a:srgbClr val="14171C"/>
                </a:solidFill>
                <a:latin typeface="Consolas"/>
              </a:rPr>
              <a:t> </a:t>
            </a:r>
          </a:p>
          <a:p>
            <a:pPr>
              <a:lnSpc>
                <a:spcPct val="100000"/>
              </a:lnSpc>
              <a:spcBef>
                <a:spcPts val="0"/>
              </a:spcBef>
              <a:spcAft>
                <a:spcPts val="60"/>
              </a:spcAft>
            </a:pPr>
            <a:r>
              <a:rPr sz="1249" b="0" i="0">
                <a:solidFill>
                  <a:srgbClr val="14171C"/>
                </a:solidFill>
                <a:latin typeface="Consolas"/>
              </a:rPr>
              <a:t>Frequency of each digit in 90210:</a:t>
            </a:r>
          </a:p>
          <a:p>
            <a:pPr>
              <a:lnSpc>
                <a:spcPct val="100000"/>
              </a:lnSpc>
              <a:spcBef>
                <a:spcPts val="0"/>
              </a:spcBef>
              <a:spcAft>
                <a:spcPts val="60"/>
              </a:spcAft>
            </a:pPr>
            <a:r>
              <a:rPr sz="1249" b="0" i="0">
                <a:solidFill>
                  <a:srgbClr val="14171C"/>
                </a:solidFill>
                <a:latin typeface="Consolas"/>
              </a:rPr>
              <a:t>  digit 0 appears 2 times</a:t>
            </a:r>
          </a:p>
          <a:p>
            <a:pPr>
              <a:lnSpc>
                <a:spcPct val="100000"/>
              </a:lnSpc>
              <a:spcBef>
                <a:spcPts val="0"/>
              </a:spcBef>
              <a:spcAft>
                <a:spcPts val="60"/>
              </a:spcAft>
            </a:pPr>
            <a:r>
              <a:rPr sz="1249" b="0" i="0">
                <a:solidFill>
                  <a:srgbClr val="14171C"/>
                </a:solidFill>
                <a:latin typeface="Consolas"/>
              </a:rPr>
              <a:t>  digit 1 appears 1 time</a:t>
            </a:r>
          </a:p>
          <a:p>
            <a:pPr>
              <a:lnSpc>
                <a:spcPct val="100000"/>
              </a:lnSpc>
              <a:spcBef>
                <a:spcPts val="0"/>
              </a:spcBef>
              <a:spcAft>
                <a:spcPts val="60"/>
              </a:spcAft>
            </a:pPr>
            <a:r>
              <a:rPr sz="1249" b="0" i="0">
                <a:solidFill>
                  <a:srgbClr val="14171C"/>
                </a:solidFill>
                <a:latin typeface="Consolas"/>
              </a:rPr>
              <a:t>  digit 2 appears 1 time</a:t>
            </a:r>
          </a:p>
          <a:p>
            <a:pPr>
              <a:lnSpc>
                <a:spcPct val="100000"/>
              </a:lnSpc>
              <a:spcBef>
                <a:spcPts val="0"/>
              </a:spcBef>
              <a:spcAft>
                <a:spcPts val="60"/>
              </a:spcAft>
            </a:pPr>
            <a:r>
              <a:rPr sz="1249" b="0" i="0">
                <a:solidFill>
                  <a:srgbClr val="14171C"/>
                </a:solidFill>
                <a:latin typeface="Consolas"/>
              </a:rPr>
              <a:t>  digit 9 appears 1 time</a:t>
            </a:r>
          </a:p>
          <a:p>
            <a:pPr>
              <a:lnSpc>
                <a:spcPct val="100000"/>
              </a:lnSpc>
              <a:spcBef>
                <a:spcPts val="0"/>
              </a:spcBef>
              <a:spcAft>
                <a:spcPts val="60"/>
              </a:spcAft>
            </a:pPr>
            <a:r>
              <a:rPr sz="1249" b="0" i="0">
                <a:solidFill>
                  <a:srgbClr val="14171C"/>
                </a:solidFill>
                <a:latin typeface="Consolas"/>
              </a:rPr>
              <a:t>Total digits counted: 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3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48</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For 10,20,30,40,50: mean 30.0000, variance 200.0000, σ = 14.1421 — the hand value √200 to the letter. The constant data set [5,5,5,5] gives variance 0, the “no spread” check the record must show. Digit counting on 12332211 returns 1×3, 2×3, 3×2 — 8 digits, and the total line confirms the loop saw every character exactly once; 90210 prints “1 time” (singular), so the message adapts. Non-digit input exits with a message — no traceback in a lab transcript.</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does the program treat the number as a string and not convert to int in (b)?</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Write the variance line without a generator expression; how many extra lines does it cost?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What does .get(d, 0) protect against? Give the failing alternative.</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If the input were 1234567890, how many dict entries exist at the end — justify without running.</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Because the task is about digits, not magnitude: int conversion would drop the leading-zero case and buys nothing — iterating the raw string gives single characters directly, which are exactly the dict keys wanted. ('As chars' in the question is an instruction to keep it text.)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4 — Ten Most Frequent Words in a Text File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49</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CO2 + CO4</a:t>
            </a:r>
            <a:r>
              <a:rPr sz="1250" b="0" i="0">
                <a:solidFill>
                  <a:srgbClr val="4B5563"/>
                </a:solidFill>
                <a:latin typeface="Calibri"/>
              </a:rPr>
              <a:t>    file read + token cleaning, dict counting idiom, sorted() with a key lambda, slice [:10], argument via sys.argv.</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4. Develop a program to print 10 most frequently appearing words in a text file. [Hint: Use a dictionary with distinct words and their frequency of occurrences. Sort the dictionary in the reverse order of frequency and display the dictionary slice of the first 10 items.]</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One helper</a:t>
            </a:r>
            <a:r>
              <a:rPr sz="1250" b="0" i="0">
                <a:solidFill>
                  <a:srgbClr val="16181D"/>
                </a:solidFill>
                <a:latin typeface="Consolas"/>
              </a:rPr>
              <a:t>words_from(path)</a:t>
            </a:r>
            <a:r>
              <a:rPr sz="1250" b="0" i="0">
                <a:solidFill>
                  <a:srgbClr val="16181D"/>
                </a:solidFill>
                <a:latin typeface="Calibri"/>
              </a:rPr>
              <a:t>: read, split on whitespace, strip punctuation from each token, lower-case, drop empties — three list-friendly string methods doing the dirty work.</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Count with the get-idiom (the hint’s “dictionary with distinct words”).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onsolas"/>
              </a:rPr>
              <a:t>sorted(freq.items(), key=lambda kv: (-kv[1], kv[0]))</a:t>
            </a:r>
            <a:r>
              <a:rPr sz="1250" b="0" i="0">
                <a:solidFill>
                  <a:srgbClr val="16181D"/>
                </a:solidFill>
                <a:latin typeface="Calibri"/>
              </a:rPr>
              <a:t>: frequency descending, ties alphabetical — deterministic output, which the record needs.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Return</a:t>
            </a:r>
            <a:r>
              <a:rPr sz="1250" b="0" i="0">
                <a:solidFill>
                  <a:srgbClr val="16181D"/>
                </a:solidFill>
                <a:latin typeface="Consolas"/>
              </a:rPr>
              <a:t>ranked[:10]</a:t>
            </a:r>
            <a:r>
              <a:rPr sz="1250" b="0" i="0">
                <a:solidFill>
                  <a:srgbClr val="16181D"/>
                </a:solidFill>
                <a:latin typeface="Calibri"/>
              </a:rPr>
              <a:t>: the “dictionary slice of the first 10 items”, printed in an aligned rank/count table.</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lab04.py</a:t>
            </a:r>
            <a:r>
              <a:rPr sz="1250" b="0" i="0">
                <a:solidFill>
                  <a:srgbClr val="16181D"/>
                </a:solidFill>
                <a:latin typeface="Calibri"/>
              </a:rPr>
              <a:t>  —  top-10 words</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4 — lab04.py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50</a:t>
            </a:r>
          </a:p>
        </p:txBody>
      </p:sp>
      <p:sp>
        <p:nvSpPr>
          <p:cNvPr id="8" name="Rectangle 7"/>
          <p:cNvSpPr/>
          <p:nvPr/>
        </p:nvSpPr>
        <p:spPr>
          <a:xfrm>
            <a:off x="411480" y="1572768"/>
            <a:ext cx="708660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7086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23060"/>
            <a:ext cx="6793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lab04.py  ·  2 captured run(s)</a:t>
            </a:r>
          </a:p>
        </p:txBody>
      </p:sp>
      <p:sp>
        <p:nvSpPr>
          <p:cNvPr id="11" name="TextBox 10"/>
          <p:cNvSpPr txBox="1"/>
          <p:nvPr/>
        </p:nvSpPr>
        <p:spPr>
          <a:xfrm>
            <a:off x="576072" y="1975104"/>
            <a:ext cx="6775704" cy="4325112"/>
          </a:xfrm>
          <a:prstGeom prst="rect">
            <a:avLst/>
          </a:prstGeom>
          <a:noFill/>
        </p:spPr>
        <p:txBody>
          <a:bodyPr wrap="none" anchor="t" lIns="0" rIns="0" tIns="0" bIns="0">
            <a:spAutoFit/>
          </a:bodyPr>
          <a:lstStyle/>
          <a:p>
            <a:pPr>
              <a:lnSpc>
                <a:spcPct val="100000"/>
              </a:lnSpc>
              <a:spcBef>
                <a:spcPts val="0"/>
              </a:spcBef>
              <a:spcAft>
                <a:spcPts val="60"/>
              </a:spcAft>
            </a:pPr>
            <a:r>
              <a:rPr sz="903" b="0" i="0">
                <a:solidFill>
                  <a:srgbClr val="E5E7EB"/>
                </a:solidFill>
                <a:latin typeface="Consolas"/>
              </a:rPr>
              <a:t># Lab 4 -- 10 most frequent words in a text file</a:t>
            </a:r>
          </a:p>
          <a:p>
            <a:pPr>
              <a:lnSpc>
                <a:spcPct val="100000"/>
              </a:lnSpc>
              <a:spcBef>
                <a:spcPts val="0"/>
              </a:spcBef>
              <a:spcAft>
                <a:spcPts val="60"/>
              </a:spcAft>
            </a:pPr>
            <a:r>
              <a:rPr sz="903" b="0" i="0">
                <a:solidFill>
                  <a:srgbClr val="E5E7EB"/>
                </a:solidFill>
                <a:latin typeface="Consolas"/>
              </a:rPr>
              <a:t># Run   : python3 lab04.py ../data/paragraph.txt</a:t>
            </a:r>
          </a:p>
          <a:p>
            <a:pPr>
              <a:lnSpc>
                <a:spcPct val="100000"/>
              </a:lnSpc>
              <a:spcBef>
                <a:spcPts val="0"/>
              </a:spcBef>
              <a:spcAft>
                <a:spcPts val="60"/>
              </a:spcAft>
            </a:pPr>
            <a:r>
              <a:rPr sz="903" b="0" i="0">
                <a:solidFill>
                  <a:srgbClr val="E5E7EB"/>
                </a:solidFill>
                <a:latin typeface="Consolas"/>
              </a:rPr>
              <a:t>import sys</a:t>
            </a:r>
          </a:p>
          <a:p>
            <a:pPr>
              <a:lnSpc>
                <a:spcPct val="100000"/>
              </a:lnSpc>
              <a:spcBef>
                <a:spcPts val="0"/>
              </a:spcBef>
              <a:spcAft>
                <a:spcPts val="60"/>
              </a:spcAft>
            </a:pPr>
            <a:r>
              <a:rPr sz="903" b="0" i="0">
                <a:solidFill>
                  <a:srgbClr val="E5E7EB"/>
                </a:solidFill>
                <a:latin typeface="Consolas"/>
              </a:rPr>
              <a:t>from string import punctuation</a:t>
            </a:r>
          </a:p>
          <a:p>
            <a:pPr>
              <a:lnSpc>
                <a:spcPct val="100000"/>
              </a:lnSpc>
              <a:spcBef>
                <a:spcPts val="0"/>
              </a:spcBef>
              <a:spcAft>
                <a:spcPts val="60"/>
              </a:spcAft>
            </a:pPr>
            <a:r>
              <a:rPr sz="903" b="0" i="0">
                <a:solidFill>
                  <a:srgbClr val="E5E7EB"/>
                </a:solidFill>
                <a:latin typeface="Consolas"/>
              </a:rPr>
              <a:t> </a:t>
            </a:r>
          </a:p>
          <a:p>
            <a:pPr>
              <a:lnSpc>
                <a:spcPct val="100000"/>
              </a:lnSpc>
              <a:spcBef>
                <a:spcPts val="0"/>
              </a:spcBef>
              <a:spcAft>
                <a:spcPts val="60"/>
              </a:spcAft>
            </a:pPr>
            <a:r>
              <a:rPr sz="903" b="0" i="0">
                <a:solidFill>
                  <a:srgbClr val="E5E7EB"/>
                </a:solidFill>
                <a:latin typeface="Consolas"/>
              </a:rPr>
              <a:t>def words_from(path):</a:t>
            </a:r>
          </a:p>
          <a:p>
            <a:pPr>
              <a:lnSpc>
                <a:spcPct val="100000"/>
              </a:lnSpc>
              <a:spcBef>
                <a:spcPts val="0"/>
              </a:spcBef>
              <a:spcAft>
                <a:spcPts val="60"/>
              </a:spcAft>
            </a:pPr>
            <a:r>
              <a:rPr sz="903" b="0" i="0">
                <a:solidFill>
                  <a:srgbClr val="E5E7EB"/>
                </a:solidFill>
                <a:latin typeface="Consolas"/>
              </a:rPr>
              <a:t>    with open(path) as f:</a:t>
            </a:r>
          </a:p>
          <a:p>
            <a:pPr>
              <a:lnSpc>
                <a:spcPct val="100000"/>
              </a:lnSpc>
              <a:spcBef>
                <a:spcPts val="0"/>
              </a:spcBef>
              <a:spcAft>
                <a:spcPts val="60"/>
              </a:spcAft>
            </a:pPr>
            <a:r>
              <a:rPr sz="903" b="0" i="0">
                <a:solidFill>
                  <a:srgbClr val="E5E7EB"/>
                </a:solidFill>
                <a:latin typeface="Consolas"/>
              </a:rPr>
              <a:t>        text = f.read()</a:t>
            </a:r>
          </a:p>
          <a:p>
            <a:pPr>
              <a:lnSpc>
                <a:spcPct val="100000"/>
              </a:lnSpc>
              <a:spcBef>
                <a:spcPts val="0"/>
              </a:spcBef>
              <a:spcAft>
                <a:spcPts val="60"/>
              </a:spcAft>
            </a:pPr>
            <a:r>
              <a:rPr sz="903" b="0" i="0">
                <a:solidFill>
                  <a:srgbClr val="E5E7EB"/>
                </a:solidFill>
                <a:latin typeface="Consolas"/>
              </a:rPr>
              <a:t>    out = []</a:t>
            </a:r>
          </a:p>
          <a:p>
            <a:pPr>
              <a:lnSpc>
                <a:spcPct val="100000"/>
              </a:lnSpc>
              <a:spcBef>
                <a:spcPts val="0"/>
              </a:spcBef>
              <a:spcAft>
                <a:spcPts val="60"/>
              </a:spcAft>
            </a:pPr>
            <a:r>
              <a:rPr sz="903" b="0" i="0">
                <a:solidFill>
                  <a:srgbClr val="E5E7EB"/>
                </a:solidFill>
                <a:latin typeface="Consolas"/>
              </a:rPr>
              <a:t>    for token in text.split():</a:t>
            </a:r>
          </a:p>
          <a:p>
            <a:pPr>
              <a:lnSpc>
                <a:spcPct val="100000"/>
              </a:lnSpc>
              <a:spcBef>
                <a:spcPts val="0"/>
              </a:spcBef>
              <a:spcAft>
                <a:spcPts val="60"/>
              </a:spcAft>
            </a:pPr>
            <a:r>
              <a:rPr sz="903" b="0" i="0">
                <a:solidFill>
                  <a:srgbClr val="E5E7EB"/>
                </a:solidFill>
                <a:latin typeface="Consolas"/>
              </a:rPr>
              <a:t>        word = token.strip(punctuation + '"\'').lower()</a:t>
            </a:r>
          </a:p>
          <a:p>
            <a:pPr>
              <a:lnSpc>
                <a:spcPct val="100000"/>
              </a:lnSpc>
              <a:spcBef>
                <a:spcPts val="0"/>
              </a:spcBef>
              <a:spcAft>
                <a:spcPts val="60"/>
              </a:spcAft>
            </a:pPr>
            <a:r>
              <a:rPr sz="903" b="0" i="0">
                <a:solidFill>
                  <a:srgbClr val="E5E7EB"/>
                </a:solidFill>
                <a:latin typeface="Consolas"/>
              </a:rPr>
              <a:t>        if word:</a:t>
            </a:r>
          </a:p>
          <a:p>
            <a:pPr>
              <a:lnSpc>
                <a:spcPct val="100000"/>
              </a:lnSpc>
              <a:spcBef>
                <a:spcPts val="0"/>
              </a:spcBef>
              <a:spcAft>
                <a:spcPts val="60"/>
              </a:spcAft>
            </a:pPr>
            <a:r>
              <a:rPr sz="903" b="0" i="0">
                <a:solidFill>
                  <a:srgbClr val="E5E7EB"/>
                </a:solidFill>
                <a:latin typeface="Consolas"/>
              </a:rPr>
              <a:t>            out.append(word)</a:t>
            </a:r>
          </a:p>
          <a:p>
            <a:pPr>
              <a:lnSpc>
                <a:spcPct val="100000"/>
              </a:lnSpc>
              <a:spcBef>
                <a:spcPts val="0"/>
              </a:spcBef>
              <a:spcAft>
                <a:spcPts val="60"/>
              </a:spcAft>
            </a:pPr>
            <a:r>
              <a:rPr sz="903" b="0" i="0">
                <a:solidFill>
                  <a:srgbClr val="E5E7EB"/>
                </a:solidFill>
                <a:latin typeface="Consolas"/>
              </a:rPr>
              <a:t>    return out</a:t>
            </a:r>
          </a:p>
          <a:p>
            <a:pPr>
              <a:lnSpc>
                <a:spcPct val="100000"/>
              </a:lnSpc>
              <a:spcBef>
                <a:spcPts val="0"/>
              </a:spcBef>
              <a:spcAft>
                <a:spcPts val="60"/>
              </a:spcAft>
            </a:pPr>
            <a:r>
              <a:rPr sz="903" b="0" i="0">
                <a:solidFill>
                  <a:srgbClr val="E5E7EB"/>
                </a:solidFill>
                <a:latin typeface="Consolas"/>
              </a:rPr>
              <a:t> </a:t>
            </a:r>
          </a:p>
          <a:p>
            <a:pPr>
              <a:lnSpc>
                <a:spcPct val="100000"/>
              </a:lnSpc>
              <a:spcBef>
                <a:spcPts val="0"/>
              </a:spcBef>
              <a:spcAft>
                <a:spcPts val="60"/>
              </a:spcAft>
            </a:pPr>
            <a:r>
              <a:rPr sz="903" b="0" i="0">
                <a:solidFill>
                  <a:srgbClr val="E5E7EB"/>
                </a:solidFill>
                <a:latin typeface="Consolas"/>
              </a:rPr>
              <a:t>def top_n(path, n=10):</a:t>
            </a:r>
          </a:p>
          <a:p>
            <a:pPr>
              <a:lnSpc>
                <a:spcPct val="100000"/>
              </a:lnSpc>
              <a:spcBef>
                <a:spcPts val="0"/>
              </a:spcBef>
              <a:spcAft>
                <a:spcPts val="60"/>
              </a:spcAft>
            </a:pPr>
            <a:r>
              <a:rPr sz="903" b="0" i="0">
                <a:solidFill>
                  <a:srgbClr val="E5E7EB"/>
                </a:solidFill>
                <a:latin typeface="Consolas"/>
              </a:rPr>
              <a:t>    freq = {}                                   # word -&gt; count</a:t>
            </a:r>
          </a:p>
          <a:p>
            <a:pPr>
              <a:lnSpc>
                <a:spcPct val="100000"/>
              </a:lnSpc>
              <a:spcBef>
                <a:spcPts val="0"/>
              </a:spcBef>
              <a:spcAft>
                <a:spcPts val="60"/>
              </a:spcAft>
            </a:pPr>
            <a:r>
              <a:rPr sz="903" b="0" i="0">
                <a:solidFill>
                  <a:srgbClr val="E5E7EB"/>
                </a:solidFill>
                <a:latin typeface="Consolas"/>
              </a:rPr>
              <a:t>    for w in words_from(path):</a:t>
            </a:r>
          </a:p>
          <a:p>
            <a:pPr>
              <a:lnSpc>
                <a:spcPct val="100000"/>
              </a:lnSpc>
              <a:spcBef>
                <a:spcPts val="0"/>
              </a:spcBef>
              <a:spcAft>
                <a:spcPts val="60"/>
              </a:spcAft>
            </a:pPr>
            <a:r>
              <a:rPr sz="903" b="0" i="0">
                <a:solidFill>
                  <a:srgbClr val="E5E7EB"/>
                </a:solidFill>
                <a:latin typeface="Consolas"/>
              </a:rPr>
              <a:t>        freq[w] = freq.get(w, 0) + 1</a:t>
            </a:r>
          </a:p>
          <a:p>
            <a:pPr>
              <a:lnSpc>
                <a:spcPct val="100000"/>
              </a:lnSpc>
              <a:spcBef>
                <a:spcPts val="0"/>
              </a:spcBef>
              <a:spcAft>
                <a:spcPts val="60"/>
              </a:spcAft>
            </a:pPr>
            <a:r>
              <a:rPr sz="903" b="0" i="0">
                <a:solidFill>
                  <a:srgbClr val="E5E7EB"/>
                </a:solidFill>
                <a:latin typeface="Consolas"/>
              </a:rPr>
              <a:t>    ranked = sorted(freq.items(), key=lambda kv: (-kv[1], kv[0]))</a:t>
            </a:r>
          </a:p>
          <a:p>
            <a:pPr>
              <a:lnSpc>
                <a:spcPct val="100000"/>
              </a:lnSpc>
              <a:spcBef>
                <a:spcPts val="0"/>
              </a:spcBef>
              <a:spcAft>
                <a:spcPts val="60"/>
              </a:spcAft>
            </a:pPr>
            <a:r>
              <a:rPr sz="903" b="0" i="0">
                <a:solidFill>
                  <a:srgbClr val="E5E7EB"/>
                </a:solidFill>
                <a:latin typeface="Consolas"/>
              </a:rPr>
              <a:t>    return ranked[:n]                           # dictionary slice of first 10</a:t>
            </a:r>
          </a:p>
          <a:p>
            <a:pPr>
              <a:lnSpc>
                <a:spcPct val="100000"/>
              </a:lnSpc>
              <a:spcBef>
                <a:spcPts val="0"/>
              </a:spcBef>
              <a:spcAft>
                <a:spcPts val="60"/>
              </a:spcAft>
            </a:pPr>
            <a:r>
              <a:rPr sz="903" b="0" i="0">
                <a:solidFill>
                  <a:srgbClr val="E5E7EB"/>
                </a:solidFill>
                <a:latin typeface="Consolas"/>
              </a:rPr>
              <a:t> </a:t>
            </a:r>
          </a:p>
          <a:p>
            <a:pPr>
              <a:lnSpc>
                <a:spcPct val="100000"/>
              </a:lnSpc>
              <a:spcBef>
                <a:spcPts val="0"/>
              </a:spcBef>
              <a:spcAft>
                <a:spcPts val="60"/>
              </a:spcAft>
            </a:pPr>
            <a:r>
              <a:rPr sz="903" b="0" i="0">
                <a:solidFill>
                  <a:srgbClr val="E5E7EB"/>
                </a:solidFill>
                <a:latin typeface="Consolas"/>
              </a:rPr>
              <a:t>if len(sys.argv) != 2:</a:t>
            </a:r>
          </a:p>
          <a:p>
            <a:pPr>
              <a:lnSpc>
                <a:spcPct val="100000"/>
              </a:lnSpc>
              <a:spcBef>
                <a:spcPts val="0"/>
              </a:spcBef>
              <a:spcAft>
                <a:spcPts val="60"/>
              </a:spcAft>
            </a:pPr>
            <a:r>
              <a:rPr sz="903" b="0" i="0">
                <a:solidFill>
                  <a:srgbClr val="E5E7EB"/>
                </a:solidFill>
                <a:latin typeface="Consolas"/>
              </a:rPr>
              <a:t>    print("Usage: python3 lab04.py &lt;textfile&gt;")</a:t>
            </a:r>
          </a:p>
          <a:p>
            <a:pPr>
              <a:lnSpc>
                <a:spcPct val="100000"/>
              </a:lnSpc>
              <a:spcBef>
                <a:spcPts val="0"/>
              </a:spcBef>
              <a:spcAft>
                <a:spcPts val="60"/>
              </a:spcAft>
            </a:pPr>
            <a:r>
              <a:rPr sz="903" b="0" i="0">
                <a:solidFill>
                  <a:srgbClr val="E5E7EB"/>
                </a:solidFill>
                <a:latin typeface="Consolas"/>
              </a:rPr>
              <a:t>    raise SystemExit</a:t>
            </a:r>
          </a:p>
          <a:p>
            <a:pPr>
              <a:lnSpc>
                <a:spcPct val="100000"/>
              </a:lnSpc>
              <a:spcBef>
                <a:spcPts val="0"/>
              </a:spcBef>
              <a:spcAft>
                <a:spcPts val="60"/>
              </a:spcAft>
            </a:pPr>
            <a:r>
              <a:rPr sz="903" b="0" i="0">
                <a:solidFill>
                  <a:srgbClr val="E5E7EB"/>
                </a:solidFill>
                <a:latin typeface="Consolas"/>
              </a:rPr>
              <a:t> </a:t>
            </a:r>
          </a:p>
          <a:p>
            <a:pPr>
              <a:lnSpc>
                <a:spcPct val="100000"/>
              </a:lnSpc>
              <a:spcBef>
                <a:spcPts val="0"/>
              </a:spcBef>
              <a:spcAft>
                <a:spcPts val="60"/>
              </a:spcAft>
            </a:pPr>
            <a:r>
              <a:rPr sz="903" b="0" i="0">
                <a:solidFill>
                  <a:srgbClr val="E5E7EB"/>
                </a:solidFill>
                <a:latin typeface="Consolas"/>
              </a:rPr>
              <a:t>print("rank  count  word")</a:t>
            </a:r>
          </a:p>
          <a:p>
            <a:pPr>
              <a:lnSpc>
                <a:spcPct val="100000"/>
              </a:lnSpc>
              <a:spcBef>
                <a:spcPts val="0"/>
              </a:spcBef>
              <a:spcAft>
                <a:spcPts val="60"/>
              </a:spcAft>
            </a:pPr>
            <a:r>
              <a:rPr sz="903" b="0" i="0">
                <a:solidFill>
                  <a:srgbClr val="E5E7EB"/>
                </a:solidFill>
                <a:latin typeface="Consolas"/>
              </a:rPr>
              <a:t>for i, (word, count) in enumerate(top_n(sys.argv[1]), 1):</a:t>
            </a:r>
          </a:p>
          <a:p>
            <a:pPr>
              <a:lnSpc>
                <a:spcPct val="100000"/>
              </a:lnSpc>
              <a:spcBef>
                <a:spcPts val="0"/>
              </a:spcBef>
              <a:spcAft>
                <a:spcPts val="60"/>
              </a:spcAft>
            </a:pPr>
            <a:r>
              <a:rPr sz="903" b="0" i="0">
                <a:solidFill>
                  <a:srgbClr val="E5E7EB"/>
                </a:solidFill>
                <a:latin typeface="Consolas"/>
              </a:rPr>
              <a:t>    print(f"{i:&gt;3d}.   {count:&gt;3d}   {word}")</a:t>
            </a:r>
          </a:p>
        </p:txBody>
      </p:sp>
      <p:sp>
        <p:nvSpPr>
          <p:cNvPr id="12" name="Rectangle 11"/>
          <p:cNvSpPr/>
          <p:nvPr/>
        </p:nvSpPr>
        <p:spPr>
          <a:xfrm>
            <a:off x="7680959" y="157276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3" y="1664208"/>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04 run 1</a:t>
            </a:r>
          </a:p>
        </p:txBody>
      </p:sp>
      <p:sp>
        <p:nvSpPr>
          <p:cNvPr id="14" name="TextBox 13"/>
          <p:cNvSpPr txBox="1"/>
          <p:nvPr/>
        </p:nvSpPr>
        <p:spPr>
          <a:xfrm>
            <a:off x="7827263" y="1938528"/>
            <a:ext cx="3794760" cy="1874519"/>
          </a:xfrm>
          <a:prstGeom prst="rect">
            <a:avLst/>
          </a:prstGeom>
          <a:noFill/>
        </p:spPr>
        <p:txBody>
          <a:bodyPr wrap="none" anchor="t" lIns="0" rIns="0" tIns="0" bIns="0">
            <a:spAutoFit/>
          </a:bodyPr>
          <a:lstStyle/>
          <a:p>
            <a:pPr>
              <a:lnSpc>
                <a:spcPct val="100000"/>
              </a:lnSpc>
              <a:spcBef>
                <a:spcPts val="0"/>
              </a:spcBef>
              <a:spcAft>
                <a:spcPts val="60"/>
              </a:spcAft>
            </a:pPr>
            <a:r>
              <a:rPr sz="936" b="0" i="0">
                <a:solidFill>
                  <a:srgbClr val="14171C"/>
                </a:solidFill>
                <a:latin typeface="Consolas"/>
              </a:rPr>
              <a:t>rank  count  word</a:t>
            </a:r>
          </a:p>
          <a:p>
            <a:pPr>
              <a:lnSpc>
                <a:spcPct val="100000"/>
              </a:lnSpc>
              <a:spcBef>
                <a:spcPts val="0"/>
              </a:spcBef>
              <a:spcAft>
                <a:spcPts val="60"/>
              </a:spcAft>
            </a:pPr>
            <a:r>
              <a:rPr sz="936" b="0" i="0">
                <a:solidFill>
                  <a:srgbClr val="14171C"/>
                </a:solidFill>
                <a:latin typeface="Consolas"/>
              </a:rPr>
              <a:t>  1.     6   python</a:t>
            </a:r>
          </a:p>
          <a:p>
            <a:pPr>
              <a:lnSpc>
                <a:spcPct val="100000"/>
              </a:lnSpc>
              <a:spcBef>
                <a:spcPts val="0"/>
              </a:spcBef>
              <a:spcAft>
                <a:spcPts val="60"/>
              </a:spcAft>
            </a:pPr>
            <a:r>
              <a:rPr sz="936" b="0" i="0">
                <a:solidFill>
                  <a:srgbClr val="14171C"/>
                </a:solidFill>
                <a:latin typeface="Consolas"/>
              </a:rPr>
              <a:t>  2.     5   and</a:t>
            </a:r>
          </a:p>
          <a:p>
            <a:pPr>
              <a:lnSpc>
                <a:spcPct val="100000"/>
              </a:lnSpc>
              <a:spcBef>
                <a:spcPts val="0"/>
              </a:spcBef>
              <a:spcAft>
                <a:spcPts val="60"/>
              </a:spcAft>
            </a:pPr>
            <a:r>
              <a:rPr sz="936" b="0" i="0">
                <a:solidFill>
                  <a:srgbClr val="14171C"/>
                </a:solidFill>
                <a:latin typeface="Consolas"/>
              </a:rPr>
              <a:t>  3.     4   errors</a:t>
            </a:r>
          </a:p>
          <a:p>
            <a:pPr>
              <a:lnSpc>
                <a:spcPct val="100000"/>
              </a:lnSpc>
              <a:spcBef>
                <a:spcPts val="0"/>
              </a:spcBef>
              <a:spcAft>
                <a:spcPts val="60"/>
              </a:spcAft>
            </a:pPr>
            <a:r>
              <a:rPr sz="936" b="0" i="0">
                <a:solidFill>
                  <a:srgbClr val="14171C"/>
                </a:solidFill>
                <a:latin typeface="Consolas"/>
              </a:rPr>
              <a:t>  4.     3   a</a:t>
            </a:r>
          </a:p>
          <a:p>
            <a:pPr>
              <a:lnSpc>
                <a:spcPct val="100000"/>
              </a:lnSpc>
              <a:spcBef>
                <a:spcPts val="0"/>
              </a:spcBef>
              <a:spcAft>
                <a:spcPts val="60"/>
              </a:spcAft>
            </a:pPr>
            <a:r>
              <a:rPr sz="936" b="0" i="0">
                <a:solidFill>
                  <a:srgbClr val="14171C"/>
                </a:solidFill>
                <a:latin typeface="Consolas"/>
              </a:rPr>
              <a:t>  5.     3   every</a:t>
            </a:r>
          </a:p>
          <a:p>
            <a:pPr>
              <a:lnSpc>
                <a:spcPct val="100000"/>
              </a:lnSpc>
              <a:spcBef>
                <a:spcPts val="0"/>
              </a:spcBef>
              <a:spcAft>
                <a:spcPts val="60"/>
              </a:spcAft>
            </a:pPr>
            <a:r>
              <a:rPr sz="936" b="0" i="0">
                <a:solidFill>
                  <a:srgbClr val="14171C"/>
                </a:solidFill>
                <a:latin typeface="Consolas"/>
              </a:rPr>
              <a:t>  6.     3   programming</a:t>
            </a:r>
          </a:p>
          <a:p>
            <a:pPr>
              <a:lnSpc>
                <a:spcPct val="100000"/>
              </a:lnSpc>
              <a:spcBef>
                <a:spcPts val="0"/>
              </a:spcBef>
              <a:spcAft>
                <a:spcPts val="60"/>
              </a:spcAft>
            </a:pPr>
            <a:r>
              <a:rPr sz="936" b="0" i="0">
                <a:solidFill>
                  <a:srgbClr val="14171C"/>
                </a:solidFill>
                <a:latin typeface="Consolas"/>
              </a:rPr>
              <a:t>  7.     3   to</a:t>
            </a:r>
          </a:p>
          <a:p>
            <a:pPr>
              <a:lnSpc>
                <a:spcPct val="100000"/>
              </a:lnSpc>
              <a:spcBef>
                <a:spcPts val="0"/>
              </a:spcBef>
              <a:spcAft>
                <a:spcPts val="60"/>
              </a:spcAft>
            </a:pPr>
            <a:r>
              <a:rPr sz="936" b="0" i="0">
                <a:solidFill>
                  <a:srgbClr val="14171C"/>
                </a:solidFill>
                <a:latin typeface="Consolas"/>
              </a:rPr>
              <a:t>  8.     2   code</a:t>
            </a:r>
          </a:p>
          <a:p>
            <a:pPr>
              <a:lnSpc>
                <a:spcPct val="100000"/>
              </a:lnSpc>
              <a:spcBef>
                <a:spcPts val="0"/>
              </a:spcBef>
              <a:spcAft>
                <a:spcPts val="60"/>
              </a:spcAft>
            </a:pPr>
            <a:r>
              <a:rPr sz="936" b="0" i="0">
                <a:solidFill>
                  <a:srgbClr val="14171C"/>
                </a:solidFill>
                <a:latin typeface="Consolas"/>
              </a:rPr>
              <a:t>  9.     2   easy</a:t>
            </a:r>
          </a:p>
          <a:p>
            <a:pPr>
              <a:lnSpc>
                <a:spcPct val="100000"/>
              </a:lnSpc>
              <a:spcBef>
                <a:spcPts val="0"/>
              </a:spcBef>
              <a:spcAft>
                <a:spcPts val="60"/>
              </a:spcAft>
            </a:pPr>
            <a:r>
              <a:rPr sz="936" b="0" i="0">
                <a:solidFill>
                  <a:srgbClr val="14171C"/>
                </a:solidFill>
                <a:latin typeface="Consolas"/>
              </a:rPr>
              <a:t> 10.     2   is</a:t>
            </a:r>
          </a:p>
        </p:txBody>
      </p:sp>
      <p:sp>
        <p:nvSpPr>
          <p:cNvPr id="15" name="Rectangle 14"/>
          <p:cNvSpPr/>
          <p:nvPr/>
        </p:nvSpPr>
        <p:spPr>
          <a:xfrm>
            <a:off x="7680959" y="404164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3" y="4133087"/>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lab04 run 2</a:t>
            </a:r>
          </a:p>
        </p:txBody>
      </p:sp>
      <p:sp>
        <p:nvSpPr>
          <p:cNvPr id="17" name="TextBox 16"/>
          <p:cNvSpPr txBox="1"/>
          <p:nvPr/>
        </p:nvSpPr>
        <p:spPr>
          <a:xfrm>
            <a:off x="7827263" y="4407407"/>
            <a:ext cx="3794760" cy="1874520"/>
          </a:xfrm>
          <a:prstGeom prst="rect">
            <a:avLst/>
          </a:prstGeom>
          <a:noFill/>
        </p:spPr>
        <p:txBody>
          <a:bodyPr wrap="none" anchor="t" lIns="0" rIns="0" tIns="0" bIns="0">
            <a:spAutoFit/>
          </a:bodyPr>
          <a:lstStyle/>
          <a:p>
            <a:pPr>
              <a:lnSpc>
                <a:spcPct val="100000"/>
              </a:lnSpc>
              <a:spcBef>
                <a:spcPts val="0"/>
              </a:spcBef>
              <a:spcAft>
                <a:spcPts val="60"/>
              </a:spcAft>
            </a:pPr>
            <a:r>
              <a:rPr sz="936" b="0" i="0">
                <a:solidFill>
                  <a:srgbClr val="14171C"/>
                </a:solidFill>
                <a:latin typeface="Consolas"/>
              </a:rPr>
              <a:t>rank  count  word</a:t>
            </a:r>
          </a:p>
          <a:p>
            <a:pPr>
              <a:lnSpc>
                <a:spcPct val="100000"/>
              </a:lnSpc>
              <a:spcBef>
                <a:spcPts val="0"/>
              </a:spcBef>
              <a:spcAft>
                <a:spcPts val="60"/>
              </a:spcAft>
            </a:pPr>
            <a:r>
              <a:rPr sz="936" b="0" i="0">
                <a:solidFill>
                  <a:srgbClr val="14171C"/>
                </a:solidFill>
                <a:latin typeface="Consolas"/>
              </a:rPr>
              <a:t>  1.     1   apple</a:t>
            </a:r>
          </a:p>
          <a:p>
            <a:pPr>
              <a:lnSpc>
                <a:spcPct val="100000"/>
              </a:lnSpc>
              <a:spcBef>
                <a:spcPts val="0"/>
              </a:spcBef>
              <a:spcAft>
                <a:spcPts val="60"/>
              </a:spcAft>
            </a:pPr>
            <a:r>
              <a:rPr sz="936" b="0" i="0">
                <a:solidFill>
                  <a:srgbClr val="14171C"/>
                </a:solidFill>
                <a:latin typeface="Consolas"/>
              </a:rPr>
              <a:t>  2.     1   banana</a:t>
            </a:r>
          </a:p>
          <a:p>
            <a:pPr>
              <a:lnSpc>
                <a:spcPct val="100000"/>
              </a:lnSpc>
              <a:spcBef>
                <a:spcPts val="0"/>
              </a:spcBef>
              <a:spcAft>
                <a:spcPts val="60"/>
              </a:spcAft>
            </a:pPr>
            <a:r>
              <a:rPr sz="936" b="0" i="0">
                <a:solidFill>
                  <a:srgbClr val="14171C"/>
                </a:solidFill>
                <a:latin typeface="Consolas"/>
              </a:rPr>
              <a:t>  3.     1   cake</a:t>
            </a:r>
          </a:p>
          <a:p>
            <a:pPr>
              <a:lnSpc>
                <a:spcPct val="100000"/>
              </a:lnSpc>
              <a:spcBef>
                <a:spcPts val="0"/>
              </a:spcBef>
              <a:spcAft>
                <a:spcPts val="60"/>
              </a:spcAft>
            </a:pPr>
            <a:r>
              <a:rPr sz="936" b="0" i="0">
                <a:solidFill>
                  <a:srgbClr val="14171C"/>
                </a:solidFill>
                <a:latin typeface="Consolas"/>
              </a:rPr>
              <a:t>  4.     1   cherry</a:t>
            </a:r>
          </a:p>
          <a:p>
            <a:pPr>
              <a:lnSpc>
                <a:spcPct val="100000"/>
              </a:lnSpc>
              <a:spcBef>
                <a:spcPts val="0"/>
              </a:spcBef>
              <a:spcAft>
                <a:spcPts val="60"/>
              </a:spcAft>
            </a:pPr>
            <a:r>
              <a:rPr sz="936" b="0" i="0">
                <a:solidFill>
                  <a:srgbClr val="14171C"/>
                </a:solidFill>
                <a:latin typeface="Consolas"/>
              </a:rPr>
              <a:t>  5.     1   date</a:t>
            </a:r>
          </a:p>
          <a:p>
            <a:pPr>
              <a:lnSpc>
                <a:spcPct val="100000"/>
              </a:lnSpc>
              <a:spcBef>
                <a:spcPts val="0"/>
              </a:spcBef>
              <a:spcAft>
                <a:spcPts val="60"/>
              </a:spcAft>
            </a:pPr>
            <a:r>
              <a:rPr sz="936" b="0" i="0">
                <a:solidFill>
                  <a:srgbClr val="14171C"/>
                </a:solidFill>
                <a:latin typeface="Consolas"/>
              </a:rPr>
              <a:t>  6.     1   elder</a:t>
            </a:r>
          </a:p>
          <a:p>
            <a:pPr>
              <a:lnSpc>
                <a:spcPct val="100000"/>
              </a:lnSpc>
              <a:spcBef>
                <a:spcPts val="0"/>
              </a:spcBef>
              <a:spcAft>
                <a:spcPts val="60"/>
              </a:spcAft>
            </a:pPr>
            <a:r>
              <a:rPr sz="936" b="0" i="0">
                <a:solidFill>
                  <a:srgbClr val="14171C"/>
                </a:solidFill>
                <a:latin typeface="Consolas"/>
              </a:rPr>
              <a:t>  7.     1   foster</a:t>
            </a:r>
          </a:p>
          <a:p>
            <a:pPr>
              <a:lnSpc>
                <a:spcPct val="100000"/>
              </a:lnSpc>
              <a:spcBef>
                <a:spcPts val="0"/>
              </a:spcBef>
              <a:spcAft>
                <a:spcPts val="60"/>
              </a:spcAft>
            </a:pPr>
            <a:r>
              <a:rPr sz="936" b="0" i="0">
                <a:solidFill>
                  <a:srgbClr val="14171C"/>
                </a:solidFill>
                <a:latin typeface="Consolas"/>
              </a:rPr>
              <a:t>  8.     1   guava</a:t>
            </a:r>
          </a:p>
          <a:p>
            <a:pPr>
              <a:lnSpc>
                <a:spcPct val="100000"/>
              </a:lnSpc>
              <a:spcBef>
                <a:spcPts val="0"/>
              </a:spcBef>
              <a:spcAft>
                <a:spcPts val="60"/>
              </a:spcAft>
            </a:pPr>
            <a:r>
              <a:rPr sz="936" b="0" i="0">
                <a:solidFill>
                  <a:srgbClr val="14171C"/>
                </a:solidFill>
                <a:latin typeface="Consolas"/>
              </a:rPr>
              <a:t>  9.     1   jam</a:t>
            </a:r>
          </a:p>
          <a:p>
            <a:pPr>
              <a:lnSpc>
                <a:spcPct val="100000"/>
              </a:lnSpc>
              <a:spcBef>
                <a:spcPts val="0"/>
              </a:spcBef>
              <a:spcAft>
                <a:spcPts val="60"/>
              </a:spcAft>
            </a:pPr>
            <a:r>
              <a:rPr sz="936" b="0" i="0">
                <a:solidFill>
                  <a:srgbClr val="14171C"/>
                </a:solidFill>
                <a:latin typeface="Consolas"/>
              </a:rPr>
              <a:t> 10.     1   pie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4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51</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On the paragraph, python leads with 6 (the file uses it as both cases; lower- casing merges them), and 5, errors 4. Run 2 is the honesty check: a file of 12 distinct words has every count 1 — the tie-break alone decides the order, and it matches the alphabetical tie-break exactly. Note the strip step: "code," and "code." both become "code"; without it, counts would fragment.</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Which single line would you delete to show the whole frequency dictionary, not just ten?</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Why lower() before counting, and what breaks without it? Quote the run’s numbers.</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Explain the key lambda’s tuple — why minus the count, why the word as second element?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What happens if the file name is wrong: which exception, and where could you catch it?</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(Q3) — </a:t>
            </a:r>
            <a:r>
              <a:rPr sz="1200" b="0" i="0">
                <a:solidFill>
                  <a:srgbClr val="16181D"/>
                </a:solidFill>
                <a:latin typeface="Calibri"/>
              </a:rPr>
              <a:t>(-count, word): sorted() is ascending, so negating the count flips frequency to descending; the word (ascending) then breaks ties alphabetically. One tuple, two sort orders — and the deterministic table the record shows.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5 — Marks Report by Bubble Sort (Highest → Lowest)</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52</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CO1 + CO2</a:t>
            </a:r>
            <a:r>
              <a:rPr sz="1250" b="0" i="0">
                <a:solidFill>
                  <a:srgbClr val="4B5563"/>
                </a:solidFill>
                <a:latin typeface="Calibri"/>
              </a:rPr>
              <a:t>    nested for loops, comparison swap, descending order, index permutation to keep subject names attached, swap-count as a complexity witness.</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5. Develop a program to read 6 subject marks from the keyboard for a student. Generate a report that displays the marks from the highest to the lowest score attained by the student. [Read the marks into a 1-Dimesional array and sort using the Bubble Sort technique].</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Two parallel lists would drift out of sync; instead</a:t>
            </a:r>
            <a:r>
              <a:rPr sz="1250" b="0" i="0">
                <a:solidFill>
                  <a:srgbClr val="16181D"/>
                </a:solidFill>
                <a:latin typeface="Consolas"/>
              </a:rPr>
              <a:t>order = list(range(6))</a:t>
            </a:r>
            <a:r>
              <a:rPr sz="1250" b="0" i="0">
                <a:solidFill>
                  <a:srgbClr val="16181D"/>
                </a:solidFill>
                <a:latin typeface="Calibri"/>
              </a:rPr>
              <a:t>and the comparator looks up</a:t>
            </a:r>
            <a:r>
              <a:rPr sz="1250" b="0" i="0">
                <a:solidFill>
                  <a:srgbClr val="16181D"/>
                </a:solidFill>
                <a:latin typeface="Consolas"/>
              </a:rPr>
              <a:t>marks[order[j]]</a:t>
            </a:r>
            <a:r>
              <a:rPr sz="1250" b="0" i="0">
                <a:solidFill>
                  <a:srgbClr val="16181D"/>
                </a:solidFill>
                <a:latin typeface="Calibri"/>
              </a:rPr>
              <a:t>— the subjects ride along for free.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Bubble pass: compare neighbours, swap if the left is smaller (descending); after pass i, the tail of i+1 entries is final, so the inner loop shrinks.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Count every swap — the transcript then reports “5 swap(s)”, real numbers on the effort, and Run 2’s all-equal data set proves the strict</a:t>
            </a:r>
            <a:r>
              <a:rPr sz="1250" b="0" i="0">
                <a:solidFill>
                  <a:srgbClr val="16181D"/>
                </a:solidFill>
                <a:latin typeface="Consolas"/>
              </a:rPr>
              <a:t>&lt;</a:t>
            </a:r>
            <a:r>
              <a:rPr sz="1250" b="0" i="0">
                <a:solidFill>
                  <a:srgbClr val="16181D"/>
                </a:solidFill>
                <a:latin typeface="Calibri"/>
              </a:rPr>
              <a:t>comparator does zero work.</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lab05.py</a:t>
            </a:r>
            <a:r>
              <a:rPr sz="1250" b="0" i="0">
                <a:solidFill>
                  <a:srgbClr val="16181D"/>
                </a:solidFill>
                <a:latin typeface="Calibri"/>
              </a:rPr>
              <a:t>  —  bubble-sort report</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5 — lab05.py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53</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lab05.py  ·  2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22" b="0" i="0">
                <a:solidFill>
                  <a:srgbClr val="E5E7EB"/>
                </a:solidFill>
                <a:latin typeface="Consolas"/>
              </a:rPr>
              <a:t># Lab 5 -- six subject marks -&gt; report highest to lowest (bubble sort)</a:t>
            </a:r>
          </a:p>
          <a:p>
            <a:pPr>
              <a:lnSpc>
                <a:spcPct val="100000"/>
              </a:lnSpc>
              <a:spcBef>
                <a:spcPts val="0"/>
              </a:spcBef>
              <a:spcAft>
                <a:spcPts val="60"/>
              </a:spcAft>
            </a:pPr>
            <a:r>
              <a:rPr sz="922" b="0" i="0">
                <a:solidFill>
                  <a:srgbClr val="E5E7EB"/>
                </a:solidFill>
                <a:latin typeface="Consolas"/>
              </a:rPr>
              <a:t># Run   : python3 lab05.py</a:t>
            </a:r>
          </a:p>
          <a:p>
            <a:pPr>
              <a:lnSpc>
                <a:spcPct val="100000"/>
              </a:lnSpc>
              <a:spcBef>
                <a:spcPts val="0"/>
              </a:spcBef>
              <a:spcAft>
                <a:spcPts val="60"/>
              </a:spcAft>
            </a:pPr>
            <a:r>
              <a:rPr sz="922" b="0" i="0">
                <a:solidFill>
                  <a:srgbClr val="E5E7EB"/>
                </a:solidFill>
                <a:latin typeface="Consolas"/>
              </a:rPr>
              <a:t>subjects = ["Maths", "Physics", "Chemistry", "Python", "DSA", "English"]</a:t>
            </a:r>
          </a:p>
          <a:p>
            <a:pPr>
              <a:lnSpc>
                <a:spcPct val="100000"/>
              </a:lnSpc>
              <a:spcBef>
                <a:spcPts val="0"/>
              </a:spcBef>
              <a:spcAft>
                <a:spcPts val="60"/>
              </a:spcAft>
            </a:pPr>
            <a:r>
              <a:rPr sz="922" b="0" i="0">
                <a:solidFill>
                  <a:srgbClr val="E5E7EB"/>
                </a:solidFill>
                <a:latin typeface="Consolas"/>
              </a:rPr>
              <a:t>marks = []</a:t>
            </a:r>
          </a:p>
          <a:p>
            <a:pPr>
              <a:lnSpc>
                <a:spcPct val="100000"/>
              </a:lnSpc>
              <a:spcBef>
                <a:spcPts val="0"/>
              </a:spcBef>
              <a:spcAft>
                <a:spcPts val="60"/>
              </a:spcAft>
            </a:pPr>
            <a:r>
              <a:rPr sz="922" b="0" i="0">
                <a:solidFill>
                  <a:srgbClr val="E5E7EB"/>
                </a:solidFill>
                <a:latin typeface="Consolas"/>
              </a:rPr>
              <a:t>for s in subjects:</a:t>
            </a:r>
          </a:p>
          <a:p>
            <a:pPr>
              <a:lnSpc>
                <a:spcPct val="100000"/>
              </a:lnSpc>
              <a:spcBef>
                <a:spcPts val="0"/>
              </a:spcBef>
              <a:spcAft>
                <a:spcPts val="60"/>
              </a:spcAft>
            </a:pPr>
            <a:r>
              <a:rPr sz="922" b="0" i="0">
                <a:solidFill>
                  <a:srgbClr val="E5E7EB"/>
                </a:solidFill>
                <a:latin typeface="Consolas"/>
              </a:rPr>
              <a:t>    marks.append(int(input(f"Enter marks for {s:&lt;10}: ")))</a:t>
            </a:r>
          </a:p>
          <a:p>
            <a:pPr>
              <a:lnSpc>
                <a:spcPct val="100000"/>
              </a:lnSpc>
              <a:spcBef>
                <a:spcPts val="0"/>
              </a:spcBef>
              <a:spcAft>
                <a:spcPts val="60"/>
              </a:spcAft>
            </a:pPr>
            <a:r>
              <a:rPr sz="922" b="0" i="0">
                <a:solidFill>
                  <a:srgbClr val="E5E7EB"/>
                </a:solidFill>
                <a:latin typeface="Consolas"/>
              </a:rPr>
              <a:t> </a:t>
            </a:r>
          </a:p>
          <a:p>
            <a:pPr>
              <a:lnSpc>
                <a:spcPct val="100000"/>
              </a:lnSpc>
              <a:spcBef>
                <a:spcPts val="0"/>
              </a:spcBef>
              <a:spcAft>
                <a:spcPts val="60"/>
              </a:spcAft>
            </a:pPr>
            <a:r>
              <a:rPr sz="922" b="0" i="0">
                <a:solidFill>
                  <a:srgbClr val="E5E7EB"/>
                </a:solidFill>
                <a:latin typeface="Consolas"/>
              </a:rPr>
              <a:t>order = list(range(6))          # sort INDICES so subject names ride along</a:t>
            </a:r>
          </a:p>
          <a:p>
            <a:pPr>
              <a:lnSpc>
                <a:spcPct val="100000"/>
              </a:lnSpc>
              <a:spcBef>
                <a:spcPts val="0"/>
              </a:spcBef>
              <a:spcAft>
                <a:spcPts val="60"/>
              </a:spcAft>
            </a:pPr>
            <a:r>
              <a:rPr sz="922" b="0" i="0">
                <a:solidFill>
                  <a:srgbClr val="E5E7EB"/>
                </a:solidFill>
                <a:latin typeface="Consolas"/>
              </a:rPr>
              <a:t>swaps = 0</a:t>
            </a:r>
          </a:p>
          <a:p>
            <a:pPr>
              <a:lnSpc>
                <a:spcPct val="100000"/>
              </a:lnSpc>
              <a:spcBef>
                <a:spcPts val="0"/>
              </a:spcBef>
              <a:spcAft>
                <a:spcPts val="60"/>
              </a:spcAft>
            </a:pPr>
            <a:r>
              <a:rPr sz="922" b="0" i="0">
                <a:solidFill>
                  <a:srgbClr val="E5E7EB"/>
                </a:solidFill>
                <a:latin typeface="Consolas"/>
              </a:rPr>
              <a:t>for i in range(5):              # ---- bubble sort, descending on marks ----</a:t>
            </a:r>
          </a:p>
          <a:p>
            <a:pPr>
              <a:lnSpc>
                <a:spcPct val="100000"/>
              </a:lnSpc>
              <a:spcBef>
                <a:spcPts val="0"/>
              </a:spcBef>
              <a:spcAft>
                <a:spcPts val="60"/>
              </a:spcAft>
            </a:pPr>
            <a:r>
              <a:rPr sz="922" b="0" i="0">
                <a:solidFill>
                  <a:srgbClr val="E5E7EB"/>
                </a:solidFill>
                <a:latin typeface="Consolas"/>
              </a:rPr>
              <a:t>    for j in range(5 - i):</a:t>
            </a:r>
          </a:p>
          <a:p>
            <a:pPr>
              <a:lnSpc>
                <a:spcPct val="100000"/>
              </a:lnSpc>
              <a:spcBef>
                <a:spcPts val="0"/>
              </a:spcBef>
              <a:spcAft>
                <a:spcPts val="60"/>
              </a:spcAft>
            </a:pPr>
            <a:r>
              <a:rPr sz="922" b="0" i="0">
                <a:solidFill>
                  <a:srgbClr val="E5E7EB"/>
                </a:solidFill>
                <a:latin typeface="Consolas"/>
              </a:rPr>
              <a:t>        if marks[order[j]] &lt; marks[order[j + 1]]:</a:t>
            </a:r>
          </a:p>
          <a:p>
            <a:pPr>
              <a:lnSpc>
                <a:spcPct val="100000"/>
              </a:lnSpc>
              <a:spcBef>
                <a:spcPts val="0"/>
              </a:spcBef>
              <a:spcAft>
                <a:spcPts val="60"/>
              </a:spcAft>
            </a:pPr>
            <a:r>
              <a:rPr sz="922" b="0" i="0">
                <a:solidFill>
                  <a:srgbClr val="E5E7EB"/>
                </a:solidFill>
                <a:latin typeface="Consolas"/>
              </a:rPr>
              <a:t>            order[j], order[j + 1] = order[j + 1], order[j]</a:t>
            </a:r>
          </a:p>
          <a:p>
            <a:pPr>
              <a:lnSpc>
                <a:spcPct val="100000"/>
              </a:lnSpc>
              <a:spcBef>
                <a:spcPts val="0"/>
              </a:spcBef>
              <a:spcAft>
                <a:spcPts val="60"/>
              </a:spcAft>
            </a:pPr>
            <a:r>
              <a:rPr sz="922" b="0" i="0">
                <a:solidFill>
                  <a:srgbClr val="E5E7EB"/>
                </a:solidFill>
                <a:latin typeface="Consolas"/>
              </a:rPr>
              <a:t>            swaps += 1</a:t>
            </a:r>
          </a:p>
          <a:p>
            <a:pPr>
              <a:lnSpc>
                <a:spcPct val="100000"/>
              </a:lnSpc>
              <a:spcBef>
                <a:spcPts val="0"/>
              </a:spcBef>
              <a:spcAft>
                <a:spcPts val="60"/>
              </a:spcAft>
            </a:pPr>
            <a:r>
              <a:rPr sz="922" b="0" i="0">
                <a:solidFill>
                  <a:srgbClr val="E5E7EB"/>
                </a:solidFill>
                <a:latin typeface="Consolas"/>
              </a:rPr>
              <a:t> </a:t>
            </a:r>
          </a:p>
          <a:p>
            <a:pPr>
              <a:lnSpc>
                <a:spcPct val="100000"/>
              </a:lnSpc>
              <a:spcBef>
                <a:spcPts val="0"/>
              </a:spcBef>
              <a:spcAft>
                <a:spcPts val="60"/>
              </a:spcAft>
            </a:pPr>
            <a:r>
              <a:rPr sz="922" b="0" i="0">
                <a:solidFill>
                  <a:srgbClr val="E5E7EB"/>
                </a:solidFill>
                <a:latin typeface="Consolas"/>
              </a:rPr>
              <a:t>print("\n===== MARKS REPORT (highest -&gt; lowest) =====")</a:t>
            </a:r>
          </a:p>
          <a:p>
            <a:pPr>
              <a:lnSpc>
                <a:spcPct val="100000"/>
              </a:lnSpc>
              <a:spcBef>
                <a:spcPts val="0"/>
              </a:spcBef>
              <a:spcAft>
                <a:spcPts val="60"/>
              </a:spcAft>
            </a:pPr>
            <a:r>
              <a:rPr sz="922" b="0" i="0">
                <a:solidFill>
                  <a:srgbClr val="E5E7EB"/>
                </a:solidFill>
                <a:latin typeface="Consolas"/>
              </a:rPr>
              <a:t>print("Rank  Subject      Marks")</a:t>
            </a:r>
          </a:p>
          <a:p>
            <a:pPr>
              <a:lnSpc>
                <a:spcPct val="100000"/>
              </a:lnSpc>
              <a:spcBef>
                <a:spcPts val="0"/>
              </a:spcBef>
              <a:spcAft>
                <a:spcPts val="60"/>
              </a:spcAft>
            </a:pPr>
            <a:r>
              <a:rPr sz="922" b="0" i="0">
                <a:solidFill>
                  <a:srgbClr val="E5E7EB"/>
                </a:solidFill>
                <a:latin typeface="Consolas"/>
              </a:rPr>
              <a:t>for rank, k in enumerate(order, 1):</a:t>
            </a:r>
          </a:p>
          <a:p>
            <a:pPr>
              <a:lnSpc>
                <a:spcPct val="100000"/>
              </a:lnSpc>
              <a:spcBef>
                <a:spcPts val="0"/>
              </a:spcBef>
              <a:spcAft>
                <a:spcPts val="60"/>
              </a:spcAft>
            </a:pPr>
            <a:r>
              <a:rPr sz="922" b="0" i="0">
                <a:solidFill>
                  <a:srgbClr val="E5E7EB"/>
                </a:solidFill>
                <a:latin typeface="Consolas"/>
              </a:rPr>
              <a:t>    print(f"{rank:&gt;3d}.   {subjects[k]:&lt;11}{marks[k]:&gt;4d}")</a:t>
            </a:r>
          </a:p>
          <a:p>
            <a:pPr>
              <a:lnSpc>
                <a:spcPct val="100000"/>
              </a:lnSpc>
              <a:spcBef>
                <a:spcPts val="0"/>
              </a:spcBef>
              <a:spcAft>
                <a:spcPts val="60"/>
              </a:spcAft>
            </a:pPr>
            <a:r>
              <a:rPr sz="922" b="0" i="0">
                <a:solidFill>
                  <a:srgbClr val="E5E7EB"/>
                </a:solidFill>
                <a:latin typeface="Consolas"/>
              </a:rPr>
              <a:t>print(f"\nTotal = {sum(marks)} | Average = {sum(marks) / 6:.2f}")</a:t>
            </a:r>
          </a:p>
          <a:p>
            <a:pPr>
              <a:lnSpc>
                <a:spcPct val="100000"/>
              </a:lnSpc>
              <a:spcBef>
                <a:spcPts val="0"/>
              </a:spcBef>
              <a:spcAft>
                <a:spcPts val="60"/>
              </a:spcAft>
            </a:pPr>
            <a:r>
              <a:rPr sz="922" b="0" i="0">
                <a:solidFill>
                  <a:srgbClr val="E5E7EB"/>
                </a:solidFill>
                <a:latin typeface="Consolas"/>
              </a:rPr>
              <a:t>print(f"Bubble sort finished after {swaps} swap(s).")</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05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marks for Maths     : 78</a:t>
            </a:r>
          </a:p>
          <a:p>
            <a:pPr>
              <a:lnSpc>
                <a:spcPct val="100000"/>
              </a:lnSpc>
              <a:spcBef>
                <a:spcPts val="0"/>
              </a:spcBef>
              <a:spcAft>
                <a:spcPts val="60"/>
              </a:spcAft>
            </a:pPr>
            <a:r>
              <a:rPr sz="720" b="0" i="0">
                <a:solidFill>
                  <a:srgbClr val="14171C"/>
                </a:solidFill>
                <a:latin typeface="Consolas"/>
              </a:rPr>
              <a:t>Enter marks for Physics   : 92</a:t>
            </a:r>
          </a:p>
          <a:p>
            <a:pPr>
              <a:lnSpc>
                <a:spcPct val="100000"/>
              </a:lnSpc>
              <a:spcBef>
                <a:spcPts val="0"/>
              </a:spcBef>
              <a:spcAft>
                <a:spcPts val="60"/>
              </a:spcAft>
            </a:pPr>
            <a:r>
              <a:rPr sz="720" b="0" i="0">
                <a:solidFill>
                  <a:srgbClr val="14171C"/>
                </a:solidFill>
                <a:latin typeface="Consolas"/>
              </a:rPr>
              <a:t>Enter marks for Chemistry : 65</a:t>
            </a:r>
          </a:p>
          <a:p>
            <a:pPr>
              <a:lnSpc>
                <a:spcPct val="100000"/>
              </a:lnSpc>
              <a:spcBef>
                <a:spcPts val="0"/>
              </a:spcBef>
              <a:spcAft>
                <a:spcPts val="60"/>
              </a:spcAft>
            </a:pPr>
            <a:r>
              <a:rPr sz="720" b="0" i="0">
                <a:solidFill>
                  <a:srgbClr val="14171C"/>
                </a:solidFill>
                <a:latin typeface="Consolas"/>
              </a:rPr>
              <a:t>Enter marks for Python    : 88</a:t>
            </a:r>
          </a:p>
          <a:p>
            <a:pPr>
              <a:lnSpc>
                <a:spcPct val="100000"/>
              </a:lnSpc>
              <a:spcBef>
                <a:spcPts val="0"/>
              </a:spcBef>
              <a:spcAft>
                <a:spcPts val="60"/>
              </a:spcAft>
            </a:pPr>
            <a:r>
              <a:rPr sz="720" b="0" i="0">
                <a:solidFill>
                  <a:srgbClr val="14171C"/>
                </a:solidFill>
                <a:latin typeface="Consolas"/>
              </a:rPr>
              <a:t>Enter marks for DSA       : 49</a:t>
            </a:r>
          </a:p>
          <a:p>
            <a:pPr>
              <a:lnSpc>
                <a:spcPct val="100000"/>
              </a:lnSpc>
              <a:spcBef>
                <a:spcPts val="0"/>
              </a:spcBef>
              <a:spcAft>
                <a:spcPts val="60"/>
              </a:spcAft>
            </a:pPr>
            <a:r>
              <a:rPr sz="720" b="0" i="0">
                <a:solidFill>
                  <a:srgbClr val="14171C"/>
                </a:solidFill>
                <a:latin typeface="Consolas"/>
              </a:rPr>
              <a:t>Enter marks for English   : 71</a:t>
            </a:r>
          </a:p>
          <a:p>
            <a:pPr>
              <a:lnSpc>
                <a:spcPct val="100000"/>
              </a:lnSpc>
              <a:spcBef>
                <a:spcPts val="0"/>
              </a:spcBef>
              <a:spcAft>
                <a:spcPts val="60"/>
              </a:spcAft>
            </a:pPr>
            <a:r>
              <a:rPr sz="720" b="0" i="0">
                <a:solidFill>
                  <a:srgbClr val="14171C"/>
                </a:solidFill>
                <a:latin typeface="Consolas"/>
              </a:rPr>
              <a:t> </a:t>
            </a:r>
          </a:p>
          <a:p>
            <a:pPr>
              <a:lnSpc>
                <a:spcPct val="100000"/>
              </a:lnSpc>
              <a:spcBef>
                <a:spcPts val="0"/>
              </a:spcBef>
              <a:spcAft>
                <a:spcPts val="60"/>
              </a:spcAft>
            </a:pPr>
            <a:r>
              <a:rPr sz="720" b="0" i="0">
                <a:solidFill>
                  <a:srgbClr val="14171C"/>
                </a:solidFill>
                <a:latin typeface="Consolas"/>
              </a:rPr>
              <a:t>===== MARKS REPORT (highest -&gt; lowest) =====</a:t>
            </a:r>
          </a:p>
          <a:p>
            <a:pPr>
              <a:lnSpc>
                <a:spcPct val="100000"/>
              </a:lnSpc>
              <a:spcBef>
                <a:spcPts val="0"/>
              </a:spcBef>
              <a:spcAft>
                <a:spcPts val="60"/>
              </a:spcAft>
            </a:pPr>
            <a:r>
              <a:rPr sz="720" b="0" i="0">
                <a:solidFill>
                  <a:srgbClr val="14171C"/>
                </a:solidFill>
                <a:latin typeface="Consolas"/>
              </a:rPr>
              <a:t>Rank  Subject      Marks</a:t>
            </a:r>
          </a:p>
          <a:p>
            <a:pPr>
              <a:lnSpc>
                <a:spcPct val="100000"/>
              </a:lnSpc>
              <a:spcBef>
                <a:spcPts val="0"/>
              </a:spcBef>
              <a:spcAft>
                <a:spcPts val="60"/>
              </a:spcAft>
            </a:pPr>
            <a:r>
              <a:rPr sz="720" b="0" i="0">
                <a:solidFill>
                  <a:srgbClr val="14171C"/>
                </a:solidFill>
                <a:latin typeface="Consolas"/>
              </a:rPr>
              <a:t>  1.   Physics      92</a:t>
            </a:r>
          </a:p>
          <a:p>
            <a:pPr>
              <a:lnSpc>
                <a:spcPct val="100000"/>
              </a:lnSpc>
              <a:spcBef>
                <a:spcPts val="0"/>
              </a:spcBef>
              <a:spcAft>
                <a:spcPts val="60"/>
              </a:spcAft>
            </a:pPr>
            <a:r>
              <a:rPr sz="720" b="0" i="0">
                <a:solidFill>
                  <a:srgbClr val="14171C"/>
                </a:solidFill>
                <a:latin typeface="Consolas"/>
              </a:rPr>
              <a:t>  2.   Python       88</a:t>
            </a:r>
          </a:p>
          <a:p>
            <a:pPr>
              <a:lnSpc>
                <a:spcPct val="100000"/>
              </a:lnSpc>
              <a:spcBef>
                <a:spcPts val="0"/>
              </a:spcBef>
              <a:spcAft>
                <a:spcPts val="60"/>
              </a:spcAft>
            </a:pPr>
            <a:r>
              <a:rPr sz="720" b="0" i="0">
                <a:solidFill>
                  <a:srgbClr val="14171C"/>
                </a:solidFill>
                <a:latin typeface="Consolas"/>
              </a:rPr>
              <a:t>  3.   Maths        78</a:t>
            </a:r>
          </a:p>
          <a:p>
            <a:pPr>
              <a:lnSpc>
                <a:spcPct val="100000"/>
              </a:lnSpc>
              <a:spcBef>
                <a:spcPts val="0"/>
              </a:spcBef>
              <a:spcAft>
                <a:spcPts val="60"/>
              </a:spcAft>
            </a:pPr>
            <a:r>
              <a:rPr sz="720" b="0" i="0">
                <a:solidFill>
                  <a:srgbClr val="14171C"/>
                </a:solidFill>
                <a:latin typeface="Consolas"/>
              </a:rPr>
              <a:t>  4.   English      71</a:t>
            </a:r>
          </a:p>
          <a:p>
            <a:pPr>
              <a:lnSpc>
                <a:spcPct val="100000"/>
              </a:lnSpc>
              <a:spcBef>
                <a:spcPts val="0"/>
              </a:spcBef>
              <a:spcAft>
                <a:spcPts val="60"/>
              </a:spcAft>
            </a:pPr>
            <a:r>
              <a:rPr sz="720" b="0" i="0">
                <a:solidFill>
                  <a:srgbClr val="14171C"/>
                </a:solidFill>
                <a:latin typeface="Consolas"/>
              </a:rPr>
              <a:t>  5.   Chemistry    65</a:t>
            </a:r>
          </a:p>
          <a:p>
            <a:pPr>
              <a:lnSpc>
                <a:spcPct val="100000"/>
              </a:lnSpc>
              <a:spcBef>
                <a:spcPts val="0"/>
              </a:spcBef>
              <a:spcAft>
                <a:spcPts val="60"/>
              </a:spcAft>
            </a:pPr>
            <a:r>
              <a:rPr sz="720" b="0" i="0">
                <a:solidFill>
                  <a:srgbClr val="14171C"/>
                </a:solidFill>
                <a:latin typeface="Consolas"/>
              </a:rPr>
              <a:t>  …  (remaining lines: see the course book transcript)</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lab05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Enter marks for Maths     : 40</a:t>
            </a:r>
          </a:p>
          <a:p>
            <a:pPr>
              <a:lnSpc>
                <a:spcPct val="100000"/>
              </a:lnSpc>
              <a:spcBef>
                <a:spcPts val="0"/>
              </a:spcBef>
              <a:spcAft>
                <a:spcPts val="60"/>
              </a:spcAft>
            </a:pPr>
            <a:r>
              <a:rPr sz="720" b="0" i="0">
                <a:solidFill>
                  <a:srgbClr val="14171C"/>
                </a:solidFill>
                <a:latin typeface="Consolas"/>
              </a:rPr>
              <a:t>Enter marks for Physics   : 40</a:t>
            </a:r>
          </a:p>
          <a:p>
            <a:pPr>
              <a:lnSpc>
                <a:spcPct val="100000"/>
              </a:lnSpc>
              <a:spcBef>
                <a:spcPts val="0"/>
              </a:spcBef>
              <a:spcAft>
                <a:spcPts val="60"/>
              </a:spcAft>
            </a:pPr>
            <a:r>
              <a:rPr sz="720" b="0" i="0">
                <a:solidFill>
                  <a:srgbClr val="14171C"/>
                </a:solidFill>
                <a:latin typeface="Consolas"/>
              </a:rPr>
              <a:t>Enter marks for Chemistry : 40</a:t>
            </a:r>
          </a:p>
          <a:p>
            <a:pPr>
              <a:lnSpc>
                <a:spcPct val="100000"/>
              </a:lnSpc>
              <a:spcBef>
                <a:spcPts val="0"/>
              </a:spcBef>
              <a:spcAft>
                <a:spcPts val="60"/>
              </a:spcAft>
            </a:pPr>
            <a:r>
              <a:rPr sz="720" b="0" i="0">
                <a:solidFill>
                  <a:srgbClr val="14171C"/>
                </a:solidFill>
                <a:latin typeface="Consolas"/>
              </a:rPr>
              <a:t>Enter marks for Python    : 40</a:t>
            </a:r>
          </a:p>
          <a:p>
            <a:pPr>
              <a:lnSpc>
                <a:spcPct val="100000"/>
              </a:lnSpc>
              <a:spcBef>
                <a:spcPts val="0"/>
              </a:spcBef>
              <a:spcAft>
                <a:spcPts val="60"/>
              </a:spcAft>
            </a:pPr>
            <a:r>
              <a:rPr sz="720" b="0" i="0">
                <a:solidFill>
                  <a:srgbClr val="14171C"/>
                </a:solidFill>
                <a:latin typeface="Consolas"/>
              </a:rPr>
              <a:t>Enter marks for DSA       : 40</a:t>
            </a:r>
          </a:p>
          <a:p>
            <a:pPr>
              <a:lnSpc>
                <a:spcPct val="100000"/>
              </a:lnSpc>
              <a:spcBef>
                <a:spcPts val="0"/>
              </a:spcBef>
              <a:spcAft>
                <a:spcPts val="60"/>
              </a:spcAft>
            </a:pPr>
            <a:r>
              <a:rPr sz="720" b="0" i="0">
                <a:solidFill>
                  <a:srgbClr val="14171C"/>
                </a:solidFill>
                <a:latin typeface="Consolas"/>
              </a:rPr>
              <a:t>Enter marks for English   : 40</a:t>
            </a:r>
          </a:p>
          <a:p>
            <a:pPr>
              <a:lnSpc>
                <a:spcPct val="100000"/>
              </a:lnSpc>
              <a:spcBef>
                <a:spcPts val="0"/>
              </a:spcBef>
              <a:spcAft>
                <a:spcPts val="60"/>
              </a:spcAft>
            </a:pPr>
            <a:r>
              <a:rPr sz="720" b="0" i="0">
                <a:solidFill>
                  <a:srgbClr val="14171C"/>
                </a:solidFill>
                <a:latin typeface="Consolas"/>
              </a:rPr>
              <a:t> </a:t>
            </a:r>
          </a:p>
          <a:p>
            <a:pPr>
              <a:lnSpc>
                <a:spcPct val="100000"/>
              </a:lnSpc>
              <a:spcBef>
                <a:spcPts val="0"/>
              </a:spcBef>
              <a:spcAft>
                <a:spcPts val="60"/>
              </a:spcAft>
            </a:pPr>
            <a:r>
              <a:rPr sz="720" b="0" i="0">
                <a:solidFill>
                  <a:srgbClr val="14171C"/>
                </a:solidFill>
                <a:latin typeface="Consolas"/>
              </a:rPr>
              <a:t>===== MARKS REPORT (highest -&gt; lowest) =====</a:t>
            </a:r>
          </a:p>
          <a:p>
            <a:pPr>
              <a:lnSpc>
                <a:spcPct val="100000"/>
              </a:lnSpc>
              <a:spcBef>
                <a:spcPts val="0"/>
              </a:spcBef>
              <a:spcAft>
                <a:spcPts val="60"/>
              </a:spcAft>
            </a:pPr>
            <a:r>
              <a:rPr sz="720" b="0" i="0">
                <a:solidFill>
                  <a:srgbClr val="14171C"/>
                </a:solidFill>
                <a:latin typeface="Consolas"/>
              </a:rPr>
              <a:t>Rank  Subject      Marks</a:t>
            </a:r>
          </a:p>
          <a:p>
            <a:pPr>
              <a:lnSpc>
                <a:spcPct val="100000"/>
              </a:lnSpc>
              <a:spcBef>
                <a:spcPts val="0"/>
              </a:spcBef>
              <a:spcAft>
                <a:spcPts val="60"/>
              </a:spcAft>
            </a:pPr>
            <a:r>
              <a:rPr sz="720" b="0" i="0">
                <a:solidFill>
                  <a:srgbClr val="14171C"/>
                </a:solidFill>
                <a:latin typeface="Consolas"/>
              </a:rPr>
              <a:t>  1.   Maths        40</a:t>
            </a:r>
          </a:p>
          <a:p>
            <a:pPr>
              <a:lnSpc>
                <a:spcPct val="100000"/>
              </a:lnSpc>
              <a:spcBef>
                <a:spcPts val="0"/>
              </a:spcBef>
              <a:spcAft>
                <a:spcPts val="60"/>
              </a:spcAft>
            </a:pPr>
            <a:r>
              <a:rPr sz="720" b="0" i="0">
                <a:solidFill>
                  <a:srgbClr val="14171C"/>
                </a:solidFill>
                <a:latin typeface="Consolas"/>
              </a:rPr>
              <a:t>  2.   Physics      40</a:t>
            </a:r>
          </a:p>
          <a:p>
            <a:pPr>
              <a:lnSpc>
                <a:spcPct val="100000"/>
              </a:lnSpc>
              <a:spcBef>
                <a:spcPts val="0"/>
              </a:spcBef>
              <a:spcAft>
                <a:spcPts val="60"/>
              </a:spcAft>
            </a:pPr>
            <a:r>
              <a:rPr sz="720" b="0" i="0">
                <a:solidFill>
                  <a:srgbClr val="14171C"/>
                </a:solidFill>
                <a:latin typeface="Consolas"/>
              </a:rPr>
              <a:t>  3.   Chemistry    40</a:t>
            </a:r>
          </a:p>
          <a:p>
            <a:pPr>
              <a:lnSpc>
                <a:spcPct val="100000"/>
              </a:lnSpc>
              <a:spcBef>
                <a:spcPts val="0"/>
              </a:spcBef>
              <a:spcAft>
                <a:spcPts val="60"/>
              </a:spcAft>
            </a:pPr>
            <a:r>
              <a:rPr sz="720" b="0" i="0">
                <a:solidFill>
                  <a:srgbClr val="14171C"/>
                </a:solidFill>
                <a:latin typeface="Consolas"/>
              </a:rPr>
              <a:t>  4.   Python       40</a:t>
            </a:r>
          </a:p>
          <a:p>
            <a:pPr>
              <a:lnSpc>
                <a:spcPct val="100000"/>
              </a:lnSpc>
              <a:spcBef>
                <a:spcPts val="0"/>
              </a:spcBef>
              <a:spcAft>
                <a:spcPts val="60"/>
              </a:spcAft>
            </a:pPr>
            <a:r>
              <a:rPr sz="720" b="0" i="0">
                <a:solidFill>
                  <a:srgbClr val="14171C"/>
                </a:solidFill>
                <a:latin typeface="Consolas"/>
              </a:rPr>
              <a:t>  5.   DSA          40</a:t>
            </a:r>
          </a:p>
          <a:p>
            <a:pPr>
              <a:lnSpc>
                <a:spcPct val="100000"/>
              </a:lnSpc>
              <a:spcBef>
                <a:spcPts val="0"/>
              </a:spcBef>
              <a:spcAft>
                <a:spcPts val="60"/>
              </a:spcAft>
            </a:pPr>
            <a:r>
              <a:rPr sz="720" b="0" i="0">
                <a:solidFill>
                  <a:srgbClr val="14171C"/>
                </a:solidFill>
                <a:latin typeface="Consolas"/>
              </a:rPr>
              <a:t>  …  (remaining lines: see the course book transcript)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5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54</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Input 78, 92, 65, 88, 49, 71 ranks Physics 92 → DSA 49; the report prints rank, subject, mark, total and average. Run 2 is the quiet proof of stability: five passes, zero swaps, original subject order preserved under equal marks. Worst case on 6 items is 15 comparisons; the printed swap count (5) is what an examiner checks against a hand trace.</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Trace one pass by hand for 78 92 65 … — which swaps fire and where does 49 end up after pass 1?</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Why sort the order list instead of marks.sort(reverse=True)? The question says bubble sort — which part satisfies it?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What makes this sort stable in Run 2? Name the comparator property.</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If the inner loop ran to j = 5 instead of 5−i, would the output change? What costs would rise?</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(Q2) — </a:t>
            </a:r>
            <a:r>
              <a:rPr sz="1200" b="0" i="0">
                <a:solidFill>
                  <a:srgbClr val="16181D"/>
                </a:solidFill>
                <a:latin typeface="Calibri"/>
              </a:rPr>
              <a:t>Because sorting marks directly would sever the marks from their subject names; an index permutation is the classic answer, and the syllabus demands the bubble routine — the nested loop with neighbour swaps below satisfies that literally, while sort() would satisfy only the result, not the method.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6 — Sort a File’s Lines into a Separate Sorted File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55</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CO2 + CO4</a:t>
            </a:r>
            <a:r>
              <a:rPr sz="1250" b="0" i="0">
                <a:solidFill>
                  <a:srgbClr val="4B5563"/>
                </a:solidFill>
                <a:latin typeface="Calibri"/>
              </a:rPr>
              <a:t>    open/read/write cycles with with-blocks, line cleaning, sorted() vs .sort(), constructing the output path, verifying by printing what was written.</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6. Develop a program to sort the contents of a text file and write the sorted contents into a separate text file. [Hint: Use string methods strip(), len(), list methods sort(), append(), and file methods open(), readlines(), and write()].</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onsolas"/>
              </a:rPr>
              <a:t>f.readlines()</a:t>
            </a:r>
            <a:r>
              <a:rPr sz="1250" b="0" i="0">
                <a:solidFill>
                  <a:srgbClr val="16181D"/>
                </a:solidFill>
                <a:latin typeface="Calibri"/>
              </a:rPr>
              <a:t>→ list of raw lines; a comprehension strips each and drops blank ones (that is where</a:t>
            </a:r>
            <a:r>
              <a:rPr sz="1250" b="0" i="0">
                <a:solidFill>
                  <a:srgbClr val="16181D"/>
                </a:solidFill>
                <a:latin typeface="Consolas"/>
              </a:rPr>
              <a:t>len()</a:t>
            </a:r>
            <a:r>
              <a:rPr sz="1250" b="0" i="0">
                <a:solidFill>
                  <a:srgbClr val="16181D"/>
                </a:solidFill>
                <a:latin typeface="Calibri"/>
              </a:rPr>
              <a:t>gets used, reporting the count).</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One in-place</a:t>
            </a:r>
            <a:r>
              <a:rPr sz="1250" b="0" i="0">
                <a:solidFill>
                  <a:srgbClr val="16181D"/>
                </a:solidFill>
                <a:latin typeface="Consolas"/>
              </a:rPr>
              <a:t>lines.sort()</a:t>
            </a:r>
            <a:r>
              <a:rPr sz="1250" b="0" i="0">
                <a:solidFill>
                  <a:srgbClr val="16181D"/>
                </a:solidFill>
                <a:latin typeface="Calibri"/>
              </a:rPr>
              <a:t>— the modifier form the hint asks for; the file order is lexicographic, so “date Rolls” precedes “elder cake” by the first letter, capitals included.</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Write with an explicit loop of</a:t>
            </a:r>
            <a:r>
              <a:rPr sz="1250" b="0" i="0">
                <a:solidFill>
                  <a:srgbClr val="16181D"/>
                </a:solidFill>
                <a:latin typeface="Consolas"/>
              </a:rPr>
              <a:t>f.write(ln + "\n")</a:t>
            </a:r>
            <a:r>
              <a:rPr sz="1250" b="0" i="0">
                <a:solidFill>
                  <a:srgbClr val="16181D"/>
                </a:solidFill>
                <a:latin typeface="Calibri"/>
              </a:rPr>
              <a:t>: the newline is the program’s responsibility — the one thing that silently corrupts sorted files when forgotten.</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Print the result block in the transcript, so the record shows file contents without a second cat.</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lab06.py</a:t>
            </a:r>
            <a:r>
              <a:rPr sz="1250" b="0" i="0">
                <a:solidFill>
                  <a:srgbClr val="16181D"/>
                </a:solidFill>
                <a:latin typeface="Calibri"/>
              </a:rPr>
              <a:t>  —  file sorter</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6 — lab06.py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56</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lab06.py  ·  1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834" b="0" i="0">
                <a:solidFill>
                  <a:srgbClr val="E5E7EB"/>
                </a:solidFill>
                <a:latin typeface="Consolas"/>
              </a:rPr>
              <a:t># Lab 6 -- sort the lines of a text file into a separate sorted file</a:t>
            </a:r>
          </a:p>
          <a:p>
            <a:pPr>
              <a:lnSpc>
                <a:spcPct val="100000"/>
              </a:lnSpc>
              <a:spcBef>
                <a:spcPts val="0"/>
              </a:spcBef>
              <a:spcAft>
                <a:spcPts val="60"/>
              </a:spcAft>
            </a:pPr>
            <a:r>
              <a:rPr sz="834" b="0" i="0">
                <a:solidFill>
                  <a:srgbClr val="E5E7EB"/>
                </a:solidFill>
                <a:latin typeface="Consolas"/>
              </a:rPr>
              <a:t># Run   : python3 lab06.py ../data/lines.txt</a:t>
            </a:r>
          </a:p>
          <a:p>
            <a:pPr>
              <a:lnSpc>
                <a:spcPct val="100000"/>
              </a:lnSpc>
              <a:spcBef>
                <a:spcPts val="0"/>
              </a:spcBef>
              <a:spcAft>
                <a:spcPts val="60"/>
              </a:spcAft>
            </a:pPr>
            <a:r>
              <a:rPr sz="834" b="0" i="0">
                <a:solidFill>
                  <a:srgbClr val="E5E7EB"/>
                </a:solidFill>
                <a:latin typeface="Consolas"/>
              </a:rPr>
              <a:t>import os</a:t>
            </a:r>
          </a:p>
          <a:p>
            <a:pPr>
              <a:lnSpc>
                <a:spcPct val="100000"/>
              </a:lnSpc>
              <a:spcBef>
                <a:spcPts val="0"/>
              </a:spcBef>
              <a:spcAft>
                <a:spcPts val="60"/>
              </a:spcAft>
            </a:pPr>
            <a:r>
              <a:rPr sz="834" b="0" i="0">
                <a:solidFill>
                  <a:srgbClr val="E5E7EB"/>
                </a:solidFill>
                <a:latin typeface="Consolas"/>
              </a:rPr>
              <a:t> </a:t>
            </a:r>
          </a:p>
          <a:p>
            <a:pPr>
              <a:lnSpc>
                <a:spcPct val="100000"/>
              </a:lnSpc>
              <a:spcBef>
                <a:spcPts val="0"/>
              </a:spcBef>
              <a:spcAft>
                <a:spcPts val="60"/>
              </a:spcAft>
            </a:pPr>
            <a:r>
              <a:rPr sz="834" b="0" i="0">
                <a:solidFill>
                  <a:srgbClr val="E5E7EB"/>
                </a:solidFill>
                <a:latin typeface="Consolas"/>
              </a:rPr>
              <a:t>name = input("Input file name: ").strip()</a:t>
            </a:r>
          </a:p>
          <a:p>
            <a:pPr>
              <a:lnSpc>
                <a:spcPct val="100000"/>
              </a:lnSpc>
              <a:spcBef>
                <a:spcPts val="0"/>
              </a:spcBef>
              <a:spcAft>
                <a:spcPts val="60"/>
              </a:spcAft>
            </a:pPr>
            <a:r>
              <a:rPr sz="834" b="0" i="0">
                <a:solidFill>
                  <a:srgbClr val="E5E7EB"/>
                </a:solidFill>
                <a:latin typeface="Consolas"/>
              </a:rPr>
              <a:t>try:</a:t>
            </a:r>
          </a:p>
          <a:p>
            <a:pPr>
              <a:lnSpc>
                <a:spcPct val="100000"/>
              </a:lnSpc>
              <a:spcBef>
                <a:spcPts val="0"/>
              </a:spcBef>
              <a:spcAft>
                <a:spcPts val="60"/>
              </a:spcAft>
            </a:pPr>
            <a:r>
              <a:rPr sz="834" b="0" i="0">
                <a:solidFill>
                  <a:srgbClr val="E5E7EB"/>
                </a:solidFill>
                <a:latin typeface="Consolas"/>
              </a:rPr>
              <a:t>    with open(name) as f:</a:t>
            </a:r>
          </a:p>
          <a:p>
            <a:pPr>
              <a:lnSpc>
                <a:spcPct val="100000"/>
              </a:lnSpc>
              <a:spcBef>
                <a:spcPts val="0"/>
              </a:spcBef>
              <a:spcAft>
                <a:spcPts val="60"/>
              </a:spcAft>
            </a:pPr>
            <a:r>
              <a:rPr sz="834" b="0" i="0">
                <a:solidFill>
                  <a:srgbClr val="E5E7EB"/>
                </a:solidFill>
                <a:latin typeface="Consolas"/>
              </a:rPr>
              <a:t>        lines = [ln.strip() for ln in f.readlines() if ln.strip()]</a:t>
            </a:r>
          </a:p>
          <a:p>
            <a:pPr>
              <a:lnSpc>
                <a:spcPct val="100000"/>
              </a:lnSpc>
              <a:spcBef>
                <a:spcPts val="0"/>
              </a:spcBef>
              <a:spcAft>
                <a:spcPts val="60"/>
              </a:spcAft>
            </a:pPr>
            <a:r>
              <a:rPr sz="834" b="0" i="0">
                <a:solidFill>
                  <a:srgbClr val="E5E7EB"/>
                </a:solidFill>
                <a:latin typeface="Consolas"/>
              </a:rPr>
              <a:t>except FileNotFoundError:</a:t>
            </a:r>
          </a:p>
          <a:p>
            <a:pPr>
              <a:lnSpc>
                <a:spcPct val="100000"/>
              </a:lnSpc>
              <a:spcBef>
                <a:spcPts val="0"/>
              </a:spcBef>
              <a:spcAft>
                <a:spcPts val="60"/>
              </a:spcAft>
            </a:pPr>
            <a:r>
              <a:rPr sz="834" b="0" i="0">
                <a:solidFill>
                  <a:srgbClr val="E5E7EB"/>
                </a:solidFill>
                <a:latin typeface="Consolas"/>
              </a:rPr>
              <a:t>    print(f"'{name}' not found -- create it and retry.")</a:t>
            </a:r>
          </a:p>
          <a:p>
            <a:pPr>
              <a:lnSpc>
                <a:spcPct val="100000"/>
              </a:lnSpc>
              <a:spcBef>
                <a:spcPts val="0"/>
              </a:spcBef>
              <a:spcAft>
                <a:spcPts val="60"/>
              </a:spcAft>
            </a:pPr>
            <a:r>
              <a:rPr sz="834" b="0" i="0">
                <a:solidFill>
                  <a:srgbClr val="E5E7EB"/>
                </a:solidFill>
                <a:latin typeface="Consolas"/>
              </a:rPr>
              <a:t>    raise SystemExit</a:t>
            </a:r>
          </a:p>
          <a:p>
            <a:pPr>
              <a:lnSpc>
                <a:spcPct val="100000"/>
              </a:lnSpc>
              <a:spcBef>
                <a:spcPts val="0"/>
              </a:spcBef>
              <a:spcAft>
                <a:spcPts val="60"/>
              </a:spcAft>
            </a:pPr>
            <a:r>
              <a:rPr sz="834" b="0" i="0">
                <a:solidFill>
                  <a:srgbClr val="E5E7EB"/>
                </a:solidFill>
                <a:latin typeface="Consolas"/>
              </a:rPr>
              <a:t> </a:t>
            </a:r>
          </a:p>
          <a:p>
            <a:pPr>
              <a:lnSpc>
                <a:spcPct val="100000"/>
              </a:lnSpc>
              <a:spcBef>
                <a:spcPts val="0"/>
              </a:spcBef>
              <a:spcAft>
                <a:spcPts val="60"/>
              </a:spcAft>
            </a:pPr>
            <a:r>
              <a:rPr sz="834" b="0" i="0">
                <a:solidFill>
                  <a:srgbClr val="E5E7EB"/>
                </a:solidFill>
                <a:latin typeface="Consolas"/>
              </a:rPr>
              <a:t>lines.sort()</a:t>
            </a:r>
          </a:p>
          <a:p>
            <a:pPr>
              <a:lnSpc>
                <a:spcPct val="100000"/>
              </a:lnSpc>
              <a:spcBef>
                <a:spcPts val="0"/>
              </a:spcBef>
              <a:spcAft>
                <a:spcPts val="60"/>
              </a:spcAft>
            </a:pPr>
            <a:r>
              <a:rPr sz="834" b="0" i="0">
                <a:solidFill>
                  <a:srgbClr val="E5E7EB"/>
                </a:solidFill>
                <a:latin typeface="Consolas"/>
              </a:rPr>
              <a:t>out = os.path.join(os.path.dirname(name) or ".", "sorted_" + os.path.basename(name))</a:t>
            </a:r>
          </a:p>
          <a:p>
            <a:pPr>
              <a:lnSpc>
                <a:spcPct val="100000"/>
              </a:lnSpc>
              <a:spcBef>
                <a:spcPts val="0"/>
              </a:spcBef>
              <a:spcAft>
                <a:spcPts val="60"/>
              </a:spcAft>
            </a:pPr>
            <a:r>
              <a:rPr sz="834" b="0" i="0">
                <a:solidFill>
                  <a:srgbClr val="E5E7EB"/>
                </a:solidFill>
                <a:latin typeface="Consolas"/>
              </a:rPr>
              <a:t>with open(out, "w") as f:</a:t>
            </a:r>
          </a:p>
          <a:p>
            <a:pPr>
              <a:lnSpc>
                <a:spcPct val="100000"/>
              </a:lnSpc>
              <a:spcBef>
                <a:spcPts val="0"/>
              </a:spcBef>
              <a:spcAft>
                <a:spcPts val="60"/>
              </a:spcAft>
            </a:pPr>
            <a:r>
              <a:rPr sz="834" b="0" i="0">
                <a:solidFill>
                  <a:srgbClr val="E5E7EB"/>
                </a:solidFill>
                <a:latin typeface="Consolas"/>
              </a:rPr>
              <a:t>    for ln in lines:</a:t>
            </a:r>
          </a:p>
          <a:p>
            <a:pPr>
              <a:lnSpc>
                <a:spcPct val="100000"/>
              </a:lnSpc>
              <a:spcBef>
                <a:spcPts val="0"/>
              </a:spcBef>
              <a:spcAft>
                <a:spcPts val="60"/>
              </a:spcAft>
            </a:pPr>
            <a:r>
              <a:rPr sz="834" b="0" i="0">
                <a:solidFill>
                  <a:srgbClr val="E5E7EB"/>
                </a:solidFill>
                <a:latin typeface="Consolas"/>
              </a:rPr>
              <a:t>        f.write(ln + "\n")</a:t>
            </a:r>
          </a:p>
          <a:p>
            <a:pPr>
              <a:lnSpc>
                <a:spcPct val="100000"/>
              </a:lnSpc>
              <a:spcBef>
                <a:spcPts val="0"/>
              </a:spcBef>
              <a:spcAft>
                <a:spcPts val="60"/>
              </a:spcAft>
            </a:pPr>
            <a:r>
              <a:rPr sz="834" b="0" i="0">
                <a:solidFill>
                  <a:srgbClr val="E5E7EB"/>
                </a:solidFill>
                <a:latin typeface="Consolas"/>
              </a:rPr>
              <a:t> </a:t>
            </a:r>
          </a:p>
          <a:p>
            <a:pPr>
              <a:lnSpc>
                <a:spcPct val="100000"/>
              </a:lnSpc>
              <a:spcBef>
                <a:spcPts val="0"/>
              </a:spcBef>
              <a:spcAft>
                <a:spcPts val="60"/>
              </a:spcAft>
            </a:pPr>
            <a:r>
              <a:rPr sz="834" b="0" i="0">
                <a:solidFill>
                  <a:srgbClr val="E5E7EB"/>
                </a:solidFill>
                <a:latin typeface="Consolas"/>
              </a:rPr>
              <a:t>print(f"Read {len(lines)} non-blank line(s) from {name}.")</a:t>
            </a:r>
          </a:p>
          <a:p>
            <a:pPr>
              <a:lnSpc>
                <a:spcPct val="100000"/>
              </a:lnSpc>
              <a:spcBef>
                <a:spcPts val="0"/>
              </a:spcBef>
              <a:spcAft>
                <a:spcPts val="60"/>
              </a:spcAft>
            </a:pPr>
            <a:r>
              <a:rPr sz="834" b="0" i="0">
                <a:solidFill>
                  <a:srgbClr val="E5E7EB"/>
                </a:solidFill>
                <a:latin typeface="Consolas"/>
              </a:rPr>
              <a:t>print(f"Sorted content written to {out}:")</a:t>
            </a:r>
          </a:p>
          <a:p>
            <a:pPr>
              <a:lnSpc>
                <a:spcPct val="100000"/>
              </a:lnSpc>
              <a:spcBef>
                <a:spcPts val="0"/>
              </a:spcBef>
              <a:spcAft>
                <a:spcPts val="60"/>
              </a:spcAft>
            </a:pPr>
            <a:r>
              <a:rPr sz="834" b="0" i="0">
                <a:solidFill>
                  <a:srgbClr val="E5E7EB"/>
                </a:solidFill>
                <a:latin typeface="Consolas"/>
              </a:rPr>
              <a:t>for ln in lines:</a:t>
            </a:r>
          </a:p>
          <a:p>
            <a:pPr>
              <a:lnSpc>
                <a:spcPct val="100000"/>
              </a:lnSpc>
              <a:spcBef>
                <a:spcPts val="0"/>
              </a:spcBef>
              <a:spcAft>
                <a:spcPts val="60"/>
              </a:spcAft>
            </a:pPr>
            <a:r>
              <a:rPr sz="834" b="0" i="0">
                <a:solidFill>
                  <a:srgbClr val="E5E7EB"/>
                </a:solidFill>
                <a:latin typeface="Consolas"/>
              </a:rPr>
              <a:t>    print("    ", ln)</a:t>
            </a:r>
          </a:p>
        </p:txBody>
      </p:sp>
      <p:sp>
        <p:nvSpPr>
          <p:cNvPr id="12" name="Rectangle 11"/>
          <p:cNvSpPr/>
          <p:nvPr/>
        </p:nvSpPr>
        <p:spPr>
          <a:xfrm>
            <a:off x="6537960" y="1572768"/>
            <a:ext cx="516636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06 run 1</a:t>
            </a:r>
          </a:p>
        </p:txBody>
      </p:sp>
      <p:sp>
        <p:nvSpPr>
          <p:cNvPr id="14" name="TextBox 13"/>
          <p:cNvSpPr txBox="1"/>
          <p:nvPr/>
        </p:nvSpPr>
        <p:spPr>
          <a:xfrm>
            <a:off x="6684264" y="1938528"/>
            <a:ext cx="4892040" cy="4343400"/>
          </a:xfrm>
          <a:prstGeom prst="rect">
            <a:avLst/>
          </a:prstGeom>
          <a:noFill/>
        </p:spPr>
        <p:txBody>
          <a:bodyPr wrap="none" anchor="t" lIns="0" rIns="0" tIns="0" bIns="0">
            <a:spAutoFit/>
          </a:bodyPr>
          <a:lstStyle/>
          <a:p>
            <a:pPr>
              <a:lnSpc>
                <a:spcPct val="100000"/>
              </a:lnSpc>
              <a:spcBef>
                <a:spcPts val="0"/>
              </a:spcBef>
              <a:spcAft>
                <a:spcPts val="60"/>
              </a:spcAft>
            </a:pPr>
            <a:r>
              <a:rPr sz="1223" b="0" i="0">
                <a:solidFill>
                  <a:srgbClr val="14171C"/>
                </a:solidFill>
                <a:latin typeface="Consolas"/>
              </a:rPr>
              <a:t>Input file name: ../data/lines.txt</a:t>
            </a:r>
          </a:p>
          <a:p>
            <a:pPr>
              <a:lnSpc>
                <a:spcPct val="100000"/>
              </a:lnSpc>
              <a:spcBef>
                <a:spcPts val="0"/>
              </a:spcBef>
              <a:spcAft>
                <a:spcPts val="60"/>
              </a:spcAft>
            </a:pPr>
            <a:r>
              <a:rPr sz="1223" b="0" i="0">
                <a:solidFill>
                  <a:srgbClr val="14171C"/>
                </a:solidFill>
                <a:latin typeface="Consolas"/>
              </a:rPr>
              <a:t>Read 6 non-blank line(s) from ../data/lines.txt.</a:t>
            </a:r>
          </a:p>
          <a:p>
            <a:pPr>
              <a:lnSpc>
                <a:spcPct val="100000"/>
              </a:lnSpc>
              <a:spcBef>
                <a:spcPts val="0"/>
              </a:spcBef>
              <a:spcAft>
                <a:spcPts val="60"/>
              </a:spcAft>
            </a:pPr>
            <a:r>
              <a:rPr sz="1223" b="0" i="0">
                <a:solidFill>
                  <a:srgbClr val="14171C"/>
                </a:solidFill>
                <a:latin typeface="Consolas"/>
              </a:rPr>
              <a:t>Sorted content written to ../data/sorted_lines.txt:</a:t>
            </a:r>
          </a:p>
          <a:p>
            <a:pPr>
              <a:lnSpc>
                <a:spcPct val="100000"/>
              </a:lnSpc>
              <a:spcBef>
                <a:spcPts val="0"/>
              </a:spcBef>
              <a:spcAft>
                <a:spcPts val="60"/>
              </a:spcAft>
            </a:pPr>
            <a:r>
              <a:rPr sz="1223" b="0" i="0">
                <a:solidFill>
                  <a:srgbClr val="14171C"/>
                </a:solidFill>
                <a:latin typeface="Consolas"/>
              </a:rPr>
              <a:t>     apple pie</a:t>
            </a:r>
          </a:p>
          <a:p>
            <a:pPr>
              <a:lnSpc>
                <a:spcPct val="100000"/>
              </a:lnSpc>
              <a:spcBef>
                <a:spcPts val="0"/>
              </a:spcBef>
              <a:spcAft>
                <a:spcPts val="60"/>
              </a:spcAft>
            </a:pPr>
            <a:r>
              <a:rPr sz="1223" b="0" i="0">
                <a:solidFill>
                  <a:srgbClr val="14171C"/>
                </a:solidFill>
                <a:latin typeface="Consolas"/>
              </a:rPr>
              <a:t>     banana foster</a:t>
            </a:r>
          </a:p>
          <a:p>
            <a:pPr>
              <a:lnSpc>
                <a:spcPct val="100000"/>
              </a:lnSpc>
              <a:spcBef>
                <a:spcPts val="0"/>
              </a:spcBef>
              <a:spcAft>
                <a:spcPts val="60"/>
              </a:spcAft>
            </a:pPr>
            <a:r>
              <a:rPr sz="1223" b="0" i="0">
                <a:solidFill>
                  <a:srgbClr val="14171C"/>
                </a:solidFill>
                <a:latin typeface="Consolas"/>
              </a:rPr>
              <a:t>     cherry tart</a:t>
            </a:r>
          </a:p>
          <a:p>
            <a:pPr>
              <a:lnSpc>
                <a:spcPct val="100000"/>
              </a:lnSpc>
              <a:spcBef>
                <a:spcPts val="0"/>
              </a:spcBef>
              <a:spcAft>
                <a:spcPts val="60"/>
              </a:spcAft>
            </a:pPr>
            <a:r>
              <a:rPr sz="1223" b="0" i="0">
                <a:solidFill>
                  <a:srgbClr val="14171C"/>
                </a:solidFill>
                <a:latin typeface="Consolas"/>
              </a:rPr>
              <a:t>     date Rolls</a:t>
            </a:r>
          </a:p>
          <a:p>
            <a:pPr>
              <a:lnSpc>
                <a:spcPct val="100000"/>
              </a:lnSpc>
              <a:spcBef>
                <a:spcPts val="0"/>
              </a:spcBef>
              <a:spcAft>
                <a:spcPts val="60"/>
              </a:spcAft>
            </a:pPr>
            <a:r>
              <a:rPr sz="1223" b="0" i="0">
                <a:solidFill>
                  <a:srgbClr val="14171C"/>
                </a:solidFill>
                <a:latin typeface="Consolas"/>
              </a:rPr>
              <a:t>     elder cake</a:t>
            </a:r>
          </a:p>
          <a:p>
            <a:pPr>
              <a:lnSpc>
                <a:spcPct val="100000"/>
              </a:lnSpc>
              <a:spcBef>
                <a:spcPts val="0"/>
              </a:spcBef>
              <a:spcAft>
                <a:spcPts val="60"/>
              </a:spcAft>
            </a:pPr>
            <a:r>
              <a:rPr sz="1223" b="0" i="0">
                <a:solidFill>
                  <a:srgbClr val="14171C"/>
                </a:solidFill>
                <a:latin typeface="Consolas"/>
              </a:rPr>
              <a:t>     guava jam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6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57</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Six non-blank lines read, six sorted and written to sorted_lines.txt beside the original (path built with os.path so any input directory works). If the input file is missing the program prints a message and exits — FileNotFoundError is caught, not raised to the screen.</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not just text.splitlines() then sort? What does the hint force you to demonstrate?</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What does the file look like if you forget + '\n' in the write loop?</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lines.sort() returns None — how would you have gotten the sorted list differently?</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Where in this program is the one risk of overwriting data, and why is it safe here?</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(Q3) — </a:t>
            </a:r>
            <a:r>
              <a:rPr sz="1200" b="0" i="0">
                <a:solidFill>
                  <a:srgbClr val="16181D"/>
                </a:solidFill>
                <a:latin typeface="Calibri"/>
              </a:rPr>
              <a:t>None — it is an in-place modifier. The pure alternative is sorted(lines), which returns a new list; the record says so when it names which style the program uses.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7 — DivExp with an Assertion and a Raised Exception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58</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CO1 + CO5</a:t>
            </a:r>
            <a:r>
              <a:rPr sz="1250" b="0" i="0">
                <a:solidFill>
                  <a:srgbClr val="4B5563"/>
                </a:solidFill>
                <a:latin typeface="Calibri"/>
              </a:rPr>
              <a:t>    assert as contract, raise with a diagnostic message, try/except with named exception classes, clean caller design.</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7. Develop a function named DivExp which takes TWO parameters a, b, and returns a value c (c=a/b). Write a suitable assertion for a&gt;0 in the function DivExp and raise an exception for when b=0. Develop a suitable program that reads two console values and calls the function DivExp.</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onsolas"/>
              </a:rPr>
              <a:t>assert a &gt; 0, "assertion failed: a must be positive"</a:t>
            </a:r>
            <a:r>
              <a:rPr sz="1250" b="0" i="0">
                <a:solidFill>
                  <a:srgbClr val="16181D"/>
                </a:solidFill>
                <a:latin typeface="Calibri"/>
              </a:rPr>
              <a:t>— the assertion line is written exactly as the question demands, with the message the record can quote.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b==0 is a</a:t>
            </a:r>
            <a:r>
              <a:rPr sz="1250" b="0" i="0">
                <a:solidFill>
                  <a:srgbClr val="16181D"/>
                </a:solidFill>
                <a:latin typeface="Calibri"/>
              </a:rPr>
              <a:t>em&gt;legitimate</a:t>
            </a:r>
            <a:r>
              <a:rPr sz="1250" b="0" i="0">
                <a:solidFill>
                  <a:srgbClr val="16181D"/>
                </a:solidFill>
                <a:latin typeface="Calibri"/>
              </a:rPr>
              <a:t>/em&gt; caller error, not a program bug:</a:t>
            </a:r>
            <a:r>
              <a:rPr sz="1250" b="0" i="0">
                <a:solidFill>
                  <a:srgbClr val="16181D"/>
                </a:solidFill>
                <a:latin typeface="Calibri"/>
              </a:rPr>
              <a:t>code&gt;raise ZeroDivisionError("DivExp refuses b = 0")</a:t>
            </a:r>
            <a:r>
              <a:rPr sz="1250" b="0" i="0">
                <a:solidFill>
                  <a:srgbClr val="16181D"/>
                </a:solidFill>
                <a:latin typeface="Calibri"/>
              </a:rPr>
              <a:t>/code&gt; hands the caller a named, caught path.</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The caller prints c on success and the exception name + message on failure — three runs, three outcomes, all in the transcript.</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lab07.py</a:t>
            </a:r>
            <a:r>
              <a:rPr sz="1250" b="0" i="0">
                <a:solidFill>
                  <a:srgbClr val="16181D"/>
                </a:solidFill>
                <a:latin typeface="Calibri"/>
              </a:rPr>
              <a:t>  —  guarded division</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7 — lab07.py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59</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lab07.py  ·  3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35" b="0" i="0">
                <a:solidFill>
                  <a:srgbClr val="E5E7EB"/>
                </a:solidFill>
                <a:latin typeface="Consolas"/>
              </a:rPr>
              <a:t># Lab 7 -- DivExp(a, b) with assertion a &gt; 0 and a raised error when b == 0</a:t>
            </a:r>
          </a:p>
          <a:p>
            <a:pPr>
              <a:lnSpc>
                <a:spcPct val="100000"/>
              </a:lnSpc>
              <a:spcBef>
                <a:spcPts val="0"/>
              </a:spcBef>
              <a:spcAft>
                <a:spcPts val="60"/>
              </a:spcAft>
            </a:pPr>
            <a:r>
              <a:rPr sz="935" b="0" i="0">
                <a:solidFill>
                  <a:srgbClr val="E5E7EB"/>
                </a:solidFill>
                <a:latin typeface="Consolas"/>
              </a:rPr>
              <a:t># Run   : python3 lab07.py</a:t>
            </a:r>
          </a:p>
          <a:p>
            <a:pPr>
              <a:lnSpc>
                <a:spcPct val="100000"/>
              </a:lnSpc>
              <a:spcBef>
                <a:spcPts val="0"/>
              </a:spcBef>
              <a:spcAft>
                <a:spcPts val="60"/>
              </a:spcAft>
            </a:pPr>
            <a:r>
              <a:rPr sz="935" b="0" i="0">
                <a:solidFill>
                  <a:srgbClr val="E5E7EB"/>
                </a:solidFill>
                <a:latin typeface="Consolas"/>
              </a:rPr>
              <a:t>def DivExp(a, b):</a:t>
            </a:r>
          </a:p>
          <a:p>
            <a:pPr>
              <a:lnSpc>
                <a:spcPct val="100000"/>
              </a:lnSpc>
              <a:spcBef>
                <a:spcPts val="0"/>
              </a:spcBef>
              <a:spcAft>
                <a:spcPts val="60"/>
              </a:spcAft>
            </a:pPr>
            <a:r>
              <a:rPr sz="935" b="0" i="0">
                <a:solidFill>
                  <a:srgbClr val="E5E7EB"/>
                </a:solidFill>
                <a:latin typeface="Consolas"/>
              </a:rPr>
              <a:t>    assert a &gt; 0, "assertion failed: a must be positive"</a:t>
            </a:r>
          </a:p>
          <a:p>
            <a:pPr>
              <a:lnSpc>
                <a:spcPct val="100000"/>
              </a:lnSpc>
              <a:spcBef>
                <a:spcPts val="0"/>
              </a:spcBef>
              <a:spcAft>
                <a:spcPts val="60"/>
              </a:spcAft>
            </a:pPr>
            <a:r>
              <a:rPr sz="935" b="0" i="0">
                <a:solidFill>
                  <a:srgbClr val="E5E7EB"/>
                </a:solidFill>
                <a:latin typeface="Consolas"/>
              </a:rPr>
              <a:t>    if b == 0:</a:t>
            </a:r>
          </a:p>
          <a:p>
            <a:pPr>
              <a:lnSpc>
                <a:spcPct val="100000"/>
              </a:lnSpc>
              <a:spcBef>
                <a:spcPts val="0"/>
              </a:spcBef>
              <a:spcAft>
                <a:spcPts val="60"/>
              </a:spcAft>
            </a:pPr>
            <a:r>
              <a:rPr sz="935" b="0" i="0">
                <a:solidFill>
                  <a:srgbClr val="E5E7EB"/>
                </a:solidFill>
                <a:latin typeface="Consolas"/>
              </a:rPr>
              <a:t>        raise ZeroDivisionError("DivExp refuses b = 0")</a:t>
            </a:r>
          </a:p>
          <a:p>
            <a:pPr>
              <a:lnSpc>
                <a:spcPct val="100000"/>
              </a:lnSpc>
              <a:spcBef>
                <a:spcPts val="0"/>
              </a:spcBef>
              <a:spcAft>
                <a:spcPts val="60"/>
              </a:spcAft>
            </a:pPr>
            <a:r>
              <a:rPr sz="935" b="0" i="0">
                <a:solidFill>
                  <a:srgbClr val="E5E7EB"/>
                </a:solidFill>
                <a:latin typeface="Consolas"/>
              </a:rPr>
              <a:t>    return a / b</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a = float(input("Enter value of a: "))</a:t>
            </a:r>
          </a:p>
          <a:p>
            <a:pPr>
              <a:lnSpc>
                <a:spcPct val="100000"/>
              </a:lnSpc>
              <a:spcBef>
                <a:spcPts val="0"/>
              </a:spcBef>
              <a:spcAft>
                <a:spcPts val="60"/>
              </a:spcAft>
            </a:pPr>
            <a:r>
              <a:rPr sz="935" b="0" i="0">
                <a:solidFill>
                  <a:srgbClr val="E5E7EB"/>
                </a:solidFill>
                <a:latin typeface="Consolas"/>
              </a:rPr>
              <a:t>b = float(input("Enter value of b: "))</a:t>
            </a:r>
          </a:p>
          <a:p>
            <a:pPr>
              <a:lnSpc>
                <a:spcPct val="100000"/>
              </a:lnSpc>
              <a:spcBef>
                <a:spcPts val="0"/>
              </a:spcBef>
              <a:spcAft>
                <a:spcPts val="60"/>
              </a:spcAft>
            </a:pPr>
            <a:r>
              <a:rPr sz="935" b="0" i="0">
                <a:solidFill>
                  <a:srgbClr val="E5E7EB"/>
                </a:solidFill>
                <a:latin typeface="Consolas"/>
              </a:rPr>
              <a:t>try:</a:t>
            </a:r>
          </a:p>
          <a:p>
            <a:pPr>
              <a:lnSpc>
                <a:spcPct val="100000"/>
              </a:lnSpc>
              <a:spcBef>
                <a:spcPts val="0"/>
              </a:spcBef>
              <a:spcAft>
                <a:spcPts val="60"/>
              </a:spcAft>
            </a:pPr>
            <a:r>
              <a:rPr sz="935" b="0" i="0">
                <a:solidFill>
                  <a:srgbClr val="E5E7EB"/>
                </a:solidFill>
                <a:latin typeface="Consolas"/>
              </a:rPr>
              <a:t>    c = DivExp(a, b)</a:t>
            </a:r>
          </a:p>
          <a:p>
            <a:pPr>
              <a:lnSpc>
                <a:spcPct val="100000"/>
              </a:lnSpc>
              <a:spcBef>
                <a:spcPts val="0"/>
              </a:spcBef>
              <a:spcAft>
                <a:spcPts val="60"/>
              </a:spcAft>
            </a:pPr>
            <a:r>
              <a:rPr sz="935" b="0" i="0">
                <a:solidFill>
                  <a:srgbClr val="E5E7EB"/>
                </a:solidFill>
                <a:latin typeface="Consolas"/>
              </a:rPr>
              <a:t>    print(f"c = a / b = {c:g}")</a:t>
            </a:r>
          </a:p>
          <a:p>
            <a:pPr>
              <a:lnSpc>
                <a:spcPct val="100000"/>
              </a:lnSpc>
              <a:spcBef>
                <a:spcPts val="0"/>
              </a:spcBef>
              <a:spcAft>
                <a:spcPts val="60"/>
              </a:spcAft>
            </a:pPr>
            <a:r>
              <a:rPr sz="935" b="0" i="0">
                <a:solidFill>
                  <a:srgbClr val="E5E7EB"/>
                </a:solidFill>
                <a:latin typeface="Consolas"/>
              </a:rPr>
              <a:t>except AssertionError as e:</a:t>
            </a:r>
          </a:p>
          <a:p>
            <a:pPr>
              <a:lnSpc>
                <a:spcPct val="100000"/>
              </a:lnSpc>
              <a:spcBef>
                <a:spcPts val="0"/>
              </a:spcBef>
              <a:spcAft>
                <a:spcPts val="60"/>
              </a:spcAft>
            </a:pPr>
            <a:r>
              <a:rPr sz="935" b="0" i="0">
                <a:solidFill>
                  <a:srgbClr val="E5E7EB"/>
                </a:solidFill>
                <a:latin typeface="Consolas"/>
              </a:rPr>
              <a:t>    print("AssertionError:", e)</a:t>
            </a:r>
          </a:p>
          <a:p>
            <a:pPr>
              <a:lnSpc>
                <a:spcPct val="100000"/>
              </a:lnSpc>
              <a:spcBef>
                <a:spcPts val="0"/>
              </a:spcBef>
              <a:spcAft>
                <a:spcPts val="60"/>
              </a:spcAft>
            </a:pPr>
            <a:r>
              <a:rPr sz="935" b="0" i="0">
                <a:solidFill>
                  <a:srgbClr val="E5E7EB"/>
                </a:solidFill>
                <a:latin typeface="Consolas"/>
              </a:rPr>
              <a:t>except ZeroDivisionError as e:</a:t>
            </a:r>
          </a:p>
          <a:p>
            <a:pPr>
              <a:lnSpc>
                <a:spcPct val="100000"/>
              </a:lnSpc>
              <a:spcBef>
                <a:spcPts val="0"/>
              </a:spcBef>
              <a:spcAft>
                <a:spcPts val="60"/>
              </a:spcAft>
            </a:pPr>
            <a:r>
              <a:rPr sz="935" b="0" i="0">
                <a:solidFill>
                  <a:srgbClr val="E5E7EB"/>
                </a:solidFill>
                <a:latin typeface="Consolas"/>
              </a:rPr>
              <a:t>    print("ZeroDivisionError:", e)</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07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value of a: 12</a:t>
            </a:r>
          </a:p>
          <a:p>
            <a:pPr>
              <a:lnSpc>
                <a:spcPct val="100000"/>
              </a:lnSpc>
              <a:spcBef>
                <a:spcPts val="0"/>
              </a:spcBef>
              <a:spcAft>
                <a:spcPts val="60"/>
              </a:spcAft>
            </a:pPr>
            <a:r>
              <a:rPr sz="1250" b="0" i="0">
                <a:solidFill>
                  <a:srgbClr val="14171C"/>
                </a:solidFill>
                <a:latin typeface="Consolas"/>
              </a:rPr>
              <a:t>Enter value of b: 4</a:t>
            </a:r>
          </a:p>
          <a:p>
            <a:pPr>
              <a:lnSpc>
                <a:spcPct val="100000"/>
              </a:lnSpc>
              <a:spcBef>
                <a:spcPts val="0"/>
              </a:spcBef>
              <a:spcAft>
                <a:spcPts val="60"/>
              </a:spcAft>
            </a:pPr>
            <a:r>
              <a:rPr sz="1250" b="0" i="0">
                <a:solidFill>
                  <a:srgbClr val="14171C"/>
                </a:solidFill>
                <a:latin typeface="Consolas"/>
              </a:rPr>
              <a:t>c = a / b = 3</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lab07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Enter value of a: 12</a:t>
            </a:r>
          </a:p>
          <a:p>
            <a:pPr>
              <a:lnSpc>
                <a:spcPct val="100000"/>
              </a:lnSpc>
              <a:spcBef>
                <a:spcPts val="0"/>
              </a:spcBef>
              <a:spcAft>
                <a:spcPts val="60"/>
              </a:spcAft>
            </a:pPr>
            <a:r>
              <a:rPr sz="1250" b="0" i="0">
                <a:solidFill>
                  <a:srgbClr val="14171C"/>
                </a:solidFill>
                <a:latin typeface="Consolas"/>
              </a:rPr>
              <a:t>Enter value of b: 0</a:t>
            </a:r>
          </a:p>
          <a:p>
            <a:pPr>
              <a:lnSpc>
                <a:spcPct val="100000"/>
              </a:lnSpc>
              <a:spcBef>
                <a:spcPts val="0"/>
              </a:spcBef>
              <a:spcAft>
                <a:spcPts val="60"/>
              </a:spcAft>
            </a:pPr>
            <a:r>
              <a:rPr sz="1250" b="0" i="0">
                <a:solidFill>
                  <a:srgbClr val="14171C"/>
                </a:solidFill>
                <a:latin typeface="Consolas"/>
              </a:rPr>
              <a:t>ZeroDivisionError: DivExp refuses b = 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7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60</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Which guard fires is decided by order: the assertion evaluates first, so Run 3 never reaches the b-check. The caught message is the program’s diagnosis verbatim — “DivExp refuses b = 0” versus “assertion failed: a must be positive” — and the two names, ZeroDivisionError and AssertionError, are what a viva asks you to distinguish. No traceback reaches the screen; the except arms convert both into printed, gradeable lines.</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raise instead of return None for b = 0 in this design?</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Assertion vs exception — which one is for programmer contracts and which for caller input? Justify from the transcript.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What line ends the program if the except clause were missing? Sketch the traceback.</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Where does the assert message go in the output, and which exception type prefixes it?</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None is a value the caller can forget to check — the division would keep flowing with a poison payload. Raising makes ignoring the error impossible and names it; the caller above prints a diagnosis instead of garbage.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8 — Complex Numbers as Objects — Summing N with a Pure Adder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61</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CO5</a:t>
            </a:r>
            <a:r>
              <a:rPr sz="1250" b="0" i="0">
                <a:solidFill>
                  <a:srgbClr val="4B5563"/>
                </a:solidFill>
                <a:latin typeface="Calibri"/>
              </a:rPr>
              <a:t>    class/instance discipline, __str__ for display, pure function returning new objects, fold pattern, input loop with validation.</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8. Define a function that takes TWO objects representing complex numbers and returns a new complex number with the sum of two complex numbers. Define a suitable class ‘Complex’ to represent the complex number. Develop a program to read N (N &gt;=2) complex numbers and to compute the addition of N complex numbers.</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onsolas"/>
              </a:rPr>
              <a:t>Complex(real, imag)</a:t>
            </a:r>
            <a:r>
              <a:rPr sz="1250" b="0" i="0">
                <a:solidFill>
                  <a:srgbClr val="16181D"/>
                </a:solidFill>
                <a:latin typeface="Calibri"/>
              </a:rPr>
              <a:t>with an initialiser defaulting to 0 — one class, four lines, full state.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onsolas"/>
              </a:rPr>
              <a:t>add_complex(x, y)</a:t>
            </a:r>
            <a:r>
              <a:rPr sz="1250" b="0" i="0">
                <a:solidFill>
                  <a:srgbClr val="16181D"/>
                </a:solidFill>
                <a:latin typeface="Calibri"/>
              </a:rPr>
              <a:t>returns</a:t>
            </a:r>
            <a:r>
              <a:rPr sz="1250" b="1" i="0">
                <a:solidFill>
                  <a:srgbClr val="16181D"/>
                </a:solidFill>
                <a:latin typeface="Calibri"/>
              </a:rPr>
              <a:t>Complex(x.real+y.real, x.imag+y.imag)</a:t>
            </a:r>
            <a:r>
              <a:rPr sz="1250" b="0" i="0">
                <a:solidFill>
                  <a:srgbClr val="16181D"/>
                </a:solidFill>
                <a:latin typeface="Calibri"/>
              </a:rPr>
              <a:t>— a new object, neither argument mutated: the question says “returns a new complex number” and the program obeys it literally.</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Display via</a:t>
            </a:r>
            <a:r>
              <a:rPr sz="1250" b="0" i="0">
                <a:solidFill>
                  <a:srgbClr val="16181D"/>
                </a:solidFill>
                <a:latin typeface="Consolas"/>
              </a:rPr>
              <a:t>__str__</a:t>
            </a:r>
            <a:r>
              <a:rPr sz="1250" b="0" i="0">
                <a:solidFill>
                  <a:srgbClr val="16181D"/>
                </a:solidFill>
                <a:latin typeface="Calibri"/>
              </a:rPr>
              <a:t>: sign chosen from the imaginary part, absolute value printed, so 3−4i renders correctly — the format work is one method, once, not six inline prints.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The sum of N: start with numbers[0], fold over the rest with the pair function; N&lt;2 exits with a message.</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lab08.py</a:t>
            </a:r>
            <a:r>
              <a:rPr sz="1250" b="0" i="0">
                <a:solidFill>
                  <a:srgbClr val="16181D"/>
                </a:solidFill>
                <a:latin typeface="Calibri"/>
              </a:rPr>
              <a:t>  —  complex sum</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8 — lab08.py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62</a:t>
            </a:r>
          </a:p>
        </p:txBody>
      </p:sp>
      <p:sp>
        <p:nvSpPr>
          <p:cNvPr id="8" name="Rectangle 7"/>
          <p:cNvSpPr/>
          <p:nvPr/>
        </p:nvSpPr>
        <p:spPr>
          <a:xfrm>
            <a:off x="411480" y="1572768"/>
            <a:ext cx="708660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7086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23060"/>
            <a:ext cx="6793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lab08.py  ·  2 captured run(s)</a:t>
            </a:r>
          </a:p>
        </p:txBody>
      </p:sp>
      <p:sp>
        <p:nvSpPr>
          <p:cNvPr id="11" name="TextBox 10"/>
          <p:cNvSpPr txBox="1"/>
          <p:nvPr/>
        </p:nvSpPr>
        <p:spPr>
          <a:xfrm>
            <a:off x="576072" y="1975104"/>
            <a:ext cx="6775704" cy="4325112"/>
          </a:xfrm>
          <a:prstGeom prst="rect">
            <a:avLst/>
          </a:prstGeom>
          <a:noFill/>
        </p:spPr>
        <p:txBody>
          <a:bodyPr wrap="none" anchor="t" lIns="0" rIns="0" tIns="0" bIns="0">
            <a:spAutoFit/>
          </a:bodyPr>
          <a:lstStyle/>
          <a:p>
            <a:pPr>
              <a:lnSpc>
                <a:spcPct val="100000"/>
              </a:lnSpc>
              <a:spcBef>
                <a:spcPts val="0"/>
              </a:spcBef>
              <a:spcAft>
                <a:spcPts val="60"/>
              </a:spcAft>
            </a:pPr>
            <a:r>
              <a:rPr sz="873" b="0" i="0">
                <a:solidFill>
                  <a:srgbClr val="E5E7EB"/>
                </a:solidFill>
                <a:latin typeface="Consolas"/>
              </a:rPr>
              <a:t># Lab 8 -- Complex class; sum N (N &gt;= 2) complex numbers via a function</a:t>
            </a:r>
          </a:p>
          <a:p>
            <a:pPr>
              <a:lnSpc>
                <a:spcPct val="100000"/>
              </a:lnSpc>
              <a:spcBef>
                <a:spcPts val="0"/>
              </a:spcBef>
              <a:spcAft>
                <a:spcPts val="60"/>
              </a:spcAft>
            </a:pPr>
            <a:r>
              <a:rPr sz="873" b="0" i="0">
                <a:solidFill>
                  <a:srgbClr val="E5E7EB"/>
                </a:solidFill>
                <a:latin typeface="Consolas"/>
              </a:rPr>
              <a:t># Run   : python3 lab08.py</a:t>
            </a:r>
          </a:p>
          <a:p>
            <a:pPr>
              <a:lnSpc>
                <a:spcPct val="100000"/>
              </a:lnSpc>
              <a:spcBef>
                <a:spcPts val="0"/>
              </a:spcBef>
              <a:spcAft>
                <a:spcPts val="60"/>
              </a:spcAft>
            </a:pPr>
            <a:r>
              <a:rPr sz="873" b="0" i="0">
                <a:solidFill>
                  <a:srgbClr val="E5E7EB"/>
                </a:solidFill>
                <a:latin typeface="Consolas"/>
              </a:rPr>
              <a:t>class Complex:</a:t>
            </a:r>
          </a:p>
          <a:p>
            <a:pPr>
              <a:lnSpc>
                <a:spcPct val="100000"/>
              </a:lnSpc>
              <a:spcBef>
                <a:spcPts val="0"/>
              </a:spcBef>
              <a:spcAft>
                <a:spcPts val="60"/>
              </a:spcAft>
            </a:pPr>
            <a:r>
              <a:rPr sz="873" b="0" i="0">
                <a:solidFill>
                  <a:srgbClr val="E5E7EB"/>
                </a:solidFill>
                <a:latin typeface="Consolas"/>
              </a:rPr>
              <a:t>    def __init__(self, real=0.0, imag=0.0):</a:t>
            </a:r>
          </a:p>
          <a:p>
            <a:pPr>
              <a:lnSpc>
                <a:spcPct val="100000"/>
              </a:lnSpc>
              <a:spcBef>
                <a:spcPts val="0"/>
              </a:spcBef>
              <a:spcAft>
                <a:spcPts val="60"/>
              </a:spcAft>
            </a:pPr>
            <a:r>
              <a:rPr sz="873" b="0" i="0">
                <a:solidFill>
                  <a:srgbClr val="E5E7EB"/>
                </a:solidFill>
                <a:latin typeface="Consolas"/>
              </a:rPr>
              <a:t>        self.real = real</a:t>
            </a:r>
          </a:p>
          <a:p>
            <a:pPr>
              <a:lnSpc>
                <a:spcPct val="100000"/>
              </a:lnSpc>
              <a:spcBef>
                <a:spcPts val="0"/>
              </a:spcBef>
              <a:spcAft>
                <a:spcPts val="60"/>
              </a:spcAft>
            </a:pPr>
            <a:r>
              <a:rPr sz="873" b="0" i="0">
                <a:solidFill>
                  <a:srgbClr val="E5E7EB"/>
                </a:solidFill>
                <a:latin typeface="Consolas"/>
              </a:rPr>
              <a:t>        self.imag = imag</a:t>
            </a:r>
          </a:p>
          <a:p>
            <a:pPr>
              <a:lnSpc>
                <a:spcPct val="100000"/>
              </a:lnSpc>
              <a:spcBef>
                <a:spcPts val="0"/>
              </a:spcBef>
              <a:spcAft>
                <a:spcPts val="60"/>
              </a:spcAft>
            </a:pPr>
            <a:r>
              <a:rPr sz="873" b="0" i="0">
                <a:solidFill>
                  <a:srgbClr val="E5E7EB"/>
                </a:solidFill>
                <a:latin typeface="Consolas"/>
              </a:rPr>
              <a:t>    def __str__(self):</a:t>
            </a:r>
          </a:p>
          <a:p>
            <a:pPr>
              <a:lnSpc>
                <a:spcPct val="100000"/>
              </a:lnSpc>
              <a:spcBef>
                <a:spcPts val="0"/>
              </a:spcBef>
              <a:spcAft>
                <a:spcPts val="60"/>
              </a:spcAft>
            </a:pPr>
            <a:r>
              <a:rPr sz="873" b="0" i="0">
                <a:solidFill>
                  <a:srgbClr val="E5E7EB"/>
                </a:solidFill>
                <a:latin typeface="Consolas"/>
              </a:rPr>
              <a:t>        sign = "+" if self.imag &gt;= 0 else "-"</a:t>
            </a:r>
          </a:p>
          <a:p>
            <a:pPr>
              <a:lnSpc>
                <a:spcPct val="100000"/>
              </a:lnSpc>
              <a:spcBef>
                <a:spcPts val="0"/>
              </a:spcBef>
              <a:spcAft>
                <a:spcPts val="60"/>
              </a:spcAft>
            </a:pPr>
            <a:r>
              <a:rPr sz="873" b="0" i="0">
                <a:solidFill>
                  <a:srgbClr val="E5E7EB"/>
                </a:solidFill>
                <a:latin typeface="Consolas"/>
              </a:rPr>
              <a:t>        return f"{self.real:g} {sign} {abs(self.imag):g}i"</a:t>
            </a:r>
          </a:p>
          <a:p>
            <a:pPr>
              <a:lnSpc>
                <a:spcPct val="100000"/>
              </a:lnSpc>
              <a:spcBef>
                <a:spcPts val="0"/>
              </a:spcBef>
              <a:spcAft>
                <a:spcPts val="60"/>
              </a:spcAft>
            </a:pPr>
            <a:r>
              <a:rPr sz="873" b="0" i="0">
                <a:solidFill>
                  <a:srgbClr val="E5E7EB"/>
                </a:solidFill>
                <a:latin typeface="Consolas"/>
              </a:rPr>
              <a:t> </a:t>
            </a:r>
          </a:p>
          <a:p>
            <a:pPr>
              <a:lnSpc>
                <a:spcPct val="100000"/>
              </a:lnSpc>
              <a:spcBef>
                <a:spcPts val="0"/>
              </a:spcBef>
              <a:spcAft>
                <a:spcPts val="60"/>
              </a:spcAft>
            </a:pPr>
            <a:r>
              <a:rPr sz="873" b="0" i="0">
                <a:solidFill>
                  <a:srgbClr val="E5E7EB"/>
                </a:solidFill>
                <a:latin typeface="Consolas"/>
              </a:rPr>
              <a:t>def add_complex(x, y):</a:t>
            </a:r>
          </a:p>
          <a:p>
            <a:pPr>
              <a:lnSpc>
                <a:spcPct val="100000"/>
              </a:lnSpc>
              <a:spcBef>
                <a:spcPts val="0"/>
              </a:spcBef>
              <a:spcAft>
                <a:spcPts val="60"/>
              </a:spcAft>
            </a:pPr>
            <a:r>
              <a:rPr sz="873" b="0" i="0">
                <a:solidFill>
                  <a:srgbClr val="E5E7EB"/>
                </a:solidFill>
                <a:latin typeface="Consolas"/>
              </a:rPr>
              <a:t>    """Return a NEW Complex holding the sum of x and y."""</a:t>
            </a:r>
          </a:p>
          <a:p>
            <a:pPr>
              <a:lnSpc>
                <a:spcPct val="100000"/>
              </a:lnSpc>
              <a:spcBef>
                <a:spcPts val="0"/>
              </a:spcBef>
              <a:spcAft>
                <a:spcPts val="60"/>
              </a:spcAft>
            </a:pPr>
            <a:r>
              <a:rPr sz="873" b="0" i="0">
                <a:solidFill>
                  <a:srgbClr val="E5E7EB"/>
                </a:solidFill>
                <a:latin typeface="Consolas"/>
              </a:rPr>
              <a:t>    return Complex(x.real + y.real, x.imag + y.imag)</a:t>
            </a:r>
          </a:p>
          <a:p>
            <a:pPr>
              <a:lnSpc>
                <a:spcPct val="100000"/>
              </a:lnSpc>
              <a:spcBef>
                <a:spcPts val="0"/>
              </a:spcBef>
              <a:spcAft>
                <a:spcPts val="60"/>
              </a:spcAft>
            </a:pPr>
            <a:r>
              <a:rPr sz="873" b="0" i="0">
                <a:solidFill>
                  <a:srgbClr val="E5E7EB"/>
                </a:solidFill>
                <a:latin typeface="Consolas"/>
              </a:rPr>
              <a:t> </a:t>
            </a:r>
          </a:p>
          <a:p>
            <a:pPr>
              <a:lnSpc>
                <a:spcPct val="100000"/>
              </a:lnSpc>
              <a:spcBef>
                <a:spcPts val="0"/>
              </a:spcBef>
              <a:spcAft>
                <a:spcPts val="60"/>
              </a:spcAft>
            </a:pPr>
            <a:r>
              <a:rPr sz="873" b="0" i="0">
                <a:solidFill>
                  <a:srgbClr val="E5E7EB"/>
                </a:solidFill>
                <a:latin typeface="Consolas"/>
              </a:rPr>
              <a:t>n = int(input("How many complex numbers (N &gt;= 2)? "))</a:t>
            </a:r>
          </a:p>
          <a:p>
            <a:pPr>
              <a:lnSpc>
                <a:spcPct val="100000"/>
              </a:lnSpc>
              <a:spcBef>
                <a:spcPts val="0"/>
              </a:spcBef>
              <a:spcAft>
                <a:spcPts val="60"/>
              </a:spcAft>
            </a:pPr>
            <a:r>
              <a:rPr sz="873" b="0" i="0">
                <a:solidFill>
                  <a:srgbClr val="E5E7EB"/>
                </a:solidFill>
                <a:latin typeface="Consolas"/>
              </a:rPr>
              <a:t>if n &lt; 2:</a:t>
            </a:r>
          </a:p>
          <a:p>
            <a:pPr>
              <a:lnSpc>
                <a:spcPct val="100000"/>
              </a:lnSpc>
              <a:spcBef>
                <a:spcPts val="0"/>
              </a:spcBef>
              <a:spcAft>
                <a:spcPts val="60"/>
              </a:spcAft>
            </a:pPr>
            <a:r>
              <a:rPr sz="873" b="0" i="0">
                <a:solidFill>
                  <a:srgbClr val="E5E7EB"/>
                </a:solidFill>
                <a:latin typeface="Consolas"/>
              </a:rPr>
              <a:t>    print("N must be at least 2.")</a:t>
            </a:r>
          </a:p>
          <a:p>
            <a:pPr>
              <a:lnSpc>
                <a:spcPct val="100000"/>
              </a:lnSpc>
              <a:spcBef>
                <a:spcPts val="0"/>
              </a:spcBef>
              <a:spcAft>
                <a:spcPts val="60"/>
              </a:spcAft>
            </a:pPr>
            <a:r>
              <a:rPr sz="873" b="0" i="0">
                <a:solidFill>
                  <a:srgbClr val="E5E7EB"/>
                </a:solidFill>
                <a:latin typeface="Consolas"/>
              </a:rPr>
              <a:t>    raise SystemExit</a:t>
            </a:r>
          </a:p>
          <a:p>
            <a:pPr>
              <a:lnSpc>
                <a:spcPct val="100000"/>
              </a:lnSpc>
              <a:spcBef>
                <a:spcPts val="0"/>
              </a:spcBef>
              <a:spcAft>
                <a:spcPts val="60"/>
              </a:spcAft>
            </a:pPr>
            <a:r>
              <a:rPr sz="873" b="0" i="0">
                <a:solidFill>
                  <a:srgbClr val="E5E7EB"/>
                </a:solidFill>
                <a:latin typeface="Consolas"/>
              </a:rPr>
              <a:t> </a:t>
            </a:r>
          </a:p>
          <a:p>
            <a:pPr>
              <a:lnSpc>
                <a:spcPct val="100000"/>
              </a:lnSpc>
              <a:spcBef>
                <a:spcPts val="0"/>
              </a:spcBef>
              <a:spcAft>
                <a:spcPts val="60"/>
              </a:spcAft>
            </a:pPr>
            <a:r>
              <a:rPr sz="873" b="0" i="0">
                <a:solidFill>
                  <a:srgbClr val="E5E7EB"/>
                </a:solidFill>
                <a:latin typeface="Consolas"/>
              </a:rPr>
              <a:t>numbers = []</a:t>
            </a:r>
          </a:p>
          <a:p>
            <a:pPr>
              <a:lnSpc>
                <a:spcPct val="100000"/>
              </a:lnSpc>
              <a:spcBef>
                <a:spcPts val="0"/>
              </a:spcBef>
              <a:spcAft>
                <a:spcPts val="60"/>
              </a:spcAft>
            </a:pPr>
            <a:r>
              <a:rPr sz="873" b="0" i="0">
                <a:solidFill>
                  <a:srgbClr val="E5E7EB"/>
                </a:solidFill>
                <a:latin typeface="Consolas"/>
              </a:rPr>
              <a:t>for i in range(n):</a:t>
            </a:r>
          </a:p>
          <a:p>
            <a:pPr>
              <a:lnSpc>
                <a:spcPct val="100000"/>
              </a:lnSpc>
              <a:spcBef>
                <a:spcPts val="0"/>
              </a:spcBef>
              <a:spcAft>
                <a:spcPts val="60"/>
              </a:spcAft>
            </a:pPr>
            <a:r>
              <a:rPr sz="873" b="0" i="0">
                <a:solidFill>
                  <a:srgbClr val="E5E7EB"/>
                </a:solidFill>
                <a:latin typeface="Consolas"/>
              </a:rPr>
              <a:t>    re = float(input(f"number {i + 1} real part: "))</a:t>
            </a:r>
          </a:p>
          <a:p>
            <a:pPr>
              <a:lnSpc>
                <a:spcPct val="100000"/>
              </a:lnSpc>
              <a:spcBef>
                <a:spcPts val="0"/>
              </a:spcBef>
              <a:spcAft>
                <a:spcPts val="60"/>
              </a:spcAft>
            </a:pPr>
            <a:r>
              <a:rPr sz="873" b="0" i="0">
                <a:solidFill>
                  <a:srgbClr val="E5E7EB"/>
                </a:solidFill>
                <a:latin typeface="Consolas"/>
              </a:rPr>
              <a:t>    im = float(input(f"number {i + 1} imag part: "))</a:t>
            </a:r>
          </a:p>
          <a:p>
            <a:pPr>
              <a:lnSpc>
                <a:spcPct val="100000"/>
              </a:lnSpc>
              <a:spcBef>
                <a:spcPts val="0"/>
              </a:spcBef>
              <a:spcAft>
                <a:spcPts val="60"/>
              </a:spcAft>
            </a:pPr>
            <a:r>
              <a:rPr sz="873" b="0" i="0">
                <a:solidFill>
                  <a:srgbClr val="E5E7EB"/>
                </a:solidFill>
                <a:latin typeface="Consolas"/>
              </a:rPr>
              <a:t>    numbers.append(Complex(re, im))</a:t>
            </a:r>
          </a:p>
          <a:p>
            <a:pPr>
              <a:lnSpc>
                <a:spcPct val="100000"/>
              </a:lnSpc>
              <a:spcBef>
                <a:spcPts val="0"/>
              </a:spcBef>
              <a:spcAft>
                <a:spcPts val="60"/>
              </a:spcAft>
            </a:pPr>
            <a:r>
              <a:rPr sz="873" b="0" i="0">
                <a:solidFill>
                  <a:srgbClr val="E5E7EB"/>
                </a:solidFill>
                <a:latin typeface="Consolas"/>
              </a:rPr>
              <a:t> </a:t>
            </a:r>
          </a:p>
          <a:p>
            <a:pPr>
              <a:lnSpc>
                <a:spcPct val="100000"/>
              </a:lnSpc>
              <a:spcBef>
                <a:spcPts val="0"/>
              </a:spcBef>
              <a:spcAft>
                <a:spcPts val="60"/>
              </a:spcAft>
            </a:pPr>
            <a:r>
              <a:rPr sz="873" b="0" i="0">
                <a:solidFill>
                  <a:srgbClr val="E5E7EB"/>
                </a:solidFill>
                <a:latin typeface="Consolas"/>
              </a:rPr>
              <a:t>print("\nReading :", "  ".join(str(z) for z in numbers))</a:t>
            </a:r>
          </a:p>
          <a:p>
            <a:pPr>
              <a:lnSpc>
                <a:spcPct val="100000"/>
              </a:lnSpc>
              <a:spcBef>
                <a:spcPts val="0"/>
              </a:spcBef>
              <a:spcAft>
                <a:spcPts val="60"/>
              </a:spcAft>
            </a:pPr>
            <a:r>
              <a:rPr sz="873" b="0" i="0">
                <a:solidFill>
                  <a:srgbClr val="E5E7EB"/>
                </a:solidFill>
                <a:latin typeface="Consolas"/>
              </a:rPr>
              <a:t>total = numbers[0]</a:t>
            </a:r>
          </a:p>
          <a:p>
            <a:pPr>
              <a:lnSpc>
                <a:spcPct val="100000"/>
              </a:lnSpc>
              <a:spcBef>
                <a:spcPts val="0"/>
              </a:spcBef>
              <a:spcAft>
                <a:spcPts val="60"/>
              </a:spcAft>
            </a:pPr>
            <a:r>
              <a:rPr sz="873" b="0" i="0">
                <a:solidFill>
                  <a:srgbClr val="E5E7EB"/>
                </a:solidFill>
                <a:latin typeface="Consolas"/>
              </a:rPr>
              <a:t>for z in numbers[1:]:</a:t>
            </a:r>
          </a:p>
          <a:p>
            <a:pPr>
              <a:lnSpc>
                <a:spcPct val="100000"/>
              </a:lnSpc>
              <a:spcBef>
                <a:spcPts val="0"/>
              </a:spcBef>
              <a:spcAft>
                <a:spcPts val="60"/>
              </a:spcAft>
            </a:pPr>
            <a:r>
              <a:rPr sz="873" b="0" i="0">
                <a:solidFill>
                  <a:srgbClr val="E5E7EB"/>
                </a:solidFill>
                <a:latin typeface="Consolas"/>
              </a:rPr>
              <a:t>    total = add_complex(total, z)      # fold: sum of N via pairwise sum</a:t>
            </a:r>
          </a:p>
          <a:p>
            <a:pPr>
              <a:lnSpc>
                <a:spcPct val="100000"/>
              </a:lnSpc>
              <a:spcBef>
                <a:spcPts val="0"/>
              </a:spcBef>
              <a:spcAft>
                <a:spcPts val="60"/>
              </a:spcAft>
            </a:pPr>
            <a:r>
              <a:rPr sz="873" b="0" i="0">
                <a:solidFill>
                  <a:srgbClr val="E5E7EB"/>
                </a:solidFill>
                <a:latin typeface="Consolas"/>
              </a:rPr>
              <a:t>print("Sum     :", total)</a:t>
            </a:r>
          </a:p>
        </p:txBody>
      </p:sp>
      <p:sp>
        <p:nvSpPr>
          <p:cNvPr id="12" name="Rectangle 11"/>
          <p:cNvSpPr/>
          <p:nvPr/>
        </p:nvSpPr>
        <p:spPr>
          <a:xfrm>
            <a:off x="7680959" y="157276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3" y="1664208"/>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08 run 1</a:t>
            </a:r>
          </a:p>
        </p:txBody>
      </p:sp>
      <p:sp>
        <p:nvSpPr>
          <p:cNvPr id="14" name="TextBox 13"/>
          <p:cNvSpPr txBox="1"/>
          <p:nvPr/>
        </p:nvSpPr>
        <p:spPr>
          <a:xfrm>
            <a:off x="7827263" y="1938528"/>
            <a:ext cx="3794760" cy="1874519"/>
          </a:xfrm>
          <a:prstGeom prst="rect">
            <a:avLst/>
          </a:prstGeom>
          <a:noFill/>
        </p:spPr>
        <p:txBody>
          <a:bodyPr wrap="none" anchor="t" lIns="0" rIns="0" tIns="0" bIns="0">
            <a:spAutoFit/>
          </a:bodyPr>
          <a:lstStyle/>
          <a:p>
            <a:pPr>
              <a:lnSpc>
                <a:spcPct val="100000"/>
              </a:lnSpc>
              <a:spcBef>
                <a:spcPts val="0"/>
              </a:spcBef>
              <a:spcAft>
                <a:spcPts val="60"/>
              </a:spcAft>
            </a:pPr>
            <a:r>
              <a:rPr sz="1022" b="0" i="0">
                <a:solidFill>
                  <a:srgbClr val="14171C"/>
                </a:solidFill>
                <a:latin typeface="Consolas"/>
              </a:rPr>
              <a:t>How many complex numbers (N &gt;= 2)? 3</a:t>
            </a:r>
          </a:p>
          <a:p>
            <a:pPr>
              <a:lnSpc>
                <a:spcPct val="100000"/>
              </a:lnSpc>
              <a:spcBef>
                <a:spcPts val="0"/>
              </a:spcBef>
              <a:spcAft>
                <a:spcPts val="60"/>
              </a:spcAft>
            </a:pPr>
            <a:r>
              <a:rPr sz="1022" b="0" i="0">
                <a:solidFill>
                  <a:srgbClr val="14171C"/>
                </a:solidFill>
                <a:latin typeface="Consolas"/>
              </a:rPr>
              <a:t>number 1 real part: 1</a:t>
            </a:r>
          </a:p>
          <a:p>
            <a:pPr>
              <a:lnSpc>
                <a:spcPct val="100000"/>
              </a:lnSpc>
              <a:spcBef>
                <a:spcPts val="0"/>
              </a:spcBef>
              <a:spcAft>
                <a:spcPts val="60"/>
              </a:spcAft>
            </a:pPr>
            <a:r>
              <a:rPr sz="1022" b="0" i="0">
                <a:solidFill>
                  <a:srgbClr val="14171C"/>
                </a:solidFill>
                <a:latin typeface="Consolas"/>
              </a:rPr>
              <a:t>number 1 imag part: 2</a:t>
            </a:r>
          </a:p>
          <a:p>
            <a:pPr>
              <a:lnSpc>
                <a:spcPct val="100000"/>
              </a:lnSpc>
              <a:spcBef>
                <a:spcPts val="0"/>
              </a:spcBef>
              <a:spcAft>
                <a:spcPts val="60"/>
              </a:spcAft>
            </a:pPr>
            <a:r>
              <a:rPr sz="1022" b="0" i="0">
                <a:solidFill>
                  <a:srgbClr val="14171C"/>
                </a:solidFill>
                <a:latin typeface="Consolas"/>
              </a:rPr>
              <a:t>number 2 real part: 3</a:t>
            </a:r>
          </a:p>
          <a:p>
            <a:pPr>
              <a:lnSpc>
                <a:spcPct val="100000"/>
              </a:lnSpc>
              <a:spcBef>
                <a:spcPts val="0"/>
              </a:spcBef>
              <a:spcAft>
                <a:spcPts val="60"/>
              </a:spcAft>
            </a:pPr>
            <a:r>
              <a:rPr sz="1022" b="0" i="0">
                <a:solidFill>
                  <a:srgbClr val="14171C"/>
                </a:solidFill>
                <a:latin typeface="Consolas"/>
              </a:rPr>
              <a:t>number 2 imag part: -4</a:t>
            </a:r>
          </a:p>
          <a:p>
            <a:pPr>
              <a:lnSpc>
                <a:spcPct val="100000"/>
              </a:lnSpc>
              <a:spcBef>
                <a:spcPts val="0"/>
              </a:spcBef>
              <a:spcAft>
                <a:spcPts val="60"/>
              </a:spcAft>
            </a:pPr>
            <a:r>
              <a:rPr sz="1022" b="0" i="0">
                <a:solidFill>
                  <a:srgbClr val="14171C"/>
                </a:solidFill>
                <a:latin typeface="Consolas"/>
              </a:rPr>
              <a:t>number 3 real part: 0.5</a:t>
            </a:r>
          </a:p>
          <a:p>
            <a:pPr>
              <a:lnSpc>
                <a:spcPct val="100000"/>
              </a:lnSpc>
              <a:spcBef>
                <a:spcPts val="0"/>
              </a:spcBef>
              <a:spcAft>
                <a:spcPts val="60"/>
              </a:spcAft>
            </a:pPr>
            <a:r>
              <a:rPr sz="1022" b="0" i="0">
                <a:solidFill>
                  <a:srgbClr val="14171C"/>
                </a:solidFill>
                <a:latin typeface="Consolas"/>
              </a:rPr>
              <a:t>number 3 imag part: 1.5</a:t>
            </a:r>
          </a:p>
          <a:p>
            <a:pPr>
              <a:lnSpc>
                <a:spcPct val="100000"/>
              </a:lnSpc>
              <a:spcBef>
                <a:spcPts val="0"/>
              </a:spcBef>
              <a:spcAft>
                <a:spcPts val="60"/>
              </a:spcAft>
            </a:pPr>
            <a:r>
              <a:rPr sz="1022" b="0" i="0">
                <a:solidFill>
                  <a:srgbClr val="14171C"/>
                </a:solidFill>
                <a:latin typeface="Consolas"/>
              </a:rPr>
              <a:t> </a:t>
            </a:r>
          </a:p>
          <a:p>
            <a:pPr>
              <a:lnSpc>
                <a:spcPct val="100000"/>
              </a:lnSpc>
              <a:spcBef>
                <a:spcPts val="0"/>
              </a:spcBef>
              <a:spcAft>
                <a:spcPts val="60"/>
              </a:spcAft>
            </a:pPr>
            <a:r>
              <a:rPr sz="1022" b="0" i="0">
                <a:solidFill>
                  <a:srgbClr val="14171C"/>
                </a:solidFill>
                <a:latin typeface="Consolas"/>
              </a:rPr>
              <a:t>Reading : 1 + 2i  3 - 4i  0.5 + 1.5i</a:t>
            </a:r>
          </a:p>
          <a:p>
            <a:pPr>
              <a:lnSpc>
                <a:spcPct val="100000"/>
              </a:lnSpc>
              <a:spcBef>
                <a:spcPts val="0"/>
              </a:spcBef>
              <a:spcAft>
                <a:spcPts val="60"/>
              </a:spcAft>
            </a:pPr>
            <a:r>
              <a:rPr sz="1022" b="0" i="0">
                <a:solidFill>
                  <a:srgbClr val="14171C"/>
                </a:solidFill>
                <a:latin typeface="Consolas"/>
              </a:rPr>
              <a:t>Sum     : 4.5 - 0.5i</a:t>
            </a:r>
          </a:p>
        </p:txBody>
      </p:sp>
      <p:sp>
        <p:nvSpPr>
          <p:cNvPr id="15" name="Rectangle 14"/>
          <p:cNvSpPr/>
          <p:nvPr/>
        </p:nvSpPr>
        <p:spPr>
          <a:xfrm>
            <a:off x="7680959" y="404164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3" y="4133087"/>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lab08 run 2</a:t>
            </a:r>
          </a:p>
        </p:txBody>
      </p:sp>
      <p:sp>
        <p:nvSpPr>
          <p:cNvPr id="17" name="TextBox 16"/>
          <p:cNvSpPr txBox="1"/>
          <p:nvPr/>
        </p:nvSpPr>
        <p:spPr>
          <a:xfrm>
            <a:off x="7827263" y="4407407"/>
            <a:ext cx="3794760" cy="1874520"/>
          </a:xfrm>
          <a:prstGeom prst="rect">
            <a:avLst/>
          </a:prstGeom>
          <a:noFill/>
        </p:spPr>
        <p:txBody>
          <a:bodyPr wrap="none" anchor="t" lIns="0" rIns="0" tIns="0" bIns="0">
            <a:spAutoFit/>
          </a:bodyPr>
          <a:lstStyle/>
          <a:p>
            <a:pPr>
              <a:lnSpc>
                <a:spcPct val="100000"/>
              </a:lnSpc>
              <a:spcBef>
                <a:spcPts val="0"/>
              </a:spcBef>
              <a:spcAft>
                <a:spcPts val="60"/>
              </a:spcAft>
            </a:pPr>
            <a:r>
              <a:rPr sz="1249" b="0" i="0">
                <a:solidFill>
                  <a:srgbClr val="14171C"/>
                </a:solidFill>
                <a:latin typeface="Consolas"/>
              </a:rPr>
              <a:t>How many complex numbers (N &gt;= 2)? 2</a:t>
            </a:r>
          </a:p>
          <a:p>
            <a:pPr>
              <a:lnSpc>
                <a:spcPct val="100000"/>
              </a:lnSpc>
              <a:spcBef>
                <a:spcPts val="0"/>
              </a:spcBef>
              <a:spcAft>
                <a:spcPts val="60"/>
              </a:spcAft>
            </a:pPr>
            <a:r>
              <a:rPr sz="1249" b="0" i="0">
                <a:solidFill>
                  <a:srgbClr val="14171C"/>
                </a:solidFill>
                <a:latin typeface="Consolas"/>
              </a:rPr>
              <a:t>number 1 real part: 0</a:t>
            </a:r>
          </a:p>
          <a:p>
            <a:pPr>
              <a:lnSpc>
                <a:spcPct val="100000"/>
              </a:lnSpc>
              <a:spcBef>
                <a:spcPts val="0"/>
              </a:spcBef>
              <a:spcAft>
                <a:spcPts val="60"/>
              </a:spcAft>
            </a:pPr>
            <a:r>
              <a:rPr sz="1249" b="0" i="0">
                <a:solidFill>
                  <a:srgbClr val="14171C"/>
                </a:solidFill>
                <a:latin typeface="Consolas"/>
              </a:rPr>
              <a:t>number 1 imag part: -1</a:t>
            </a:r>
          </a:p>
          <a:p>
            <a:pPr>
              <a:lnSpc>
                <a:spcPct val="100000"/>
              </a:lnSpc>
              <a:spcBef>
                <a:spcPts val="0"/>
              </a:spcBef>
              <a:spcAft>
                <a:spcPts val="60"/>
              </a:spcAft>
            </a:pPr>
            <a:r>
              <a:rPr sz="1249" b="0" i="0">
                <a:solidFill>
                  <a:srgbClr val="14171C"/>
                </a:solidFill>
                <a:latin typeface="Consolas"/>
              </a:rPr>
              <a:t>number 2 real part: 0</a:t>
            </a:r>
          </a:p>
          <a:p>
            <a:pPr>
              <a:lnSpc>
                <a:spcPct val="100000"/>
              </a:lnSpc>
              <a:spcBef>
                <a:spcPts val="0"/>
              </a:spcBef>
              <a:spcAft>
                <a:spcPts val="60"/>
              </a:spcAft>
            </a:pPr>
            <a:r>
              <a:rPr sz="1249" b="0" i="0">
                <a:solidFill>
                  <a:srgbClr val="14171C"/>
                </a:solidFill>
                <a:latin typeface="Consolas"/>
              </a:rPr>
              <a:t>number 2 imag part: 1</a:t>
            </a:r>
          </a:p>
          <a:p>
            <a:pPr>
              <a:lnSpc>
                <a:spcPct val="100000"/>
              </a:lnSpc>
              <a:spcBef>
                <a:spcPts val="0"/>
              </a:spcBef>
              <a:spcAft>
                <a:spcPts val="60"/>
              </a:spcAft>
            </a:pPr>
            <a:r>
              <a:rPr sz="1249" b="0" i="0">
                <a:solidFill>
                  <a:srgbClr val="14171C"/>
                </a:solidFill>
                <a:latin typeface="Consolas"/>
              </a:rPr>
              <a:t> </a:t>
            </a:r>
          </a:p>
          <a:p>
            <a:pPr>
              <a:lnSpc>
                <a:spcPct val="100000"/>
              </a:lnSpc>
              <a:spcBef>
                <a:spcPts val="0"/>
              </a:spcBef>
              <a:spcAft>
                <a:spcPts val="60"/>
              </a:spcAft>
            </a:pPr>
            <a:r>
              <a:rPr sz="1249" b="0" i="0">
                <a:solidFill>
                  <a:srgbClr val="14171C"/>
                </a:solidFill>
                <a:latin typeface="Consolas"/>
              </a:rPr>
              <a:t>Reading : 0 - 1i  0 + 1i</a:t>
            </a:r>
          </a:p>
          <a:p>
            <a:pPr>
              <a:lnSpc>
                <a:spcPct val="100000"/>
              </a:lnSpc>
              <a:spcBef>
                <a:spcPts val="0"/>
              </a:spcBef>
              <a:spcAft>
                <a:spcPts val="60"/>
              </a:spcAft>
            </a:pPr>
            <a:r>
              <a:rPr sz="1249" b="0" i="0">
                <a:solidFill>
                  <a:srgbClr val="14171C"/>
                </a:solidFill>
                <a:latin typeface="Consolas"/>
              </a:rPr>
              <a:t>Sum     : 0 + 0i</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8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63</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(1+2i) + (3−4i) + (0.5+1.5i) = 4.5−0.5i, and the conjugates (0−1i)+(0+1i) = 0+0i — the zero imaginary part keeps its sign word from __str__ (“+ 0i”), visible evidence that display and value are separate concerns. The fold touches no input object; a second print of the Reading line after the sum still shows the originals (try it — the exercise).</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Give the two evidence lines that show add_complex is pure, not a modifier.</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Why is __str__ better here than a helper display(z)? One sentence for the caller side, one for the print().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The question says N≥2 — where is that enforced and what is the failure output?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How does the program decide the sign in '3 - 4i'? Name the exact expression.</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The Reading line printed after the sum shows the originals unchanged, and add_complex’s return statement constructs Complex(...) instead of touching x or y — one is transcript evidence, one is code evidence.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9 — Text Analysis Tool (Open-Ended)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64</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CO2 + CO4 + CO5</a:t>
            </a:r>
            <a:r>
              <a:rPr sz="1250" b="0" i="0">
                <a:solidFill>
                  <a:srgbClr val="4B5563"/>
                </a:solidFill>
                <a:latin typeface="Calibri"/>
              </a:rPr>
              <a:t>    design choices stated and honoured, token cleaning, counting and ranking reuse, a star-bar visual that costs one line, and an empty-input guard that never crashes.</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9. Text Analysis Tool: Build a tool that analyses a paragraph: frequency of each word, longest word, number of sentences, etc.</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Stated choices:</a:t>
            </a:r>
            <a:r>
              <a:rPr sz="1250" b="0" i="0">
                <a:solidFill>
                  <a:srgbClr val="16181D"/>
                </a:solidFill>
                <a:latin typeface="Calibri"/>
              </a:rPr>
              <a:t>a word = whitespace token stripped of punctuation, lower-cased; a sentence = count of . ! ? (floored at 1 for a non-empty paragraph); “etc.” = distinct count and total characters, free once words are a list.</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Longest via</a:t>
            </a:r>
            <a:r>
              <a:rPr sz="1250" b="0" i="0">
                <a:solidFill>
                  <a:srgbClr val="16181D"/>
                </a:solidFill>
                <a:latin typeface="Consolas"/>
              </a:rPr>
              <a:t>max(words, key=len)</a:t>
            </a:r>
            <a:r>
              <a:rPr sz="1250" b="0" i="0">
                <a:solidFill>
                  <a:srgbClr val="16181D"/>
                </a:solidFill>
                <a:latin typeface="Calibri"/>
              </a:rPr>
              <a:t>— one built-in where a hand loop would take four lines; ties resolve to the first occurrence, said in the record.</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Frequency ranking reuses the Lab-4 sort (−count, word) for deterministic order, and a</a:t>
            </a:r>
            <a:r>
              <a:rPr sz="1250" b="0" i="0">
                <a:solidFill>
                  <a:srgbClr val="16181D"/>
                </a:solidFill>
                <a:latin typeface="Consolas"/>
              </a:rPr>
              <a:t>'*'*c</a:t>
            </a:r>
            <a:r>
              <a:rPr sz="1250" b="0" i="0">
                <a:solidFill>
                  <a:srgbClr val="16181D"/>
                </a:solidFill>
                <a:latin typeface="Calibri"/>
              </a:rPr>
              <a:t>bar makes the histogram readable at a glance.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Empty paragraph exits with a message — the tool never raises on nothing to do.</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lab09.py</a:t>
            </a:r>
            <a:r>
              <a:rPr sz="1250" b="0" i="0">
                <a:solidFill>
                  <a:srgbClr val="16181D"/>
                </a:solidFill>
                <a:latin typeface="Calibri"/>
              </a:rPr>
              <a:t>  —  text analyser</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9 — lab09.py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65</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lab09.py  ·  2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899" b="0" i="0">
                <a:solidFill>
                  <a:srgbClr val="E5E7EB"/>
                </a:solidFill>
                <a:latin typeface="Consolas"/>
              </a:rPr>
              <a:t># Lab 9 (open-ended) -- text analysis: word frequency, longest word, sentences</a:t>
            </a:r>
          </a:p>
          <a:p>
            <a:pPr>
              <a:lnSpc>
                <a:spcPct val="100000"/>
              </a:lnSpc>
              <a:spcBef>
                <a:spcPts val="0"/>
              </a:spcBef>
              <a:spcAft>
                <a:spcPts val="60"/>
              </a:spcAft>
            </a:pPr>
            <a:r>
              <a:rPr sz="899" b="0" i="0">
                <a:solidFill>
                  <a:srgbClr val="E5E7EB"/>
                </a:solidFill>
                <a:latin typeface="Consolas"/>
              </a:rPr>
              <a:t># Run   : python3 lab09.py</a:t>
            </a:r>
          </a:p>
          <a:p>
            <a:pPr>
              <a:lnSpc>
                <a:spcPct val="100000"/>
              </a:lnSpc>
              <a:spcBef>
                <a:spcPts val="0"/>
              </a:spcBef>
              <a:spcAft>
                <a:spcPts val="60"/>
              </a:spcAft>
            </a:pPr>
            <a:r>
              <a:rPr sz="899" b="0" i="0">
                <a:solidFill>
                  <a:srgbClr val="E5E7EB"/>
                </a:solidFill>
                <a:latin typeface="Consolas"/>
              </a:rPr>
              <a:t>import string</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para = input("Paste the paragraph (one line): ").strip()</a:t>
            </a:r>
          </a:p>
          <a:p>
            <a:pPr>
              <a:lnSpc>
                <a:spcPct val="100000"/>
              </a:lnSpc>
              <a:spcBef>
                <a:spcPts val="0"/>
              </a:spcBef>
              <a:spcAft>
                <a:spcPts val="60"/>
              </a:spcAft>
            </a:pPr>
            <a:r>
              <a:rPr sz="899" b="0" i="0">
                <a:solidFill>
                  <a:srgbClr val="E5E7EB"/>
                </a:solidFill>
                <a:latin typeface="Consolas"/>
              </a:rPr>
              <a:t>if not para:</a:t>
            </a:r>
          </a:p>
          <a:p>
            <a:pPr>
              <a:lnSpc>
                <a:spcPct val="100000"/>
              </a:lnSpc>
              <a:spcBef>
                <a:spcPts val="0"/>
              </a:spcBef>
              <a:spcAft>
                <a:spcPts val="60"/>
              </a:spcAft>
            </a:pPr>
            <a:r>
              <a:rPr sz="899" b="0" i="0">
                <a:solidFill>
                  <a:srgbClr val="E5E7EB"/>
                </a:solidFill>
                <a:latin typeface="Consolas"/>
              </a:rPr>
              <a:t>    print("Empty paragraph -- nothing to analyse.")</a:t>
            </a:r>
          </a:p>
          <a:p>
            <a:pPr>
              <a:lnSpc>
                <a:spcPct val="100000"/>
              </a:lnSpc>
              <a:spcBef>
                <a:spcPts val="0"/>
              </a:spcBef>
              <a:spcAft>
                <a:spcPts val="60"/>
              </a:spcAft>
            </a:pPr>
            <a:r>
              <a:rPr sz="899" b="0" i="0">
                <a:solidFill>
                  <a:srgbClr val="E5E7EB"/>
                </a:solidFill>
                <a:latin typeface="Consolas"/>
              </a:rPr>
              <a:t>    raise SystemExit</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words = [w.strip(string.punctuation).lower() for w in para.split()]</a:t>
            </a:r>
          </a:p>
          <a:p>
            <a:pPr>
              <a:lnSpc>
                <a:spcPct val="100000"/>
              </a:lnSpc>
              <a:spcBef>
                <a:spcPts val="0"/>
              </a:spcBef>
              <a:spcAft>
                <a:spcPts val="60"/>
              </a:spcAft>
            </a:pPr>
            <a:r>
              <a:rPr sz="899" b="0" i="0">
                <a:solidFill>
                  <a:srgbClr val="E5E7EB"/>
                </a:solidFill>
                <a:latin typeface="Consolas"/>
              </a:rPr>
              <a:t>words = [w for w in words if w]</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freq = {}</a:t>
            </a:r>
          </a:p>
          <a:p>
            <a:pPr>
              <a:lnSpc>
                <a:spcPct val="100000"/>
              </a:lnSpc>
              <a:spcBef>
                <a:spcPts val="0"/>
              </a:spcBef>
              <a:spcAft>
                <a:spcPts val="60"/>
              </a:spcAft>
            </a:pPr>
            <a:r>
              <a:rPr sz="899" b="0" i="0">
                <a:solidFill>
                  <a:srgbClr val="E5E7EB"/>
                </a:solidFill>
                <a:latin typeface="Consolas"/>
              </a:rPr>
              <a:t>for w in words:                       # count with a dictionary</a:t>
            </a:r>
          </a:p>
          <a:p>
            <a:pPr>
              <a:lnSpc>
                <a:spcPct val="100000"/>
              </a:lnSpc>
              <a:spcBef>
                <a:spcPts val="0"/>
              </a:spcBef>
              <a:spcAft>
                <a:spcPts val="60"/>
              </a:spcAft>
            </a:pPr>
            <a:r>
              <a:rPr sz="899" b="0" i="0">
                <a:solidFill>
                  <a:srgbClr val="E5E7EB"/>
                </a:solidFill>
                <a:latin typeface="Consolas"/>
              </a:rPr>
              <a:t>    freq[w] = freq.get(w, 0) + 1</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sentences = max(sum(para.count(s) for s in ".!?"), 1)</a:t>
            </a:r>
          </a:p>
          <a:p>
            <a:pPr>
              <a:lnSpc>
                <a:spcPct val="100000"/>
              </a:lnSpc>
              <a:spcBef>
                <a:spcPts val="0"/>
              </a:spcBef>
              <a:spcAft>
                <a:spcPts val="60"/>
              </a:spcAft>
            </a:pPr>
            <a:r>
              <a:rPr sz="899" b="0" i="0">
                <a:solidFill>
                  <a:srgbClr val="E5E7EB"/>
                </a:solidFill>
                <a:latin typeface="Consolas"/>
              </a:rPr>
              <a:t>longest = max(words, key=len)         # one built-in, no manual loop</a:t>
            </a:r>
          </a:p>
          <a:p>
            <a:pPr>
              <a:lnSpc>
                <a:spcPct val="100000"/>
              </a:lnSpc>
              <a:spcBef>
                <a:spcPts val="0"/>
              </a:spcBef>
              <a:spcAft>
                <a:spcPts val="60"/>
              </a:spcAft>
            </a:pPr>
            <a:r>
              <a:rPr sz="899" b="0" i="0">
                <a:solidFill>
                  <a:srgbClr val="E5E7EB"/>
                </a:solidFill>
                <a:latin typeface="Consolas"/>
              </a:rPr>
              <a:t> </a:t>
            </a:r>
          </a:p>
          <a:p>
            <a:pPr>
              <a:lnSpc>
                <a:spcPct val="100000"/>
              </a:lnSpc>
              <a:spcBef>
                <a:spcPts val="0"/>
              </a:spcBef>
              <a:spcAft>
                <a:spcPts val="60"/>
              </a:spcAft>
            </a:pPr>
            <a:r>
              <a:rPr sz="899" b="0" i="0">
                <a:solidFill>
                  <a:srgbClr val="E5E7EB"/>
                </a:solidFill>
                <a:latin typeface="Consolas"/>
              </a:rPr>
              <a:t>print("\n===== TEXT ANALYSIS =====")</a:t>
            </a:r>
          </a:p>
          <a:p>
            <a:pPr>
              <a:lnSpc>
                <a:spcPct val="100000"/>
              </a:lnSpc>
              <a:spcBef>
                <a:spcPts val="0"/>
              </a:spcBef>
              <a:spcAft>
                <a:spcPts val="60"/>
              </a:spcAft>
            </a:pPr>
            <a:r>
              <a:rPr sz="899" b="0" i="0">
                <a:solidFill>
                  <a:srgbClr val="E5E7EB"/>
                </a:solidFill>
                <a:latin typeface="Consolas"/>
              </a:rPr>
              <a:t>print(f"Words: {len(words)} | distinct: {len(freq)} | "</a:t>
            </a:r>
          </a:p>
          <a:p>
            <a:pPr>
              <a:lnSpc>
                <a:spcPct val="100000"/>
              </a:lnSpc>
              <a:spcBef>
                <a:spcPts val="0"/>
              </a:spcBef>
              <a:spcAft>
                <a:spcPts val="60"/>
              </a:spcAft>
            </a:pPr>
            <a:r>
              <a:rPr sz="899" b="0" i="0">
                <a:solidFill>
                  <a:srgbClr val="E5E7EB"/>
                </a:solidFill>
                <a:latin typeface="Consolas"/>
              </a:rPr>
              <a:t>      f"characters: {len(para)} | sentences: {sentences}")</a:t>
            </a:r>
          </a:p>
          <a:p>
            <a:pPr>
              <a:lnSpc>
                <a:spcPct val="100000"/>
              </a:lnSpc>
              <a:spcBef>
                <a:spcPts val="0"/>
              </a:spcBef>
              <a:spcAft>
                <a:spcPts val="60"/>
              </a:spcAft>
            </a:pPr>
            <a:r>
              <a:rPr sz="899" b="0" i="0">
                <a:solidFill>
                  <a:srgbClr val="E5E7EB"/>
                </a:solidFill>
                <a:latin typeface="Consolas"/>
              </a:rPr>
              <a:t>print(f"Longest word: '{longest}' ({len(longest)} chars)")</a:t>
            </a:r>
          </a:p>
          <a:p>
            <a:pPr>
              <a:lnSpc>
                <a:spcPct val="100000"/>
              </a:lnSpc>
              <a:spcBef>
                <a:spcPts val="0"/>
              </a:spcBef>
              <a:spcAft>
                <a:spcPts val="60"/>
              </a:spcAft>
            </a:pPr>
            <a:r>
              <a:rPr sz="899" b="0" i="0">
                <a:solidFill>
                  <a:srgbClr val="E5E7EB"/>
                </a:solidFill>
                <a:latin typeface="Consolas"/>
              </a:rPr>
              <a:t>print("\nWord frequency (most -&gt; least):")</a:t>
            </a:r>
          </a:p>
          <a:p>
            <a:pPr>
              <a:lnSpc>
                <a:spcPct val="100000"/>
              </a:lnSpc>
              <a:spcBef>
                <a:spcPts val="0"/>
              </a:spcBef>
              <a:spcAft>
                <a:spcPts val="60"/>
              </a:spcAft>
            </a:pPr>
            <a:r>
              <a:rPr sz="899" b="0" i="0">
                <a:solidFill>
                  <a:srgbClr val="E5E7EB"/>
                </a:solidFill>
                <a:latin typeface="Consolas"/>
              </a:rPr>
              <a:t>for w, c in sorted(freq.items(), key=lambda kv: (-kv[1], kv[0])):</a:t>
            </a:r>
          </a:p>
          <a:p>
            <a:pPr>
              <a:lnSpc>
                <a:spcPct val="100000"/>
              </a:lnSpc>
              <a:spcBef>
                <a:spcPts val="0"/>
              </a:spcBef>
              <a:spcAft>
                <a:spcPts val="60"/>
              </a:spcAft>
            </a:pPr>
            <a:r>
              <a:rPr sz="899" b="0" i="0">
                <a:solidFill>
                  <a:srgbClr val="E5E7EB"/>
                </a:solidFill>
                <a:latin typeface="Consolas"/>
              </a:rPr>
              <a:t>    print(f"  {w:&lt;12}{c:&gt;2d}  {'*' * c}")</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09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Paste the paragraph (one line): Python is fun and Python helps; fun times! Python rocks.</a:t>
            </a:r>
          </a:p>
          <a:p>
            <a:pPr>
              <a:lnSpc>
                <a:spcPct val="100000"/>
              </a:lnSpc>
              <a:spcBef>
                <a:spcPts val="0"/>
              </a:spcBef>
              <a:spcAft>
                <a:spcPts val="60"/>
              </a:spcAft>
            </a:pPr>
            <a:r>
              <a:rPr sz="720" b="0" i="0">
                <a:solidFill>
                  <a:srgbClr val="14171C"/>
                </a:solidFill>
                <a:latin typeface="Consolas"/>
              </a:rPr>
              <a:t> </a:t>
            </a:r>
          </a:p>
          <a:p>
            <a:pPr>
              <a:lnSpc>
                <a:spcPct val="100000"/>
              </a:lnSpc>
              <a:spcBef>
                <a:spcPts val="0"/>
              </a:spcBef>
              <a:spcAft>
                <a:spcPts val="60"/>
              </a:spcAft>
            </a:pPr>
            <a:r>
              <a:rPr sz="720" b="0" i="0">
                <a:solidFill>
                  <a:srgbClr val="14171C"/>
                </a:solidFill>
                <a:latin typeface="Consolas"/>
              </a:rPr>
              <a:t>===== TEXT ANALYSIS =====</a:t>
            </a:r>
          </a:p>
          <a:p>
            <a:pPr>
              <a:lnSpc>
                <a:spcPct val="100000"/>
              </a:lnSpc>
              <a:spcBef>
                <a:spcPts val="0"/>
              </a:spcBef>
              <a:spcAft>
                <a:spcPts val="60"/>
              </a:spcAft>
            </a:pPr>
            <a:r>
              <a:rPr sz="720" b="0" i="0">
                <a:solidFill>
                  <a:srgbClr val="14171C"/>
                </a:solidFill>
                <a:latin typeface="Consolas"/>
              </a:rPr>
              <a:t>Words: 10 | distinct: 7 | characters: 56 | sentences: 2</a:t>
            </a:r>
          </a:p>
          <a:p>
            <a:pPr>
              <a:lnSpc>
                <a:spcPct val="100000"/>
              </a:lnSpc>
              <a:spcBef>
                <a:spcPts val="0"/>
              </a:spcBef>
              <a:spcAft>
                <a:spcPts val="60"/>
              </a:spcAft>
            </a:pPr>
            <a:r>
              <a:rPr sz="720" b="0" i="0">
                <a:solidFill>
                  <a:srgbClr val="14171C"/>
                </a:solidFill>
                <a:latin typeface="Consolas"/>
              </a:rPr>
              <a:t>Longest word: 'python' (6 chars)</a:t>
            </a:r>
          </a:p>
          <a:p>
            <a:pPr>
              <a:lnSpc>
                <a:spcPct val="100000"/>
              </a:lnSpc>
              <a:spcBef>
                <a:spcPts val="0"/>
              </a:spcBef>
              <a:spcAft>
                <a:spcPts val="60"/>
              </a:spcAft>
            </a:pPr>
            <a:r>
              <a:rPr sz="720" b="0" i="0">
                <a:solidFill>
                  <a:srgbClr val="14171C"/>
                </a:solidFill>
                <a:latin typeface="Consolas"/>
              </a:rPr>
              <a:t> </a:t>
            </a:r>
          </a:p>
          <a:p>
            <a:pPr>
              <a:lnSpc>
                <a:spcPct val="100000"/>
              </a:lnSpc>
              <a:spcBef>
                <a:spcPts val="0"/>
              </a:spcBef>
              <a:spcAft>
                <a:spcPts val="60"/>
              </a:spcAft>
            </a:pPr>
            <a:r>
              <a:rPr sz="720" b="0" i="0">
                <a:solidFill>
                  <a:srgbClr val="14171C"/>
                </a:solidFill>
                <a:latin typeface="Consolas"/>
              </a:rPr>
              <a:t>Word frequency (most -&gt; least):</a:t>
            </a:r>
          </a:p>
          <a:p>
            <a:pPr>
              <a:lnSpc>
                <a:spcPct val="100000"/>
              </a:lnSpc>
              <a:spcBef>
                <a:spcPts val="0"/>
              </a:spcBef>
              <a:spcAft>
                <a:spcPts val="60"/>
              </a:spcAft>
            </a:pPr>
            <a:r>
              <a:rPr sz="720" b="0" i="0">
                <a:solidFill>
                  <a:srgbClr val="14171C"/>
                </a:solidFill>
                <a:latin typeface="Consolas"/>
              </a:rPr>
              <a:t>  python       3  ***</a:t>
            </a:r>
          </a:p>
          <a:p>
            <a:pPr>
              <a:lnSpc>
                <a:spcPct val="100000"/>
              </a:lnSpc>
              <a:spcBef>
                <a:spcPts val="0"/>
              </a:spcBef>
              <a:spcAft>
                <a:spcPts val="60"/>
              </a:spcAft>
            </a:pPr>
            <a:r>
              <a:rPr sz="720" b="0" i="0">
                <a:solidFill>
                  <a:srgbClr val="14171C"/>
                </a:solidFill>
                <a:latin typeface="Consolas"/>
              </a:rPr>
              <a:t>  fun          2  **</a:t>
            </a:r>
          </a:p>
          <a:p>
            <a:pPr>
              <a:lnSpc>
                <a:spcPct val="100000"/>
              </a:lnSpc>
              <a:spcBef>
                <a:spcPts val="0"/>
              </a:spcBef>
              <a:spcAft>
                <a:spcPts val="60"/>
              </a:spcAft>
            </a:pPr>
            <a:r>
              <a:rPr sz="720" b="0" i="0">
                <a:solidFill>
                  <a:srgbClr val="14171C"/>
                </a:solidFill>
                <a:latin typeface="Consolas"/>
              </a:rPr>
              <a:t>  and          1  *</a:t>
            </a:r>
          </a:p>
          <a:p>
            <a:pPr>
              <a:lnSpc>
                <a:spcPct val="100000"/>
              </a:lnSpc>
              <a:spcBef>
                <a:spcPts val="0"/>
              </a:spcBef>
              <a:spcAft>
                <a:spcPts val="60"/>
              </a:spcAft>
            </a:pPr>
            <a:r>
              <a:rPr sz="720" b="0" i="0">
                <a:solidFill>
                  <a:srgbClr val="14171C"/>
                </a:solidFill>
                <a:latin typeface="Consolas"/>
              </a:rPr>
              <a:t>  helps        1  *</a:t>
            </a:r>
          </a:p>
          <a:p>
            <a:pPr>
              <a:lnSpc>
                <a:spcPct val="100000"/>
              </a:lnSpc>
              <a:spcBef>
                <a:spcPts val="0"/>
              </a:spcBef>
              <a:spcAft>
                <a:spcPts val="60"/>
              </a:spcAft>
            </a:pPr>
            <a:r>
              <a:rPr sz="720" b="0" i="0">
                <a:solidFill>
                  <a:srgbClr val="14171C"/>
                </a:solidFill>
                <a:latin typeface="Consolas"/>
              </a:rPr>
              <a:t>  is           1  *</a:t>
            </a:r>
          </a:p>
          <a:p>
            <a:pPr>
              <a:lnSpc>
                <a:spcPct val="100000"/>
              </a:lnSpc>
              <a:spcBef>
                <a:spcPts val="0"/>
              </a:spcBef>
              <a:spcAft>
                <a:spcPts val="60"/>
              </a:spcAft>
            </a:pPr>
            <a:r>
              <a:rPr sz="720" b="0" i="0">
                <a:solidFill>
                  <a:srgbClr val="14171C"/>
                </a:solidFill>
                <a:latin typeface="Consolas"/>
              </a:rPr>
              <a:t>  rocks        1  *</a:t>
            </a:r>
          </a:p>
          <a:p>
            <a:pPr>
              <a:lnSpc>
                <a:spcPct val="100000"/>
              </a:lnSpc>
              <a:spcBef>
                <a:spcPts val="0"/>
              </a:spcBef>
              <a:spcAft>
                <a:spcPts val="60"/>
              </a:spcAft>
            </a:pPr>
            <a:r>
              <a:rPr sz="720" b="0" i="0">
                <a:solidFill>
                  <a:srgbClr val="14171C"/>
                </a:solidFill>
                <a:latin typeface="Consolas"/>
              </a:rPr>
              <a:t>  times        1  *</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lab09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Paste the paragraph (one line):</a:t>
            </a:r>
          </a:p>
          <a:p>
            <a:pPr>
              <a:lnSpc>
                <a:spcPct val="100000"/>
              </a:lnSpc>
              <a:spcBef>
                <a:spcPts val="0"/>
              </a:spcBef>
              <a:spcAft>
                <a:spcPts val="60"/>
              </a:spcAft>
            </a:pPr>
            <a:r>
              <a:rPr sz="1250" b="0" i="0">
                <a:solidFill>
                  <a:srgbClr val="14171C"/>
                </a:solidFill>
                <a:latin typeface="Consolas"/>
              </a:rPr>
              <a:t>Empty paragraph -- nothing to analyse.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9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66</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On “Python is fun and Python helps; fun times! Python rocks.”: 10 words, 7 distinct, 56 characters, 2 sentences (the ! and . each fire; the ; does not — a stated convention). The bar chart prints the 3-star python row above the 2-star fun row — the same −count tie-break as Lab 4, and the tool agrees with the hand count of every value in the summary block.</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is stating “a word = token stripped of punctuation” worth marks even though it costs three lines?</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Give the one-line change that would treat ';' as a sentence terminator too.</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max(words, key=len) on two 6-letter words — which wins, and why is that acceptable?</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Which single structure carries the whole frequency feature; name the module-3 idiom behind it.</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Because an open-ended tool is graded on design, not just output: the convention decides every number in the report, so writing it down turns 'our count says 10' into 'our count says 10 — by definition' and closes the viva question before it is asked.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10 — CSV Data Summary Generator (Open-Ended)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67</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CO2 + CO3 + CO4</a:t>
            </a:r>
            <a:r>
              <a:rPr sz="1250" b="0" i="0">
                <a:solidFill>
                  <a:srgbClr val="4B5563"/>
                </a:solidFill>
                <a:latin typeface="Calibri"/>
              </a:rPr>
              <a:t>    zip(header, row) → dict per row, numeric-column detection by float() with a caught ValueError, a menu loop with 'done', a query grammar the user cannot break.</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10. Develop Data Summary Generator: Read a CSV file (like COVID data or weather stats), convert to dictionary form, and allow the user to run summary queries: max, min, average by column.</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Dictionary form:</a:t>
            </a:r>
            <a:r>
              <a:rPr sz="1250" b="0" i="0">
                <a:solidFill>
                  <a:srgbClr val="16181D"/>
                </a:solidFill>
                <a:latin typeface="Calibri"/>
              </a:rPr>
              <a:t>first line is the header; each data row becomes</a:t>
            </a:r>
            <a:r>
              <a:rPr sz="1250" b="0" i="0">
                <a:solidFill>
                  <a:srgbClr val="16181D"/>
                </a:solidFill>
                <a:latin typeface="Consolas"/>
              </a:rPr>
              <a:t>dict(zip(header, cols))</a:t>
            </a:r>
            <a:r>
              <a:rPr sz="1250" b="0" i="0">
                <a:solidFill>
                  <a:srgbClr val="16181D"/>
                </a:solidFill>
                <a:latin typeface="Calibri"/>
              </a:rPr>
              <a:t>— a list of records, one dict per line, as prescribed.</a:t>
            </a:r>
          </a:p>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Column stats:</a:t>
            </a:r>
            <a:r>
              <a:rPr sz="1250" b="0" i="0">
                <a:solidFill>
                  <a:srgbClr val="16181D"/>
                </a:solidFill>
                <a:latin typeface="Calibri"/>
              </a:rPr>
              <a:t>a column is numeric iff</a:t>
            </a:r>
            <a:r>
              <a:rPr sz="1250" b="0" i="0">
                <a:solidFill>
                  <a:srgbClr val="16181D"/>
                </a:solidFill>
                <a:latin typeface="Consolas"/>
              </a:rPr>
              <a:t>float()</a:t>
            </a:r>
            <a:r>
              <a:rPr sz="1250" b="0" i="0">
                <a:solidFill>
                  <a:srgbClr val="16181D"/>
                </a:solidFill>
                <a:latin typeface="Calibri"/>
              </a:rPr>
              <a:t>succeeds on every cell — the try/except does detection and cleaning in one pass, building a</a:t>
            </a:r>
            <a:r>
              <a:rPr sz="1250" b="0" i="0">
                <a:solidFill>
                  <a:srgbClr val="16181D"/>
                </a:solidFill>
                <a:latin typeface="Consolas"/>
              </a:rPr>
              <a:t>numcols</a:t>
            </a:r>
            <a:r>
              <a:rPr sz="1250" b="0" i="0">
                <a:solidFill>
                  <a:srgbClr val="16181D"/>
                </a:solidFill>
                <a:latin typeface="Calibri"/>
              </a:rPr>
              <a:t>dict of ready lists.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Query grammar “op column” with op ∈ {max, min, avg}; every refusal prints the valid forms, so the loop is user-proof, and</a:t>
            </a:r>
            <a:r>
              <a:rPr sz="1250" b="0" i="0">
                <a:solidFill>
                  <a:srgbClr val="16181D"/>
                </a:solidFill>
                <a:latin typeface="Consolas"/>
              </a:rPr>
              <a:t>done</a:t>
            </a:r>
            <a:r>
              <a:rPr sz="1250" b="0" i="0">
                <a:solidFill>
                  <a:srgbClr val="16181D"/>
                </a:solidFill>
                <a:latin typeface="Calibri"/>
              </a:rPr>
              <a:t>exits.</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Weather CSV (city + three numeric columns) chosen as the data — small enough to verify by hand: max maxtemp 36.9 (Delhi), avg rain_mm 18.30, min mintemp 18.2.</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lab10.py</a:t>
            </a:r>
            <a:r>
              <a:rPr sz="1250" b="0" i="0">
                <a:solidFill>
                  <a:srgbClr val="16181D"/>
                </a:solidFill>
                <a:latin typeface="Calibri"/>
              </a:rPr>
              <a:t>  —  csv summary</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10 — lab10.py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68</a:t>
            </a:r>
          </a:p>
        </p:txBody>
      </p:sp>
      <p:sp>
        <p:nvSpPr>
          <p:cNvPr id="8" name="Rectangle 7"/>
          <p:cNvSpPr/>
          <p:nvPr/>
        </p:nvSpPr>
        <p:spPr>
          <a:xfrm>
            <a:off x="411480" y="1572768"/>
            <a:ext cx="708660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7086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23060"/>
            <a:ext cx="6793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lab10.py  ·  2 captured run(s)</a:t>
            </a:r>
          </a:p>
        </p:txBody>
      </p:sp>
      <p:sp>
        <p:nvSpPr>
          <p:cNvPr id="11" name="TextBox 10"/>
          <p:cNvSpPr txBox="1"/>
          <p:nvPr/>
        </p:nvSpPr>
        <p:spPr>
          <a:xfrm>
            <a:off x="576072" y="1975104"/>
            <a:ext cx="6775704" cy="4325112"/>
          </a:xfrm>
          <a:prstGeom prst="rect">
            <a:avLst/>
          </a:prstGeom>
          <a:noFill/>
        </p:spPr>
        <p:txBody>
          <a:bodyPr wrap="none" anchor="t" lIns="0" rIns="0" tIns="0" bIns="0">
            <a:spAutoFit/>
          </a:bodyPr>
          <a:lstStyle/>
          <a:p>
            <a:pPr>
              <a:lnSpc>
                <a:spcPct val="100000"/>
              </a:lnSpc>
              <a:spcBef>
                <a:spcPts val="0"/>
              </a:spcBef>
              <a:spcAft>
                <a:spcPts val="60"/>
              </a:spcAft>
            </a:pPr>
            <a:r>
              <a:rPr sz="671" b="0" i="0">
                <a:solidFill>
                  <a:srgbClr val="E5E7EB"/>
                </a:solidFill>
                <a:latin typeface="Consolas"/>
              </a:rPr>
              <a:t># Lab 10 (open-ended) -- CSV -&gt; list of dicts -&gt; max/min/avg queries by column</a:t>
            </a:r>
          </a:p>
          <a:p>
            <a:pPr>
              <a:lnSpc>
                <a:spcPct val="100000"/>
              </a:lnSpc>
              <a:spcBef>
                <a:spcPts val="0"/>
              </a:spcBef>
              <a:spcAft>
                <a:spcPts val="60"/>
              </a:spcAft>
            </a:pPr>
            <a:r>
              <a:rPr sz="671" b="0" i="0">
                <a:solidFill>
                  <a:srgbClr val="E5E7EB"/>
                </a:solidFill>
                <a:latin typeface="Consolas"/>
              </a:rPr>
              <a:t># Run   : python3 lab10.py</a:t>
            </a:r>
          </a:p>
          <a:p>
            <a:pPr>
              <a:lnSpc>
                <a:spcPct val="100000"/>
              </a:lnSpc>
              <a:spcBef>
                <a:spcPts val="0"/>
              </a:spcBef>
              <a:spcAft>
                <a:spcPts val="60"/>
              </a:spcAft>
            </a:pPr>
            <a:r>
              <a:rPr sz="671" b="0" i="0">
                <a:solidFill>
                  <a:srgbClr val="E5E7EB"/>
                </a:solidFill>
                <a:latin typeface="Consolas"/>
              </a:rPr>
              <a:t>name = input("CSV file: ").strip()</a:t>
            </a:r>
          </a:p>
          <a:p>
            <a:pPr>
              <a:lnSpc>
                <a:spcPct val="100000"/>
              </a:lnSpc>
              <a:spcBef>
                <a:spcPts val="0"/>
              </a:spcBef>
              <a:spcAft>
                <a:spcPts val="60"/>
              </a:spcAft>
            </a:pPr>
            <a:r>
              <a:rPr sz="671" b="0" i="0">
                <a:solidFill>
                  <a:srgbClr val="E5E7EB"/>
                </a:solidFill>
                <a:latin typeface="Consolas"/>
              </a:rPr>
              <a:t>try:</a:t>
            </a:r>
          </a:p>
          <a:p>
            <a:pPr>
              <a:lnSpc>
                <a:spcPct val="100000"/>
              </a:lnSpc>
              <a:spcBef>
                <a:spcPts val="0"/>
              </a:spcBef>
              <a:spcAft>
                <a:spcPts val="60"/>
              </a:spcAft>
            </a:pPr>
            <a:r>
              <a:rPr sz="671" b="0" i="0">
                <a:solidFill>
                  <a:srgbClr val="E5E7EB"/>
                </a:solidFill>
                <a:latin typeface="Consolas"/>
              </a:rPr>
              <a:t>    with open(name) as f:</a:t>
            </a:r>
          </a:p>
          <a:p>
            <a:pPr>
              <a:lnSpc>
                <a:spcPct val="100000"/>
              </a:lnSpc>
              <a:spcBef>
                <a:spcPts val="0"/>
              </a:spcBef>
              <a:spcAft>
                <a:spcPts val="60"/>
              </a:spcAft>
            </a:pPr>
            <a:r>
              <a:rPr sz="671" b="0" i="0">
                <a:solidFill>
                  <a:srgbClr val="E5E7EB"/>
                </a:solidFill>
                <a:latin typeface="Consolas"/>
              </a:rPr>
              <a:t>        rows = [ln.strip() for ln in f if ln.strip()]</a:t>
            </a:r>
          </a:p>
          <a:p>
            <a:pPr>
              <a:lnSpc>
                <a:spcPct val="100000"/>
              </a:lnSpc>
              <a:spcBef>
                <a:spcPts val="0"/>
              </a:spcBef>
              <a:spcAft>
                <a:spcPts val="60"/>
              </a:spcAft>
            </a:pPr>
            <a:r>
              <a:rPr sz="671" b="0" i="0">
                <a:solidFill>
                  <a:srgbClr val="E5E7EB"/>
                </a:solidFill>
                <a:latin typeface="Consolas"/>
              </a:rPr>
              <a:t>except FileNotFoundError:</a:t>
            </a:r>
          </a:p>
          <a:p>
            <a:pPr>
              <a:lnSpc>
                <a:spcPct val="100000"/>
              </a:lnSpc>
              <a:spcBef>
                <a:spcPts val="0"/>
              </a:spcBef>
              <a:spcAft>
                <a:spcPts val="60"/>
              </a:spcAft>
            </a:pPr>
            <a:r>
              <a:rPr sz="671" b="0" i="0">
                <a:solidFill>
                  <a:srgbClr val="E5E7EB"/>
                </a:solidFill>
                <a:latin typeface="Consolas"/>
              </a:rPr>
              <a:t>    print(f"'{name}' not found.")</a:t>
            </a:r>
          </a:p>
          <a:p>
            <a:pPr>
              <a:lnSpc>
                <a:spcPct val="100000"/>
              </a:lnSpc>
              <a:spcBef>
                <a:spcPts val="0"/>
              </a:spcBef>
              <a:spcAft>
                <a:spcPts val="60"/>
              </a:spcAft>
            </a:pPr>
            <a:r>
              <a:rPr sz="671" b="0" i="0">
                <a:solidFill>
                  <a:srgbClr val="E5E7EB"/>
                </a:solidFill>
                <a:latin typeface="Consolas"/>
              </a:rPr>
              <a:t>    raise SystemExit</a:t>
            </a:r>
          </a:p>
          <a:p>
            <a:pPr>
              <a:lnSpc>
                <a:spcPct val="100000"/>
              </a:lnSpc>
              <a:spcBef>
                <a:spcPts val="0"/>
              </a:spcBef>
              <a:spcAft>
                <a:spcPts val="60"/>
              </a:spcAft>
            </a:pPr>
            <a:r>
              <a:rPr sz="671" b="0" i="0">
                <a:solidFill>
                  <a:srgbClr val="E5E7EB"/>
                </a:solidFill>
                <a:latin typeface="Consolas"/>
              </a:rPr>
              <a:t> </a:t>
            </a:r>
          </a:p>
          <a:p>
            <a:pPr>
              <a:lnSpc>
                <a:spcPct val="100000"/>
              </a:lnSpc>
              <a:spcBef>
                <a:spcPts val="0"/>
              </a:spcBef>
              <a:spcAft>
                <a:spcPts val="60"/>
              </a:spcAft>
            </a:pPr>
            <a:r>
              <a:rPr sz="671" b="0" i="0">
                <a:solidFill>
                  <a:srgbClr val="E5E7EB"/>
                </a:solidFill>
                <a:latin typeface="Consolas"/>
              </a:rPr>
              <a:t>header = rows[0].split(",")</a:t>
            </a:r>
          </a:p>
          <a:p>
            <a:pPr>
              <a:lnSpc>
                <a:spcPct val="100000"/>
              </a:lnSpc>
              <a:spcBef>
                <a:spcPts val="0"/>
              </a:spcBef>
              <a:spcAft>
                <a:spcPts val="60"/>
              </a:spcAft>
            </a:pPr>
            <a:r>
              <a:rPr sz="671" b="0" i="0">
                <a:solidFill>
                  <a:srgbClr val="E5E7EB"/>
                </a:solidFill>
                <a:latin typeface="Consolas"/>
              </a:rPr>
              <a:t>data = [dict(zip(header, r.split(","))) for r in rows[1:]]</a:t>
            </a:r>
          </a:p>
          <a:p>
            <a:pPr>
              <a:lnSpc>
                <a:spcPct val="100000"/>
              </a:lnSpc>
              <a:spcBef>
                <a:spcPts val="0"/>
              </a:spcBef>
              <a:spcAft>
                <a:spcPts val="60"/>
              </a:spcAft>
            </a:pPr>
            <a:r>
              <a:rPr sz="671" b="0" i="0">
                <a:solidFill>
                  <a:srgbClr val="E5E7EB"/>
                </a:solidFill>
                <a:latin typeface="Consolas"/>
              </a:rPr>
              <a:t> </a:t>
            </a:r>
          </a:p>
          <a:p>
            <a:pPr>
              <a:lnSpc>
                <a:spcPct val="100000"/>
              </a:lnSpc>
              <a:spcBef>
                <a:spcPts val="0"/>
              </a:spcBef>
              <a:spcAft>
                <a:spcPts val="60"/>
              </a:spcAft>
            </a:pPr>
            <a:r>
              <a:rPr sz="671" b="0" i="0">
                <a:solidFill>
                  <a:srgbClr val="E5E7EB"/>
                </a:solidFill>
                <a:latin typeface="Consolas"/>
              </a:rPr>
              <a:t>numcols = {}                          # which columns can carry statistics?</a:t>
            </a:r>
          </a:p>
          <a:p>
            <a:pPr>
              <a:lnSpc>
                <a:spcPct val="100000"/>
              </a:lnSpc>
              <a:spcBef>
                <a:spcPts val="0"/>
              </a:spcBef>
              <a:spcAft>
                <a:spcPts val="60"/>
              </a:spcAft>
            </a:pPr>
            <a:r>
              <a:rPr sz="671" b="0" i="0">
                <a:solidFill>
                  <a:srgbClr val="E5E7EB"/>
                </a:solidFill>
                <a:latin typeface="Consolas"/>
              </a:rPr>
              <a:t>for col in header[1:]:</a:t>
            </a:r>
          </a:p>
          <a:p>
            <a:pPr>
              <a:lnSpc>
                <a:spcPct val="100000"/>
              </a:lnSpc>
              <a:spcBef>
                <a:spcPts val="0"/>
              </a:spcBef>
              <a:spcAft>
                <a:spcPts val="60"/>
              </a:spcAft>
            </a:pPr>
            <a:r>
              <a:rPr sz="671" b="0" i="0">
                <a:solidFill>
                  <a:srgbClr val="E5E7EB"/>
                </a:solidFill>
                <a:latin typeface="Consolas"/>
              </a:rPr>
              <a:t>    try:</a:t>
            </a:r>
          </a:p>
          <a:p>
            <a:pPr>
              <a:lnSpc>
                <a:spcPct val="100000"/>
              </a:lnSpc>
              <a:spcBef>
                <a:spcPts val="0"/>
              </a:spcBef>
              <a:spcAft>
                <a:spcPts val="60"/>
              </a:spcAft>
            </a:pPr>
            <a:r>
              <a:rPr sz="671" b="0" i="0">
                <a:solidFill>
                  <a:srgbClr val="E5E7EB"/>
                </a:solidFill>
                <a:latin typeface="Consolas"/>
              </a:rPr>
              <a:t>        numcols[col] = [float(d[col]) for d in data]</a:t>
            </a:r>
          </a:p>
          <a:p>
            <a:pPr>
              <a:lnSpc>
                <a:spcPct val="100000"/>
              </a:lnSpc>
              <a:spcBef>
                <a:spcPts val="0"/>
              </a:spcBef>
              <a:spcAft>
                <a:spcPts val="60"/>
              </a:spcAft>
            </a:pPr>
            <a:r>
              <a:rPr sz="671" b="0" i="0">
                <a:solidFill>
                  <a:srgbClr val="E5E7EB"/>
                </a:solidFill>
                <a:latin typeface="Consolas"/>
              </a:rPr>
              <a:t>    except ValueError:</a:t>
            </a:r>
          </a:p>
          <a:p>
            <a:pPr>
              <a:lnSpc>
                <a:spcPct val="100000"/>
              </a:lnSpc>
              <a:spcBef>
                <a:spcPts val="0"/>
              </a:spcBef>
              <a:spcAft>
                <a:spcPts val="60"/>
              </a:spcAft>
            </a:pPr>
            <a:r>
              <a:rPr sz="671" b="0" i="0">
                <a:solidFill>
                  <a:srgbClr val="E5E7EB"/>
                </a:solidFill>
                <a:latin typeface="Consolas"/>
              </a:rPr>
              <a:t>        pass                          # non-numeric column: no max/min/avg</a:t>
            </a:r>
          </a:p>
          <a:p>
            <a:pPr>
              <a:lnSpc>
                <a:spcPct val="100000"/>
              </a:lnSpc>
              <a:spcBef>
                <a:spcPts val="0"/>
              </a:spcBef>
              <a:spcAft>
                <a:spcPts val="60"/>
              </a:spcAft>
            </a:pPr>
            <a:r>
              <a:rPr sz="671" b="0" i="0">
                <a:solidFill>
                  <a:srgbClr val="E5E7EB"/>
                </a:solidFill>
                <a:latin typeface="Consolas"/>
              </a:rPr>
              <a:t> </a:t>
            </a:r>
          </a:p>
          <a:p>
            <a:pPr>
              <a:lnSpc>
                <a:spcPct val="100000"/>
              </a:lnSpc>
              <a:spcBef>
                <a:spcPts val="0"/>
              </a:spcBef>
              <a:spcAft>
                <a:spcPts val="60"/>
              </a:spcAft>
            </a:pPr>
            <a:r>
              <a:rPr sz="671" b="0" i="0">
                <a:solidFill>
                  <a:srgbClr val="E5E7EB"/>
                </a:solidFill>
                <a:latin typeface="Consolas"/>
              </a:rPr>
              <a:t>print(f"Loaded {len(data)} rows | columns: {header}")</a:t>
            </a:r>
          </a:p>
          <a:p>
            <a:pPr>
              <a:lnSpc>
                <a:spcPct val="100000"/>
              </a:lnSpc>
              <a:spcBef>
                <a:spcPts val="0"/>
              </a:spcBef>
              <a:spcAft>
                <a:spcPts val="60"/>
              </a:spcAft>
            </a:pPr>
            <a:r>
              <a:rPr sz="671" b="0" i="0">
                <a:solidFill>
                  <a:srgbClr val="E5E7EB"/>
                </a:solidFill>
                <a:latin typeface="Consolas"/>
              </a:rPr>
              <a:t>print(f"Numeric columns: {list(numcols)}")</a:t>
            </a:r>
          </a:p>
          <a:p>
            <a:pPr>
              <a:lnSpc>
                <a:spcPct val="100000"/>
              </a:lnSpc>
              <a:spcBef>
                <a:spcPts val="0"/>
              </a:spcBef>
              <a:spcAft>
                <a:spcPts val="60"/>
              </a:spcAft>
            </a:pPr>
            <a:r>
              <a:rPr sz="671" b="0" i="0">
                <a:solidFill>
                  <a:srgbClr val="E5E7EB"/>
                </a:solidFill>
                <a:latin typeface="Consolas"/>
              </a:rPr>
              <a:t> </a:t>
            </a:r>
          </a:p>
          <a:p>
            <a:pPr>
              <a:lnSpc>
                <a:spcPct val="100000"/>
              </a:lnSpc>
              <a:spcBef>
                <a:spcPts val="0"/>
              </a:spcBef>
              <a:spcAft>
                <a:spcPts val="60"/>
              </a:spcAft>
            </a:pPr>
            <a:r>
              <a:rPr sz="671" b="0" i="0">
                <a:solidFill>
                  <a:srgbClr val="E5E7EB"/>
                </a:solidFill>
                <a:latin typeface="Consolas"/>
              </a:rPr>
              <a:t>while True:</a:t>
            </a:r>
          </a:p>
          <a:p>
            <a:pPr>
              <a:lnSpc>
                <a:spcPct val="100000"/>
              </a:lnSpc>
              <a:spcBef>
                <a:spcPts val="0"/>
              </a:spcBef>
              <a:spcAft>
                <a:spcPts val="60"/>
              </a:spcAft>
            </a:pPr>
            <a:r>
              <a:rPr sz="671" b="0" i="0">
                <a:solidFill>
                  <a:srgbClr val="E5E7EB"/>
                </a:solidFill>
                <a:latin typeface="Consolas"/>
              </a:rPr>
              <a:t>    q = input("Query (max|min|avg &lt;column&gt;, 'done' to quit): ").split()</a:t>
            </a:r>
          </a:p>
          <a:p>
            <a:pPr>
              <a:lnSpc>
                <a:spcPct val="100000"/>
              </a:lnSpc>
              <a:spcBef>
                <a:spcPts val="0"/>
              </a:spcBef>
              <a:spcAft>
                <a:spcPts val="60"/>
              </a:spcAft>
            </a:pPr>
            <a:r>
              <a:rPr sz="671" b="0" i="0">
                <a:solidFill>
                  <a:srgbClr val="E5E7EB"/>
                </a:solidFill>
                <a:latin typeface="Consolas"/>
              </a:rPr>
              <a:t>    if not q or q[0].lower() == "done":</a:t>
            </a:r>
          </a:p>
          <a:p>
            <a:pPr>
              <a:lnSpc>
                <a:spcPct val="100000"/>
              </a:lnSpc>
              <a:spcBef>
                <a:spcPts val="0"/>
              </a:spcBef>
              <a:spcAft>
                <a:spcPts val="60"/>
              </a:spcAft>
            </a:pPr>
            <a:r>
              <a:rPr sz="671" b="0" i="0">
                <a:solidFill>
                  <a:srgbClr val="E5E7EB"/>
                </a:solidFill>
                <a:latin typeface="Consolas"/>
              </a:rPr>
              <a:t>        break</a:t>
            </a:r>
          </a:p>
          <a:p>
            <a:pPr>
              <a:lnSpc>
                <a:spcPct val="100000"/>
              </a:lnSpc>
              <a:spcBef>
                <a:spcPts val="0"/>
              </a:spcBef>
              <a:spcAft>
                <a:spcPts val="60"/>
              </a:spcAft>
            </a:pPr>
            <a:r>
              <a:rPr sz="671" b="0" i="0">
                <a:solidFill>
                  <a:srgbClr val="E5E7EB"/>
                </a:solidFill>
                <a:latin typeface="Consolas"/>
              </a:rPr>
              <a:t>    op, *rest = q</a:t>
            </a:r>
          </a:p>
          <a:p>
            <a:pPr>
              <a:lnSpc>
                <a:spcPct val="100000"/>
              </a:lnSpc>
              <a:spcBef>
                <a:spcPts val="0"/>
              </a:spcBef>
              <a:spcAft>
                <a:spcPts val="60"/>
              </a:spcAft>
            </a:pPr>
            <a:r>
              <a:rPr sz="671" b="0" i="0">
                <a:solidFill>
                  <a:srgbClr val="E5E7EB"/>
                </a:solidFill>
                <a:latin typeface="Consolas"/>
              </a:rPr>
              <a:t>    if len(rest) != 1 or rest[0] not in numcols or op.lower() not in ("max", "min", "avg"):</a:t>
            </a:r>
          </a:p>
          <a:p>
            <a:pPr>
              <a:lnSpc>
                <a:spcPct val="100000"/>
              </a:lnSpc>
              <a:spcBef>
                <a:spcPts val="0"/>
              </a:spcBef>
              <a:spcAft>
                <a:spcPts val="60"/>
              </a:spcAft>
            </a:pPr>
            <a:r>
              <a:rPr sz="671" b="0" i="0">
                <a:solidFill>
                  <a:srgbClr val="E5E7EB"/>
                </a:solidFill>
                <a:latin typeface="Consolas"/>
              </a:rPr>
              <a:t>        print("   use: max|min|avg followed by a numeric column")</a:t>
            </a:r>
          </a:p>
          <a:p>
            <a:pPr>
              <a:lnSpc>
                <a:spcPct val="100000"/>
              </a:lnSpc>
              <a:spcBef>
                <a:spcPts val="0"/>
              </a:spcBef>
              <a:spcAft>
                <a:spcPts val="60"/>
              </a:spcAft>
            </a:pPr>
            <a:r>
              <a:rPr sz="671" b="0" i="0">
                <a:solidFill>
                  <a:srgbClr val="E5E7EB"/>
                </a:solidFill>
                <a:latin typeface="Consolas"/>
              </a:rPr>
              <a:t>        continue</a:t>
            </a:r>
          </a:p>
          <a:p>
            <a:pPr>
              <a:lnSpc>
                <a:spcPct val="100000"/>
              </a:lnSpc>
              <a:spcBef>
                <a:spcPts val="0"/>
              </a:spcBef>
              <a:spcAft>
                <a:spcPts val="60"/>
              </a:spcAft>
            </a:pPr>
            <a:r>
              <a:rPr sz="671" b="0" i="0">
                <a:solidFill>
                  <a:srgbClr val="E5E7EB"/>
                </a:solidFill>
                <a:latin typeface="Consolas"/>
              </a:rPr>
              <a:t>    col, vals = rest[0], numcols[rest[0]]</a:t>
            </a:r>
          </a:p>
          <a:p>
            <a:pPr>
              <a:lnSpc>
                <a:spcPct val="100000"/>
              </a:lnSpc>
              <a:spcBef>
                <a:spcPts val="0"/>
              </a:spcBef>
              <a:spcAft>
                <a:spcPts val="60"/>
              </a:spcAft>
            </a:pPr>
            <a:r>
              <a:rPr sz="671" b="0" i="0">
                <a:solidFill>
                  <a:srgbClr val="E5E7EB"/>
                </a:solidFill>
                <a:latin typeface="Consolas"/>
              </a:rPr>
              <a:t>    if op.lower() == "avg":</a:t>
            </a:r>
          </a:p>
          <a:p>
            <a:pPr>
              <a:lnSpc>
                <a:spcPct val="100000"/>
              </a:lnSpc>
              <a:spcBef>
                <a:spcPts val="0"/>
              </a:spcBef>
              <a:spcAft>
                <a:spcPts val="60"/>
              </a:spcAft>
            </a:pPr>
            <a:r>
              <a:rPr sz="671" b="0" i="0">
                <a:solidFill>
                  <a:srgbClr val="E5E7EB"/>
                </a:solidFill>
                <a:latin typeface="Consolas"/>
              </a:rPr>
              <a:t>        print(f"   average {col} = {sum(vals) / len(vals):.2f}")</a:t>
            </a:r>
          </a:p>
          <a:p>
            <a:pPr>
              <a:lnSpc>
                <a:spcPct val="100000"/>
              </a:lnSpc>
              <a:spcBef>
                <a:spcPts val="0"/>
              </a:spcBef>
              <a:spcAft>
                <a:spcPts val="60"/>
              </a:spcAft>
            </a:pPr>
            <a:r>
              <a:rPr sz="671" b="0" i="0">
                <a:solidFill>
                  <a:srgbClr val="E5E7EB"/>
                </a:solidFill>
                <a:latin typeface="Consolas"/>
              </a:rPr>
              <a:t>    elif op.lower() == "max":</a:t>
            </a:r>
          </a:p>
          <a:p>
            <a:pPr>
              <a:lnSpc>
                <a:spcPct val="100000"/>
              </a:lnSpc>
              <a:spcBef>
                <a:spcPts val="0"/>
              </a:spcBef>
              <a:spcAft>
                <a:spcPts val="60"/>
              </a:spcAft>
            </a:pPr>
            <a:r>
              <a:rPr sz="671" b="0" i="0">
                <a:solidFill>
                  <a:srgbClr val="E5E7EB"/>
                </a:solidFill>
                <a:latin typeface="Consolas"/>
              </a:rPr>
              <a:t>        print(f"   max {col} = {max(vals):g}")</a:t>
            </a:r>
          </a:p>
          <a:p>
            <a:pPr>
              <a:lnSpc>
                <a:spcPct val="100000"/>
              </a:lnSpc>
              <a:spcBef>
                <a:spcPts val="0"/>
              </a:spcBef>
              <a:spcAft>
                <a:spcPts val="60"/>
              </a:spcAft>
            </a:pPr>
            <a:r>
              <a:rPr sz="671" b="0" i="0">
                <a:solidFill>
                  <a:srgbClr val="E5E7EB"/>
                </a:solidFill>
                <a:latin typeface="Consolas"/>
              </a:rPr>
              <a:t>    else:</a:t>
            </a:r>
          </a:p>
          <a:p>
            <a:pPr>
              <a:lnSpc>
                <a:spcPct val="100000"/>
              </a:lnSpc>
              <a:spcBef>
                <a:spcPts val="0"/>
              </a:spcBef>
              <a:spcAft>
                <a:spcPts val="60"/>
              </a:spcAft>
            </a:pPr>
            <a:r>
              <a:rPr sz="671" b="0" i="0">
                <a:solidFill>
                  <a:srgbClr val="E5E7EB"/>
                </a:solidFill>
                <a:latin typeface="Consolas"/>
              </a:rPr>
              <a:t>        print(f"   min {col} = {min(vals):g}")</a:t>
            </a:r>
          </a:p>
          <a:p>
            <a:pPr>
              <a:lnSpc>
                <a:spcPct val="100000"/>
              </a:lnSpc>
              <a:spcBef>
                <a:spcPts val="0"/>
              </a:spcBef>
              <a:spcAft>
                <a:spcPts val="60"/>
              </a:spcAft>
            </a:pPr>
            <a:r>
              <a:rPr sz="671" b="0" i="0">
                <a:solidFill>
                  <a:srgbClr val="E5E7EB"/>
                </a:solidFill>
                <a:latin typeface="Consolas"/>
              </a:rPr>
              <a:t>print("Bye.")</a:t>
            </a:r>
          </a:p>
        </p:txBody>
      </p:sp>
      <p:sp>
        <p:nvSpPr>
          <p:cNvPr id="12" name="Rectangle 11"/>
          <p:cNvSpPr/>
          <p:nvPr/>
        </p:nvSpPr>
        <p:spPr>
          <a:xfrm>
            <a:off x="7680959" y="157276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3" y="1664208"/>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10 run 1</a:t>
            </a:r>
          </a:p>
        </p:txBody>
      </p:sp>
      <p:sp>
        <p:nvSpPr>
          <p:cNvPr id="14" name="TextBox 13"/>
          <p:cNvSpPr txBox="1"/>
          <p:nvPr/>
        </p:nvSpPr>
        <p:spPr>
          <a:xfrm>
            <a:off x="7827263" y="1938528"/>
            <a:ext cx="3794760" cy="1874519"/>
          </a:xfrm>
          <a:prstGeom prst="rect">
            <a:avLst/>
          </a:prstGeom>
          <a:noFill/>
        </p:spPr>
        <p:txBody>
          <a:bodyPr wrap="none" anchor="t" lIns="0" rIns="0" tIns="0" bIns="0">
            <a:spAutoFit/>
          </a:bodyPr>
          <a:lstStyle/>
          <a:p>
            <a:pPr>
              <a:lnSpc>
                <a:spcPct val="100000"/>
              </a:lnSpc>
              <a:spcBef>
                <a:spcPts val="0"/>
              </a:spcBef>
              <a:spcAft>
                <a:spcPts val="60"/>
              </a:spcAft>
            </a:pPr>
            <a:r>
              <a:rPr sz="732" b="0" i="0">
                <a:solidFill>
                  <a:srgbClr val="14171C"/>
                </a:solidFill>
                <a:latin typeface="Consolas"/>
              </a:rPr>
              <a:t>CSV file: ../data/weather.csv</a:t>
            </a:r>
          </a:p>
          <a:p>
            <a:pPr>
              <a:lnSpc>
                <a:spcPct val="100000"/>
              </a:lnSpc>
              <a:spcBef>
                <a:spcPts val="0"/>
              </a:spcBef>
              <a:spcAft>
                <a:spcPts val="60"/>
              </a:spcAft>
            </a:pPr>
            <a:r>
              <a:rPr sz="732" b="0" i="0">
                <a:solidFill>
                  <a:srgbClr val="14171C"/>
                </a:solidFill>
                <a:latin typeface="Consolas"/>
              </a:rPr>
              <a:t>Loaded 4 rows | columns: ['city', 'maxtemp', 'mintemp', 'rain_mm']</a:t>
            </a:r>
          </a:p>
          <a:p>
            <a:pPr>
              <a:lnSpc>
                <a:spcPct val="100000"/>
              </a:lnSpc>
              <a:spcBef>
                <a:spcPts val="0"/>
              </a:spcBef>
              <a:spcAft>
                <a:spcPts val="60"/>
              </a:spcAft>
            </a:pPr>
            <a:r>
              <a:rPr sz="732" b="0" i="0">
                <a:solidFill>
                  <a:srgbClr val="14171C"/>
                </a:solidFill>
                <a:latin typeface="Consolas"/>
              </a:rPr>
              <a:t>Numeric columns: ['maxtemp', 'mintemp', 'rain_mm']</a:t>
            </a:r>
          </a:p>
          <a:p>
            <a:pPr>
              <a:lnSpc>
                <a:spcPct val="100000"/>
              </a:lnSpc>
              <a:spcBef>
                <a:spcPts val="0"/>
              </a:spcBef>
              <a:spcAft>
                <a:spcPts val="60"/>
              </a:spcAft>
            </a:pPr>
            <a:r>
              <a:rPr sz="732" b="0" i="0">
                <a:solidFill>
                  <a:srgbClr val="14171C"/>
                </a:solidFill>
                <a:latin typeface="Consolas"/>
              </a:rPr>
              <a:t>Query (max|min|avg &lt;column&gt;, 'done' to quit): max maxtemp</a:t>
            </a:r>
          </a:p>
          <a:p>
            <a:pPr>
              <a:lnSpc>
                <a:spcPct val="100000"/>
              </a:lnSpc>
              <a:spcBef>
                <a:spcPts val="0"/>
              </a:spcBef>
              <a:spcAft>
                <a:spcPts val="60"/>
              </a:spcAft>
            </a:pPr>
            <a:r>
              <a:rPr sz="732" b="0" i="0">
                <a:solidFill>
                  <a:srgbClr val="14171C"/>
                </a:solidFill>
                <a:latin typeface="Consolas"/>
              </a:rPr>
              <a:t>   max maxtemp = 36.9</a:t>
            </a:r>
          </a:p>
          <a:p>
            <a:pPr>
              <a:lnSpc>
                <a:spcPct val="100000"/>
              </a:lnSpc>
              <a:spcBef>
                <a:spcPts val="0"/>
              </a:spcBef>
              <a:spcAft>
                <a:spcPts val="60"/>
              </a:spcAft>
            </a:pPr>
            <a:r>
              <a:rPr sz="732" b="0" i="0">
                <a:solidFill>
                  <a:srgbClr val="14171C"/>
                </a:solidFill>
                <a:latin typeface="Consolas"/>
              </a:rPr>
              <a:t>Query (max|min|avg &lt;column&gt;, 'done' to quit): avg rain_mm</a:t>
            </a:r>
          </a:p>
          <a:p>
            <a:pPr>
              <a:lnSpc>
                <a:spcPct val="100000"/>
              </a:lnSpc>
              <a:spcBef>
                <a:spcPts val="0"/>
              </a:spcBef>
              <a:spcAft>
                <a:spcPts val="60"/>
              </a:spcAft>
            </a:pPr>
            <a:r>
              <a:rPr sz="732" b="0" i="0">
                <a:solidFill>
                  <a:srgbClr val="14171C"/>
                </a:solidFill>
                <a:latin typeface="Consolas"/>
              </a:rPr>
              <a:t>   average rain_mm = 18.30</a:t>
            </a:r>
          </a:p>
          <a:p>
            <a:pPr>
              <a:lnSpc>
                <a:spcPct val="100000"/>
              </a:lnSpc>
              <a:spcBef>
                <a:spcPts val="0"/>
              </a:spcBef>
              <a:spcAft>
                <a:spcPts val="60"/>
              </a:spcAft>
            </a:pPr>
            <a:r>
              <a:rPr sz="732" b="0" i="0">
                <a:solidFill>
                  <a:srgbClr val="14171C"/>
                </a:solidFill>
                <a:latin typeface="Consolas"/>
              </a:rPr>
              <a:t>Query (max|min|avg &lt;column&gt;, 'done' to quit): min mintemp</a:t>
            </a:r>
          </a:p>
          <a:p>
            <a:pPr>
              <a:lnSpc>
                <a:spcPct val="100000"/>
              </a:lnSpc>
              <a:spcBef>
                <a:spcPts val="0"/>
              </a:spcBef>
              <a:spcAft>
                <a:spcPts val="60"/>
              </a:spcAft>
            </a:pPr>
            <a:r>
              <a:rPr sz="732" b="0" i="0">
                <a:solidFill>
                  <a:srgbClr val="14171C"/>
                </a:solidFill>
                <a:latin typeface="Consolas"/>
              </a:rPr>
              <a:t>   min mintemp = 18.2</a:t>
            </a:r>
          </a:p>
          <a:p>
            <a:pPr>
              <a:lnSpc>
                <a:spcPct val="100000"/>
              </a:lnSpc>
              <a:spcBef>
                <a:spcPts val="0"/>
              </a:spcBef>
              <a:spcAft>
                <a:spcPts val="60"/>
              </a:spcAft>
            </a:pPr>
            <a:r>
              <a:rPr sz="732" b="0" i="0">
                <a:solidFill>
                  <a:srgbClr val="14171C"/>
                </a:solidFill>
                <a:latin typeface="Consolas"/>
              </a:rPr>
              <a:t>Query (max|min|avg &lt;column&gt;, 'done' to quit): done</a:t>
            </a:r>
          </a:p>
          <a:p>
            <a:pPr>
              <a:lnSpc>
                <a:spcPct val="100000"/>
              </a:lnSpc>
              <a:spcBef>
                <a:spcPts val="0"/>
              </a:spcBef>
              <a:spcAft>
                <a:spcPts val="60"/>
              </a:spcAft>
            </a:pPr>
            <a:r>
              <a:rPr sz="732" b="0" i="0">
                <a:solidFill>
                  <a:srgbClr val="14171C"/>
                </a:solidFill>
                <a:latin typeface="Consolas"/>
              </a:rPr>
              <a:t>Bye.</a:t>
            </a:r>
          </a:p>
        </p:txBody>
      </p:sp>
      <p:sp>
        <p:nvSpPr>
          <p:cNvPr id="15" name="Rectangle 14"/>
          <p:cNvSpPr/>
          <p:nvPr/>
        </p:nvSpPr>
        <p:spPr>
          <a:xfrm>
            <a:off x="7680959" y="404164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3" y="4133087"/>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lab10 run 2</a:t>
            </a:r>
          </a:p>
        </p:txBody>
      </p:sp>
      <p:sp>
        <p:nvSpPr>
          <p:cNvPr id="17" name="TextBox 16"/>
          <p:cNvSpPr txBox="1"/>
          <p:nvPr/>
        </p:nvSpPr>
        <p:spPr>
          <a:xfrm>
            <a:off x="7827263" y="4407407"/>
            <a:ext cx="379476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CSV file: nope.csv</a:t>
            </a:r>
          </a:p>
          <a:p>
            <a:pPr>
              <a:lnSpc>
                <a:spcPct val="100000"/>
              </a:lnSpc>
              <a:spcBef>
                <a:spcPts val="0"/>
              </a:spcBef>
              <a:spcAft>
                <a:spcPts val="60"/>
              </a:spcAft>
            </a:pPr>
            <a:r>
              <a:rPr sz="1250" b="0" i="0">
                <a:solidFill>
                  <a:srgbClr val="14171C"/>
                </a:solidFill>
                <a:latin typeface="Consolas"/>
              </a:rPr>
              <a:t>'nope.csv' not found.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10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69</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Loaded 4 rows; city correctly excluded from numeric columns by the float() test (its ValueError caught silently); each query line repeats its prompt, so the transcript reads as a conversation with the answer beside every ask. The missing-file run is the guard that replaces a traceback with 'nope.csv' not found.</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Where exactly is the “dictionary form” created, and what does zip do if a row is short?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Which two lines make a column numeric or disqualify it? Name the exception caught.</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avg rain_mm = 18.30 — reproduce that number with a hand sum of the four values.</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Why print the prompt with the user’s query inside the transcript (pty vs pipe)?</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data = [dict(zip(header, r.split(","))) for r in rows[1:]] — one comprehension. If a row is short, zip stops at the shorter sequence: that record simply lacks the trailing keys, which the numeric detector tolerates (KeyError is not even reached because float() never sees it) — a design choice with an explicit limit, said out loud.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11 — Student Grade Tracker (Open-Ended)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70</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CO2 + CO5</a:t>
            </a:r>
            <a:r>
              <a:rPr sz="1250" b="0" i="0">
                <a:solidFill>
                  <a:srgbClr val="4B5563"/>
                </a:solidFill>
                <a:latin typeface="Calibri"/>
              </a:rPr>
              <a:t>    sentinel-terminated input loop, per-student dict with computed fields, the report as aligned table, max with a key lambda for the topper, a list comprehension for the support list.</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11. Develop Student Grade Tracker: Accept multiple students’ names and marks. Store them in a list of tuples or dictionaries. Display summary reports (average, topper, etc.).</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Store:</a:t>
            </a:r>
            <a:r>
              <a:rPr sz="1250" b="0" i="0">
                <a:solidFill>
                  <a:srgbClr val="16181D"/>
                </a:solidFill>
                <a:latin typeface="Calibri"/>
              </a:rPr>
              <a:t>one dict per student — name, marks (any count), avg, grade — appended to a list; dict chosen over tuple because the report reads by field name, which a viva can follow line by line.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Input is free-form “Name,m1,m2,…”, loop ends on a blank line; grades from one chained conditional expression (≥85 A, ≥70 B, ≥55 C, ≥40 D, else E) — the same table written once.</a:t>
            </a:r>
          </a:p>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Reports:</a:t>
            </a:r>
            <a:r>
              <a:rPr sz="1250" b="0" i="0">
                <a:solidFill>
                  <a:srgbClr val="16181D"/>
                </a:solidFill>
                <a:latin typeface="Calibri"/>
              </a:rPr>
              <a:t>the per-student table; topper via</a:t>
            </a:r>
            <a:r>
              <a:rPr sz="1250" b="0" i="0">
                <a:solidFill>
                  <a:srgbClr val="16181D"/>
                </a:solidFill>
                <a:latin typeface="Calibri"/>
              </a:rPr>
              <a:t>code&gt;max(students, key=lambda s: s["avg"])</a:t>
            </a:r>
            <a:r>
              <a:rPr sz="1250" b="0" i="0">
                <a:solidFill>
                  <a:srgbClr val="16181D"/>
                </a:solidFill>
                <a:latin typeface="Calibri"/>
              </a:rPr>
              <a:t>/code&gt;; class average via a comprehension; support list via a filter comprehension with an “none” else.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Empty input (blank first line) prints a clean refusal, not a crash on max([]).</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lab11.py</a:t>
            </a:r>
            <a:r>
              <a:rPr sz="1250" b="0" i="0">
                <a:solidFill>
                  <a:srgbClr val="16181D"/>
                </a:solidFill>
                <a:latin typeface="Calibri"/>
              </a:rPr>
              <a:t>  —  grade tracker</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11 — lab11.py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71</a:t>
            </a:r>
          </a:p>
        </p:txBody>
      </p:sp>
      <p:sp>
        <p:nvSpPr>
          <p:cNvPr id="8" name="Rectangle 7"/>
          <p:cNvSpPr/>
          <p:nvPr/>
        </p:nvSpPr>
        <p:spPr>
          <a:xfrm>
            <a:off x="411480" y="1572768"/>
            <a:ext cx="708660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708660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623060"/>
            <a:ext cx="679399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lab11.py  ·  2 captured run(s)</a:t>
            </a:r>
          </a:p>
        </p:txBody>
      </p:sp>
      <p:sp>
        <p:nvSpPr>
          <p:cNvPr id="11" name="TextBox 10"/>
          <p:cNvSpPr txBox="1"/>
          <p:nvPr/>
        </p:nvSpPr>
        <p:spPr>
          <a:xfrm>
            <a:off x="576072" y="1975104"/>
            <a:ext cx="6775704" cy="4325112"/>
          </a:xfrm>
          <a:prstGeom prst="rect">
            <a:avLst/>
          </a:prstGeom>
          <a:noFill/>
        </p:spPr>
        <p:txBody>
          <a:bodyPr wrap="none" anchor="t" lIns="0" rIns="0" tIns="0" bIns="0">
            <a:spAutoFit/>
          </a:bodyPr>
          <a:lstStyle/>
          <a:p>
            <a:pPr>
              <a:lnSpc>
                <a:spcPct val="100000"/>
              </a:lnSpc>
              <a:spcBef>
                <a:spcPts val="0"/>
              </a:spcBef>
              <a:spcAft>
                <a:spcPts val="60"/>
              </a:spcAft>
            </a:pPr>
            <a:r>
              <a:rPr sz="770" b="0" i="0">
                <a:solidFill>
                  <a:srgbClr val="E5E7EB"/>
                </a:solidFill>
                <a:latin typeface="Consolas"/>
              </a:rPr>
              <a:t># Lab 11 (open-ended) -- student grade tracker on a list of dicts</a:t>
            </a:r>
          </a:p>
          <a:p>
            <a:pPr>
              <a:lnSpc>
                <a:spcPct val="100000"/>
              </a:lnSpc>
              <a:spcBef>
                <a:spcPts val="0"/>
              </a:spcBef>
              <a:spcAft>
                <a:spcPts val="60"/>
              </a:spcAft>
            </a:pPr>
            <a:r>
              <a:rPr sz="770" b="0" i="0">
                <a:solidFill>
                  <a:srgbClr val="E5E7EB"/>
                </a:solidFill>
                <a:latin typeface="Consolas"/>
              </a:rPr>
              <a:t># Run   : python3 lab11.py</a:t>
            </a:r>
          </a:p>
          <a:p>
            <a:pPr>
              <a:lnSpc>
                <a:spcPct val="100000"/>
              </a:lnSpc>
              <a:spcBef>
                <a:spcPts val="0"/>
              </a:spcBef>
              <a:spcAft>
                <a:spcPts val="60"/>
              </a:spcAft>
            </a:pPr>
            <a:r>
              <a:rPr sz="770" b="0" i="0">
                <a:solidFill>
                  <a:srgbClr val="E5E7EB"/>
                </a:solidFill>
                <a:latin typeface="Consolas"/>
              </a:rPr>
              <a:t>students = []</a:t>
            </a:r>
          </a:p>
          <a:p>
            <a:pPr>
              <a:lnSpc>
                <a:spcPct val="100000"/>
              </a:lnSpc>
              <a:spcBef>
                <a:spcPts val="0"/>
              </a:spcBef>
              <a:spcAft>
                <a:spcPts val="60"/>
              </a:spcAft>
            </a:pPr>
            <a:r>
              <a:rPr sz="770" b="0" i="0">
                <a:solidFill>
                  <a:srgbClr val="E5E7EB"/>
                </a:solidFill>
                <a:latin typeface="Consolas"/>
              </a:rPr>
              <a:t>while True:</a:t>
            </a:r>
          </a:p>
          <a:p>
            <a:pPr>
              <a:lnSpc>
                <a:spcPct val="100000"/>
              </a:lnSpc>
              <a:spcBef>
                <a:spcPts val="0"/>
              </a:spcBef>
              <a:spcAft>
                <a:spcPts val="60"/>
              </a:spcAft>
            </a:pPr>
            <a:r>
              <a:rPr sz="770" b="0" i="0">
                <a:solidFill>
                  <a:srgbClr val="E5E7EB"/>
                </a:solidFill>
                <a:latin typeface="Consolas"/>
              </a:rPr>
              <a:t>    line = input("Name,mark1,mark2,mark3 (blank line to finish): ").strip()</a:t>
            </a:r>
          </a:p>
          <a:p>
            <a:pPr>
              <a:lnSpc>
                <a:spcPct val="100000"/>
              </a:lnSpc>
              <a:spcBef>
                <a:spcPts val="0"/>
              </a:spcBef>
              <a:spcAft>
                <a:spcPts val="60"/>
              </a:spcAft>
            </a:pPr>
            <a:r>
              <a:rPr sz="770" b="0" i="0">
                <a:solidFill>
                  <a:srgbClr val="E5E7EB"/>
                </a:solidFill>
                <a:latin typeface="Consolas"/>
              </a:rPr>
              <a:t>    if not line:</a:t>
            </a:r>
          </a:p>
          <a:p>
            <a:pPr>
              <a:lnSpc>
                <a:spcPct val="100000"/>
              </a:lnSpc>
              <a:spcBef>
                <a:spcPts val="0"/>
              </a:spcBef>
              <a:spcAft>
                <a:spcPts val="60"/>
              </a:spcAft>
            </a:pPr>
            <a:r>
              <a:rPr sz="770" b="0" i="0">
                <a:solidFill>
                  <a:srgbClr val="E5E7EB"/>
                </a:solidFill>
                <a:latin typeface="Consolas"/>
              </a:rPr>
              <a:t>        break</a:t>
            </a:r>
          </a:p>
          <a:p>
            <a:pPr>
              <a:lnSpc>
                <a:spcPct val="100000"/>
              </a:lnSpc>
              <a:spcBef>
                <a:spcPts val="0"/>
              </a:spcBef>
              <a:spcAft>
                <a:spcPts val="60"/>
              </a:spcAft>
            </a:pPr>
            <a:r>
              <a:rPr sz="770" b="0" i="0">
                <a:solidFill>
                  <a:srgbClr val="E5E7EB"/>
                </a:solidFill>
                <a:latin typeface="Consolas"/>
              </a:rPr>
              <a:t>    parts = [p.strip() for p in line.split(",")]</a:t>
            </a:r>
          </a:p>
          <a:p>
            <a:pPr>
              <a:lnSpc>
                <a:spcPct val="100000"/>
              </a:lnSpc>
              <a:spcBef>
                <a:spcPts val="0"/>
              </a:spcBef>
              <a:spcAft>
                <a:spcPts val="60"/>
              </a:spcAft>
            </a:pPr>
            <a:r>
              <a:rPr sz="770" b="0" i="0">
                <a:solidFill>
                  <a:srgbClr val="E5E7EB"/>
                </a:solidFill>
                <a:latin typeface="Consolas"/>
              </a:rPr>
              <a:t>    if len(parts) &lt; 2:</a:t>
            </a:r>
          </a:p>
          <a:p>
            <a:pPr>
              <a:lnSpc>
                <a:spcPct val="100000"/>
              </a:lnSpc>
              <a:spcBef>
                <a:spcPts val="0"/>
              </a:spcBef>
              <a:spcAft>
                <a:spcPts val="60"/>
              </a:spcAft>
            </a:pPr>
            <a:r>
              <a:rPr sz="770" b="0" i="0">
                <a:solidFill>
                  <a:srgbClr val="E5E7EB"/>
                </a:solidFill>
                <a:latin typeface="Consolas"/>
              </a:rPr>
              <a:t>        print("   need at least a name and one mark -- skipped")</a:t>
            </a:r>
          </a:p>
          <a:p>
            <a:pPr>
              <a:lnSpc>
                <a:spcPct val="100000"/>
              </a:lnSpc>
              <a:spcBef>
                <a:spcPts val="0"/>
              </a:spcBef>
              <a:spcAft>
                <a:spcPts val="60"/>
              </a:spcAft>
            </a:pPr>
            <a:r>
              <a:rPr sz="770" b="0" i="0">
                <a:solidFill>
                  <a:srgbClr val="E5E7EB"/>
                </a:solidFill>
                <a:latin typeface="Consolas"/>
              </a:rPr>
              <a:t>        continue</a:t>
            </a:r>
          </a:p>
          <a:p>
            <a:pPr>
              <a:lnSpc>
                <a:spcPct val="100000"/>
              </a:lnSpc>
              <a:spcBef>
                <a:spcPts val="0"/>
              </a:spcBef>
              <a:spcAft>
                <a:spcPts val="60"/>
              </a:spcAft>
            </a:pPr>
            <a:r>
              <a:rPr sz="770" b="0" i="0">
                <a:solidFill>
                  <a:srgbClr val="E5E7EB"/>
                </a:solidFill>
                <a:latin typeface="Consolas"/>
              </a:rPr>
              <a:t>    name = parts[0]</a:t>
            </a:r>
          </a:p>
          <a:p>
            <a:pPr>
              <a:lnSpc>
                <a:spcPct val="100000"/>
              </a:lnSpc>
              <a:spcBef>
                <a:spcPts val="0"/>
              </a:spcBef>
              <a:spcAft>
                <a:spcPts val="60"/>
              </a:spcAft>
            </a:pPr>
            <a:r>
              <a:rPr sz="770" b="0" i="0">
                <a:solidFill>
                  <a:srgbClr val="E5E7EB"/>
                </a:solidFill>
                <a:latin typeface="Consolas"/>
              </a:rPr>
              <a:t>    marks = [float(m) for m in parts[1:]]</a:t>
            </a:r>
          </a:p>
          <a:p>
            <a:pPr>
              <a:lnSpc>
                <a:spcPct val="100000"/>
              </a:lnSpc>
              <a:spcBef>
                <a:spcPts val="0"/>
              </a:spcBef>
              <a:spcAft>
                <a:spcPts val="60"/>
              </a:spcAft>
            </a:pPr>
            <a:r>
              <a:rPr sz="770" b="0" i="0">
                <a:solidFill>
                  <a:srgbClr val="E5E7EB"/>
                </a:solidFill>
                <a:latin typeface="Consolas"/>
              </a:rPr>
              <a:t>    avg = sum(marks) / len(marks)</a:t>
            </a:r>
          </a:p>
          <a:p>
            <a:pPr>
              <a:lnSpc>
                <a:spcPct val="100000"/>
              </a:lnSpc>
              <a:spcBef>
                <a:spcPts val="0"/>
              </a:spcBef>
              <a:spcAft>
                <a:spcPts val="60"/>
              </a:spcAft>
            </a:pPr>
            <a:r>
              <a:rPr sz="770" b="0" i="0">
                <a:solidFill>
                  <a:srgbClr val="E5E7EB"/>
                </a:solidFill>
                <a:latin typeface="Consolas"/>
              </a:rPr>
              <a:t>    grade = ("A" if avg &gt;= 85 else "B" if avg &gt;= 70 else</a:t>
            </a:r>
          </a:p>
          <a:p>
            <a:pPr>
              <a:lnSpc>
                <a:spcPct val="100000"/>
              </a:lnSpc>
              <a:spcBef>
                <a:spcPts val="0"/>
              </a:spcBef>
              <a:spcAft>
                <a:spcPts val="60"/>
              </a:spcAft>
            </a:pPr>
            <a:r>
              <a:rPr sz="770" b="0" i="0">
                <a:solidFill>
                  <a:srgbClr val="E5E7EB"/>
                </a:solidFill>
                <a:latin typeface="Consolas"/>
              </a:rPr>
              <a:t>             "C" if avg &gt;= 55 else "D" if avg &gt;= 40 else "E")</a:t>
            </a:r>
          </a:p>
          <a:p>
            <a:pPr>
              <a:lnSpc>
                <a:spcPct val="100000"/>
              </a:lnSpc>
              <a:spcBef>
                <a:spcPts val="0"/>
              </a:spcBef>
              <a:spcAft>
                <a:spcPts val="60"/>
              </a:spcAft>
            </a:pPr>
            <a:r>
              <a:rPr sz="770" b="0" i="0">
                <a:solidFill>
                  <a:srgbClr val="E5E7EB"/>
                </a:solidFill>
                <a:latin typeface="Consolas"/>
              </a:rPr>
              <a:t>    students.append({"name": name, "marks": marks, "avg": avg, "grade": grade})</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if not students:</a:t>
            </a:r>
          </a:p>
          <a:p>
            <a:pPr>
              <a:lnSpc>
                <a:spcPct val="100000"/>
              </a:lnSpc>
              <a:spcBef>
                <a:spcPts val="0"/>
              </a:spcBef>
              <a:spcAft>
                <a:spcPts val="60"/>
              </a:spcAft>
            </a:pPr>
            <a:r>
              <a:rPr sz="770" b="0" i="0">
                <a:solidFill>
                  <a:srgbClr val="E5E7EB"/>
                </a:solidFill>
                <a:latin typeface="Consolas"/>
              </a:rPr>
              <a:t>    print("No students entered -- nothing to report.")</a:t>
            </a:r>
          </a:p>
          <a:p>
            <a:pPr>
              <a:lnSpc>
                <a:spcPct val="100000"/>
              </a:lnSpc>
              <a:spcBef>
                <a:spcPts val="0"/>
              </a:spcBef>
              <a:spcAft>
                <a:spcPts val="60"/>
              </a:spcAft>
            </a:pPr>
            <a:r>
              <a:rPr sz="770" b="0" i="0">
                <a:solidFill>
                  <a:srgbClr val="E5E7EB"/>
                </a:solidFill>
                <a:latin typeface="Consolas"/>
              </a:rPr>
              <a:t>    raise SystemExit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print("\n===== GRADE TRACKER REPORT =====")</a:t>
            </a:r>
          </a:p>
          <a:p>
            <a:pPr>
              <a:lnSpc>
                <a:spcPct val="100000"/>
              </a:lnSpc>
              <a:spcBef>
                <a:spcPts val="0"/>
              </a:spcBef>
              <a:spcAft>
                <a:spcPts val="60"/>
              </a:spcAft>
            </a:pPr>
            <a:r>
              <a:rPr sz="770" b="0" i="0">
                <a:solidFill>
                  <a:srgbClr val="E5E7EB"/>
                </a:solidFill>
                <a:latin typeface="Consolas"/>
              </a:rPr>
              <a:t>print(f"{'STUDENT':&lt;10}{'MARKS':&lt;18}{'AVG':&gt;6}{'GRADE':&gt;6}")</a:t>
            </a:r>
          </a:p>
          <a:p>
            <a:pPr>
              <a:lnSpc>
                <a:spcPct val="100000"/>
              </a:lnSpc>
              <a:spcBef>
                <a:spcPts val="0"/>
              </a:spcBef>
              <a:spcAft>
                <a:spcPts val="60"/>
              </a:spcAft>
            </a:pPr>
            <a:r>
              <a:rPr sz="770" b="0" i="0">
                <a:solidFill>
                  <a:srgbClr val="E5E7EB"/>
                </a:solidFill>
                <a:latin typeface="Consolas"/>
              </a:rPr>
              <a:t>for s in students:</a:t>
            </a:r>
          </a:p>
          <a:p>
            <a:pPr>
              <a:lnSpc>
                <a:spcPct val="100000"/>
              </a:lnSpc>
              <a:spcBef>
                <a:spcPts val="0"/>
              </a:spcBef>
              <a:spcAft>
                <a:spcPts val="60"/>
              </a:spcAft>
            </a:pPr>
            <a:r>
              <a:rPr sz="770" b="0" i="0">
                <a:solidFill>
                  <a:srgbClr val="E5E7EB"/>
                </a:solidFill>
                <a:latin typeface="Consolas"/>
              </a:rPr>
              <a:t>    ms = " ".join(f"{m:g}" for m in s["marks"])</a:t>
            </a:r>
          </a:p>
          <a:p>
            <a:pPr>
              <a:lnSpc>
                <a:spcPct val="100000"/>
              </a:lnSpc>
              <a:spcBef>
                <a:spcPts val="0"/>
              </a:spcBef>
              <a:spcAft>
                <a:spcPts val="60"/>
              </a:spcAft>
            </a:pPr>
            <a:r>
              <a:rPr sz="770" b="0" i="0">
                <a:solidFill>
                  <a:srgbClr val="E5E7EB"/>
                </a:solidFill>
                <a:latin typeface="Consolas"/>
              </a:rPr>
              <a:t>    print(f"{s['name']:&lt;10}{ms:&lt;18}{s['avg']:&gt;6.2f}{s['grade']:&gt;6}")</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top = max(students, key=lambda s: s["avg"])</a:t>
            </a:r>
          </a:p>
          <a:p>
            <a:pPr>
              <a:lnSpc>
                <a:spcPct val="100000"/>
              </a:lnSpc>
              <a:spcBef>
                <a:spcPts val="0"/>
              </a:spcBef>
              <a:spcAft>
                <a:spcPts val="60"/>
              </a:spcAft>
            </a:pPr>
            <a:r>
              <a:rPr sz="770" b="0" i="0">
                <a:solidFill>
                  <a:srgbClr val="E5E7EB"/>
                </a:solidFill>
                <a:latin typeface="Consolas"/>
              </a:rPr>
              <a:t>class_avg = sum(s["avg"] for s in students) / len(students)</a:t>
            </a:r>
          </a:p>
          <a:p>
            <a:pPr>
              <a:lnSpc>
                <a:spcPct val="100000"/>
              </a:lnSpc>
              <a:spcBef>
                <a:spcPts val="0"/>
              </a:spcBef>
              <a:spcAft>
                <a:spcPts val="60"/>
              </a:spcAft>
            </a:pPr>
            <a:r>
              <a:rPr sz="770" b="0" i="0">
                <a:solidFill>
                  <a:srgbClr val="E5E7EB"/>
                </a:solidFill>
                <a:latin typeface="Consolas"/>
              </a:rPr>
              <a:t>print(f"\nStudents: {len(students)} | Topper: {top['name']} ({top['avg']:.2f})"</a:t>
            </a:r>
          </a:p>
          <a:p>
            <a:pPr>
              <a:lnSpc>
                <a:spcPct val="100000"/>
              </a:lnSpc>
              <a:spcBef>
                <a:spcPts val="0"/>
              </a:spcBef>
              <a:spcAft>
                <a:spcPts val="60"/>
              </a:spcAft>
            </a:pPr>
            <a:r>
              <a:rPr sz="770" b="0" i="0">
                <a:solidFill>
                  <a:srgbClr val="E5E7EB"/>
                </a:solidFill>
                <a:latin typeface="Consolas"/>
              </a:rPr>
              <a:t>      f" | Class average: {class_avg:.2f}")</a:t>
            </a:r>
          </a:p>
          <a:p>
            <a:pPr>
              <a:lnSpc>
                <a:spcPct val="100000"/>
              </a:lnSpc>
              <a:spcBef>
                <a:spcPts val="0"/>
              </a:spcBef>
              <a:spcAft>
                <a:spcPts val="60"/>
              </a:spcAft>
            </a:pPr>
            <a:r>
              <a:rPr sz="770" b="0" i="0">
                <a:solidFill>
                  <a:srgbClr val="E5E7EB"/>
                </a:solidFill>
                <a:latin typeface="Consolas"/>
              </a:rPr>
              <a:t>weak = [s["name"] for s in students if s["grade"] == "E"]</a:t>
            </a:r>
          </a:p>
          <a:p>
            <a:pPr>
              <a:lnSpc>
                <a:spcPct val="100000"/>
              </a:lnSpc>
              <a:spcBef>
                <a:spcPts val="0"/>
              </a:spcBef>
              <a:spcAft>
                <a:spcPts val="60"/>
              </a:spcAft>
            </a:pPr>
            <a:r>
              <a:rPr sz="770" b="0" i="0">
                <a:solidFill>
                  <a:srgbClr val="E5E7EB"/>
                </a:solidFill>
                <a:latin typeface="Consolas"/>
              </a:rPr>
              <a:t>print("Needs support (grade E):", ", ".join(weak) if weak else "none")</a:t>
            </a:r>
          </a:p>
        </p:txBody>
      </p:sp>
      <p:sp>
        <p:nvSpPr>
          <p:cNvPr id="12" name="Rectangle 11"/>
          <p:cNvSpPr/>
          <p:nvPr/>
        </p:nvSpPr>
        <p:spPr>
          <a:xfrm>
            <a:off x="7680959" y="157276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7263" y="1664208"/>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11 run 1</a:t>
            </a:r>
          </a:p>
        </p:txBody>
      </p:sp>
      <p:sp>
        <p:nvSpPr>
          <p:cNvPr id="14" name="TextBox 13"/>
          <p:cNvSpPr txBox="1"/>
          <p:nvPr/>
        </p:nvSpPr>
        <p:spPr>
          <a:xfrm>
            <a:off x="7827263" y="1938528"/>
            <a:ext cx="3794760" cy="1874519"/>
          </a:xfrm>
          <a:prstGeom prst="rect">
            <a:avLst/>
          </a:prstGeom>
          <a:noFill/>
        </p:spPr>
        <p:txBody>
          <a:bodyPr wrap="none" anchor="t" lIns="0" rIns="0" tIns="0" bIns="0">
            <a:spAutoFit/>
          </a:bodyPr>
          <a:lstStyle/>
          <a:p>
            <a:pPr>
              <a:lnSpc>
                <a:spcPct val="100000"/>
              </a:lnSpc>
              <a:spcBef>
                <a:spcPts val="0"/>
              </a:spcBef>
              <a:spcAft>
                <a:spcPts val="60"/>
              </a:spcAft>
            </a:pPr>
            <a:r>
              <a:rPr sz="779" b="0" i="0">
                <a:solidFill>
                  <a:srgbClr val="14171C"/>
                </a:solidFill>
                <a:latin typeface="Consolas"/>
              </a:rPr>
              <a:t>Name,mark1,mark2,mark3 (blank line to finish): Asha,88,92,79</a:t>
            </a:r>
          </a:p>
          <a:p>
            <a:pPr>
              <a:lnSpc>
                <a:spcPct val="100000"/>
              </a:lnSpc>
              <a:spcBef>
                <a:spcPts val="0"/>
              </a:spcBef>
              <a:spcAft>
                <a:spcPts val="60"/>
              </a:spcAft>
            </a:pPr>
            <a:r>
              <a:rPr sz="779" b="0" i="0">
                <a:solidFill>
                  <a:srgbClr val="14171C"/>
                </a:solidFill>
                <a:latin typeface="Consolas"/>
              </a:rPr>
              <a:t>Name,mark1,mark2,mark3 (blank line to finish): Deepak,54,61,49</a:t>
            </a:r>
          </a:p>
          <a:p>
            <a:pPr>
              <a:lnSpc>
                <a:spcPct val="100000"/>
              </a:lnSpc>
              <a:spcBef>
                <a:spcPts val="0"/>
              </a:spcBef>
              <a:spcAft>
                <a:spcPts val="60"/>
              </a:spcAft>
            </a:pPr>
            <a:r>
              <a:rPr sz="779" b="0" i="0">
                <a:solidFill>
                  <a:srgbClr val="14171C"/>
                </a:solidFill>
                <a:latin typeface="Consolas"/>
              </a:rPr>
              <a:t>Name,mark1,mark2,mark3 (blank line to finish): Kiran,72,68,80</a:t>
            </a:r>
          </a:p>
          <a:p>
            <a:pPr>
              <a:lnSpc>
                <a:spcPct val="100000"/>
              </a:lnSpc>
              <a:spcBef>
                <a:spcPts val="0"/>
              </a:spcBef>
              <a:spcAft>
                <a:spcPts val="60"/>
              </a:spcAft>
            </a:pPr>
            <a:r>
              <a:rPr sz="779" b="0" i="0">
                <a:solidFill>
                  <a:srgbClr val="14171C"/>
                </a:solidFill>
                <a:latin typeface="Consolas"/>
              </a:rPr>
              <a:t>Name,mark1,mark2,mark3 (blank line to finish):</a:t>
            </a:r>
          </a:p>
          <a:p>
            <a:pPr>
              <a:lnSpc>
                <a:spcPct val="100000"/>
              </a:lnSpc>
              <a:spcBef>
                <a:spcPts val="0"/>
              </a:spcBef>
              <a:spcAft>
                <a:spcPts val="60"/>
              </a:spcAft>
            </a:pPr>
            <a:r>
              <a:rPr sz="779" b="0" i="0">
                <a:solidFill>
                  <a:srgbClr val="14171C"/>
                </a:solidFill>
                <a:latin typeface="Consolas"/>
              </a:rPr>
              <a:t> </a:t>
            </a:r>
          </a:p>
          <a:p>
            <a:pPr>
              <a:lnSpc>
                <a:spcPct val="100000"/>
              </a:lnSpc>
              <a:spcBef>
                <a:spcPts val="0"/>
              </a:spcBef>
              <a:spcAft>
                <a:spcPts val="60"/>
              </a:spcAft>
            </a:pPr>
            <a:r>
              <a:rPr sz="779" b="0" i="0">
                <a:solidFill>
                  <a:srgbClr val="14171C"/>
                </a:solidFill>
                <a:latin typeface="Consolas"/>
              </a:rPr>
              <a:t>===== GRADE TRACKER REPORT =====</a:t>
            </a:r>
          </a:p>
          <a:p>
            <a:pPr>
              <a:lnSpc>
                <a:spcPct val="100000"/>
              </a:lnSpc>
              <a:spcBef>
                <a:spcPts val="0"/>
              </a:spcBef>
              <a:spcAft>
                <a:spcPts val="60"/>
              </a:spcAft>
            </a:pPr>
            <a:r>
              <a:rPr sz="779" b="0" i="0">
                <a:solidFill>
                  <a:srgbClr val="14171C"/>
                </a:solidFill>
                <a:latin typeface="Consolas"/>
              </a:rPr>
              <a:t>STUDENT   MARKS                AVG GRADE</a:t>
            </a:r>
          </a:p>
          <a:p>
            <a:pPr>
              <a:lnSpc>
                <a:spcPct val="100000"/>
              </a:lnSpc>
              <a:spcBef>
                <a:spcPts val="0"/>
              </a:spcBef>
              <a:spcAft>
                <a:spcPts val="60"/>
              </a:spcAft>
            </a:pPr>
            <a:r>
              <a:rPr sz="779" b="0" i="0">
                <a:solidFill>
                  <a:srgbClr val="14171C"/>
                </a:solidFill>
                <a:latin typeface="Consolas"/>
              </a:rPr>
              <a:t>Asha      88 92 79           86.33     A</a:t>
            </a:r>
          </a:p>
          <a:p>
            <a:pPr>
              <a:lnSpc>
                <a:spcPct val="100000"/>
              </a:lnSpc>
              <a:spcBef>
                <a:spcPts val="0"/>
              </a:spcBef>
              <a:spcAft>
                <a:spcPts val="60"/>
              </a:spcAft>
            </a:pPr>
            <a:r>
              <a:rPr sz="779" b="0" i="0">
                <a:solidFill>
                  <a:srgbClr val="14171C"/>
                </a:solidFill>
                <a:latin typeface="Consolas"/>
              </a:rPr>
              <a:t>Deepak    54 61 49           54.67     D</a:t>
            </a:r>
          </a:p>
          <a:p>
            <a:pPr>
              <a:lnSpc>
                <a:spcPct val="100000"/>
              </a:lnSpc>
              <a:spcBef>
                <a:spcPts val="0"/>
              </a:spcBef>
              <a:spcAft>
                <a:spcPts val="60"/>
              </a:spcAft>
            </a:pPr>
            <a:r>
              <a:rPr sz="779" b="0" i="0">
                <a:solidFill>
                  <a:srgbClr val="14171C"/>
                </a:solidFill>
                <a:latin typeface="Consolas"/>
              </a:rPr>
              <a:t>Kiran     72 68 80           73.33     B</a:t>
            </a:r>
          </a:p>
          <a:p>
            <a:pPr>
              <a:lnSpc>
                <a:spcPct val="100000"/>
              </a:lnSpc>
              <a:spcBef>
                <a:spcPts val="0"/>
              </a:spcBef>
              <a:spcAft>
                <a:spcPts val="60"/>
              </a:spcAft>
            </a:pPr>
            <a:r>
              <a:rPr sz="779" b="0" i="0">
                <a:solidFill>
                  <a:srgbClr val="14171C"/>
                </a:solidFill>
                <a:latin typeface="Consolas"/>
              </a:rPr>
              <a:t> </a:t>
            </a:r>
          </a:p>
          <a:p>
            <a:pPr>
              <a:lnSpc>
                <a:spcPct val="100000"/>
              </a:lnSpc>
              <a:spcBef>
                <a:spcPts val="0"/>
              </a:spcBef>
              <a:spcAft>
                <a:spcPts val="60"/>
              </a:spcAft>
            </a:pPr>
            <a:r>
              <a:rPr sz="779" b="0" i="0">
                <a:solidFill>
                  <a:srgbClr val="14171C"/>
                </a:solidFill>
                <a:latin typeface="Consolas"/>
              </a:rPr>
              <a:t>Students: 3 | Topper: Asha (86.33) | Class average: 71.44</a:t>
            </a:r>
          </a:p>
          <a:p>
            <a:pPr>
              <a:lnSpc>
                <a:spcPct val="100000"/>
              </a:lnSpc>
              <a:spcBef>
                <a:spcPts val="0"/>
              </a:spcBef>
              <a:spcAft>
                <a:spcPts val="60"/>
              </a:spcAft>
            </a:pPr>
            <a:r>
              <a:rPr sz="779" b="0" i="0">
                <a:solidFill>
                  <a:srgbClr val="14171C"/>
                </a:solidFill>
                <a:latin typeface="Consolas"/>
              </a:rPr>
              <a:t>Needs support (grade E): none</a:t>
            </a:r>
          </a:p>
        </p:txBody>
      </p:sp>
      <p:sp>
        <p:nvSpPr>
          <p:cNvPr id="15" name="Rectangle 14"/>
          <p:cNvSpPr/>
          <p:nvPr/>
        </p:nvSpPr>
        <p:spPr>
          <a:xfrm>
            <a:off x="7680959" y="4041648"/>
            <a:ext cx="406908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3" y="4133087"/>
            <a:ext cx="379476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lab11 run 2</a:t>
            </a:r>
          </a:p>
        </p:txBody>
      </p:sp>
      <p:sp>
        <p:nvSpPr>
          <p:cNvPr id="17" name="TextBox 16"/>
          <p:cNvSpPr txBox="1"/>
          <p:nvPr/>
        </p:nvSpPr>
        <p:spPr>
          <a:xfrm>
            <a:off x="7827263" y="4407407"/>
            <a:ext cx="3794760" cy="1874520"/>
          </a:xfrm>
          <a:prstGeom prst="rect">
            <a:avLst/>
          </a:prstGeom>
          <a:noFill/>
        </p:spPr>
        <p:txBody>
          <a:bodyPr wrap="none" anchor="t" lIns="0" rIns="0" tIns="0" bIns="0">
            <a:spAutoFit/>
          </a:bodyPr>
          <a:lstStyle/>
          <a:p>
            <a:pPr>
              <a:lnSpc>
                <a:spcPct val="100000"/>
              </a:lnSpc>
              <a:spcBef>
                <a:spcPts val="0"/>
              </a:spcBef>
              <a:spcAft>
                <a:spcPts val="60"/>
              </a:spcAft>
            </a:pPr>
            <a:r>
              <a:rPr sz="1051" b="0" i="0">
                <a:solidFill>
                  <a:srgbClr val="14171C"/>
                </a:solidFill>
                <a:latin typeface="Consolas"/>
              </a:rPr>
              <a:t>Name,mark1,mark2,mark3 (blank line to finish):</a:t>
            </a:r>
          </a:p>
          <a:p>
            <a:pPr>
              <a:lnSpc>
                <a:spcPct val="100000"/>
              </a:lnSpc>
              <a:spcBef>
                <a:spcPts val="0"/>
              </a:spcBef>
              <a:spcAft>
                <a:spcPts val="60"/>
              </a:spcAft>
            </a:pPr>
            <a:r>
              <a:rPr sz="1051" b="0" i="0">
                <a:solidFill>
                  <a:srgbClr val="14171C"/>
                </a:solidFill>
                <a:latin typeface="Consolas"/>
              </a:rPr>
              <a:t>No students entered -- nothing to report.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11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72</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Asha 86.33 A, Kiran 73.33 B, Deepak 54.67 D; class average 71.44; no E — the support line prints “none” because the comprehension came back empty and the program says so rather than printing a blank. All numbers verify by hand: 88+92+79 = 259, /3 = 86.33(3).</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dictionaries over tuples for a store with four fields?</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Which line decides the topper and what does its key argument do?</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Add a student with four subjects — which code lines change? Answer: name the number, it is zero.</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State the grade boundary behaviour at exactly 70: inclusive or not, and where the answer lives.</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Field names in the report come free: s["avg"] reads the way the question words it; a tuple would be s[2] with a comment, and every extra column shifts every index. Both satisfy the syllabus — the dict just survives the viva better.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12 — Recursive Folder Listing (Open-Ended)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73</a:t>
            </a:r>
          </a:p>
        </p:txBody>
      </p:sp>
      <p:sp>
        <p:nvSpPr>
          <p:cNvPr id="8" name="TextBox 7"/>
          <p:cNvSpPr txBox="1"/>
          <p:nvPr/>
        </p:nvSpPr>
        <p:spPr>
          <a:xfrm>
            <a:off x="502920" y="1517904"/>
            <a:ext cx="11155680" cy="365760"/>
          </a:xfrm>
          <a:prstGeom prst="rect">
            <a:avLst/>
          </a:prstGeom>
          <a:noFill/>
        </p:spPr>
        <p:txBody>
          <a:bodyPr wrap="square" anchor="t" lIns="0" rIns="0" tIns="0" bIns="0">
            <a:spAutoFit/>
          </a:bodyPr>
          <a:lstStyle/>
          <a:p>
            <a:pPr>
              <a:spcBef>
                <a:spcPts val="0"/>
              </a:spcBef>
              <a:spcAft>
                <a:spcPts val="0"/>
              </a:spcAft>
            </a:pPr>
            <a:r>
              <a:rPr sz="1400" b="1" i="0">
                <a:solidFill>
                  <a:srgbClr val="B3261E"/>
                </a:solidFill>
                <a:latin typeface="Calibri"/>
              </a:rPr>
              <a:t>CO3 + CO4</a:t>
            </a:r>
            <a:r>
              <a:rPr sz="1250" b="0" i="0">
                <a:solidFill>
                  <a:srgbClr val="4B5563"/>
                </a:solidFill>
                <a:latin typeface="Calibri"/>
              </a:rPr>
              <a:t>    recursive function with a level parameter, sorted listing for deterministic output, name/type extraction via splitext, the │-indent as a printed call stack.</a:t>
            </a:r>
          </a:p>
        </p:txBody>
      </p:sp>
      <p:sp>
        <p:nvSpPr>
          <p:cNvPr id="9" name="Rectangle 8"/>
          <p:cNvSpPr/>
          <p:nvPr/>
        </p:nvSpPr>
        <p:spPr>
          <a:xfrm>
            <a:off x="502920" y="1965960"/>
            <a:ext cx="589788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965960"/>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57400"/>
            <a:ext cx="551383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THE QUESTION (VERBATIM)</a:t>
            </a:r>
          </a:p>
          <a:p>
            <a:pPr>
              <a:lnSpc>
                <a:spcPct val="108000"/>
              </a:lnSpc>
              <a:spcBef>
                <a:spcPts val="0"/>
              </a:spcBef>
              <a:spcAft>
                <a:spcPts val="0"/>
              </a:spcAft>
            </a:pPr>
            <a:r>
              <a:rPr sz="1150" b="0" i="0">
                <a:solidFill>
                  <a:srgbClr val="16181D"/>
                </a:solidFill>
                <a:latin typeface="Calibri"/>
              </a:rPr>
              <a:t>12. Develop a program to display contents of a folder recursively (Directory) having sub-folders and files (name and type).</a:t>
            </a:r>
          </a:p>
        </p:txBody>
      </p:sp>
      <p:sp>
        <p:nvSpPr>
          <p:cNvPr id="12" name="TextBox 11"/>
          <p:cNvSpPr txBox="1"/>
          <p:nvPr/>
        </p:nvSpPr>
        <p:spPr>
          <a:xfrm>
            <a:off x="6675120" y="1965960"/>
            <a:ext cx="5029200" cy="274320"/>
          </a:xfrm>
          <a:prstGeom prst="rect">
            <a:avLst/>
          </a:prstGeom>
          <a:noFill/>
        </p:spPr>
        <p:txBody>
          <a:bodyPr wrap="square" anchor="t" lIns="0" rIns="0" tIns="0" bIns="0">
            <a:spAutoFit/>
          </a:bodyPr>
          <a:lstStyle/>
          <a:p>
            <a:pPr>
              <a:spcBef>
                <a:spcPts val="0"/>
              </a:spcBef>
              <a:spcAft>
                <a:spcPts val="0"/>
              </a:spcAft>
            </a:pPr>
            <a:r>
              <a:rPr sz="1200" b="1" i="0">
                <a:solidFill>
                  <a:srgbClr val="0F172A"/>
                </a:solidFill>
                <a:latin typeface="Calibri"/>
              </a:rPr>
              <a:t>APPROACH — as argued in the notes</a:t>
            </a:r>
          </a:p>
        </p:txBody>
      </p:sp>
      <p:sp>
        <p:nvSpPr>
          <p:cNvPr id="13" name="TextBox 12"/>
          <p:cNvSpPr txBox="1"/>
          <p:nvPr/>
        </p:nvSpPr>
        <p:spPr>
          <a:xfrm>
            <a:off x="6675120" y="2286000"/>
            <a:ext cx="5029200" cy="413308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walk(root, level):</a:t>
            </a:r>
            <a:r>
              <a:rPr sz="1250" b="0" i="0">
                <a:solidFill>
                  <a:srgbClr val="16181D"/>
                </a:solidFill>
                <a:latin typeface="Calibri"/>
              </a:rPr>
              <a:t>listdir, sort; for each entry print the marker line (DIR or FILE with extension and byte size); recurse into directories with level+1 — one function, six lines, any depth.</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Type from</a:t>
            </a:r>
            <a:r>
              <a:rPr sz="1250" b="0" i="0">
                <a:solidFill>
                  <a:srgbClr val="16181D"/>
                </a:solidFill>
                <a:latin typeface="Consolas"/>
              </a:rPr>
              <a:t>os.path.splitext</a:t>
            </a:r>
            <a:r>
              <a:rPr sz="1250" b="0" i="0">
                <a:solidFill>
                  <a:srgbClr val="16181D"/>
                </a:solidFill>
                <a:latin typeface="Calibri"/>
              </a:rPr>
              <a:t>— “(no extension)” printed explicitly, because a tool should say what it knows and what it lacks.</a:t>
            </a:r>
          </a:p>
          <a:p>
            <a:pPr marL="201168" indent="-201168">
              <a:lnSpc>
                <a:spcPct val="104000"/>
              </a:lnSpc>
              <a:spcBef>
                <a:spcPts val="0"/>
              </a:spcBef>
              <a:spcAft>
                <a:spcPts val="500"/>
              </a:spcAft>
            </a:pPr>
            <a:r>
              <a:rPr sz="1250" b="1" i="0">
                <a:solidFill>
                  <a:srgbClr val="B3261E"/>
                </a:solidFill>
                <a:latin typeface="Calibri"/>
              </a:rPr>
              <a:t>•  </a:t>
            </a:r>
            <a:r>
              <a:rPr sz="1250" b="1" i="0">
                <a:solidFill>
                  <a:srgbClr val="16181D"/>
                </a:solidFill>
                <a:latin typeface="Calibri"/>
              </a:rPr>
              <a:t>Sorted</a:t>
            </a:r>
            <a:r>
              <a:rPr sz="1250" b="0" i="0">
                <a:solidFill>
                  <a:srgbClr val="16181D"/>
                </a:solidFill>
                <a:latin typeface="Calibri"/>
              </a:rPr>
              <a:t>at every level so the transcript (and a grader's diff) is stable; indentation uses the │ glyph so the tree is readable against a printed page.</a:t>
            </a:r>
          </a:p>
          <a:p>
            <a:pPr marL="201168" indent="-201168">
              <a:lnSpc>
                <a:spcPct val="104000"/>
              </a:lnSpc>
              <a:spcBef>
                <a:spcPts val="0"/>
              </a:spcBef>
              <a:spcAft>
                <a:spcPts val="500"/>
              </a:spcAft>
            </a:pPr>
            <a:r>
              <a:rPr sz="1250" b="1" i="0">
                <a:solidFill>
                  <a:srgbClr val="B3261E"/>
                </a:solidFill>
                <a:latin typeface="Calibri"/>
              </a:rPr>
              <a:t>•  </a:t>
            </a:r>
            <a:r>
              <a:rPr sz="1250" b="0" i="0">
                <a:solidFill>
                  <a:srgbClr val="16181D"/>
                </a:solidFill>
                <a:latin typeface="Calibri"/>
              </a:rPr>
              <a:t>Non-directory input refuses by name after os.path.isdir — ghost-folder run proves it.</a:t>
            </a:r>
          </a:p>
        </p:txBody>
      </p:sp>
      <p:sp>
        <p:nvSpPr>
          <p:cNvPr id="14" name="Rectangle 13"/>
          <p:cNvSpPr/>
          <p:nvPr/>
        </p:nvSpPr>
        <p:spPr>
          <a:xfrm>
            <a:off x="502920" y="4553712"/>
            <a:ext cx="5897880" cy="178308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81728"/>
            <a:ext cx="5532120" cy="1554480"/>
          </a:xfrm>
          <a:prstGeom prst="rect">
            <a:avLst/>
          </a:prstGeom>
          <a:noFill/>
        </p:spPr>
        <p:txBody>
          <a:bodyPr wrap="square" anchor="t" lIns="0" rIns="0" tIns="0" bIns="0">
            <a:spAutoFit/>
          </a:bodyPr>
          <a:lstStyle/>
          <a:p>
            <a:pPr>
              <a:spcBef>
                <a:spcPts val="0"/>
              </a:spcBef>
              <a:spcAft>
                <a:spcPts val="400"/>
              </a:spcAft>
            </a:pPr>
            <a:r>
              <a:rPr sz="1150" b="1" i="0">
                <a:solidFill>
                  <a:srgbClr val="0F172A"/>
                </a:solidFill>
                <a:latin typeface="Calibri"/>
              </a:rPr>
              <a:t>PROGRAMS IN THIS ANSWER</a:t>
            </a:r>
          </a:p>
          <a:p>
            <a:pPr>
              <a:spcBef>
                <a:spcPts val="0"/>
              </a:spcBef>
              <a:spcAft>
                <a:spcPts val="300"/>
              </a:spcAft>
            </a:pPr>
            <a:r>
              <a:rPr sz="1300" b="1" i="0">
                <a:solidFill>
                  <a:srgbClr val="B3261E"/>
                </a:solidFill>
                <a:latin typeface="Consolas"/>
              </a:rPr>
              <a:t>lab12.py</a:t>
            </a:r>
            <a:r>
              <a:rPr sz="1250" b="0" i="0">
                <a:solidFill>
                  <a:srgbClr val="16181D"/>
                </a:solidFill>
                <a:latin typeface="Calibri"/>
              </a:rPr>
              <a:t>  —  recursive listing</a:t>
            </a:r>
          </a:p>
          <a:p>
            <a:pPr>
              <a:spcBef>
                <a:spcPts val="0"/>
              </a:spcBef>
              <a:spcAft>
                <a:spcPts val="0"/>
              </a:spcAft>
            </a:pPr>
            <a:r>
              <a:rPr sz="1100" b="0" i="1">
                <a:solidFill>
                  <a:srgbClr val="4B5563"/>
                </a:solidFill>
                <a:latin typeface="Calibri"/>
              </a:rPr>
              <a:t>Every transcript below: real pty capture — input echoes after its prompt.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12 — lab12.py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74</a:t>
            </a:r>
          </a:p>
        </p:txBody>
      </p:sp>
      <p:sp>
        <p:nvSpPr>
          <p:cNvPr id="8" name="Rectangle 7"/>
          <p:cNvSpPr/>
          <p:nvPr/>
        </p:nvSpPr>
        <p:spPr>
          <a:xfrm>
            <a:off x="502920" y="1572768"/>
            <a:ext cx="580644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58064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5138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lab12.py  ·  2 captured run(s)</a:t>
            </a:r>
          </a:p>
        </p:txBody>
      </p:sp>
      <p:sp>
        <p:nvSpPr>
          <p:cNvPr id="11" name="TextBox 10"/>
          <p:cNvSpPr txBox="1"/>
          <p:nvPr/>
        </p:nvSpPr>
        <p:spPr>
          <a:xfrm>
            <a:off x="667512" y="1975104"/>
            <a:ext cx="5495544" cy="4325112"/>
          </a:xfrm>
          <a:prstGeom prst="rect">
            <a:avLst/>
          </a:prstGeom>
          <a:noFill/>
        </p:spPr>
        <p:txBody>
          <a:bodyPr wrap="none" anchor="t" lIns="0" rIns="0" tIns="0" bIns="0">
            <a:spAutoFit/>
          </a:bodyPr>
          <a:lstStyle/>
          <a:p>
            <a:pPr>
              <a:lnSpc>
                <a:spcPct val="100000"/>
              </a:lnSpc>
              <a:spcBef>
                <a:spcPts val="0"/>
              </a:spcBef>
              <a:spcAft>
                <a:spcPts val="60"/>
              </a:spcAft>
            </a:pPr>
            <a:r>
              <a:rPr sz="935" b="0" i="0">
                <a:solidFill>
                  <a:srgbClr val="E5E7EB"/>
                </a:solidFill>
                <a:latin typeface="Consolas"/>
              </a:rPr>
              <a:t># Lab 12 (open-ended) -- recursive folder listing with name and type</a:t>
            </a:r>
          </a:p>
          <a:p>
            <a:pPr>
              <a:lnSpc>
                <a:spcPct val="100000"/>
              </a:lnSpc>
              <a:spcBef>
                <a:spcPts val="0"/>
              </a:spcBef>
              <a:spcAft>
                <a:spcPts val="60"/>
              </a:spcAft>
            </a:pPr>
            <a:r>
              <a:rPr sz="935" b="0" i="0">
                <a:solidFill>
                  <a:srgbClr val="E5E7EB"/>
                </a:solidFill>
                <a:latin typeface="Consolas"/>
              </a:rPr>
              <a:t># Run   : python3 lab12.py</a:t>
            </a:r>
          </a:p>
          <a:p>
            <a:pPr>
              <a:lnSpc>
                <a:spcPct val="100000"/>
              </a:lnSpc>
              <a:spcBef>
                <a:spcPts val="0"/>
              </a:spcBef>
              <a:spcAft>
                <a:spcPts val="60"/>
              </a:spcAft>
            </a:pPr>
            <a:r>
              <a:rPr sz="935" b="0" i="0">
                <a:solidFill>
                  <a:srgbClr val="E5E7EB"/>
                </a:solidFill>
                <a:latin typeface="Consolas"/>
              </a:rPr>
              <a:t>import os</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def walk(root, level=0):</a:t>
            </a:r>
          </a:p>
          <a:p>
            <a:pPr>
              <a:lnSpc>
                <a:spcPct val="100000"/>
              </a:lnSpc>
              <a:spcBef>
                <a:spcPts val="0"/>
              </a:spcBef>
              <a:spcAft>
                <a:spcPts val="60"/>
              </a:spcAft>
            </a:pPr>
            <a:r>
              <a:rPr sz="935" b="0" i="0">
                <a:solidFill>
                  <a:srgbClr val="E5E7EB"/>
                </a:solidFill>
                <a:latin typeface="Consolas"/>
              </a:rPr>
              <a:t>    """Print every entry under root, indenting one level per folder."""</a:t>
            </a:r>
          </a:p>
          <a:p>
            <a:pPr>
              <a:lnSpc>
                <a:spcPct val="100000"/>
              </a:lnSpc>
              <a:spcBef>
                <a:spcPts val="0"/>
              </a:spcBef>
              <a:spcAft>
                <a:spcPts val="60"/>
              </a:spcAft>
            </a:pPr>
            <a:r>
              <a:rPr sz="935" b="0" i="0">
                <a:solidFill>
                  <a:srgbClr val="E5E7EB"/>
                </a:solidFill>
                <a:latin typeface="Consolas"/>
              </a:rPr>
              <a:t>    entries = sorted(os.listdir(root))          # sorted: stable, printable</a:t>
            </a:r>
          </a:p>
          <a:p>
            <a:pPr>
              <a:lnSpc>
                <a:spcPct val="100000"/>
              </a:lnSpc>
              <a:spcBef>
                <a:spcPts val="0"/>
              </a:spcBef>
              <a:spcAft>
                <a:spcPts val="60"/>
              </a:spcAft>
            </a:pPr>
            <a:r>
              <a:rPr sz="935" b="0" i="0">
                <a:solidFill>
                  <a:srgbClr val="E5E7EB"/>
                </a:solidFill>
                <a:latin typeface="Consolas"/>
              </a:rPr>
              <a:t>    for item in entries:</a:t>
            </a:r>
          </a:p>
          <a:p>
            <a:pPr>
              <a:lnSpc>
                <a:spcPct val="100000"/>
              </a:lnSpc>
              <a:spcBef>
                <a:spcPts val="0"/>
              </a:spcBef>
              <a:spcAft>
                <a:spcPts val="60"/>
              </a:spcAft>
            </a:pPr>
            <a:r>
              <a:rPr sz="935" b="0" i="0">
                <a:solidFill>
                  <a:srgbClr val="E5E7EB"/>
                </a:solidFill>
                <a:latin typeface="Consolas"/>
              </a:rPr>
              <a:t>        path = os.path.join(root, item)</a:t>
            </a:r>
          </a:p>
          <a:p>
            <a:pPr>
              <a:lnSpc>
                <a:spcPct val="100000"/>
              </a:lnSpc>
              <a:spcBef>
                <a:spcPts val="0"/>
              </a:spcBef>
              <a:spcAft>
                <a:spcPts val="60"/>
              </a:spcAft>
            </a:pPr>
            <a:r>
              <a:rPr sz="935" b="0" i="0">
                <a:solidFill>
                  <a:srgbClr val="E5E7EB"/>
                </a:solidFill>
                <a:latin typeface="Consolas"/>
              </a:rPr>
              <a:t>        if os.path.isdir(path):</a:t>
            </a:r>
          </a:p>
          <a:p>
            <a:pPr>
              <a:lnSpc>
                <a:spcPct val="100000"/>
              </a:lnSpc>
              <a:spcBef>
                <a:spcPts val="0"/>
              </a:spcBef>
              <a:spcAft>
                <a:spcPts val="60"/>
              </a:spcAft>
            </a:pPr>
            <a:r>
              <a:rPr sz="935" b="0" i="0">
                <a:solidFill>
                  <a:srgbClr val="E5E7EB"/>
                </a:solidFill>
                <a:latin typeface="Consolas"/>
              </a:rPr>
              <a:t>            print("│   " * level + f"├─ [DIR ] {item}")</a:t>
            </a:r>
          </a:p>
          <a:p>
            <a:pPr>
              <a:lnSpc>
                <a:spcPct val="100000"/>
              </a:lnSpc>
              <a:spcBef>
                <a:spcPts val="0"/>
              </a:spcBef>
              <a:spcAft>
                <a:spcPts val="60"/>
              </a:spcAft>
            </a:pPr>
            <a:r>
              <a:rPr sz="935" b="0" i="0">
                <a:solidFill>
                  <a:srgbClr val="E5E7EB"/>
                </a:solidFill>
                <a:latin typeface="Consolas"/>
              </a:rPr>
              <a:t>            walk(path, level + 1)               # recursion into the folder</a:t>
            </a:r>
          </a:p>
          <a:p>
            <a:pPr>
              <a:lnSpc>
                <a:spcPct val="100000"/>
              </a:lnSpc>
              <a:spcBef>
                <a:spcPts val="0"/>
              </a:spcBef>
              <a:spcAft>
                <a:spcPts val="60"/>
              </a:spcAft>
            </a:pPr>
            <a:r>
              <a:rPr sz="935" b="0" i="0">
                <a:solidFill>
                  <a:srgbClr val="E5E7EB"/>
                </a:solidFill>
                <a:latin typeface="Consolas"/>
              </a:rPr>
              <a:t>        else:</a:t>
            </a:r>
          </a:p>
          <a:p>
            <a:pPr>
              <a:lnSpc>
                <a:spcPct val="100000"/>
              </a:lnSpc>
              <a:spcBef>
                <a:spcPts val="0"/>
              </a:spcBef>
              <a:spcAft>
                <a:spcPts val="60"/>
              </a:spcAft>
            </a:pPr>
            <a:r>
              <a:rPr sz="935" b="0" i="0">
                <a:solidFill>
                  <a:srgbClr val="E5E7EB"/>
                </a:solidFill>
                <a:latin typeface="Consolas"/>
              </a:rPr>
              <a:t>            ext = os.path.splitext(item)[1] or "(no extension)"</a:t>
            </a:r>
          </a:p>
          <a:p>
            <a:pPr>
              <a:lnSpc>
                <a:spcPct val="100000"/>
              </a:lnSpc>
              <a:spcBef>
                <a:spcPts val="0"/>
              </a:spcBef>
              <a:spcAft>
                <a:spcPts val="60"/>
              </a:spcAft>
            </a:pPr>
            <a:r>
              <a:rPr sz="935" b="0" i="0">
                <a:solidFill>
                  <a:srgbClr val="E5E7EB"/>
                </a:solidFill>
                <a:latin typeface="Consolas"/>
              </a:rPr>
              <a:t>            size = os.path.getsize(path)</a:t>
            </a:r>
          </a:p>
          <a:p>
            <a:pPr>
              <a:lnSpc>
                <a:spcPct val="100000"/>
              </a:lnSpc>
              <a:spcBef>
                <a:spcPts val="0"/>
              </a:spcBef>
              <a:spcAft>
                <a:spcPts val="60"/>
              </a:spcAft>
            </a:pPr>
            <a:r>
              <a:rPr sz="935" b="0" i="0">
                <a:solidFill>
                  <a:srgbClr val="E5E7EB"/>
                </a:solidFill>
                <a:latin typeface="Consolas"/>
              </a:rPr>
              <a:t>            print("│   " * level + f"├─ [FILE] {item}  ({ext}, {size} B)")</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root = input("Folder to list: ").strip() or "."</a:t>
            </a:r>
          </a:p>
          <a:p>
            <a:pPr>
              <a:lnSpc>
                <a:spcPct val="100000"/>
              </a:lnSpc>
              <a:spcBef>
                <a:spcPts val="0"/>
              </a:spcBef>
              <a:spcAft>
                <a:spcPts val="60"/>
              </a:spcAft>
            </a:pPr>
            <a:r>
              <a:rPr sz="935" b="0" i="0">
                <a:solidFill>
                  <a:srgbClr val="E5E7EB"/>
                </a:solidFill>
                <a:latin typeface="Consolas"/>
              </a:rPr>
              <a:t>if not os.path.isdir(root):</a:t>
            </a:r>
          </a:p>
          <a:p>
            <a:pPr>
              <a:lnSpc>
                <a:spcPct val="100000"/>
              </a:lnSpc>
              <a:spcBef>
                <a:spcPts val="0"/>
              </a:spcBef>
              <a:spcAft>
                <a:spcPts val="60"/>
              </a:spcAft>
            </a:pPr>
            <a:r>
              <a:rPr sz="935" b="0" i="0">
                <a:solidFill>
                  <a:srgbClr val="E5E7EB"/>
                </a:solidFill>
                <a:latin typeface="Consolas"/>
              </a:rPr>
              <a:t>    print(f"'{root}' is not a directory.")</a:t>
            </a:r>
          </a:p>
          <a:p>
            <a:pPr>
              <a:lnSpc>
                <a:spcPct val="100000"/>
              </a:lnSpc>
              <a:spcBef>
                <a:spcPts val="0"/>
              </a:spcBef>
              <a:spcAft>
                <a:spcPts val="60"/>
              </a:spcAft>
            </a:pPr>
            <a:r>
              <a:rPr sz="935" b="0" i="0">
                <a:solidFill>
                  <a:srgbClr val="E5E7EB"/>
                </a:solidFill>
                <a:latin typeface="Consolas"/>
              </a:rPr>
              <a:t>    raise SystemExit</a:t>
            </a:r>
          </a:p>
          <a:p>
            <a:pPr>
              <a:lnSpc>
                <a:spcPct val="100000"/>
              </a:lnSpc>
              <a:spcBef>
                <a:spcPts val="0"/>
              </a:spcBef>
              <a:spcAft>
                <a:spcPts val="60"/>
              </a:spcAft>
            </a:pPr>
            <a:r>
              <a:rPr sz="935" b="0" i="0">
                <a:solidFill>
                  <a:srgbClr val="E5E7EB"/>
                </a:solidFill>
                <a:latin typeface="Consolas"/>
              </a:rPr>
              <a:t> </a:t>
            </a:r>
          </a:p>
          <a:p>
            <a:pPr>
              <a:lnSpc>
                <a:spcPct val="100000"/>
              </a:lnSpc>
              <a:spcBef>
                <a:spcPts val="0"/>
              </a:spcBef>
              <a:spcAft>
                <a:spcPts val="60"/>
              </a:spcAft>
            </a:pPr>
            <a:r>
              <a:rPr sz="935" b="0" i="0">
                <a:solidFill>
                  <a:srgbClr val="E5E7EB"/>
                </a:solidFill>
                <a:latin typeface="Consolas"/>
              </a:rPr>
              <a:t>print(root)</a:t>
            </a:r>
          </a:p>
          <a:p>
            <a:pPr>
              <a:lnSpc>
                <a:spcPct val="100000"/>
              </a:lnSpc>
              <a:spcBef>
                <a:spcPts val="0"/>
              </a:spcBef>
              <a:spcAft>
                <a:spcPts val="60"/>
              </a:spcAft>
            </a:pPr>
            <a:r>
              <a:rPr sz="935" b="0" i="0">
                <a:solidFill>
                  <a:srgbClr val="E5E7EB"/>
                </a:solidFill>
                <a:latin typeface="Consolas"/>
              </a:rPr>
              <a:t>walk(root)</a:t>
            </a:r>
          </a:p>
        </p:txBody>
      </p:sp>
      <p:sp>
        <p:nvSpPr>
          <p:cNvPr id="12" name="Rectangle 11"/>
          <p:cNvSpPr/>
          <p:nvPr/>
        </p:nvSpPr>
        <p:spPr>
          <a:xfrm>
            <a:off x="6537960" y="157276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1664208"/>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CAPTURED — Lab 12 run 1</a:t>
            </a:r>
          </a:p>
        </p:txBody>
      </p:sp>
      <p:sp>
        <p:nvSpPr>
          <p:cNvPr id="14" name="TextBox 13"/>
          <p:cNvSpPr txBox="1"/>
          <p:nvPr/>
        </p:nvSpPr>
        <p:spPr>
          <a:xfrm>
            <a:off x="6684264" y="1938528"/>
            <a:ext cx="4892040" cy="1874519"/>
          </a:xfrm>
          <a:prstGeom prst="rect">
            <a:avLst/>
          </a:prstGeom>
          <a:noFill/>
        </p:spPr>
        <p:txBody>
          <a:bodyPr wrap="none" anchor="t" lIns="0" rIns="0" tIns="0" bIns="0">
            <a:spAutoFit/>
          </a:bodyPr>
          <a:lstStyle/>
          <a:p>
            <a:pPr>
              <a:lnSpc>
                <a:spcPct val="100000"/>
              </a:lnSpc>
              <a:spcBef>
                <a:spcPts val="0"/>
              </a:spcBef>
              <a:spcAft>
                <a:spcPts val="60"/>
              </a:spcAft>
            </a:pPr>
            <a:r>
              <a:rPr sz="936" b="0" i="0">
                <a:solidFill>
                  <a:srgbClr val="14171C"/>
                </a:solidFill>
                <a:latin typeface="Consolas"/>
              </a:rPr>
              <a:t>Folder to list: ../data/demo</a:t>
            </a:r>
          </a:p>
          <a:p>
            <a:pPr>
              <a:lnSpc>
                <a:spcPct val="100000"/>
              </a:lnSpc>
              <a:spcBef>
                <a:spcPts val="0"/>
              </a:spcBef>
              <a:spcAft>
                <a:spcPts val="60"/>
              </a:spcAft>
            </a:pPr>
            <a:r>
              <a:rPr sz="936" b="0" i="0">
                <a:solidFill>
                  <a:srgbClr val="14171C"/>
                </a:solidFill>
                <a:latin typeface="Consolas"/>
              </a:rPr>
              <a:t>../data/demo</a:t>
            </a:r>
          </a:p>
          <a:p>
            <a:pPr>
              <a:lnSpc>
                <a:spcPct val="100000"/>
              </a:lnSpc>
              <a:spcBef>
                <a:spcPts val="0"/>
              </a:spcBef>
              <a:spcAft>
                <a:spcPts val="60"/>
              </a:spcAft>
            </a:pPr>
            <a:r>
              <a:rPr sz="936" b="0" i="0">
                <a:solidFill>
                  <a:srgbClr val="14171C"/>
                </a:solidFill>
                <a:latin typeface="Consolas"/>
              </a:rPr>
              <a:t>├─ [FILE] README  ((no extension), 12 B)</a:t>
            </a:r>
          </a:p>
          <a:p>
            <a:pPr>
              <a:lnSpc>
                <a:spcPct val="100000"/>
              </a:lnSpc>
              <a:spcBef>
                <a:spcPts val="0"/>
              </a:spcBef>
              <a:spcAft>
                <a:spcPts val="60"/>
              </a:spcAft>
            </a:pPr>
            <a:r>
              <a:rPr sz="936" b="0" i="0">
                <a:solidFill>
                  <a:srgbClr val="14171C"/>
                </a:solidFill>
                <a:latin typeface="Consolas"/>
              </a:rPr>
              <a:t>├─ [DIR ] photos</a:t>
            </a:r>
          </a:p>
          <a:p>
            <a:pPr>
              <a:lnSpc>
                <a:spcPct val="100000"/>
              </a:lnSpc>
              <a:spcBef>
                <a:spcPts val="0"/>
              </a:spcBef>
              <a:spcAft>
                <a:spcPts val="60"/>
              </a:spcAft>
            </a:pPr>
            <a:r>
              <a:rPr sz="936" b="0" i="0">
                <a:solidFill>
                  <a:srgbClr val="14171C"/>
                </a:solidFill>
                <a:latin typeface="Consolas"/>
              </a:rPr>
              <a:t>│   ├─ [FILE] ship.png  (.png, 2 B)</a:t>
            </a:r>
          </a:p>
          <a:p>
            <a:pPr>
              <a:lnSpc>
                <a:spcPct val="100000"/>
              </a:lnSpc>
              <a:spcBef>
                <a:spcPts val="0"/>
              </a:spcBef>
              <a:spcAft>
                <a:spcPts val="60"/>
              </a:spcAft>
            </a:pPr>
            <a:r>
              <a:rPr sz="936" b="0" i="0">
                <a:solidFill>
                  <a:srgbClr val="14171C"/>
                </a:solidFill>
                <a:latin typeface="Consolas"/>
              </a:rPr>
              <a:t>│   ├─ [FILE] sunset.jpg  (.jpg, 1 B)</a:t>
            </a:r>
          </a:p>
          <a:p>
            <a:pPr>
              <a:lnSpc>
                <a:spcPct val="100000"/>
              </a:lnSpc>
              <a:spcBef>
                <a:spcPts val="0"/>
              </a:spcBef>
              <a:spcAft>
                <a:spcPts val="60"/>
              </a:spcAft>
            </a:pPr>
            <a:r>
              <a:rPr sz="936" b="0" i="0">
                <a:solidFill>
                  <a:srgbClr val="14171C"/>
                </a:solidFill>
                <a:latin typeface="Consolas"/>
              </a:rPr>
              <a:t>├─ [DIR ] project</a:t>
            </a:r>
          </a:p>
          <a:p>
            <a:pPr>
              <a:lnSpc>
                <a:spcPct val="100000"/>
              </a:lnSpc>
              <a:spcBef>
                <a:spcPts val="0"/>
              </a:spcBef>
              <a:spcAft>
                <a:spcPts val="60"/>
              </a:spcAft>
            </a:pPr>
            <a:r>
              <a:rPr sz="936" b="0" i="0">
                <a:solidFill>
                  <a:srgbClr val="14171C"/>
                </a:solidFill>
                <a:latin typeface="Consolas"/>
              </a:rPr>
              <a:t>│   ├─ [FILE] ToDo.md  (.md, 13 B)</a:t>
            </a:r>
          </a:p>
          <a:p>
            <a:pPr>
              <a:lnSpc>
                <a:spcPct val="100000"/>
              </a:lnSpc>
              <a:spcBef>
                <a:spcPts val="0"/>
              </a:spcBef>
              <a:spcAft>
                <a:spcPts val="60"/>
              </a:spcAft>
            </a:pPr>
            <a:r>
              <a:rPr sz="936" b="0" i="0">
                <a:solidFill>
                  <a:srgbClr val="14171C"/>
                </a:solidFill>
                <a:latin typeface="Consolas"/>
              </a:rPr>
              <a:t>│   ├─ [FILE] notes.txt  (.txt, 25 B)</a:t>
            </a:r>
          </a:p>
          <a:p>
            <a:pPr>
              <a:lnSpc>
                <a:spcPct val="100000"/>
              </a:lnSpc>
              <a:spcBef>
                <a:spcPts val="0"/>
              </a:spcBef>
              <a:spcAft>
                <a:spcPts val="60"/>
              </a:spcAft>
            </a:pPr>
            <a:r>
              <a:rPr sz="936" b="0" i="0">
                <a:solidFill>
                  <a:srgbClr val="14171C"/>
                </a:solidFill>
                <a:latin typeface="Consolas"/>
              </a:rPr>
              <a:t>│   ├─ [DIR ] src</a:t>
            </a:r>
          </a:p>
          <a:p>
            <a:pPr>
              <a:lnSpc>
                <a:spcPct val="100000"/>
              </a:lnSpc>
              <a:spcBef>
                <a:spcPts val="0"/>
              </a:spcBef>
              <a:spcAft>
                <a:spcPts val="60"/>
              </a:spcAft>
            </a:pPr>
            <a:r>
              <a:rPr sz="936" b="0" i="0">
                <a:solidFill>
                  <a:srgbClr val="14171C"/>
                </a:solidFill>
                <a:latin typeface="Consolas"/>
              </a:rPr>
              <a:t>│   │   ├─ [FILE] main.py  (.py, 25 B)</a:t>
            </a:r>
          </a:p>
        </p:txBody>
      </p:sp>
      <p:sp>
        <p:nvSpPr>
          <p:cNvPr id="15" name="Rectangle 14"/>
          <p:cNvSpPr/>
          <p:nvPr/>
        </p:nvSpPr>
        <p:spPr>
          <a:xfrm>
            <a:off x="6537960" y="4041648"/>
            <a:ext cx="5166360" cy="233172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4264" y="4133087"/>
            <a:ext cx="489204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GUARD RUN — lab12 run 2</a:t>
            </a:r>
          </a:p>
        </p:txBody>
      </p:sp>
      <p:sp>
        <p:nvSpPr>
          <p:cNvPr id="17" name="TextBox 16"/>
          <p:cNvSpPr txBox="1"/>
          <p:nvPr/>
        </p:nvSpPr>
        <p:spPr>
          <a:xfrm>
            <a:off x="6684264" y="4407407"/>
            <a:ext cx="4892040" cy="1874520"/>
          </a:xfrm>
          <a:prstGeom prst="rect">
            <a:avLst/>
          </a:prstGeom>
          <a:noFill/>
        </p:spPr>
        <p:txBody>
          <a:bodyPr wrap="none" anchor="t" lIns="0" rIns="0" tIns="0" bIns="0">
            <a:spAutoFit/>
          </a:bodyPr>
          <a:lstStyle/>
          <a:p>
            <a:pPr>
              <a:lnSpc>
                <a:spcPct val="100000"/>
              </a:lnSpc>
              <a:spcBef>
                <a:spcPts val="0"/>
              </a:spcBef>
              <a:spcAft>
                <a:spcPts val="60"/>
              </a:spcAft>
            </a:pPr>
            <a:r>
              <a:rPr sz="1250" b="0" i="0">
                <a:solidFill>
                  <a:srgbClr val="14171C"/>
                </a:solidFill>
                <a:latin typeface="Consolas"/>
              </a:rPr>
              <a:t>Folder to list: ghost-folder</a:t>
            </a:r>
          </a:p>
          <a:p>
            <a:pPr>
              <a:lnSpc>
                <a:spcPct val="100000"/>
              </a:lnSpc>
              <a:spcBef>
                <a:spcPts val="0"/>
              </a:spcBef>
              <a:spcAft>
                <a:spcPts val="60"/>
              </a:spcAft>
            </a:pPr>
            <a:r>
              <a:rPr sz="1250" b="0" i="0">
                <a:solidFill>
                  <a:srgbClr val="14171C"/>
                </a:solidFill>
                <a:latin typeface="Consolas"/>
              </a:rPr>
              <a:t>'ghost-folder' is not a directory.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Experiment 12 — Observations &amp; Viva Trail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75</a:t>
            </a:r>
          </a:p>
        </p:txBody>
      </p:sp>
      <p:sp>
        <p:nvSpPr>
          <p:cNvPr id="8" name="TextBox 7"/>
          <p:cNvSpPr txBox="1"/>
          <p:nvPr/>
        </p:nvSpPr>
        <p:spPr>
          <a:xfrm>
            <a:off x="502920" y="1600200"/>
            <a:ext cx="59436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&amp; ANALYSIS</a:t>
            </a:r>
          </a:p>
        </p:txBody>
      </p:sp>
      <p:sp>
        <p:nvSpPr>
          <p:cNvPr id="9" name="TextBox 8"/>
          <p:cNvSpPr txBox="1"/>
          <p:nvPr/>
        </p:nvSpPr>
        <p:spPr>
          <a:xfrm>
            <a:off x="502920" y="1920240"/>
            <a:ext cx="5943600" cy="4297680"/>
          </a:xfrm>
          <a:prstGeom prst="rect">
            <a:avLst/>
          </a:prstGeom>
          <a:noFill/>
        </p:spPr>
        <p:txBody>
          <a:bodyPr wrap="square" anchor="t" lIns="0" rIns="0" tIns="0" bIns="0">
            <a:spAutoFit/>
          </a:bodyPr>
          <a:lstStyle/>
          <a:p>
            <a:pPr>
              <a:lnSpc>
                <a:spcPct val="112000"/>
              </a:lnSpc>
              <a:spcBef>
                <a:spcPts val="0"/>
              </a:spcBef>
              <a:spcAft>
                <a:spcPts val="400"/>
              </a:spcAft>
            </a:pPr>
            <a:r>
              <a:rPr sz="1350" b="0" i="0">
                <a:solidFill>
                  <a:srgbClr val="16181D"/>
                </a:solidFill>
                <a:latin typeface="Calibri"/>
              </a:rPr>
              <a:t>The captured tree shows both branches under demo/ (photos with two image files; project with docs/, notes.txt, ToDo.md, src/main.py) and main.py's exact byte count — every line carries name and type as required. The empty docs/ folder prints nothing inside it, which is a result: the recursion saw it, found no entries, returned. Depth is visible in the indent count, which is the call stack rendered as art.</a:t>
            </a:r>
          </a:p>
        </p:txBody>
      </p:sp>
      <p:sp>
        <p:nvSpPr>
          <p:cNvPr id="10" name="TextBox 9"/>
          <p:cNvSpPr txBox="1"/>
          <p:nvPr/>
        </p:nvSpPr>
        <p:spPr>
          <a:xfrm>
            <a:off x="6675120" y="1600200"/>
            <a:ext cx="5029200" cy="274320"/>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the questions actually asked</a:t>
            </a:r>
          </a:p>
        </p:txBody>
      </p:sp>
      <p:sp>
        <p:nvSpPr>
          <p:cNvPr id="11" name="TextBox 10"/>
          <p:cNvSpPr txBox="1"/>
          <p:nvPr/>
        </p:nvSpPr>
        <p:spPr>
          <a:xfrm>
            <a:off x="6675120" y="1920240"/>
            <a:ext cx="5029200" cy="4498848"/>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Q1. </a:t>
            </a:r>
            <a:r>
              <a:rPr sz="1250" b="0" i="0">
                <a:solidFill>
                  <a:srgbClr val="16181D"/>
                </a:solidFill>
                <a:latin typeface="Calibri"/>
              </a:rPr>
              <a:t>Why sort the entries at every call rather than once at the top?</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Q2. </a:t>
            </a:r>
            <a:r>
              <a:rPr sz="1250" b="0" i="0">
                <a:solidFill>
                  <a:srgbClr val="16181D"/>
                </a:solidFill>
                <a:latin typeface="Calibri"/>
              </a:rPr>
              <a:t>Name the parameter that replaces the stack you would otherwise hand-manage, and its starting value.</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Q3. </a:t>
            </a:r>
            <a:r>
              <a:rPr sz="1250" b="0" i="0">
                <a:solidFill>
                  <a:srgbClr val="16181D"/>
                </a:solidFill>
                <a:latin typeface="Calibri"/>
              </a:rPr>
              <a:t>What line of output would the program print for an empty directory — defend it with the code path.</a:t>
            </a:r>
          </a:p>
          <a:p>
            <a:pPr marL="201168" indent="-201168">
              <a:lnSpc>
                <a:spcPct val="104000"/>
              </a:lnSpc>
              <a:spcBef>
                <a:spcPts val="0"/>
              </a:spcBef>
              <a:spcAft>
                <a:spcPts val="600"/>
              </a:spcAft>
            </a:pPr>
            <a:r>
              <a:rPr sz="1250" b="1" i="0">
                <a:solidFill>
                  <a:srgbClr val="B3261E"/>
                </a:solidFill>
                <a:latin typeface="Calibri"/>
              </a:rPr>
              <a:t>•  </a:t>
            </a:r>
            <a:r>
              <a:rPr sz="1250" b="1" i="0">
                <a:solidFill>
                  <a:srgbClr val="B3261E"/>
                </a:solidFill>
                <a:latin typeface="Calibri"/>
              </a:rPr>
              <a:t>Q4. </a:t>
            </a:r>
            <a:r>
              <a:rPr sz="1250" b="0" i="0">
                <a:solidFill>
                  <a:srgbClr val="16181D"/>
                </a:solidFill>
                <a:latin typeface="Calibri"/>
              </a:rPr>
              <a:t>Where does splitext lose the trailing dot on '.hidden' files, and does that matter here?</a:t>
            </a:r>
          </a:p>
        </p:txBody>
      </p:sp>
      <p:sp>
        <p:nvSpPr>
          <p:cNvPr id="12" name="TextBox 11"/>
          <p:cNvSpPr txBox="1"/>
          <p:nvPr/>
        </p:nvSpPr>
        <p:spPr>
          <a:xfrm>
            <a:off x="502920" y="5486400"/>
            <a:ext cx="11155680" cy="914400"/>
          </a:xfrm>
          <a:prstGeom prst="rect">
            <a:avLst/>
          </a:prstGeom>
          <a:noFill/>
        </p:spPr>
        <p:txBody>
          <a:bodyPr wrap="square" anchor="t" lIns="0" rIns="0" tIns="0" bIns="0">
            <a:spAutoFit/>
          </a:bodyPr>
          <a:lstStyle/>
          <a:p>
            <a:pPr>
              <a:lnSpc>
                <a:spcPct val="108000"/>
              </a:lnSpc>
              <a:spcBef>
                <a:spcPts val="0"/>
              </a:spcBef>
              <a:spcAft>
                <a:spcPts val="400"/>
              </a:spcAft>
            </a:pPr>
            <a:r>
              <a:rPr sz="1200" b="1" i="0">
                <a:solidFill>
                  <a:srgbClr val="166534"/>
                </a:solidFill>
                <a:latin typeface="Calibri"/>
              </a:rPr>
              <a:t>Model answer (Q1) — </a:t>
            </a:r>
            <a:r>
              <a:rPr sz="1200" b="0" i="0">
                <a:solidFill>
                  <a:srgbClr val="16181D"/>
                </a:solidFill>
                <a:latin typeface="Calibri"/>
              </a:rPr>
              <a:t>Because recursion yields each directory in isolation — a directory sorted at the top would only order level 1; sortedness must hold at every listdir call to make the whole tree deterministic.</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0"/>
              </a:spcAft>
            </a:pPr>
            <a:r>
              <a:rPr sz="15000" b="1" i="0">
                <a:solidFill>
                  <a:srgbClr val="B3261E"/>
                </a:solidFill>
                <a:latin typeface="Calibri"/>
              </a:rPr>
              <a:t>C</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0"/>
              </a:spcAft>
            </a:pPr>
            <a:r>
              <a:rPr sz="3000" b="1" i="0">
                <a:solidFill>
                  <a:srgbClr val="0F172A"/>
                </a:solidFill>
                <a:latin typeface="Calibri"/>
              </a:rPr>
              <a:t>Appendices — the Record, the Viva, the Reference</a:t>
            </a:r>
          </a:p>
        </p:txBody>
      </p:sp>
      <p:sp>
        <p:nvSpPr>
          <p:cNvPr id="6" name="TextBox 5"/>
          <p:cNvSpPr txBox="1"/>
          <p:nvPr/>
        </p:nvSpPr>
        <p:spPr>
          <a:xfrm>
            <a:off x="1737360" y="4114800"/>
            <a:ext cx="8716975" cy="914400"/>
          </a:xfrm>
          <a:prstGeom prst="rect">
            <a:avLst/>
          </a:prstGeom>
          <a:noFill/>
        </p:spPr>
        <p:txBody>
          <a:bodyPr wrap="square" anchor="t" lIns="0" rIns="0" tIns="0" bIns="0">
            <a:spAutoFit/>
          </a:bodyPr>
          <a:lstStyle/>
          <a:p>
            <a:pPr algn="ctr">
              <a:spcBef>
                <a:spcPts val="0"/>
              </a:spcBef>
              <a:spcAft>
                <a:spcPts val="0"/>
              </a:spcAft>
            </a:pPr>
            <a:r>
              <a:rPr sz="1450" b="0" i="0">
                <a:solidFill>
                  <a:srgbClr val="4B5563"/>
                </a:solidFill>
                <a:latin typeface="Calibri"/>
              </a:rPr>
              <a:t>From the book's Part C: the quick reference every module feeds, the record-format and rubric detail, the consolidated viva bank, and the prescribed references.</a:t>
            </a:r>
          </a:p>
        </p:txBody>
      </p:sp>
      <p:sp>
        <p:nvSpPr>
          <p:cNvPr id="7" name="Rectangle 6"/>
          <p:cNvSpPr/>
          <p:nvPr/>
        </p:nvSpPr>
        <p:spPr>
          <a:xfrm>
            <a:off x="1889607" y="4636008"/>
            <a:ext cx="8412480" cy="1810512"/>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5639" y="4791456"/>
            <a:ext cx="7900415" cy="1536192"/>
          </a:xfrm>
          <a:prstGeom prst="rect">
            <a:avLst/>
          </a:prstGeom>
          <a:noFill/>
        </p:spPr>
        <p:txBody>
          <a:bodyPr wrap="square" anchor="t" lIns="0" rIns="0" tIns="0" bIns="0">
            <a:spAutoFit/>
          </a:bodyPr>
          <a:lstStyle/>
          <a:p>
            <a:pPr>
              <a:spcBef>
                <a:spcPts val="0"/>
              </a:spcBef>
              <a:spcAft>
                <a:spcPts val="400"/>
              </a:spcAft>
            </a:pPr>
            <a:r>
              <a:rPr sz="1100" b="1" i="0">
                <a:solidFill>
                  <a:srgbClr val="0F172A"/>
                </a:solidFill>
                <a:latin typeface="Calibri"/>
              </a:rPr>
              <a:t>IN THIS PART</a:t>
            </a:r>
          </a:p>
          <a:p>
            <a:pPr>
              <a:spcBef>
                <a:spcPts val="0"/>
              </a:spcBef>
              <a:spcAft>
                <a:spcPts val="200"/>
              </a:spcAft>
            </a:pPr>
            <a:r>
              <a:rPr sz="1600" b="1" i="0">
                <a:solidFill>
                  <a:srgbClr val="B3261E"/>
                </a:solidFill>
                <a:latin typeface="Calibri"/>
              </a:rPr>
              <a:t>•  </a:t>
            </a:r>
            <a:r>
              <a:rPr sz="1250" b="0" i="0">
                <a:solidFill>
                  <a:srgbClr val="16181D"/>
                </a:solidFill>
                <a:latin typeface="Calibri"/>
              </a:rPr>
              <a:t>Appendix A — Python quick reference (module-keyed)</a:t>
            </a:r>
          </a:p>
          <a:p>
            <a:pPr>
              <a:spcBef>
                <a:spcPts val="0"/>
              </a:spcBef>
              <a:spcAft>
                <a:spcPts val="200"/>
              </a:spcAft>
            </a:pPr>
            <a:r>
              <a:rPr sz="1600" b="1" i="0">
                <a:solidFill>
                  <a:srgbClr val="B3261E"/>
                </a:solidFill>
                <a:latin typeface="Calibri"/>
              </a:rPr>
              <a:t>•  </a:t>
            </a:r>
            <a:r>
              <a:rPr sz="1250" b="0" i="0">
                <a:solidFill>
                  <a:srgbClr val="16181D"/>
                </a:solidFill>
                <a:latin typeface="Calibri"/>
              </a:rPr>
              <a:t>Appendix B — record format &amp; assessment rubrics, qualification arithmetic</a:t>
            </a:r>
          </a:p>
          <a:p>
            <a:pPr>
              <a:spcBef>
                <a:spcPts val="0"/>
              </a:spcBef>
              <a:spcAft>
                <a:spcPts val="200"/>
              </a:spcAft>
            </a:pPr>
            <a:r>
              <a:rPr sz="1600" b="1" i="0">
                <a:solidFill>
                  <a:srgbClr val="B3261E"/>
                </a:solidFill>
                <a:latin typeface="Calibri"/>
              </a:rPr>
              <a:t>•  </a:t>
            </a:r>
            <a:r>
              <a:rPr sz="1250" b="0" i="0">
                <a:solidFill>
                  <a:srgbClr val="16181D"/>
                </a:solidFill>
                <a:latin typeface="Calibri"/>
              </a:rPr>
              <a:t>Appendix C — viva bank: 12 recurring + per-module + per-question</a:t>
            </a:r>
          </a:p>
          <a:p>
            <a:pPr>
              <a:spcBef>
                <a:spcPts val="0"/>
              </a:spcBef>
              <a:spcAft>
                <a:spcPts val="200"/>
              </a:spcAft>
            </a:pPr>
            <a:r>
              <a:rPr sz="1600" b="1" i="0">
                <a:solidFill>
                  <a:srgbClr val="B3261E"/>
                </a:solidFill>
                <a:latin typeface="Calibri"/>
              </a:rPr>
              <a:t>•  </a:t>
            </a:r>
            <a:r>
              <a:rPr sz="1250" b="0" i="0">
                <a:solidFill>
                  <a:srgbClr val="16181D"/>
                </a:solidFill>
                <a:latin typeface="Calibri"/>
              </a:rPr>
              <a:t>Appendix D — references &amp; how these notes were produced</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One-Page Python Reference (from Appendix 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77</a:t>
            </a:r>
          </a:p>
        </p:txBody>
      </p:sp>
      <p:sp>
        <p:nvSpPr>
          <p:cNvPr id="8" name="Rectangle 7"/>
          <p:cNvSpPr/>
          <p:nvPr/>
        </p:nvSpPr>
        <p:spPr>
          <a:xfrm>
            <a:off x="502920" y="1645920"/>
            <a:ext cx="2697480" cy="43434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45920"/>
            <a:ext cx="269748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709928"/>
            <a:ext cx="246888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Expressions</a:t>
            </a:r>
          </a:p>
        </p:txBody>
      </p:sp>
      <p:sp>
        <p:nvSpPr>
          <p:cNvPr id="11" name="TextBox 10"/>
          <p:cNvSpPr txBox="1"/>
          <p:nvPr/>
        </p:nvSpPr>
        <p:spPr>
          <a:xfrm>
            <a:off x="649224" y="2194560"/>
            <a:ext cx="2423160" cy="3657600"/>
          </a:xfrm>
          <a:prstGeom prst="rect">
            <a:avLst/>
          </a:prstGeom>
          <a:noFill/>
        </p:spPr>
        <p:txBody>
          <a:bodyPr wrap="square" anchor="t" lIns="0" rIns="0" tIns="0" bIns="0">
            <a:spAutoFit/>
          </a:bodyPr>
          <a:lstStyle/>
          <a:p>
            <a:pPr>
              <a:spcBef>
                <a:spcPts val="0"/>
              </a:spcBef>
              <a:spcAft>
                <a:spcPts val="700"/>
              </a:spcAft>
            </a:pPr>
            <a:r>
              <a:rPr sz="1130" b="0" i="0">
                <a:solidFill>
                  <a:srgbClr val="16181D"/>
                </a:solidFill>
                <a:latin typeface="Consolas"/>
              </a:rPr>
              <a:t>int/float/str/bool · type()</a:t>
            </a:r>
          </a:p>
          <a:p>
            <a:pPr>
              <a:spcBef>
                <a:spcPts val="0"/>
              </a:spcBef>
              <a:spcAft>
                <a:spcPts val="700"/>
              </a:spcAft>
            </a:pPr>
            <a:r>
              <a:rPr sz="1130" b="0" i="0">
                <a:solidFill>
                  <a:srgbClr val="16181D"/>
                </a:solidFill>
                <a:latin typeface="Consolas"/>
              </a:rPr>
              <a:t>()</a:t>
            </a:r>
          </a:p>
          <a:p>
            <a:pPr>
              <a:spcBef>
                <a:spcPts val="0"/>
              </a:spcBef>
              <a:spcAft>
                <a:spcPts val="700"/>
              </a:spcAft>
            </a:pPr>
            <a:r>
              <a:rPr sz="1130" b="0" i="0">
                <a:solidFill>
                  <a:srgbClr val="16181D"/>
                </a:solidFill>
                <a:latin typeface="Consolas"/>
              </a:rPr>
              <a:t>**(R→L)</a:t>
            </a:r>
          </a:p>
          <a:p>
            <a:pPr>
              <a:spcBef>
                <a:spcPts val="0"/>
              </a:spcBef>
              <a:spcAft>
                <a:spcPts val="700"/>
              </a:spcAft>
            </a:pPr>
            <a:r>
              <a:rPr sz="1130" b="0" i="0">
                <a:solidFill>
                  <a:srgbClr val="16181D"/>
                </a:solidFill>
                <a:latin typeface="Consolas"/>
              </a:rPr>
              <a:t>* / // %</a:t>
            </a:r>
          </a:p>
          <a:p>
            <a:pPr>
              <a:spcBef>
                <a:spcPts val="0"/>
              </a:spcBef>
              <a:spcAft>
                <a:spcPts val="700"/>
              </a:spcAft>
            </a:pPr>
            <a:r>
              <a:rPr sz="1130" b="0" i="0">
                <a:solidFill>
                  <a:srgbClr val="16181D"/>
                </a:solidFill>
                <a:latin typeface="Consolas"/>
              </a:rPr>
              <a:t>+ −</a:t>
            </a:r>
          </a:p>
          <a:p>
            <a:pPr>
              <a:spcBef>
                <a:spcPts val="0"/>
              </a:spcBef>
              <a:spcAft>
                <a:spcPts val="700"/>
              </a:spcAft>
            </a:pPr>
            <a:r>
              <a:rPr sz="1130" b="0" i="0">
                <a:solidFill>
                  <a:srgbClr val="16181D"/>
                </a:solidFill>
                <a:latin typeface="Consolas"/>
              </a:rPr>
              <a:t>comparisons → not/and/or</a:t>
            </a:r>
          </a:p>
          <a:p>
            <a:pPr>
              <a:spcBef>
                <a:spcPts val="0"/>
              </a:spcBef>
              <a:spcAft>
                <a:spcPts val="700"/>
              </a:spcAft>
            </a:pPr>
            <a:r>
              <a:rPr sz="1130" b="0" i="0">
                <a:solidFill>
                  <a:srgbClr val="16181D"/>
                </a:solidFill>
                <a:latin typeface="Consolas"/>
              </a:rPr>
              <a:t>a == (a//b)*b + a%b</a:t>
            </a:r>
          </a:p>
        </p:txBody>
      </p:sp>
      <p:sp>
        <p:nvSpPr>
          <p:cNvPr id="12" name="Rectangle 11"/>
          <p:cNvSpPr/>
          <p:nvPr/>
        </p:nvSpPr>
        <p:spPr>
          <a:xfrm>
            <a:off x="3383280" y="1645920"/>
            <a:ext cx="2697480" cy="43434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1645920"/>
            <a:ext cx="269748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11296" y="1709928"/>
            <a:ext cx="246888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Strings &amp; lists</a:t>
            </a:r>
          </a:p>
        </p:txBody>
      </p:sp>
      <p:sp>
        <p:nvSpPr>
          <p:cNvPr id="15" name="TextBox 14"/>
          <p:cNvSpPr txBox="1"/>
          <p:nvPr/>
        </p:nvSpPr>
        <p:spPr>
          <a:xfrm>
            <a:off x="3529584" y="2194560"/>
            <a:ext cx="2423160" cy="3657600"/>
          </a:xfrm>
          <a:prstGeom prst="rect">
            <a:avLst/>
          </a:prstGeom>
          <a:noFill/>
        </p:spPr>
        <p:txBody>
          <a:bodyPr wrap="square" anchor="t" lIns="0" rIns="0" tIns="0" bIns="0">
            <a:spAutoFit/>
          </a:bodyPr>
          <a:lstStyle/>
          <a:p>
            <a:pPr>
              <a:spcBef>
                <a:spcPts val="0"/>
              </a:spcBef>
              <a:spcAft>
                <a:spcPts val="700"/>
              </a:spcAft>
            </a:pPr>
            <a:r>
              <a:rPr sz="1130" b="0" i="0">
                <a:solidFill>
                  <a:srgbClr val="16181D"/>
                </a:solidFill>
                <a:latin typeface="Consolas"/>
              </a:rPr>
              <a:t>s[i:j]  ·  s[::-1]</a:t>
            </a:r>
          </a:p>
          <a:p>
            <a:pPr>
              <a:spcBef>
                <a:spcPts val="0"/>
              </a:spcBef>
              <a:spcAft>
                <a:spcPts val="700"/>
              </a:spcAft>
            </a:pPr>
            <a:r>
              <a:rPr sz="1130" b="0" i="0">
                <a:solidFill>
                  <a:srgbClr val="16181D"/>
                </a:solidFill>
                <a:latin typeface="Consolas"/>
              </a:rPr>
              <a:t>strip split lower upper</a:t>
            </a:r>
          </a:p>
          <a:p>
            <a:pPr>
              <a:spcBef>
                <a:spcPts val="0"/>
              </a:spcBef>
              <a:spcAft>
                <a:spcPts val="700"/>
              </a:spcAft>
            </a:pPr>
            <a:r>
              <a:rPr sz="1130" b="0" i="0">
                <a:solidFill>
                  <a:srgbClr val="16181D"/>
                </a:solidFill>
                <a:latin typeface="Consolas"/>
              </a:rPr>
              <a:t>find → −1 · in / not in</a:t>
            </a:r>
          </a:p>
          <a:p>
            <a:pPr>
              <a:spcBef>
                <a:spcPts val="0"/>
              </a:spcBef>
              <a:spcAft>
                <a:spcPts val="700"/>
              </a:spcAft>
            </a:pPr>
            <a:r>
              <a:rPr sz="1130" b="0" i="0">
                <a:solidFill>
                  <a:srgbClr val="16181D"/>
                </a:solidFill>
                <a:latin typeface="Consolas"/>
              </a:rPr>
              <a:t>append insert remove pop</a:t>
            </a:r>
          </a:p>
          <a:p>
            <a:pPr>
              <a:spcBef>
                <a:spcPts val="0"/>
              </a:spcBef>
              <a:spcAft>
                <a:spcPts val="700"/>
              </a:spcAft>
            </a:pPr>
            <a:r>
              <a:rPr sz="1130" b="0" i="0">
                <a:solidFill>
                  <a:srgbClr val="16181D"/>
                </a:solidFill>
                <a:latin typeface="Consolas"/>
              </a:rPr>
              <a:t>sort()→None  sorted()</a:t>
            </a:r>
          </a:p>
          <a:p>
            <a:pPr>
              <a:spcBef>
                <a:spcPts val="0"/>
              </a:spcBef>
              <a:spcAft>
                <a:spcPts val="700"/>
              </a:spcAft>
            </a:pPr>
            <a:r>
              <a:rPr sz="1130" b="0" i="0">
                <a:solidFill>
                  <a:srgbClr val="16181D"/>
                </a:solidFill>
                <a:latin typeface="Consolas"/>
              </a:rPr>
              <a:t>b=a alias · b=a[:] clone</a:t>
            </a:r>
          </a:p>
        </p:txBody>
      </p:sp>
      <p:sp>
        <p:nvSpPr>
          <p:cNvPr id="16" name="Rectangle 15"/>
          <p:cNvSpPr/>
          <p:nvPr/>
        </p:nvSpPr>
        <p:spPr>
          <a:xfrm>
            <a:off x="6263640" y="1645920"/>
            <a:ext cx="2697480" cy="43434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645920"/>
            <a:ext cx="269748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5" y="1709928"/>
            <a:ext cx="246888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Dict &amp; files</a:t>
            </a:r>
          </a:p>
        </p:txBody>
      </p:sp>
      <p:sp>
        <p:nvSpPr>
          <p:cNvPr id="19" name="TextBox 18"/>
          <p:cNvSpPr txBox="1"/>
          <p:nvPr/>
        </p:nvSpPr>
        <p:spPr>
          <a:xfrm>
            <a:off x="6409944" y="2194560"/>
            <a:ext cx="2423160" cy="3657600"/>
          </a:xfrm>
          <a:prstGeom prst="rect">
            <a:avLst/>
          </a:prstGeom>
          <a:noFill/>
        </p:spPr>
        <p:txBody>
          <a:bodyPr wrap="square" anchor="t" lIns="0" rIns="0" tIns="0" bIns="0">
            <a:spAutoFit/>
          </a:bodyPr>
          <a:lstStyle/>
          <a:p>
            <a:pPr>
              <a:spcBef>
                <a:spcPts val="0"/>
              </a:spcBef>
              <a:spcAft>
                <a:spcPts val="700"/>
              </a:spcAft>
            </a:pPr>
            <a:r>
              <a:rPr sz="1130" b="0" i="0">
                <a:solidFill>
                  <a:srgbClr val="16181D"/>
                </a:solidFill>
                <a:latin typeface="Consolas"/>
              </a:rPr>
              <a:t>d[k]=v · get(k, 0)</a:t>
            </a:r>
          </a:p>
          <a:p>
            <a:pPr>
              <a:spcBef>
                <a:spcPts val="0"/>
              </a:spcBef>
              <a:spcAft>
                <a:spcPts val="700"/>
              </a:spcAft>
            </a:pPr>
            <a:r>
              <a:rPr sz="1130" b="0" i="0">
                <a:solidFill>
                  <a:srgbClr val="16181D"/>
                </a:solidFill>
                <a:latin typeface="Consolas"/>
              </a:rPr>
              <a:t>del · in · items()</a:t>
            </a:r>
          </a:p>
          <a:p>
            <a:pPr>
              <a:spcBef>
                <a:spcPts val="0"/>
              </a:spcBef>
              <a:spcAft>
                <a:spcPts val="700"/>
              </a:spcAft>
            </a:pPr>
            <a:r>
              <a:rPr sz="1130" b="0" i="0">
                <a:solidFill>
                  <a:srgbClr val="16181D"/>
                </a:solidFill>
                <a:latin typeface="Consolas"/>
              </a:rPr>
              <a:t>count: d[k]=d.get(k,0)+1</a:t>
            </a:r>
          </a:p>
          <a:p>
            <a:pPr>
              <a:spcBef>
                <a:spcPts val="0"/>
              </a:spcBef>
              <a:spcAft>
                <a:spcPts val="700"/>
              </a:spcAft>
            </a:pPr>
            <a:r>
              <a:rPr sz="1130" b="0" i="0">
                <a:solidFill>
                  <a:srgbClr val="16181D"/>
                </a:solidFill>
                <a:latin typeface="Consolas"/>
              </a:rPr>
              <a:t>open(p, r/w/a[+b])</a:t>
            </a:r>
          </a:p>
          <a:p>
            <a:pPr>
              <a:spcBef>
                <a:spcPts val="0"/>
              </a:spcBef>
              <a:spcAft>
                <a:spcPts val="700"/>
              </a:spcAft>
            </a:pPr>
            <a:r>
              <a:rPr sz="1130" b="0" i="0">
                <a:solidFill>
                  <a:srgbClr val="16181D"/>
                </a:solidFill>
                <a:latin typeface="Consolas"/>
              </a:rPr>
              <a:t>read  readlines  for-ln</a:t>
            </a:r>
          </a:p>
          <a:p>
            <a:pPr>
              <a:spcBef>
                <a:spcPts val="0"/>
              </a:spcBef>
              <a:spcAft>
                <a:spcPts val="700"/>
              </a:spcAft>
            </a:pPr>
            <a:r>
              <a:rPr sz="1130" b="0" i="0">
                <a:solidFill>
                  <a:srgbClr val="16181D"/>
                </a:solidFill>
                <a:latin typeface="Consolas"/>
              </a:rPr>
              <a:t>with — auto-close</a:t>
            </a:r>
          </a:p>
        </p:txBody>
      </p:sp>
      <p:sp>
        <p:nvSpPr>
          <p:cNvPr id="20" name="Rectangle 19"/>
          <p:cNvSpPr/>
          <p:nvPr/>
        </p:nvSpPr>
        <p:spPr>
          <a:xfrm>
            <a:off x="9144000" y="1645920"/>
            <a:ext cx="2697480" cy="43434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1645920"/>
            <a:ext cx="269748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2016" y="1709928"/>
            <a:ext cx="2468880" cy="274320"/>
          </a:xfrm>
          <a:prstGeom prst="rect">
            <a:avLst/>
          </a:prstGeom>
          <a:noFill/>
        </p:spPr>
        <p:txBody>
          <a:bodyPr wrap="square" anchor="t" lIns="0" rIns="0" tIns="0" bIns="0">
            <a:spAutoFit/>
          </a:bodyPr>
          <a:lstStyle/>
          <a:p>
            <a:pPr>
              <a:spcBef>
                <a:spcPts val="0"/>
              </a:spcBef>
              <a:spcAft>
                <a:spcPts val="0"/>
              </a:spcAft>
            </a:pPr>
            <a:r>
              <a:rPr sz="1300" b="1" i="0">
                <a:solidFill>
                  <a:srgbClr val="E5E7EB"/>
                </a:solidFill>
                <a:latin typeface="Calibri"/>
              </a:rPr>
              <a:t>OOP &amp; errors</a:t>
            </a:r>
          </a:p>
        </p:txBody>
      </p:sp>
      <p:sp>
        <p:nvSpPr>
          <p:cNvPr id="23" name="TextBox 22"/>
          <p:cNvSpPr txBox="1"/>
          <p:nvPr/>
        </p:nvSpPr>
        <p:spPr>
          <a:xfrm>
            <a:off x="9290304" y="2194560"/>
            <a:ext cx="2423160" cy="3657600"/>
          </a:xfrm>
          <a:prstGeom prst="rect">
            <a:avLst/>
          </a:prstGeom>
          <a:noFill/>
        </p:spPr>
        <p:txBody>
          <a:bodyPr wrap="square" anchor="t" lIns="0" rIns="0" tIns="0" bIns="0">
            <a:spAutoFit/>
          </a:bodyPr>
          <a:lstStyle/>
          <a:p>
            <a:pPr>
              <a:spcBef>
                <a:spcPts val="0"/>
              </a:spcBef>
              <a:spcAft>
                <a:spcPts val="700"/>
              </a:spcAft>
            </a:pPr>
            <a:r>
              <a:rPr sz="1130" b="0" i="0">
                <a:solidFill>
                  <a:srgbClr val="16181D"/>
                </a:solidFill>
                <a:latin typeface="Consolas"/>
              </a:rPr>
              <a:t>def f(self, …): …</a:t>
            </a:r>
          </a:p>
          <a:p>
            <a:pPr>
              <a:spcBef>
                <a:spcPts val="0"/>
              </a:spcBef>
              <a:spcAft>
                <a:spcPts val="700"/>
              </a:spcAft>
            </a:pPr>
            <a:r>
              <a:rPr sz="1130" b="0" i="0">
                <a:solidFill>
                  <a:srgbClr val="16181D"/>
                </a:solidFill>
                <a:latin typeface="Consolas"/>
              </a:rPr>
              <a:t>__init__  __str__</a:t>
            </a:r>
          </a:p>
          <a:p>
            <a:pPr>
              <a:spcBef>
                <a:spcPts val="0"/>
              </a:spcBef>
              <a:spcAft>
                <a:spcPts val="700"/>
              </a:spcAft>
            </a:pPr>
            <a:r>
              <a:rPr sz="1130" b="0" i="0">
                <a:solidFill>
                  <a:srgbClr val="16181D"/>
                </a:solidFill>
                <a:latin typeface="Consolas"/>
              </a:rPr>
              <a:t>assert → dev · raise → API</a:t>
            </a:r>
          </a:p>
          <a:p>
            <a:pPr>
              <a:spcBef>
                <a:spcPts val="0"/>
              </a:spcBef>
              <a:spcAft>
                <a:spcPts val="700"/>
              </a:spcAft>
            </a:pPr>
            <a:r>
              <a:rPr sz="1130" b="0" i="0">
                <a:solidFill>
                  <a:srgbClr val="16181D"/>
                </a:solidFill>
                <a:latin typeface="Consolas"/>
              </a:rPr>
              <a:t>try/except E as e:</a:t>
            </a:r>
          </a:p>
          <a:p>
            <a:pPr>
              <a:spcBef>
                <a:spcPts val="0"/>
              </a:spcBef>
              <a:spcAft>
                <a:spcPts val="700"/>
              </a:spcAft>
            </a:pPr>
            <a:r>
              <a:rPr sz="1130" b="0" i="0">
                <a:solidFill>
                  <a:srgbClr val="16181D"/>
                </a:solidFill>
                <a:latin typeface="Consolas"/>
              </a:rPr>
              <a:t>is vs ==  · deepcopy</a:t>
            </a:r>
          </a:p>
          <a:p>
            <a:pPr>
              <a:spcBef>
                <a:spcPts val="0"/>
              </a:spcBef>
              <a:spcAft>
                <a:spcPts val="700"/>
              </a:spcAft>
            </a:pPr>
            <a:r>
              <a:rPr sz="1130" b="0" i="0">
                <a:solidFill>
                  <a:srgbClr val="16181D"/>
                </a:solidFill>
                <a:latin typeface="Consolas"/>
              </a:rPr>
              <a:t>Syntax/Runtime/Semantic</a:t>
            </a:r>
          </a:p>
        </p:txBody>
      </p:sp>
      <p:sp>
        <p:nvSpPr>
          <p:cNvPr id="24" name="TextBox 23"/>
          <p:cNvSpPr txBox="1"/>
          <p:nvPr/>
        </p:nvSpPr>
        <p:spPr>
          <a:xfrm>
            <a:off x="502920" y="6172200"/>
            <a:ext cx="11155680" cy="320040"/>
          </a:xfrm>
          <a:prstGeom prst="rect">
            <a:avLst/>
          </a:prstGeom>
          <a:noFill/>
        </p:spPr>
        <p:txBody>
          <a:bodyPr wrap="square" anchor="t" lIns="0" rIns="0" tIns="0" bIns="0">
            <a:spAutoFit/>
          </a:bodyPr>
          <a:lstStyle/>
          <a:p>
            <a:pPr>
              <a:spcBef>
                <a:spcPts val="0"/>
              </a:spcBef>
              <a:spcAft>
                <a:spcPts val="0"/>
              </a:spcAft>
            </a:pPr>
            <a:r>
              <a:rPr sz="1250" b="1" i="0">
                <a:solidFill>
                  <a:srgbClr val="16181D"/>
                </a:solidFill>
                <a:latin typeface="Calibri"/>
              </a:rPr>
              <a:t>Top interpreter messages: </a:t>
            </a:r>
            <a:r>
              <a:rPr sz="1250" b="0" i="0">
                <a:solidFill>
                  <a:srgbClr val="4B5563"/>
                </a:solidFill>
                <a:latin typeface="Calibri"/>
              </a:rPr>
              <a:t>SyntaxError · TypeError (input w/o conversion) · IndexError · KeyError · ZeroDivisionError · AttributeError NoneType (stored a modifier's None) · FileNotFoundError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Viva Preparation — the Recurring Twelve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78</a:t>
            </a:r>
          </a:p>
        </p:txBody>
      </p:sp>
      <p:sp>
        <p:nvSpPr>
          <p:cNvPr id="8" name="TextBox 7"/>
          <p:cNvSpPr txBox="1"/>
          <p:nvPr/>
        </p:nvSpPr>
        <p:spPr>
          <a:xfrm>
            <a:off x="502920" y="1600200"/>
            <a:ext cx="6949440" cy="4818888"/>
          </a:xfrm>
          <a:prstGeom prst="rect">
            <a:avLst/>
          </a:prstGeom>
          <a:noFill/>
        </p:spPr>
        <p:txBody>
          <a:bodyPr wrap="square" anchor="t" lIns="0" rIns="0" tIns="0" bIns="0">
            <a:spAutoFit/>
          </a:bodyPr>
          <a:lstStyle/>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1.  </a:t>
            </a:r>
            <a:r>
              <a:rPr sz="1380" b="0" i="0">
                <a:solidFill>
                  <a:srgbClr val="16181D"/>
                </a:solidFill>
                <a:latin typeface="Calibri"/>
              </a:rPr>
              <a:t>syntax vs runtime vs semantic — which prints a traceback?</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2.  </a:t>
            </a:r>
            <a:r>
              <a:rPr sz="1380" b="0" i="0">
                <a:solidFill>
                  <a:srgbClr val="16181D"/>
                </a:solidFill>
                <a:latin typeface="Calibri"/>
              </a:rPr>
              <a:t>why does input() need a converter before arithmetic?</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3.  </a:t>
            </a:r>
            <a:r>
              <a:rPr sz="1380" b="0" i="0">
                <a:solidFill>
                  <a:srgbClr val="16181D"/>
                </a:solidFill>
                <a:latin typeface="Calibri"/>
              </a:rPr>
              <a:t>// and % with 17 and 5 — one use of each</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4.  </a:t>
            </a:r>
            <a:r>
              <a:rPr sz="1380" b="0" i="0">
                <a:solidFill>
                  <a:srgbClr val="16181D"/>
                </a:solidFill>
                <a:latin typeface="Calibri"/>
              </a:rPr>
              <a:t>which of str/list/tuple/dict can change after creation? why does aliasing care?</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5.  </a:t>
            </a:r>
            <a:r>
              <a:rPr sz="1380" b="0" i="0">
                <a:solidFill>
                  <a:srgbClr val="16181D"/>
                </a:solidFill>
                <a:latin typeface="Calibri"/>
              </a:rPr>
              <a:t>x = x + 1: why isn't that an equation?</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6.  </a:t>
            </a:r>
            <a:r>
              <a:rPr sz="1380" b="0" i="0">
                <a:solidFill>
                  <a:srgbClr val="16181D"/>
                </a:solidFill>
                <a:latin typeface="Calibri"/>
              </a:rPr>
              <a:t>break vs continue</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7.  </a:t>
            </a:r>
            <a:r>
              <a:rPr sz="1380" b="0" i="0">
                <a:solidFill>
                  <a:srgbClr val="16181D"/>
                </a:solidFill>
                <a:latin typeface="Calibri"/>
              </a:rPr>
              <a:t>write: function with two parameters and a return value</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8.  </a:t>
            </a:r>
            <a:r>
              <a:rPr sz="1380" b="0" i="0">
                <a:solidFill>
                  <a:srgbClr val="16181D"/>
                </a:solidFill>
                <a:latin typeface="Calibri"/>
              </a:rPr>
              <a:t>a = b vs a = b.copy() — for lists and dicts</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9.  </a:t>
            </a:r>
            <a:r>
              <a:rPr sz="1380" b="0" i="0">
                <a:solidFill>
                  <a:srgbClr val="16181D"/>
                </a:solidFill>
                <a:latin typeface="Calibri"/>
              </a:rPr>
              <a:t>why is def f(x, bag=[]) dangerous? the fix</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10.  </a:t>
            </a:r>
            <a:r>
              <a:rPr sz="1380" b="0" i="0">
                <a:solidFill>
                  <a:srgbClr val="16181D"/>
                </a:solidFill>
                <a:latin typeface="Calibri"/>
              </a:rPr>
              <a:t>what does __str__ change about print(obj)?</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11.  </a:t>
            </a:r>
            <a:r>
              <a:rPr sz="1380" b="0" i="0">
                <a:solidFill>
                  <a:srgbClr val="16181D"/>
                </a:solidFill>
                <a:latin typeface="Calibri"/>
              </a:rPr>
              <a:t>assert vs raise — contract vs caller-facing refusal</a:t>
            </a:r>
          </a:p>
          <a:p>
            <a:pPr marL="201168" indent="-201168">
              <a:lnSpc>
                <a:spcPct val="104000"/>
              </a:lnSpc>
              <a:spcBef>
                <a:spcPts val="0"/>
              </a:spcBef>
              <a:spcAft>
                <a:spcPts val="450"/>
              </a:spcAft>
            </a:pPr>
            <a:r>
              <a:rPr sz="1380" b="1" i="0">
                <a:solidFill>
                  <a:srgbClr val="B3261E"/>
                </a:solidFill>
                <a:latin typeface="Calibri"/>
              </a:rPr>
              <a:t>•  </a:t>
            </a:r>
            <a:r>
              <a:rPr sz="1380" b="1" i="0">
                <a:solidFill>
                  <a:srgbClr val="B3261E"/>
                </a:solidFill>
                <a:latin typeface="Calibri"/>
              </a:rPr>
              <a:t>12.  </a:t>
            </a:r>
            <a:r>
              <a:rPr sz="1380" b="0" i="0">
                <a:solidFill>
                  <a:srgbClr val="16181D"/>
                </a:solidFill>
                <a:latin typeface="Calibri"/>
              </a:rPr>
              <a:t>w vs a mode; the missing \n bug in file writes</a:t>
            </a:r>
          </a:p>
        </p:txBody>
      </p:sp>
      <p:sp>
        <p:nvSpPr>
          <p:cNvPr id="9" name="Rectangle 8"/>
          <p:cNvSpPr/>
          <p:nvPr/>
        </p:nvSpPr>
        <p:spPr>
          <a:xfrm>
            <a:off x="7726679" y="1600200"/>
            <a:ext cx="3977639" cy="44805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91271" y="1682496"/>
            <a:ext cx="3648456" cy="43159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AN INTERNAL VIVA RUNS</a:t>
            </a:r>
          </a:p>
          <a:p>
            <a:pPr>
              <a:lnSpc>
                <a:spcPct val="105000"/>
              </a:lnSpc>
              <a:spcBef>
                <a:spcPts val="0"/>
              </a:spcBef>
              <a:spcAft>
                <a:spcPts val="320"/>
              </a:spcAft>
            </a:pPr>
            <a:r>
              <a:rPr sz="1200" b="1" i="0">
                <a:solidFill>
                  <a:srgbClr val="16181D"/>
                </a:solidFill>
                <a:latin typeface="Calibri"/>
              </a:rPr>
              <a:t>1 · </a:t>
            </a:r>
            <a:r>
              <a:rPr sz="1200" b="0" i="0">
                <a:solidFill>
                  <a:srgbClr val="16181D"/>
                </a:solidFill>
                <a:latin typeface="Calibri"/>
              </a:rPr>
              <a:t>the program is chosen cold — run it yourself.</a:t>
            </a:r>
          </a:p>
          <a:p>
            <a:pPr>
              <a:lnSpc>
                <a:spcPct val="105000"/>
              </a:lnSpc>
              <a:spcBef>
                <a:spcPts val="0"/>
              </a:spcBef>
              <a:spcAft>
                <a:spcPts val="320"/>
              </a:spcAft>
            </a:pPr>
            <a:r>
              <a:rPr sz="1200" b="1" i="0">
                <a:solidFill>
                  <a:srgbClr val="16181D"/>
                </a:solidFill>
                <a:latin typeface="Calibri"/>
              </a:rPr>
              <a:t>2 · </a:t>
            </a:r>
            <a:r>
              <a:rPr sz="1200" b="0" i="0">
                <a:solidFill>
                  <a:srgbClr val="16181D"/>
                </a:solidFill>
                <a:latin typeface="Calibri"/>
              </a:rPr>
              <a:t>each question targets a construct in that program — name it per line.</a:t>
            </a:r>
          </a:p>
          <a:p>
            <a:pPr>
              <a:lnSpc>
                <a:spcPct val="105000"/>
              </a:lnSpc>
              <a:spcBef>
                <a:spcPts val="0"/>
              </a:spcBef>
              <a:spcAft>
                <a:spcPts val="320"/>
              </a:spcAft>
            </a:pPr>
            <a:r>
              <a:rPr sz="1200" b="1" i="0">
                <a:solidFill>
                  <a:srgbClr val="16181D"/>
                </a:solidFill>
                <a:latin typeface="Calibri"/>
              </a:rPr>
              <a:t>3 · </a:t>
            </a:r>
            <a:r>
              <a:rPr sz="1200" b="0" i="0">
                <a:solidFill>
                  <a:srgbClr val="16181D"/>
                </a:solidFill>
                <a:latin typeface="Calibri"/>
              </a:rPr>
              <a:t>open with one sentence: data flow → key construct → the evidence in the output.</a:t>
            </a:r>
          </a:p>
          <a:p>
            <a:pPr>
              <a:lnSpc>
                <a:spcPct val="105000"/>
              </a:lnSpc>
              <a:spcBef>
                <a:spcPts val="0"/>
              </a:spcBef>
              <a:spcAft>
                <a:spcPts val="320"/>
              </a:spcAft>
            </a:pPr>
            <a:r>
              <a:rPr sz="1200" b="0" i="0">
                <a:solidFill>
                  <a:srgbClr val="16181D"/>
                </a:solidFill>
                <a:latin typeface="Calibri"/>
              </a:rPr>
              <a:t>Answer the 'why', not the 'what': </a:t>
            </a:r>
            <a:r>
              <a:rPr sz="1150" b="0" i="0">
                <a:solidFill>
                  <a:srgbClr val="16181D"/>
                </a:solidFill>
                <a:latin typeface="Consolas"/>
              </a:rPr>
              <a:t>sort() returns None</a:t>
            </a:r>
            <a:r>
              <a:rPr sz="1200" b="0" i="0">
                <a:solidFill>
                  <a:srgbClr val="16181D"/>
                </a:solidFill>
                <a:latin typeface="Calibri"/>
              </a:rPr>
              <a:t> is a fact; 'because it is a modifier' is the tick.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700" b="1" i="0">
                <a:solidFill>
                  <a:srgbClr val="0F172A"/>
                </a:solidFill>
                <a:latin typeface="Calibri"/>
              </a:rPr>
              <a:t>References &amp; Sources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48640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Python Programming · 1BPLC105B/205B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79</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Textbook (prescribed): </a:t>
            </a:r>
            <a:r>
              <a:rPr sz="1550" b="0" i="0">
                <a:solidFill>
                  <a:srgbClr val="16181D"/>
                </a:solidFill>
                <a:latin typeface="Calibri"/>
              </a:rPr>
              <a:t>Wentworth, Elkner, Downey &amp; Meyers — </a:t>
            </a:r>
            <a:r>
              <a:rPr sz="1550" b="0" i="1">
                <a:solidFill>
                  <a:srgbClr val="16181D"/>
                </a:solidFill>
                <a:latin typeface="Calibri"/>
              </a:rPr>
              <a:t>How to Think Like a Computer Scientist: Learning with Python 3</a:t>
            </a:r>
            <a:r>
              <a:rPr sz="1550" b="0" i="0">
                <a:solidFill>
                  <a:srgbClr val="16181D"/>
                </a:solidFill>
                <a:latin typeface="Calibri"/>
              </a:rPr>
              <a:t>, Green Tea Press, 2020 — module chapter refs point here.</a:t>
            </a:r>
          </a:p>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Reference 1: </a:t>
            </a:r>
            <a:r>
              <a:rPr sz="1550" b="0" i="0">
                <a:solidFill>
                  <a:srgbClr val="16181D"/>
                </a:solidFill>
                <a:latin typeface="Calibri"/>
              </a:rPr>
              <a:t>Al Sweigart, </a:t>
            </a:r>
            <a:r>
              <a:rPr sz="1550" b="0" i="1">
                <a:solidFill>
                  <a:srgbClr val="16181D"/>
                </a:solidFill>
                <a:latin typeface="Calibri"/>
              </a:rPr>
              <a:t>Automate the Boring Stuff with Python</a:t>
            </a:r>
            <a:r>
              <a:rPr sz="1550" b="0" i="0">
                <a:solidFill>
                  <a:srgbClr val="16181D"/>
                </a:solidFill>
                <a:latin typeface="Calibri"/>
              </a:rPr>
              <a:t> (2nd ed., No Starch 2022, CC-BY-NC-SA) — files/CSV and the practical instincts of Q9–12.</a:t>
            </a:r>
          </a:p>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Reference 2: </a:t>
            </a:r>
            <a:r>
              <a:rPr sz="1550" b="0" i="0">
                <a:solidFill>
                  <a:srgbClr val="16181D"/>
                </a:solidFill>
                <a:latin typeface="Calibri"/>
              </a:rPr>
              <a:t>McMullen, Matthews &amp; Parsons, </a:t>
            </a:r>
            <a:r>
              <a:rPr sz="1550" b="0" i="1">
                <a:solidFill>
                  <a:srgbClr val="16181D"/>
                </a:solidFill>
                <a:latin typeface="Calibri"/>
              </a:rPr>
              <a:t>Programming with Python</a:t>
            </a:r>
            <a:r>
              <a:rPr sz="1550" b="0" i="0">
                <a:solidFill>
                  <a:srgbClr val="16181D"/>
                </a:solidFill>
                <a:latin typeface="Calibri"/>
              </a:rPr>
              <a:t> (Cengage, 2023).</a:t>
            </a:r>
          </a:p>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E-resources: </a:t>
            </a:r>
            <a:r>
              <a:rPr sz="1550" b="0" i="0">
                <a:solidFill>
                  <a:srgbClr val="16181D"/>
                </a:solidFill>
                <a:latin typeface="Calibri"/>
              </a:rPr>
              <a:t>learnbyexample.org/python · learnpython.org · pythontutor.com (step-through for the Collatz &amp; bubble traces)</a:t>
            </a:r>
          </a:p>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Assessment framework: </a:t>
            </a:r>
            <a:r>
              <a:rPr sz="1550" b="0" i="0">
                <a:solidFill>
                  <a:srgbClr val="16181D"/>
                </a:solidFill>
                <a:latin typeface="Calibri"/>
              </a:rPr>
              <a:t>IPCC circular VTU/BGM/IPCC 2025/3748, dated 24 Oct 2025.</a:t>
            </a:r>
          </a:p>
          <a:p>
            <a:pPr marL="201168" indent="-201168">
              <a:lnSpc>
                <a:spcPct val="104000"/>
              </a:lnSpc>
              <a:spcBef>
                <a:spcPts val="0"/>
              </a:spcBef>
              <a:spcAft>
                <a:spcPts val="1100"/>
              </a:spcAft>
            </a:pPr>
            <a:r>
              <a:rPr sz="1550" b="1" i="0">
                <a:solidFill>
                  <a:srgbClr val="B3261E"/>
                </a:solidFill>
                <a:latin typeface="Calibri"/>
              </a:rPr>
              <a:t>•  </a:t>
            </a:r>
            <a:r>
              <a:rPr sz="1550" b="1" i="0">
                <a:solidFill>
                  <a:srgbClr val="16181D"/>
                </a:solidFill>
                <a:latin typeface="Calibri"/>
              </a:rPr>
              <a:t>Slides source: </a:t>
            </a:r>
            <a:r>
              <a:rPr sz="1550" b="0" i="0">
                <a:solidFill>
                  <a:srgbClr val="16181D"/>
                </a:solidFill>
                <a:latin typeface="Calibri"/>
              </a:rPr>
              <a:t>the course &amp; lab-notes book for 1BPLC105B/205B — code read from </a:t>
            </a:r>
            <a:r>
              <a:rPr sz="1300" b="0" i="0">
                <a:solidFill>
                  <a:srgbClr val="16181D"/>
                </a:solidFill>
                <a:latin typeface="Consolas"/>
              </a:rPr>
              <a:t>src/*.py</a:t>
            </a:r>
            <a:r>
              <a:rPr sz="1550" b="0" i="0">
                <a:solidFill>
                  <a:srgbClr val="16181D"/>
                </a:solidFill>
                <a:latin typeface="Calibri"/>
              </a:rPr>
              <a:t>, outputs from the </a:t>
            </a:r>
            <a:r>
              <a:rPr sz="1300" b="0" i="0">
                <a:solidFill>
                  <a:srgbClr val="16181D"/>
                </a:solidFill>
                <a:latin typeface="Consolas"/>
              </a:rPr>
              <a:t>out/*.txt</a:t>
            </a:r>
            <a:r>
              <a:rPr sz="1550" b="0" i="0">
                <a:solidFill>
                  <a:srgbClr val="16181D"/>
                </a:solidFill>
                <a:latin typeface="Calibri"/>
              </a:rPr>
              <a:t> pty captures; all executed on CPython 3.13.14 + NumPy 2.3.5.</a:t>
            </a:r>
          </a:p>
        </p:txBody>
      </p:sp>
      <p:sp>
        <p:nvSpPr>
          <p:cNvPr id="9" name="Rectangle 8"/>
          <p:cNvSpPr/>
          <p:nvPr/>
        </p:nvSpPr>
        <p:spPr>
          <a:xfrm>
            <a:off x="502920" y="5394960"/>
            <a:ext cx="11183112" cy="25603"/>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577840"/>
            <a:ext cx="11155680" cy="731520"/>
          </a:xfrm>
          <a:prstGeom prst="rect">
            <a:avLst/>
          </a:prstGeom>
          <a:noFill/>
        </p:spPr>
        <p:txBody>
          <a:bodyPr wrap="square" anchor="t" lIns="0" rIns="0" tIns="0" bIns="0">
            <a:spAutoFit/>
          </a:bodyPr>
          <a:lstStyle/>
          <a:p>
            <a:pPr>
              <a:spcBef>
                <a:spcPts val="0"/>
              </a:spcBef>
              <a:spcAft>
                <a:spcPts val="0"/>
              </a:spcAft>
            </a:pPr>
            <a:r>
              <a:rPr sz="1300" b="1" i="0">
                <a:solidFill>
                  <a:srgbClr val="B3261E"/>
                </a:solidFill>
                <a:latin typeface="Calibri"/>
              </a:rPr>
              <a:t>END OF DECK</a:t>
            </a:r>
            <a:r>
              <a:rPr sz="1300" b="0" i="0">
                <a:solidFill>
                  <a:srgbClr val="4B5563"/>
                </a:solidFill>
                <a:latin typeface="Calibri"/>
              </a:rPr>
              <a:t>   ·   Seven slides of checkpoint question banks live in each module chapter; the 12 lab chapters carry complete sources, guard-run transcripts and model viva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(1BPLC105B/205B) — Classroom Slides</dc:title>
  <dc:subject>VTU IPCC course · 5 modules + 12 lab questions</dc:subject>
  <dc:creator>Dr. Lokesh M R, AJIET Mangaluru</dc:creator>
  <cp:keywords/>
  <dc:description>Derived from the Python-Programming-1BPLC105B-205B-Book.pdf course &amp; lab notes; all outputs captured on CPython 3.13.14.</dc:description>
  <cp:lastModifiedBy>Steve Canny</cp:lastModifiedBy>
  <cp:revision>1</cp:revision>
  <dcterms:created xsi:type="dcterms:W3CDTF">2013-01-27T09:14:16Z</dcterms:created>
  <dcterms:modified xsi:type="dcterms:W3CDTF">2013-01-27T09:15:58Z</dcterms:modified>
  <cp:category/>
</cp:coreProperties>
</file>