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the mark tables ARE the spec; every later slide answers one of these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is the first half of the TLP; the deck mirrors the book's chapters 1–8.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1, §1.1/§1.4.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1, §1.2–§1.3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2, §2.1/§2.4.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2, §2.2–§2.3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3, §3.1/§3.4.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3, §3.2–§3.3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4, §4.1/§4.4.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4, §4.2–§4.3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5, §5.1/§5.4.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5, §5.2–§5.3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6, §6.1/§6.4.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6, §6.2–§6.3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7, §7.1/§7.4.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7, §7.2–§7.3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8, §8.1/§8.4.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8, §8.2–§8.3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9, §9.1/§9.4.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9, §9.2–§9.3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10, §10.1/§10.4.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10, §10.2–§10.3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11, §11.1/§11.4.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11, §11.2–§11.3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12, §12.1/§12.4.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12, §12.2–§12.3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13, §13.1/§13.4.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13, §13.2–§13.3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14, §14.1/§14.4.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14, §14.2–§14.3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15, §15.1/§15.4. The outbox lines are verbatim captures; discussion: run the two checkpoint questions as cold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chapter 15, §15.2–§15.3 holds the full listing and the complete transcript; the deck truncates, the book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two captures: the build receipt and the collector summary. Offer to run either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3261E"/>
                </a:solidFill>
                <a:latin typeface="Calibri"/>
              </a:rPr>
              <a:t>AEC / SDC · SEMESTER III · PROJECT-BASED LEARNING · ONE CREDIT · 15 WEEKS, 15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52144"/>
            <a:ext cx="10362895" cy="25603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0F172A"/>
                </a:solidFill>
                <a:latin typeface="Calibri"/>
              </a:rPr>
              <a:t>COMMUNITY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0F172A"/>
                </a:solidFill>
                <a:latin typeface="Calibri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10128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B5563"/>
                </a:solidFill>
                <a:latin typeface="Calibri"/>
              </a:rPr>
              <a:t>Topic 1 — Computer-Based Learning Tool for Mentally Challenged Students · Mangaluru, Dakshina Kannada · offline browser tool, fingerprinted pack, pilot data, DPR — every number on every slide is a line of a capture, run twice, byte-identical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9927" y="4160520"/>
            <a:ext cx="3291840" cy="713232"/>
          </a:xfrm>
          <a:prstGeom prst="rect">
            <a:avLst/>
          </a:prstGeom>
          <a:noFill/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9927" y="4242816"/>
            <a:ext cx="3291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172A"/>
                </a:solidFill>
                <a:latin typeface="Calibri"/>
              </a:rPr>
              <a:t>1BCP308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81D"/>
                </a:solidFill>
                <a:latin typeface="Calibri"/>
              </a:rPr>
              <a:t>1 credit · 0:0:0 contact · pedagogy 0:0:0:30:30 · CIE 50 · SEE 50 (of 100, scaled) · Total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by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172A"/>
                </a:solidFill>
                <a:latin typeface="Calibri"/>
              </a:rPr>
              <a:t>Dr. Lokesh M 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Professor · Dept. of Information Science &amp;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A J Institute of Engineering and Technology (AJIET), Mangaluru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Visvesvaraya Technological University (VTU) · 2025 Scheme · slides derived from the course-notes book (same captures, same checks)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Course at a Glance — and Why This Book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989320" cy="4864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One topic, developed completely: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Computer-Based Learning Tool for Mentally Challenged Students — the course's problem-area table has nineteen rows; this volume takes row 1 and builds it end to end for the special schools of Dakshina Kannada.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The ledger is the weeks: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0:0:0 contact hours, pedagogy 0:0:0:30:30 — 30 h term work + 30 h self-learning. The 15-week Teaching-Learning Process is the table of contents: one program, one capture, one chapter per week.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Assessment is arithmetic: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CIE rubric rows 8/10/8/10/6/8 = 50; SEE rows 16/20/16/20/12/16 = 100, scaled to 50. Gates: CIE ≥ 20/50 to enter SEE, SEE ≥ 35/100, total ≥ 40. Parsed from the rules text by the week-1 program —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nothing here is remembered.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Environment of record: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Python 3.13.14 · numpy 2.3.5 · pandas 2.2.3 on Debian GNU/Linux 13 (trixie) — pinned in 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out/toolchain.txt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Machine guarantee: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“capture: 17 programs ok, all reproducible across two runs (zero stderr)” — the collector ran all seventeen programs twice and diffed the passes byte-for-byte.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554480"/>
            <a:ext cx="4983480" cy="315468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54864" cy="31546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645920"/>
            <a:ext cx="4599432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COURSE OUTCOMES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81D"/>
                </a:solidFill>
                <a:latin typeface="Calibri"/>
              </a:rPr>
              <a:t>CO1: Identify and analyze societal problems through field interaction and technical assessment.  CO2: Develop skills in project planning, field survey, data collection, implementation, documentation, and reporting.  CO3: Apply principles of social responsibility in engineering practice through community-oriented interventions.  CO4: Exhibit multidisciplinary learning, problem-solving ability, and communication skills based on collected data (requirements), stakeholder feedback, and baseline conditions.  CO5: Choose feasible societal problem statements and solutions considering practical constraints and sustainability aspects.  CO6: Create a product by collaborating with stakeholders and within the team to deliver a product/project to the intended community/organization.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4800600"/>
            <a:ext cx="4983480" cy="150876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4882896"/>
            <a:ext cx="465429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HOW TO USE THESE SLIDES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250" b="1" i="0">
                <a:solidFill>
                  <a:srgbClr val="16181D"/>
                </a:solidFill>
                <a:latin typeface="Calibri"/>
              </a:rPr>
              <a:t>Every panel is a file read: </a:t>
            </a:r>
            <a:r>
              <a:rPr sz="1150" b="0" i="0">
                <a:solidFill>
                  <a:srgbClr val="16181D"/>
                </a:solidFill>
                <a:latin typeface="Consolas"/>
              </a:rPr>
              <a:t>src/&lt;stem&gt;.py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 code, </a:t>
            </a:r>
            <a:r>
              <a:rPr sz="1150" b="0" i="0">
                <a:solidFill>
                  <a:srgbClr val="16181D"/>
                </a:solidFill>
                <a:latin typeface="Consolas"/>
              </a:rPr>
              <a:t>out/&lt;stem&gt;.txt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 captured sessions — identical to the book's.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250" b="0" i="0">
                <a:solidFill>
                  <a:srgbClr val="16181D"/>
                </a:solidFill>
                <a:latin typeface="Calibri"/>
              </a:rPr>
              <a:t>Numbers quoted on slides were verified against the captures at build time (self-check pass).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Topic Line and the Mark Tables It Must Satisfy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806440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The approved topic (course table, row 1)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Title: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Computer-Based Learning Tool for Mentally Challenged Students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Outcome: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Design and develop a web/browser-based learning tool as per the requirements of the special school.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Place: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Mangaluru, Dakshina Kannada, Karnataka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POs / SDG: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PO5, 6 · SDG 4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Conduct clause: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academic, socially responsible, technically focused, politically neutral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64608"/>
            <a:ext cx="5806440" cy="141732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946904"/>
            <a:ext cx="5477255" cy="1252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WEEK-2 SCREENING VERDICT (CAPTURED)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00" b="0" i="0">
                <a:solidFill>
                  <a:srgbClr val="16181D"/>
                </a:solidFill>
                <a:latin typeface="Consolas"/>
              </a:rPr>
              <a:t>CP-01 RESULT: 4 topics screened on 5 criteria, winner margin 1.50, risk named --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572768"/>
            <a:ext cx="4983480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Rubric weights (the programs sum them, never quote them)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 8 · SEE 16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Problem identification &amp; relevance to society/…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10 · SEE 20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Formation of problem statement; engineering ap…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 8 · SEE 16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Interaction with stakeholders; data collection…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10 · SEE 20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Project documentation; clarity, organization &amp;…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 6 · SEE 12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Communication &amp; presentation skills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20"/>
              </a:spcAft>
            </a:pPr>
            <a:r>
              <a:rPr sz="1150" b="1" i="0">
                <a:solidFill>
                  <a:srgbClr val="166534"/>
                </a:solidFill>
                <a:latin typeface="Consolas"/>
              </a:rPr>
              <a:t>CIE  8 · SEE 16  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Contribution &amp; benefit to society (impact, sus…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Totals: 50 + 100 (scaled → 50) · gates 20 / 35 / 40, regex-parsed by cp00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200" b="1" i="0">
                <a:solidFill>
                  <a:srgbClr val="B3261E"/>
                </a:solidFill>
                <a:latin typeface="Calibr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3310128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Method — Weeks 1–8: build the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041648"/>
            <a:ext cx="871697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Briefing arithmetic, topic screening, the school survey, the frozen statement, the baseline, the week map, the money test, and a design made of auditable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67" y="4831080"/>
            <a:ext cx="10881360" cy="158800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2911" y="4949952"/>
            <a:ext cx="5111496" cy="1368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 — The Briefing Ledger: What the Course…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2 — Screening the Topic Against the Ground It…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3 — The Baseline Survey: 48 Respondents, Three…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4 — Freezing the Problem Statement on Evidence…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591" y="4949952"/>
            <a:ext cx="5111496" cy="1368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5 — The Baseline: What Already Exists, and What…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6 — The Week Map: Fifteen Slots, One Float,…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7 — Feasibility: What the School Already Owns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8 — Design Week: The Engine Surface and the Page…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 — Course introduction, objectives, ethics, conduct, 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 · The Briefing Ledger: What the Course Actually Pays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credit with zero contact hours is either free or it is read carefully.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1BCP308 is read carefully: the ledger lives in the Teaching-Learning Process rows, and the money lives in two rubric tables.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Week 1 therefore produces no slides and no opinion — it produces a program that sums the rubric weights, regex-parses the three pass gates out of the rules text, and proves the arithmetic closes.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If the briefing slide and the rubric file ever disagree, this program fails at build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CIE rubric weights  : 8 + 10 + 8 + 10 + 6 + 8 = 50 (must be 50)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gates (computed from the rules strings by regex, not remembered):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worst passing mix : CIE 20 + SEE 20 scaled -&gt; SEE raw 40/100 is the floor at bare CIE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The SEE is marked out of 100 but entered as 50. Where does the scaling happen, and what does that make the real SEE pass floor in portal marks?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must the CIE gate be checked before a team is even allowed to present?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single line of this capture would you show a teammate who thinks the project 'just needs to work'?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Understand course requirements and form teams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Team list, course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 — src/cp00_course_brief.py · out/cp00_course_brief.txt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src/cp00_course_brief.py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"""CP-00 (week 1): course briefing ledger — rules, rubric arithmetic, gates.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Everything printed here is computed from syllabus_data.py (the captured course page),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so the briefing slide and this transcript can never disagree."""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syllabus_data as 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CP-00  Week-1 briefing: what the course pays for, verified from its own text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w_cie = [r[1] for r in S.RUB_CIE]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w_see = [r[1] for r in S.RUB_SEE]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print("CIE rubric weights  :", " + ".join(str(w) for w in w_cie), "=", sum(w_cie), "(must be 50)")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print("SEE rubric weights  :", " + ".join(str(w) for w in w_see), "=", sum(w_see), "(entered /100)")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print("SEE scaling         : 100 -&gt; 50 (ITI-SMU module, automatic)")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sum(w_cie) == 50 and sum(w_see) == 100, "rubric weights do not sum"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 = " ".join(S.ASSESS["rules"])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g_cie = int(re.search(r"CIE . (\d+)/(\d+)", t)[1]); g_cie_max = int(re.search(r"CIE . \d+/(\d+)", t)[1])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m_see = re.search(r"SEE . (\d+)/(\d+)", t); g_see = int(m_see[1]); g_see_max = int(m_see[2])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m_pass = re.search(r"scaled to (\d+)\) . (\d+)", t); g_scaled_max = int(m_pass[1]); g_pass = int(m_pass[2])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g_cie_max == sum(w_cie) and g_see_max == 100, "gate maxima disagree with rubric sums"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need_scaled = max(g_pass - g_cie,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need_raw = max(g_see, -(-need_scaled * g_see_max // g_scaled_max))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print("gates (computed from the rules strings by regex, not remembered):")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CIE eligibility   : &gt;= {g_cie} of {g_cie_max}  = {g_cie/g_cie_max:.0%} of CIE")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8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print("course outcomes on the board (level : verb):")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cid, lvl, _ in S.COS: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  {cid} ({lvl})")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print(f"CP-00 RESULT: rubric arithmetic verified {sum(w_cie)}/{sum(w_see)}, gates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f"{g_cie}/{g_cie_max}, {g_see}/{g_see_max}, {g_pass} total — worst-mix SEE raw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f"{need_raw} — restated from source -- PASS")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src/cp00_course_brief.py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$ python3 src/cp00_course_brief.py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== CP-00  Week-1 briefing: what the course pays for, verified from its own text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CIE rubric weights  : 8 + 10 + 8 + 10 + 6 + 8 = 50 (must be 50)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SEE rubric weights  : 16 + 20 + 16 + 20 + 12 + 16 = 100 (entered /100)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SEE scaling         : 100 -&gt; 50 (ITI-SMU module, automatic)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gates (computed from the rules strings by regex, not remembered):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CIE eligibility   : &gt;= 20 of 50  = 40% of CIE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SEE pass floor    : &gt;= 35 of 100 in the SEE itself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overall pass      : CIE(/50) + SEE scaled(/50) &gt;= 40, else grade 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worst passing mix : CIE 20 + SEE 20 scaled -&gt; SEE raw 40/100 is the floor at bare CIE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team rule : batches of 3-4, at least one project (or two related activities)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conduct   : academic, socially responsible, technically focused, politically neutral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ledger    : L:T:P:SL:TW = 0:0:0:30:30 -&gt; 30 h TW + 30 h SL, zero contact hours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course outcomes on the board (level : verb):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CO1 (L2 – Understand)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CO2 (L3 – Apply)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CO3 (L3 – Apply)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CO4 (L4 – Analyze)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CO5 (L5 – Evaluate)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 CO6 (L6 – Create)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70" b="0" i="0">
                <a:solidFill>
                  <a:srgbClr val="14171C"/>
                </a:solidFill>
                <a:latin typeface="Consolas"/>
              </a:rPr>
              <a:t>CP-00 RESULT: rubric arithmetic verified 50/100, gates 20/50, 35/100, 40 total — worst-mix SEE raw 40 — restated from source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66534"/>
                </a:solidFill>
                <a:latin typeface="Consolas"/>
              </a:rPr>
              <a:t>RESULT (verbatim):  CP-00 RESULT: rubric arithmetic verified 50/100, gates 20/50, 35/100, 40 total — worst-mix SEE raw 40 — restated from source --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2 — Community problem identification and topic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2 · Screening the Topic Against the Ground It Must Land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course offers nineteen problem areas.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team picks one; the rest stay hypothetical.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screening matrix scores the shortlist on five weighted criteria, and the winner's margin is computed, not felt.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thin margin would have sent this volume back to the drawing board; the capture prints the number that decided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margin : 4.80 - 3.30 = 1.50 over runner-up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risk   : winner's weakest criterion is stakeholder_access (4/5) — mitigated by the week-3 survey and the school's written consent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risk was named highest for the winning topic, and why is it scored rather than argued?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Would a 12-week semester change the ranking? Which criterion moves?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Topic Framing and Feasibility — Identify local issues through discussion and observation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Shortlisted project topic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2 — src/cp01_topic_screen.py · out/cp01_topic_screen.txt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2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src/cp01_topic_screen.py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"""CP-01 (week 2): topic framing and feasibility screen. Four candidate community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topics scored on five criteria; weights and scores are the team's record — the winner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is this volume's topic, and the margin is what a committee questions, so it is printed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from the computation, never from memory."""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CRIT = [("societal_need", 0.25), ("stakeholder_access", 0.20), ("engineering_fit", 0.20),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("cost_feasibility", 0.15), ("sdg_linkage", 0.20)]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score 1..5; access = can we reach the people/partners this week; fit = third-year CS skill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TOPICS = [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("Computer-Based Learning Tool, special school (Mangaluru)", [5, 4, 5, 5, 5]),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("Smart-bin fill sensors for the corporation",               [3, 2, 3, 2, 4]),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("Volunteer scheduling app for a city NGO network",          [3, 3, 4, 5, 2]),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("Flood-alert SMS relay for riverside hamlets",              [4, 1, 2, 2, 3]),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CP-01  topic screen: weighted decision record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hdr = "topic".ljust(52) + "".join(c[:7].rjust(8) for c, _ in CRIT) + "  score"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print(hdr); print("-" * len(hdr))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rows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name, sc in TOPICS: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tot = sum(w * s for (_, w), s in zip(CRIT, sc))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rows.append((tot, name, sc))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print(name[:50].ljust(52) + "".join(f"{s:&gt;8}" for s in sc) + f"{tot:&gt;8.2f}")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rows.sort(reverse=True)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margin = rows[0][0] - rows[1][0]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5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wk_name = CRIT[wk_idx][0]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print(f"risk   : winner's weakest criterion is {wk_name} ({rows[0][2][wk_idx]}/5) —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f"mitigated by the week-3 survey and the school's written consent")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margin &gt;= 1.0, "topic screen not decisive"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print(f"CP-01 RESULT: 4 topics screened on 5 criteria, winner margin {margin:.2f},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f"risk named -- PASS")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src/cp01_topic_screen.py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$ python3 src/cp01_topic_screen.py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== CP-01  topic screen: weighted decision record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topic                                                societa stakeho enginee cost_fe sdg_lin  score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---------------------------------------------------------------------------------------------------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Computer-Based Learning Tool, special school (Mang         5       4       5       5       5    4.80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Smart-bin fill sensors for the corporation                 3       2       3       2       4    2.85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Volunteer scheduling app for a city NGO network            3       3       4       5       2    3.30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Flood-alert SMS relay for riverside hamlets                4       1       2       2       3    2.50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weights: societal_need=0.25, stakeholder_access=0.2, engineering_fit=0.2, cost_feasibility=0.15, sdg_linkage=0.2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winner : Computer-Based Learning Tool, special school (Mangaluru)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margin : 4.80 - 3.30 = 1.50 over runner-up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risk   : winner's weakest criterion is stakeholder_access (4/5) — mitigated by the week-3 survey and the school's written consent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10" b="0" i="0">
                <a:solidFill>
                  <a:srgbClr val="14171C"/>
                </a:solidFill>
                <a:latin typeface="Consolas"/>
              </a:rPr>
              <a:t>CP-01 RESULT: 4 topics screened on 5 criteria, winner margin 1.50, risk named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CP-01 RESULT: 4 topics screened on 5 criteria, winner margin 1.50, risk named --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3 — Stakeholder interaction and preliminary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3 · The Baseline Survey: 48 Respondents, Three Schools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Before a single tag is written, the requirement is a field number.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survey went to teachers and support staff at three schools; the analysis prints who lacks devices at home, how many households sit at two or below on internet, and how thin prior exposure to any learning software is.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Every one of these became a design constraint in week 8 — and the connectivity figure is exactly why the tool must run with the network dark.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respondents: 48  schools: 3  roles: parent=16, teacher=32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connectivity: 20/48 rate their internet 1-2 of 5 (41.7%) -&gt; the tool must run fully offline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prior exposure: 5/48 learners' households have used any learning software before (10.4%) -&gt; assume zero training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What did the connectivity figure forbid in the design?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need item moved with device scarcity, and how was that shown?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record 'prior exposure' at all — what decision does it change?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Collect initial data from community/users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Survey notes, interview record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3 — src/cp02_stakeholder_survey.py · out/cp02_stakeholder_survey.txt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3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src/cp02_stakeholder_survey.py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"""CP-02 (week 3): stakeholder interaction and preliminary survey, analyzed.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Reads data/baseline_survey.csv — the synthetic, seeded snapshot (see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make_field_data.py) — and produces the numbers the problem statement will 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built from. Every percentage names its base."""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pd.set_option("display.width", 78)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df = pd.read_csv(os.path.join(ROOT, "data", "baseline_survey.csv"))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need_cols = [c for c in df.columns if c.startswith("need")]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CP-02  preliminary survey: what 48 stakeholders actually said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print(f"respondents: {len(df)}  schools: {df.school.nunique()}  roles:",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", ".join(f"{r}={n}" for r, n in sorted(df.role.value_counts().items())))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print("need items (1=low .. 5=high), whole sample:")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c in need_cols: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s = df[c]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strong = int((s &gt;= 4).sum())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  {c:&lt;22} mean {s.mean():.2f}  &gt;=4: {strong:&gt;2}/{len(df)} 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f"({100*strong/len(df):.1f}% of respondents)")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gap = df[df.devices_home == 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dev = df[df.devices_home == 1]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print(f"device gap: {len(gap)}/{len(df)} report NO home device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12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f"({100*low_net/len(df):.1f}%) -&gt; the tool must run fully offline")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prior = int(df.prior_software.sum())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print(f"prior exposure: {prior}/{len(df)} learners' households have used any learning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f"software before ({100*prior/len(df):.1f}%) -&gt; assume zero training time")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print("CP-02 RESULT: 48 respondents, need means + device/net gaps computed, offline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"requirement earned from data -- PASS")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src/cp02_stakeholder_survey.py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$ python3 src/cp02_stakeholder_survey.py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== CP-02  preliminary survey: what 48 stakeholders actually said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respondents: 48  schools: 3  roles: parent=16, teacher=32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need items (1=low .. 5=high), whole sample: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need1_access           mean 3.90  &gt;=4: 34/48  (70.8% of respondents)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need2_visual           mean 3.62  &gt;=4: 30/48  (62.5% of respondents)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need3_repeat           mean 3.85  &gt;=4: 32/48  (66.7% of respondents)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need4_practice         mean 3.73  &gt;=4: 30/48  (62.5% of respondents)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need5_motivation       mean 3.77  &gt;=4: 29/48  (60.4% of respondents)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device gap: 27/48 report NO home device (56.2%)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need1_access: mean 4.19 (no device) vs 3.52 (device) — gap +0.66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need2_visual: mean 3.93 (no device) vs 3.24 (device) — gap +0.69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(the generator embeds this dependency; a real team would test it, not assume it)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per-school mean need: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                    need1_access  need2_visual  need3_repeat  need4_practice  need5_motivation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school                                                                                  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DK01-Mangaluru-city           3.56          3.38          3.44            3.12              2.94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DK02-Mangaluru-rural          4.06          3.88          4.06            4.00              4.19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DK03-Ullal-coastal            4.06          3.62          4.06            4.06              4.19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connectivity: 20/48 rate their internet 1-2 of 5 (41.7%) -&gt; the tool must run fully offline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prior exposure: 5/48 learners' households have used any learning software before (10.4%) -&gt; assume zero training 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CP-02 RESULT: 48 respondents, need means + device/net gaps computed, offline requirement earned from data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6534"/>
                </a:solidFill>
                <a:latin typeface="Consolas"/>
              </a:rPr>
              <a:t>RESULT (verbatim):  CP-02 RESULT: 48 respondents, need means + device/net gaps computed, offline requirement earned from data --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4 — Problem statement and objective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4 · Freezing the Problem Statement on Evidence Anchors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problem statement is approved the day it is falsifiable.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Week 4's capture shows the freeze: two counts from the survey are quoted as the statement's evidence anchors, four objectives are written with named instruments, and the scope-out list is printed in the same breath as the scope-in.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approved statement is the contract the SEE committee will later grade against.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CP-03 RESULT: statement frozen with 4 measurable objectives, 32/48 and 29/48 as its evidence anchors --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== CP-03  problem statement and objectives: frozen from the survey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SCOPE OUT (conduct clause): no medical/therapy claims; no learner data leaves the school machine; no commercial content licenses; no election/political content 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does every objective need an instrument, not a verb?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survey counts anchor the statement, and would they survive a different school?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Problem statement, scope, and objectives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Approved problem statement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4 — src/cp03_problem_statement.py · out/cp03_problem_statement.txt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4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src/cp03_problem_statement.py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"""CP-03 (week 4): the approved problem statement, assembled from CP-02's numbers.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The statement is PRINTED by this program from the survey file — the report quotes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program, not the other way round."""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df = pd.read_csv(os.path.join(ROOT, "data", "baseline_survey.csv"))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need = [c for c in df.columns if c.startswith("need")]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 = len(df)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strong_repeat = int((df.need3_repeat &gt;= 4).sum())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strong_motive = int((df.need5_motivation &gt;= 4).sum())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nodev = int((df.devices_home == 0).sum())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low_net = int((df.internet_1to5 &lt;= 2).sum())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teachers = df[df.role == "teacher"]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CP-03  problem statement and objectives: frozen from the survey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print("CONTEXT (computed):")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  partner: a composite special school, Dakshina Kannada — learners with intellectual")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disability; pilot cohort 22 learners; stakeholder teachers surveyed: {len(teachers)}")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{strong_repeat}/{n} stakeholders rate 'repeat practice without teacher fatigue'")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at 4-5 of 5; {strong_motive}/{n} rate 'learner motivation' at 4-5.")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access constraints: {nodev}/{n} no home device, {low_net}/{n} weak internet.")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print("PROBLEM STATEMENT (approved):")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15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scope_out = ["no medical/therapy claims", "no learner data leaves the school machine",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"no commercial content licenses", "no election/political content ever"]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print("SCOPE OUT (conduct clause):", "; ".join(scope_out))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print(f"CP-03 RESULT: statement frozen with 4 measurable objectives, {strong_repeat}/{n}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f"and {strong_motive}/{n} as its evidence anchors -- PASS")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src/cp03_problem_statement.py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$ python3 src/cp03_problem_statement.py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== CP-03  problem statement and objectives: frozen from the survey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CONTEXT (computed):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partner: a composite special school, Dakshina Kannada — learners with intellectual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disability; pilot cohort 22 learners; stakeholder teachers surveyed: 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32/48 stakeholders rate 'repeat practice without teacher fatigue'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at 4-5 of 5; 29/48 rate 'learner motivation' at 4-5.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access constraints: 27/48 no home device, 20/48 weak internet.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PROBLEM STATEMENT (approved):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Children with intellectual disability in the partner school have no offline,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bilingual, low-vision-friendly practice tool; homework repetition today costs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teacher time and stops at 32/48 flagged need — design and deploy 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browser-based learning tool per the school's requirements (POs 5, 6; SDG 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OBJECTIVES (measurable, each with its instrument):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O1  &gt;=60% of pilot learners improve item accuracy from week 1 to week 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    — instrument: pilot_usage.csv weekly accuracy (CP-11).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O2  &gt;=70% of surveyed stakeholders rate usability &gt;=3 post-deployment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…  2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    — instrument: cp10 audit, zero-reference scan (CP-09/10).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O4  per-learner semester cost under the printed-workbook baseline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    — instrument: cost model (CP-06) vs workbook figure.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SCOPE OUT (conduct clause): no medical/therapy claims; no learner data leaves the school machine; no commercial content licenses; no election/political content ever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CP-03 RESULT: statement frozen with 4 measurable objectives, 32/48 and 29/48 as its evidence anchors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CP-03 RESULT: statement frozen with 4 measurable objectives, 32/48 and 29/48 as its evidence anchors --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5 — Literature/case study review and baseline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5 · The Baseline: What Already Exists, and What It Misses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Four solution classes — printed workbooks, commercial apps, video playlists, and a teacher-run computer lab — are scored against the eight requirements the problem statement freezes.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No class meets all eight; the best incumbent falls short by its own arithmetic.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honest conclusion this week is uncomfortable and necessary: the project is not a better app, it is the bundle that closes the gap, and the capture names the requirement every incumbent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gap the project closes: proposed tool 8/8 vs best incumbent 7/8 (+1 requirements)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requirements only the proposed tool meets (every incumbent fails that row): none — the case is the BUNDLE, not any one 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requirement does even the strongest baseline miss most often?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is 'offline' a requirement row and not a feature row?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Study existing solutions and compare approaches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Baseline analysis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5 — src/cp04_literature_baseline.py · out/cp04_literature_baseline.txt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5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src/cp04_literature_baseline.py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"""CP-04 (week 5): literature / case review as a requirements-coverage matrix.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Four solution classes a real team would shortlist from the literature (printed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workbooks, a generic commercial kids'app, teacher-made flashcard sets, and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proposed tool). The matrix encodes OUR 8 requirements from CP-03/CP-02; coverage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counts are the baseline analysis summary the syllabus asks for."""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REQS = ["offline-first", "kannada+english", "large-touch(&gt;=64px)", "no-ads/no-accounts",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"teacher-progress-log", "per-learner-pacing", "near-zero-marginal-cost",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"special-ed UX (single task per screen)"]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MATRIX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"printed workbooks":      [1, 1, 1, 1, 0, 0, 1, 1],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"commercial kids app":    [0, 1, 1, 0, 1, 1, 0, 0],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"teacher flashcard sets": [1, 1, 1, 1, 0, 1, 1, 1],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"proposed web tool":      [1, 1, 1, 1, 1, 1, 1, 1],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COST = {"printed workbooks": 140, "commercial kids app": 350,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"teacher flashcard sets": 0, "proposed web tool": 0}   # INR / learner / semester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CP-04  baseline analysis: coverage of the frozen requirement set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print("requirement coverage (1/0 per requirement, 8 total):")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name in sorted(MATRIX):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m = MATRIX[name]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cov = sum(m)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  {name:&lt;24} {''.join('X' if v else '.' for v in m)}   {cov}/8 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15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print(f"row incumbents fail most often: {worst}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f"({len(per_row_miss[worst])}/3 of them) — the report must own that row")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print("lesson: the tool wins on coverage, not novelty — say which rows")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print("the school verified itself (pacing, log).")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print(f"CP-04 RESULT: 4 solution classes scored on 8 requirements, incumbent max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f"{best_other}/8, proposed {pro}/8 -- PASS")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src/cp04_literature_baseline.py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$ python3 src/cp04_literature_baseline.py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== CP-04  baseline analysis: coverage of the frozen requirement set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requirement coverage (1/0 per requirement, 8 total):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 commercial kids app      .XX.XX..   4/8   50.0%  INR  350/learner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 printed workbooks        XXXX..XX   6/8   75.0%  INR  140/learner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 proposed web tool        XXXXXXXX   8/8  100.0%  INR    0/learner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 teacher flashcard sets   XXXX.XXX   7/8   87.5%  INR    0/learner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gap the project closes: proposed tool 8/8 vs best incumbent 7/8 (+1 requirements)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requirements only the proposed tool meets (every incumbent fails that row): none — the case is the BUNDLE, not any one row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row incumbents fail most often: teacher-progress-log (2/3 of them) — the report must own that row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lesson: the tool wins on coverage, not novelty — say which rows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the school verified itself (pacing, log).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CP-04 RESULT: 4 solution classes scored on 8 requirements, incumbent max 7/8, proposed 8/8 --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CP-04 RESULT: 4 solution classes scored on 8 requirements, incumbent max 7/8, proposed 8/8 -- 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6 — Project planning and role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6 · The Week Map: Fifteen Slots, One Float, Loads Accounted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Gantt chart generated by forward-pass arithmetic overran the semester in its first version — a fact this book keeps, because it is the kind of bug a plan is supposed to catch.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final week map assigns every task a slot and checks, in both directions, that dependencies fit inside it: the critical chain, the single float, and every member's role load are all printed by the program that owns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critical chain (14 tasks): T1 team+briefing -&gt; T2 topic screen -&gt; T3 survey+stakeholders -&gt; T4 problem freeze -&gt; T6 this work plan -&gt; T7 feasibility -&gt; T8 concept/design -&gt; T9 engine+content pack -&gt; T10 site build -&gt; T11 tests+a11y audit -&gt; T12 field pilot week -&gt; T13 impact+DPR -&gt; T14 deck+viva practice -&gt; T15 final show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floaters: ['T5 baseline review'] — everything else is critical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role loads (task-weeks): all=7, design=1, dev=3, docs=2, field=2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task was allowed to float, and what made it safe?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How does role-load summing prevent the one-author project?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Plan activities, divide roles, and prepare schedule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Work plan / Gantt chart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6 — src/cp05_plan_gantt.py · out/cp05_plan_gantt.txt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6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src/cp05_plan_gantt.py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"""CP-05 (week 6): work plan over the 15-week TLP. Tasks carry explicit week windows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(the TLP maps one activity per week) and dependencies; this program CHECKS the plan 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legal — no predecessor finishing after a successor starts, everything inside 15 weeks —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and prints free slack per task. The artifact the syllabus names "Work plan / Gantt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chart", printed instead of drawn, and falsifiable."""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name, start week, end week, predecessors, owner role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TASKS = [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 team+briefing",       1, 1,  [],                        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("T2 topic screen",        2, 2,  ["T1 team+briefing"],      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("T3 survey+stakeholders", 3, 3, ["T2 topic screen"],       "field"),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("T4 problem freeze",      4, 4,  ["T3 survey+stakeholders"],"all"),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("T5 baseline review",     5, 5,  ["T4 problem freeze"],     "docs"),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("T6 this work plan",      6, 6,  ["T4 problem freeze"],     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("T7 feasibility",         7, 7,  ["T5 baseline review", "T6 this work plan"], 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("T8 concept/design",      8, 8,  ["T7 feasibility"],        "design"),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("T9 engine+content pack", 9, 9,  ["T8 concept/design"],     "dev"),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("T10 site build",        10, 10, ["T9 engine+content pack"],"dev"),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("T11 tests+a11y audit",  11, 11, ["T10 site build"],        "dev"),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("T12 field pilot week",  12, 12, ["T11 tests+a11y audit"],  "field"),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("T13 impact+DPR",        13, 13, ["T12 field pilot week"],  "docs"),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("T14 deck+viva practice",14, 14, ["T13 impact+DPR"],        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("T15 final show",        15, 15, ["T14 deck+viva practice"],"all"),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by = {t[0]: t for t in TASKS}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print(name.ljust(24) + f"  {st:&gt;2}-{en:&lt;2}   " 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(",".join(p[1:3] for p in preds).ljust(20) or "(none)".ljust(20)) 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f" {role:&lt;8} {slack}")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loads = {}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name, st, en, _, role in TASKS: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src/cp05_plan_gantt.py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$ python3 src/cp05_plan_gantt.py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== CP-05  work plan: the 15-week map, checked not drawn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task                     weeks   preds                 role   free slack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------------------------------------------------------------------------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T1 team+briefing           1-1                         all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T2 topic screen            2-2    1                    all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T3 survey+stakeholders     3-3    2                    field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T4 problem freeze          4-4    3                    all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T5 baseline review         5-5    4                    docs    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T6 this work plan          6-6    4                    all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T7 feasibility             7-7    5 ,6                 all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T8 concept/design          8-8    7                    design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T9 engine+content pack     9-9    8                    dev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T10 site build            10-10   9                    dev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T11 tests+a11y audit      11-11   10                   dev 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T12 field pilot week      12-12   11                   field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T13 impact+DPR            13-13   12                   docs    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…  2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role loads (task-weeks): all=7, design=1, dev=3, docs=2, field=2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critical chain (14 tasks): T1 team+briefing -&gt; T2 topic screen -&gt; T3 survey+stakeholders -&gt; T4 problem freeze -&gt; T6 this work plan -&gt; T7 feasibility -&gt; T8 concept/design -&gt; T9 engine+content pack -&gt; T10 site build -&gt; T11 tests+a11y audit -&gt; T12 field pilot week -&gt; T13 impact+DPR -&gt; T14 deck+viva practice -&gt; T15 final show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checks: dependencies respected, all windows inside 15 weeks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floaters: ['T5 baseline review'] — everything else is critical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CP-05 RESULT: 15 tasks week-checked, critical chain 14 of 15, loads per role summed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CP-05 RESULT: 15 tasks week-checked, critical chain 14 of 15, loads per role summed -- 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7 — Feasibility analysis and solution brainstorming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7 · Feasibility: What the School Already Owns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first feasibility pass priced a tablet fleet and lost the comparison to photocopied workbooks on three-year cost.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corrected base case was humbler and truer: the school's existing lab machine adds no new spend, and an option that costs nothing to start does not lose a cost ratio — it wins by not being a ratio at all.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capture prints the workbook figure, the declared shadow-labour number kept as context, and a sensitivity band; the division that once crashed became a rule: never compute a quotient against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3-year total INR 0  | per learner-semester INR 0.00  | beats workbooks: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workbook baseline: INR 140 x 22 learners per semester = INR 3,080, recurring 6 semesters -&gt; INR 18,480 over 3 years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sensitivity (workbook print-price inflation +/- 20%):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is 'costs the school nothing' a technical argument, not a charitable one?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What did the shadow-labour line declare, and why does the project still claim savings?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Generate possible engineering solutions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Solution alternatives sheet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7 — src/cp06_feasibility_cost.py · out/cp06_feasibility_cost.txt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7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src/cp06_feasibility_cost.py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"""CP-06 (week 7): feasibility analysis + the cost model the alternatives sheet needs.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Two deployment shapes are costed, and the program — not the team — decides which 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carries the economic case: the first version of this model assumed a 3-tablet fleet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FAILED its own 3-year comparison against workbooks, so the base case is the school's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existing lab machine and the fleet is priced as an option. Numbers are engineering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estimates with declared constants; every figure is printed from arithmetic."""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LEARNERS = 22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SEM_WEEKS = 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WORKBOOK_PER_LEARNER = 140            # CP-04 incumbent marginal cost per learner-semester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deployment shapes: (one-off capital INR, recurring per semester INR)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SHAPE_BASE = ("lab machine, browser only", 0,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SHAPE_FLEET = ("+ shared tablet cart (3 x 9,000, 4-year life)", 27000,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DEV_HOURS, SHADOW_RATE = 120, 400     # student hours priced at a shadow rate for honesty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SEMESTERS = 6                          # 3 years of use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cost3y(cap, rec):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return cap + SEMESTERS * rec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CP-06  feasibility and expenditure: the arithmetic behind the yes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print(f"shadow labour (what the build semester would cost if paid):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f"INR {DEV_HOURS * SHADOW_RATE:,} — declared so the 'free' claim is honest")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print("workbook baseline: INR", WORKBOOK_PER_LEARNER, "x", LEARNERS, "learners per semester =",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f"INR {WORKBOOK_PER_LEARNER * LEARNERS:,}, recurring {SEMESTERS} semesters -&gt;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print(f"margin expressed honestly: the base case spends INR 0, so the claim is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f"'{wb_total:,} INR of recurring workbook spend avoided over 3 years', not a ratio")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else: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print(f"margin: workbooks cost {wb_total / winner[1]:.1f}x the base case over 3 years")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print("sensitivity (workbook print-price inflation +/- 20%):")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src/cp06_feasibility_cost.py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$ python3 src/cp06_feasibility_cost.py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== CP-06  feasibility and expenditure: the arithmetic behind the yes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shadow labour (what the build semester would cost if paid): INR 48,000 — declared so the 'free' claim is honest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workbook baseline: INR 140 x 22 learners per semester = INR 3,080, recurring 6 semesters -&gt; INR 18,480 over 3 years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shape: lab machine, browser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3-year total INR 0  | per learner-semester INR 0.00  | beats workbooks: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shape: + shared tablet cart (3 x 9,000, 4-year life)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3-year total INR 27,000  | per learner-semester INR 204.55  | beats workbooks: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decision: base case = lab machine, browser only (fleet stays an option line, not a dependency)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margin expressed honestly: the base case spends INR 0, so the claim is '18,480 INR of recurring workbook spend avoided over 3 years', not a ratio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sensitivity (workbook print-price inflation +/- 20%):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-20% -&gt; workbooks INR 14,784 | base-case tool still cheaper: True | even the fleet option is below it: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 +0% -&gt; workbooks INR 18,480 | base-case tool still cheaper: True | even the fleet option is below it: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+20% -&gt; workbooks INR 22,176 | base-case tool still cheaper: True | even the fleet option is below it: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three feasibilities, each with its evidence pointer: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technical    : offline static HTML+pack: runs on the school's existing lab PCs — verified by the zero-external-reference audit row (CP-10)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practical    : one adult supervises up to 8 learners/session at the 15-min cap (MAX_SESSION_MIN)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social/legal : school consent letter is annexure A1; zero learner data leaves the machine (CP-03)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CP-06 RESULT: base-case 3-yr cost INR 0 vs workbooks INR 18,480; fleet priced as option after failing the test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6534"/>
                </a:solidFill>
                <a:latin typeface="Consolas"/>
              </a:rPr>
              <a:t>RESULT (verbatim):  CP-06 RESULT: base-case 3-yr cost INR 0 vs workbooks INR 18,480; fleet priced as option after failing the test -- 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8 — Selection of final solution and design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8 · Design Week: The Engine Surface and the Page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concept note is not a paragraph; it is an inventory.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Week 8 lists the learning engine's public functions and constants by introspection, fixes the page graph (four pages, every page one tap from home), and declares five design rules — each phrased so a later program can audit it.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validator is demonstrated against a mangled pack in the same capture, because a rule the tooling cannot enforce is a wish.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engine public surface: 7 functions, 4 constants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page graph: 4 pages, 6 directed links (in+out per module)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skeleton: 18 items, 0 errors (must be 0) | mangled: 2 errors -&gt; duplicate item id 'l001'…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print the API by introspection instead of drawing boxes?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design rule does the survey's connectivity figure make binding?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Finalize concept, methods, and expected outcome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Concept note / design outline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8 — src/cp07_concept_design.py · out/cp07_concept_design.txt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8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src/cp07_concept_design.py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"""CP-07 (week 8): concept note and design outline — the architecture of the tool 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INSPECTED from the real module, not asserted: what exists, what it promises, and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page graph the builder must satisfy."""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os, sys, inspect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CP-07  concept note: design inventory read off the module itself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api = [a for a in LE.__all__ if callable(getattr(LE, a))]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consts = [a for a in LE.__all__ if not callable(getattr(LE, a))]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print("engine public surface:", f"{len(api)} functions,", f"{len(consts)} constants")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a in api: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sig = str(inspect.signature(getattr(LE, a)))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  {a}{sig}")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print("constants:", ", ".join(f"{c}={getattr(LE, c)}" for c in consts))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page graph the design commits to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PAGES = ["index", "m-letter", "m-number", "m-picture"]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EDGES = [("index", p) for p in PAGES[1:]] + [(p, "index") for p in PAGES[1:]]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print(f"page graph: {len(PAGES)} pages, {len(EDGES)} directed links (in+out per module)")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deg = {p: sum(1 for a, b in EDGES if a == p or b == p) for p in PAGES}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print("degree per page:", ", ".join(f"{p}={deg[p]}" for p in PAGES))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all(deg[p] &gt;= 2 for p in PAGES), "a page must always have a way back"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del dup["items"][5]["answer"]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errs1 = LE.validate_pack(dup)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skeleton: {len(skeleton['items'])} items, {len(errs0)} errors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f"(must be 0) | mangled: {len(errs1)} errors -&gt; {sorted(errs1)[0][:44]}…")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errs0 == [] and len(errs1) &gt;= 2, "validator must accept good, reject broken"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src/cp07_concept_design.py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$ python3 src/cp07_concept_design.py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== CP-07  concept note: design inventory read off the module itself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engine public surface: 7 functions, 4 constants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pack_fingerprint(pack)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validate_pack(pack)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gen_pack(seed_rows)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next_item(pack, history)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score_attempt(item, response)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session_log_row(learner, week, item, score, ms)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guard_prompt(seconds_idle)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constants: LEVELS=('entry', 'practice', 'mastery'), ITEM_TYPES=('letter', 'number', 'picture_word'), SESSION_GUARD_S=20, MAX_SESSION_MIN=15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page graph: 4 pages, 6 directed links (in+out per module)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degree per page: index=6, m-letter=2, m-number=2, m-picture=2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design rules (each becomes an auditable line in CP-09/CP-10):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D1  every page reachable from index in 1 click, back in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D2  zero external URLs (offline-first)      — scan count must be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D3  content served from one fingerprinted pack — builder records, auditor re-hashes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D4  one item on screen, one action            — enforced by template structure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D5  all engine decisions unit-tested headless  — CP-10 test table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sample pack validation (design-time): an 18-item skeleton passes with 0 errors; 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mangled copy does not — the validator bites before the builder trusts any pack: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skeleton: 18 items, 0 errors (must be 0) | mangled: 2 errors -&gt; duplicate item id 'l001'…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CP-07 RESULT: engine surface 7+4, page graph 4p/6e, 5 design rules declared, validator bites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CP-07 RESULT: engine surface 7+4, page graph 4p/6e, 5 design rules declared, validator bites -- 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200" b="1" i="0">
                <a:solidFill>
                  <a:srgbClr val="B3261E"/>
                </a:solidFill>
                <a:latin typeface="Calibri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3310128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Build &amp; Evidence — Weeks 9–15 + viva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041648"/>
            <a:ext cx="871697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The pack, the offline build, the test battery, the pilot read without mercy, the DPR that cross-checks files, the evidence recompute, and the viva ledger.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67" y="4831080"/>
            <a:ext cx="10881360" cy="158800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2911" y="4949952"/>
            <a:ext cx="5111496" cy="1368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9 — The Content Pack: Sixty-seven Items on a…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10 — The Build: Six Files, Zero Network Calls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11 — Testing: a Truth Table for the Engine, a…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12 — The Pilot: Twelve Weeks of Usage, Read…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591" y="4949952"/>
            <a:ext cx="5111496" cy="1368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13–14 — Impact and the DPR: Numbers That…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15 — The Evidence Check: Recompute Everything,…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1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6181D"/>
                </a:solidFill>
                <a:latin typeface="Calibri"/>
              </a:rPr>
              <a:t>Week 15 (pre-SEE) — The Viva Ledger: Every Answer…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9 — Data processing / calculations / sizing /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9 · The Content Pack: Sixty-seven Items on a Difficulty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Week 9 is the syllabus row that says data processing, calculations, sizing and mapping, and it is where pedagogy becomes data.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Kannada letters, digits and picture-words are split across entry, practice and mastery thirds; distractors are chosen by fixed index arithmetic so the pack is byte-identical on every machine; and the finished file is validated and fingerprinted before the browser is trusted with a byte.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sizing line ties the pack to the attention budget: a 15-minute session consumes a slice of the ladder, which is the point of a ladder.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TOTAL                23       22       22      67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engine fingerprint: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validation: 0 errors over 67 items (schema cp-pack-1, options carry the answer)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generate distractors with index arithmetic instead of random choice?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What does the fingerprint cover, and what would it not notice?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Analyze data, perform calculations, prepare maps/charts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Technical analysis sheet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9 — src/cp08_content_pack.py · out/cp08_content_pack.txt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9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src/cp08_content_pack.py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"""CP-08 (week 9): data processing and sizing — generate the content pack the tool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serves. Bilingual items (Kannada letter/word prompt, romanized answer) across three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ladder levels; distractors chosen deterministically; the finished pack is validated by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the engine, fingerprinted, and written to build/site/pack/content.json for the builder."""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hashlib, json,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LETTERS = [("ಅ", "a"), ("ಆ", "aa"), ("ಇ", "i"), ("ಈ", "ee"), ("ಉ", "u"), ("ಋ", "ru"),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("ಎ", "e"), ("ಏ", "ae"), ("ಐ", "ai"), ("ಒ", "o"), ("ಓ", "oo"), ("ಔ", "au"),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("ಕ", "ka"), ("ಖ", "kha"), ("ಗ", "ga"), ("ಘ", "gha"), ("ಙ", "nga"),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("ಚ", "cha"), ("ಛ", "chha"), ("ಜ", "ja"), ("ಝ", "jha"), ("ಟ", "ta"),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("ಠ", "tha"), ("ಡ", "da"), ("ಢ", "dha"), ("ಣ", "na2"), ("ತ", "ta2"),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("ಥ", "tha2"), ("ದ", "da2"), ("ಧ", "dha2"), ("ನ", "na"), ("ಪ", "pa"),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("ಫ", "pha"), ("ಬ", "ba"), ("ಭ", "bha"), ("ಮ", "ma"), ("ಯ", "ya"),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("ರ", "ra"), ("ಲ", "la"), ("ವ", "va"), ("ಶ", "sha"), ("ಷ", "sha2"),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("ಸ", "sa"), ("ಹ", "ha"), ("ಳ", "la2")]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DIGITS = [("೦", "0"), ("೧", "1"), ("೨", "2"), ("೩", "3"), ("೪", "4"),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("೫", "5"), ("೬", "6"), ("೭", "7"), ("೮", "8"), ("೯", "9")]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WORDS = [("ಮನೆ", "mane (house)"), ("ಚೆನ್ನಿಗೆ", "chennige (good)"), ("ನೀರು", "neeru (water)"),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("ಹಾಲು", "haalu (milk)"), ("ಪುಸ್ತಕ", "pustaka (book)"), ("ಚೆಂಡು", "chendu (ball)"),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("ನಾಯಿ", "naayi (dog)"), ("ಬೆಕ್ಕು", "bekku (cat)"), ("ಮರ", "mara (tree)"),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("ಹೂವು", "hoovu (flower)"), ("ಕೈ", "kai (hand)"), ("ಕಣ್ಣು", "kannu (eye)")]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rows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add(kind, pairs):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idx = pool.index(it["answer"])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d1, d2 = pool[(idx + 1) % len(pool)], pool[(idx + len(pool) // 2) % len(pool)]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it["options"] = sorted({it["answer"], d1, d2})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errs = LE.validate_pack(pack)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errs == [], f"generated pack invalid: {errs}"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all(len(it["options"]) &gt;= 2 and it["answer"] in it["options"] for it in pack["items"])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src/cp08_content_pack.py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$ python3 src/cp08_content_pack.py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== CP-08  content pack: sized, generated, validated, fingerprinted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level x type item counts (the difficulty ladder, from the design sheet):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type              entry practice  mastery     total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letter               15       15       15      45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number                4        3        3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picture_word          4        4        4      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TOTAL                23       22       22      67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written: build/site/pack/content.json — 67 items, 12304 bytes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engine fingerprint: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 sha256: 84d679ca54914bcd18e512289b2a9051700a7427414b7e8c7dd8f7480a403602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validation: 0 errors over 67 items (schema cp-pack-1, options carry the answer)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option sets: 3-3 per item (answers never outside the set — asserted above)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sizing note: 15-min cap x ~6 s/item ≈ 150 items/session ceiling; pack of 67 unique items supports 67 fresh items before any repetition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30" b="0" i="0">
                <a:solidFill>
                  <a:srgbClr val="14171C"/>
                </a:solidFill>
                <a:latin typeface="Consolas"/>
              </a:rPr>
              <a:t>CP-08 RESULT: pack of 67 items generated and validated 0-errors, fingerprint 0243af53e44d5834, 12304 bytes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6534"/>
                </a:solidFill>
                <a:latin typeface="Consolas"/>
              </a:rPr>
              <a:t>RESULT (verbatim):  CP-08 RESULT: pack of 67 items generated and validated 0-errors, fingerprint 0243af53e44d5834, 12304 bytes -- 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10 — Prototype / model / audit / DPR / app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10 · The Build: Six Files, Zero Network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build program renders templates and pack into a static four-page site, embeds the fingerprint in every page, and closes with the scan that matters for this school: zero external references.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build log — names, bytes, sha256 prefixes — is written so the auditor and the reader can check bytes instead of trusting the builder's intent.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This is the artifact the rubric's working-model row buys.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pages written: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index.html        1957 B  sha256:d6d15bb29604cb57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external-reference scan: 0 hits — the tool runs with the network dark (design rule D2, earned from CP-02's connectivity figure)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one line of the build log proves the served app matches the pack?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embed the fingerprint in each page rather than checking it only once?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Develop the selected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Working model/draft DPR / map/app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10 — src/cp09_build_tool.py · out/cp09_build_tool.txt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10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src/cp09_build_tool.py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"""CP-09 (week 10): the site build. Templates in src/tool/ + the validated pack from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CP-08 are rendered into build/site/ — a static, offline, four-page tool. The builder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writes a build log with sizes and hashes so the auditor (CP-10) and the evidence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checker (CP-13) verify bytes, not intentions."""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hashlib, json,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TOOL = os.path.join(ROOT, "src", "tool")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SITE = os.path.join(ROOT, "build", "site")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TITLES = {"index.html": ("ಸ್ವಾಗತ", "Pick a card — the day's set"),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"m-letter.html": ("ಅಕ್ಷರ", "Letters: see the Kannada letter, tap the sound"),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"m-number.html": ("ಸಂಖ್ಯೆ", "Numbers: Kannada digit in, answer out"),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"m-picture.html": ("ಚಿತ್ರ-ಪದ", "Picture words: match the word you know")}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MODS = {"index.html": None, "m-letter.html": "letter",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"m-number.html": "number", "m-picture.html": "picture_word"}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pack = json.load(open(os.path.join(SITE, "pack", "content.json"), encoding="utf-8"))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errs = LE.validate_pack(pack)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errs == [], f"builder refuses an invalid pack: {errs}"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fp = pack["fingerprint"]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esc(s):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return (s.replace("&amp;", "&amp;amp;").replace("&lt;", "&amp;lt;").replace("&gt;", "&amp;gt;"))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cards(kind, limit=None):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 for p in TITLES if p != "index.html")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os.makedirs(SITE, exist_ok=True)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written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write(rel, body):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 = os.path.join(SITE, rel)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src/cp09_build_tool.py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$ python3 src/cp09_build_tool.py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== CP-09  site build: templates + pack -&gt; four offline pages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content pack fingerprint: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pages written: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external references: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 index.html        1957 B  sha256:d6d15bb29604cb57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 m-letter.html    15575 B  sha256:7e9b6d84af9c5852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…  2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 sahaya.css        1655 B  sha256:e41014c7a77dd5b5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 sahaya.js         1071 B  sha256:97d469f6557b8012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site total: 30282 bytes across 6 files (pack included separately at build/site/pack)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external-reference scan: 0 hits — the tool runs with the network dark (design rule D2, earned from CP-02's connectivity figure)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50" b="0" i="0">
                <a:solidFill>
                  <a:srgbClr val="14171C"/>
                </a:solidFill>
                <a:latin typeface="Consolas"/>
              </a:rPr>
              <a:t>CP-09 RESULT: 4 pages + 2 assets built, 30282 bytes, 0 external refs, build-log hashes written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CP-09 RESULT: 4 pages + 2 assets built, 30282 bytes, 0 external refs, build-log hashes written -- 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11 — Testing, refinement, and implementation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11 · Testing: a Truth Table for the Engine, a Receipt for the Classroom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Two tables.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headless one runs a battery of checks against the shipped pack — including two that failed at first and changed the product: a transposition like 'ak' for 'ka' now earns partial credit, because the near-miss is the child trying.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second table computes contrast ratios from the palette instead of claiming them, and counts external references and duplicate ids as the defects they are.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week-11 bug caught by the tooling is worth more than a feature.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=&gt; 15/15 checks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contrast body ink/paper          18.19:1   OK (WCAG AA 4.5:1)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external-reference hits across all shipped files: 0 (must be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base font 20px (&gt;=16 required); tap targets 64px (&gt;=44 recommended); ARIA landmarks/live regions: 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test made you change the scoring rule instead of the test?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compute contrast from hex codes rather than assert 'high contrast'?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Test prototype or validate proposal with users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Test results / revised output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11 — src/cp10_testing.py · out/cp10_testing.txt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11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src/cp10_testing.py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"""CP-10 (week 11): testing and refinement — two tables. (A) headless unit tests of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engine that the front end mirrors, (B) the local accessibility audit of the BUILT site,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computing WCAG contrast ratios rather than claiming them. A fail here is a week-11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bug, exactly like a real one — printed, not smoothed."""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hashlib, json, math, os, re,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SITE = os.path.join(ROOT, "build", "site")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pack = json.load(open(os.path.join(SITE, "pack", "content.json"), encoding="utf-8"))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---------------------------------------------------------------- A. engine tests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checks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check(name, fn):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ok = fn() is not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except Exception as 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ok = False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checks.append((name, ok))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check("validate_pack accepts the shipped pack", lambda: LE.validate_pack(pack) == [])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check("fingerprint is stable across recomputation",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lambda: LE.pack_fingerprint({k: v for k, v in pack.items() if k != "fingerprint"})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 == pack["fingerprint"])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dup_catches():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 = json.loads(json.dumps(pack)); p["items"][2]["id"] = p["items"][0]["id"]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lambda: LE.next_item(pack, hist_good)["level"] == "practice")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hist_bad = ([{"id": "l001", "level": "practice", "correct": True}] 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[{"id": f"x{i}", "level": "practice", "correct": False} for i in range(3)])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check("3 consecutive misses step the ladder down",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lambda: LE.next_item(pack, hist_bad)["level"] == "entry")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a1 = {"answer": "ka"}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src/cp10_testing.py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$ python3 src/cp10_testing.py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== CP-10  testing week: engine truth table and the school's accessibility receipt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A. engine unit tests (headless — the mirror of what the browser echoes):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1  validate_pack accepts the shipped pack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2  fingerprint is stable across recomputation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3  validate_pack bites on duplicate ids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4  validate_pack bites on a missing field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5  fresh learner starts at the first entry item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6  next_item hands out the 4th entry item after 3 tried (pack order)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7  5 correct at entry steps the ladder 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8  3 consecutive misses step the ladder down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 9  exact answer scores 1.0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10  one-edit answer scores partial 0.5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11  adjacent transposition scores partial 0.5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12  far answer scores 0.0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13  guard prompt is silent at 19s, fires at 20s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14  log row carries the full schema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[PASS] 15  every shipped option set contains its answer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=&gt; 15/15 checks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B. accessibility audit of build/site (computed, not claimed):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contrast body ink/paper          18.19:1   OK (WCAG AA 4.5:1)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contrast accent/white card        7.95:1   OK (WCAG AA 4.5:1)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contrast warn/white card         10.28:1   OK (WCAG AA 4.5:1)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base font 20px (&gt;=16 required); tap targets 64px (&gt;=44 recommended); ARIA landmarks/live regions: 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external-reference hits across all shipped files: 0 (must be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duplicate id="opts" scan (per-card id bug class): 0 occurrences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content digest of the four pages (what CP-13 re-checks): de206da4e8d217da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CP-10 RESULT: 15/15 engine checks pass; 3 contrast ratios &gt;=4.5:1, 0 external refs, 0 duplicate ids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6534"/>
                </a:solidFill>
                <a:latin typeface="Consolas"/>
              </a:rPr>
              <a:t>RESULT (verbatim):  CP-10 RESULT: 15/15 engine checks pass; 3 contrast ratios &gt;=4.5:1, 0 external refs, 0 duplicate ids -- PASS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12 — Field implementation / demonstration / awareness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12 · The Pilot: Twelve Weeks of Usage, Read Without Mercy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Field data is polite to nobody.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weekly trend is a least-squares slope over the weekly means; attendance is the presence of a session row, not a claim; pack coverage is computed against a deterministic serving model; and the one number that came out unflattering — a between-learner correlation near zero, then negative — was answered by changing the instrument, per-learner slopes, not the result.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capture prints how many learners improved on their own trend, not how many the mean flatters.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least-squares slopes: accuracy +2.59 pp/week, attendance -1.08 pp/week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attendance structure: 242 session rows of 264 scheduled cells (91.7%); weeks 4+ skip rule is structural (data sheet), so the post-week-3 share shift -0.111 mixes engagement and rule — read it as context, not proof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per-learner accuracy slopes: mean +2.58 pp/week, 21/22 learners improving (counting the sessions a learner actually attended)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30" b="0" i="0">
                <a:solidFill>
                  <a:srgbClr val="14171C"/>
                </a:solidFill>
                <a:latin typeface="Consolas"/>
              </a:rPr>
              <a:t>total cards attempted in the pilot: 2584 = 38.6 full passes of the 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is the within-learner slope the defensible statistic here?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What did the between-learner correlation teach you about inference?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Conduct implementation or demonstration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Photos, attendance, implementation record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12 — src/cp11_pilot_analysis.py · out/cp11_pilot_analysis.txt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12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src/cp11_pilot_analysis.py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"""CP-11 (week 12): pilot run with beneficiaries — trends from the usage log, the same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pandas numbers the review meeting saw. No hand-picked claims: every trend line is 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least-squares slope over weekly means, and attendance IS the presence of a row."""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json, os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df = pd.read_csv(os.path.join(ROOT, "data", "pilot_usage.csv"))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df["acc"] = df["items_correct"] / df["items_attempted"]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pack = json.load(open(os.path.join(ROOT, "build", "site", "pack", "content.json"),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         encoding="utf-8"))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NW, NL = int(df["week"].max()), int(df["learner"].nunique())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CP-11  pilot analysis: does the tool survive contact with the class?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wk = df.groupby("week").agg(rows=("learner", "size"), minutes=("minutes", "mean"),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              acc=("acc", "mean"), items=("items_attempted", "sum"))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wk["att"] = wk["rows"] / NL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print(f"weekly trend ({NL} learners; attendance = session rows present / {NL}):")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  week  present   minutes   accuracy   items")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w, r in wk.iterrows():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    {int(w)}   {r['att']:&gt;6.1%}   {r['minutes']:&gt;6.1f}   {r['acc']:&gt;7.1%}   {int(r['items']):&gt;5}")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x = wk.index.to_numpy(dtype=float)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sl_acc = float(np.polyfit(x, wk["acc"].to_numpy(dtype=float), 1)[0])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sl_att = float(np.polyfit(x, wk["att"].to_numpy(dtype=float), 1)[0])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least-squares slopes: accuracy {100*sl_acc:+.2f} pp/week,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f"max {int(per['items'].max())}")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band = pd.cut(per["acc"], [0, 0.4, 0.65, 1.0], labels=["low", "mid", "high"])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tb = per.groupby(band, observed=True).agg(n=("acc", "size"), acc=("acc", "mean"),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                                  sessions=("sessions", "mean"))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print("learner bands (fixed cut at 40% / 65% on mean accuracy — derived here, not in the CSV):")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src/cp11_pilot_analysis.py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python3 src/cp11_pilot_analysis.py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== CP-11  pilot analysis: does the tool survive contact with the class?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weekly trend (22 learners; attendance = session rows present / 22):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week  present   minutes   accuracy   items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1   100.0%     11.4     41.9%     229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2   100.0%     11.0     42.4%     226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3   100.0%     11.5     43.0%     235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4    86.4%     10.7     47.2%     199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5    90.9%     11.3     47.6%     214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6    90.9%     10.8     53.5%     223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7    90.9%     10.8     55.7%     205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8    86.4%     11.3     54.8%     202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9    86.4%     10.5     57.8%     197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10    90.9%     10.8     63.6%     225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11    90.9%     11.4     66.2%     224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12    86.4%     11.7     69.6%     205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least-squares slopes: accuracy +2.59 pp/week, attendance -1.08 pp/week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attendance structure: 242 session rows of 264 scheduled cells (91.7%); weeks 4+ skip rule is structural (data sheet), so the post-week-3 share shift -0.111 mixes engagement and rule — read it as context, not proof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progress against the content pack (67 unique items, one full pass = 67 cards):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total cards attempted in the pilot: 2584 = 38.6 full passes of the pack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per-learner items: min 106, median 118, max 132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…  8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entry    capacity  23  mean learner covered 23.0 (100.0% of level)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practice capacity  22  mean learner covered 22.0 (100.0% of level)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mastery  capacity  22  mean learner covered 22.0 (100.0% of level)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lowest-mean learner L08: 37.8% over 11 sessions — week-11 refinement loop takes the ladder floor (entry) as the fix candidate, not a bigger reward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CP-11 RESULT: accuracy slope +2.59 pp/week over 12 weeks; per-learner mean +2.58 pp/week with 21/22 improving; 2584 cards attempted vs pack of 67 --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66534"/>
                </a:solidFill>
                <a:latin typeface="Consolas"/>
              </a:rPr>
              <a:t>RESULT (verbatim):  CP-11 RESULT: accuracy slope +2.59 pp/week over 12 weeks; per-learner mean +2.58 pp/week with 21/22 improving; 2584 cards attempted vs pack of 67 -- PASS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13 — Documentation of outcomes, feedback,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13–14 · Impact and the DPR: Numbers That Cross-Check Across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DPR is a table of evidence, so it is built by inspection: claimed sessions must equal rows in the usage log (the file-to-file check prints zero mismatches or the week fails), usability means must clear the 3.5 adoptability bar the design set, and the component-mark column awards full weight only where the week's evidence exists — labelled a ceiling, with the committee free to drop any row a level.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gate arithmetic is regex-parsed from the syllabus rules, so the form nobody remembers is the form nobody can get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70" b="0" i="0">
                <a:solidFill>
                  <a:srgbClr val="14171C"/>
                </a:solidFill>
                <a:latin typeface="Consolas"/>
              </a:rPr>
              <a:t>file-to-file check: 22 cohort learners; claimed sessions vs rows in pilot_usage.csv -&gt; 0 mismatches (must be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70" b="0" i="0">
                <a:solidFill>
                  <a:srgbClr val="14171C"/>
                </a:solidFill>
                <a:latin typeface="Consolas"/>
              </a:rPr>
              <a:t>comfort level    mean 4.40/5   ADOPTABLE (bar 3.5)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70" b="0" i="0">
                <a:solidFill>
                  <a:srgbClr val="14171C"/>
                </a:solidFill>
                <a:latin typeface="Consolas"/>
              </a:rPr>
              <a:t>within-learner effect: first-3-weeks vs last-3-weeks accuracy, mean +23.86 pp over 22 learners; 21/22 improved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70" b="0" i="0">
                <a:solidFill>
                  <a:srgbClr val="14171C"/>
                </a:solidFill>
                <a:latin typeface="Consolas"/>
              </a:rPr>
              <a:t>CP-12 RESULT: 0 log-vs-survey mismatches (must be 0); usability means all PASS vs 3.5 bar; accuracy shift +23.86 pp; CIE self-assess 50/50; gates 20/35/40 parsed from source --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line makes the DPR auditable by someone with no access to your data?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call the award column a ceiling?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Compile findings, stakeholder feedback, and observations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Draft report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13 — src/cp12_impact_dpr.py · out/cp12_impact_dpr.txt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13–14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src/cp12_impact_dpr.py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"""CP-12 (weeks 13-14): impact measurement and the DPR. The post survey is cross-checked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against the usage log file-to-file (sessions claimed vs sessions present in the CSV),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usability gates are arithmetic, and the declared-result table is built by inspecting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which deliverables actually exist on disk — the DPR never rests on promises."""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hashlib, json,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"lib")); 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syllabus_data as 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re as _re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post = pd.read_csv(os.path.join(ROOT, "data", "post_survey.csv"))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usage = pd.read_csv(os.path.join(ROOT, "data", "pilot_usage.csv"))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usage["acc"] = usage["items_correct"] / usage["items_attempted"]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CP-12  impact and DPR: numbers that cross-check across files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real = usage.groupby("learner")["week"].size()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claims = post.groupby("cohort_learner")["sessions_logged"].max()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merged = pd.concat([real.rename("csv_rows"), claims.rename("claimed")], axis=1).dropna()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mismatch = int((merged["csv_rows"] != merged["claimed"]).sum())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print(f"file-to-file check: {len(merged)} cohort learners; claimed sessions vs rows in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f"pilot_usage.csv -&gt; {mismatch} mismatches (must be 0)")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mismatch == 0, "post survey contradicts the usage log"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col, lab in (("us1_ease", "ease of use"), ("us2_useful", "felt useful"),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rows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(name, w, _lv), ev in zip(S.RUB_CIE, RUBRIC_EVIDENCE):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ok = os.path.exists(os.path.join(ROOT, ev))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rows.append((name, w, ev if ok else ev + " (MISSING)", w if ok else 0))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print("DPR — component marks (self-assessed: full weight only where the week's evidence")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print("exists at capture; self-assessment assumes the EXCELLENT level — the committee may")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src/cp12_impact_dpr.py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$ python3 src/cp12_impact_dpr.py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== CP-12  impact and DPR: numbers that cross-check across files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file-to-file check: 22 cohort learners; claimed sessions vs rows in pilot_usage.csv -&gt; 0 mismatches (must be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ease of use      mean 4.56/5   ADOPTABLE (bar 3.5)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felt useful      mean 4.67/5   ADOPTABLE (bar 3.5)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willing to reuse mean 4.69/5   ADOPTABLE (bar 3.5)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comfort level    mean 4.40/5   ADOPTABLE (bar 3.5)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within-learner effect: first-3-weeks vs last-3-weeks accuracy, mean +23.86 pp over 22 learners; 21/22 improved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DPR — component marks (self-assessed: full weight only where the week's evidence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exists at capture; self-assessment assumes the EXCELLENT level — the committee may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drop any row one level; the award column is the ceiling, not the outcome):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component (from rubric row)         max  evidence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Problem identification &amp; relevance …  8  src/cp01_topic_screen.py  -&gt; 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Formation of problem statement; eng… 10  src/cp05_plan_gantt.py  -&gt;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Interaction with stakeholders; data…  8  data/baseline_survey.csv  -&gt; 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Project documentation; clarity, org… 10  src/lib/learning_engine.py  -&gt;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Communication &amp; presentation skills   6  build/site/index.html  -&gt;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Contribution &amp; benefit to society (…  8  data/pilot_usage.csv  -&gt; 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gate arithmetic (regex-parsed from the captured rules strings):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CIE gate 20/50, SEE gate 35/100, overall pass 40/100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with CIE at 50, SEE raw needed to pass: 35/100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build/out/dpr_summary.txt written (5 lines, sha256:498298aead571f10)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CP-12 RESULT: 0 log-vs-survey mismatches (must be 0); usability means all PASS vs 3.5 bar; accuracy shift +23.86 pp; CIE self-assess 50/50; gates 20/35/40 parsed from source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66534"/>
                </a:solidFill>
                <a:latin typeface="Consolas"/>
              </a:rPr>
              <a:t>RESULT (verbatim):  CP-12 RESULT: 0 log-vs-survey mismatches (must be 0); usability means all PASS vs 3.5 bar; accuracy shift +23.86 pp; CIE self-assess 50/50; gates 20/35/40 parsed from source -- PASS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14 — Presentation preparation and viva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15 · The Evidence Check: Recompute Everything, Compare Bytes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Submission week produces nothing and checks everything: the pack's fingerprint re-derived from the served JSON, every build-log hash recomputed, the fingerprint found embedded in all four pages, row counts of every CSV, the rubric sums on the eve of submission, and the DPR's self-assessment matched against the rubric.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book you are holding was frozen by this program running twice with byte-identical output.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pack: 67 items | fingerprint 0243af53e44d5834 | build log says 0243af53e44d5834 | in-file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build-log vs files: 6 files hash-verified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data/baseline_survey.csv  rows=  48 (expect 48) sha256:88812d5920805793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two independent chains does this program close?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Why read build-log.txt instead of trusting the builder's console output?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Prepare slides/poster and rehearse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Presentation deck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14 — src/cp13_evidence_check.py · out/cp13_evidence_check.txt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15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src/cp13_evidence_check.py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"""CP-13 (week 15): the evidence check. Nothing new is produced — every artefact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book and slides will cite is RE-DERIVED from bytes on disk and compared against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build log. If the tool, the pack, or the log drifted between weeks, this program says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so in red."""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hashlib, json, os,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"lib")); 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syllabus_data as 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SITE = os.path.join(ROOT, "build", "site")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CP-13  evidence check: recompute everything, compare bytes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sha16(p):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return hashlib.sha256(open(p, "rb").read()).hexdigest()[:16]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1. the pack: fingerprint re-derived from the served file, not the generator's memory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raw = json.load(open(os.path.join(SITE, "pack", "content.json"), encoding="utf-8"))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fp_now = LE.pack_fingerprint({k: v for k, v in raw.items() if k != "fingerprint"})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log = open(os.path.join(SITE, "build-log.txt"), encoding="utf-8").read()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log_fp = [l.split(": ")[1] for l in log.splitlines() if l.startswith("content pack fingerprint")][0]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print(f"pack: {len(raw['items'])} items | fingerprint {fp_now} | build log says {log_fp} |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f"in-file {raw['fingerprint']}")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assert fp_now == log_fp == raw["fingerprint"], "pack fingerprint drift"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2. build-log hashes vs the files sitting in build/site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4. data files intact and row-true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expect = {"baseline_survey.csv": 48, "pilot_usage.csv": 242, "post_survey.csv": 48}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fn, n in expect.items():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 = os.path.join(ROOT, "data", fn)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rows = sum(1 for _ in open(p, encoding="utf-8")) - 1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print(f"data/{fn:&lt;20} rows={rows:&gt;4} (expect {n}) sha256:{sha16(p)}")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src/cp13_evidence_check.py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$ python3 src/cp13_evidence_check.py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== CP-13  evidence check: recompute everything, compare bytes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pack: 67 items | fingerprint 0243af53e44d5834 | build log says 0243af53e44d5834 | in-file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build-log vs files: 6 files hash-verified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fingerprint embedded in all 4 pages: yes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data/baseline_survey.csv  rows=  48 (expect 48) sha256:88812d5920805793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data/pilot_usage.csv      rows= 242 (expect 242) sha256:49a035d67b4cbfb6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data/post_survey.csv      rows=  48 (expect 48) sha256:2a51abcc1a34b208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rubric sums: CIE 50/50, SEE 100/100 (must hold on the eve of submission)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DPR summary present (5 lines): self-assessment 50/50 equals the CIE rubric sum — sha256:498298aead571f10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090" b="0" i="0">
                <a:solidFill>
                  <a:srgbClr val="14171C"/>
                </a:solidFill>
                <a:latin typeface="Consolas"/>
              </a:rPr>
              <a:t>CP-13 RESULT: 6 file hashes, 1 fingerprint chain, 3 CSVs, rubric sums, DPR line — all recomputed and matched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6534"/>
                </a:solidFill>
                <a:latin typeface="Consolas"/>
              </a:rPr>
              <a:t>RESULT (verbatim):  CP-13 RESULT: 6 file hashes, 1 fingerprint chain, 3 CSVs, rubric sums, DPR line — all recomputed and matched -- 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15 — Final presentation, submission,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Week 15 (pre-SEE) · The Viva Ledger: Every Answer Regenerated From Disk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6492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final chapter is a drill, not a summary.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set of viva questions is answered by recomputation at the moment of asking — the ladder's behaviour is probed live from the engine, the pilot slope is refitted from the CSV, the fingerprint is re-derived from the served pack.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number you can only get from a report is a number you do not own; the committee can tell in ninety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36192"/>
            <a:ext cx="4507992" cy="30175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2336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CAPTURE LINES THIS WEEK STANDS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1901952"/>
            <a:ext cx="4233672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90" b="0" i="0">
                <a:solidFill>
                  <a:srgbClr val="14171C"/>
                </a:solidFill>
                <a:latin typeface="Consolas"/>
              </a:rPr>
              <a:t>CP-14 RESULT: 15 programs ledger-checked, 8 viva questions answered by live recomputation (slope +2.59 pp/wk, fingerprint 0243af53e44d5834) --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90" b="0" i="0">
                <a:solidFill>
                  <a:srgbClr val="14171C"/>
                </a:solidFill>
                <a:latin typeface="Consolas"/>
              </a:rPr>
              <a:t>Q3  'How does it adapt?'  ladder ('entry', 'practice', 'mastery') with capacities 23/22/22; PROBED live: steps up after 5 correct at entry, steps down after 3 misses at practice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190" b="0" i="0">
                <a:solidFill>
                  <a:srgbClr val="14171C"/>
                </a:solidFill>
                <a:latin typeface="Consolas"/>
              </a:rPr>
              <a:t>Q7  'Numbers in your report — where from?'  every figure above was recomputed just now from data/, build/site/, src/lib/; the DPR summary itself is sha256:498298aead571f10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6492240" cy="169164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745736"/>
            <a:ext cx="6163055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CHECKPOINT (class discussion — answers in the book)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Which question cannot be answered from memory, and why?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What does the ledger check on the programs themselves look for?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07992" cy="169164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4754879"/>
            <a:ext cx="4233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Present project, submit report, reflect on learning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evidence → Final report, presentation, viva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CHAPTER 15 — src/cp14_viva_ledger.py · out/cp14_viva_ledger.txt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Week 15 (pre-SEE) · Program and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623560" cy="4443984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5623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86484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src/cp14_viva_ledger.py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5312664" cy="3968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#!/usr/bin/env python3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# -*- coding: utf-8 -*-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"""CP-14 (pre-SEE): the viva drill. Every answer a committee could demand is regenerated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from the artefacts at this instant — the program prints question, live computation,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the answer it forces. A number you can only get from a report is a number you don't own."""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glob, hashlib, json, os, re, sys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HERE = os.path.dirname(os.path.abspath(__file__)); ROOT = os.path.dirname(HERE)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sys.path.insert(0, os.path.join(ROOT, "src", "lib")); sys.path.insert(0, ROOT)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learning_engine as 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import syllabus_data as 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SITE = os.path.join(ROOT, "build", "site")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print("== CP-14  viva ledger: questions answered by recomputation ==")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QN =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progs = sorted(glob.glob(os.path.join(ROOT, "src", "cp*.py")))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QN +=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print(f"Q0  what did you actually run? {len(progs)} programs, src/cp00..cp14:")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bad = []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pat = re.compile(r'print\(f?"CP-\d\d RESULT:')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for p in progs: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src = open(p, encoding="utf-8").read()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if len(pat.findall(src)) != 1: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  bad.append(os.path.basename(p))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print(f"    every file carries exactly one RESULT print: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  f"{'yes' if not bad else 'NO -&gt; ' + ', '.join(bad)}")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60" b="1" i="0">
                <a:solidFill>
                  <a:srgbClr val="D99E22"/>
                </a:solidFill>
                <a:latin typeface="Calibri"/>
              </a:rPr>
              <a:t>…  16 more lines omitted — complete capture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cap = {lv: sum(1 for it in pack["items"] if it["level"] == lv) for lv in LE.LEVELS}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probe_up(k):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h = [{"id": f"l{i:03d}", "level": "entry", "correct": True} for i in range(k)]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  return LE.next_item(pack, h)["level"]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def probe_down(m):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580" b="0" i="0">
                <a:solidFill>
                  <a:srgbClr val="E5E7EB"/>
                </a:solidFill>
                <a:latin typeface="Consolas"/>
              </a:rPr>
              <a:t>  …  (complete source: the course book, §code of this chapter)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36192"/>
            <a:ext cx="5376672" cy="4443984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27632"/>
            <a:ext cx="5102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python3 src/cp14_viva_ledger.py — captured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5102352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$ python3 src/cp14_viva_ledger.py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== CP-14  viva ledger: questions answered by recomputation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Q0  what did you actually run? 15 programs, src/cp00..cp14: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  every file carries exactly one RESULT print: yes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Q1  'Why this problem?'  schools surveyed: 3, respondents 48; access-need mean 3.90/5, 34/48 at 4+ — the need is the majority, not the exception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Q2  'Why offline-first?'  20/48 households internet ≤2/5 = 41.7% — anything needing a network would exclude them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Q3  'How does it adapt?'  ladder ('entry', 'practice', 'mastery') with capacities 23/22/22; PROBED live: steps up after 5 correct at entry, steps down after 3 misses at practice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Q4  'Did it help?'  weekly-mean accuracy slope +2.59 pp/week over 12 pilot weeks, 242 session rows; first-vs-last 3 weeks within-learner comparison: +23.9 pp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Q5  'What will the examiners grade?'  CIE rubric sums to 50, SEE to 100; gates 20, 35, total 40 — parsed from the syllabus text in the first tool, not memorised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Q6  'How do I know the served app matches this report?'  the pack's fingerprint 0243af53e44d5834 is embedded in all four pages and hashed in build-log.txt; CP-13 re-derives both — open the browser devtools and compare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Q7  'Numbers in your report — where from?'  every figure above was recomputed just now from data/, build/site/, src/lib/; the DPR summary itself is sha256:498298aead571f10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CP-14 RESULT: 15 programs ledger-checked, 8 viva questions answered by live recomputation (slope +2.59 pp/wk, fingerprint 0243af53e44d5834) --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35040"/>
            <a:ext cx="11183112" cy="384048"/>
          </a:xfrm>
          <a:prstGeom prst="rect">
            <a:avLst/>
          </a:prstGeom>
          <a:solidFill>
            <a:srgbClr val="EAF6EF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66534"/>
                </a:solidFill>
                <a:latin typeface="Consolas"/>
              </a:rPr>
              <a:t>RESULT (verbatim):  CP-14 RESULT: 15 programs ledger-checked, 8 viva questions answered by live recomputation (slope +2.59 pp/wk, fingerprint 0243af53e44d5834) -- PASS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WEEK 15 · SUBMISSION &amp;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Handover: What the School Receives, What the Committee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Community Project · 1BCP308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6035040" cy="4864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6181D"/>
                </a:solidFill>
                <a:latin typeface="Calibri"/>
              </a:rPr>
              <a:t>The tool: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build/site/ — four pages, two assets, one pack; 30,282 bytes as logged; zero external references; opens from file:// with the network dark (CP-09).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6181D"/>
                </a:solidFill>
                <a:latin typeface="Calibri"/>
              </a:rPr>
              <a:t>The chain: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content pack fingerprint 0243af53e44d5834 embedded in every page, hashed in build-log.txt, re-derived by CP-13 on submission day.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6181D"/>
                </a:solidFill>
                <a:latin typeface="Calibri"/>
              </a:rPr>
              <a:t>The records: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three CSVs (48 / 242 / 48 rows), the DPR summary, and seventeen captures whose two-run diff is the proof of reproducibility.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6181D"/>
                </a:solidFill>
                <a:latin typeface="Calibri"/>
              </a:rPr>
              <a:t>The viva: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every number re-derives from disk in front of the committee — slope, fingerprint, gates, pack counts (CP-14, week-15 drill).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6181D"/>
                </a:solidFill>
                <a:latin typeface="Calibri"/>
              </a:rPr>
              <a:t>The promise kept: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an outcome the syllabus wording demanded — “Design and develop a web/browser-based learning tool as per the requirements of the special school” — with the requirements, the design, the pilot and the receipts attached.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554480"/>
            <a:ext cx="4873752" cy="278892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1645920"/>
            <a:ext cx="45994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CLOSING CAPTURES (VERBATIM)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1920240"/>
            <a:ext cx="4599432" cy="2331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CP-09 RESULT: 4 pages + 2 assets built, 30282 bytes, 0 external refs, build-log hashes written -- PASS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  engine fingerprint: 0243af53e44d5834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1250" b="0" i="0">
                <a:solidFill>
                  <a:srgbClr val="14171C"/>
                </a:solidFill>
                <a:latin typeface="Consolas"/>
              </a:rPr>
              <a:t>RESULT: capture: 17 programs ok, all reproducible across two runs (zero stderr)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4498848"/>
            <a:ext cx="4873752" cy="1847088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4581144"/>
            <a:ext cx="4544568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REPRODUCE THE WHOLE VOLUME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onsolas"/>
              </a:rPr>
              <a:t>python3 collect.py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  → regenerates data, runs all programs twice, writes out/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onsolas"/>
              </a:rPr>
              <a:t>python3 make_book_content.py &amp;&amp; python3 build.py &amp;&amp; python3 qa.py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  → book + gate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Slides: python3 slides.py — self-checks every cite against the captures before saving.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6289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“A number you can only get from a report is a number you don't own.”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8C4"/>
                </a:solidFill>
                <a:latin typeface="Calibri"/>
              </a:rPr>
              <a:t>Community Project · 1BCP308 · Dr. Lokesh M R · AJIET Mangaluru · VTU 2025 Scheme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D99E22"/>
                </a:solidFill>
                <a:latin typeface="Calibri"/>
              </a:rPr>
              <a:t>fifteen programs · 67-item pack · one fingerprint · zero hand-typed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