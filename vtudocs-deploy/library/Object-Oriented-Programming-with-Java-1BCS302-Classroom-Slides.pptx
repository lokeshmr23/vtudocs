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§1 concepts + demo out/t1_overview.txt (course book §1.2–3). Every red value on this slide was verified against that capture by the deck build's self-check.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§1 concepts + demo out/t1_types.txt (course book §1.2–3). Every red value on this slide was verified against that capture by the deck build's self-check.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out/t1_overview.txt; other Module 1 demos (t1_overview, t1_types, t1_control) with full transcripts are in the book's §1.2–3.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a * b prints 10000 — both bytes promote to int before multiplying. byte c = a * b; is a compile error: an int (10 000, and anyway a wider type) cannot narrow into a byte without a cast.</a:t>
            </a:r>
          </a:p>
          <a:p>
            <a:r>
              <a:t>Q2: The operands were declared double a = 9, b = 3; widening made them 9.0 and 3.0, so the switch computed in double arithmetic and printed 27.0.</a:t>
            </a:r>
          </a:p>
          <a:p>
            <a:r>
              <a:t>Q3: Case labels must be single constant values, not ranges. A switch could map marks/10 — case 9, 8, 7 … — which is the standard trick, but the straight-line if/else ladder is the honest form for “≥” tests.</a:t>
            </a:r>
          </a:p>
          <a:p>
            <a:r>
              <a:t>Q5: var is not “dynamic type”. The compiler infers one concrete type from the initializer at compile time (var idx = 0 is an int, forever); it only saves typing. The initializer is therefore mandatory — var x; cannot compile.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§2 concepts + demo out/t2_classes.txt (course book §2.2–3). Every red value on this slide was verified against that capture by the deck build's self-check.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§2 concepts + demo out/t2_methods.txt (course book §2.2–3). Every red value on this slide was verified against that capture by the deck build's self-check.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out/t2_classes.txt; other Module 2 demos (t2_classes, t2_methods) with full transcripts are in the book's §2.2–3.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Overloads matched area(double); the int 3 widened to 3.0 before the call, and a double prints with a decimal point.</a:t>
            </a:r>
          </a:p>
          <a:p>
            <a:r>
              <a:t>Q3: Because b == o compares references (identity); two distinct boxes can share a volume. The value comparison must be on the numbers, exactly as the equals-style reasoning demands.</a:t>
            </a:r>
          </a:p>
          <a:p>
            <a:r>
              <a:t>Q4: Nothing breaks — int widens to double, so new Box(3) silently selects the double arm. That silent widening is the reason overloaded numeric constructors need comments; the classic bug hunt in viva.</a:t>
            </a:r>
          </a:p>
          <a:p>
            <a:r>
              <a:t>Q5: static for data the class owns once (a counter); final to pin a constant per object or to seal a method; inner when an object genuinely needs its enclosing instance — the 42-peeking Inner in the demo is exactly that case.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§3 concepts + demo out/t3_inherit.txt (course book §3.2–3). Every red value on this slide was verified against that capture by the deck build's self-check.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§3 concepts + demo out/t3_pkg.txt (course book §3.2–3). Every red value on this slide was verified against that capture by the deck build's self-check.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out/t3_inherit.txt; other Module 3 demos (t3_inherit, t3_pkg, t3_iface) with full transcripts are in the book's §3.2–3.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C’s constructor runs B’s once, and B’s runs A’s once — one chain, one visit per class. B() prints from inside B’s constructor, which the chain invokes a single time.</a:t>
            </a:r>
          </a:p>
          <a:p>
            <a:r>
              <a:t>Q2: Deleting double area() { … } from Rect2: an abstract method left unimplemented in a concrete class is a compile error.</a:t>
            </a:r>
          </a:p>
          <a:p>
            <a:r>
              <a:t>Q4: m may call moveBy, last, the inherited report, and (via the type) BASE; Cart-only members — its constructor, any extra methods — are invisible until a cast. Exp. 5 drives resizeWidth/resizeHeight through the Resizable handle for exactly this reason.</a:t>
            </a:r>
          </a:p>
          <a:p>
            <a:r>
              <a:t>Q5: When the new method is default: the interface supplies a body, implementors inherit it untouched — the mechanism behind Java’s own library evolution (e.g. Collection.stream).</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§4 concepts + demo out/t4_except.txt (course book §4.2–3). Every red value on this slide was verified against that capture by the deck build's self-check.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§4 concepts + demo out/t4_threads.txt (course book §4.2–3). Every red value on this slide was verified against that capture by the deck build's self-check.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out/t4_except.txt; other Module 4 demos (t4_except, t4_threads) with full transcripts are in the book's §4.2–3.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It is a RuntimeException — unchecked — but the demo never caught it in that same try; the outer catch belongs to the nested try wrapping parse+divide, which names NumberFormatException explicitly. Any catch list may name any Throwable subclass — checked/unchecked decides the compiler’s demands, not who may catch.</a:t>
            </a:r>
          </a:p>
          <a:p>
            <a:r>
              <a:t>Q2: The extra prompt changes only the array size; an unparseable string raises NumberFormatException from Integer.parseInt — Exp. 11’s addMark already demonstrates the handler shape: parse inside a try, fall back to 0 with a message.</a:t>
            </a:r>
          </a:p>
          <a:p>
            <a:r>
              <a:t>Q4: A data race on unsynchronised shared mutable state (lost updates / torn reads). The general guard is synchronized — the synchronized method or statement — and/or the lock discipline the reference book’s thread chapter teaches; the demo sidestepped the race by confining each builder to one thread.</a:t>
            </a:r>
          </a:p>
          <a:p>
            <a:r>
              <a:t>Q5: Extends RuntimeException → the throws clause is no longer mandatory, so withdraw’s signature may drop it and main may drop the catch (compiler stops insisting; catching is still legal).</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§5 concepts + demo out/t5_enum.txt (course book §5.2–3). Every red value on this slide was verified against that capture by the deck build's self-check.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of truth: §5 concepts + demo out/t5_generics.txt (course book §5.2–3). Every red value on this slide was verified against that capture by the deck build's self-check.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 python3 collect.py regenerates out/t5_enum.txt; other Module 5 demos (t5_enum, t5_generics) with full transcripts are in the book's §5.2–3.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answers for reference:</a:t>
            </a:r>
          </a:p>
          <a:p>
            <a:r>
              <a:t>Q1: valueOf matches exact identifier names — case-sensitive. The Department demo normalises first (sc.nextLine().trim().toUpperCase()) and traps the miss with an IllegalArgumentException handler.</a:t>
            </a:r>
          </a:p>
          <a:p>
            <a:r>
              <a:t>Q2: true (cached −128…127: one shared object), then false (1 200 built two distinct objects). equals() on both: true.</a:t>
            </a:r>
          </a:p>
          <a:p>
            <a:r>
              <a:t>Q3: total = Integer.valueOf(total.intValue() + m.intValue()); — identical output (e.g. Total 255 in Exp. 10); that sameness is the whole syllabus sentence about autoboxing.</a:t>
            </a:r>
          </a:p>
          <a:p>
            <a:r>
              <a:t>Q5: a.compareTo(b) &gt;= 0 may be called (in the bound), the return is of the caller’s own type T (no cast at the call site), and the two arguments cannot mix types — max(3.5, "pear") dies at compile time, which is the point.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Use branching (if/while guards) and nested loops to read two square matrices of user-chosen order N ≤ 10 and display the element-wise sum.. Full listings, both data sets, observations and model viva answers: course book Experiment 1 (7 sections). Re-run: python3 collect.py then open out/e01_matrix.txt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1 (book §1.6):</a:t>
            </a:r>
          </a:p>
          <a:p/>
          <a:p>
            <a:r>
              <a:t>Q1: Why is n &gt;= 1 &amp;&amp; n &lt;= 10 a short-circuit expression and does order matter here?</a:t>
            </a:r>
          </a:p>
          <a:p>
            <a:r>
              <a:t>   A: Both operands are side-effect-free comparisons, so &amp;&amp; short-circuits but order changes nothing; on (n &gt;= 1 &amp;&amp; n &lt;= 10) with n = 0 the first test alone decides false.</a:t>
            </a:r>
          </a:p>
          <a:p>
            <a:r>
              <a:t>Q2: What does printf’s %4d do to the number 7?</a:t>
            </a:r>
          </a:p>
          <a:p>
            <a:r>
              <a:t>   A: Right-aligns it in four columns — three leading spaces; wide enough for the widest two-digit sums, so rows stay gridded.</a:t>
            </a:r>
          </a:p>
          <a:p>
            <a:r>
              <a:t>Q3: Where would you change the program to support subtraction as well?</a:t>
            </a:r>
          </a:p>
          <a:p>
            <a:r>
              <a:t>   A: Add a third static apply(a,b,mode) or a second result array in main; the read/show helpers are already reusable — a good Design-of-program rubric sentence.</a:t>
            </a:r>
          </a:p>
          <a:p>
            <a:r>
              <a:t>Q4: Scanner returned 0 for the quit input 0 0 — why does the program exit?</a:t>
            </a:r>
          </a:p>
          <a:p>
            <a:r>
              <a:t>   A: Because the exit test is on the pair n == 0 &amp;&amp; d == 0 after reading both ints, before any division — a guard, not a coincidence.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Encapsulate a fixed-capacity integer stack (limit 10) in a class with suitable methods and demonstrate its operations through a Java main method.. Full listings, both data sets, observations and model viva answers: course book Experiment 2 (7 sections). Re-run: python3 collect.py then open out/e02_stack.txt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2 (book §2.6):</a:t>
            </a:r>
          </a:p>
          <a:p/>
          <a:p>
            <a:r>
              <a:t>Q1: Why is the stack limit written as data.length - 1 and not 9?</a:t>
            </a:r>
          </a:p>
          <a:p>
            <a:r>
              <a:t>   A: Because top tests against the array itself — change the one literal 10 and every bound follows; magic-number-free code.</a:t>
            </a:r>
          </a:p>
          <a:p>
            <a:r>
              <a:t>Q2: What breaks if top is initialised to 0 instead of −1?</a:t>
            </a:r>
          </a:p>
          <a:p>
            <a:r>
              <a:t>   A: An empty stack would report size 1 and pop() would read data[0] unwritten — the −1 is the empty sentinel that keeps size() == top + 1 honest.</a:t>
            </a:r>
          </a:p>
          <a:p>
            <a:r>
              <a:t>Q3: Why does push return boolean but pop return Integer?</a:t>
            </a:r>
          </a:p>
          <a:p>
            <a:r>
              <a:t>   A: push has no data to hand back — success is the whole result; pop must carry a value or admit there is none (null). Returning 0 would confuse data with distress.</a:t>
            </a:r>
          </a:p>
          <a:p>
            <a:r>
              <a:t>Q4: Where is the stack state stored between menu iterations?</a:t>
            </a:r>
          </a:p>
          <a:p>
            <a:r>
              <a:t>   A: In the one IntStack object created before the loop — the array lives on the heap; the switch runs dozens of times over the same object.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Store N students’ USN, name, branch and phone in a class, collect them into an array of objects, and print the table with suitable headings.. Full listings, both data sets, observations and model viva answers: course book Experiment 3 (7 sections). Re-run: python3 collect.py then open out/e03_students.txt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3 (book §3.6):</a:t>
            </a:r>
          </a:p>
          <a:p/>
          <a:p>
            <a:r>
              <a:t>Q1: Why final on the fields, why no setters?</a:t>
            </a:r>
          </a:p>
          <a:p>
            <a:r>
              <a:t>   A: Once entered, a student’s identity fields should not change in the program’s life; a final+constructor object is the smallest safe class Java allows.</a:t>
            </a:r>
          </a:p>
          <a:p>
            <a:r>
              <a:t>Q2: What does Student[] std hold before the loop body assigns std[i]?</a:t>
            </a:r>
          </a:p>
          <a:p>
            <a:r>
              <a:t>   A: n null references — the array of objects is really an array of slots; objects appear only as each constructor runs.</a:t>
            </a:r>
          </a:p>
          <a:p>
            <a:r>
              <a:t>Q3: Show the transcript line proving nextLine-after-nextInt was needed.</a:t>
            </a:r>
          </a:p>
          <a:p>
            <a:r>
              <a:t>   A: Right after “Enter number of students: 2” comes “Student 1:” — the swallow line consumed the stray newline; without it the USN prompt would have eaten an empty line.</a:t>
            </a:r>
          </a:p>
          <a:p>
            <a:r>
              <a:t>Q4: Phone as String or long? Argue like a designer.</a:t>
            </a:r>
          </a:p>
          <a:p>
            <a:r>
              <a:t>   A: String: no arithmetic will ever run on it, leading zeros survive, and hyphens/spaces stay possible — a long would be numeric storage for a non-numeric fact.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Create a Shape class with draw and erase in circle, triangle and square subclasses and demonstrate polymorphism through member data, overridden methods and a main program.. Full listings, both data sets, observations and model viva answers: course book Experiment 4 (7 sections). Re-run: python3 collect.py then open out/e04_shapes.txt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4 (book §4.6):</a:t>
            </a:r>
          </a:p>
          <a:p/>
          <a:p>
            <a:r>
              <a:t>Q1: Why can’t new Shape(...) appear in main?</a:t>
            </a:r>
          </a:p>
          <a:p>
            <a:r>
              <a:t>   A: Shape is abstract — the language forbids instantiating a class with unfinished methods; it exists only to be inherited through.</a:t>
            </a:r>
          </a:p>
          <a:p>
            <a:r>
              <a:t>Q2: Which constructor runs first — Circle’s or Shape’s? Cite the evidence.</a:t>
            </a:r>
          </a:p>
          <a:p>
            <a:r>
              <a:t>   A: Shape’s: the child’s first statement is super("circle"), and the tag it sets is already printed by draw() — base before derived (Module 3, t3_inherit’s A-B-C lines).</a:t>
            </a:r>
          </a:p>
          <a:p>
            <a:r>
              <a:t>Q3: What would the transcript lose if bag were declared Circle[]?</a:t>
            </a:r>
          </a:p>
          <a:p>
            <a:r>
              <a:t>   A: Polymorphism: one type, one draw, one behaviour; the for-each would compile but the experiment would be over — typing to the parent is what makes the loop interesting.</a:t>
            </a:r>
          </a:p>
          <a:p>
            <a:r>
              <a:t>Q4: Draw is overridden; is it also overloaded anywhere?</a:t>
            </a:r>
          </a:p>
          <a:p>
            <a:r>
              <a:t>   A: No — same signature, subclass body: overriding only. Overload would be same-name-different-args in one class.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Declare the Resizable interface with resizeWidth(int width) and resizeHeight(int height), implement it in Rectangle, and drive the resize operations through the interface.. Full listings, both data sets, observations and model viva answers: course book Experiment 5 (7 sections). Re-run: python3 collect.py then open out/e05_iface.txt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5 (book §5.6):</a:t>
            </a:r>
          </a:p>
          <a:p/>
          <a:p>
            <a:r>
              <a:t>Q1: May the interface hold state, e.g. int count;?</a:t>
            </a:r>
          </a:p>
          <a:p>
            <a:r>
              <a:t>   A: No instance fields — interfaces define behaviour only; the constants it does hold are implicitly public static final.</a:t>
            </a:r>
          </a:p>
          <a:p>
            <a:r>
              <a:t>Q2: Which methods must Rectangle implement and which may it skip?</a:t>
            </a:r>
          </a:p>
          <a:p>
            <a:r>
              <a:t>   A: All four abstracts (the two resizes and the two accessors); describe() may be skipped — that is what default means.</a:t>
            </a:r>
          </a:p>
          <a:p>
            <a:r>
              <a:t>Q3: Why does main keep r as well as res?</a:t>
            </a:r>
          </a:p>
          <a:p>
            <a:r>
              <a:t>   A: One object, two handles: the typed view (Rectangle, sees everything public) vs the contract view (Resizable, sees only interface members) — the same distinction as Shape[] in Exp. 4.</a:t>
            </a:r>
          </a:p>
          <a:p>
            <a:r>
              <a:t>Q4: Give a second implementor that reuses describe() with zero shared code.</a:t>
            </a:r>
          </a:p>
          <a:p>
            <a:r>
              <a:t>   A: A Square implementing the same interface — the default text prints “Square is now w x h” untouched.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Create the package mypack holding an arithmetic class, and import and use it from a class in another package.. Full listings, both data sets, observations and model viva answers: course book Experiment 6 (7 sections). Re-run: python3 collect.py then open out/e06_pkg.txt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6 (book §6.6):</a:t>
            </a:r>
          </a:p>
          <a:p/>
          <a:p>
            <a:r>
              <a:t>Q1: Which file must be recompiled when Calculator gains a method — Demo too?</a:t>
            </a:r>
          </a:p>
          <a:p>
            <a:r>
              <a:t>   A: Demo needn’t; it referenced only names that still exist. Java’s compile-time coupling is to signatures; rebuilding both is hygiene, not necessity.</a:t>
            </a:r>
          </a:p>
          <a:p>
            <a:r>
              <a:t>Q2: Why not import mypack.*;?</a:t>
            </a:r>
          </a:p>
          <a:p>
            <a:r>
              <a:t>   A: Legal but blunt; the single-type import documents exactly what crossed the border — the answer the access rubric likes.</a:t>
            </a:r>
          </a:p>
          <a:p>
            <a:r>
              <a:t>Q3: Where does the JVM look for mypack.user.Demo — and name the one-word error if it can’t?</a:t>
            </a:r>
          </a:p>
          <a:p>
            <a:r>
              <a:t>   A: -cp bin/e06_pkg: classes live below the classpath root in package-shaped directories; miss it and you get NoClassDefFoundError/ClassNotFoundException at launch, not compile.</a:t>
            </a:r>
          </a:p>
          <a:p>
            <a:r>
              <a:t>Q4: What did you put in bin before running?</a:t>
            </a:r>
          </a:p>
          <a:p>
            <a:r>
              <a:t>   A: Nothing by hand: javac -d built bin/e06_pkg/mypack/… itself — let the compiler own the tree.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Raise a user-defined exception for division by zero, handling it with try, catch, throw and finally.. Full listings, both data sets, observations and model viva answers: course book Experiment 7 (7 sections). Re-run: python3 collect.py then open out/e07_divzero.txt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7 (book §7.6):</a:t>
            </a:r>
          </a:p>
          <a:p/>
          <a:p>
            <a:r>
              <a:t>Q1: Why not extend RuntimeException?</a:t>
            </a:r>
          </a:p>
          <a:p>
            <a:r>
              <a:t>   A: Then the compiler would stop requiring the catch; the program would run identically on good input and crash on the bad — the checked form is what makes the API promise visible.</a:t>
            </a:r>
          </a:p>
          <a:p>
            <a:r>
              <a:t>Q2: Say the throw/throws difference in one viva breath.</a:t>
            </a:r>
          </a:p>
          <a:p>
            <a:r>
              <a:t>   A: throws is a signature clause listing possible exceptions; throw is the statement that actually raises one.</a:t>
            </a:r>
          </a:p>
          <a:p>
            <a:r>
              <a:t>Q3: Could finally be merged into the end of the try? When does that fail?</a:t>
            </a:r>
          </a:p>
          <a:p>
            <a:r>
              <a:t>   A: Not for guaranteed cleanup: finally also runs when the try exits early (a throw, return, or break). With a return inside catch — the finally still printed.</a:t>
            </a:r>
          </a:p>
          <a:p>
            <a:r>
              <a:t>Q4: Where is the exception object made, and what does its getMessage() return?</a:t>
            </a:r>
          </a:p>
          <a:p>
            <a:r>
              <a:t>   A: Inside divide at the throw point; the message is the constructor string, e.g. “divisor cannot be zero (numerator was 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Create class MyThread with a constructor that calls the base Thread constructor via super, start it, and observe the created threads and main thread executing concurrently.. Full listings, both data sets, observations and model viva answers: course book Experiment 8 (7 sections). Re-run: python3 collect.py then open out/e08_threads.txt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8 (book §8.6):</a:t>
            </a:r>
          </a:p>
          <a:p/>
          <a:p>
            <a:r>
              <a:t>Q1: What would have happened if main called t1.run() instead of t1.start()?</a:t>
            </a:r>
          </a:p>
          <a:p>
            <a:r>
              <a:t>   A: One ordinary method call on the main thread: “paint step 1..3” would print inline, isAlive at the probe would read false, and no child would exist at all.</a:t>
            </a:r>
          </a:p>
          <a:p>
            <a:r>
              <a:t>Q2: Name the two ways to define a thread and which one this is.</a:t>
            </a:r>
          </a:p>
          <a:p>
            <a:r>
              <a:t>   A: extend Thread (here — the question demands it) or implement Runnable and hand it to a Thread; extending costs you the class slot, implementing keeps it.</a:t>
            </a:r>
          </a:p>
          <a:p>
            <a:r>
              <a:t>Q3: Why sleep inside run()?</a:t>
            </a:r>
          </a:p>
          <a:p>
            <a:r>
              <a:t>   A: To make the child occupy time across main’s prints — without a pause the overlap you are demonstrating would finish before the probe.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Define enum Department { CSE, ISE, ECE, MECH }; accept a department name as input and display the selected department using valueOf().. Full listings, both data sets, observations and model viva answers: course book Experiment 9 (7 sections). Re-run: python3 collect.py then open out/e09_enum.txt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9 (book §9.6):</a:t>
            </a:r>
          </a:p>
          <a:p/>
          <a:p>
            <a:r>
              <a:t>Q1: Why is an enum constructor private by law?</a:t>
            </a:r>
          </a:p>
          <a:p>
            <a:r>
              <a:t>   A: Instantiation belongs to the compiler: constants are made once in the declaration. A public constructor would let anyone mint a “fifth department”, destroying the identity guarantee equals/== rely on.</a:t>
            </a:r>
          </a:p>
          <a:p>
            <a:r>
              <a:t>Q2: What exception does valueOf raise on a miss — and why catch that one only?</a:t>
            </a:r>
          </a:p>
          <a:p>
            <a:r>
              <a:t>   A: IllegalArgumentException; catching Exception would also swallow a KeyboardInterrupt-shaped or unexpected failure and mislead the user — Module 4’s specific-before-general discipline again.</a:t>
            </a:r>
          </a:p>
          <a:p>
            <a:r>
              <a:t>Q3: Where do name() and toString() differ for enums?</a:t>
            </a:r>
          </a:p>
          <a:p>
            <a:r>
              <a:t>   A: They coincide by default (name() = declared identifier); overriding toString() changes the printout but not valueOf, which reads names, not text.</a:t>
            </a:r>
          </a:p>
          <a:p>
            <a:r>
              <a:t>Q4: Add a department — how many lines change here, how many would a switch need?</a:t>
            </a:r>
          </a:p>
          <a:p>
            <a:r>
              <a:t>   A: One, in the constant list; a switch on String would touch its case labels, and forgetting one is silent — that is the enum’s argument.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Read the marks of three subjects as strings, convert them into wrapper objects, and calculate/display total and average using autoboxing/unboxing.. Full listings, both data sets, observations and model viva answers: course book Experiment 10 (7 sections). Re-run: python3 collect.py then open out/e10_wrappers.txt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10 (book §10.6):</a:t>
            </a:r>
          </a:p>
          <a:p/>
          <a:p>
            <a:r>
              <a:t>Q1: Difference between Integer.valueOf(s) and Integer.parseInt(s)?</a:t>
            </a:r>
          </a:p>
          <a:p>
            <a:r>
              <a:t>   A: valueOf hands you the boxed object (may return a cached instance for −128…127); parseInt hands you the raw int. Exp. 10 needs the object, so valueOf — and it is also what Integer m = 85 means.</a:t>
            </a:r>
          </a:p>
          <a:p>
            <a:r>
              <a:t>Q2: What does the compiler write behind total += m;?</a:t>
            </a:r>
          </a:p>
          <a:p>
            <a:r>
              <a:t>   A: total = Integer.valueOf(total.intValue() + m.intValue()) — one unbox, one add, one re-box, per round.</a:t>
            </a:r>
          </a:p>
          <a:p>
            <a:r>
              <a:t>Q3: Why does the average print 85.0, not 85?</a:t>
            </a:r>
          </a:p>
          <a:p>
            <a:r>
              <a:t>   A: The numerator is cast to double before dividing, so the result is a Double whose toString keeps the decimal; integer / 3 would have truncated toward the floor.</a:t>
            </a:r>
          </a:p>
          <a:p>
            <a:r>
              <a:t>Q4: If two marks were both 130, would m == highest inside find() work?</a:t>
            </a:r>
          </a:p>
          <a:p>
            <a:r>
              <a:t>   A: No — 130 is outside the cache, two objects, false identity. That is why find() compares with equals(); this is also the classic Module 5 viva trap, pre-empted in the source comment.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Aim: Apply the course’s OOP concepts to a small real-world console application, built and documented as a team of two to three students.. Full listings, both data sets, observations and model viva answers: course book Experiment 11 (7 sections). Re-run: python3 collect.py then open out/e11_project.txt — same bytes.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 bank for Experiment 11 (book §11.6):</a:t>
            </a:r>
          </a:p>
          <a:p/>
          <a:p>
            <a:r>
              <a:t>Q1: Where exactly does inheritance earn its keep in this app (name the line)?</a:t>
            </a:r>
          </a:p>
          <a:p>
            <a:r>
              <a:t>   A: Person holds name/phone and Student calls super(name, phone) — any future Teacher could reuse Person untouched; plus toString chains Student’s format over Person’s name().</a:t>
            </a:r>
          </a:p>
          <a:p>
            <a:r>
              <a:t>Q2: Why does addMark swallow its exception instead of rethrowing?</a:t>
            </a:r>
          </a:p>
          <a:p>
            <a:r>
              <a:t>   A: A menu app that dies on one bad keystroke fails the UX test; the registry must stay usable. A library would instead wrap and rethrow — the difference is context, and the viva is asking whether you know which you are in.</a:t>
            </a:r>
          </a:p>
          <a:p>
            <a:r>
              <a:t>Q3: Which module’s vocabulary is the Grade ladder?</a:t>
            </a:r>
          </a:p>
          <a:p>
            <a:r>
              <a:t>   A: Module 1 — the if/else chain returning enum constants; Module 5 only supplied the type.</a:t>
            </a:r>
          </a:p>
          <a:p>
            <a:r>
              <a:t>Q4: For the report’s IDE section, which debugger action do you actually demonstrate?</a:t>
            </a:r>
          </a:p>
          <a:p>
            <a:r>
              <a:t>   A: A breakpoint on addMark’s parse line, one run feeding “9x”, stepping the catch — the failure path shown, not asserted.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457200"/>
          </a:xfrm>
          <a:prstGeom prst="rect">
            <a:avLst/>
          </a:prstGeom>
          <a:noFill/>
        </p:spPr>
        <p:txBody>
          <a:bodyPr wrap="square" anchor="t" lIns="0" rIns="0" tIns="0" bIns="0">
            <a:spAutoFit/>
          </a:bodyPr>
          <a:lstStyle/>
          <a:p>
            <a:pPr algn="ctr">
              <a:spcBef>
                <a:spcPts val="0"/>
              </a:spcBef>
              <a:spcAft>
                <a:spcPts val="0"/>
              </a:spcAft>
            </a:pPr>
            <a:r>
              <a:rPr sz="1500" b="1" i="0">
                <a:solidFill>
                  <a:srgbClr val="B3261E"/>
                </a:solidFill>
                <a:latin typeface="Calibri"/>
              </a:rPr>
              <a:t>INTEGRATED THEORY &amp; PRACTICAL COURSE · SEMESTER III</a:t>
            </a:r>
          </a:p>
        </p:txBody>
      </p:sp>
      <p:sp>
        <p:nvSpPr>
          <p:cNvPr id="4" name="Rectangle 3"/>
          <p:cNvSpPr/>
          <p:nvPr/>
        </p:nvSpPr>
        <p:spPr>
          <a:xfrm>
            <a:off x="914400" y="1152144"/>
            <a:ext cx="10362895" cy="25603"/>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10545775" cy="1965960"/>
          </a:xfrm>
          <a:prstGeom prst="rect">
            <a:avLst/>
          </a:prstGeom>
          <a:noFill/>
        </p:spPr>
        <p:txBody>
          <a:bodyPr wrap="square" anchor="t" lIns="0" rIns="0" tIns="0" bIns="0">
            <a:spAutoFit/>
          </a:bodyPr>
          <a:lstStyle/>
          <a:p>
            <a:pPr algn="ctr">
              <a:spcBef>
                <a:spcPts val="0"/>
              </a:spcBef>
              <a:spcAft>
                <a:spcPts val="200"/>
              </a:spcAft>
            </a:pPr>
            <a:r>
              <a:rPr sz="4700" b="1" i="0">
                <a:solidFill>
                  <a:srgbClr val="0F172A"/>
                </a:solidFill>
                <a:latin typeface="Calibri"/>
              </a:rPr>
              <a:t>OBJECT ORIENTED</a:t>
            </a:r>
          </a:p>
          <a:p>
            <a:pPr algn="ctr">
              <a:spcBef>
                <a:spcPts val="0"/>
              </a:spcBef>
              <a:spcAft>
                <a:spcPts val="200"/>
              </a:spcAft>
            </a:pPr>
            <a:r>
              <a:rPr sz="4700" b="1" i="0">
                <a:solidFill>
                  <a:srgbClr val="0F172A"/>
                </a:solidFill>
                <a:latin typeface="Calibri"/>
              </a:rPr>
              <a:t>PROGRAMMING WITH JAVA</a:t>
            </a:r>
          </a:p>
        </p:txBody>
      </p:sp>
      <p:sp>
        <p:nvSpPr>
          <p:cNvPr id="6" name="TextBox 5"/>
          <p:cNvSpPr txBox="1"/>
          <p:nvPr/>
        </p:nvSpPr>
        <p:spPr>
          <a:xfrm>
            <a:off x="1280160" y="3310128"/>
            <a:ext cx="9631375" cy="731520"/>
          </a:xfrm>
          <a:prstGeom prst="rect">
            <a:avLst/>
          </a:prstGeom>
          <a:noFill/>
        </p:spPr>
        <p:txBody>
          <a:bodyPr wrap="square" anchor="t" lIns="0" rIns="0" tIns="0" bIns="0">
            <a:spAutoFit/>
          </a:bodyPr>
          <a:lstStyle/>
          <a:p>
            <a:pPr algn="ctr">
              <a:spcBef>
                <a:spcPts val="0"/>
              </a:spcBef>
              <a:spcAft>
                <a:spcPts val="0"/>
              </a:spcAft>
            </a:pPr>
            <a:r>
              <a:rPr sz="1600" b="0" i="0">
                <a:solidFill>
                  <a:srgbClr val="4B5563"/>
                </a:solidFill>
                <a:latin typeface="Calibri"/>
              </a:rPr>
              <a:t>Classroom presentation · 5 theory modules · 11 lab programs · every transcript captured from javac + java runs on OpenJDK 11</a:t>
            </a:r>
          </a:p>
        </p:txBody>
      </p:sp>
      <p:sp>
        <p:nvSpPr>
          <p:cNvPr id="7" name="Rectangle 6"/>
          <p:cNvSpPr/>
          <p:nvPr/>
        </p:nvSpPr>
        <p:spPr>
          <a:xfrm>
            <a:off x="4449927" y="4041648"/>
            <a:ext cx="3291840" cy="713232"/>
          </a:xfrm>
          <a:prstGeom prst="rect">
            <a:avLst/>
          </a:prstGeom>
          <a:noFill/>
          <a:ln w="9525">
            <a:solidFill>
              <a:srgbClr val="0F17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9927" y="4142232"/>
            <a:ext cx="3291840" cy="548640"/>
          </a:xfrm>
          <a:prstGeom prst="rect">
            <a:avLst/>
          </a:prstGeom>
          <a:noFill/>
        </p:spPr>
        <p:txBody>
          <a:bodyPr wrap="square" anchor="t" lIns="0" rIns="0" tIns="0" bIns="0">
            <a:spAutoFit/>
          </a:bodyPr>
          <a:lstStyle/>
          <a:p>
            <a:pPr algn="ctr">
              <a:spcBef>
                <a:spcPts val="0"/>
              </a:spcBef>
              <a:spcAft>
                <a:spcPts val="100"/>
              </a:spcAft>
            </a:pPr>
            <a:r>
              <a:rPr sz="1050" b="1" i="0">
                <a:solidFill>
                  <a:srgbClr val="4B5563"/>
                </a:solidFill>
                <a:latin typeface="Calibri"/>
              </a:rPr>
              <a:t>COURSE CODE</a:t>
            </a:r>
          </a:p>
          <a:p>
            <a:pPr algn="ctr">
              <a:spcBef>
                <a:spcPts val="0"/>
              </a:spcBef>
              <a:spcAft>
                <a:spcPts val="0"/>
              </a:spcAft>
            </a:pPr>
            <a:r>
              <a:rPr sz="2100" b="1" i="0">
                <a:solidFill>
                  <a:srgbClr val="0F172A"/>
                </a:solidFill>
                <a:latin typeface="Calibri"/>
              </a:rPr>
              <a:t>1BCS302</a:t>
            </a:r>
          </a:p>
        </p:txBody>
      </p:sp>
      <p:sp>
        <p:nvSpPr>
          <p:cNvPr id="9" name="TextBox 8"/>
          <p:cNvSpPr txBox="1"/>
          <p:nvPr/>
        </p:nvSpPr>
        <p:spPr>
          <a:xfrm>
            <a:off x="1234440" y="4956048"/>
            <a:ext cx="9722815" cy="365760"/>
          </a:xfrm>
          <a:prstGeom prst="rect">
            <a:avLst/>
          </a:prstGeom>
          <a:noFill/>
        </p:spPr>
        <p:txBody>
          <a:bodyPr wrap="square" anchor="t" lIns="0" rIns="0" tIns="0" bIns="0">
            <a:spAutoFit/>
          </a:bodyPr>
          <a:lstStyle/>
          <a:p>
            <a:pPr algn="ctr">
              <a:spcBef>
                <a:spcPts val="0"/>
              </a:spcBef>
              <a:spcAft>
                <a:spcPts val="0"/>
              </a:spcAft>
            </a:pPr>
            <a:r>
              <a:rPr sz="1350" b="0" i="0">
                <a:solidFill>
                  <a:srgbClr val="16181D"/>
                </a:solidFill>
                <a:latin typeface="Calibri"/>
              </a:rPr>
              <a:t>4 credits   ·   Teaching 3 : 0 : 2   ·   CIE 50 (theory 25 + practical 25)   ·   SEE 50 · 3 h   ·   Total 100</a:t>
            </a:r>
          </a:p>
        </p:txBody>
      </p:sp>
      <p:sp>
        <p:nvSpPr>
          <p:cNvPr id="10" name="TextBox 9"/>
          <p:cNvSpPr txBox="1"/>
          <p:nvPr/>
        </p:nvSpPr>
        <p:spPr>
          <a:xfrm>
            <a:off x="914400" y="5504688"/>
            <a:ext cx="10362895" cy="777240"/>
          </a:xfrm>
          <a:prstGeom prst="rect">
            <a:avLst/>
          </a:prstGeom>
          <a:noFill/>
        </p:spPr>
        <p:txBody>
          <a:bodyPr wrap="square" anchor="t" lIns="0" rIns="0" tIns="0" bIns="0">
            <a:spAutoFit/>
          </a:bodyPr>
          <a:lstStyle/>
          <a:p>
            <a:pPr algn="ctr">
              <a:spcBef>
                <a:spcPts val="0"/>
              </a:spcBef>
              <a:spcAft>
                <a:spcPts val="100"/>
              </a:spcAft>
            </a:pPr>
            <a:r>
              <a:rPr sz="1200" b="0" i="1">
                <a:solidFill>
                  <a:srgbClr val="4B5563"/>
                </a:solidFill>
                <a:latin typeface="Calibri"/>
              </a:rPr>
              <a:t>by</a:t>
            </a:r>
          </a:p>
          <a:p>
            <a:pPr algn="ctr">
              <a:spcBef>
                <a:spcPts val="0"/>
              </a:spcBef>
              <a:spcAft>
                <a:spcPts val="100"/>
              </a:spcAft>
            </a:pPr>
            <a:r>
              <a:rPr sz="2200" b="1" i="0">
                <a:solidFill>
                  <a:srgbClr val="0F172A"/>
                </a:solidFill>
                <a:latin typeface="Calibri"/>
              </a:rPr>
              <a:t>Dr. Lokesh M R</a:t>
            </a:r>
          </a:p>
          <a:p>
            <a:pPr algn="ctr">
              <a:spcBef>
                <a:spcPts val="0"/>
              </a:spcBef>
              <a:spcAft>
                <a:spcPts val="0"/>
              </a:spcAft>
            </a:pPr>
            <a:r>
              <a:rPr sz="1250" b="0" i="0">
                <a:solidFill>
                  <a:srgbClr val="4B5563"/>
                </a:solidFill>
                <a:latin typeface="Calibri"/>
              </a:rPr>
              <a:t>Professor, Dept. of Information Science &amp; Engineering · A J Institute of Engineering and Technology (AJIET), Mangaluru</a:t>
            </a:r>
          </a:p>
        </p:txBody>
      </p:sp>
      <p:sp>
        <p:nvSpPr>
          <p:cNvPr id="11" name="TextBox 10"/>
          <p:cNvSpPr txBox="1"/>
          <p:nvPr/>
        </p:nvSpPr>
        <p:spPr>
          <a:xfrm>
            <a:off x="914400" y="6419088"/>
            <a:ext cx="10362895" cy="365760"/>
          </a:xfrm>
          <a:prstGeom prst="rect">
            <a:avLst/>
          </a:prstGeom>
          <a:noFill/>
        </p:spPr>
        <p:txBody>
          <a:bodyPr wrap="square" anchor="t" lIns="0" rIns="0" tIns="0" bIns="0">
            <a:spAutoFit/>
          </a:bodyPr>
          <a:lstStyle/>
          <a:p>
            <a:pPr algn="ctr">
              <a:spcBef>
                <a:spcPts val="0"/>
              </a:spcBef>
              <a:spcAft>
                <a:spcPts val="0"/>
              </a:spcAft>
            </a:pPr>
            <a:r>
              <a:rPr sz="1000" b="0" i="0">
                <a:solidFill>
                  <a:srgbClr val="4B5563"/>
                </a:solidFill>
                <a:latin typeface="Calibri"/>
              </a:rPr>
              <a:t>Visvesvaraya Technological University (VTU) · 2025 Scheme · slides derived from the course &amp; lab notes book (same captures, same checks)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COURSE INFORMATION</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The Course at a Glance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a:t>
            </a:r>
          </a:p>
        </p:txBody>
      </p:sp>
      <p:sp>
        <p:nvSpPr>
          <p:cNvPr id="8" name="TextBox 7"/>
          <p:cNvSpPr txBox="1"/>
          <p:nvPr/>
        </p:nvSpPr>
        <p:spPr>
          <a:xfrm>
            <a:off x="502920" y="1554480"/>
            <a:ext cx="5989320" cy="4864607"/>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500" b="1" i="0">
                <a:solidFill>
                  <a:srgbClr val="B3261E"/>
                </a:solidFill>
                <a:latin typeface="Calibri"/>
              </a:rPr>
              <a:t>•  </a:t>
            </a:r>
            <a:r>
              <a:rPr sz="1500" b="0" i="0">
                <a:solidFill>
                  <a:srgbClr val="16181D"/>
                </a:solidFill>
                <a:latin typeface="Calibri"/>
              </a:rPr>
              <a:t>Integrated course: </a:t>
            </a:r>
            <a:r>
              <a:rPr sz="1500" b="1" i="0">
                <a:solidFill>
                  <a:srgbClr val="16181D"/>
                </a:solidFill>
                <a:latin typeface="Calibri"/>
              </a:rPr>
              <a:t>one paper, two halves</a:t>
            </a:r>
            <a:r>
              <a:rPr sz="1500" b="0" i="0">
                <a:solidFill>
                  <a:srgbClr val="16181D"/>
                </a:solidFill>
                <a:latin typeface="Calibri"/>
              </a:rPr>
              <a:t> — theory is CIE+SEE; the lab is CIE only, but its 25 marks decide your eligibility.</a:t>
            </a:r>
          </a:p>
          <a:p>
            <a:pPr marL="201168" indent="-201168">
              <a:lnSpc>
                <a:spcPct val="104000"/>
              </a:lnSpc>
              <a:spcBef>
                <a:spcPts val="0"/>
              </a:spcBef>
              <a:spcAft>
                <a:spcPts val="500"/>
              </a:spcAft>
            </a:pPr>
            <a:r>
              <a:rPr sz="1500" b="1" i="0">
                <a:solidFill>
                  <a:srgbClr val="B3261E"/>
                </a:solidFill>
                <a:latin typeface="Calibri"/>
              </a:rPr>
              <a:t>•  </a:t>
            </a:r>
            <a:r>
              <a:rPr sz="1500" b="0" i="0">
                <a:solidFill>
                  <a:srgbClr val="16181D"/>
                </a:solidFill>
                <a:latin typeface="Calibri"/>
              </a:rPr>
              <a:t>Teaching: </a:t>
            </a:r>
            <a:r>
              <a:rPr sz="1350" b="0" i="0">
                <a:solidFill>
                  <a:srgbClr val="16181D"/>
                </a:solidFill>
                <a:latin typeface="Consolas"/>
              </a:rPr>
              <a:t>3 : 0 : 2</a:t>
            </a:r>
            <a:r>
              <a:rPr sz="1500" b="0" i="0">
                <a:solidFill>
                  <a:srgbClr val="16181D"/>
                </a:solidFill>
                <a:latin typeface="Calibri"/>
              </a:rPr>
              <a:t> hours/week → 42 theory + 28 lab + 50 TW &amp; SL (IDE + Springboard + HackerRank).</a:t>
            </a:r>
          </a:p>
          <a:p>
            <a:pPr marL="201168" indent="-201168">
              <a:lnSpc>
                <a:spcPct val="104000"/>
              </a:lnSpc>
              <a:spcBef>
                <a:spcPts val="0"/>
              </a:spcBef>
              <a:spcAft>
                <a:spcPts val="500"/>
              </a:spcAft>
            </a:pPr>
            <a:r>
              <a:rPr sz="1500" b="1" i="0">
                <a:solidFill>
                  <a:srgbClr val="B3261E"/>
                </a:solidFill>
                <a:latin typeface="Calibri"/>
              </a:rPr>
              <a:t>•  </a:t>
            </a:r>
            <a:r>
              <a:rPr sz="1500" b="0" i="0">
                <a:solidFill>
                  <a:srgbClr val="16181D"/>
                </a:solidFill>
                <a:latin typeface="Calibri"/>
              </a:rPr>
              <a:t>Textbook: </a:t>
            </a:r>
            <a:r>
              <a:rPr sz="1500" b="0" i="1">
                <a:solidFill>
                  <a:srgbClr val="16181D"/>
                </a:solidFill>
                <a:latin typeface="Calibri"/>
              </a:rPr>
              <a:t>Java: The Complete Reference</a:t>
            </a:r>
            <a:r>
              <a:rPr sz="1500" b="0" i="0">
                <a:solidFill>
                  <a:srgbClr val="16181D"/>
                </a:solidFill>
                <a:latin typeface="Calibri"/>
              </a:rPr>
              <a:t>, Schildt &amp; Coward, 13th ed., McGraw-Hill 2024 — module boxes quote its chapters 2–14.</a:t>
            </a:r>
          </a:p>
          <a:p>
            <a:pPr marL="201168" indent="-201168">
              <a:lnSpc>
                <a:spcPct val="104000"/>
              </a:lnSpc>
              <a:spcBef>
                <a:spcPts val="0"/>
              </a:spcBef>
              <a:spcAft>
                <a:spcPts val="500"/>
              </a:spcAft>
            </a:pPr>
            <a:r>
              <a:rPr sz="1500" b="1" i="0">
                <a:solidFill>
                  <a:srgbClr val="B3261E"/>
                </a:solidFill>
                <a:latin typeface="Calibri"/>
              </a:rPr>
              <a:t>•  </a:t>
            </a:r>
            <a:r>
              <a:rPr sz="1500" b="0" i="0">
                <a:solidFill>
                  <a:srgbClr val="16181D"/>
                </a:solidFill>
                <a:latin typeface="Calibri"/>
              </a:rPr>
              <a:t>Language runtime of record: </a:t>
            </a:r>
            <a:r>
              <a:rPr sz="1500" b="1" i="0">
                <a:solidFill>
                  <a:srgbClr val="16181D"/>
                </a:solidFill>
                <a:latin typeface="Calibri"/>
              </a:rPr>
              <a:t>OpenJDK 11</a:t>
            </a:r>
            <a:r>
              <a:rPr sz="1500" b="0" i="0">
                <a:solidFill>
                  <a:srgbClr val="16181D"/>
                </a:solidFill>
                <a:latin typeface="Calibri"/>
              </a:rPr>
              <a:t> — every slide output is the byte-exact capture; sources are Java 8–11 clean, so any current JDK compiles them.</a:t>
            </a:r>
          </a:p>
          <a:p>
            <a:pPr marL="201168" indent="-201168">
              <a:lnSpc>
                <a:spcPct val="104000"/>
              </a:lnSpc>
              <a:spcBef>
                <a:spcPts val="0"/>
              </a:spcBef>
              <a:spcAft>
                <a:spcPts val="500"/>
              </a:spcAft>
            </a:pPr>
            <a:r>
              <a:rPr sz="1500" b="1" i="0">
                <a:solidFill>
                  <a:srgbClr val="B3261E"/>
                </a:solidFill>
                <a:latin typeface="Calibri"/>
              </a:rPr>
              <a:t>•  </a:t>
            </a:r>
            <a:r>
              <a:rPr sz="1500" b="0" i="0">
                <a:solidFill>
                  <a:srgbClr val="16181D"/>
                </a:solidFill>
                <a:latin typeface="Calibri"/>
              </a:rPr>
              <a:t>IDE clause, verbatim: </a:t>
            </a:r>
            <a:r>
              <a:rPr sz="1500" b="0" i="1">
                <a:solidFill>
                  <a:srgbClr val="16181D"/>
                </a:solidFill>
                <a:latin typeface="Calibri"/>
              </a:rPr>
              <a:t>“Make use of the most recent version of the IDE tool for program development.”</a:t>
            </a:r>
            <a:r>
              <a:rPr sz="1500" b="0" i="0">
                <a:solidFill>
                  <a:srgbClr val="16181D"/>
                </a:solidFill>
                <a:latin typeface="Calibri"/>
              </a:rPr>
              <a:t> — book App. A.4 maps both IDEs.</a:t>
            </a:r>
          </a:p>
        </p:txBody>
      </p:sp>
      <p:sp>
        <p:nvSpPr>
          <p:cNvPr id="9" name="Rectangle 8"/>
          <p:cNvSpPr/>
          <p:nvPr/>
        </p:nvSpPr>
        <p:spPr>
          <a:xfrm>
            <a:off x="6720840" y="1554480"/>
            <a:ext cx="4983480" cy="301752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20840" y="1554480"/>
            <a:ext cx="54864" cy="30175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22007" y="1645920"/>
            <a:ext cx="4599432" cy="283463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COURSE OUTCOMES (VERBATIM)</a:t>
            </a:r>
          </a:p>
          <a:p>
            <a:pPr>
              <a:lnSpc>
                <a:spcPct val="108000"/>
              </a:lnSpc>
              <a:spcBef>
                <a:spcPts val="0"/>
              </a:spcBef>
              <a:spcAft>
                <a:spcPts val="0"/>
              </a:spcAft>
            </a:pPr>
            <a:r>
              <a:rPr sz="1050" b="0" i="0">
                <a:solidFill>
                  <a:srgbClr val="16181D"/>
                </a:solidFill>
                <a:latin typeface="Calibri"/>
              </a:rPr>
              <a:t>1. Demonstrate proficiency in writing simple programs involving branching and looping structures.  2. Construct object-oriented solutions using classes, objects, and methods.  3. Develop programs using inheritance, packages, and interfaces.  4. Make use of exception handling and multithreading in solving complex problems.  5. Apply concepts of autoboxing, enumerations, and generics in program development.  6. Choose a suitable IDE tool to design, develop, and debug Java programs.</a:t>
            </a:r>
          </a:p>
        </p:txBody>
      </p:sp>
      <p:sp>
        <p:nvSpPr>
          <p:cNvPr id="12" name="Rectangle 11"/>
          <p:cNvSpPr/>
          <p:nvPr/>
        </p:nvSpPr>
        <p:spPr>
          <a:xfrm>
            <a:off x="6720840" y="4709160"/>
            <a:ext cx="4983480" cy="160020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85431" y="4791456"/>
            <a:ext cx="4654296" cy="143560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HOW TO USE THESE SLIDES</a:t>
            </a:r>
          </a:p>
          <a:p>
            <a:pPr>
              <a:lnSpc>
                <a:spcPct val="105000"/>
              </a:lnSpc>
              <a:spcBef>
                <a:spcPts val="0"/>
              </a:spcBef>
              <a:spcAft>
                <a:spcPts val="320"/>
              </a:spcAft>
            </a:pPr>
            <a:r>
              <a:rPr sz="1250" b="1" i="0">
                <a:solidFill>
                  <a:srgbClr val="16181D"/>
                </a:solidFill>
                <a:latin typeface="Calibri"/>
              </a:rPr>
              <a:t>Every panel is a file read: </a:t>
            </a:r>
            <a:r>
              <a:rPr sz="1150" b="0" i="0">
                <a:solidFill>
                  <a:srgbClr val="16181D"/>
                </a:solidFill>
                <a:latin typeface="Consolas"/>
              </a:rPr>
              <a:t>src/&lt;program&gt;/*.java</a:t>
            </a:r>
            <a:r>
              <a:rPr sz="1250" b="0" i="0">
                <a:solidFill>
                  <a:srgbClr val="16181D"/>
                </a:solidFill>
                <a:latin typeface="Calibri"/>
              </a:rPr>
              <a:t> code, </a:t>
            </a:r>
            <a:r>
              <a:rPr sz="1150" b="0" i="0">
                <a:solidFill>
                  <a:srgbClr val="16181D"/>
                </a:solidFill>
                <a:latin typeface="Consolas"/>
              </a:rPr>
              <a:t>out/&lt;program&gt;.txt</a:t>
            </a:r>
            <a:r>
              <a:rPr sz="1250" b="0" i="0">
                <a:solidFill>
                  <a:srgbClr val="16181D"/>
                </a:solidFill>
                <a:latin typeface="Calibri"/>
              </a:rPr>
              <a:t> captured sessions — identical to the book's.</a:t>
            </a:r>
          </a:p>
          <a:p>
            <a:pPr>
              <a:lnSpc>
                <a:spcPct val="105000"/>
              </a:lnSpc>
              <a:spcBef>
                <a:spcPts val="0"/>
              </a:spcBef>
              <a:spcAft>
                <a:spcPts val="320"/>
              </a:spcAft>
            </a:pPr>
            <a:r>
              <a:rPr sz="1250" b="0" i="0">
                <a:solidFill>
                  <a:srgbClr val="16181D"/>
                </a:solidFill>
                <a:latin typeface="Calibri"/>
              </a:rPr>
              <a:t>Numbers quoted on slides were verified against the captures at build time (self-check pass).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COURSE INFORMATION</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Assessment &amp; the Record — Where Marks Live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a:t>
            </a:r>
          </a:p>
        </p:txBody>
      </p:sp>
      <p:sp>
        <p:nvSpPr>
          <p:cNvPr id="8" name="TextBox 7"/>
          <p:cNvSpPr txBox="1"/>
          <p:nvPr/>
        </p:nvSpPr>
        <p:spPr>
          <a:xfrm>
            <a:off x="502920" y="1572768"/>
            <a:ext cx="5760720" cy="4663440"/>
          </a:xfrm>
          <a:prstGeom prst="rect">
            <a:avLst/>
          </a:prstGeom>
          <a:noFill/>
        </p:spPr>
        <p:txBody>
          <a:bodyPr wrap="square" anchor="t" lIns="0" rIns="0" tIns="0" bIns="0">
            <a:spAutoFit/>
          </a:bodyPr>
          <a:lstStyle/>
          <a:p>
            <a:pPr>
              <a:spcBef>
                <a:spcPts val="0"/>
              </a:spcBef>
              <a:spcAft>
                <a:spcPts val="700"/>
              </a:spcAft>
            </a:pPr>
            <a:r>
              <a:rPr sz="1700" b="1" i="0">
                <a:solidFill>
                  <a:srgbClr val="0F172A"/>
                </a:solidFill>
                <a:latin typeface="Calibri"/>
              </a:rPr>
              <a:t>CIE — 50 marks</a:t>
            </a:r>
          </a:p>
          <a:p>
            <a:pPr>
              <a:spcBef>
                <a:spcPts val="0"/>
              </a:spcBef>
              <a:spcAft>
                <a:spcPts val="600"/>
              </a:spcAft>
            </a:pPr>
            <a:r>
              <a:rPr sz="1450" b="1" i="0">
                <a:solidFill>
                  <a:srgbClr val="16181D"/>
                </a:solidFill>
                <a:latin typeface="Calibri"/>
              </a:rPr>
              <a:t>Theory — 25   </a:t>
            </a:r>
            <a:r>
              <a:rPr sz="1450" b="0" i="0">
                <a:solidFill>
                  <a:srgbClr val="16181D"/>
                </a:solidFill>
                <a:latin typeface="Calibri"/>
              </a:rPr>
              <a:t>two IA tests (after module 2, after module 5); average scaled to 25.</a:t>
            </a:r>
          </a:p>
          <a:p>
            <a:pPr>
              <a:spcBef>
                <a:spcPts val="0"/>
              </a:spcBef>
              <a:spcAft>
                <a:spcPts val="600"/>
              </a:spcAft>
            </a:pPr>
            <a:r>
              <a:rPr sz="1450" b="1" i="0">
                <a:solidFill>
                  <a:srgbClr val="16181D"/>
                </a:solidFill>
                <a:latin typeface="Calibri"/>
              </a:rPr>
              <a:t>Practical — 15   </a:t>
            </a:r>
            <a:r>
              <a:rPr sz="1450" b="0" i="0">
                <a:solidFill>
                  <a:srgbClr val="16181D"/>
                </a:solidFill>
                <a:latin typeface="Calibri"/>
              </a:rPr>
              <a:t>the RECORD: each experiment out of 30 via six rubric rows; total scaled to 15.</a:t>
            </a:r>
          </a:p>
          <a:p>
            <a:pPr>
              <a:spcBef>
                <a:spcPts val="0"/>
              </a:spcBef>
              <a:spcAft>
                <a:spcPts val="600"/>
              </a:spcAft>
            </a:pPr>
            <a:r>
              <a:rPr sz="1450" b="1" i="0">
                <a:solidFill>
                  <a:srgbClr val="16181D"/>
                </a:solidFill>
                <a:latin typeface="Calibri"/>
              </a:rPr>
              <a:t>Practical — 10   </a:t>
            </a:r>
            <a:r>
              <a:rPr sz="1450" b="0" i="0">
                <a:solidFill>
                  <a:srgbClr val="16181D"/>
                </a:solidFill>
                <a:latin typeface="Calibri"/>
              </a:rPr>
              <a:t>LAB TEST: 3 h, one experiment (micro project excluded), 50 → 10.</a:t>
            </a:r>
          </a:p>
          <a:p>
            <a:pPr>
              <a:spcBef>
                <a:spcPts val="700"/>
              </a:spcBef>
              <a:spcAft>
                <a:spcPts val="500"/>
              </a:spcAft>
            </a:pPr>
            <a:r>
              <a:rPr sz="1700" b="1" i="0">
                <a:solidFill>
                  <a:srgbClr val="0F172A"/>
                </a:solidFill>
                <a:latin typeface="Calibri"/>
              </a:rPr>
              <a:t>SEE — 50 marks</a:t>
            </a:r>
          </a:p>
          <a:p>
            <a:pPr>
              <a:spcBef>
                <a:spcPts val="0"/>
              </a:spcBef>
              <a:spcAft>
                <a:spcPts val="700"/>
              </a:spcAft>
            </a:pPr>
            <a:r>
              <a:rPr sz="1450" b="0" i="0">
                <a:solidFill>
                  <a:srgbClr val="16181D"/>
                </a:solidFill>
                <a:latin typeface="Calibri"/>
              </a:rPr>
              <a:t>3-hour theory paper, all five modules.</a:t>
            </a:r>
          </a:p>
          <a:p>
            <a:pPr>
              <a:spcBef>
                <a:spcPts val="0"/>
              </a:spcBef>
              <a:spcAft>
                <a:spcPts val="500"/>
              </a:spcAft>
            </a:pPr>
            <a:r>
              <a:rPr sz="1350" b="1" i="0">
                <a:solidFill>
                  <a:srgbClr val="16181D"/>
                </a:solidFill>
                <a:latin typeface="Calibri"/>
              </a:rPr>
              <a:t>The record arithmetic, verbatim: </a:t>
            </a:r>
            <a:r>
              <a:rPr sz="1250" b="0" i="1">
                <a:solidFill>
                  <a:srgbClr val="16181D"/>
                </a:solidFill>
                <a:latin typeface="Calibri"/>
              </a:rPr>
              <a:t>“Each experiment (1 to 10) will be evaluated for 30 marks (total 300), and the micro-project for 120 marks. Total marks (420) shall be scaled down to 15.”</a:t>
            </a:r>
          </a:p>
          <a:p>
            <a:pPr>
              <a:spcBef>
                <a:spcPts val="0"/>
              </a:spcBef>
              <a:spcAft>
                <a:spcPts val="0"/>
              </a:spcAft>
            </a:pPr>
            <a:r>
              <a:rPr sz="1300" b="0" i="0">
                <a:solidFill>
                  <a:srgbClr val="16181D"/>
                </a:solidFill>
                <a:latin typeface="Calibri"/>
              </a:rPr>
              <a:t>Six rubric criteria × 5 = 30 per report: knowledge · design · implementation · debug &amp; test · results · documentation.</a:t>
            </a:r>
          </a:p>
        </p:txBody>
      </p:sp>
      <p:sp>
        <p:nvSpPr>
          <p:cNvPr id="9" name="Rectangle 8"/>
          <p:cNvSpPr/>
          <p:nvPr/>
        </p:nvSpPr>
        <p:spPr>
          <a:xfrm>
            <a:off x="6492240" y="1572768"/>
            <a:ext cx="5212080" cy="26060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1572768"/>
            <a:ext cx="54864" cy="26060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93407" y="1664208"/>
            <a:ext cx="4828032" cy="24231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ELIGIBILITY &amp; PASS GATES (VERBATIM FIGURES)</a:t>
            </a:r>
          </a:p>
          <a:p>
            <a:pPr>
              <a:lnSpc>
                <a:spcPct val="108000"/>
              </a:lnSpc>
              <a:spcBef>
                <a:spcPts val="0"/>
              </a:spcBef>
              <a:spcAft>
                <a:spcPts val="0"/>
              </a:spcAft>
            </a:pPr>
            <a:r>
              <a:rPr sz="1150" b="0" i="0">
                <a:solidFill>
                  <a:srgbClr val="16181D"/>
                </a:solidFill>
                <a:latin typeface="Calibri"/>
              </a:rPr>
              <a:t>To qualify for SEE: at least 40% of 25 (10 marks) in CIE theory AND 40% of 25 (10) in CIE practical. To pass the SEE: 35% of 50 = 18. Completion: CIE + SEE ≥ 40/100 — else grade F.</a:t>
            </a:r>
          </a:p>
        </p:txBody>
      </p:sp>
      <p:sp>
        <p:nvSpPr>
          <p:cNvPr id="12" name="Rectangle 11"/>
          <p:cNvSpPr/>
          <p:nvPr/>
        </p:nvSpPr>
        <p:spPr>
          <a:xfrm>
            <a:off x="6492240" y="4343400"/>
            <a:ext cx="5212080" cy="196596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6831" y="4425696"/>
            <a:ext cx="4882896" cy="180136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THE RECORD PAGE = THE RUBRIC PAGE</a:t>
            </a:r>
          </a:p>
          <a:p>
            <a:pPr>
              <a:lnSpc>
                <a:spcPct val="105000"/>
              </a:lnSpc>
              <a:spcBef>
                <a:spcPts val="0"/>
              </a:spcBef>
              <a:spcAft>
                <a:spcPts val="320"/>
              </a:spcAft>
            </a:pPr>
            <a:r>
              <a:rPr sz="1200" b="0" i="0">
                <a:solidFill>
                  <a:srgbClr val="16181D"/>
                </a:solidFill>
                <a:latin typeface="Calibri"/>
              </a:rPr>
              <a:t>Each chapter in the book is already shaped to the six rows — aim verbatim, approach, code, transcript with guard runs, numbered observations, conclusion.</a:t>
            </a:r>
          </a:p>
          <a:p>
            <a:pPr>
              <a:lnSpc>
                <a:spcPct val="105000"/>
              </a:lnSpc>
              <a:spcBef>
                <a:spcPts val="0"/>
              </a:spcBef>
              <a:spcAft>
                <a:spcPts val="320"/>
              </a:spcAft>
            </a:pPr>
            <a:r>
              <a:rPr sz="1200" b="0" i="0">
                <a:solidFill>
                  <a:srgbClr val="16181D"/>
                </a:solidFill>
                <a:latin typeface="Calibri"/>
              </a:rPr>
              <a:t>Transcripts earn the two hardest rows (debug &amp; test, results): a run for </a:t>
            </a:r>
            <a:r>
              <a:rPr sz="1200" b="0" i="1">
                <a:solidFill>
                  <a:srgbClr val="16181D"/>
                </a:solidFill>
                <a:latin typeface="Calibri"/>
              </a:rPr>
              <a:t>every</a:t>
            </a:r>
            <a:r>
              <a:rPr sz="1200" b="0" i="0">
                <a:solidFill>
                  <a:srgbClr val="16181D"/>
                </a:solidFill>
                <a:latin typeface="Calibri"/>
              </a:rPr>
              <a:t> data set the question allows.</a:t>
            </a:r>
          </a:p>
          <a:p>
            <a:pPr>
              <a:lnSpc>
                <a:spcPct val="105000"/>
              </a:lnSpc>
              <a:spcBef>
                <a:spcPts val="0"/>
              </a:spcBef>
              <a:spcAft>
                <a:spcPts val="320"/>
              </a:spcAft>
            </a:pPr>
            <a:r>
              <a:rPr sz="1200" b="0" i="0">
                <a:solidFill>
                  <a:srgbClr val="16181D"/>
                </a:solidFill>
                <a:latin typeface="Calibri"/>
              </a:rPr>
              <a:t>Lab-test viva weight (2 marks of 10): every chapter ends with model answers.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400"/>
              </a:spcAft>
            </a:pPr>
            <a:r>
              <a:rPr sz="1300" b="1" i="0">
                <a:solidFill>
                  <a:srgbClr val="4B5563"/>
                </a:solidFill>
                <a:latin typeface="Calibri"/>
              </a:rPr>
              <a:t>P A R T</a:t>
            </a:r>
          </a:p>
        </p:txBody>
      </p:sp>
      <p:sp>
        <p:nvSpPr>
          <p:cNvPr id="3" name="TextBox 2"/>
          <p:cNvSpPr txBox="1"/>
          <p:nvPr/>
        </p:nvSpPr>
        <p:spPr>
          <a:xfrm>
            <a:off x="914400" y="914400"/>
            <a:ext cx="10362895" cy="2011680"/>
          </a:xfrm>
          <a:prstGeom prst="rect">
            <a:avLst/>
          </a:prstGeom>
          <a:noFill/>
        </p:spPr>
        <p:txBody>
          <a:bodyPr wrap="square" anchor="t" lIns="0" rIns="0" tIns="0" bIns="0">
            <a:spAutoFit/>
          </a:bodyPr>
          <a:lstStyle/>
          <a:p>
            <a:pPr algn="ctr">
              <a:spcBef>
                <a:spcPts val="0"/>
              </a:spcBef>
              <a:spcAft>
                <a:spcPts val="400"/>
              </a:spcAft>
            </a:pPr>
            <a:r>
              <a:rPr sz="15000" b="1" i="0">
                <a:solidFill>
                  <a:srgbClr val="B3261E"/>
                </a:solidFill>
                <a:latin typeface="Calibri"/>
              </a:rPr>
              <a:t>A</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400"/>
              </a:spcAft>
            </a:pPr>
            <a:r>
              <a:rPr sz="3000" b="1" i="0">
                <a:solidFill>
                  <a:srgbClr val="0F172A"/>
                </a:solidFill>
                <a:latin typeface="Calibri"/>
              </a:rPr>
              <a:t>Theory — Modules 1 to 5</a:t>
            </a:r>
          </a:p>
        </p:txBody>
      </p:sp>
      <p:sp>
        <p:nvSpPr>
          <p:cNvPr id="6" name="TextBox 5"/>
          <p:cNvSpPr txBox="1"/>
          <p:nvPr/>
        </p:nvSpPr>
        <p:spPr>
          <a:xfrm>
            <a:off x="1737360" y="4114800"/>
            <a:ext cx="8716975" cy="960120"/>
          </a:xfrm>
          <a:prstGeom prst="rect">
            <a:avLst/>
          </a:prstGeom>
          <a:noFill/>
        </p:spPr>
        <p:txBody>
          <a:bodyPr wrap="square" anchor="t" lIns="0" rIns="0" tIns="0" bIns="0">
            <a:spAutoFit/>
          </a:bodyPr>
          <a:lstStyle/>
          <a:p>
            <a:pPr algn="ctr">
              <a:spcBef>
                <a:spcPts val="0"/>
              </a:spcBef>
              <a:spcAft>
                <a:spcPts val="400"/>
              </a:spcAft>
            </a:pPr>
            <a:r>
              <a:rPr sz="1400" b="0" i="0">
                <a:solidFill>
                  <a:srgbClr val="4B5563"/>
                </a:solidFill>
                <a:latin typeface="Calibri"/>
              </a:rPr>
              <a:t>Every syllabus line taught through programs compiled and run for the book — each module: topics with the verbatim text, two rule slides quoting real output, the demo's captured session, and checkpoint questions in IA shape.</a:t>
            </a:r>
          </a:p>
        </p:txBody>
      </p:sp>
      <p:sp>
        <p:nvSpPr>
          <p:cNvPr id="7" name="Rectangle 6"/>
          <p:cNvSpPr/>
          <p:nvPr/>
        </p:nvSpPr>
        <p:spPr>
          <a:xfrm>
            <a:off x="1706727" y="4820094"/>
            <a:ext cx="8778240" cy="1626425"/>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44471" y="4938966"/>
            <a:ext cx="8449056" cy="1406969"/>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IN THIS PART</a:t>
            </a:r>
          </a:p>
          <a:p>
            <a:pPr>
              <a:spcBef>
                <a:spcPts val="0"/>
              </a:spcBef>
              <a:spcAft>
                <a:spcPts val="160"/>
              </a:spcAft>
            </a:pPr>
            <a:r>
              <a:rPr sz="1250" b="1" i="0">
                <a:solidFill>
                  <a:srgbClr val="B3261E"/>
                </a:solidFill>
                <a:latin typeface="Calibri"/>
              </a:rPr>
              <a:t>•  </a:t>
            </a:r>
            <a:r>
              <a:rPr sz="1250" b="0" i="0">
                <a:solidFill>
                  <a:srgbClr val="16181D"/>
                </a:solidFill>
                <a:latin typeface="Calibri"/>
              </a:rPr>
              <a:t>Module 1 — An Overview of Java, Data Types, Operators…</a:t>
            </a:r>
          </a:p>
          <a:p>
            <a:pPr>
              <a:spcBef>
                <a:spcPts val="0"/>
              </a:spcBef>
              <a:spcAft>
                <a:spcPts val="160"/>
              </a:spcAft>
            </a:pPr>
            <a:r>
              <a:rPr sz="1250" b="1" i="0">
                <a:solidFill>
                  <a:srgbClr val="B3261E"/>
                </a:solidFill>
                <a:latin typeface="Calibri"/>
              </a:rPr>
              <a:t>•  </a:t>
            </a:r>
            <a:r>
              <a:rPr sz="1250" b="0" i="0">
                <a:solidFill>
                  <a:srgbClr val="16181D"/>
                </a:solidFill>
                <a:latin typeface="Calibri"/>
              </a:rPr>
              <a:t>Module 2 — Classes and Methods</a:t>
            </a:r>
          </a:p>
          <a:p>
            <a:pPr>
              <a:spcBef>
                <a:spcPts val="0"/>
              </a:spcBef>
              <a:spcAft>
                <a:spcPts val="160"/>
              </a:spcAft>
            </a:pPr>
            <a:r>
              <a:rPr sz="1250" b="1" i="0">
                <a:solidFill>
                  <a:srgbClr val="B3261E"/>
                </a:solidFill>
                <a:latin typeface="Calibri"/>
              </a:rPr>
              <a:t>•  </a:t>
            </a:r>
            <a:r>
              <a:rPr sz="1250" b="0" i="0">
                <a:solidFill>
                  <a:srgbClr val="16181D"/>
                </a:solidFill>
                <a:latin typeface="Calibri"/>
              </a:rPr>
              <a:t>Module 3 — Inheritance, Packages and Interfaces</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400"/>
              </a:spcAft>
            </a:pPr>
            <a:r>
              <a:rPr sz="1000" b="1" i="0">
                <a:solidFill>
                  <a:srgbClr val="4B5563"/>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1 — An Overview of Java, Data Types, Operators and Control Statements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CO1 — branching &amp; looping proficiency</a:t>
            </a:r>
            <a:r>
              <a:rPr sz="1300" b="0" i="0">
                <a:solidFill>
                  <a:srgbClr val="4B5563"/>
                </a:solidFill>
                <a:latin typeface="Calibri"/>
              </a:rPr>
              <a:t>    ·    Number of Hours: 9 · Textbook: Chapters 2, 3, 4, 5</a:t>
            </a:r>
            <a:r>
              <a:rPr sz="1250" b="0" i="0">
                <a:solidFill>
                  <a:srgbClr val="4B5563"/>
                </a:solidFill>
                <a:latin typeface="Calibri"/>
              </a:rPr>
              <a:t>    ·    Textbook: Chapters 2, 3, 4, 5 — Number of Hours: 9</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OOP of Java: two paradigms · abstraction · three principles · blocks</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Lexical: whitespace · identifiers · literals · comments · separators · keywords</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Types: 8 primitives · conversion &amp; casting · promotion · arrays</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Operators: arithmetic · relational · boolean logic · assignment · ? · precedence</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Control: if · traditional switch · while/do-while/for/for-each · var in for · break/continue/return</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MODULE-1 SYLLABUS (VERBATIM)</a:t>
            </a:r>
          </a:p>
          <a:p>
            <a:pPr>
              <a:lnSpc>
                <a:spcPct val="108000"/>
              </a:lnSpc>
              <a:spcBef>
                <a:spcPts val="0"/>
              </a:spcBef>
              <a:spcAft>
                <a:spcPts val="0"/>
              </a:spcAft>
            </a:pPr>
            <a:r>
              <a:rPr sz="1050" b="0" i="0">
                <a:solidFill>
                  <a:srgbClr val="16181D"/>
                </a:solidFill>
                <a:latin typeface="Calibri"/>
              </a:rPr>
              <a:t>An Overview of Java: Object-Oriented Programming (Two Paradigms, Abstraction, The Three OOP Principles), Using Blocks of Code, Lexical Issues (Whitespace, Identifiers, Literals, Comments, Separators, The Java Keywords). Data Types, Variables, and Arrays: The Primitive Types (Integers, Floating-Point Types, Characters, Booleans), Variables, Type Conversion and Casting, Automatic Type Promotion in Expressions, Arrays. Operators: Arithmetic Operators, Relational Operators, Boolean Logical Operators, The Assignment Operator, The ? Operator, Operator Precedence, Using Parentheses. Control Statements: Java’s Selection Statements (if, The Traditional switch), Iteration Statements (while, do-while, for, The For-Each Version of the for Loop, Local Variable Type Inference in a for Loop, Nested Loops), Jump Statements (Using break, Using continue, return).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The language level: what javac accepts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Every statement lives in a class; </a:t>
            </a:r>
            <a:r>
              <a:rPr sz="1300" b="0" i="0">
                <a:solidFill>
                  <a:srgbClr val="16181D"/>
                </a:solidFill>
                <a:latin typeface="Consolas"/>
              </a:rPr>
              <a:t>main</a:t>
            </a:r>
            <a:r>
              <a:rPr sz="1450" b="0" i="0">
                <a:solidFill>
                  <a:srgbClr val="16181D"/>
                </a:solidFill>
                <a:latin typeface="Calibri"/>
              </a:rPr>
              <a:t> is the entry method the JVM calls. No bare functions.</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A block opens scope: variables die at the closing brace — the demo's </a:t>
            </a:r>
            <a:r>
              <a:rPr sz="1300" b="0" i="0">
                <a:solidFill>
                  <a:srgbClr val="16181D"/>
                </a:solidFill>
                <a:latin typeface="Consolas"/>
              </a:rPr>
              <a:t>step</a:t>
            </a:r>
            <a:r>
              <a:rPr sz="1450" b="0" i="0">
                <a:solidFill>
                  <a:srgbClr val="16181D"/>
                </a:solidFill>
                <a:latin typeface="Calibri"/>
              </a:rPr>
              <a:t> exists only inside its </a:t>
            </a:r>
            <a:r>
              <a:rPr sz="1300" b="0" i="0">
                <a:solidFill>
                  <a:srgbClr val="16181D"/>
                </a:solidFill>
                <a:latin typeface="Consolas"/>
              </a:rPr>
              <a:t>{ }</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Literals, four spellings of one value — the session prints </a:t>
            </a:r>
            <a:r>
              <a:rPr sz="1300" b="0" i="0">
                <a:solidFill>
                  <a:srgbClr val="B3261E"/>
                </a:solidFill>
                <a:latin typeface="Consolas"/>
              </a:rPr>
              <a:t>42/42/42/42</a:t>
            </a:r>
            <a:r>
              <a:rPr sz="1450" b="0" i="0">
                <a:solidFill>
                  <a:srgbClr val="16181D"/>
                </a:solidFill>
                <a:latin typeface="Calibri"/>
              </a:rPr>
              <a:t> for decimal, hex 0x2A, binary 0b101010, octal 052.</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Underscores only group digits: </a:t>
            </a:r>
            <a:r>
              <a:rPr sz="1300" b="0" i="0">
                <a:solidFill>
                  <a:srgbClr val="16181D"/>
                </a:solidFill>
                <a:latin typeface="Consolas"/>
              </a:rPr>
              <a:t>100_000_000_000L</a:t>
            </a:r>
            <a:r>
              <a:rPr sz="1450" b="0" i="0">
                <a:solidFill>
                  <a:srgbClr val="16181D"/>
                </a:solidFill>
                <a:latin typeface="Calibri"/>
              </a:rPr>
              <a:t> prints 100000000000.</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Char literals are Unicode: </a:t>
            </a:r>
            <a:r>
              <a:rPr sz="1300" b="0" i="0">
                <a:solidFill>
                  <a:srgbClr val="16181D"/>
                </a:solidFill>
                <a:latin typeface="Consolas"/>
              </a:rPr>
              <a:t>'A' == '\u0041' → true</a:t>
            </a:r>
            <a:r>
              <a:rPr sz="1450" b="0" i="0">
                <a:solidFill>
                  <a:srgbClr val="16181D"/>
                </a:solidFill>
                <a:latin typeface="Calibri"/>
              </a:rPr>
              <a:t>; comments and separators carry zero runtime cost.</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src/t1_overview/</a:t>
            </a:r>
          </a:p>
        </p:txBody>
      </p:sp>
      <p:sp>
        <p:nvSpPr>
          <p:cNvPr id="12" name="TextBox 11"/>
          <p:cNvSpPr txBox="1"/>
          <p:nvPr/>
        </p:nvSpPr>
        <p:spPr>
          <a:xfrm>
            <a:off x="7388352" y="2002536"/>
            <a:ext cx="4169664" cy="4279392"/>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 src/t1_overview/Main.java ———</a:t>
            </a:r>
          </a:p>
          <a:p>
            <a:pPr>
              <a:lnSpc>
                <a:spcPct val="100000"/>
              </a:lnSpc>
              <a:spcBef>
                <a:spcPts val="0"/>
              </a:spcBef>
              <a:spcAft>
                <a:spcPts val="60"/>
              </a:spcAft>
            </a:pPr>
            <a:r>
              <a:rPr sz="640" b="0" i="0">
                <a:solidFill>
                  <a:srgbClr val="E5E7EB"/>
                </a:solidFill>
                <a:latin typeface="Consolas"/>
              </a:rPr>
              <a:t>// Module 1, demo 1 -- anatomy of a first Java program: a class, a main</a:t>
            </a:r>
          </a:p>
          <a:p>
            <a:pPr>
              <a:lnSpc>
                <a:spcPct val="100000"/>
              </a:lnSpc>
              <a:spcBef>
                <a:spcPts val="0"/>
              </a:spcBef>
              <a:spcAft>
                <a:spcPts val="60"/>
              </a:spcAft>
            </a:pPr>
            <a:r>
              <a:rPr sz="640" b="0" i="0">
                <a:solidFill>
                  <a:srgbClr val="E5E7EB"/>
                </a:solidFill>
                <a:latin typeface="Consolas"/>
              </a:rPr>
              <a:t>// entry point, blocks (scope), and the lexical elements of the language:</a:t>
            </a:r>
          </a:p>
          <a:p>
            <a:pPr>
              <a:lnSpc>
                <a:spcPct val="100000"/>
              </a:lnSpc>
              <a:spcBef>
                <a:spcPts val="0"/>
              </a:spcBef>
              <a:spcAft>
                <a:spcPts val="60"/>
              </a:spcAft>
            </a:pPr>
            <a:r>
              <a:rPr sz="640" b="0" i="0">
                <a:solidFill>
                  <a:srgbClr val="E5E7EB"/>
                </a:solidFill>
                <a:latin typeface="Consolas"/>
              </a:rPr>
              <a:t>// whitespace, identifiers, literals, comments and separators.</a:t>
            </a:r>
          </a:p>
          <a:p>
            <a:pPr>
              <a:lnSpc>
                <a:spcPct val="100000"/>
              </a:lnSpc>
              <a:spcBef>
                <a:spcPts val="0"/>
              </a:spcBef>
              <a:spcAft>
                <a:spcPts val="60"/>
              </a:spcAft>
            </a:pPr>
            <a:r>
              <a:rPr sz="640" b="0" i="0">
                <a:solidFill>
                  <a:srgbClr val="E5E7EB"/>
                </a:solidFill>
                <a:latin typeface="Consolas"/>
              </a:rPr>
              <a:t>public class Main {</a:t>
            </a:r>
          </a:p>
          <a:p>
            <a:pPr>
              <a:lnSpc>
                <a:spcPct val="100000"/>
              </a:lnSpc>
              <a:spcBef>
                <a:spcPts val="0"/>
              </a:spcBef>
              <a:spcAft>
                <a:spcPts val="60"/>
              </a:spcAft>
            </a:pPr>
            <a:r>
              <a:rPr sz="640" b="0" i="0">
                <a:solidFill>
                  <a:srgbClr val="E5E7EB"/>
                </a:solidFill>
                <a:latin typeface="Consolas"/>
              </a:rPr>
              <a:t>    public static void main(String[] args) {</a:t>
            </a:r>
          </a:p>
          <a:p>
            <a:pPr>
              <a:lnSpc>
                <a:spcPct val="100000"/>
              </a:lnSpc>
              <a:spcBef>
                <a:spcPts val="0"/>
              </a:spcBef>
              <a:spcAft>
                <a:spcPts val="60"/>
              </a:spcAft>
            </a:pPr>
            <a:r>
              <a:rPr sz="640" b="0" i="0">
                <a:solidFill>
                  <a:srgbClr val="E5E7EB"/>
                </a:solidFill>
                <a:latin typeface="Consolas"/>
              </a:rPr>
              <a:t>        // ---- blocks: every pair of braces opens a new scope -----------</a:t>
            </a:r>
          </a:p>
          <a:p>
            <a:pPr>
              <a:lnSpc>
                <a:spcPct val="100000"/>
              </a:lnSpc>
              <a:spcBef>
                <a:spcPts val="0"/>
              </a:spcBef>
              <a:spcAft>
                <a:spcPts val="60"/>
              </a:spcAft>
            </a:pPr>
            <a:r>
              <a:rPr sz="640" b="0" i="0">
                <a:solidFill>
                  <a:srgbClr val="E5E7EB"/>
                </a:solidFill>
                <a:latin typeface="Consolas"/>
              </a:rPr>
              <a:t>        int total = 0;</a:t>
            </a:r>
          </a:p>
          <a:p>
            <a:pPr>
              <a:lnSpc>
                <a:spcPct val="100000"/>
              </a:lnSpc>
              <a:spcBef>
                <a:spcPts val="0"/>
              </a:spcBef>
              <a:spcAft>
                <a:spcPts val="60"/>
              </a:spcAft>
            </a:pPr>
            <a:r>
              <a:rPr sz="640" b="0" i="0">
                <a:solidFill>
                  <a:srgbClr val="E5E7EB"/>
                </a:solidFill>
                <a:latin typeface="Consolas"/>
              </a:rPr>
              <a:t>        {                       // inner block</a:t>
            </a:r>
          </a:p>
          <a:p>
            <a:pPr>
              <a:lnSpc>
                <a:spcPct val="100000"/>
              </a:lnSpc>
              <a:spcBef>
                <a:spcPts val="0"/>
              </a:spcBef>
              <a:spcAft>
                <a:spcPts val="60"/>
              </a:spcAft>
            </a:pPr>
            <a:r>
              <a:rPr sz="640" b="0" i="0">
                <a:solidFill>
                  <a:srgbClr val="E5E7EB"/>
                </a:solidFill>
                <a:latin typeface="Consolas"/>
              </a:rPr>
              <a:t>            int step = 2;       // 'step' lives only inside these braces</a:t>
            </a:r>
          </a:p>
          <a:p>
            <a:pPr>
              <a:lnSpc>
                <a:spcPct val="100000"/>
              </a:lnSpc>
              <a:spcBef>
                <a:spcPts val="0"/>
              </a:spcBef>
              <a:spcAft>
                <a:spcPts val="60"/>
              </a:spcAft>
            </a:pPr>
            <a:r>
              <a:rPr sz="640" b="0" i="0">
                <a:solidFill>
                  <a:srgbClr val="E5E7EB"/>
                </a:solidFill>
                <a:latin typeface="Consolas"/>
              </a:rPr>
              <a:t>            for (int i = 1; i &lt;= 5; i = i + step) {</a:t>
            </a:r>
          </a:p>
          <a:p>
            <a:pPr>
              <a:lnSpc>
                <a:spcPct val="100000"/>
              </a:lnSpc>
              <a:spcBef>
                <a:spcPts val="0"/>
              </a:spcBef>
              <a:spcAft>
                <a:spcPts val="60"/>
              </a:spcAft>
            </a:pPr>
            <a:r>
              <a:rPr sz="640" b="0" i="0">
                <a:solidFill>
                  <a:srgbClr val="E5E7EB"/>
                </a:solidFill>
                <a:latin typeface="Consolas"/>
              </a:rPr>
              <a:t>                total += i;</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 step is NOT visible here; using it would be a compile error</a:t>
            </a:r>
          </a:p>
          <a:p>
            <a:pPr>
              <a:lnSpc>
                <a:spcPct val="100000"/>
              </a:lnSpc>
              <a:spcBef>
                <a:spcPts val="0"/>
              </a:spcBef>
              <a:spcAft>
                <a:spcPts val="60"/>
              </a:spcAft>
            </a:pPr>
            <a:r>
              <a:rPr sz="640" b="0" i="0">
                <a:solidFill>
                  <a:srgbClr val="E5E7EB"/>
                </a:solidFill>
                <a:latin typeface="Consolas"/>
              </a:rPr>
              <a:t>        System.out.println("Sum of 1 + 3 + 5          = " + total);</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 ---- integer literals in four bases ---------------------------</a:t>
            </a:r>
          </a:p>
          <a:p>
            <a:pPr>
              <a:lnSpc>
                <a:spcPct val="100000"/>
              </a:lnSpc>
              <a:spcBef>
                <a:spcPts val="0"/>
              </a:spcBef>
              <a:spcAft>
                <a:spcPts val="60"/>
              </a:spcAft>
            </a:pPr>
            <a:r>
              <a:rPr sz="640" b="0" i="0">
                <a:solidFill>
                  <a:srgbClr val="E5E7EB"/>
                </a:solidFill>
                <a:latin typeface="Consolas"/>
              </a:rPr>
              <a:t>        int dec = 42, hex = 0x2A, bin = 0b101010, oct = 052;</a:t>
            </a:r>
          </a:p>
          <a:p>
            <a:pPr>
              <a:lnSpc>
                <a:spcPct val="100000"/>
              </a:lnSpc>
              <a:spcBef>
                <a:spcPts val="0"/>
              </a:spcBef>
              <a:spcAft>
                <a:spcPts val="60"/>
              </a:spcAft>
            </a:pPr>
            <a:r>
              <a:rPr sz="640" b="0" i="0">
                <a:solidFill>
                  <a:srgbClr val="E5E7EB"/>
                </a:solidFill>
                <a:latin typeface="Consolas"/>
              </a:rPr>
              <a:t>        System.out.println("42 as decimal/hex/binary/octal = " + dec + "/" + hex + "/" + bin + "/" + oct);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 ---- floating, long, char, boolean, String literals ------------</a:t>
            </a:r>
          </a:p>
          <a:p>
            <a:pPr>
              <a:lnSpc>
                <a:spcPct val="100000"/>
              </a:lnSpc>
              <a:spcBef>
                <a:spcPts val="0"/>
              </a:spcBef>
              <a:spcAft>
                <a:spcPts val="60"/>
              </a:spcAft>
            </a:pPr>
            <a:r>
              <a:rPr sz="640" b="0" i="0">
                <a:solidFill>
                  <a:srgbClr val="E5E7EB"/>
                </a:solidFill>
                <a:latin typeface="Consolas"/>
              </a:rPr>
              <a:t>        long   big = 100_000_000_000L;         // underscores for readability</a:t>
            </a:r>
          </a:p>
          <a:p>
            <a:pPr>
              <a:lnSpc>
                <a:spcPct val="100000"/>
              </a:lnSpc>
              <a:spcBef>
                <a:spcPts val="0"/>
              </a:spcBef>
              <a:spcAft>
                <a:spcPts val="60"/>
              </a:spcAft>
            </a:pPr>
            <a:r>
              <a:rPr sz="640" b="0" i="0">
                <a:solidFill>
                  <a:srgbClr val="E5E7EB"/>
                </a:solidFill>
                <a:latin typeface="Consolas"/>
              </a:rPr>
              <a:t>        double flt = 3.14159, sci = 6.02e23;</a:t>
            </a:r>
          </a:p>
          <a:p>
            <a:pPr>
              <a:lnSpc>
                <a:spcPct val="100000"/>
              </a:lnSpc>
              <a:spcBef>
                <a:spcPts val="0"/>
              </a:spcBef>
              <a:spcAft>
                <a:spcPts val="60"/>
              </a:spcAft>
            </a:pPr>
            <a:r>
              <a:rPr sz="640" b="0" i="0">
                <a:solidFill>
                  <a:srgbClr val="E5E7EB"/>
                </a:solidFill>
                <a:latin typeface="Consolas"/>
              </a:rPr>
              <a:t>        char   ch  = 'A', uni = '\u0041';       // unicode escape for 'A'</a:t>
            </a:r>
          </a:p>
          <a:p>
            <a:pPr>
              <a:lnSpc>
                <a:spcPct val="100000"/>
              </a:lnSpc>
              <a:spcBef>
                <a:spcPts val="0"/>
              </a:spcBef>
              <a:spcAft>
                <a:spcPts val="60"/>
              </a:spcAft>
            </a:pPr>
            <a:r>
              <a:rPr sz="640" b="0" i="0">
                <a:solidFill>
                  <a:srgbClr val="E5E7EB"/>
                </a:solidFill>
                <a:latin typeface="Consolas"/>
              </a:rPr>
              <a:t>        boolean ok = true;</a:t>
            </a:r>
          </a:p>
          <a:p>
            <a:pPr>
              <a:lnSpc>
                <a:spcPct val="100000"/>
              </a:lnSpc>
              <a:spcBef>
                <a:spcPts val="0"/>
              </a:spcBef>
              <a:spcAft>
                <a:spcPts val="60"/>
              </a:spcAft>
            </a:pPr>
            <a:r>
              <a:rPr sz="640" b="0" i="0">
                <a:solidFill>
                  <a:srgbClr val="E5E7EB"/>
                </a:solidFill>
                <a:latin typeface="Consolas"/>
              </a:rPr>
              <a:t>        System.out.println("long with underscores    = " + big);</a:t>
            </a:r>
          </a:p>
          <a:p>
            <a:pPr>
              <a:lnSpc>
                <a:spcPct val="100000"/>
              </a:lnSpc>
              <a:spcBef>
                <a:spcPts val="0"/>
              </a:spcBef>
              <a:spcAft>
                <a:spcPts val="60"/>
              </a:spcAft>
            </a:pPr>
            <a:r>
              <a:rPr sz="640" b="0" i="0">
                <a:solidFill>
                  <a:srgbClr val="E5E7EB"/>
                </a:solidFill>
                <a:latin typeface="Consolas"/>
              </a:rPr>
              <a:t>        System.out.println("double + scientific      = " + flt + " / " + sci);</a:t>
            </a:r>
          </a:p>
          <a:p>
            <a:pPr>
              <a:lnSpc>
                <a:spcPct val="100000"/>
              </a:lnSpc>
              <a:spcBef>
                <a:spcPts val="0"/>
              </a:spcBef>
              <a:spcAft>
                <a:spcPts val="60"/>
              </a:spcAft>
            </a:pPr>
            <a:r>
              <a:rPr sz="640" b="0" i="0">
                <a:solidFill>
                  <a:srgbClr val="E5E7EB"/>
                </a:solidFill>
                <a:latin typeface="Consolas"/>
              </a:rPr>
              <a:t>        System.out.println("char 'A' vs \\u0041        = same: " + (ch == uni));</a:t>
            </a:r>
          </a:p>
          <a:p>
            <a:pPr>
              <a:lnSpc>
                <a:spcPct val="100000"/>
              </a:lnSpc>
              <a:spcBef>
                <a:spcPts val="0"/>
              </a:spcBef>
              <a:spcAft>
                <a:spcPts val="60"/>
              </a:spcAft>
            </a:pPr>
            <a:r>
              <a:rPr sz="640" b="0" i="0">
                <a:solidFill>
                  <a:srgbClr val="E5E7EB"/>
                </a:solidFill>
                <a:latin typeface="Consolas"/>
              </a:rPr>
              <a:t>        System.out.println("boolean ok               = " + ok);</a:t>
            </a:r>
          </a:p>
          <a:p>
            <a:pPr>
              <a:lnSpc>
                <a:spcPct val="100000"/>
              </a:lnSpc>
              <a:spcBef>
                <a:spcPts val="0"/>
              </a:spcBef>
              <a:spcAft>
                <a:spcPts val="60"/>
              </a:spcAft>
            </a:pPr>
            <a:r>
              <a:rPr sz="640" b="0" i="0">
                <a:solidFill>
                  <a:srgbClr val="E5E7EB"/>
                </a:solidFill>
                <a:latin typeface="Consolas"/>
              </a:rPr>
              <a:t>        System.out.println("string concat is a separator party: " + "one" + " " + "two");</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Foundations: types, operators, control</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6</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Integer sizes 1/2/4/8 bytes; the printed bounds: </a:t>
            </a:r>
            <a:r>
              <a:rPr sz="1300" b="0" i="0">
                <a:solidFill>
                  <a:srgbClr val="16181D"/>
                </a:solidFill>
                <a:latin typeface="Consolas"/>
              </a:rPr>
              <a:t>-2147483648 … 2147483647</a:t>
            </a:r>
            <a:r>
              <a:rPr sz="1450" b="0" i="0">
                <a:solidFill>
                  <a:srgbClr val="16181D"/>
                </a:solidFill>
                <a:latin typeface="Calibri"/>
              </a:rPr>
              <a:t> for int.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Casts truncate: </a:t>
            </a:r>
            <a:r>
              <a:rPr sz="1300" b="0" i="0">
                <a:solidFill>
                  <a:srgbClr val="B3261E"/>
                </a:solidFill>
                <a:latin typeface="Consolas"/>
              </a:rPr>
              <a:t>(int) 9.65 = 9</a:t>
            </a:r>
            <a:r>
              <a:rPr sz="1450" b="0" i="0">
                <a:solidFill>
                  <a:srgbClr val="16181D"/>
                </a:solidFill>
                <a:latin typeface="Calibri"/>
              </a:rPr>
              <a:t> — rounding is a method call, not a cast.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Promotion: </a:t>
            </a:r>
            <a:r>
              <a:rPr sz="1250" b="0" i="0">
                <a:solidFill>
                  <a:srgbClr val="B3261E"/>
                </a:solidFill>
                <a:latin typeface="Consolas"/>
              </a:rPr>
              <a:t>byte + byte computed as int = 30</a:t>
            </a:r>
            <a:r>
              <a:rPr sz="1450" b="0" i="0">
                <a:solidFill>
                  <a:srgbClr val="16181D"/>
                </a:solidFill>
                <a:latin typeface="Calibri"/>
              </a:rPr>
              <a:t>; </a:t>
            </a:r>
            <a:r>
              <a:rPr sz="1250" b="0" i="0">
                <a:solidFill>
                  <a:srgbClr val="B3261E"/>
                </a:solidFill>
                <a:latin typeface="Consolas"/>
              </a:rPr>
              <a:t>MAX_VALUE + 1 as int  = -2147483648</a:t>
            </a:r>
            <a:r>
              <a:rPr sz="1450" b="0" i="0">
                <a:solidFill>
                  <a:srgbClr val="16181D"/>
                </a:solidFill>
                <a:latin typeface="Calibri"/>
              </a:rPr>
              <a:t> while </a:t>
            </a:r>
            <a:r>
              <a:rPr sz="1300" b="0" i="0">
                <a:solidFill>
                  <a:srgbClr val="16181D"/>
                </a:solidFill>
                <a:latin typeface="Consolas"/>
              </a:rPr>
              <a:t>+1L</a:t>
            </a:r>
            <a:r>
              <a:rPr sz="1450" b="0" i="0">
                <a:solidFill>
                  <a:srgbClr val="16181D"/>
                </a:solidFill>
                <a:latin typeface="Calibri"/>
              </a:rPr>
              <a:t> = 2147483648.</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Arrays know themselves: </a:t>
            </a:r>
            <a:r>
              <a:rPr sz="1300" b="0" i="0">
                <a:solidFill>
                  <a:srgbClr val="B3261E"/>
                </a:solidFill>
                <a:latin typeface="Consolas"/>
              </a:rPr>
              <a:t>marks.length = 5, sum = 364, max = 92</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Control in one page: ternary, traditional switch, and the loop set — </a:t>
            </a:r>
            <a:r>
              <a:rPr sz="1250" b="0" i="0">
                <a:solidFill>
                  <a:srgbClr val="B3261E"/>
                </a:solidFill>
                <a:latin typeface="Consolas"/>
              </a:rPr>
              <a:t>multiples of 3 up to 15: 5</a:t>
            </a:r>
            <a:r>
              <a:rPr sz="1450" b="0" i="0">
                <a:solidFill>
                  <a:srgbClr val="16181D"/>
                </a:solidFill>
                <a:latin typeface="Calibri"/>
              </a:rPr>
              <a:t> (break+continue), do-while ran once, </a:t>
            </a:r>
            <a:r>
              <a:rPr sz="1300" b="0" i="0">
                <a:solidFill>
                  <a:srgbClr val="16181D"/>
                </a:solidFill>
                <a:latin typeface="Consolas"/>
              </a:rPr>
              <a:t>for (var idx = 0; …)</a:t>
            </a:r>
            <a:r>
              <a:rPr sz="1450" b="0" i="0">
                <a:solidFill>
                  <a:srgbClr val="16181D"/>
                </a:solidFill>
                <a:latin typeface="Calibri"/>
              </a:rPr>
              <a:t> summed 20.</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src/t1_types/</a:t>
            </a:r>
          </a:p>
        </p:txBody>
      </p:sp>
      <p:sp>
        <p:nvSpPr>
          <p:cNvPr id="12" name="TextBox 11"/>
          <p:cNvSpPr txBox="1"/>
          <p:nvPr/>
        </p:nvSpPr>
        <p:spPr>
          <a:xfrm>
            <a:off x="7388352" y="2002536"/>
            <a:ext cx="4169664" cy="4279392"/>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 src/t1_types/Main.java ———</a:t>
            </a:r>
          </a:p>
          <a:p>
            <a:pPr>
              <a:lnSpc>
                <a:spcPct val="100000"/>
              </a:lnSpc>
              <a:spcBef>
                <a:spcPts val="0"/>
              </a:spcBef>
              <a:spcAft>
                <a:spcPts val="60"/>
              </a:spcAft>
            </a:pPr>
            <a:r>
              <a:rPr sz="640" b="0" i="0">
                <a:solidFill>
                  <a:srgbClr val="E5E7EB"/>
                </a:solidFill>
                <a:latin typeface="Consolas"/>
              </a:rPr>
              <a:t>// Module 1, demo 2 -- the eight primitive types, conversion and casting,</a:t>
            </a:r>
          </a:p>
          <a:p>
            <a:pPr>
              <a:lnSpc>
                <a:spcPct val="100000"/>
              </a:lnSpc>
              <a:spcBef>
                <a:spcPts val="0"/>
              </a:spcBef>
              <a:spcAft>
                <a:spcPts val="60"/>
              </a:spcAft>
            </a:pPr>
            <a:r>
              <a:rPr sz="640" b="0" i="0">
                <a:solidFill>
                  <a:srgbClr val="E5E7EB"/>
                </a:solidFill>
                <a:latin typeface="Consolas"/>
              </a:rPr>
              <a:t>// automatic type promotion, and arrays (one- and two-dimensional).</a:t>
            </a:r>
          </a:p>
          <a:p>
            <a:pPr>
              <a:lnSpc>
                <a:spcPct val="100000"/>
              </a:lnSpc>
              <a:spcBef>
                <a:spcPts val="0"/>
              </a:spcBef>
              <a:spcAft>
                <a:spcPts val="60"/>
              </a:spcAft>
            </a:pPr>
            <a:r>
              <a:rPr sz="640" b="0" i="0">
                <a:solidFill>
                  <a:srgbClr val="E5E7EB"/>
                </a:solidFill>
                <a:latin typeface="Consolas"/>
              </a:rPr>
              <a:t>public class Main {</a:t>
            </a:r>
          </a:p>
          <a:p>
            <a:pPr>
              <a:lnSpc>
                <a:spcPct val="100000"/>
              </a:lnSpc>
              <a:spcBef>
                <a:spcPts val="0"/>
              </a:spcBef>
              <a:spcAft>
                <a:spcPts val="60"/>
              </a:spcAft>
            </a:pPr>
            <a:r>
              <a:rPr sz="640" b="0" i="0">
                <a:solidFill>
                  <a:srgbClr val="E5E7EB"/>
                </a:solidFill>
                <a:latin typeface="Consolas"/>
              </a:rPr>
              <a:t>    public static void main(String[] args) {</a:t>
            </a:r>
          </a:p>
          <a:p>
            <a:pPr>
              <a:lnSpc>
                <a:spcPct val="100000"/>
              </a:lnSpc>
              <a:spcBef>
                <a:spcPts val="0"/>
              </a:spcBef>
              <a:spcAft>
                <a:spcPts val="60"/>
              </a:spcAft>
            </a:pPr>
            <a:r>
              <a:rPr sz="640" b="0" i="0">
                <a:solidFill>
                  <a:srgbClr val="E5E7EB"/>
                </a:solidFill>
                <a:latin typeface="Consolas"/>
              </a:rPr>
              <a:t>        // ---- size and range of the integer types (wrapper constants) ----</a:t>
            </a:r>
          </a:p>
          <a:p>
            <a:pPr>
              <a:lnSpc>
                <a:spcPct val="100000"/>
              </a:lnSpc>
              <a:spcBef>
                <a:spcPts val="0"/>
              </a:spcBef>
              <a:spcAft>
                <a:spcPts val="60"/>
              </a:spcAft>
            </a:pPr>
            <a:r>
              <a:rPr sz="640" b="0" i="0">
                <a:solidFill>
                  <a:srgbClr val="E5E7EB"/>
                </a:solidFill>
                <a:latin typeface="Consolas"/>
              </a:rPr>
              <a:t>        System.out.println("byte   " + Byte.BYTES   + "B  [" + Byte.MIN_VALUE + ", " + Byte.MAX_VALUE + "]");</a:t>
            </a:r>
          </a:p>
          <a:p>
            <a:pPr>
              <a:lnSpc>
                <a:spcPct val="100000"/>
              </a:lnSpc>
              <a:spcBef>
                <a:spcPts val="0"/>
              </a:spcBef>
              <a:spcAft>
                <a:spcPts val="60"/>
              </a:spcAft>
            </a:pPr>
            <a:r>
              <a:rPr sz="640" b="0" i="0">
                <a:solidFill>
                  <a:srgbClr val="E5E7EB"/>
                </a:solidFill>
                <a:latin typeface="Consolas"/>
              </a:rPr>
              <a:t>        System.out.println("short  " + Short.BYTES  + "B  [" + Short.MIN_VALUE + ", " + Short.MAX_VALUE + "]");</a:t>
            </a:r>
          </a:p>
          <a:p>
            <a:pPr>
              <a:lnSpc>
                <a:spcPct val="100000"/>
              </a:lnSpc>
              <a:spcBef>
                <a:spcPts val="0"/>
              </a:spcBef>
              <a:spcAft>
                <a:spcPts val="60"/>
              </a:spcAft>
            </a:pPr>
            <a:r>
              <a:rPr sz="640" b="0" i="0">
                <a:solidFill>
                  <a:srgbClr val="E5E7EB"/>
                </a:solidFill>
                <a:latin typeface="Consolas"/>
              </a:rPr>
              <a:t>        System.out.println("int    " + Integer.BYTES + "B  [" + Integer.MIN_VALUE + ", " + Integer.MAX_VALUE + "]");</a:t>
            </a:r>
          </a:p>
          <a:p>
            <a:pPr>
              <a:lnSpc>
                <a:spcPct val="100000"/>
              </a:lnSpc>
              <a:spcBef>
                <a:spcPts val="0"/>
              </a:spcBef>
              <a:spcAft>
                <a:spcPts val="60"/>
              </a:spcAft>
            </a:pPr>
            <a:r>
              <a:rPr sz="640" b="0" i="0">
                <a:solidFill>
                  <a:srgbClr val="E5E7EB"/>
                </a:solidFill>
                <a:latin typeface="Consolas"/>
              </a:rPr>
              <a:t>        System.out.println("long   " + Long.BYTES   + "B  [" + Long.MIN_VALUE + ", " + Long.MAX_VALUE + "]");</a:t>
            </a:r>
          </a:p>
          <a:p>
            <a:pPr>
              <a:lnSpc>
                <a:spcPct val="100000"/>
              </a:lnSpc>
              <a:spcBef>
                <a:spcPts val="0"/>
              </a:spcBef>
              <a:spcAft>
                <a:spcPts val="60"/>
              </a:spcAft>
            </a:pPr>
            <a:r>
              <a:rPr sz="640" b="0" i="0">
                <a:solidFill>
                  <a:srgbClr val="E5E7EB"/>
                </a:solidFill>
                <a:latin typeface="Consolas"/>
              </a:rPr>
              <a:t>        System.out.println("double " + Double.BYTES + "B, float " + Float.BYTES + "B, char " + Character.BYTES + "B (boolean: true/false)");</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 ---- widening is implicit; narrowing needs a cast --------------</a:t>
            </a:r>
          </a:p>
          <a:p>
            <a:pPr>
              <a:lnSpc>
                <a:spcPct val="100000"/>
              </a:lnSpc>
              <a:spcBef>
                <a:spcPts val="0"/>
              </a:spcBef>
              <a:spcAft>
                <a:spcPts val="60"/>
              </a:spcAft>
            </a:pPr>
            <a:r>
              <a:rPr sz="640" b="0" i="0">
                <a:solidFill>
                  <a:srgbClr val="E5E7EB"/>
                </a:solidFill>
                <a:latin typeface="Consolas"/>
              </a:rPr>
              <a:t>        double x = 9.65;</a:t>
            </a:r>
          </a:p>
          <a:p>
            <a:pPr>
              <a:lnSpc>
                <a:spcPct val="100000"/>
              </a:lnSpc>
              <a:spcBef>
                <a:spcPts val="0"/>
              </a:spcBef>
              <a:spcAft>
                <a:spcPts val="60"/>
              </a:spcAft>
            </a:pPr>
            <a:r>
              <a:rPr sz="640" b="0" i="0">
                <a:solidFill>
                  <a:srgbClr val="E5E7EB"/>
                </a:solidFill>
                <a:latin typeface="Consolas"/>
              </a:rPr>
              <a:t>        int y = (int) x;                     // explicit cast drops the fraction</a:t>
            </a:r>
          </a:p>
          <a:p>
            <a:pPr>
              <a:lnSpc>
                <a:spcPct val="100000"/>
              </a:lnSpc>
              <a:spcBef>
                <a:spcPts val="0"/>
              </a:spcBef>
              <a:spcAft>
                <a:spcPts val="60"/>
              </a:spcAft>
            </a:pPr>
            <a:r>
              <a:rPr sz="640" b="0" i="0">
                <a:solidFill>
                  <a:srgbClr val="E5E7EB"/>
                </a:solidFill>
                <a:latin typeface="Consolas"/>
              </a:rPr>
              <a:t>        System.out.println("(int) " + x + " = " + y + "   (truncation, not rounding)");</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 ---- automatic type promotion ----------------------------------</a:t>
            </a:r>
          </a:p>
          <a:p>
            <a:pPr>
              <a:lnSpc>
                <a:spcPct val="100000"/>
              </a:lnSpc>
              <a:spcBef>
                <a:spcPts val="0"/>
              </a:spcBef>
              <a:spcAft>
                <a:spcPts val="60"/>
              </a:spcAft>
            </a:pPr>
            <a:r>
              <a:rPr sz="640" b="0" i="0">
                <a:solidFill>
                  <a:srgbClr val="E5E7EB"/>
                </a:solidFill>
                <a:latin typeface="Consolas"/>
              </a:rPr>
              <a:t>        byte p = 10, q = 20;</a:t>
            </a:r>
          </a:p>
          <a:p>
            <a:pPr>
              <a:lnSpc>
                <a:spcPct val="100000"/>
              </a:lnSpc>
              <a:spcBef>
                <a:spcPts val="0"/>
              </a:spcBef>
              <a:spcAft>
                <a:spcPts val="60"/>
              </a:spcAft>
            </a:pPr>
            <a:r>
              <a:rPr sz="640" b="0" i="0">
                <a:solidFill>
                  <a:srgbClr val="E5E7EB"/>
                </a:solidFill>
                <a:latin typeface="Consolas"/>
              </a:rPr>
              <a:t>        // byte r = p + q;                   // compile error: operands promoted to int</a:t>
            </a:r>
          </a:p>
          <a:p>
            <a:pPr>
              <a:lnSpc>
                <a:spcPct val="100000"/>
              </a:lnSpc>
              <a:spcBef>
                <a:spcPts val="0"/>
              </a:spcBef>
              <a:spcAft>
                <a:spcPts val="60"/>
              </a:spcAft>
            </a:pPr>
            <a:r>
              <a:rPr sz="640" b="0" i="0">
                <a:solidFill>
                  <a:srgbClr val="E5E7EB"/>
                </a:solidFill>
                <a:latin typeface="Consolas"/>
              </a:rPr>
              <a:t>        int r = p + q;</a:t>
            </a:r>
          </a:p>
          <a:p>
            <a:pPr>
              <a:lnSpc>
                <a:spcPct val="100000"/>
              </a:lnSpc>
              <a:spcBef>
                <a:spcPts val="0"/>
              </a:spcBef>
              <a:spcAft>
                <a:spcPts val="60"/>
              </a:spcAft>
            </a:pPr>
            <a:r>
              <a:rPr sz="640" b="0" i="0">
                <a:solidFill>
                  <a:srgbClr val="E5E7EB"/>
                </a:solidFill>
                <a:latin typeface="Consolas"/>
              </a:rPr>
              <a:t>        System.out.println("byte + byte computed as int = " + r);</a:t>
            </a:r>
          </a:p>
          <a:p>
            <a:pPr>
              <a:lnSpc>
                <a:spcPct val="100000"/>
              </a:lnSpc>
              <a:spcBef>
                <a:spcPts val="0"/>
              </a:spcBef>
              <a:spcAft>
                <a:spcPts val="60"/>
              </a:spcAft>
            </a:pPr>
            <a:r>
              <a:rPr sz="640" b="0" i="0">
                <a:solidFill>
                  <a:srgbClr val="E5E7EB"/>
                </a:solidFill>
                <a:latin typeface="Consolas"/>
              </a:rPr>
              <a:t>        System.out.println("2 * 3.5 + 1 = " + (2 * 3.5 + 1) + "   (int promoted to double)");</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 ---- overflow and the cure -------------------------------------</a:t>
            </a:r>
          </a:p>
          <a:p>
            <a:pPr>
              <a:lnSpc>
                <a:spcPct val="100000"/>
              </a:lnSpc>
              <a:spcBef>
                <a:spcPts val="0"/>
              </a:spcBef>
              <a:spcAft>
                <a:spcPts val="60"/>
              </a:spcAft>
            </a:pPr>
            <a:r>
              <a:rPr sz="640" b="0" i="0">
                <a:solidFill>
                  <a:srgbClr val="E5E7EB"/>
                </a:solidFill>
                <a:latin typeface="Consolas"/>
              </a:rPr>
              <a:t>        int over = Integer.MAX_VALUE;</a:t>
            </a:r>
          </a:p>
          <a:p>
            <a:pPr>
              <a:lnSpc>
                <a:spcPct val="100000"/>
              </a:lnSpc>
              <a:spcBef>
                <a:spcPts val="0"/>
              </a:spcBef>
              <a:spcAft>
                <a:spcPts val="60"/>
              </a:spcAft>
            </a:pPr>
            <a:r>
              <a:rPr sz="640" b="0" i="0">
                <a:solidFill>
                  <a:srgbClr val="E5E7EB"/>
                </a:solidFill>
                <a:latin typeface="Consolas"/>
              </a:rPr>
              <a:t>        System.out.println("MAX_VALUE + 1 as int  = " + (over + 1));</a:t>
            </a:r>
          </a:p>
          <a:p>
            <a:pPr>
              <a:lnSpc>
                <a:spcPct val="100000"/>
              </a:lnSpc>
              <a:spcBef>
                <a:spcPts val="0"/>
              </a:spcBef>
              <a:spcAft>
                <a:spcPts val="60"/>
              </a:spcAft>
            </a:pPr>
            <a:r>
              <a:rPr sz="640" b="0" i="0">
                <a:solidFill>
                  <a:srgbClr val="E5E7EB"/>
                </a:solidFill>
                <a:latin typeface="Consolas"/>
              </a:rPr>
              <a:t>        System.out.println("MAX_VALUE + 1 as long = " + (over + 1L));</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 ---- arrays -------------------------------------------------------</a:t>
            </a:r>
          </a:p>
          <a:p>
            <a:pPr>
              <a:lnSpc>
                <a:spcPct val="100000"/>
              </a:lnSpc>
              <a:spcBef>
                <a:spcPts val="0"/>
              </a:spcBef>
              <a:spcAft>
                <a:spcPts val="60"/>
              </a:spcAft>
            </a:pPr>
            <a:r>
              <a:rPr sz="640" b="0" i="0">
                <a:solidFill>
                  <a:srgbClr val="E5E7EB"/>
                </a:solidFill>
                <a:latin typeface="Consolas"/>
              </a:rPr>
              <a:t>        int[] marks = {45, 78, 92, 61, 88};</a:t>
            </a:r>
          </a:p>
          <a:p>
            <a:pPr>
              <a:lnSpc>
                <a:spcPct val="100000"/>
              </a:lnSpc>
              <a:spcBef>
                <a:spcPts val="0"/>
              </a:spcBef>
              <a:spcAft>
                <a:spcPts val="60"/>
              </a:spcAft>
            </a:pPr>
            <a:r>
              <a:rPr sz="640" b="0" i="0">
                <a:solidFill>
                  <a:srgbClr val="E5E7EB"/>
                </a:solidFill>
                <a:latin typeface="Consolas"/>
              </a:rPr>
              <a:t>        int max = marks[0], sum = 0;</a:t>
            </a:r>
          </a:p>
          <a:p>
            <a:pPr>
              <a:lnSpc>
                <a:spcPct val="100000"/>
              </a:lnSpc>
              <a:spcBef>
                <a:spcPts val="0"/>
              </a:spcBef>
              <a:spcAft>
                <a:spcPts val="60"/>
              </a:spcAft>
            </a:pPr>
            <a:r>
              <a:rPr sz="640" b="0" i="0">
                <a:solidFill>
                  <a:srgbClr val="E5E7EB"/>
                </a:solidFill>
                <a:latin typeface="Consolas"/>
              </a:rPr>
              <a:t>        for (int v : marks) { sum += v; if (v &gt; max) max = v; }</a:t>
            </a:r>
          </a:p>
          <a:p>
            <a:pPr>
              <a:lnSpc>
                <a:spcPct val="100000"/>
              </a:lnSpc>
              <a:spcBef>
                <a:spcPts val="0"/>
              </a:spcBef>
              <a:spcAft>
                <a:spcPts val="60"/>
              </a:spcAft>
            </a:pPr>
            <a:r>
              <a:rPr sz="640" b="0" i="0">
                <a:solidFill>
                  <a:srgbClr val="E5E7EB"/>
                </a:solidFill>
                <a:latin typeface="Consolas"/>
              </a:rPr>
              <a:t>  …  (complete source: the course book)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t1_overview (compiled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7</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src/t1_overview/Main.java</a:t>
            </a:r>
          </a:p>
        </p:txBody>
      </p:sp>
      <p:sp>
        <p:nvSpPr>
          <p:cNvPr id="11" name="TextBox 10"/>
          <p:cNvSpPr txBox="1"/>
          <p:nvPr/>
        </p:nvSpPr>
        <p:spPr>
          <a:xfrm>
            <a:off x="667512" y="1975104"/>
            <a:ext cx="5815584" cy="4325112"/>
          </a:xfrm>
          <a:prstGeom prst="rect">
            <a:avLst/>
          </a:prstGeom>
          <a:noFill/>
        </p:spPr>
        <p:txBody>
          <a:bodyPr wrap="none" anchor="t" lIns="0" rIns="0" tIns="0" bIns="0">
            <a:spAutoFit/>
          </a:bodyPr>
          <a:lstStyle/>
          <a:p>
            <a:pPr>
              <a:lnSpc>
                <a:spcPct val="100000"/>
              </a:lnSpc>
              <a:spcBef>
                <a:spcPts val="0"/>
              </a:spcBef>
              <a:spcAft>
                <a:spcPts val="60"/>
              </a:spcAft>
            </a:pPr>
            <a:r>
              <a:rPr sz="700" b="0" i="0">
                <a:solidFill>
                  <a:srgbClr val="E5E7EB"/>
                </a:solidFill>
                <a:latin typeface="Consolas"/>
              </a:rPr>
              <a:t>// ——— src/t1_overview/Main.java ———</a:t>
            </a:r>
          </a:p>
          <a:p>
            <a:pPr>
              <a:lnSpc>
                <a:spcPct val="100000"/>
              </a:lnSpc>
              <a:spcBef>
                <a:spcPts val="0"/>
              </a:spcBef>
              <a:spcAft>
                <a:spcPts val="60"/>
              </a:spcAft>
            </a:pPr>
            <a:r>
              <a:rPr sz="700" b="0" i="0">
                <a:solidFill>
                  <a:srgbClr val="E5E7EB"/>
                </a:solidFill>
                <a:latin typeface="Consolas"/>
              </a:rPr>
              <a:t>// Module 1, demo 1 -- anatomy of a first Java program: a class, a main</a:t>
            </a:r>
          </a:p>
          <a:p>
            <a:pPr>
              <a:lnSpc>
                <a:spcPct val="100000"/>
              </a:lnSpc>
              <a:spcBef>
                <a:spcPts val="0"/>
              </a:spcBef>
              <a:spcAft>
                <a:spcPts val="60"/>
              </a:spcAft>
            </a:pPr>
            <a:r>
              <a:rPr sz="700" b="0" i="0">
                <a:solidFill>
                  <a:srgbClr val="E5E7EB"/>
                </a:solidFill>
                <a:latin typeface="Consolas"/>
              </a:rPr>
              <a:t>// entry point, blocks (scope), and the lexical elements of the language:</a:t>
            </a:r>
          </a:p>
          <a:p>
            <a:pPr>
              <a:lnSpc>
                <a:spcPct val="100000"/>
              </a:lnSpc>
              <a:spcBef>
                <a:spcPts val="0"/>
              </a:spcBef>
              <a:spcAft>
                <a:spcPts val="60"/>
              </a:spcAft>
            </a:pPr>
            <a:r>
              <a:rPr sz="700" b="0" i="0">
                <a:solidFill>
                  <a:srgbClr val="E5E7EB"/>
                </a:solidFill>
                <a:latin typeface="Consolas"/>
              </a:rPr>
              <a:t>// whitespace, identifiers, literals, comments and separators.</a:t>
            </a:r>
          </a:p>
          <a:p>
            <a:pPr>
              <a:lnSpc>
                <a:spcPct val="100000"/>
              </a:lnSpc>
              <a:spcBef>
                <a:spcPts val="0"/>
              </a:spcBef>
              <a:spcAft>
                <a:spcPts val="60"/>
              </a:spcAft>
            </a:pPr>
            <a:r>
              <a:rPr sz="700" b="0" i="0">
                <a:solidFill>
                  <a:srgbClr val="E5E7EB"/>
                </a:solidFill>
                <a:latin typeface="Consolas"/>
              </a:rPr>
              <a:t>public class Main {</a:t>
            </a:r>
          </a:p>
          <a:p>
            <a:pPr>
              <a:lnSpc>
                <a:spcPct val="100000"/>
              </a:lnSpc>
              <a:spcBef>
                <a:spcPts val="0"/>
              </a:spcBef>
              <a:spcAft>
                <a:spcPts val="60"/>
              </a:spcAft>
            </a:pPr>
            <a:r>
              <a:rPr sz="700" b="0" i="0">
                <a:solidFill>
                  <a:srgbClr val="E5E7EB"/>
                </a:solidFill>
                <a:latin typeface="Consolas"/>
              </a:rPr>
              <a:t>    public static void main(String[] args) {</a:t>
            </a:r>
          </a:p>
          <a:p>
            <a:pPr>
              <a:lnSpc>
                <a:spcPct val="100000"/>
              </a:lnSpc>
              <a:spcBef>
                <a:spcPts val="0"/>
              </a:spcBef>
              <a:spcAft>
                <a:spcPts val="60"/>
              </a:spcAft>
            </a:pPr>
            <a:r>
              <a:rPr sz="700" b="0" i="0">
                <a:solidFill>
                  <a:srgbClr val="E5E7EB"/>
                </a:solidFill>
                <a:latin typeface="Consolas"/>
              </a:rPr>
              <a:t>        // ---- blocks: every pair of braces opens a new scope -----------</a:t>
            </a:r>
          </a:p>
          <a:p>
            <a:pPr>
              <a:lnSpc>
                <a:spcPct val="100000"/>
              </a:lnSpc>
              <a:spcBef>
                <a:spcPts val="0"/>
              </a:spcBef>
              <a:spcAft>
                <a:spcPts val="60"/>
              </a:spcAft>
            </a:pPr>
            <a:r>
              <a:rPr sz="700" b="0" i="0">
                <a:solidFill>
                  <a:srgbClr val="E5E7EB"/>
                </a:solidFill>
                <a:latin typeface="Consolas"/>
              </a:rPr>
              <a:t>        int total = 0;</a:t>
            </a:r>
          </a:p>
          <a:p>
            <a:pPr>
              <a:lnSpc>
                <a:spcPct val="100000"/>
              </a:lnSpc>
              <a:spcBef>
                <a:spcPts val="0"/>
              </a:spcBef>
              <a:spcAft>
                <a:spcPts val="60"/>
              </a:spcAft>
            </a:pPr>
            <a:r>
              <a:rPr sz="700" b="0" i="0">
                <a:solidFill>
                  <a:srgbClr val="E5E7EB"/>
                </a:solidFill>
                <a:latin typeface="Consolas"/>
              </a:rPr>
              <a:t>        {                       // inner block</a:t>
            </a:r>
          </a:p>
          <a:p>
            <a:pPr>
              <a:lnSpc>
                <a:spcPct val="100000"/>
              </a:lnSpc>
              <a:spcBef>
                <a:spcPts val="0"/>
              </a:spcBef>
              <a:spcAft>
                <a:spcPts val="60"/>
              </a:spcAft>
            </a:pPr>
            <a:r>
              <a:rPr sz="700" b="0" i="0">
                <a:solidFill>
                  <a:srgbClr val="E5E7EB"/>
                </a:solidFill>
                <a:latin typeface="Consolas"/>
              </a:rPr>
              <a:t>            int step = 2;       // 'step' lives only inside these braces</a:t>
            </a:r>
          </a:p>
          <a:p>
            <a:pPr>
              <a:lnSpc>
                <a:spcPct val="100000"/>
              </a:lnSpc>
              <a:spcBef>
                <a:spcPts val="0"/>
              </a:spcBef>
              <a:spcAft>
                <a:spcPts val="60"/>
              </a:spcAft>
            </a:pPr>
            <a:r>
              <a:rPr sz="700" b="0" i="0">
                <a:solidFill>
                  <a:srgbClr val="E5E7EB"/>
                </a:solidFill>
                <a:latin typeface="Consolas"/>
              </a:rPr>
              <a:t>            for (int i = 1; i &lt;= 5; i = i + step) {</a:t>
            </a:r>
          </a:p>
          <a:p>
            <a:pPr>
              <a:lnSpc>
                <a:spcPct val="100000"/>
              </a:lnSpc>
              <a:spcBef>
                <a:spcPts val="0"/>
              </a:spcBef>
              <a:spcAft>
                <a:spcPts val="60"/>
              </a:spcAft>
            </a:pPr>
            <a:r>
              <a:rPr sz="700" b="0" i="0">
                <a:solidFill>
                  <a:srgbClr val="E5E7EB"/>
                </a:solidFill>
                <a:latin typeface="Consolas"/>
              </a:rPr>
              <a:t>                total += i;</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 step is NOT visible here; using it would be a compile error</a:t>
            </a:r>
          </a:p>
          <a:p>
            <a:pPr>
              <a:lnSpc>
                <a:spcPct val="100000"/>
              </a:lnSpc>
              <a:spcBef>
                <a:spcPts val="0"/>
              </a:spcBef>
              <a:spcAft>
                <a:spcPts val="60"/>
              </a:spcAft>
            </a:pPr>
            <a:r>
              <a:rPr sz="700" b="0" i="0">
                <a:solidFill>
                  <a:srgbClr val="E5E7EB"/>
                </a:solidFill>
                <a:latin typeface="Consolas"/>
              </a:rPr>
              <a:t>        System.out.println("Sum of 1 + 3 + 5          = " + total);</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 ---- integer literals in four bases ---------------------------</a:t>
            </a:r>
          </a:p>
          <a:p>
            <a:pPr>
              <a:lnSpc>
                <a:spcPct val="100000"/>
              </a:lnSpc>
              <a:spcBef>
                <a:spcPts val="0"/>
              </a:spcBef>
              <a:spcAft>
                <a:spcPts val="60"/>
              </a:spcAft>
            </a:pPr>
            <a:r>
              <a:rPr sz="700" b="0" i="0">
                <a:solidFill>
                  <a:srgbClr val="E5E7EB"/>
                </a:solidFill>
                <a:latin typeface="Consolas"/>
              </a:rPr>
              <a:t>        int dec = 42, hex = 0x2A, bin = 0b101010, oct = 052;</a:t>
            </a:r>
          </a:p>
          <a:p>
            <a:pPr>
              <a:lnSpc>
                <a:spcPct val="100000"/>
              </a:lnSpc>
              <a:spcBef>
                <a:spcPts val="0"/>
              </a:spcBef>
              <a:spcAft>
                <a:spcPts val="60"/>
              </a:spcAft>
            </a:pPr>
            <a:r>
              <a:rPr sz="700" b="0" i="0">
                <a:solidFill>
                  <a:srgbClr val="E5E7EB"/>
                </a:solidFill>
                <a:latin typeface="Consolas"/>
              </a:rPr>
              <a:t>        System.out.println("42 as decimal/hex/binary/octal = " + dec + "/" + hex + "/" + bin + "/" + oct);</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        // ---- floating, long, char, boolean, String literals ------------</a:t>
            </a:r>
          </a:p>
          <a:p>
            <a:pPr>
              <a:lnSpc>
                <a:spcPct val="100000"/>
              </a:lnSpc>
              <a:spcBef>
                <a:spcPts val="0"/>
              </a:spcBef>
              <a:spcAft>
                <a:spcPts val="60"/>
              </a:spcAft>
            </a:pPr>
            <a:r>
              <a:rPr sz="700" b="0" i="0">
                <a:solidFill>
                  <a:srgbClr val="E5E7EB"/>
                </a:solidFill>
                <a:latin typeface="Consolas"/>
              </a:rPr>
              <a:t>        long   big = 100_000_000_000L;         // underscores for readability</a:t>
            </a:r>
          </a:p>
          <a:p>
            <a:pPr>
              <a:lnSpc>
                <a:spcPct val="100000"/>
              </a:lnSpc>
              <a:spcBef>
                <a:spcPts val="0"/>
              </a:spcBef>
              <a:spcAft>
                <a:spcPts val="60"/>
              </a:spcAft>
            </a:pPr>
            <a:r>
              <a:rPr sz="700" b="0" i="0">
                <a:solidFill>
                  <a:srgbClr val="E5E7EB"/>
                </a:solidFill>
                <a:latin typeface="Consolas"/>
              </a:rPr>
              <a:t>        double flt = 3.14159, sci = 6.02e23;</a:t>
            </a:r>
          </a:p>
          <a:p>
            <a:pPr>
              <a:lnSpc>
                <a:spcPct val="100000"/>
              </a:lnSpc>
              <a:spcBef>
                <a:spcPts val="0"/>
              </a:spcBef>
              <a:spcAft>
                <a:spcPts val="60"/>
              </a:spcAft>
            </a:pPr>
            <a:r>
              <a:rPr sz="700" b="0" i="0">
                <a:solidFill>
                  <a:srgbClr val="E5E7EB"/>
                </a:solidFill>
                <a:latin typeface="Consolas"/>
              </a:rPr>
              <a:t>        char   ch  = 'A', uni = '\u0041';       // unicode escape for 'A'</a:t>
            </a:r>
          </a:p>
          <a:p>
            <a:pPr>
              <a:lnSpc>
                <a:spcPct val="100000"/>
              </a:lnSpc>
              <a:spcBef>
                <a:spcPts val="0"/>
              </a:spcBef>
              <a:spcAft>
                <a:spcPts val="60"/>
              </a:spcAft>
            </a:pPr>
            <a:r>
              <a:rPr sz="700" b="0" i="0">
                <a:solidFill>
                  <a:srgbClr val="E5E7EB"/>
                </a:solidFill>
                <a:latin typeface="Consolas"/>
              </a:rPr>
              <a:t>        boolean ok = true;</a:t>
            </a:r>
          </a:p>
          <a:p>
            <a:pPr>
              <a:lnSpc>
                <a:spcPct val="100000"/>
              </a:lnSpc>
              <a:spcBef>
                <a:spcPts val="0"/>
              </a:spcBef>
              <a:spcAft>
                <a:spcPts val="60"/>
              </a:spcAft>
            </a:pPr>
            <a:r>
              <a:rPr sz="700" b="0" i="0">
                <a:solidFill>
                  <a:srgbClr val="E5E7EB"/>
                </a:solidFill>
                <a:latin typeface="Consolas"/>
              </a:rPr>
              <a:t>        System.out.println("long with underscores    = " + big);</a:t>
            </a:r>
          </a:p>
          <a:p>
            <a:pPr>
              <a:lnSpc>
                <a:spcPct val="100000"/>
              </a:lnSpc>
              <a:spcBef>
                <a:spcPts val="0"/>
              </a:spcBef>
              <a:spcAft>
                <a:spcPts val="60"/>
              </a:spcAft>
            </a:pPr>
            <a:r>
              <a:rPr sz="700" b="0" i="0">
                <a:solidFill>
                  <a:srgbClr val="E5E7EB"/>
                </a:solidFill>
                <a:latin typeface="Consolas"/>
              </a:rPr>
              <a:t>        System.out.println("double + scientific      = " + flt + " / " + sci);</a:t>
            </a:r>
          </a:p>
          <a:p>
            <a:pPr>
              <a:lnSpc>
                <a:spcPct val="100000"/>
              </a:lnSpc>
              <a:spcBef>
                <a:spcPts val="0"/>
              </a:spcBef>
              <a:spcAft>
                <a:spcPts val="60"/>
              </a:spcAft>
            </a:pPr>
            <a:r>
              <a:rPr sz="700" b="0" i="0">
                <a:solidFill>
                  <a:srgbClr val="E5E7EB"/>
                </a:solidFill>
                <a:latin typeface="Consolas"/>
              </a:rPr>
              <a:t>        System.out.println("char 'A' vs \\u0041        = same: " + (ch == uni));</a:t>
            </a:r>
          </a:p>
          <a:p>
            <a:pPr>
              <a:lnSpc>
                <a:spcPct val="100000"/>
              </a:lnSpc>
              <a:spcBef>
                <a:spcPts val="0"/>
              </a:spcBef>
              <a:spcAft>
                <a:spcPts val="60"/>
              </a:spcAft>
            </a:pPr>
            <a:r>
              <a:rPr sz="700" b="0" i="0">
                <a:solidFill>
                  <a:srgbClr val="E5E7EB"/>
                </a:solidFill>
                <a:latin typeface="Consolas"/>
              </a:rPr>
              <a:t>        System.out.println("boolean ok               = " + ok);</a:t>
            </a:r>
          </a:p>
          <a:p>
            <a:pPr>
              <a:lnSpc>
                <a:spcPct val="100000"/>
              </a:lnSpc>
              <a:spcBef>
                <a:spcPts val="0"/>
              </a:spcBef>
              <a:spcAft>
                <a:spcPts val="60"/>
              </a:spcAft>
            </a:pPr>
            <a:r>
              <a:rPr sz="700" b="0" i="0">
                <a:solidFill>
                  <a:srgbClr val="E5E7EB"/>
                </a:solidFill>
                <a:latin typeface="Consolas"/>
              </a:rPr>
              <a:t>        System.out.println("string concat is a separator party: " + "one" + " " + "two");</a:t>
            </a:r>
          </a:p>
          <a:p>
            <a:pPr>
              <a:lnSpc>
                <a:spcPct val="100000"/>
              </a:lnSpc>
              <a:spcBef>
                <a:spcPts val="0"/>
              </a:spcBef>
              <a:spcAft>
                <a:spcPts val="60"/>
              </a:spcAft>
            </a:pPr>
            <a:r>
              <a:rPr sz="700" b="0" i="0">
                <a:solidFill>
                  <a:srgbClr val="E5E7EB"/>
                </a:solidFill>
                <a:latin typeface="Consolas"/>
              </a:rPr>
              <a:t>    }</a:t>
            </a:r>
          </a:p>
          <a:p>
            <a:pPr>
              <a:lnSpc>
                <a:spcPct val="100000"/>
              </a:lnSpc>
              <a:spcBef>
                <a:spcPts val="0"/>
              </a:spcBef>
              <a:spcAft>
                <a:spcPts val="60"/>
              </a:spcAft>
            </a:pPr>
            <a:r>
              <a:rPr sz="700" b="0" i="0">
                <a:solidFill>
                  <a:srgbClr val="E5E7EB"/>
                </a:solidFill>
                <a:latin typeface="Consolas"/>
              </a:rPr>
              <a:t>}</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out/t1_overview.txt</a:t>
            </a:r>
          </a:p>
        </p:txBody>
      </p:sp>
      <p:sp>
        <p:nvSpPr>
          <p:cNvPr id="14" name="TextBox 13"/>
          <p:cNvSpPr txBox="1"/>
          <p:nvPr/>
        </p:nvSpPr>
        <p:spPr>
          <a:xfrm>
            <a:off x="7004304" y="1938528"/>
            <a:ext cx="4572000" cy="4343400"/>
          </a:xfrm>
          <a:prstGeom prst="rect">
            <a:avLst/>
          </a:prstGeom>
          <a:noFill/>
        </p:spPr>
        <p:txBody>
          <a:bodyPr wrap="none" anchor="t" lIns="0" rIns="0" tIns="0" bIns="0">
            <a:spAutoFit/>
          </a:bodyPr>
          <a:lstStyle/>
          <a:p>
            <a:pPr>
              <a:lnSpc>
                <a:spcPct val="100000"/>
              </a:lnSpc>
              <a:spcBef>
                <a:spcPts val="0"/>
              </a:spcBef>
              <a:spcAft>
                <a:spcPts val="60"/>
              </a:spcAft>
            </a:pPr>
            <a:r>
              <a:rPr sz="1121" b="0" i="0">
                <a:solidFill>
                  <a:srgbClr val="14171C"/>
                </a:solidFill>
                <a:latin typeface="Consolas"/>
              </a:rPr>
              <a:t>$ javac -d bin/t1_overview src/t1_overview/Main.java</a:t>
            </a:r>
          </a:p>
          <a:p>
            <a:pPr>
              <a:lnSpc>
                <a:spcPct val="100000"/>
              </a:lnSpc>
              <a:spcBef>
                <a:spcPts val="0"/>
              </a:spcBef>
              <a:spcAft>
                <a:spcPts val="60"/>
              </a:spcAft>
            </a:pPr>
            <a:r>
              <a:rPr sz="1121" b="0" i="0">
                <a:solidFill>
                  <a:srgbClr val="14171C"/>
                </a:solidFill>
                <a:latin typeface="Consolas"/>
              </a:rPr>
              <a:t>$ java -cp bin/t1_overview Main</a:t>
            </a:r>
          </a:p>
          <a:p>
            <a:pPr>
              <a:lnSpc>
                <a:spcPct val="100000"/>
              </a:lnSpc>
              <a:spcBef>
                <a:spcPts val="0"/>
              </a:spcBef>
              <a:spcAft>
                <a:spcPts val="60"/>
              </a:spcAft>
            </a:pPr>
            <a:r>
              <a:rPr sz="1121" b="0" i="0">
                <a:solidFill>
                  <a:srgbClr val="14171C"/>
                </a:solidFill>
                <a:latin typeface="Consolas"/>
              </a:rPr>
              <a:t>Sum of 1 + 3 + 5          = 9</a:t>
            </a:r>
          </a:p>
          <a:p>
            <a:pPr>
              <a:lnSpc>
                <a:spcPct val="100000"/>
              </a:lnSpc>
              <a:spcBef>
                <a:spcPts val="0"/>
              </a:spcBef>
              <a:spcAft>
                <a:spcPts val="60"/>
              </a:spcAft>
            </a:pPr>
            <a:r>
              <a:rPr sz="1121" b="0" i="0">
                <a:solidFill>
                  <a:srgbClr val="14171C"/>
                </a:solidFill>
                <a:latin typeface="Consolas"/>
              </a:rPr>
              <a:t>42 as decimal/hex/binary/octal = 42/42/42/42</a:t>
            </a:r>
          </a:p>
          <a:p>
            <a:pPr>
              <a:lnSpc>
                <a:spcPct val="100000"/>
              </a:lnSpc>
              <a:spcBef>
                <a:spcPts val="0"/>
              </a:spcBef>
              <a:spcAft>
                <a:spcPts val="60"/>
              </a:spcAft>
            </a:pPr>
            <a:r>
              <a:rPr sz="1121" b="0" i="0">
                <a:solidFill>
                  <a:srgbClr val="14171C"/>
                </a:solidFill>
                <a:latin typeface="Consolas"/>
              </a:rPr>
              <a:t>long with underscores    = 100000000000</a:t>
            </a:r>
          </a:p>
          <a:p>
            <a:pPr>
              <a:lnSpc>
                <a:spcPct val="100000"/>
              </a:lnSpc>
              <a:spcBef>
                <a:spcPts val="0"/>
              </a:spcBef>
              <a:spcAft>
                <a:spcPts val="60"/>
              </a:spcAft>
            </a:pPr>
            <a:r>
              <a:rPr sz="1121" b="0" i="0">
                <a:solidFill>
                  <a:srgbClr val="14171C"/>
                </a:solidFill>
                <a:latin typeface="Consolas"/>
              </a:rPr>
              <a:t>double + scientific      = 3.14159 / 6.02E23</a:t>
            </a:r>
          </a:p>
          <a:p>
            <a:pPr>
              <a:lnSpc>
                <a:spcPct val="100000"/>
              </a:lnSpc>
              <a:spcBef>
                <a:spcPts val="0"/>
              </a:spcBef>
              <a:spcAft>
                <a:spcPts val="60"/>
              </a:spcAft>
            </a:pPr>
            <a:r>
              <a:rPr sz="1121" b="0" i="0">
                <a:solidFill>
                  <a:srgbClr val="14171C"/>
                </a:solidFill>
                <a:latin typeface="Consolas"/>
              </a:rPr>
              <a:t>char 'A' vs \u0041        = same: true</a:t>
            </a:r>
          </a:p>
          <a:p>
            <a:pPr>
              <a:lnSpc>
                <a:spcPct val="100000"/>
              </a:lnSpc>
              <a:spcBef>
                <a:spcPts val="0"/>
              </a:spcBef>
              <a:spcAft>
                <a:spcPts val="60"/>
              </a:spcAft>
            </a:pPr>
            <a:r>
              <a:rPr sz="1121" b="0" i="0">
                <a:solidFill>
                  <a:srgbClr val="14171C"/>
                </a:solidFill>
                <a:latin typeface="Consolas"/>
              </a:rPr>
              <a:t>boolean ok               = true</a:t>
            </a:r>
          </a:p>
          <a:p>
            <a:pPr>
              <a:lnSpc>
                <a:spcPct val="100000"/>
              </a:lnSpc>
              <a:spcBef>
                <a:spcPts val="0"/>
              </a:spcBef>
              <a:spcAft>
                <a:spcPts val="60"/>
              </a:spcAft>
            </a:pPr>
            <a:r>
              <a:rPr sz="1121" b="0" i="0">
                <a:solidFill>
                  <a:srgbClr val="14171C"/>
                </a:solidFill>
                <a:latin typeface="Consolas"/>
              </a:rPr>
              <a:t>string concat is a separator party: one two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1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1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8</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Predict the output: byte a = 100, b = 100; System.out.println(a * b);. Now predict byte c = a * b;.</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Why does t1_control print 9.0 * 3.0 = 27.0 with a decimal point when the operands were typed 9 and 3?</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Rewrite the grade ladder with if/else only — why can’t a switch on int marks express “80 and above”?</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The triangle in the demo prints 4 lines. Change one condition and print 6.</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Explain what var is not: name the misconception the syllabus’s phrasing “Local Variable Type Inference” is guarding against.</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§1.5 — these are IA-test-shaped practice.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2 — Classes and Methods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9</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CO2 — classes, objects, methods</a:t>
            </a:r>
            <a:r>
              <a:rPr sz="1300" b="0" i="0">
                <a:solidFill>
                  <a:srgbClr val="4B5563"/>
                </a:solidFill>
                <a:latin typeface="Calibri"/>
              </a:rPr>
              <a:t>    ·    Number of Hours: 8 · Textbook: Chapters 6, 7</a:t>
            </a:r>
            <a:r>
              <a:rPr sz="1250" b="0" i="0">
                <a:solidFill>
                  <a:srgbClr val="4B5563"/>
                </a:solidFill>
                <a:latin typeface="Calibri"/>
              </a:rPr>
              <a:t>    ·    Textbook: Chapters 6, 7 — Number of Hours: 8</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Class fundamentals: fields · declaring &amp; using objects · assigning references</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Methods on objects · constructors · new revisited · this · garbage collection</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Overloading methods &amp; constructors · objects as parameters · argument passing</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Returning objects · recursion · access control (4 levels)</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static · final · nested classes · inner classes</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MODULE-2 SYLLABUS (VERBATIM)</a:t>
            </a:r>
          </a:p>
          <a:p>
            <a:pPr>
              <a:lnSpc>
                <a:spcPct val="108000"/>
              </a:lnSpc>
              <a:spcBef>
                <a:spcPts val="0"/>
              </a:spcBef>
              <a:spcAft>
                <a:spcPts val="0"/>
              </a:spcAft>
            </a:pPr>
            <a:r>
              <a:rPr sz="1050" b="0" i="0">
                <a:solidFill>
                  <a:srgbClr val="16181D"/>
                </a:solidFill>
                <a:latin typeface="Calibri"/>
              </a:rPr>
              <a:t>Introducing Classes: Class Fundamentals, Declaring Objects, Assigning Object Reference Variables, Introducing Methods, Constructors, the ‘this’ Keyword, and Garbage Collection. Methods and Classes: Overloading Methods, Using Objects as Parameters, Argument Passing, Returning Objects, Recursion, Introducing Access Control, Understanding static, Introducing final, Introducing Nested and Inner Classes.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Objects: references, not boxes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10</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new does three jobs: allocate · run constructor · return the reference.</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Default constructor delegates: </a:t>
            </a:r>
            <a:r>
              <a:rPr sz="1300" b="0" i="0">
                <a:solidFill>
                  <a:srgbClr val="16181D"/>
                </a:solidFill>
                <a:latin typeface="Consolas"/>
              </a:rPr>
              <a:t>Box() → this(1,1,1)</a:t>
            </a:r>
            <a:r>
              <a:rPr sz="1450" b="0" i="0">
                <a:solidFill>
                  <a:srgbClr val="16181D"/>
                </a:solidFill>
                <a:latin typeface="Calibri"/>
              </a:rPr>
              <a:t> prints </a:t>
            </a:r>
            <a:r>
              <a:rPr sz="1300" b="0" i="0">
                <a:solidFill>
                  <a:srgbClr val="B3261E"/>
                </a:solidFill>
                <a:latin typeface="Consolas"/>
              </a:rPr>
              <a:t>a.volume() = 1.0</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Assignment copies the reference: after </a:t>
            </a:r>
            <a:r>
              <a:rPr sz="1300" b="0" i="0">
                <a:solidFill>
                  <a:srgbClr val="16181D"/>
                </a:solidFill>
                <a:latin typeface="Consolas"/>
              </a:rPr>
              <a:t>Box d = b; d.set(10,10,10)</a:t>
            </a:r>
            <a:r>
              <a:rPr sz="1450" b="0" i="0">
                <a:solidFill>
                  <a:srgbClr val="16181D"/>
                </a:solidFill>
                <a:latin typeface="Calibri"/>
              </a:rPr>
              <a:t> the other name reports </a:t>
            </a:r>
            <a:r>
              <a:rPr sz="1300" b="0" i="0">
                <a:solidFill>
                  <a:srgbClr val="B3261E"/>
                </a:solidFill>
                <a:latin typeface="Consolas"/>
              </a:rPr>
              <a:t>b.volume() = 1000.0</a:t>
            </a:r>
            <a:r>
              <a:rPr sz="1450" b="0" i="0">
                <a:solidFill>
                  <a:srgbClr val="16181D"/>
                </a:solidFill>
                <a:latin typeface="Calibri"/>
              </a:rPr>
              <a:t> and </a:t>
            </a:r>
            <a:r>
              <a:rPr sz="1300" b="0" i="0">
                <a:solidFill>
                  <a:srgbClr val="16181D"/>
                </a:solidFill>
                <a:latin typeface="Consolas"/>
              </a:rPr>
              <a:t>b == d : true</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Methods may return fresh objects: </a:t>
            </a:r>
            <a:r>
              <a:rPr sz="1300" b="0" i="0">
                <a:solidFill>
                  <a:srgbClr val="B3261E"/>
                </a:solidFill>
                <a:latin typeface="Consolas"/>
              </a:rPr>
              <a:t>c enlarged 2x has volume 192.0</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Garbage collection: drop the last reference (</a:t>
            </a:r>
            <a:r>
              <a:rPr sz="1300" b="0" i="0">
                <a:solidFill>
                  <a:srgbClr val="16181D"/>
                </a:solidFill>
                <a:latin typeface="Consolas"/>
              </a:rPr>
              <a:t>c = null</a:t>
            </a:r>
            <a:r>
              <a:rPr sz="1450" b="0" i="0">
                <a:solidFill>
                  <a:srgbClr val="16181D"/>
                </a:solidFill>
                <a:latin typeface="Calibri"/>
              </a:rPr>
              <a:t>); </a:t>
            </a:r>
            <a:r>
              <a:rPr sz="1300" b="0" i="0">
                <a:solidFill>
                  <a:srgbClr val="16181D"/>
                </a:solidFill>
                <a:latin typeface="Consolas"/>
              </a:rPr>
              <a:t>System.gc()</a:t>
            </a:r>
            <a:r>
              <a:rPr sz="1450" b="0" i="0">
                <a:solidFill>
                  <a:srgbClr val="16181D"/>
                </a:solidFill>
                <a:latin typeface="Calibri"/>
              </a:rPr>
              <a:t> is a hint, nothing more.</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src/t2_classes/</a:t>
            </a:r>
          </a:p>
        </p:txBody>
      </p:sp>
      <p:sp>
        <p:nvSpPr>
          <p:cNvPr id="12" name="TextBox 11"/>
          <p:cNvSpPr txBox="1"/>
          <p:nvPr/>
        </p:nvSpPr>
        <p:spPr>
          <a:xfrm>
            <a:off x="7388352" y="2002536"/>
            <a:ext cx="4169664" cy="4279392"/>
          </a:xfrm>
          <a:prstGeom prst="rect">
            <a:avLst/>
          </a:prstGeom>
          <a:noFill/>
        </p:spPr>
        <p:txBody>
          <a:bodyPr wrap="none" anchor="t" lIns="0" rIns="0" tIns="0" bIns="0">
            <a:spAutoFit/>
          </a:bodyPr>
          <a:lstStyle/>
          <a:p>
            <a:pPr>
              <a:lnSpc>
                <a:spcPct val="100000"/>
              </a:lnSpc>
              <a:spcBef>
                <a:spcPts val="0"/>
              </a:spcBef>
              <a:spcAft>
                <a:spcPts val="60"/>
              </a:spcAft>
            </a:pPr>
            <a:r>
              <a:rPr sz="664" b="0" i="0">
                <a:solidFill>
                  <a:srgbClr val="E5E7EB"/>
                </a:solidFill>
                <a:latin typeface="Consolas"/>
              </a:rPr>
              <a:t>// ——— src/t2_classes/Main.java ———</a:t>
            </a:r>
          </a:p>
          <a:p>
            <a:pPr>
              <a:lnSpc>
                <a:spcPct val="100000"/>
              </a:lnSpc>
              <a:spcBef>
                <a:spcPts val="0"/>
              </a:spcBef>
              <a:spcAft>
                <a:spcPts val="60"/>
              </a:spcAft>
            </a:pPr>
            <a:r>
              <a:rPr sz="664" b="0" i="0">
                <a:solidFill>
                  <a:srgbClr val="E5E7EB"/>
                </a:solidFill>
                <a:latin typeface="Consolas"/>
              </a:rPr>
              <a:t>// Module 2, demo 1 -- class fundamentals: fields, constructors (default,</a:t>
            </a:r>
          </a:p>
          <a:p>
            <a:pPr>
              <a:lnSpc>
                <a:spcPct val="100000"/>
              </a:lnSpc>
              <a:spcBef>
                <a:spcPts val="0"/>
              </a:spcBef>
              <a:spcAft>
                <a:spcPts val="60"/>
              </a:spcAft>
            </a:pPr>
            <a:r>
              <a:rPr sz="664" b="0" i="0">
                <a:solidFill>
                  <a:srgbClr val="E5E7EB"/>
                </a:solidFill>
                <a:latin typeface="Consolas"/>
              </a:rPr>
              <a:t>// parameterised, overloaded with this(...)), accessors, assigning object</a:t>
            </a:r>
          </a:p>
          <a:p>
            <a:pPr>
              <a:lnSpc>
                <a:spcPct val="100000"/>
              </a:lnSpc>
              <a:spcBef>
                <a:spcPts val="0"/>
              </a:spcBef>
              <a:spcAft>
                <a:spcPts val="60"/>
              </a:spcAft>
            </a:pPr>
            <a:r>
              <a:rPr sz="664" b="0" i="0">
                <a:solidFill>
                  <a:srgbClr val="E5E7EB"/>
                </a:solidFill>
                <a:latin typeface="Consolas"/>
              </a:rPr>
              <a:t>// references (aliasing) and reaching for the garbage collector.</a:t>
            </a:r>
          </a:p>
          <a:p>
            <a:pPr>
              <a:lnSpc>
                <a:spcPct val="100000"/>
              </a:lnSpc>
              <a:spcBef>
                <a:spcPts val="0"/>
              </a:spcBef>
              <a:spcAft>
                <a:spcPts val="60"/>
              </a:spcAft>
            </a:pPr>
            <a:r>
              <a:rPr sz="664" b="0" i="0">
                <a:solidFill>
                  <a:srgbClr val="E5E7EB"/>
                </a:solidFill>
                <a:latin typeface="Consolas"/>
              </a:rPr>
              <a:t>class Box {</a:t>
            </a:r>
          </a:p>
          <a:p>
            <a:pPr>
              <a:lnSpc>
                <a:spcPct val="100000"/>
              </a:lnSpc>
              <a:spcBef>
                <a:spcPts val="0"/>
              </a:spcBef>
              <a:spcAft>
                <a:spcPts val="60"/>
              </a:spcAft>
            </a:pPr>
            <a:r>
              <a:rPr sz="664" b="0" i="0">
                <a:solidFill>
                  <a:srgbClr val="E5E7EB"/>
                </a:solidFill>
                <a:latin typeface="Consolas"/>
              </a:rPr>
              <a:t>    double width, height, depth;</a:t>
            </a:r>
          </a:p>
          <a:p>
            <a:pPr>
              <a:lnSpc>
                <a:spcPct val="100000"/>
              </a:lnSpc>
              <a:spcBef>
                <a:spcPts val="0"/>
              </a:spcBef>
              <a:spcAft>
                <a:spcPts val="60"/>
              </a:spcAft>
            </a:pPr>
            <a:r>
              <a:rPr sz="664" b="0" i="0">
                <a:solidFill>
                  <a:srgbClr val="E5E7EB"/>
                </a:solidFill>
                <a:latin typeface="Consolas"/>
              </a:rPr>
              <a:t> </a:t>
            </a:r>
          </a:p>
          <a:p>
            <a:pPr>
              <a:lnSpc>
                <a:spcPct val="100000"/>
              </a:lnSpc>
              <a:spcBef>
                <a:spcPts val="0"/>
              </a:spcBef>
              <a:spcAft>
                <a:spcPts val="60"/>
              </a:spcAft>
            </a:pPr>
            <a:r>
              <a:rPr sz="664" b="0" i="0">
                <a:solidFill>
                  <a:srgbClr val="E5E7EB"/>
                </a:solidFill>
                <a:latin typeface="Consolas"/>
              </a:rPr>
              <a:t>    Box() {                    // default constructor</a:t>
            </a:r>
          </a:p>
          <a:p>
            <a:pPr>
              <a:lnSpc>
                <a:spcPct val="100000"/>
              </a:lnSpc>
              <a:spcBef>
                <a:spcPts val="0"/>
              </a:spcBef>
              <a:spcAft>
                <a:spcPts val="60"/>
              </a:spcAft>
            </a:pPr>
            <a:r>
              <a:rPr sz="664" b="0" i="0">
                <a:solidFill>
                  <a:srgbClr val="E5E7EB"/>
                </a:solidFill>
                <a:latin typeface="Consolas"/>
              </a:rPr>
              <a:t>        this(1, 1, 1);         // this(...) -&gt; call the other constructor</a:t>
            </a:r>
          </a:p>
          <a:p>
            <a:pPr>
              <a:lnSpc>
                <a:spcPct val="100000"/>
              </a:lnSpc>
              <a:spcBef>
                <a:spcPts val="0"/>
              </a:spcBef>
              <a:spcAft>
                <a:spcPts val="60"/>
              </a:spcAft>
            </a:pPr>
            <a:r>
              <a:rPr sz="664" b="0" i="0">
                <a:solidFill>
                  <a:srgbClr val="E5E7EB"/>
                </a:solidFill>
                <a:latin typeface="Consolas"/>
              </a:rPr>
              <a:t>    }</a:t>
            </a:r>
          </a:p>
          <a:p>
            <a:pPr>
              <a:lnSpc>
                <a:spcPct val="100000"/>
              </a:lnSpc>
              <a:spcBef>
                <a:spcPts val="0"/>
              </a:spcBef>
              <a:spcAft>
                <a:spcPts val="60"/>
              </a:spcAft>
            </a:pPr>
            <a:r>
              <a:rPr sz="664" b="0" i="0">
                <a:solidFill>
                  <a:srgbClr val="E5E7EB"/>
                </a:solidFill>
                <a:latin typeface="Consolas"/>
              </a:rPr>
              <a:t>    Box(double w, double h, double d) {</a:t>
            </a:r>
          </a:p>
          <a:p>
            <a:pPr>
              <a:lnSpc>
                <a:spcPct val="100000"/>
              </a:lnSpc>
              <a:spcBef>
                <a:spcPts val="0"/>
              </a:spcBef>
              <a:spcAft>
                <a:spcPts val="60"/>
              </a:spcAft>
            </a:pPr>
            <a:r>
              <a:rPr sz="664" b="0" i="0">
                <a:solidFill>
                  <a:srgbClr val="E5E7EB"/>
                </a:solidFill>
                <a:latin typeface="Consolas"/>
              </a:rPr>
              <a:t>        width = w; height = h; depth = d;</a:t>
            </a:r>
          </a:p>
          <a:p>
            <a:pPr>
              <a:lnSpc>
                <a:spcPct val="100000"/>
              </a:lnSpc>
              <a:spcBef>
                <a:spcPts val="0"/>
              </a:spcBef>
              <a:spcAft>
                <a:spcPts val="60"/>
              </a:spcAft>
            </a:pPr>
            <a:r>
              <a:rPr sz="664" b="0" i="0">
                <a:solidFill>
                  <a:srgbClr val="E5E7EB"/>
                </a:solidFill>
                <a:latin typeface="Consolas"/>
              </a:rPr>
              <a:t>    }</a:t>
            </a:r>
          </a:p>
          <a:p>
            <a:pPr>
              <a:lnSpc>
                <a:spcPct val="100000"/>
              </a:lnSpc>
              <a:spcBef>
                <a:spcPts val="0"/>
              </a:spcBef>
              <a:spcAft>
                <a:spcPts val="60"/>
              </a:spcAft>
            </a:pPr>
            <a:r>
              <a:rPr sz="664" b="0" i="0">
                <a:solidFill>
                  <a:srgbClr val="E5E7EB"/>
                </a:solidFill>
                <a:latin typeface="Consolas"/>
              </a:rPr>
              <a:t>    Box(Box b) {               // copy constructor: object as parameter</a:t>
            </a:r>
          </a:p>
          <a:p>
            <a:pPr>
              <a:lnSpc>
                <a:spcPct val="100000"/>
              </a:lnSpc>
              <a:spcBef>
                <a:spcPts val="0"/>
              </a:spcBef>
              <a:spcAft>
                <a:spcPts val="60"/>
              </a:spcAft>
            </a:pPr>
            <a:r>
              <a:rPr sz="664" b="0" i="0">
                <a:solidFill>
                  <a:srgbClr val="E5E7EB"/>
                </a:solidFill>
                <a:latin typeface="Consolas"/>
              </a:rPr>
              <a:t>        width = b.width; height = b.height; depth = b.depth;</a:t>
            </a:r>
          </a:p>
          <a:p>
            <a:pPr>
              <a:lnSpc>
                <a:spcPct val="100000"/>
              </a:lnSpc>
              <a:spcBef>
                <a:spcPts val="0"/>
              </a:spcBef>
              <a:spcAft>
                <a:spcPts val="60"/>
              </a:spcAft>
            </a:pPr>
            <a:r>
              <a:rPr sz="664" b="0" i="0">
                <a:solidFill>
                  <a:srgbClr val="E5E7EB"/>
                </a:solidFill>
                <a:latin typeface="Consolas"/>
              </a:rPr>
              <a:t>    }</a:t>
            </a:r>
          </a:p>
          <a:p>
            <a:pPr>
              <a:lnSpc>
                <a:spcPct val="100000"/>
              </a:lnSpc>
              <a:spcBef>
                <a:spcPts val="0"/>
              </a:spcBef>
              <a:spcAft>
                <a:spcPts val="60"/>
              </a:spcAft>
            </a:pPr>
            <a:r>
              <a:rPr sz="664" b="0" i="0">
                <a:solidFill>
                  <a:srgbClr val="E5E7EB"/>
                </a:solidFill>
                <a:latin typeface="Consolas"/>
              </a:rPr>
              <a:t>    void set(double w, double h, double d) {</a:t>
            </a:r>
          </a:p>
          <a:p>
            <a:pPr>
              <a:lnSpc>
                <a:spcPct val="100000"/>
              </a:lnSpc>
              <a:spcBef>
                <a:spcPts val="0"/>
              </a:spcBef>
              <a:spcAft>
                <a:spcPts val="60"/>
              </a:spcAft>
            </a:pPr>
            <a:r>
              <a:rPr sz="664" b="0" i="0">
                <a:solidFill>
                  <a:srgbClr val="E5E7EB"/>
                </a:solidFill>
                <a:latin typeface="Consolas"/>
              </a:rPr>
              <a:t>        this.width = w; this.height = h; this.depth = d;   // this disambiguates</a:t>
            </a:r>
          </a:p>
          <a:p>
            <a:pPr>
              <a:lnSpc>
                <a:spcPct val="100000"/>
              </a:lnSpc>
              <a:spcBef>
                <a:spcPts val="0"/>
              </a:spcBef>
              <a:spcAft>
                <a:spcPts val="60"/>
              </a:spcAft>
            </a:pPr>
            <a:r>
              <a:rPr sz="664" b="0" i="0">
                <a:solidFill>
                  <a:srgbClr val="E5E7EB"/>
                </a:solidFill>
                <a:latin typeface="Consolas"/>
              </a:rPr>
              <a:t>    }</a:t>
            </a:r>
          </a:p>
          <a:p>
            <a:pPr>
              <a:lnSpc>
                <a:spcPct val="100000"/>
              </a:lnSpc>
              <a:spcBef>
                <a:spcPts val="0"/>
              </a:spcBef>
              <a:spcAft>
                <a:spcPts val="60"/>
              </a:spcAft>
            </a:pPr>
            <a:r>
              <a:rPr sz="664" b="0" i="0">
                <a:solidFill>
                  <a:srgbClr val="E5E7EB"/>
                </a:solidFill>
                <a:latin typeface="Consolas"/>
              </a:rPr>
              <a:t>    double volume() { return width * height * depth; }</a:t>
            </a:r>
          </a:p>
          <a:p>
            <a:pPr>
              <a:lnSpc>
                <a:spcPct val="100000"/>
              </a:lnSpc>
              <a:spcBef>
                <a:spcPts val="0"/>
              </a:spcBef>
              <a:spcAft>
                <a:spcPts val="60"/>
              </a:spcAft>
            </a:pPr>
            <a:r>
              <a:rPr sz="664" b="0" i="0">
                <a:solidFill>
                  <a:srgbClr val="E5E7EB"/>
                </a:solidFill>
                <a:latin typeface="Consolas"/>
              </a:rPr>
              <a:t>    Box enlarged(double f) {   // method that returns an object</a:t>
            </a:r>
          </a:p>
          <a:p>
            <a:pPr>
              <a:lnSpc>
                <a:spcPct val="100000"/>
              </a:lnSpc>
              <a:spcBef>
                <a:spcPts val="0"/>
              </a:spcBef>
              <a:spcAft>
                <a:spcPts val="60"/>
              </a:spcAft>
            </a:pPr>
            <a:r>
              <a:rPr sz="664" b="0" i="0">
                <a:solidFill>
                  <a:srgbClr val="E5E7EB"/>
                </a:solidFill>
                <a:latin typeface="Consolas"/>
              </a:rPr>
              <a:t>        return new Box(width * f, height * f, depth * f);</a:t>
            </a:r>
          </a:p>
          <a:p>
            <a:pPr>
              <a:lnSpc>
                <a:spcPct val="100000"/>
              </a:lnSpc>
              <a:spcBef>
                <a:spcPts val="0"/>
              </a:spcBef>
              <a:spcAft>
                <a:spcPts val="60"/>
              </a:spcAft>
            </a:pPr>
            <a:r>
              <a:rPr sz="664" b="0" i="0">
                <a:solidFill>
                  <a:srgbClr val="E5E7EB"/>
                </a:solidFill>
                <a:latin typeface="Consolas"/>
              </a:rPr>
              <a:t>    }</a:t>
            </a:r>
          </a:p>
          <a:p>
            <a:pPr>
              <a:lnSpc>
                <a:spcPct val="100000"/>
              </a:lnSpc>
              <a:spcBef>
                <a:spcPts val="0"/>
              </a:spcBef>
              <a:spcAft>
                <a:spcPts val="60"/>
              </a:spcAft>
            </a:pPr>
            <a:r>
              <a:rPr sz="664" b="0" i="0">
                <a:solidFill>
                  <a:srgbClr val="E5E7EB"/>
                </a:solidFill>
                <a:latin typeface="Consolas"/>
              </a:rPr>
              <a:t>}</a:t>
            </a:r>
          </a:p>
          <a:p>
            <a:pPr>
              <a:lnSpc>
                <a:spcPct val="100000"/>
              </a:lnSpc>
              <a:spcBef>
                <a:spcPts val="0"/>
              </a:spcBef>
              <a:spcAft>
                <a:spcPts val="60"/>
              </a:spcAft>
            </a:pPr>
            <a:r>
              <a:rPr sz="664" b="0" i="0">
                <a:solidFill>
                  <a:srgbClr val="E5E7EB"/>
                </a:solidFill>
                <a:latin typeface="Consolas"/>
              </a:rPr>
              <a:t> </a:t>
            </a:r>
          </a:p>
          <a:p>
            <a:pPr>
              <a:lnSpc>
                <a:spcPct val="100000"/>
              </a:lnSpc>
              <a:spcBef>
                <a:spcPts val="0"/>
              </a:spcBef>
              <a:spcAft>
                <a:spcPts val="60"/>
              </a:spcAft>
            </a:pPr>
            <a:r>
              <a:rPr sz="664" b="0" i="0">
                <a:solidFill>
                  <a:srgbClr val="E5E7EB"/>
                </a:solidFill>
                <a:latin typeface="Consolas"/>
              </a:rPr>
              <a:t>public class Main {</a:t>
            </a:r>
          </a:p>
          <a:p>
            <a:pPr>
              <a:lnSpc>
                <a:spcPct val="100000"/>
              </a:lnSpc>
              <a:spcBef>
                <a:spcPts val="0"/>
              </a:spcBef>
              <a:spcAft>
                <a:spcPts val="60"/>
              </a:spcAft>
            </a:pPr>
            <a:r>
              <a:rPr sz="664" b="0" i="0">
                <a:solidFill>
                  <a:srgbClr val="E5E7EB"/>
                </a:solidFill>
                <a:latin typeface="Consolas"/>
              </a:rPr>
              <a:t>    public static void main(String[] args) {</a:t>
            </a:r>
          </a:p>
          <a:p>
            <a:pPr>
              <a:lnSpc>
                <a:spcPct val="100000"/>
              </a:lnSpc>
              <a:spcBef>
                <a:spcPts val="0"/>
              </a:spcBef>
              <a:spcAft>
                <a:spcPts val="60"/>
              </a:spcAft>
            </a:pPr>
            <a:r>
              <a:rPr sz="664" b="0" i="0">
                <a:solidFill>
                  <a:srgbClr val="E5E7EB"/>
                </a:solidFill>
                <a:latin typeface="Consolas"/>
              </a:rPr>
              <a:t>        Box a = new Box();                    // 1 x 1 x 1 via this(...)</a:t>
            </a:r>
          </a:p>
          <a:p>
            <a:pPr>
              <a:lnSpc>
                <a:spcPct val="100000"/>
              </a:lnSpc>
              <a:spcBef>
                <a:spcPts val="0"/>
              </a:spcBef>
              <a:spcAft>
                <a:spcPts val="60"/>
              </a:spcAft>
            </a:pPr>
            <a:r>
              <a:rPr sz="664" b="0" i="0">
                <a:solidFill>
                  <a:srgbClr val="E5E7EB"/>
                </a:solidFill>
                <a:latin typeface="Consolas"/>
              </a:rPr>
              <a:t>        Box b = new Box(2.0, 3.0, 4.0);</a:t>
            </a:r>
          </a:p>
          <a:p>
            <a:pPr>
              <a:lnSpc>
                <a:spcPct val="100000"/>
              </a:lnSpc>
              <a:spcBef>
                <a:spcPts val="0"/>
              </a:spcBef>
              <a:spcAft>
                <a:spcPts val="60"/>
              </a:spcAft>
            </a:pPr>
            <a:r>
              <a:rPr sz="664" b="0" i="0">
                <a:solidFill>
                  <a:srgbClr val="E5E7EB"/>
                </a:solidFill>
                <a:latin typeface="Consolas"/>
              </a:rPr>
              <a:t>        Box c = new Box(b);                   // copy</a:t>
            </a:r>
          </a:p>
          <a:p>
            <a:pPr>
              <a:lnSpc>
                <a:spcPct val="100000"/>
              </a:lnSpc>
              <a:spcBef>
                <a:spcPts val="0"/>
              </a:spcBef>
              <a:spcAft>
                <a:spcPts val="60"/>
              </a:spcAft>
            </a:pPr>
            <a:r>
              <a:rPr sz="664" b="0" i="0">
                <a:solidFill>
                  <a:srgbClr val="E5E7EB"/>
                </a:solidFill>
                <a:latin typeface="Consolas"/>
              </a:rPr>
              <a:t> </a:t>
            </a:r>
          </a:p>
          <a:p>
            <a:pPr>
              <a:lnSpc>
                <a:spcPct val="100000"/>
              </a:lnSpc>
              <a:spcBef>
                <a:spcPts val="0"/>
              </a:spcBef>
              <a:spcAft>
                <a:spcPts val="60"/>
              </a:spcAft>
            </a:pPr>
            <a:r>
              <a:rPr sz="664" b="0" i="0">
                <a:solidFill>
                  <a:srgbClr val="E5E7EB"/>
                </a:solidFill>
                <a:latin typeface="Consolas"/>
              </a:rPr>
              <a:t>        System.out.println("a.volume() = " + a.volume());</a:t>
            </a:r>
          </a:p>
          <a:p>
            <a:pPr>
              <a:lnSpc>
                <a:spcPct val="100000"/>
              </a:lnSpc>
              <a:spcBef>
                <a:spcPts val="0"/>
              </a:spcBef>
              <a:spcAft>
                <a:spcPts val="60"/>
              </a:spcAft>
            </a:pPr>
            <a:r>
              <a:rPr sz="664" b="0" i="0">
                <a:solidFill>
                  <a:srgbClr val="E5E7EB"/>
                </a:solidFill>
                <a:latin typeface="Consolas"/>
              </a:rPr>
              <a:t>        System.out.println("b.volume() = " + b.volume());</a:t>
            </a:r>
          </a:p>
          <a:p>
            <a:pPr>
              <a:lnSpc>
                <a:spcPct val="100000"/>
              </a:lnSpc>
              <a:spcBef>
                <a:spcPts val="0"/>
              </a:spcBef>
              <a:spcAft>
                <a:spcPts val="60"/>
              </a:spcAft>
            </a:pPr>
            <a:r>
              <a:rPr sz="664" b="0" i="0">
                <a:solidFill>
                  <a:srgbClr val="E5E7EB"/>
                </a:solidFill>
                <a:latin typeface="Consolas"/>
              </a:rPr>
              <a:t>  …  (complete source: the course book)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Class machinery: overloading, static, final, nesting</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11</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One name, three signatures — </a:t>
            </a:r>
            <a:r>
              <a:rPr sz="1250" b="0" i="0">
                <a:solidFill>
                  <a:srgbClr val="B3261E"/>
                </a:solidFill>
                <a:latin typeface="Consolas"/>
              </a:rPr>
              <a:t>area(3)         = 9.0</a:t>
            </a:r>
            <a:r>
              <a:rPr sz="1450" b="0" i="0">
                <a:solidFill>
                  <a:srgbClr val="16181D"/>
                </a:solidFill>
                <a:latin typeface="Calibri"/>
              </a:rPr>
              <a:t> with widening; </a:t>
            </a:r>
            <a:r>
              <a:rPr sz="1250" b="0" i="0">
                <a:solidFill>
                  <a:srgbClr val="B3261E"/>
                </a:solidFill>
                <a:latin typeface="Consolas"/>
              </a:rPr>
              <a:t>area(3, 4, 5)   = 94.0</a:t>
            </a:r>
            <a:r>
              <a:rPr sz="1450" b="0" i="0">
                <a:solidFill>
                  <a:srgbClr val="16181D"/>
                </a:solidFill>
                <a:latin typeface="Calibri"/>
              </a:rPr>
              <a:t> picks the 3-arg arm.</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static = one per class: </a:t>
            </a:r>
            <a:r>
              <a:rPr sz="1300" b="0" i="0">
                <a:solidFill>
                  <a:srgbClr val="B3261E"/>
                </a:solidFill>
                <a:latin typeface="Consolas"/>
              </a:rPr>
              <a:t>static counter after 3 calls: 3</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Recursion with a base case: </a:t>
            </a:r>
            <a:r>
              <a:rPr sz="1300" b="0" i="0">
                <a:solidFill>
                  <a:srgbClr val="B3261E"/>
                </a:solidFill>
                <a:latin typeface="Consolas"/>
              </a:rPr>
              <a:t>factorial(10)   = 3628800</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final field pinned per object: </a:t>
            </a:r>
            <a:r>
              <a:rPr sz="1300" b="0" i="0">
                <a:solidFill>
                  <a:srgbClr val="16181D"/>
                </a:solidFill>
                <a:latin typeface="Consolas"/>
              </a:rPr>
              <a:t>MAX_STEPS = 100</a:t>
            </a:r>
            <a:r>
              <a:rPr sz="1450" b="0" i="0">
                <a:solidFill>
                  <a:srgbClr val="16181D"/>
                </a:solidFill>
                <a:latin typeface="Calibri"/>
              </a:rPr>
              <a:t>; access control decides who sees what.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Inner classes see the outer's private state: </a:t>
            </a:r>
            <a:r>
              <a:rPr sz="1300" b="0" i="0">
                <a:solidFill>
                  <a:srgbClr val="B3261E"/>
                </a:solidFill>
                <a:latin typeface="Consolas"/>
              </a:rPr>
              <a:t>inner reads private of outer: 42</a:t>
            </a:r>
            <a:r>
              <a:rPr sz="1450" b="0" i="0">
                <a:solidFill>
                  <a:srgbClr val="16181D"/>
                </a:solidFill>
                <a:latin typeface="Calibri"/>
              </a:rPr>
              <a:t>.</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src/t2_methods/</a:t>
            </a:r>
          </a:p>
        </p:txBody>
      </p:sp>
      <p:sp>
        <p:nvSpPr>
          <p:cNvPr id="12" name="TextBox 11"/>
          <p:cNvSpPr txBox="1"/>
          <p:nvPr/>
        </p:nvSpPr>
        <p:spPr>
          <a:xfrm>
            <a:off x="7388352" y="2002536"/>
            <a:ext cx="4169664" cy="4279392"/>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 src/t2_methods/Main.java ———</a:t>
            </a:r>
          </a:p>
          <a:p>
            <a:pPr>
              <a:lnSpc>
                <a:spcPct val="100000"/>
              </a:lnSpc>
              <a:spcBef>
                <a:spcPts val="0"/>
              </a:spcBef>
              <a:spcAft>
                <a:spcPts val="60"/>
              </a:spcAft>
            </a:pPr>
            <a:r>
              <a:rPr sz="640" b="0" i="0">
                <a:solidFill>
                  <a:srgbClr val="E5E7EB"/>
                </a:solidFill>
                <a:latin typeface="Consolas"/>
              </a:rPr>
              <a:t>// Module 2, demo 2 -- methods and classes in depth: overloading methods</a:t>
            </a:r>
          </a:p>
          <a:p>
            <a:pPr>
              <a:lnSpc>
                <a:spcPct val="100000"/>
              </a:lnSpc>
              <a:spcBef>
                <a:spcPts val="0"/>
              </a:spcBef>
              <a:spcAft>
                <a:spcPts val="60"/>
              </a:spcAft>
            </a:pPr>
            <a:r>
              <a:rPr sz="640" b="0" i="0">
                <a:solidFill>
                  <a:srgbClr val="E5E7EB"/>
                </a:solidFill>
                <a:latin typeface="Consolas"/>
              </a:rPr>
              <a:t>// and constructors, objects as parameters, returning objects, recursion,</a:t>
            </a:r>
          </a:p>
          <a:p>
            <a:pPr>
              <a:lnSpc>
                <a:spcPct val="100000"/>
              </a:lnSpc>
              <a:spcBef>
                <a:spcPts val="0"/>
              </a:spcBef>
              <a:spcAft>
                <a:spcPts val="60"/>
              </a:spcAft>
            </a:pPr>
            <a:r>
              <a:rPr sz="640" b="0" i="0">
                <a:solidFill>
                  <a:srgbClr val="E5E7EB"/>
                </a:solidFill>
                <a:latin typeface="Consolas"/>
              </a:rPr>
              <a:t>// static members, final fields, nested (static) and inner classes.</a:t>
            </a:r>
          </a:p>
          <a:p>
            <a:pPr>
              <a:lnSpc>
                <a:spcPct val="100000"/>
              </a:lnSpc>
              <a:spcBef>
                <a:spcPts val="0"/>
              </a:spcBef>
              <a:spcAft>
                <a:spcPts val="60"/>
              </a:spcAft>
            </a:pPr>
            <a:r>
              <a:rPr sz="640" b="0" i="0">
                <a:solidFill>
                  <a:srgbClr val="E5E7EB"/>
                </a:solidFill>
                <a:latin typeface="Consolas"/>
              </a:rPr>
              <a:t>class Calc {</a:t>
            </a:r>
          </a:p>
          <a:p>
            <a:pPr>
              <a:lnSpc>
                <a:spcPct val="100000"/>
              </a:lnSpc>
              <a:spcBef>
                <a:spcPts val="0"/>
              </a:spcBef>
              <a:spcAft>
                <a:spcPts val="60"/>
              </a:spcAft>
            </a:pPr>
            <a:r>
              <a:rPr sz="640" b="0" i="0">
                <a:solidFill>
                  <a:srgbClr val="E5E7EB"/>
                </a:solidFill>
                <a:latin typeface="Consolas"/>
              </a:rPr>
              <a:t>    static int calls = 0;                 // static field: one copy per class</a:t>
            </a:r>
          </a:p>
          <a:p>
            <a:pPr>
              <a:lnSpc>
                <a:spcPct val="100000"/>
              </a:lnSpc>
              <a:spcBef>
                <a:spcPts val="0"/>
              </a:spcBef>
              <a:spcAft>
                <a:spcPts val="60"/>
              </a:spcAft>
            </a:pPr>
            <a:r>
              <a:rPr sz="640" b="0" i="0">
                <a:solidFill>
                  <a:srgbClr val="E5E7EB"/>
                </a:solidFill>
                <a:latin typeface="Consolas"/>
              </a:rPr>
              <a:t>    int id;                               // instance field</a:t>
            </a:r>
          </a:p>
          <a:p>
            <a:pPr>
              <a:lnSpc>
                <a:spcPct val="100000"/>
              </a:lnSpc>
              <a:spcBef>
                <a:spcPts val="0"/>
              </a:spcBef>
              <a:spcAft>
                <a:spcPts val="60"/>
              </a:spcAft>
            </a:pPr>
            <a:r>
              <a:rPr sz="640" b="0" i="0">
                <a:solidFill>
                  <a:srgbClr val="E5E7EB"/>
                </a:solidFill>
                <a:latin typeface="Consolas"/>
              </a:rPr>
              <a:t>    final int MAX_STEPS = 100;            // final instance constant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Calc()       { this(1); }             // constructor overloading via this</a:t>
            </a:r>
          </a:p>
          <a:p>
            <a:pPr>
              <a:lnSpc>
                <a:spcPct val="100000"/>
              </a:lnSpc>
              <a:spcBef>
                <a:spcPts val="0"/>
              </a:spcBef>
              <a:spcAft>
                <a:spcPts val="60"/>
              </a:spcAft>
            </a:pPr>
            <a:r>
              <a:rPr sz="640" b="0" i="0">
                <a:solidFill>
                  <a:srgbClr val="E5E7EB"/>
                </a:solidFill>
                <a:latin typeface="Consolas"/>
              </a:rPr>
              <a:t>    Calc(int id) { this.id = id;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double area(double side)                    { calls++; return side * side; }</a:t>
            </a:r>
          </a:p>
          <a:p>
            <a:pPr>
              <a:lnSpc>
                <a:spcPct val="100000"/>
              </a:lnSpc>
              <a:spcBef>
                <a:spcPts val="0"/>
              </a:spcBef>
              <a:spcAft>
                <a:spcPts val="60"/>
              </a:spcAft>
            </a:pPr>
            <a:r>
              <a:rPr sz="640" b="0" i="0">
                <a:solidFill>
                  <a:srgbClr val="E5E7EB"/>
                </a:solidFill>
                <a:latin typeface="Consolas"/>
              </a:rPr>
              <a:t>    double area(double w, double h)             { calls++; return w * h; }</a:t>
            </a:r>
          </a:p>
          <a:p>
            <a:pPr>
              <a:lnSpc>
                <a:spcPct val="100000"/>
              </a:lnSpc>
              <a:spcBef>
                <a:spcPts val="0"/>
              </a:spcBef>
              <a:spcAft>
                <a:spcPts val="60"/>
              </a:spcAft>
            </a:pPr>
            <a:r>
              <a:rPr sz="640" b="0" i="0">
                <a:solidFill>
                  <a:srgbClr val="E5E7EB"/>
                </a:solidFill>
                <a:latin typeface="Consolas"/>
              </a:rPr>
              <a:t>    double area(double w, double h, double d)   { calls++; return 2 * (w*h + w*d + h*d);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static boolean bigger(double[] a, double[] b) {   // arrays as parameters</a:t>
            </a:r>
          </a:p>
          <a:p>
            <a:pPr>
              <a:lnSpc>
                <a:spcPct val="100000"/>
              </a:lnSpc>
              <a:spcBef>
                <a:spcPts val="0"/>
              </a:spcBef>
              <a:spcAft>
                <a:spcPts val="60"/>
              </a:spcAft>
            </a:pPr>
            <a:r>
              <a:rPr sz="640" b="0" i="0">
                <a:solidFill>
                  <a:srgbClr val="E5E7EB"/>
                </a:solidFill>
                <a:latin typeface="Consolas"/>
              </a:rPr>
              <a:t>        return a[0]*a[1] &gt; b[0]*b[1];</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long factorial(int n) {                          // recursion</a:t>
            </a:r>
          </a:p>
          <a:p>
            <a:pPr>
              <a:lnSpc>
                <a:spcPct val="100000"/>
              </a:lnSpc>
              <a:spcBef>
                <a:spcPts val="0"/>
              </a:spcBef>
              <a:spcAft>
                <a:spcPts val="60"/>
              </a:spcAft>
            </a:pPr>
            <a:r>
              <a:rPr sz="640" b="0" i="0">
                <a:solidFill>
                  <a:srgbClr val="E5E7EB"/>
                </a:solidFill>
                <a:latin typeface="Consolas"/>
              </a:rPr>
              <a:t>        if (n &lt;= 1) return 1;</a:t>
            </a:r>
          </a:p>
          <a:p>
            <a:pPr>
              <a:lnSpc>
                <a:spcPct val="100000"/>
              </a:lnSpc>
              <a:spcBef>
                <a:spcPts val="0"/>
              </a:spcBef>
              <a:spcAft>
                <a:spcPts val="60"/>
              </a:spcAft>
            </a:pPr>
            <a:r>
              <a:rPr sz="640" b="0" i="0">
                <a:solidFill>
                  <a:srgbClr val="E5E7EB"/>
                </a:solidFill>
                <a:latin typeface="Consolas"/>
              </a:rPr>
              <a:t>        return n * factorial(n - 1);</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static int callsSoFar() { return calls; }        // static method</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class Outer {</a:t>
            </a:r>
          </a:p>
          <a:p>
            <a:pPr>
              <a:lnSpc>
                <a:spcPct val="100000"/>
              </a:lnSpc>
              <a:spcBef>
                <a:spcPts val="0"/>
              </a:spcBef>
              <a:spcAft>
                <a:spcPts val="60"/>
              </a:spcAft>
            </a:pPr>
            <a:r>
              <a:rPr sz="640" b="0" i="0">
                <a:solidFill>
                  <a:srgbClr val="E5E7EB"/>
                </a:solidFill>
                <a:latin typeface="Consolas"/>
              </a:rPr>
              <a:t>    private int secret = 42;</a:t>
            </a:r>
          </a:p>
          <a:p>
            <a:pPr>
              <a:lnSpc>
                <a:spcPct val="100000"/>
              </a:lnSpc>
              <a:spcBef>
                <a:spcPts val="0"/>
              </a:spcBef>
              <a:spcAft>
                <a:spcPts val="60"/>
              </a:spcAft>
            </a:pPr>
            <a:r>
              <a:rPr sz="640" b="0" i="0">
                <a:solidFill>
                  <a:srgbClr val="E5E7EB"/>
                </a:solidFill>
                <a:latin typeface="Consolas"/>
              </a:rPr>
              <a:t>    class Inner {                          // member inner class</a:t>
            </a:r>
          </a:p>
          <a:p>
            <a:pPr>
              <a:lnSpc>
                <a:spcPct val="100000"/>
              </a:lnSpc>
              <a:spcBef>
                <a:spcPts val="0"/>
              </a:spcBef>
              <a:spcAft>
                <a:spcPts val="60"/>
              </a:spcAft>
            </a:pPr>
            <a:r>
              <a:rPr sz="640" b="0" i="0">
                <a:solidFill>
                  <a:srgbClr val="E5E7EB"/>
                </a:solidFill>
                <a:latin typeface="Consolas"/>
              </a:rPr>
              <a:t>        int peek() { return secret; }      // inner sees private of outer</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static class StaticNested {            // nested class, no outer instance</a:t>
            </a:r>
          </a:p>
          <a:p>
            <a:pPr>
              <a:lnSpc>
                <a:spcPct val="100000"/>
              </a:lnSpc>
              <a:spcBef>
                <a:spcPts val="0"/>
              </a:spcBef>
              <a:spcAft>
                <a:spcPts val="60"/>
              </a:spcAft>
            </a:pPr>
            <a:r>
              <a:rPr sz="640" b="0" i="0">
                <a:solidFill>
                  <a:srgbClr val="E5E7EB"/>
                </a:solidFill>
                <a:latin typeface="Consolas"/>
              </a:rPr>
              <a:t>        static String hello() { return "static nested class here"; }</a:t>
            </a:r>
          </a:p>
          <a:p>
            <a:pPr>
              <a:lnSpc>
                <a:spcPct val="100000"/>
              </a:lnSpc>
              <a:spcBef>
                <a:spcPts val="0"/>
              </a:spcBef>
              <a:spcAft>
                <a:spcPts val="60"/>
              </a:spcAft>
            </a:pPr>
            <a:r>
              <a:rPr sz="640" b="0" i="0">
                <a:solidFill>
                  <a:srgbClr val="E5E7EB"/>
                </a:solidFill>
                <a:latin typeface="Consolas"/>
              </a:rPr>
              <a:t>  …  (complete source: the course book)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t2_classes (compiled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12</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src/t2_classes/Main.java</a:t>
            </a:r>
          </a:p>
        </p:txBody>
      </p:sp>
      <p:sp>
        <p:nvSpPr>
          <p:cNvPr id="11" name="TextBox 10"/>
          <p:cNvSpPr txBox="1"/>
          <p:nvPr/>
        </p:nvSpPr>
        <p:spPr>
          <a:xfrm>
            <a:off x="667512" y="1975104"/>
            <a:ext cx="5815584" cy="4325112"/>
          </a:xfrm>
          <a:prstGeom prst="rect">
            <a:avLst/>
          </a:prstGeom>
          <a:noFill/>
        </p:spPr>
        <p:txBody>
          <a:bodyPr wrap="none" anchor="t" lIns="0" rIns="0" tIns="0" bIns="0">
            <a:spAutoFit/>
          </a:bodyPr>
          <a:lstStyle/>
          <a:p>
            <a:pPr>
              <a:lnSpc>
                <a:spcPct val="100000"/>
              </a:lnSpc>
              <a:spcBef>
                <a:spcPts val="0"/>
              </a:spcBef>
              <a:spcAft>
                <a:spcPts val="60"/>
              </a:spcAft>
            </a:pPr>
            <a:r>
              <a:rPr sz="770" b="0" i="0">
                <a:solidFill>
                  <a:srgbClr val="E5E7EB"/>
                </a:solidFill>
                <a:latin typeface="Consolas"/>
              </a:rPr>
              <a:t>// ——— src/t2_classes/Main.java ———</a:t>
            </a:r>
          </a:p>
          <a:p>
            <a:pPr>
              <a:lnSpc>
                <a:spcPct val="100000"/>
              </a:lnSpc>
              <a:spcBef>
                <a:spcPts val="0"/>
              </a:spcBef>
              <a:spcAft>
                <a:spcPts val="60"/>
              </a:spcAft>
            </a:pPr>
            <a:r>
              <a:rPr sz="770" b="0" i="0">
                <a:solidFill>
                  <a:srgbClr val="E5E7EB"/>
                </a:solidFill>
                <a:latin typeface="Consolas"/>
              </a:rPr>
              <a:t>// Module 2, demo 1 -- class fundamentals: fields, constructors (default,</a:t>
            </a:r>
          </a:p>
          <a:p>
            <a:pPr>
              <a:lnSpc>
                <a:spcPct val="100000"/>
              </a:lnSpc>
              <a:spcBef>
                <a:spcPts val="0"/>
              </a:spcBef>
              <a:spcAft>
                <a:spcPts val="60"/>
              </a:spcAft>
            </a:pPr>
            <a:r>
              <a:rPr sz="770" b="0" i="0">
                <a:solidFill>
                  <a:srgbClr val="E5E7EB"/>
                </a:solidFill>
                <a:latin typeface="Consolas"/>
              </a:rPr>
              <a:t>// parameterised, overloaded with this(...)), accessors, assigning object</a:t>
            </a:r>
          </a:p>
          <a:p>
            <a:pPr>
              <a:lnSpc>
                <a:spcPct val="100000"/>
              </a:lnSpc>
              <a:spcBef>
                <a:spcPts val="0"/>
              </a:spcBef>
              <a:spcAft>
                <a:spcPts val="60"/>
              </a:spcAft>
            </a:pPr>
            <a:r>
              <a:rPr sz="770" b="0" i="0">
                <a:solidFill>
                  <a:srgbClr val="E5E7EB"/>
                </a:solidFill>
                <a:latin typeface="Consolas"/>
              </a:rPr>
              <a:t>// references (aliasing) and reaching for the garbage collector.</a:t>
            </a:r>
          </a:p>
          <a:p>
            <a:pPr>
              <a:lnSpc>
                <a:spcPct val="100000"/>
              </a:lnSpc>
              <a:spcBef>
                <a:spcPts val="0"/>
              </a:spcBef>
              <a:spcAft>
                <a:spcPts val="60"/>
              </a:spcAft>
            </a:pPr>
            <a:r>
              <a:rPr sz="770" b="0" i="0">
                <a:solidFill>
                  <a:srgbClr val="E5E7EB"/>
                </a:solidFill>
                <a:latin typeface="Consolas"/>
              </a:rPr>
              <a:t>class Box {</a:t>
            </a:r>
          </a:p>
          <a:p>
            <a:pPr>
              <a:lnSpc>
                <a:spcPct val="100000"/>
              </a:lnSpc>
              <a:spcBef>
                <a:spcPts val="0"/>
              </a:spcBef>
              <a:spcAft>
                <a:spcPts val="60"/>
              </a:spcAft>
            </a:pPr>
            <a:r>
              <a:rPr sz="770" b="0" i="0">
                <a:solidFill>
                  <a:srgbClr val="E5E7EB"/>
                </a:solidFill>
                <a:latin typeface="Consolas"/>
              </a:rPr>
              <a:t>    double width, height, depth;</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    Box() {                    // default constructor</a:t>
            </a:r>
          </a:p>
          <a:p>
            <a:pPr>
              <a:lnSpc>
                <a:spcPct val="100000"/>
              </a:lnSpc>
              <a:spcBef>
                <a:spcPts val="0"/>
              </a:spcBef>
              <a:spcAft>
                <a:spcPts val="60"/>
              </a:spcAft>
            </a:pPr>
            <a:r>
              <a:rPr sz="770" b="0" i="0">
                <a:solidFill>
                  <a:srgbClr val="E5E7EB"/>
                </a:solidFill>
                <a:latin typeface="Consolas"/>
              </a:rPr>
              <a:t>        this(1, 1, 1);         // this(...) -&gt; call the other constructor</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    Box(double w, double h, double d) {</a:t>
            </a:r>
          </a:p>
          <a:p>
            <a:pPr>
              <a:lnSpc>
                <a:spcPct val="100000"/>
              </a:lnSpc>
              <a:spcBef>
                <a:spcPts val="0"/>
              </a:spcBef>
              <a:spcAft>
                <a:spcPts val="60"/>
              </a:spcAft>
            </a:pPr>
            <a:r>
              <a:rPr sz="770" b="0" i="0">
                <a:solidFill>
                  <a:srgbClr val="E5E7EB"/>
                </a:solidFill>
                <a:latin typeface="Consolas"/>
              </a:rPr>
              <a:t>        width = w; height = h; depth = d;</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    Box(Box b) {               // copy constructor: object as parameter</a:t>
            </a:r>
          </a:p>
          <a:p>
            <a:pPr>
              <a:lnSpc>
                <a:spcPct val="100000"/>
              </a:lnSpc>
              <a:spcBef>
                <a:spcPts val="0"/>
              </a:spcBef>
              <a:spcAft>
                <a:spcPts val="60"/>
              </a:spcAft>
            </a:pPr>
            <a:r>
              <a:rPr sz="770" b="0" i="0">
                <a:solidFill>
                  <a:srgbClr val="E5E7EB"/>
                </a:solidFill>
                <a:latin typeface="Consolas"/>
              </a:rPr>
              <a:t>        width = b.width; height = b.height; depth = b.depth;</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    void set(double w, double h, double d) {</a:t>
            </a:r>
          </a:p>
          <a:p>
            <a:pPr>
              <a:lnSpc>
                <a:spcPct val="100000"/>
              </a:lnSpc>
              <a:spcBef>
                <a:spcPts val="0"/>
              </a:spcBef>
              <a:spcAft>
                <a:spcPts val="60"/>
              </a:spcAft>
            </a:pPr>
            <a:r>
              <a:rPr sz="770" b="0" i="0">
                <a:solidFill>
                  <a:srgbClr val="E5E7EB"/>
                </a:solidFill>
                <a:latin typeface="Consolas"/>
              </a:rPr>
              <a:t>        this.width = w; this.height = h; this.depth = d;   // this disambiguates</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    double volume() { return width * height * depth; }</a:t>
            </a:r>
          </a:p>
          <a:p>
            <a:pPr>
              <a:lnSpc>
                <a:spcPct val="100000"/>
              </a:lnSpc>
              <a:spcBef>
                <a:spcPts val="0"/>
              </a:spcBef>
              <a:spcAft>
                <a:spcPts val="60"/>
              </a:spcAft>
            </a:pPr>
            <a:r>
              <a:rPr sz="770" b="0" i="0">
                <a:solidFill>
                  <a:srgbClr val="E5E7EB"/>
                </a:solidFill>
                <a:latin typeface="Consolas"/>
              </a:rPr>
              <a:t>    Box enlarged(double f) {   // method that returns an object</a:t>
            </a:r>
          </a:p>
          <a:p>
            <a:pPr>
              <a:lnSpc>
                <a:spcPct val="100000"/>
              </a:lnSpc>
              <a:spcBef>
                <a:spcPts val="0"/>
              </a:spcBef>
              <a:spcAft>
                <a:spcPts val="60"/>
              </a:spcAft>
            </a:pPr>
            <a:r>
              <a:rPr sz="770" b="0" i="0">
                <a:solidFill>
                  <a:srgbClr val="E5E7EB"/>
                </a:solidFill>
                <a:latin typeface="Consolas"/>
              </a:rPr>
              <a:t>        return new Box(width * f, height * f, depth * f);</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public class Main {</a:t>
            </a:r>
          </a:p>
          <a:p>
            <a:pPr>
              <a:lnSpc>
                <a:spcPct val="100000"/>
              </a:lnSpc>
              <a:spcBef>
                <a:spcPts val="0"/>
              </a:spcBef>
              <a:spcAft>
                <a:spcPts val="60"/>
              </a:spcAft>
            </a:pPr>
            <a:r>
              <a:rPr sz="770" b="0" i="0">
                <a:solidFill>
                  <a:srgbClr val="E5E7EB"/>
                </a:solidFill>
                <a:latin typeface="Consolas"/>
              </a:rPr>
              <a:t>    public static void main(String[] args) {</a:t>
            </a:r>
          </a:p>
          <a:p>
            <a:pPr>
              <a:lnSpc>
                <a:spcPct val="100000"/>
              </a:lnSpc>
              <a:spcBef>
                <a:spcPts val="0"/>
              </a:spcBef>
              <a:spcAft>
                <a:spcPts val="60"/>
              </a:spcAft>
            </a:pPr>
            <a:r>
              <a:rPr sz="770" b="0" i="0">
                <a:solidFill>
                  <a:srgbClr val="E5E7EB"/>
                </a:solidFill>
                <a:latin typeface="Consolas"/>
              </a:rPr>
              <a:t>        Box a = new Box();                    // 1 x 1 x 1 via this(...)</a:t>
            </a:r>
          </a:p>
          <a:p>
            <a:pPr>
              <a:lnSpc>
                <a:spcPct val="100000"/>
              </a:lnSpc>
              <a:spcBef>
                <a:spcPts val="0"/>
              </a:spcBef>
              <a:spcAft>
                <a:spcPts val="60"/>
              </a:spcAft>
            </a:pPr>
            <a:r>
              <a:rPr sz="770" b="0" i="0">
                <a:solidFill>
                  <a:srgbClr val="E5E7EB"/>
                </a:solidFill>
                <a:latin typeface="Consolas"/>
              </a:rPr>
              <a:t>        Box b = new Box(2.0, 3.0, 4.0);</a:t>
            </a:r>
          </a:p>
          <a:p>
            <a:pPr>
              <a:lnSpc>
                <a:spcPct val="100000"/>
              </a:lnSpc>
              <a:spcBef>
                <a:spcPts val="0"/>
              </a:spcBef>
              <a:spcAft>
                <a:spcPts val="60"/>
              </a:spcAft>
            </a:pPr>
            <a:r>
              <a:rPr sz="770" b="0" i="0">
                <a:solidFill>
                  <a:srgbClr val="E5E7EB"/>
                </a:solidFill>
                <a:latin typeface="Consolas"/>
              </a:rPr>
              <a:t>        Box c = new Box(b);                   // copy</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        System.out.println("a.volume() = " + a.volume());</a:t>
            </a:r>
          </a:p>
          <a:p>
            <a:pPr>
              <a:lnSpc>
                <a:spcPct val="100000"/>
              </a:lnSpc>
              <a:spcBef>
                <a:spcPts val="0"/>
              </a:spcBef>
              <a:spcAft>
                <a:spcPts val="60"/>
              </a:spcAft>
            </a:pPr>
            <a:r>
              <a:rPr sz="770" b="0" i="0">
                <a:solidFill>
                  <a:srgbClr val="E5E7EB"/>
                </a:solidFill>
                <a:latin typeface="Consolas"/>
              </a:rPr>
              <a:t>        System.out.println("b.volume() = " + b.volume());</a:t>
            </a:r>
          </a:p>
          <a:p>
            <a:pPr>
              <a:lnSpc>
                <a:spcPct val="100000"/>
              </a:lnSpc>
              <a:spcBef>
                <a:spcPts val="0"/>
              </a:spcBef>
              <a:spcAft>
                <a:spcPts val="60"/>
              </a:spcAft>
            </a:pPr>
            <a:r>
              <a:rPr sz="770" b="0" i="0">
                <a:solidFill>
                  <a:srgbClr val="E5E7EB"/>
                </a:solidFill>
                <a:latin typeface="Consolas"/>
              </a:rPr>
              <a:t>  …  (complete source: the course book)</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out/t2_classes.txt</a:t>
            </a:r>
          </a:p>
        </p:txBody>
      </p:sp>
      <p:sp>
        <p:nvSpPr>
          <p:cNvPr id="14" name="TextBox 13"/>
          <p:cNvSpPr txBox="1"/>
          <p:nvPr/>
        </p:nvSpPr>
        <p:spPr>
          <a:xfrm>
            <a:off x="7004304" y="1938528"/>
            <a:ext cx="4572000" cy="4343400"/>
          </a:xfrm>
          <a:prstGeom prst="rect">
            <a:avLst/>
          </a:prstGeom>
          <a:noFill/>
        </p:spPr>
        <p:txBody>
          <a:bodyPr wrap="none" anchor="t" lIns="0" rIns="0" tIns="0" bIns="0">
            <a:spAutoFit/>
          </a:bodyPr>
          <a:lstStyle/>
          <a:p>
            <a:pPr>
              <a:lnSpc>
                <a:spcPct val="100000"/>
              </a:lnSpc>
              <a:spcBef>
                <a:spcPts val="0"/>
              </a:spcBef>
              <a:spcAft>
                <a:spcPts val="60"/>
              </a:spcAft>
            </a:pPr>
            <a:r>
              <a:rPr sz="1166" b="0" i="0">
                <a:solidFill>
                  <a:srgbClr val="14171C"/>
                </a:solidFill>
                <a:latin typeface="Consolas"/>
              </a:rPr>
              <a:t>$ javac -d bin/t2_classes src/t2_classes/Main.java</a:t>
            </a:r>
          </a:p>
          <a:p>
            <a:pPr>
              <a:lnSpc>
                <a:spcPct val="100000"/>
              </a:lnSpc>
              <a:spcBef>
                <a:spcPts val="0"/>
              </a:spcBef>
              <a:spcAft>
                <a:spcPts val="60"/>
              </a:spcAft>
            </a:pPr>
            <a:r>
              <a:rPr sz="1166" b="0" i="0">
                <a:solidFill>
                  <a:srgbClr val="14171C"/>
                </a:solidFill>
                <a:latin typeface="Consolas"/>
              </a:rPr>
              <a:t>$ java -cp bin/t2_classes Main</a:t>
            </a:r>
          </a:p>
          <a:p>
            <a:pPr>
              <a:lnSpc>
                <a:spcPct val="100000"/>
              </a:lnSpc>
              <a:spcBef>
                <a:spcPts val="0"/>
              </a:spcBef>
              <a:spcAft>
                <a:spcPts val="60"/>
              </a:spcAft>
            </a:pPr>
            <a:r>
              <a:rPr sz="1166" b="0" i="0">
                <a:solidFill>
                  <a:srgbClr val="14171C"/>
                </a:solidFill>
                <a:latin typeface="Consolas"/>
              </a:rPr>
              <a:t>a.volume() = 1.0</a:t>
            </a:r>
          </a:p>
          <a:p>
            <a:pPr>
              <a:lnSpc>
                <a:spcPct val="100000"/>
              </a:lnSpc>
              <a:spcBef>
                <a:spcPts val="0"/>
              </a:spcBef>
              <a:spcAft>
                <a:spcPts val="60"/>
              </a:spcAft>
            </a:pPr>
            <a:r>
              <a:rPr sz="1166" b="0" i="0">
                <a:solidFill>
                  <a:srgbClr val="14171C"/>
                </a:solidFill>
                <a:latin typeface="Consolas"/>
              </a:rPr>
              <a:t>b.volume() = 24.0</a:t>
            </a:r>
          </a:p>
          <a:p>
            <a:pPr>
              <a:lnSpc>
                <a:spcPct val="100000"/>
              </a:lnSpc>
              <a:spcBef>
                <a:spcPts val="0"/>
              </a:spcBef>
              <a:spcAft>
                <a:spcPts val="60"/>
              </a:spcAft>
            </a:pPr>
            <a:r>
              <a:rPr sz="1166" b="0" i="0">
                <a:solidFill>
                  <a:srgbClr val="14171C"/>
                </a:solidFill>
                <a:latin typeface="Consolas"/>
              </a:rPr>
              <a:t>c.volume() = 24.0</a:t>
            </a:r>
          </a:p>
          <a:p>
            <a:pPr>
              <a:lnSpc>
                <a:spcPct val="100000"/>
              </a:lnSpc>
              <a:spcBef>
                <a:spcPts val="0"/>
              </a:spcBef>
              <a:spcAft>
                <a:spcPts val="60"/>
              </a:spcAft>
            </a:pPr>
            <a:r>
              <a:rPr sz="1166" b="0" i="0">
                <a:solidFill>
                  <a:srgbClr val="14171C"/>
                </a:solidFill>
                <a:latin typeface="Consolas"/>
              </a:rPr>
              <a:t>after d.set(10,10,10), b.volume() = 1000.0</a:t>
            </a:r>
          </a:p>
          <a:p>
            <a:pPr>
              <a:lnSpc>
                <a:spcPct val="100000"/>
              </a:lnSpc>
              <a:spcBef>
                <a:spcPts val="0"/>
              </a:spcBef>
              <a:spcAft>
                <a:spcPts val="60"/>
              </a:spcAft>
            </a:pPr>
            <a:r>
              <a:rPr sz="1166" b="0" i="0">
                <a:solidFill>
                  <a:srgbClr val="14171C"/>
                </a:solidFill>
                <a:latin typeface="Consolas"/>
              </a:rPr>
              <a:t>b == d : true      (references, not copies)</a:t>
            </a:r>
          </a:p>
          <a:p>
            <a:pPr>
              <a:lnSpc>
                <a:spcPct val="100000"/>
              </a:lnSpc>
              <a:spcBef>
                <a:spcPts val="0"/>
              </a:spcBef>
              <a:spcAft>
                <a:spcPts val="60"/>
              </a:spcAft>
            </a:pPr>
            <a:r>
              <a:rPr sz="1166" b="0" i="0">
                <a:solidFill>
                  <a:srgbClr val="14171C"/>
                </a:solidFill>
                <a:latin typeface="Consolas"/>
              </a:rPr>
              <a:t>c enlarged 2x has volume 192.0</a:t>
            </a:r>
          </a:p>
          <a:p>
            <a:pPr>
              <a:lnSpc>
                <a:spcPct val="100000"/>
              </a:lnSpc>
              <a:spcBef>
                <a:spcPts val="0"/>
              </a:spcBef>
              <a:spcAft>
                <a:spcPts val="60"/>
              </a:spcAft>
            </a:pPr>
            <a:r>
              <a:rPr sz="1166" b="0" i="0">
                <a:solidFill>
                  <a:srgbClr val="14171C"/>
                </a:solidFill>
                <a:latin typeface="Consolas"/>
              </a:rPr>
              <a:t>c == null after losing its reference: true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2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2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13</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The demo printed area(3) = 9.0 — why 9.0 and not 9?</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Sketch the memory picture after Box d = b; d.set(10,10,10);: how many Box objects exist, how many names point at the same one?</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Write a sameSize(Box o) method that takes an object as a parameter and returns this.volume() == o.volume(). Why must it compare volumes rather than the boxes themselves?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What breaks if you add a constructor Box(int w) and call new Box(3) while Box(double …) arms exist?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Give one reason each to make a member static, final, and inner.</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§2.5 — these are IA-test-shaped practice.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3 — Inheritance, Packages and Interfaces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14</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CO3 — inheritance, packages, interfaces</a:t>
            </a:r>
            <a:r>
              <a:rPr sz="1300" b="0" i="0">
                <a:solidFill>
                  <a:srgbClr val="4B5563"/>
                </a:solidFill>
                <a:latin typeface="Calibri"/>
              </a:rPr>
              <a:t>    ·    Number of Hours: 9 · Textbook: Chapters 8, 9</a:t>
            </a:r>
            <a:r>
              <a:rPr sz="1250" b="0" i="0">
                <a:solidFill>
                  <a:srgbClr val="4B5563"/>
                </a:solidFill>
                <a:latin typeface="Calibri"/>
              </a:rPr>
              <a:t>    ·    Textbook: Chapters 8, 9 — Number of Hours: 9</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Inheritance: super · multilevel hierarchy · constructor execution order</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Overriding · dynamic method dispatch · abstract · final with inheritance</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LVTI and inheritance · the Object class (toString, equals)</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Packages: definition · member access · importing</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Interfaces: default · static · private interface methods</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MODULE-3 SYLLABUS (VERBATIM)</a:t>
            </a:r>
          </a:p>
          <a:p>
            <a:pPr>
              <a:lnSpc>
                <a:spcPct val="108000"/>
              </a:lnSpc>
              <a:spcBef>
                <a:spcPts val="0"/>
              </a:spcBef>
              <a:spcAft>
                <a:spcPts val="0"/>
              </a:spcAft>
            </a:pPr>
            <a:r>
              <a:rPr sz="1050" b="0" i="0">
                <a:solidFill>
                  <a:srgbClr val="16181D"/>
                </a:solidFill>
                <a:latin typeface="Calibri"/>
              </a:rPr>
              <a:t>Inheritance: Inheritance Basics, Using super, Creating a Multilevel Hierarchy, When Constructors Are Executed, Method Overriding, Dynamic Method Dispatch, Using Abstract Classes, Using final with Inheritance, Local Variable Type Inference and Inheritance, The Object Class. Packages: Packages, Packages and Member Access, Importing Packages. Interfaces: Interfaces, Default Interface Methods, Use static Methods in an Interface, Private Interface Methods.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Inheritance: order, override, dispatch</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15</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Constructor chain prints base-first: </a:t>
            </a:r>
            <a:r>
              <a:rPr sz="1250" b="0" i="0">
                <a:solidFill>
                  <a:srgbClr val="16181D"/>
                </a:solidFill>
                <a:latin typeface="Consolas"/>
              </a:rPr>
              <a:t>A() constructor → B() constructor → C() constructor</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Explicit </a:t>
            </a:r>
            <a:r>
              <a:rPr sz="1300" b="0" i="0">
                <a:solidFill>
                  <a:srgbClr val="16181D"/>
                </a:solidFill>
                <a:latin typeface="Consolas"/>
              </a:rPr>
              <a:t>super(name)</a:t>
            </a:r>
            <a:r>
              <a:rPr sz="1450" b="0" i="0">
                <a:solidFill>
                  <a:srgbClr val="16181D"/>
                </a:solidFill>
                <a:latin typeface="Calibri"/>
              </a:rPr>
              <a:t> when the parent has no no-arg form.</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Dispatch is on the object: Animal reference, Dog body — </a:t>
            </a:r>
            <a:r>
              <a:rPr sz="1300" b="0" i="0">
                <a:solidFill>
                  <a:srgbClr val="B3261E"/>
                </a:solidFill>
                <a:latin typeface="Consolas"/>
              </a:rPr>
              <a:t>Rex barks</a:t>
            </a:r>
            <a:r>
              <a:rPr sz="1450" b="0" i="0">
                <a:solidFill>
                  <a:srgbClr val="16181D"/>
                </a:solidFill>
                <a:latin typeface="Calibri"/>
              </a:rPr>
              <a:t> vs </a:t>
            </a:r>
            <a:r>
              <a:rPr sz="1250" b="0" i="0">
                <a:solidFill>
                  <a:srgbClr val="16181D"/>
                </a:solidFill>
                <a:latin typeface="Consolas"/>
              </a:rPr>
              <a:t>Thing makes a generic sound</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Abstract parent, concrete child: </a:t>
            </a:r>
            <a:r>
              <a:rPr sz="1300" b="0" i="0">
                <a:solidFill>
                  <a:srgbClr val="B3261E"/>
                </a:solidFill>
                <a:latin typeface="Consolas"/>
              </a:rPr>
              <a:t>a figure with area 12.0</a:t>
            </a:r>
            <a:r>
              <a:rPr sz="1450" b="0" i="0">
                <a:solidFill>
                  <a:srgbClr val="16181D"/>
                </a:solidFill>
                <a:latin typeface="Calibri"/>
              </a:rPr>
              <a:t> — the cast </a:t>
            </a:r>
            <a:r>
              <a:rPr sz="1300" b="0" i="0">
                <a:solidFill>
                  <a:srgbClr val="16181D"/>
                </a:solidFill>
                <a:latin typeface="Consolas"/>
              </a:rPr>
              <a:t>((Dog) a1).fetch()</a:t>
            </a:r>
            <a:r>
              <a:rPr sz="1450" b="0" i="0">
                <a:solidFill>
                  <a:srgbClr val="16181D"/>
                </a:solidFill>
                <a:latin typeface="Calibri"/>
              </a:rPr>
              <a:t> reaches child-only code.</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Object supplies </a:t>
            </a:r>
            <a:r>
              <a:rPr sz="1300" b="0" i="0">
                <a:solidFill>
                  <a:srgbClr val="16181D"/>
                </a:solidFill>
                <a:latin typeface="Consolas"/>
              </a:rPr>
              <a:t>toString/equals</a:t>
            </a:r>
            <a:r>
              <a:rPr sz="1450" b="0" i="0">
                <a:solidFill>
                  <a:srgbClr val="16181D"/>
                </a:solidFill>
                <a:latin typeface="Calibri"/>
              </a:rPr>
              <a:t>: printed </a:t>
            </a:r>
            <a:r>
              <a:rPr sz="1300" b="0" i="0">
                <a:solidFill>
                  <a:srgbClr val="B3261E"/>
                </a:solidFill>
                <a:latin typeface="Consolas"/>
              </a:rPr>
              <a:t>Dog[Rex]</a:t>
            </a:r>
            <a:r>
              <a:rPr sz="1450" b="0" i="0">
                <a:solidFill>
                  <a:srgbClr val="16181D"/>
                </a:solidFill>
                <a:latin typeface="Calibri"/>
              </a:rPr>
              <a:t>; equals true for the same ref only.</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src/t3_inherit/</a:t>
            </a:r>
          </a:p>
        </p:txBody>
      </p:sp>
      <p:sp>
        <p:nvSpPr>
          <p:cNvPr id="12" name="TextBox 11"/>
          <p:cNvSpPr txBox="1"/>
          <p:nvPr/>
        </p:nvSpPr>
        <p:spPr>
          <a:xfrm>
            <a:off x="7388352" y="2002536"/>
            <a:ext cx="4169664" cy="4279392"/>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 src/t3_inherit/Main.java ———</a:t>
            </a:r>
          </a:p>
          <a:p>
            <a:pPr>
              <a:lnSpc>
                <a:spcPct val="100000"/>
              </a:lnSpc>
              <a:spcBef>
                <a:spcPts val="0"/>
              </a:spcBef>
              <a:spcAft>
                <a:spcPts val="60"/>
              </a:spcAft>
            </a:pPr>
            <a:r>
              <a:rPr sz="640" b="0" i="0">
                <a:solidFill>
                  <a:srgbClr val="E5E7EB"/>
                </a:solidFill>
                <a:latin typeface="Consolas"/>
              </a:rPr>
              <a:t>// Module 3, demo 1 -- inheritance: base-first constructor execution in a</a:t>
            </a:r>
          </a:p>
          <a:p>
            <a:pPr>
              <a:lnSpc>
                <a:spcPct val="100000"/>
              </a:lnSpc>
              <a:spcBef>
                <a:spcPts val="0"/>
              </a:spcBef>
              <a:spcAft>
                <a:spcPts val="60"/>
              </a:spcAft>
            </a:pPr>
            <a:r>
              <a:rPr sz="640" b="0" i="0">
                <a:solidFill>
                  <a:srgbClr val="E5E7EB"/>
                </a:solidFill>
                <a:latin typeface="Consolas"/>
              </a:rPr>
              <a:t>// multilevel hierarchy, explicit super(...), method overriding, dynamic</a:t>
            </a:r>
          </a:p>
          <a:p>
            <a:pPr>
              <a:lnSpc>
                <a:spcPct val="100000"/>
              </a:lnSpc>
              <a:spcBef>
                <a:spcPts val="0"/>
              </a:spcBef>
              <a:spcAft>
                <a:spcPts val="60"/>
              </a:spcAft>
            </a:pPr>
            <a:r>
              <a:rPr sz="640" b="0" i="0">
                <a:solidFill>
                  <a:srgbClr val="E5E7EB"/>
                </a:solidFill>
                <a:latin typeface="Consolas"/>
              </a:rPr>
              <a:t>// method dispatch, abstract classes, final methods and the Object class.</a:t>
            </a:r>
          </a:p>
          <a:p>
            <a:pPr>
              <a:lnSpc>
                <a:spcPct val="100000"/>
              </a:lnSpc>
              <a:spcBef>
                <a:spcPts val="0"/>
              </a:spcBef>
              <a:spcAft>
                <a:spcPts val="60"/>
              </a:spcAft>
            </a:pPr>
            <a:r>
              <a:rPr sz="640" b="0" i="0">
                <a:solidFill>
                  <a:srgbClr val="E5E7EB"/>
                </a:solidFill>
                <a:latin typeface="Consolas"/>
              </a:rPr>
              <a:t>class A { A() { System.out.println("  A() constructor"); } }</a:t>
            </a:r>
          </a:p>
          <a:p>
            <a:pPr>
              <a:lnSpc>
                <a:spcPct val="100000"/>
              </a:lnSpc>
              <a:spcBef>
                <a:spcPts val="0"/>
              </a:spcBef>
              <a:spcAft>
                <a:spcPts val="60"/>
              </a:spcAft>
            </a:pPr>
            <a:r>
              <a:rPr sz="640" b="0" i="0">
                <a:solidFill>
                  <a:srgbClr val="E5E7EB"/>
                </a:solidFill>
                <a:latin typeface="Consolas"/>
              </a:rPr>
              <a:t>class B extends A { B() { System.out.println("  B() constructor"); } }</a:t>
            </a:r>
          </a:p>
          <a:p>
            <a:pPr>
              <a:lnSpc>
                <a:spcPct val="100000"/>
              </a:lnSpc>
              <a:spcBef>
                <a:spcPts val="0"/>
              </a:spcBef>
              <a:spcAft>
                <a:spcPts val="60"/>
              </a:spcAft>
            </a:pPr>
            <a:r>
              <a:rPr sz="640" b="0" i="0">
                <a:solidFill>
                  <a:srgbClr val="E5E7EB"/>
                </a:solidFill>
                <a:latin typeface="Consolas"/>
              </a:rPr>
              <a:t>class C extends B { C() { System.out.println("  C() constructor"); }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class Animal {</a:t>
            </a:r>
          </a:p>
          <a:p>
            <a:pPr>
              <a:lnSpc>
                <a:spcPct val="100000"/>
              </a:lnSpc>
              <a:spcBef>
                <a:spcPts val="0"/>
              </a:spcBef>
              <a:spcAft>
                <a:spcPts val="60"/>
              </a:spcAft>
            </a:pPr>
            <a:r>
              <a:rPr sz="640" b="0" i="0">
                <a:solidFill>
                  <a:srgbClr val="E5E7EB"/>
                </a:solidFill>
                <a:latin typeface="Consolas"/>
              </a:rPr>
              <a:t>    protected String name;</a:t>
            </a:r>
          </a:p>
          <a:p>
            <a:pPr>
              <a:lnSpc>
                <a:spcPct val="100000"/>
              </a:lnSpc>
              <a:spcBef>
                <a:spcPts val="0"/>
              </a:spcBef>
              <a:spcAft>
                <a:spcPts val="60"/>
              </a:spcAft>
            </a:pPr>
            <a:r>
              <a:rPr sz="640" b="0" i="0">
                <a:solidFill>
                  <a:srgbClr val="E5E7EB"/>
                </a:solidFill>
                <a:latin typeface="Consolas"/>
              </a:rPr>
              <a:t>    Animal(String name) { this.name = name; }</a:t>
            </a:r>
          </a:p>
          <a:p>
            <a:pPr>
              <a:lnSpc>
                <a:spcPct val="100000"/>
              </a:lnSpc>
              <a:spcBef>
                <a:spcPts val="0"/>
              </a:spcBef>
              <a:spcAft>
                <a:spcPts val="60"/>
              </a:spcAft>
            </a:pPr>
            <a:r>
              <a:rPr sz="640" b="0" i="0">
                <a:solidFill>
                  <a:srgbClr val="E5E7EB"/>
                </a:solidFill>
                <a:latin typeface="Consolas"/>
              </a:rPr>
              <a:t>    void speak() { System.out.println(name + " makes a generic sound"); }</a:t>
            </a:r>
          </a:p>
          <a:p>
            <a:pPr>
              <a:lnSpc>
                <a:spcPct val="100000"/>
              </a:lnSpc>
              <a:spcBef>
                <a:spcPts val="0"/>
              </a:spcBef>
              <a:spcAft>
                <a:spcPts val="60"/>
              </a:spcAft>
            </a:pPr>
            <a:r>
              <a:rPr sz="640" b="0" i="0">
                <a:solidFill>
                  <a:srgbClr val="E5E7EB"/>
                </a:solidFill>
                <a:latin typeface="Consolas"/>
              </a:rPr>
              <a:t>    @Override public String toString() { return getClass().getSimpleName() + "[" + name + "]";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class Dog extends Animal {</a:t>
            </a:r>
          </a:p>
          <a:p>
            <a:pPr>
              <a:lnSpc>
                <a:spcPct val="100000"/>
              </a:lnSpc>
              <a:spcBef>
                <a:spcPts val="0"/>
              </a:spcBef>
              <a:spcAft>
                <a:spcPts val="60"/>
              </a:spcAft>
            </a:pPr>
            <a:r>
              <a:rPr sz="640" b="0" i="0">
                <a:solidFill>
                  <a:srgbClr val="E5E7EB"/>
                </a:solidFill>
                <a:latin typeface="Consolas"/>
              </a:rPr>
              <a:t>    Dog(String name) { super(name); }                       // explicit super</a:t>
            </a:r>
          </a:p>
          <a:p>
            <a:pPr>
              <a:lnSpc>
                <a:spcPct val="100000"/>
              </a:lnSpc>
              <a:spcBef>
                <a:spcPts val="0"/>
              </a:spcBef>
              <a:spcAft>
                <a:spcPts val="60"/>
              </a:spcAft>
            </a:pPr>
            <a:r>
              <a:rPr sz="640" b="0" i="0">
                <a:solidFill>
                  <a:srgbClr val="E5E7EB"/>
                </a:solidFill>
                <a:latin typeface="Consolas"/>
              </a:rPr>
              <a:t>    @Override void speak() { System.out.println(name + " barks"); }   // override</a:t>
            </a:r>
          </a:p>
          <a:p>
            <a:pPr>
              <a:lnSpc>
                <a:spcPct val="100000"/>
              </a:lnSpc>
              <a:spcBef>
                <a:spcPts val="0"/>
              </a:spcBef>
              <a:spcAft>
                <a:spcPts val="60"/>
              </a:spcAft>
            </a:pPr>
            <a:r>
              <a:rPr sz="640" b="0" i="0">
                <a:solidFill>
                  <a:srgbClr val="E5E7EB"/>
                </a:solidFill>
                <a:latin typeface="Consolas"/>
              </a:rPr>
              <a:t>    final void fetch() { System.out.println(name + " fetches"); }      // final method</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abstract class Figure2 {                          // abstract class demo</a:t>
            </a:r>
          </a:p>
          <a:p>
            <a:pPr>
              <a:lnSpc>
                <a:spcPct val="100000"/>
              </a:lnSpc>
              <a:spcBef>
                <a:spcPts val="0"/>
              </a:spcBef>
              <a:spcAft>
                <a:spcPts val="60"/>
              </a:spcAft>
            </a:pPr>
            <a:r>
              <a:rPr sz="640" b="0" i="0">
                <a:solidFill>
                  <a:srgbClr val="E5E7EB"/>
                </a:solidFill>
                <a:latin typeface="Consolas"/>
              </a:rPr>
              <a:t>    abstract double area();                       // must be supplied by subclasses</a:t>
            </a:r>
          </a:p>
          <a:p>
            <a:pPr>
              <a:lnSpc>
                <a:spcPct val="100000"/>
              </a:lnSpc>
              <a:spcBef>
                <a:spcPts val="0"/>
              </a:spcBef>
              <a:spcAft>
                <a:spcPts val="60"/>
              </a:spcAft>
            </a:pPr>
            <a:r>
              <a:rPr sz="640" b="0" i="0">
                <a:solidFill>
                  <a:srgbClr val="E5E7EB"/>
                </a:solidFill>
                <a:latin typeface="Consolas"/>
              </a:rPr>
              <a:t>    String describe() { return "a figure with area " + area(); }   // concrete part</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class Rect2 extends Figure2 {</a:t>
            </a:r>
          </a:p>
          <a:p>
            <a:pPr>
              <a:lnSpc>
                <a:spcPct val="100000"/>
              </a:lnSpc>
              <a:spcBef>
                <a:spcPts val="0"/>
              </a:spcBef>
              <a:spcAft>
                <a:spcPts val="60"/>
              </a:spcAft>
            </a:pPr>
            <a:r>
              <a:rPr sz="640" b="0" i="0">
                <a:solidFill>
                  <a:srgbClr val="E5E7EB"/>
                </a:solidFill>
                <a:latin typeface="Consolas"/>
              </a:rPr>
              <a:t>    double w, h;</a:t>
            </a:r>
          </a:p>
          <a:p>
            <a:pPr>
              <a:lnSpc>
                <a:spcPct val="100000"/>
              </a:lnSpc>
              <a:spcBef>
                <a:spcPts val="0"/>
              </a:spcBef>
              <a:spcAft>
                <a:spcPts val="60"/>
              </a:spcAft>
            </a:pPr>
            <a:r>
              <a:rPr sz="640" b="0" i="0">
                <a:solidFill>
                  <a:srgbClr val="E5E7EB"/>
                </a:solidFill>
                <a:latin typeface="Consolas"/>
              </a:rPr>
              <a:t>    Rect2(double w, double h) { this.w = w; this.h = h; }</a:t>
            </a:r>
          </a:p>
          <a:p>
            <a:pPr>
              <a:lnSpc>
                <a:spcPct val="100000"/>
              </a:lnSpc>
              <a:spcBef>
                <a:spcPts val="0"/>
              </a:spcBef>
              <a:spcAft>
                <a:spcPts val="60"/>
              </a:spcAft>
            </a:pPr>
            <a:r>
              <a:rPr sz="640" b="0" i="0">
                <a:solidFill>
                  <a:srgbClr val="E5E7EB"/>
                </a:solidFill>
                <a:latin typeface="Consolas"/>
              </a:rPr>
              <a:t>    double area() { return w * h;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public class Main {</a:t>
            </a:r>
          </a:p>
          <a:p>
            <a:pPr>
              <a:lnSpc>
                <a:spcPct val="100000"/>
              </a:lnSpc>
              <a:spcBef>
                <a:spcPts val="0"/>
              </a:spcBef>
              <a:spcAft>
                <a:spcPts val="60"/>
              </a:spcAft>
            </a:pPr>
            <a:r>
              <a:rPr sz="640" b="0" i="0">
                <a:solidFill>
                  <a:srgbClr val="E5E7EB"/>
                </a:solidFill>
                <a:latin typeface="Consolas"/>
              </a:rPr>
              <a:t>    public static void main(String[] args) {</a:t>
            </a:r>
          </a:p>
          <a:p>
            <a:pPr>
              <a:lnSpc>
                <a:spcPct val="100000"/>
              </a:lnSpc>
              <a:spcBef>
                <a:spcPts val="0"/>
              </a:spcBef>
              <a:spcAft>
                <a:spcPts val="60"/>
              </a:spcAft>
            </a:pPr>
            <a:r>
              <a:rPr sz="640" b="0" i="0">
                <a:solidFill>
                  <a:srgbClr val="E5E7EB"/>
                </a:solidFill>
                <a:latin typeface="Consolas"/>
              </a:rPr>
              <a:t>        System.out.println("multilevel A -&gt; B -&gt;C (base first, derived last):");</a:t>
            </a:r>
          </a:p>
          <a:p>
            <a:pPr>
              <a:lnSpc>
                <a:spcPct val="100000"/>
              </a:lnSpc>
              <a:spcBef>
                <a:spcPts val="0"/>
              </a:spcBef>
              <a:spcAft>
                <a:spcPts val="60"/>
              </a:spcAft>
            </a:pPr>
            <a:r>
              <a:rPr sz="640" b="0" i="0">
                <a:solidFill>
                  <a:srgbClr val="E5E7EB"/>
                </a:solidFill>
                <a:latin typeface="Consolas"/>
              </a:rPr>
              <a:t>  …  (complete source: the course book)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Packages &amp; interfaces: the borders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16</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One class per public type, package = directory: </a:t>
            </a:r>
            <a:r>
              <a:rPr sz="1300" b="0" i="0">
                <a:solidFill>
                  <a:srgbClr val="16181D"/>
                </a:solidFill>
                <a:latin typeface="Consolas"/>
              </a:rPr>
              <a:t>import mypack.Calc;</a:t>
            </a:r>
            <a:r>
              <a:rPr sz="1450" b="0" i="0">
                <a:solidFill>
                  <a:srgbClr val="16181D"/>
                </a:solidFill>
                <a:latin typeface="Calibri"/>
              </a:rPr>
              <a:t> brings only the public face.</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All three calls printed 42 on purpose — 12+30, 50−8, 7×6: </a:t>
            </a:r>
            <a:r>
              <a:rPr sz="1450" b="0" i="1">
                <a:solidFill>
                  <a:srgbClr val="16181D"/>
                </a:solidFill>
                <a:latin typeface="Calibri"/>
              </a:rPr>
              <a:t>mis-wired methods self-report</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Package-private stays home: </a:t>
            </a:r>
            <a:r>
              <a:rPr sz="1250" b="0" i="0">
                <a:solidFill>
                  <a:srgbClr val="B3261E"/>
                </a:solidFill>
                <a:latin typeface="Consolas"/>
              </a:rPr>
              <a:t>packageOnly() seen from the bridge class: 99</a:t>
            </a:r>
            <a:r>
              <a:rPr sz="1450" b="0" i="0">
                <a:solidFill>
                  <a:srgbClr val="16181D"/>
                </a:solidFill>
                <a:latin typeface="Calibri"/>
              </a:rPr>
              <a:t> — only a mypack class could touch it.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Interfaces: contract + default machinery — </a:t>
            </a:r>
            <a:r>
              <a:rPr sz="1250" b="0" i="0">
                <a:solidFill>
                  <a:srgbClr val="B3261E"/>
                </a:solidFill>
                <a:latin typeface="Consolas"/>
              </a:rPr>
              <a:t>after moveBy(4): &lt;moved by 14.0&gt;</a:t>
            </a:r>
            <a:r>
              <a:rPr sz="1450" b="0" i="0">
                <a:solidFill>
                  <a:srgbClr val="16181D"/>
                </a:solidFill>
                <a:latin typeface="Calibri"/>
              </a:rPr>
              <a:t> ran the default method.</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static (factory </a:t>
            </a:r>
            <a:r>
              <a:rPr sz="1300" b="0" i="0">
                <a:solidFill>
                  <a:srgbClr val="16181D"/>
                </a:solidFill>
                <a:latin typeface="Consolas"/>
              </a:rPr>
              <a:t>makeDefault()</a:t>
            </a:r>
            <a:r>
              <a:rPr sz="1450" b="0" i="0">
                <a:solidFill>
                  <a:srgbClr val="16181D"/>
                </a:solidFill>
                <a:latin typeface="Calibri"/>
              </a:rPr>
              <a:t>) and private (</a:t>
            </a:r>
            <a:r>
              <a:rPr sz="1300" b="0" i="0">
                <a:solidFill>
                  <a:srgbClr val="16181D"/>
                </a:solidFill>
                <a:latin typeface="Consolas"/>
              </a:rPr>
              <a:t>decorate()</a:t>
            </a:r>
            <a:r>
              <a:rPr sz="1450" b="0" i="0">
                <a:solidFill>
                  <a:srgbClr val="16181D"/>
                </a:solidFill>
                <a:latin typeface="Calibri"/>
              </a:rPr>
              <a:t>) methods round out the interface (Java 9+).</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src/t3_pkg/</a:t>
            </a:r>
          </a:p>
        </p:txBody>
      </p:sp>
      <p:sp>
        <p:nvSpPr>
          <p:cNvPr id="12" name="TextBox 11"/>
          <p:cNvSpPr txBox="1"/>
          <p:nvPr/>
        </p:nvSpPr>
        <p:spPr>
          <a:xfrm>
            <a:off x="7388352" y="2002536"/>
            <a:ext cx="4169664" cy="4279392"/>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 src/t3_pkg/Main.java ———</a:t>
            </a:r>
          </a:p>
          <a:p>
            <a:pPr>
              <a:lnSpc>
                <a:spcPct val="100000"/>
              </a:lnSpc>
              <a:spcBef>
                <a:spcPts val="0"/>
              </a:spcBef>
              <a:spcAft>
                <a:spcPts val="60"/>
              </a:spcAft>
            </a:pPr>
            <a:r>
              <a:rPr sz="640" b="0" i="0">
                <a:solidFill>
                  <a:srgbClr val="E5E7EB"/>
                </a:solidFill>
                <a:latin typeface="Consolas"/>
              </a:rPr>
              <a:t>import mypack.Calc;                    // import a public class from the package</a:t>
            </a:r>
          </a:p>
          <a:p>
            <a:pPr>
              <a:lnSpc>
                <a:spcPct val="100000"/>
              </a:lnSpc>
              <a:spcBef>
                <a:spcPts val="0"/>
              </a:spcBef>
              <a:spcAft>
                <a:spcPts val="60"/>
              </a:spcAft>
            </a:pPr>
            <a:r>
              <a:rPr sz="640" b="0" i="0">
                <a:solidFill>
                  <a:srgbClr val="E5E7EB"/>
                </a:solidFill>
                <a:latin typeface="Consolas"/>
              </a:rPr>
              <a:t>// The default package cannot see mypack's package-private members --</a:t>
            </a:r>
          </a:p>
          <a:p>
            <a:pPr>
              <a:lnSpc>
                <a:spcPct val="100000"/>
              </a:lnSpc>
              <a:spcBef>
                <a:spcPts val="0"/>
              </a:spcBef>
              <a:spcAft>
                <a:spcPts val="60"/>
              </a:spcAft>
            </a:pPr>
            <a:r>
              <a:rPr sz="640" b="0" i="0">
                <a:solidFill>
                  <a:srgbClr val="E5E7EB"/>
                </a:solidFill>
                <a:latin typeface="Consolas"/>
              </a:rPr>
              <a:t>// ToolKit (a mypack citizen) acts as the bridge.</a:t>
            </a:r>
          </a:p>
          <a:p>
            <a:pPr>
              <a:lnSpc>
                <a:spcPct val="100000"/>
              </a:lnSpc>
              <a:spcBef>
                <a:spcPts val="0"/>
              </a:spcBef>
              <a:spcAft>
                <a:spcPts val="60"/>
              </a:spcAft>
            </a:pPr>
            <a:r>
              <a:rPr sz="640" b="0" i="0">
                <a:solidFill>
                  <a:srgbClr val="E5E7EB"/>
                </a:solidFill>
                <a:latin typeface="Consolas"/>
              </a:rPr>
              <a:t>public class Main {</a:t>
            </a:r>
          </a:p>
          <a:p>
            <a:pPr>
              <a:lnSpc>
                <a:spcPct val="100000"/>
              </a:lnSpc>
              <a:spcBef>
                <a:spcPts val="0"/>
              </a:spcBef>
              <a:spcAft>
                <a:spcPts val="60"/>
              </a:spcAft>
            </a:pPr>
            <a:r>
              <a:rPr sz="640" b="0" i="0">
                <a:solidFill>
                  <a:srgbClr val="E5E7EB"/>
                </a:solidFill>
                <a:latin typeface="Consolas"/>
              </a:rPr>
              <a:t>    public static void main(String[] args) {</a:t>
            </a:r>
          </a:p>
          <a:p>
            <a:pPr>
              <a:lnSpc>
                <a:spcPct val="100000"/>
              </a:lnSpc>
              <a:spcBef>
                <a:spcPts val="0"/>
              </a:spcBef>
              <a:spcAft>
                <a:spcPts val="60"/>
              </a:spcAft>
            </a:pPr>
            <a:r>
              <a:rPr sz="640" b="0" i="0">
                <a:solidFill>
                  <a:srgbClr val="E5E7EB"/>
                </a:solidFill>
                <a:latin typeface="Consolas"/>
              </a:rPr>
              <a:t>        Calc calc = new Calc();</a:t>
            </a:r>
          </a:p>
          <a:p>
            <a:pPr>
              <a:lnSpc>
                <a:spcPct val="100000"/>
              </a:lnSpc>
              <a:spcBef>
                <a:spcPts val="0"/>
              </a:spcBef>
              <a:spcAft>
                <a:spcPts val="60"/>
              </a:spcAft>
            </a:pPr>
            <a:r>
              <a:rPr sz="640" b="0" i="0">
                <a:solidFill>
                  <a:srgbClr val="E5E7EB"/>
                </a:solidFill>
                <a:latin typeface="Consolas"/>
              </a:rPr>
              <a:t>        System.out.println("imported mypack.Calc into the default package");</a:t>
            </a:r>
          </a:p>
          <a:p>
            <a:pPr>
              <a:lnSpc>
                <a:spcPct val="100000"/>
              </a:lnSpc>
              <a:spcBef>
                <a:spcPts val="0"/>
              </a:spcBef>
              <a:spcAft>
                <a:spcPts val="60"/>
              </a:spcAft>
            </a:pPr>
            <a:r>
              <a:rPr sz="640" b="0" i="0">
                <a:solidFill>
                  <a:srgbClr val="E5E7EB"/>
                </a:solidFill>
                <a:latin typeface="Consolas"/>
              </a:rPr>
              <a:t>        System.out.println("add(12, 30)      = " + calc.add(12, 30));</a:t>
            </a:r>
          </a:p>
          <a:p>
            <a:pPr>
              <a:lnSpc>
                <a:spcPct val="100000"/>
              </a:lnSpc>
              <a:spcBef>
                <a:spcPts val="0"/>
              </a:spcBef>
              <a:spcAft>
                <a:spcPts val="60"/>
              </a:spcAft>
            </a:pPr>
            <a:r>
              <a:rPr sz="640" b="0" i="0">
                <a:solidFill>
                  <a:srgbClr val="E5E7EB"/>
                </a:solidFill>
                <a:latin typeface="Consolas"/>
              </a:rPr>
              <a:t>        System.out.println("subtract(50, 8)  = " + calc.subtract(50, 8));</a:t>
            </a:r>
          </a:p>
          <a:p>
            <a:pPr>
              <a:lnSpc>
                <a:spcPct val="100000"/>
              </a:lnSpc>
              <a:spcBef>
                <a:spcPts val="0"/>
              </a:spcBef>
              <a:spcAft>
                <a:spcPts val="60"/>
              </a:spcAft>
            </a:pPr>
            <a:r>
              <a:rPr sz="640" b="0" i="0">
                <a:solidFill>
                  <a:srgbClr val="E5E7EB"/>
                </a:solidFill>
                <a:latin typeface="Consolas"/>
              </a:rPr>
              <a:t>        System.out.println("multiply(7, 6)   = " + calc.multiply(7, 6));</a:t>
            </a:r>
          </a:p>
          <a:p>
            <a:pPr>
              <a:lnSpc>
                <a:spcPct val="100000"/>
              </a:lnSpc>
              <a:spcBef>
                <a:spcPts val="0"/>
              </a:spcBef>
              <a:spcAft>
                <a:spcPts val="60"/>
              </a:spcAft>
            </a:pPr>
            <a:r>
              <a:rPr sz="640" b="0" i="0">
                <a:solidFill>
                  <a:srgbClr val="E5E7EB"/>
                </a:solidFill>
                <a:latin typeface="Consolas"/>
              </a:rPr>
              <a:t>        System.out.println("packageOnly() seen from the bridge class: " + new mypack.ToolKit().usePackagePrivate());</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 src/t3_pkg/mypack/Calc.java ———</a:t>
            </a:r>
          </a:p>
          <a:p>
            <a:pPr>
              <a:lnSpc>
                <a:spcPct val="100000"/>
              </a:lnSpc>
              <a:spcBef>
                <a:spcPts val="0"/>
              </a:spcBef>
              <a:spcAft>
                <a:spcPts val="60"/>
              </a:spcAft>
            </a:pPr>
            <a:r>
              <a:rPr sz="640" b="0" i="0">
                <a:solidFill>
                  <a:srgbClr val="E5E7EB"/>
                </a:solidFill>
                <a:latin typeface="Consolas"/>
              </a:rPr>
              <a:t>package mypack;</a:t>
            </a:r>
          </a:p>
          <a:p>
            <a:pPr>
              <a:lnSpc>
                <a:spcPct val="100000"/>
              </a:lnSpc>
              <a:spcBef>
                <a:spcPts val="0"/>
              </a:spcBef>
              <a:spcAft>
                <a:spcPts val="60"/>
              </a:spcAft>
            </a:pPr>
            <a:r>
              <a:rPr sz="640" b="0" i="0">
                <a:solidFill>
                  <a:srgbClr val="E5E7EB"/>
                </a:solidFill>
                <a:latin typeface="Consolas"/>
              </a:rPr>
              <a:t>// Module 3, demo 2 -- a class that lives in the package mypack.</a:t>
            </a:r>
          </a:p>
          <a:p>
            <a:pPr>
              <a:lnSpc>
                <a:spcPct val="100000"/>
              </a:lnSpc>
              <a:spcBef>
                <a:spcPts val="0"/>
              </a:spcBef>
              <a:spcAft>
                <a:spcPts val="60"/>
              </a:spcAft>
            </a:pPr>
            <a:r>
              <a:rPr sz="640" b="0" i="0">
                <a:solidFill>
                  <a:srgbClr val="E5E7EB"/>
                </a:solidFill>
                <a:latin typeface="Consolas"/>
              </a:rPr>
              <a:t>public class Calc {</a:t>
            </a:r>
          </a:p>
          <a:p>
            <a:pPr>
              <a:lnSpc>
                <a:spcPct val="100000"/>
              </a:lnSpc>
              <a:spcBef>
                <a:spcPts val="0"/>
              </a:spcBef>
              <a:spcAft>
                <a:spcPts val="60"/>
              </a:spcAft>
            </a:pPr>
            <a:r>
              <a:rPr sz="640" b="0" i="0">
                <a:solidFill>
                  <a:srgbClr val="E5E7EB"/>
                </a:solidFill>
                <a:latin typeface="Consolas"/>
              </a:rPr>
              <a:t>    public int add(int a, int b)      { return a + b; }</a:t>
            </a:r>
          </a:p>
          <a:p>
            <a:pPr>
              <a:lnSpc>
                <a:spcPct val="100000"/>
              </a:lnSpc>
              <a:spcBef>
                <a:spcPts val="0"/>
              </a:spcBef>
              <a:spcAft>
                <a:spcPts val="60"/>
              </a:spcAft>
            </a:pPr>
            <a:r>
              <a:rPr sz="640" b="0" i="0">
                <a:solidFill>
                  <a:srgbClr val="E5E7EB"/>
                </a:solidFill>
                <a:latin typeface="Consolas"/>
              </a:rPr>
              <a:t>    public int subtract(int a, int b) { return a - b; }</a:t>
            </a:r>
          </a:p>
          <a:p>
            <a:pPr>
              <a:lnSpc>
                <a:spcPct val="100000"/>
              </a:lnSpc>
              <a:spcBef>
                <a:spcPts val="0"/>
              </a:spcBef>
              <a:spcAft>
                <a:spcPts val="60"/>
              </a:spcAft>
            </a:pPr>
            <a:r>
              <a:rPr sz="640" b="0" i="0">
                <a:solidFill>
                  <a:srgbClr val="E5E7EB"/>
                </a:solidFill>
                <a:latin typeface="Consolas"/>
              </a:rPr>
              <a:t>    public int multiply(int a, int b) { return a * b;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int packageOnly() { return 99; }   // package-private: NOT visible outside mypack</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 src/t3_pkg/mypack/ToolKit.java ———</a:t>
            </a:r>
          </a:p>
          <a:p>
            <a:pPr>
              <a:lnSpc>
                <a:spcPct val="100000"/>
              </a:lnSpc>
              <a:spcBef>
                <a:spcPts val="0"/>
              </a:spcBef>
              <a:spcAft>
                <a:spcPts val="60"/>
              </a:spcAft>
            </a:pPr>
            <a:r>
              <a:rPr sz="640" b="0" i="0">
                <a:solidFill>
                  <a:srgbClr val="E5E7EB"/>
                </a:solidFill>
                <a:latin typeface="Consolas"/>
              </a:rPr>
              <a:t>package mypack;</a:t>
            </a:r>
          </a:p>
          <a:p>
            <a:pPr>
              <a:lnSpc>
                <a:spcPct val="100000"/>
              </a:lnSpc>
              <a:spcBef>
                <a:spcPts val="0"/>
              </a:spcBef>
              <a:spcAft>
                <a:spcPts val="60"/>
              </a:spcAft>
            </a:pPr>
            <a:r>
              <a:rPr sz="640" b="0" i="0">
                <a:solidFill>
                  <a:srgbClr val="E5E7EB"/>
                </a:solidFill>
                <a:latin typeface="Consolas"/>
              </a:rPr>
              <a:t>// Sits INSIDE mypack, so it may legally touch packageOnly().</a:t>
            </a:r>
          </a:p>
          <a:p>
            <a:pPr>
              <a:lnSpc>
                <a:spcPct val="100000"/>
              </a:lnSpc>
              <a:spcBef>
                <a:spcPts val="0"/>
              </a:spcBef>
              <a:spcAft>
                <a:spcPts val="60"/>
              </a:spcAft>
            </a:pPr>
            <a:r>
              <a:rPr sz="640" b="0" i="0">
                <a:solidFill>
                  <a:srgbClr val="E5E7EB"/>
                </a:solidFill>
                <a:latin typeface="Consolas"/>
              </a:rPr>
              <a:t>public class ToolKit {</a:t>
            </a:r>
          </a:p>
          <a:p>
            <a:pPr>
              <a:lnSpc>
                <a:spcPct val="100000"/>
              </a:lnSpc>
              <a:spcBef>
                <a:spcPts val="0"/>
              </a:spcBef>
              <a:spcAft>
                <a:spcPts val="60"/>
              </a:spcAft>
            </a:pPr>
            <a:r>
              <a:rPr sz="640" b="0" i="0">
                <a:solidFill>
                  <a:srgbClr val="E5E7EB"/>
                </a:solidFill>
                <a:latin typeface="Consolas"/>
              </a:rPr>
              <a:t>    public int usePackagePrivate() { return new Calc().packageOnly(); }</a:t>
            </a:r>
          </a:p>
          <a:p>
            <a:pPr>
              <a:lnSpc>
                <a:spcPct val="100000"/>
              </a:lnSpc>
              <a:spcBef>
                <a:spcPts val="0"/>
              </a:spcBef>
              <a:spcAft>
                <a:spcPts val="60"/>
              </a:spcAft>
            </a:pPr>
            <a:r>
              <a:rPr sz="640" b="0" i="0">
                <a:solidFill>
                  <a:srgbClr val="E5E7EB"/>
                </a:solidFill>
                <a:latin typeface="Consolas"/>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t3_inherit (compiled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17</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src/t3_inherit/Main.java</a:t>
            </a:r>
          </a:p>
        </p:txBody>
      </p:sp>
      <p:sp>
        <p:nvSpPr>
          <p:cNvPr id="11" name="TextBox 10"/>
          <p:cNvSpPr txBox="1"/>
          <p:nvPr/>
        </p:nvSpPr>
        <p:spPr>
          <a:xfrm>
            <a:off x="667512" y="1975104"/>
            <a:ext cx="5815584" cy="4325112"/>
          </a:xfrm>
          <a:prstGeom prst="rect">
            <a:avLst/>
          </a:prstGeom>
          <a:noFill/>
        </p:spPr>
        <p:txBody>
          <a:bodyPr wrap="none" anchor="t" lIns="0" rIns="0" tIns="0" bIns="0">
            <a:spAutoFit/>
          </a:bodyPr>
          <a:lstStyle/>
          <a:p>
            <a:pPr>
              <a:lnSpc>
                <a:spcPct val="100000"/>
              </a:lnSpc>
              <a:spcBef>
                <a:spcPts val="0"/>
              </a:spcBef>
              <a:spcAft>
                <a:spcPts val="60"/>
              </a:spcAft>
            </a:pPr>
            <a:r>
              <a:rPr sz="770" b="0" i="0">
                <a:solidFill>
                  <a:srgbClr val="E5E7EB"/>
                </a:solidFill>
                <a:latin typeface="Consolas"/>
              </a:rPr>
              <a:t>// ——— src/t3_inherit/Main.java ———</a:t>
            </a:r>
          </a:p>
          <a:p>
            <a:pPr>
              <a:lnSpc>
                <a:spcPct val="100000"/>
              </a:lnSpc>
              <a:spcBef>
                <a:spcPts val="0"/>
              </a:spcBef>
              <a:spcAft>
                <a:spcPts val="60"/>
              </a:spcAft>
            </a:pPr>
            <a:r>
              <a:rPr sz="770" b="0" i="0">
                <a:solidFill>
                  <a:srgbClr val="E5E7EB"/>
                </a:solidFill>
                <a:latin typeface="Consolas"/>
              </a:rPr>
              <a:t>// Module 3, demo 1 -- inheritance: base-first constructor execution in a</a:t>
            </a:r>
          </a:p>
          <a:p>
            <a:pPr>
              <a:lnSpc>
                <a:spcPct val="100000"/>
              </a:lnSpc>
              <a:spcBef>
                <a:spcPts val="0"/>
              </a:spcBef>
              <a:spcAft>
                <a:spcPts val="60"/>
              </a:spcAft>
            </a:pPr>
            <a:r>
              <a:rPr sz="770" b="0" i="0">
                <a:solidFill>
                  <a:srgbClr val="E5E7EB"/>
                </a:solidFill>
                <a:latin typeface="Consolas"/>
              </a:rPr>
              <a:t>// multilevel hierarchy, explicit super(...), method overriding, dynamic</a:t>
            </a:r>
          </a:p>
          <a:p>
            <a:pPr>
              <a:lnSpc>
                <a:spcPct val="100000"/>
              </a:lnSpc>
              <a:spcBef>
                <a:spcPts val="0"/>
              </a:spcBef>
              <a:spcAft>
                <a:spcPts val="60"/>
              </a:spcAft>
            </a:pPr>
            <a:r>
              <a:rPr sz="770" b="0" i="0">
                <a:solidFill>
                  <a:srgbClr val="E5E7EB"/>
                </a:solidFill>
                <a:latin typeface="Consolas"/>
              </a:rPr>
              <a:t>// method dispatch, abstract classes, final methods and the Object class.</a:t>
            </a:r>
          </a:p>
          <a:p>
            <a:pPr>
              <a:lnSpc>
                <a:spcPct val="100000"/>
              </a:lnSpc>
              <a:spcBef>
                <a:spcPts val="0"/>
              </a:spcBef>
              <a:spcAft>
                <a:spcPts val="60"/>
              </a:spcAft>
            </a:pPr>
            <a:r>
              <a:rPr sz="770" b="0" i="0">
                <a:solidFill>
                  <a:srgbClr val="E5E7EB"/>
                </a:solidFill>
                <a:latin typeface="Consolas"/>
              </a:rPr>
              <a:t>class A { A() { System.out.println("  A() constructor"); } }</a:t>
            </a:r>
          </a:p>
          <a:p>
            <a:pPr>
              <a:lnSpc>
                <a:spcPct val="100000"/>
              </a:lnSpc>
              <a:spcBef>
                <a:spcPts val="0"/>
              </a:spcBef>
              <a:spcAft>
                <a:spcPts val="60"/>
              </a:spcAft>
            </a:pPr>
            <a:r>
              <a:rPr sz="770" b="0" i="0">
                <a:solidFill>
                  <a:srgbClr val="E5E7EB"/>
                </a:solidFill>
                <a:latin typeface="Consolas"/>
              </a:rPr>
              <a:t>class B extends A { B() { System.out.println("  B() constructor"); } }</a:t>
            </a:r>
          </a:p>
          <a:p>
            <a:pPr>
              <a:lnSpc>
                <a:spcPct val="100000"/>
              </a:lnSpc>
              <a:spcBef>
                <a:spcPts val="0"/>
              </a:spcBef>
              <a:spcAft>
                <a:spcPts val="60"/>
              </a:spcAft>
            </a:pPr>
            <a:r>
              <a:rPr sz="770" b="0" i="0">
                <a:solidFill>
                  <a:srgbClr val="E5E7EB"/>
                </a:solidFill>
                <a:latin typeface="Consolas"/>
              </a:rPr>
              <a:t>class C extends B { C() { System.out.println("  C() constructor"); } }</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class Animal {</a:t>
            </a:r>
          </a:p>
          <a:p>
            <a:pPr>
              <a:lnSpc>
                <a:spcPct val="100000"/>
              </a:lnSpc>
              <a:spcBef>
                <a:spcPts val="0"/>
              </a:spcBef>
              <a:spcAft>
                <a:spcPts val="60"/>
              </a:spcAft>
            </a:pPr>
            <a:r>
              <a:rPr sz="770" b="0" i="0">
                <a:solidFill>
                  <a:srgbClr val="E5E7EB"/>
                </a:solidFill>
                <a:latin typeface="Consolas"/>
              </a:rPr>
              <a:t>    protected String name;</a:t>
            </a:r>
          </a:p>
          <a:p>
            <a:pPr>
              <a:lnSpc>
                <a:spcPct val="100000"/>
              </a:lnSpc>
              <a:spcBef>
                <a:spcPts val="0"/>
              </a:spcBef>
              <a:spcAft>
                <a:spcPts val="60"/>
              </a:spcAft>
            </a:pPr>
            <a:r>
              <a:rPr sz="770" b="0" i="0">
                <a:solidFill>
                  <a:srgbClr val="E5E7EB"/>
                </a:solidFill>
                <a:latin typeface="Consolas"/>
              </a:rPr>
              <a:t>    Animal(String name) { this.name = name; }</a:t>
            </a:r>
          </a:p>
          <a:p>
            <a:pPr>
              <a:lnSpc>
                <a:spcPct val="100000"/>
              </a:lnSpc>
              <a:spcBef>
                <a:spcPts val="0"/>
              </a:spcBef>
              <a:spcAft>
                <a:spcPts val="60"/>
              </a:spcAft>
            </a:pPr>
            <a:r>
              <a:rPr sz="770" b="0" i="0">
                <a:solidFill>
                  <a:srgbClr val="E5E7EB"/>
                </a:solidFill>
                <a:latin typeface="Consolas"/>
              </a:rPr>
              <a:t>    void speak() { System.out.println(name + " makes a generic sound"); }</a:t>
            </a:r>
          </a:p>
          <a:p>
            <a:pPr>
              <a:lnSpc>
                <a:spcPct val="100000"/>
              </a:lnSpc>
              <a:spcBef>
                <a:spcPts val="0"/>
              </a:spcBef>
              <a:spcAft>
                <a:spcPts val="60"/>
              </a:spcAft>
            </a:pPr>
            <a:r>
              <a:rPr sz="770" b="0" i="0">
                <a:solidFill>
                  <a:srgbClr val="E5E7EB"/>
                </a:solidFill>
                <a:latin typeface="Consolas"/>
              </a:rPr>
              <a:t>    @Override public String toString() { return getClass().getSimpleName() + "[" + name + "]"; }</a:t>
            </a:r>
          </a:p>
          <a:p>
            <a:pPr>
              <a:lnSpc>
                <a:spcPct val="100000"/>
              </a:lnSpc>
              <a:spcBef>
                <a:spcPts val="0"/>
              </a:spcBef>
              <a:spcAft>
                <a:spcPts val="60"/>
              </a:spcAft>
            </a:pPr>
            <a:r>
              <a:rPr sz="770" b="0" i="0">
                <a:solidFill>
                  <a:srgbClr val="E5E7EB"/>
                </a:solidFill>
                <a:latin typeface="Consolas"/>
              </a:rPr>
              <a:t>}</a:t>
            </a:r>
          </a:p>
          <a:p>
            <a:pPr>
              <a:lnSpc>
                <a:spcPct val="100000"/>
              </a:lnSpc>
              <a:spcBef>
                <a:spcPts val="0"/>
              </a:spcBef>
              <a:spcAft>
                <a:spcPts val="60"/>
              </a:spcAft>
            </a:pPr>
            <a:r>
              <a:rPr sz="770" b="0" i="0">
                <a:solidFill>
                  <a:srgbClr val="E5E7EB"/>
                </a:solidFill>
                <a:latin typeface="Consolas"/>
              </a:rPr>
              <a:t>class Dog extends Animal {</a:t>
            </a:r>
          </a:p>
          <a:p>
            <a:pPr>
              <a:lnSpc>
                <a:spcPct val="100000"/>
              </a:lnSpc>
              <a:spcBef>
                <a:spcPts val="0"/>
              </a:spcBef>
              <a:spcAft>
                <a:spcPts val="60"/>
              </a:spcAft>
            </a:pPr>
            <a:r>
              <a:rPr sz="770" b="0" i="0">
                <a:solidFill>
                  <a:srgbClr val="E5E7EB"/>
                </a:solidFill>
                <a:latin typeface="Consolas"/>
              </a:rPr>
              <a:t>    Dog(String name) { super(name); }                       // explicit super</a:t>
            </a:r>
          </a:p>
          <a:p>
            <a:pPr>
              <a:lnSpc>
                <a:spcPct val="100000"/>
              </a:lnSpc>
              <a:spcBef>
                <a:spcPts val="0"/>
              </a:spcBef>
              <a:spcAft>
                <a:spcPts val="60"/>
              </a:spcAft>
            </a:pPr>
            <a:r>
              <a:rPr sz="770" b="0" i="0">
                <a:solidFill>
                  <a:srgbClr val="E5E7EB"/>
                </a:solidFill>
                <a:latin typeface="Consolas"/>
              </a:rPr>
              <a:t>    @Override void speak() { System.out.println(name + " barks"); }   // override</a:t>
            </a:r>
          </a:p>
          <a:p>
            <a:pPr>
              <a:lnSpc>
                <a:spcPct val="100000"/>
              </a:lnSpc>
              <a:spcBef>
                <a:spcPts val="0"/>
              </a:spcBef>
              <a:spcAft>
                <a:spcPts val="60"/>
              </a:spcAft>
            </a:pPr>
            <a:r>
              <a:rPr sz="770" b="0" i="0">
                <a:solidFill>
                  <a:srgbClr val="E5E7EB"/>
                </a:solidFill>
                <a:latin typeface="Consolas"/>
              </a:rPr>
              <a:t>    final void fetch() { System.out.println(name + " fetches"); }      // final method</a:t>
            </a:r>
          </a:p>
          <a:p>
            <a:pPr>
              <a:lnSpc>
                <a:spcPct val="100000"/>
              </a:lnSpc>
              <a:spcBef>
                <a:spcPts val="0"/>
              </a:spcBef>
              <a:spcAft>
                <a:spcPts val="60"/>
              </a:spcAft>
            </a:pPr>
            <a:r>
              <a:rPr sz="770" b="0" i="0">
                <a:solidFill>
                  <a:srgbClr val="E5E7EB"/>
                </a:solidFill>
                <a:latin typeface="Consolas"/>
              </a:rPr>
              <a:t>}</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abstract class Figure2 {                          // abstract class demo</a:t>
            </a:r>
          </a:p>
          <a:p>
            <a:pPr>
              <a:lnSpc>
                <a:spcPct val="100000"/>
              </a:lnSpc>
              <a:spcBef>
                <a:spcPts val="0"/>
              </a:spcBef>
              <a:spcAft>
                <a:spcPts val="60"/>
              </a:spcAft>
            </a:pPr>
            <a:r>
              <a:rPr sz="770" b="0" i="0">
                <a:solidFill>
                  <a:srgbClr val="E5E7EB"/>
                </a:solidFill>
                <a:latin typeface="Consolas"/>
              </a:rPr>
              <a:t>    abstract double area();                       // must be supplied by subclasses</a:t>
            </a:r>
          </a:p>
          <a:p>
            <a:pPr>
              <a:lnSpc>
                <a:spcPct val="100000"/>
              </a:lnSpc>
              <a:spcBef>
                <a:spcPts val="0"/>
              </a:spcBef>
              <a:spcAft>
                <a:spcPts val="60"/>
              </a:spcAft>
            </a:pPr>
            <a:r>
              <a:rPr sz="770" b="0" i="0">
                <a:solidFill>
                  <a:srgbClr val="E5E7EB"/>
                </a:solidFill>
                <a:latin typeface="Consolas"/>
              </a:rPr>
              <a:t>    String describe() { return "a figure with area " + area(); }   // concrete part</a:t>
            </a:r>
          </a:p>
          <a:p>
            <a:pPr>
              <a:lnSpc>
                <a:spcPct val="100000"/>
              </a:lnSpc>
              <a:spcBef>
                <a:spcPts val="0"/>
              </a:spcBef>
              <a:spcAft>
                <a:spcPts val="60"/>
              </a:spcAft>
            </a:pPr>
            <a:r>
              <a:rPr sz="770" b="0" i="0">
                <a:solidFill>
                  <a:srgbClr val="E5E7EB"/>
                </a:solidFill>
                <a:latin typeface="Consolas"/>
              </a:rPr>
              <a:t>}</a:t>
            </a:r>
          </a:p>
          <a:p>
            <a:pPr>
              <a:lnSpc>
                <a:spcPct val="100000"/>
              </a:lnSpc>
              <a:spcBef>
                <a:spcPts val="0"/>
              </a:spcBef>
              <a:spcAft>
                <a:spcPts val="60"/>
              </a:spcAft>
            </a:pPr>
            <a:r>
              <a:rPr sz="770" b="0" i="0">
                <a:solidFill>
                  <a:srgbClr val="E5E7EB"/>
                </a:solidFill>
                <a:latin typeface="Consolas"/>
              </a:rPr>
              <a:t>class Rect2 extends Figure2 {</a:t>
            </a:r>
          </a:p>
          <a:p>
            <a:pPr>
              <a:lnSpc>
                <a:spcPct val="100000"/>
              </a:lnSpc>
              <a:spcBef>
                <a:spcPts val="0"/>
              </a:spcBef>
              <a:spcAft>
                <a:spcPts val="60"/>
              </a:spcAft>
            </a:pPr>
            <a:r>
              <a:rPr sz="770" b="0" i="0">
                <a:solidFill>
                  <a:srgbClr val="E5E7EB"/>
                </a:solidFill>
                <a:latin typeface="Consolas"/>
              </a:rPr>
              <a:t>    double w, h;</a:t>
            </a:r>
          </a:p>
          <a:p>
            <a:pPr>
              <a:lnSpc>
                <a:spcPct val="100000"/>
              </a:lnSpc>
              <a:spcBef>
                <a:spcPts val="0"/>
              </a:spcBef>
              <a:spcAft>
                <a:spcPts val="60"/>
              </a:spcAft>
            </a:pPr>
            <a:r>
              <a:rPr sz="770" b="0" i="0">
                <a:solidFill>
                  <a:srgbClr val="E5E7EB"/>
                </a:solidFill>
                <a:latin typeface="Consolas"/>
              </a:rPr>
              <a:t>    Rect2(double w, double h) { this.w = w; this.h = h; }</a:t>
            </a:r>
          </a:p>
          <a:p>
            <a:pPr>
              <a:lnSpc>
                <a:spcPct val="100000"/>
              </a:lnSpc>
              <a:spcBef>
                <a:spcPts val="0"/>
              </a:spcBef>
              <a:spcAft>
                <a:spcPts val="60"/>
              </a:spcAft>
            </a:pPr>
            <a:r>
              <a:rPr sz="770" b="0" i="0">
                <a:solidFill>
                  <a:srgbClr val="E5E7EB"/>
                </a:solidFill>
                <a:latin typeface="Consolas"/>
              </a:rPr>
              <a:t>    double area() { return w * h; }</a:t>
            </a:r>
          </a:p>
          <a:p>
            <a:pPr>
              <a:lnSpc>
                <a:spcPct val="100000"/>
              </a:lnSpc>
              <a:spcBef>
                <a:spcPts val="0"/>
              </a:spcBef>
              <a:spcAft>
                <a:spcPts val="60"/>
              </a:spcAft>
            </a:pPr>
            <a:r>
              <a:rPr sz="770" b="0" i="0">
                <a:solidFill>
                  <a:srgbClr val="E5E7EB"/>
                </a:solidFill>
                <a:latin typeface="Consolas"/>
              </a:rPr>
              <a:t>}</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public class Main {</a:t>
            </a:r>
          </a:p>
          <a:p>
            <a:pPr>
              <a:lnSpc>
                <a:spcPct val="100000"/>
              </a:lnSpc>
              <a:spcBef>
                <a:spcPts val="0"/>
              </a:spcBef>
              <a:spcAft>
                <a:spcPts val="60"/>
              </a:spcAft>
            </a:pPr>
            <a:r>
              <a:rPr sz="770" b="0" i="0">
                <a:solidFill>
                  <a:srgbClr val="E5E7EB"/>
                </a:solidFill>
                <a:latin typeface="Consolas"/>
              </a:rPr>
              <a:t>    public static void main(String[] args) {</a:t>
            </a:r>
          </a:p>
          <a:p>
            <a:pPr>
              <a:lnSpc>
                <a:spcPct val="100000"/>
              </a:lnSpc>
              <a:spcBef>
                <a:spcPts val="0"/>
              </a:spcBef>
              <a:spcAft>
                <a:spcPts val="60"/>
              </a:spcAft>
            </a:pPr>
            <a:r>
              <a:rPr sz="770" b="0" i="0">
                <a:solidFill>
                  <a:srgbClr val="E5E7EB"/>
                </a:solidFill>
                <a:latin typeface="Consolas"/>
              </a:rPr>
              <a:t>        System.out.println("multilevel A -&gt; B -&gt;C (base first, derived last):");</a:t>
            </a:r>
          </a:p>
          <a:p>
            <a:pPr>
              <a:lnSpc>
                <a:spcPct val="100000"/>
              </a:lnSpc>
              <a:spcBef>
                <a:spcPts val="0"/>
              </a:spcBef>
              <a:spcAft>
                <a:spcPts val="60"/>
              </a:spcAft>
            </a:pPr>
            <a:r>
              <a:rPr sz="770" b="0" i="0">
                <a:solidFill>
                  <a:srgbClr val="E5E7EB"/>
                </a:solidFill>
                <a:latin typeface="Consolas"/>
              </a:rPr>
              <a:t>  …  (complete source: the course book)</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out/t3_inherit.txt</a:t>
            </a:r>
          </a:p>
        </p:txBody>
      </p:sp>
      <p:sp>
        <p:nvSpPr>
          <p:cNvPr id="14" name="TextBox 13"/>
          <p:cNvSpPr txBox="1"/>
          <p:nvPr/>
        </p:nvSpPr>
        <p:spPr>
          <a:xfrm>
            <a:off x="7004304" y="1938528"/>
            <a:ext cx="4572000" cy="4343400"/>
          </a:xfrm>
          <a:prstGeom prst="rect">
            <a:avLst/>
          </a:prstGeom>
          <a:noFill/>
        </p:spPr>
        <p:txBody>
          <a:bodyPr wrap="none" anchor="t" lIns="0" rIns="0" tIns="0" bIns="0">
            <a:spAutoFit/>
          </a:bodyPr>
          <a:lstStyle/>
          <a:p>
            <a:pPr>
              <a:lnSpc>
                <a:spcPct val="100000"/>
              </a:lnSpc>
              <a:spcBef>
                <a:spcPts val="0"/>
              </a:spcBef>
              <a:spcAft>
                <a:spcPts val="60"/>
              </a:spcAft>
            </a:pPr>
            <a:r>
              <a:rPr sz="1005" b="0" i="0">
                <a:solidFill>
                  <a:srgbClr val="14171C"/>
                </a:solidFill>
                <a:latin typeface="Consolas"/>
              </a:rPr>
              <a:t>$ javac -d bin/t3_inherit src/t3_inherit/Main.java</a:t>
            </a:r>
          </a:p>
          <a:p>
            <a:pPr>
              <a:lnSpc>
                <a:spcPct val="100000"/>
              </a:lnSpc>
              <a:spcBef>
                <a:spcPts val="0"/>
              </a:spcBef>
              <a:spcAft>
                <a:spcPts val="60"/>
              </a:spcAft>
            </a:pPr>
            <a:r>
              <a:rPr sz="1005" b="0" i="0">
                <a:solidFill>
                  <a:srgbClr val="14171C"/>
                </a:solidFill>
                <a:latin typeface="Consolas"/>
              </a:rPr>
              <a:t>$ java -cp bin/t3_inherit Main</a:t>
            </a:r>
          </a:p>
          <a:p>
            <a:pPr>
              <a:lnSpc>
                <a:spcPct val="100000"/>
              </a:lnSpc>
              <a:spcBef>
                <a:spcPts val="0"/>
              </a:spcBef>
              <a:spcAft>
                <a:spcPts val="60"/>
              </a:spcAft>
            </a:pPr>
            <a:r>
              <a:rPr sz="1005" b="0" i="0">
                <a:solidFill>
                  <a:srgbClr val="14171C"/>
                </a:solidFill>
                <a:latin typeface="Consolas"/>
              </a:rPr>
              <a:t>multilevel A -&gt; B -&gt;C (base first, derived last):</a:t>
            </a:r>
          </a:p>
          <a:p>
            <a:pPr>
              <a:lnSpc>
                <a:spcPct val="100000"/>
              </a:lnSpc>
              <a:spcBef>
                <a:spcPts val="0"/>
              </a:spcBef>
              <a:spcAft>
                <a:spcPts val="60"/>
              </a:spcAft>
            </a:pPr>
            <a:r>
              <a:rPr sz="1005" b="0" i="0">
                <a:solidFill>
                  <a:srgbClr val="14171C"/>
                </a:solidFill>
                <a:latin typeface="Consolas"/>
              </a:rPr>
              <a:t>  A() constructor</a:t>
            </a:r>
          </a:p>
          <a:p>
            <a:pPr>
              <a:lnSpc>
                <a:spcPct val="100000"/>
              </a:lnSpc>
              <a:spcBef>
                <a:spcPts val="0"/>
              </a:spcBef>
              <a:spcAft>
                <a:spcPts val="60"/>
              </a:spcAft>
            </a:pPr>
            <a:r>
              <a:rPr sz="1005" b="0" i="0">
                <a:solidFill>
                  <a:srgbClr val="14171C"/>
                </a:solidFill>
                <a:latin typeface="Consolas"/>
              </a:rPr>
              <a:t>  B() constructor</a:t>
            </a:r>
          </a:p>
          <a:p>
            <a:pPr>
              <a:lnSpc>
                <a:spcPct val="100000"/>
              </a:lnSpc>
              <a:spcBef>
                <a:spcPts val="0"/>
              </a:spcBef>
              <a:spcAft>
                <a:spcPts val="60"/>
              </a:spcAft>
            </a:pPr>
            <a:r>
              <a:rPr sz="1005" b="0" i="0">
                <a:solidFill>
                  <a:srgbClr val="14171C"/>
                </a:solidFill>
                <a:latin typeface="Consolas"/>
              </a:rPr>
              <a:t>  C() constructor</a:t>
            </a:r>
          </a:p>
          <a:p>
            <a:pPr>
              <a:lnSpc>
                <a:spcPct val="100000"/>
              </a:lnSpc>
              <a:spcBef>
                <a:spcPts val="0"/>
              </a:spcBef>
              <a:spcAft>
                <a:spcPts val="60"/>
              </a:spcAft>
            </a:pPr>
            <a:r>
              <a:rPr sz="1005" b="0" i="0">
                <a:solidFill>
                  <a:srgbClr val="14171C"/>
                </a:solidFill>
                <a:latin typeface="Consolas"/>
              </a:rPr>
              <a:t>Rex barks</a:t>
            </a:r>
          </a:p>
          <a:p>
            <a:pPr>
              <a:lnSpc>
                <a:spcPct val="100000"/>
              </a:lnSpc>
              <a:spcBef>
                <a:spcPts val="0"/>
              </a:spcBef>
              <a:spcAft>
                <a:spcPts val="60"/>
              </a:spcAft>
            </a:pPr>
            <a:r>
              <a:rPr sz="1005" b="0" i="0">
                <a:solidFill>
                  <a:srgbClr val="14171C"/>
                </a:solidFill>
                <a:latin typeface="Consolas"/>
              </a:rPr>
              <a:t>Thing makes a generic sound</a:t>
            </a:r>
          </a:p>
          <a:p>
            <a:pPr>
              <a:lnSpc>
                <a:spcPct val="100000"/>
              </a:lnSpc>
              <a:spcBef>
                <a:spcPts val="0"/>
              </a:spcBef>
              <a:spcAft>
                <a:spcPts val="60"/>
              </a:spcAft>
            </a:pPr>
            <a:r>
              <a:rPr sz="1005" b="0" i="0">
                <a:solidFill>
                  <a:srgbClr val="14171C"/>
                </a:solidFill>
                <a:latin typeface="Consolas"/>
              </a:rPr>
              <a:t>inherited toString(): Dog[Rex]</a:t>
            </a:r>
          </a:p>
          <a:p>
            <a:pPr>
              <a:lnSpc>
                <a:spcPct val="100000"/>
              </a:lnSpc>
              <a:spcBef>
                <a:spcPts val="0"/>
              </a:spcBef>
              <a:spcAft>
                <a:spcPts val="60"/>
              </a:spcAft>
            </a:pPr>
            <a:r>
              <a:rPr sz="1005" b="0" i="0">
                <a:solidFill>
                  <a:srgbClr val="14171C"/>
                </a:solidFill>
                <a:latin typeface="Consolas"/>
              </a:rPr>
              <a:t>Object.equals: same ref -&gt; true, distinct objects -&gt; false</a:t>
            </a:r>
          </a:p>
          <a:p>
            <a:pPr>
              <a:lnSpc>
                <a:spcPct val="100000"/>
              </a:lnSpc>
              <a:spcBef>
                <a:spcPts val="0"/>
              </a:spcBef>
              <a:spcAft>
                <a:spcPts val="60"/>
              </a:spcAft>
            </a:pPr>
            <a:r>
              <a:rPr sz="1005" b="0" i="0">
                <a:solidFill>
                  <a:srgbClr val="14171C"/>
                </a:solidFill>
                <a:latin typeface="Consolas"/>
              </a:rPr>
              <a:t>through the abstract type: a figure with area 12.0</a:t>
            </a:r>
          </a:p>
          <a:p>
            <a:pPr>
              <a:lnSpc>
                <a:spcPct val="100000"/>
              </a:lnSpc>
              <a:spcBef>
                <a:spcPts val="0"/>
              </a:spcBef>
              <a:spcAft>
                <a:spcPts val="60"/>
              </a:spcAft>
            </a:pPr>
            <a:r>
              <a:rPr sz="1005" b="0" i="0">
                <a:solidFill>
                  <a:srgbClr val="14171C"/>
                </a:solidFill>
                <a:latin typeface="Consolas"/>
              </a:rPr>
              <a:t>Rex fetches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3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3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18</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Why does the transcript show exactly one B() line and not two when C is constructed?</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Write the one-line declaration that would make Rect2 fail to compile, and name the rule it breaks.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In t3_pkg, Main calls new Calc().packageOnly() directly. Predict the compiler’s verdict; then check against the source comment.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An interface variable Movable m = new Cart(10); — list what m may call and what is hidden. Relate it to Exp. 5’s Resizable.</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default methods vs. abstract methods: when does adding a method to an interface not break every implementor?</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§3.5 — these are IA-test-shaped practice.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4 — Exception Handling and Multithreaded Programming</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19</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CO4 — exception handling, multithreading</a:t>
            </a:r>
            <a:r>
              <a:rPr sz="1300" b="0" i="0">
                <a:solidFill>
                  <a:srgbClr val="4B5563"/>
                </a:solidFill>
                <a:latin typeface="Calibri"/>
              </a:rPr>
              <a:t>    ·    Number of Hours: 8 · Textbook: Chapters 10, 11</a:t>
            </a:r>
            <a:r>
              <a:rPr sz="1250" b="0" i="0">
                <a:solidFill>
                  <a:srgbClr val="4B5563"/>
                </a:solidFill>
                <a:latin typeface="Calibri"/>
              </a:rPr>
              <a:t>    ·    Textbook: Chapters 10, 11 — Number of Hours: 8</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Exception fundamentals · types · uncaught behaviour</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try/catch · multiple catch · nested try · throw · throws · finally</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Built-in exceptions · your own subclass · chained exceptions</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Multiple threads · isAlive() &amp; join() · thread priorities</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Obtaining a thread's state (NEW → RUNNABLE → TERMINATED)</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MODULE-4 SYLLABUS (VERBATIM)</a:t>
            </a:r>
          </a:p>
          <a:p>
            <a:pPr>
              <a:lnSpc>
                <a:spcPct val="108000"/>
              </a:lnSpc>
              <a:spcBef>
                <a:spcPts val="0"/>
              </a:spcBef>
              <a:spcAft>
                <a:spcPts val="0"/>
              </a:spcAft>
            </a:pPr>
            <a:r>
              <a:rPr sz="1050" b="0" i="0">
                <a:solidFill>
                  <a:srgbClr val="16181D"/>
                </a:solidFill>
                <a:latin typeface="Calibri"/>
              </a:rPr>
              <a:t>Exceptions: Exception-Handling Fundamentals, Exception Types, Uncaught Exceptions, Using try and catch, Multiple catch Clauses, Nested try Statements, throw, throws, finally, Java’s Built-in Exceptions, Creating Your Own Exception Subclasses, Chained Exceptions. […]: Multiple Threads, Using isAlive() and join(), Thread Priorities, Obtaining a Thread’s State.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Exceptions: control of the unhappy path</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20</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try guards · catch handles one type · finally runs on every exit — it printed </a:t>
            </a:r>
            <a:r>
              <a:rPr sz="1300" b="0" i="0">
                <a:solidFill>
                  <a:srgbClr val="B3261E"/>
                </a:solidFill>
                <a:latin typeface="Consolas"/>
              </a:rPr>
              <a:t>finally always runs</a:t>
            </a:r>
            <a:r>
              <a:rPr sz="1450" b="0" i="0">
                <a:solidFill>
                  <a:srgbClr val="16181D"/>
                </a:solidFill>
                <a:latin typeface="Calibri"/>
              </a:rPr>
              <a:t> beside 5 and beside the zero-divide.</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Multiple catches split the diagnosis: </a:t>
            </a:r>
            <a:r>
              <a:rPr sz="1250" b="0" i="0">
                <a:solidFill>
                  <a:srgbClr val="B3261E"/>
                </a:solidFill>
                <a:latin typeface="Consolas"/>
              </a:rPr>
              <a:t>inner catch: divide by zero input 0</a:t>
            </a:r>
            <a:r>
              <a:rPr sz="1450" b="0" i="0">
                <a:solidFill>
                  <a:srgbClr val="16181D"/>
                </a:solidFill>
                <a:latin typeface="Calibri"/>
              </a:rPr>
              <a:t> / </a:t>
            </a:r>
            <a:r>
              <a:rPr sz="1200" b="0" i="0">
                <a:solidFill>
                  <a:srgbClr val="B3261E"/>
                </a:solidFill>
                <a:latin typeface="Consolas"/>
              </a:rPr>
              <a:t>outer catch: not a number: For input string: "abc"</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Checked exceptions are compiler-enforced: </a:t>
            </a:r>
            <a:r>
              <a:rPr sz="1300" b="0" i="0">
                <a:solidFill>
                  <a:srgbClr val="16181D"/>
                </a:solidFill>
                <a:latin typeface="Consolas"/>
              </a:rPr>
              <a:t>throws LowBalanceException</a:t>
            </a:r>
            <a:r>
              <a:rPr sz="1450" b="0" i="0">
                <a:solidFill>
                  <a:srgbClr val="16181D"/>
                </a:solidFill>
                <a:latin typeface="Calibri"/>
              </a:rPr>
              <a:t> + </a:t>
            </a:r>
            <a:r>
              <a:rPr sz="1300" b="0" i="0">
                <a:solidFill>
                  <a:srgbClr val="16181D"/>
                </a:solidFill>
                <a:latin typeface="Consolas"/>
              </a:rPr>
              <a:t>throw new …</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Chaining keeps the cause: </a:t>
            </a:r>
            <a:r>
              <a:rPr sz="1250" b="0" i="0">
                <a:solidFill>
                  <a:srgbClr val="B3261E"/>
                </a:solidFill>
                <a:latin typeface="Consolas"/>
              </a:rPr>
              <a:t>ledger read failed at record 1000</a:t>
            </a:r>
            <a:r>
              <a:rPr sz="1450" b="0" i="0">
                <a:solidFill>
                  <a:srgbClr val="16181D"/>
                </a:solidFill>
                <a:latin typeface="Calibri"/>
              </a:rPr>
              <a:t> surfaced via getCause(); </a:t>
            </a:r>
            <a:r>
              <a:rPr sz="1300" b="0" i="0">
                <a:solidFill>
                  <a:srgbClr val="B3261E"/>
                </a:solidFill>
                <a:latin typeface="Consolas"/>
              </a:rPr>
              <a:t>balance left: 70</a:t>
            </a:r>
            <a:r>
              <a:rPr sz="1450" b="0" i="0">
                <a:solidFill>
                  <a:srgbClr val="16181D"/>
                </a:solidFill>
                <a:latin typeface="Calibri"/>
              </a:rPr>
              <a:t> proves recovery worked.</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Own subclass = extend Exception, two constructors (message, message+cause).</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src/t4_except/</a:t>
            </a:r>
          </a:p>
        </p:txBody>
      </p:sp>
      <p:sp>
        <p:nvSpPr>
          <p:cNvPr id="12" name="TextBox 11"/>
          <p:cNvSpPr txBox="1"/>
          <p:nvPr/>
        </p:nvSpPr>
        <p:spPr>
          <a:xfrm>
            <a:off x="7388352" y="2002536"/>
            <a:ext cx="4169664" cy="4279392"/>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 src/t4_except/Main.java ———</a:t>
            </a:r>
          </a:p>
          <a:p>
            <a:pPr>
              <a:lnSpc>
                <a:spcPct val="100000"/>
              </a:lnSpc>
              <a:spcBef>
                <a:spcPts val="0"/>
              </a:spcBef>
              <a:spcAft>
                <a:spcPts val="60"/>
              </a:spcAft>
            </a:pPr>
            <a:r>
              <a:rPr sz="640" b="0" i="0">
                <a:solidFill>
                  <a:srgbClr val="E5E7EB"/>
                </a:solidFill>
                <a:latin typeface="Consolas"/>
              </a:rPr>
              <a:t>// Module 4, demo 1 -- exception handling: built-in types, try/catch with</a:t>
            </a:r>
          </a:p>
          <a:p>
            <a:pPr>
              <a:lnSpc>
                <a:spcPct val="100000"/>
              </a:lnSpc>
              <a:spcBef>
                <a:spcPts val="0"/>
              </a:spcBef>
              <a:spcAft>
                <a:spcPts val="60"/>
              </a:spcAft>
            </a:pPr>
            <a:r>
              <a:rPr sz="640" b="0" i="0">
                <a:solidFill>
                  <a:srgbClr val="E5E7EB"/>
                </a:solidFill>
                <a:latin typeface="Consolas"/>
              </a:rPr>
              <a:t>// multiple and nested catches, throw, throws, finally, a custom subclass</a:t>
            </a:r>
          </a:p>
          <a:p>
            <a:pPr>
              <a:lnSpc>
                <a:spcPct val="100000"/>
              </a:lnSpc>
              <a:spcBef>
                <a:spcPts val="0"/>
              </a:spcBef>
              <a:spcAft>
                <a:spcPts val="60"/>
              </a:spcAft>
            </a:pPr>
            <a:r>
              <a:rPr sz="640" b="0" i="0">
                <a:solidFill>
                  <a:srgbClr val="E5E7EB"/>
                </a:solidFill>
                <a:latin typeface="Consolas"/>
              </a:rPr>
              <a:t>// of Exception, and a chained exception (with a cause).</a:t>
            </a:r>
          </a:p>
          <a:p>
            <a:pPr>
              <a:lnSpc>
                <a:spcPct val="100000"/>
              </a:lnSpc>
              <a:spcBef>
                <a:spcPts val="0"/>
              </a:spcBef>
              <a:spcAft>
                <a:spcPts val="60"/>
              </a:spcAft>
            </a:pPr>
            <a:r>
              <a:rPr sz="640" b="0" i="0">
                <a:solidFill>
                  <a:srgbClr val="E5E7EB"/>
                </a:solidFill>
                <a:latin typeface="Consolas"/>
              </a:rPr>
              <a:t>import java.io.IOException;</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class LowBalanceException extends Exception {          // a checked exception of our own</a:t>
            </a:r>
          </a:p>
          <a:p>
            <a:pPr>
              <a:lnSpc>
                <a:spcPct val="100000"/>
              </a:lnSpc>
              <a:spcBef>
                <a:spcPts val="0"/>
              </a:spcBef>
              <a:spcAft>
                <a:spcPts val="60"/>
              </a:spcAft>
            </a:pPr>
            <a:r>
              <a:rPr sz="640" b="0" i="0">
                <a:solidFill>
                  <a:srgbClr val="E5E7EB"/>
                </a:solidFill>
                <a:latin typeface="Consolas"/>
              </a:rPr>
              <a:t>    LowBalanceException(String msg)            { super(msg); }</a:t>
            </a:r>
          </a:p>
          <a:p>
            <a:pPr>
              <a:lnSpc>
                <a:spcPct val="100000"/>
              </a:lnSpc>
              <a:spcBef>
                <a:spcPts val="0"/>
              </a:spcBef>
              <a:spcAft>
                <a:spcPts val="60"/>
              </a:spcAft>
            </a:pPr>
            <a:r>
              <a:rPr sz="640" b="0" i="0">
                <a:solidFill>
                  <a:srgbClr val="E5E7EB"/>
                </a:solidFill>
                <a:latin typeface="Consolas"/>
              </a:rPr>
              <a:t>    LowBalanceException(String msg, Throwable cause) { super(msg, cause); }  // chained</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class Bank {</a:t>
            </a:r>
          </a:p>
          <a:p>
            <a:pPr>
              <a:lnSpc>
                <a:spcPct val="100000"/>
              </a:lnSpc>
              <a:spcBef>
                <a:spcPts val="0"/>
              </a:spcBef>
              <a:spcAft>
                <a:spcPts val="60"/>
              </a:spcAft>
            </a:pPr>
            <a:r>
              <a:rPr sz="640" b="0" i="0">
                <a:solidFill>
                  <a:srgbClr val="E5E7EB"/>
                </a:solidFill>
                <a:latin typeface="Consolas"/>
              </a:rPr>
              <a:t>    private int balance = 100;</a:t>
            </a:r>
          </a:p>
          <a:p>
            <a:pPr>
              <a:lnSpc>
                <a:spcPct val="100000"/>
              </a:lnSpc>
              <a:spcBef>
                <a:spcPts val="0"/>
              </a:spcBef>
              <a:spcAft>
                <a:spcPts val="60"/>
              </a:spcAft>
            </a:pPr>
            <a:r>
              <a:rPr sz="640" b="0" i="0">
                <a:solidFill>
                  <a:srgbClr val="E5E7EB"/>
                </a:solidFill>
                <a:latin typeface="Consolas"/>
              </a:rPr>
              <a:t>    void withdraw(int amount) throws LowBalanceException {</a:t>
            </a:r>
          </a:p>
          <a:p>
            <a:pPr>
              <a:lnSpc>
                <a:spcPct val="100000"/>
              </a:lnSpc>
              <a:spcBef>
                <a:spcPts val="0"/>
              </a:spcBef>
              <a:spcAft>
                <a:spcPts val="60"/>
              </a:spcAft>
            </a:pPr>
            <a:r>
              <a:rPr sz="640" b="0" i="0">
                <a:solidFill>
                  <a:srgbClr val="E5E7EB"/>
                </a:solidFill>
                <a:latin typeface="Consolas"/>
              </a:rPr>
              <a:t>        if (amount &lt;= 0)</a:t>
            </a:r>
          </a:p>
          <a:p>
            <a:pPr>
              <a:lnSpc>
                <a:spcPct val="100000"/>
              </a:lnSpc>
              <a:spcBef>
                <a:spcPts val="0"/>
              </a:spcBef>
              <a:spcAft>
                <a:spcPts val="60"/>
              </a:spcAft>
            </a:pPr>
            <a:r>
              <a:rPr sz="640" b="0" i="0">
                <a:solidFill>
                  <a:srgbClr val="E5E7EB"/>
                </a:solidFill>
                <a:latin typeface="Consolas"/>
              </a:rPr>
              <a:t>            throw new IllegalArgumentException("non-positive amount");       // throw</a:t>
            </a:r>
          </a:p>
          <a:p>
            <a:pPr>
              <a:lnSpc>
                <a:spcPct val="100000"/>
              </a:lnSpc>
              <a:spcBef>
                <a:spcPts val="0"/>
              </a:spcBef>
              <a:spcAft>
                <a:spcPts val="60"/>
              </a:spcAft>
            </a:pPr>
            <a:r>
              <a:rPr sz="640" b="0" i="0">
                <a:solidFill>
                  <a:srgbClr val="E5E7EB"/>
                </a:solidFill>
                <a:latin typeface="Consolas"/>
              </a:rPr>
              <a:t>        if (amount &gt; balance)</a:t>
            </a:r>
          </a:p>
          <a:p>
            <a:pPr>
              <a:lnSpc>
                <a:spcPct val="100000"/>
              </a:lnSpc>
              <a:spcBef>
                <a:spcPts val="0"/>
              </a:spcBef>
              <a:spcAft>
                <a:spcPts val="60"/>
              </a:spcAft>
            </a:pPr>
            <a:r>
              <a:rPr sz="640" b="0" i="0">
                <a:solidFill>
                  <a:srgbClr val="E5E7EB"/>
                </a:solidFill>
                <a:latin typeface="Consolas"/>
              </a:rPr>
              <a:t>            throw new LowBalanceException("insufficient funds",              // wraps a cause</a:t>
            </a:r>
          </a:p>
          <a:p>
            <a:pPr>
              <a:lnSpc>
                <a:spcPct val="100000"/>
              </a:lnSpc>
              <a:spcBef>
                <a:spcPts val="0"/>
              </a:spcBef>
              <a:spcAft>
                <a:spcPts val="60"/>
              </a:spcAft>
            </a:pPr>
            <a:r>
              <a:rPr sz="640" b="0" i="0">
                <a:solidFill>
                  <a:srgbClr val="E5E7EB"/>
                </a:solidFill>
                <a:latin typeface="Consolas"/>
              </a:rPr>
              <a:t>                    new IOException("ledger read failed at record " + amount));</a:t>
            </a:r>
          </a:p>
          <a:p>
            <a:pPr>
              <a:lnSpc>
                <a:spcPct val="100000"/>
              </a:lnSpc>
              <a:spcBef>
                <a:spcPts val="0"/>
              </a:spcBef>
              <a:spcAft>
                <a:spcPts val="60"/>
              </a:spcAft>
            </a:pPr>
            <a:r>
              <a:rPr sz="640" b="0" i="0">
                <a:solidFill>
                  <a:srgbClr val="E5E7EB"/>
                </a:solidFill>
                <a:latin typeface="Consolas"/>
              </a:rPr>
              <a:t>        balance -= amount;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int getBalance() { return balance;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public class Main {</a:t>
            </a:r>
          </a:p>
          <a:p>
            <a:pPr>
              <a:lnSpc>
                <a:spcPct val="100000"/>
              </a:lnSpc>
              <a:spcBef>
                <a:spcPts val="0"/>
              </a:spcBef>
              <a:spcAft>
                <a:spcPts val="60"/>
              </a:spcAft>
            </a:pPr>
            <a:r>
              <a:rPr sz="640" b="0" i="0">
                <a:solidFill>
                  <a:srgbClr val="E5E7EB"/>
                </a:solidFill>
                <a:latin typeface="Consolas"/>
              </a:rPr>
              <a:t>    static int safeDivide(int a, int b) {</a:t>
            </a:r>
          </a:p>
          <a:p>
            <a:pPr>
              <a:lnSpc>
                <a:spcPct val="100000"/>
              </a:lnSpc>
              <a:spcBef>
                <a:spcPts val="0"/>
              </a:spcBef>
              <a:spcAft>
                <a:spcPts val="60"/>
              </a:spcAft>
            </a:pPr>
            <a:r>
              <a:rPr sz="640" b="0" i="0">
                <a:solidFill>
                  <a:srgbClr val="E5E7EB"/>
                </a:solidFill>
                <a:latin typeface="Consolas"/>
              </a:rPr>
              <a:t>        try {</a:t>
            </a:r>
          </a:p>
          <a:p>
            <a:pPr>
              <a:lnSpc>
                <a:spcPct val="100000"/>
              </a:lnSpc>
              <a:spcBef>
                <a:spcPts val="0"/>
              </a:spcBef>
              <a:spcAft>
                <a:spcPts val="60"/>
              </a:spcAft>
            </a:pPr>
            <a:r>
              <a:rPr sz="640" b="0" i="0">
                <a:solidFill>
                  <a:srgbClr val="E5E7EB"/>
                </a:solidFill>
                <a:latin typeface="Consolas"/>
              </a:rPr>
              <a:t>            return a / b;</a:t>
            </a:r>
          </a:p>
          <a:p>
            <a:pPr>
              <a:lnSpc>
                <a:spcPct val="100000"/>
              </a:lnSpc>
              <a:spcBef>
                <a:spcPts val="0"/>
              </a:spcBef>
              <a:spcAft>
                <a:spcPts val="60"/>
              </a:spcAft>
            </a:pPr>
            <a:r>
              <a:rPr sz="640" b="0" i="0">
                <a:solidFill>
                  <a:srgbClr val="E5E7EB"/>
                </a:solidFill>
                <a:latin typeface="Consolas"/>
              </a:rPr>
              <a:t>        } catch (ArithmeticException e) {</a:t>
            </a:r>
          </a:p>
          <a:p>
            <a:pPr>
              <a:lnSpc>
                <a:spcPct val="100000"/>
              </a:lnSpc>
              <a:spcBef>
                <a:spcPts val="0"/>
              </a:spcBef>
              <a:spcAft>
                <a:spcPts val="60"/>
              </a:spcAft>
            </a:pPr>
            <a:r>
              <a:rPr sz="640" b="0" i="0">
                <a:solidFill>
                  <a:srgbClr val="E5E7EB"/>
                </a:solidFill>
                <a:latin typeface="Consolas"/>
              </a:rPr>
              <a:t>            System.out.println("  caught: " + e);</a:t>
            </a:r>
          </a:p>
          <a:p>
            <a:pPr>
              <a:lnSpc>
                <a:spcPct val="100000"/>
              </a:lnSpc>
              <a:spcBef>
                <a:spcPts val="0"/>
              </a:spcBef>
              <a:spcAft>
                <a:spcPts val="60"/>
              </a:spcAft>
            </a:pPr>
            <a:r>
              <a:rPr sz="640" b="0" i="0">
                <a:solidFill>
                  <a:srgbClr val="E5E7EB"/>
                </a:solidFill>
                <a:latin typeface="Consolas"/>
              </a:rPr>
              <a:t>            return 0;</a:t>
            </a:r>
          </a:p>
          <a:p>
            <a:pPr>
              <a:lnSpc>
                <a:spcPct val="100000"/>
              </a:lnSpc>
              <a:spcBef>
                <a:spcPts val="0"/>
              </a:spcBef>
              <a:spcAft>
                <a:spcPts val="60"/>
              </a:spcAft>
            </a:pPr>
            <a:r>
              <a:rPr sz="640" b="0" i="0">
                <a:solidFill>
                  <a:srgbClr val="E5E7EB"/>
                </a:solidFill>
                <a:latin typeface="Consolas"/>
              </a:rPr>
              <a:t>        } finally {</a:t>
            </a:r>
          </a:p>
          <a:p>
            <a:pPr>
              <a:lnSpc>
                <a:spcPct val="100000"/>
              </a:lnSpc>
              <a:spcBef>
                <a:spcPts val="0"/>
              </a:spcBef>
              <a:spcAft>
                <a:spcPts val="60"/>
              </a:spcAft>
            </a:pPr>
            <a:r>
              <a:rPr sz="640" b="0" i="0">
                <a:solidFill>
                  <a:srgbClr val="E5E7EB"/>
                </a:solidFill>
                <a:latin typeface="Consolas"/>
              </a:rPr>
              <a:t>            System.out.println("  finally always runs");</a:t>
            </a:r>
          </a:p>
          <a:p>
            <a:pPr>
              <a:lnSpc>
                <a:spcPct val="100000"/>
              </a:lnSpc>
              <a:spcBef>
                <a:spcPts val="0"/>
              </a:spcBef>
              <a:spcAft>
                <a:spcPts val="60"/>
              </a:spcAft>
            </a:pPr>
            <a:r>
              <a:rPr sz="640" b="0" i="0">
                <a:solidFill>
                  <a:srgbClr val="E5E7EB"/>
                </a:solidFill>
                <a:latin typeface="Consolas"/>
              </a:rPr>
              <a:t>  …  (complete source: the course book)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Threads: several paths, one record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21</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A thread is a path of execution; </a:t>
            </a:r>
            <a:r>
              <a:rPr sz="1300" b="0" i="0">
                <a:solidFill>
                  <a:srgbClr val="16181D"/>
                </a:solidFill>
                <a:latin typeface="Consolas"/>
              </a:rPr>
              <a:t>start()</a:t>
            </a:r>
            <a:r>
              <a:rPr sz="1450" b="0" i="0">
                <a:solidFill>
                  <a:srgbClr val="16181D"/>
                </a:solidFill>
                <a:latin typeface="Calibri"/>
              </a:rPr>
              <a:t> schedules </a:t>
            </a:r>
            <a:r>
              <a:rPr sz="1300" b="0" i="0">
                <a:solidFill>
                  <a:srgbClr val="16181D"/>
                </a:solidFill>
                <a:latin typeface="Consolas"/>
              </a:rPr>
              <a:t>run()</a:t>
            </a:r>
            <a:r>
              <a:rPr sz="1450" b="0" i="0">
                <a:solidFill>
                  <a:srgbClr val="16181D"/>
                </a:solidFill>
                <a:latin typeface="Calibri"/>
              </a:rPr>
              <a:t> — calling run directly is just a method.</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The state sampler caught the lifecycle: </a:t>
            </a:r>
            <a:r>
              <a:rPr sz="1200" b="0" i="0">
                <a:solidFill>
                  <a:srgbClr val="B3261E"/>
                </a:solidFill>
                <a:latin typeface="Consolas"/>
              </a:rPr>
              <a:t>before start : alpha alive? false, state NEW</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join() blocks until death: </a:t>
            </a:r>
            <a:r>
              <a:rPr sz="1200" b="0" i="0">
                <a:solidFill>
                  <a:srgbClr val="B3261E"/>
                </a:solidFill>
                <a:latin typeface="Consolas"/>
              </a:rPr>
              <a:t>after join   : alpha alive? false, state TERMINATED</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Priorities are hints: </a:t>
            </a:r>
            <a:r>
              <a:rPr sz="1300" b="0" i="0">
                <a:solidFill>
                  <a:srgbClr val="B3261E"/>
                </a:solidFill>
                <a:latin typeface="Consolas"/>
              </a:rPr>
              <a:t>alpha=10, beta=1, main=5</a:t>
            </a:r>
            <a:r>
              <a:rPr sz="1450" b="0" i="0">
                <a:solidFill>
                  <a:srgbClr val="16181D"/>
                </a:solidFill>
                <a:latin typeface="Calibri"/>
              </a:rPr>
              <a:t> — set/read, order still scheduler's.</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Output buffered per child → the record is reproducible while the interleaving stays real.</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src/t4_threads/</a:t>
            </a:r>
          </a:p>
        </p:txBody>
      </p:sp>
      <p:sp>
        <p:nvSpPr>
          <p:cNvPr id="12" name="TextBox 11"/>
          <p:cNvSpPr txBox="1"/>
          <p:nvPr/>
        </p:nvSpPr>
        <p:spPr>
          <a:xfrm>
            <a:off x="7388352" y="2002536"/>
            <a:ext cx="4169664" cy="4279392"/>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 src/t4_threads/Main.java ———</a:t>
            </a:r>
          </a:p>
          <a:p>
            <a:pPr>
              <a:lnSpc>
                <a:spcPct val="100000"/>
              </a:lnSpc>
              <a:spcBef>
                <a:spcPts val="0"/>
              </a:spcBef>
              <a:spcAft>
                <a:spcPts val="60"/>
              </a:spcAft>
            </a:pPr>
            <a:r>
              <a:rPr sz="640" b="0" i="0">
                <a:solidFill>
                  <a:srgbClr val="E5E7EB"/>
                </a:solidFill>
                <a:latin typeface="Consolas"/>
              </a:rPr>
              <a:t>// Module 4, demo 2 -- two worker threads run concurrently with main.</a:t>
            </a:r>
          </a:p>
          <a:p>
            <a:pPr>
              <a:lnSpc>
                <a:spcPct val="100000"/>
              </a:lnSpc>
              <a:spcBef>
                <a:spcPts val="0"/>
              </a:spcBef>
              <a:spcAft>
                <a:spcPts val="60"/>
              </a:spcAft>
            </a:pPr>
            <a:r>
              <a:rPr sz="640" b="0" i="0">
                <a:solidFill>
                  <a:srgbClr val="E5E7EB"/>
                </a:solidFill>
                <a:latin typeface="Consolas"/>
              </a:rPr>
              <a:t>// Each child extends Thread through a constructor that calls super(name);</a:t>
            </a:r>
          </a:p>
          <a:p>
            <a:pPr>
              <a:lnSpc>
                <a:spcPct val="100000"/>
              </a:lnSpc>
              <a:spcBef>
                <a:spcPts val="0"/>
              </a:spcBef>
              <a:spcAft>
                <a:spcPts val="60"/>
              </a:spcAft>
            </a:pPr>
            <a:r>
              <a:rPr sz="640" b="0" i="0">
                <a:solidFill>
                  <a:srgbClr val="E5E7EB"/>
                </a:solidFill>
                <a:latin typeface="Consolas"/>
              </a:rPr>
              <a:t>// isAlive(), join(), priorities and getState() are all exercised.  Child</a:t>
            </a:r>
          </a:p>
          <a:p>
            <a:pPr>
              <a:lnSpc>
                <a:spcPct val="100000"/>
              </a:lnSpc>
              <a:spcBef>
                <a:spcPts val="0"/>
              </a:spcBef>
              <a:spcAft>
                <a:spcPts val="60"/>
              </a:spcAft>
            </a:pPr>
            <a:r>
              <a:rPr sz="640" b="0" i="0">
                <a:solidFill>
                  <a:srgbClr val="E5E7EB"/>
                </a:solidFill>
                <a:latin typeface="Consolas"/>
              </a:rPr>
              <a:t>// output is buffered so the record below is reproducible; in a live run</a:t>
            </a:r>
          </a:p>
          <a:p>
            <a:pPr>
              <a:lnSpc>
                <a:spcPct val="100000"/>
              </a:lnSpc>
              <a:spcBef>
                <a:spcPts val="0"/>
              </a:spcBef>
              <a:spcAft>
                <a:spcPts val="60"/>
              </a:spcAft>
            </a:pPr>
            <a:r>
              <a:rPr sz="640" b="0" i="0">
                <a:solidFill>
                  <a:srgbClr val="E5E7EB"/>
                </a:solidFill>
                <a:latin typeface="Consolas"/>
              </a:rPr>
              <a:t>// the interleaving with main's ticks may differ.</a:t>
            </a:r>
          </a:p>
          <a:p>
            <a:pPr>
              <a:lnSpc>
                <a:spcPct val="100000"/>
              </a:lnSpc>
              <a:spcBef>
                <a:spcPts val="0"/>
              </a:spcBef>
              <a:spcAft>
                <a:spcPts val="60"/>
              </a:spcAft>
            </a:pPr>
            <a:r>
              <a:rPr sz="640" b="0" i="0">
                <a:solidFill>
                  <a:srgbClr val="E5E7EB"/>
                </a:solidFill>
                <a:latin typeface="Consolas"/>
              </a:rPr>
              <a:t>class MyThread extends Thread {</a:t>
            </a:r>
          </a:p>
          <a:p>
            <a:pPr>
              <a:lnSpc>
                <a:spcPct val="100000"/>
              </a:lnSpc>
              <a:spcBef>
                <a:spcPts val="0"/>
              </a:spcBef>
              <a:spcAft>
                <a:spcPts val="60"/>
              </a:spcAft>
            </a:pPr>
            <a:r>
              <a:rPr sz="640" b="0" i="0">
                <a:solidFill>
                  <a:srgbClr val="E5E7EB"/>
                </a:solidFill>
                <a:latin typeface="Consolas"/>
              </a:rPr>
              <a:t>    private final int count;</a:t>
            </a:r>
          </a:p>
          <a:p>
            <a:pPr>
              <a:lnSpc>
                <a:spcPct val="100000"/>
              </a:lnSpc>
              <a:spcBef>
                <a:spcPts val="0"/>
              </a:spcBef>
              <a:spcAft>
                <a:spcPts val="60"/>
              </a:spcAft>
            </a:pPr>
            <a:r>
              <a:rPr sz="640" b="0" i="0">
                <a:solidFill>
                  <a:srgbClr val="E5E7EB"/>
                </a:solidFill>
                <a:latin typeface="Consolas"/>
              </a:rPr>
              <a:t>    private final StringBuilder log = new StringBuilder();</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MyThread(String name, int count) {</a:t>
            </a:r>
          </a:p>
          <a:p>
            <a:pPr>
              <a:lnSpc>
                <a:spcPct val="100000"/>
              </a:lnSpc>
              <a:spcBef>
                <a:spcPts val="0"/>
              </a:spcBef>
              <a:spcAft>
                <a:spcPts val="60"/>
              </a:spcAft>
            </a:pPr>
            <a:r>
              <a:rPr sz="640" b="0" i="0">
                <a:solidFill>
                  <a:srgbClr val="E5E7EB"/>
                </a:solidFill>
                <a:latin typeface="Consolas"/>
              </a:rPr>
              <a:t>        super(name);                 // the superclass (Thread) constructor</a:t>
            </a:r>
          </a:p>
          <a:p>
            <a:pPr>
              <a:lnSpc>
                <a:spcPct val="100000"/>
              </a:lnSpc>
              <a:spcBef>
                <a:spcPts val="0"/>
              </a:spcBef>
              <a:spcAft>
                <a:spcPts val="60"/>
              </a:spcAft>
            </a:pPr>
            <a:r>
              <a:rPr sz="640" b="0" i="0">
                <a:solidFill>
                  <a:srgbClr val="E5E7EB"/>
                </a:solidFill>
                <a:latin typeface="Consolas"/>
              </a:rPr>
              <a:t>        this.count = count;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@Override public void run() {</a:t>
            </a:r>
          </a:p>
          <a:p>
            <a:pPr>
              <a:lnSpc>
                <a:spcPct val="100000"/>
              </a:lnSpc>
              <a:spcBef>
                <a:spcPts val="0"/>
              </a:spcBef>
              <a:spcAft>
                <a:spcPts val="60"/>
              </a:spcAft>
            </a:pPr>
            <a:r>
              <a:rPr sz="640" b="0" i="0">
                <a:solidFill>
                  <a:srgbClr val="E5E7EB"/>
                </a:solidFill>
                <a:latin typeface="Consolas"/>
              </a:rPr>
              <a:t>        for (int i = 1; i &lt;= count; i++) {</a:t>
            </a:r>
          </a:p>
          <a:p>
            <a:pPr>
              <a:lnSpc>
                <a:spcPct val="100000"/>
              </a:lnSpc>
              <a:spcBef>
                <a:spcPts val="0"/>
              </a:spcBef>
              <a:spcAft>
                <a:spcPts val="60"/>
              </a:spcAft>
            </a:pPr>
            <a:r>
              <a:rPr sz="640" b="0" i="0">
                <a:solidFill>
                  <a:srgbClr val="E5E7EB"/>
                </a:solidFill>
                <a:latin typeface="Consolas"/>
              </a:rPr>
              <a:t>            log.append("  [").append(getName()).append("] step ").append(i).append('\n');</a:t>
            </a:r>
          </a:p>
          <a:p>
            <a:pPr>
              <a:lnSpc>
                <a:spcPct val="100000"/>
              </a:lnSpc>
              <a:spcBef>
                <a:spcPts val="0"/>
              </a:spcBef>
              <a:spcAft>
                <a:spcPts val="60"/>
              </a:spcAft>
            </a:pPr>
            <a:r>
              <a:rPr sz="640" b="0" i="0">
                <a:solidFill>
                  <a:srgbClr val="E5E7EB"/>
                </a:solidFill>
                <a:latin typeface="Consolas"/>
              </a:rPr>
              <a:t>            try { Thread.sleep(5); } catch (InterruptedException e) { return;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String logText() { return log.toString();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public class Main {</a:t>
            </a:r>
          </a:p>
          <a:p>
            <a:pPr>
              <a:lnSpc>
                <a:spcPct val="100000"/>
              </a:lnSpc>
              <a:spcBef>
                <a:spcPts val="0"/>
              </a:spcBef>
              <a:spcAft>
                <a:spcPts val="60"/>
              </a:spcAft>
            </a:pPr>
            <a:r>
              <a:rPr sz="640" b="0" i="0">
                <a:solidFill>
                  <a:srgbClr val="E5E7EB"/>
                </a:solidFill>
                <a:latin typeface="Consolas"/>
              </a:rPr>
              <a:t>    public static void main(String[] args) throws InterruptedException {</a:t>
            </a:r>
          </a:p>
          <a:p>
            <a:pPr>
              <a:lnSpc>
                <a:spcPct val="100000"/>
              </a:lnSpc>
              <a:spcBef>
                <a:spcPts val="0"/>
              </a:spcBef>
              <a:spcAft>
                <a:spcPts val="60"/>
              </a:spcAft>
            </a:pPr>
            <a:r>
              <a:rPr sz="640" b="0" i="0">
                <a:solidFill>
                  <a:srgbClr val="E5E7EB"/>
                </a:solidFill>
                <a:latin typeface="Consolas"/>
              </a:rPr>
              <a:t>        MyThread t1 = new MyThread("alpha", 3);</a:t>
            </a:r>
          </a:p>
          <a:p>
            <a:pPr>
              <a:lnSpc>
                <a:spcPct val="100000"/>
              </a:lnSpc>
              <a:spcBef>
                <a:spcPts val="0"/>
              </a:spcBef>
              <a:spcAft>
                <a:spcPts val="60"/>
              </a:spcAft>
            </a:pPr>
            <a:r>
              <a:rPr sz="640" b="0" i="0">
                <a:solidFill>
                  <a:srgbClr val="E5E7EB"/>
                </a:solidFill>
                <a:latin typeface="Consolas"/>
              </a:rPr>
              <a:t>        MyThread t2 = new MyThread("beta", 3);</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System.out.println("before start : alpha alive? " + t1.isAlive() + ", state " + t1.getState());</a:t>
            </a:r>
          </a:p>
          <a:p>
            <a:pPr>
              <a:lnSpc>
                <a:spcPct val="100000"/>
              </a:lnSpc>
              <a:spcBef>
                <a:spcPts val="0"/>
              </a:spcBef>
              <a:spcAft>
                <a:spcPts val="60"/>
              </a:spcAft>
            </a:pPr>
            <a:r>
              <a:rPr sz="640" b="0" i="0">
                <a:solidFill>
                  <a:srgbClr val="E5E7EB"/>
                </a:solidFill>
                <a:latin typeface="Consolas"/>
              </a:rPr>
              <a:t>        t1.setPriority(Thread.MAX_PRIORITY);      // 10</a:t>
            </a:r>
          </a:p>
          <a:p>
            <a:pPr>
              <a:lnSpc>
                <a:spcPct val="100000"/>
              </a:lnSpc>
              <a:spcBef>
                <a:spcPts val="0"/>
              </a:spcBef>
              <a:spcAft>
                <a:spcPts val="60"/>
              </a:spcAft>
            </a:pPr>
            <a:r>
              <a:rPr sz="640" b="0" i="0">
                <a:solidFill>
                  <a:srgbClr val="E5E7EB"/>
                </a:solidFill>
                <a:latin typeface="Consolas"/>
              </a:rPr>
              <a:t>        t2.setPriority(Thread.MIN_PRIORITY);      // 1</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t1.start();</a:t>
            </a:r>
          </a:p>
          <a:p>
            <a:pPr>
              <a:lnSpc>
                <a:spcPct val="100000"/>
              </a:lnSpc>
              <a:spcBef>
                <a:spcPts val="0"/>
              </a:spcBef>
              <a:spcAft>
                <a:spcPts val="60"/>
              </a:spcAft>
            </a:pPr>
            <a:r>
              <a:rPr sz="640" b="0" i="0">
                <a:solidFill>
                  <a:srgbClr val="E5E7EB"/>
                </a:solidFill>
                <a:latin typeface="Consolas"/>
              </a:rPr>
              <a:t>  …  (complete source: the course book)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t4_except (compiled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22</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src/t4_except/Main.java</a:t>
            </a:r>
          </a:p>
        </p:txBody>
      </p:sp>
      <p:sp>
        <p:nvSpPr>
          <p:cNvPr id="11" name="TextBox 10"/>
          <p:cNvSpPr txBox="1"/>
          <p:nvPr/>
        </p:nvSpPr>
        <p:spPr>
          <a:xfrm>
            <a:off x="667512" y="1975104"/>
            <a:ext cx="5815584" cy="4325112"/>
          </a:xfrm>
          <a:prstGeom prst="rect">
            <a:avLst/>
          </a:prstGeom>
          <a:noFill/>
        </p:spPr>
        <p:txBody>
          <a:bodyPr wrap="none" anchor="t" lIns="0" rIns="0" tIns="0" bIns="0">
            <a:spAutoFit/>
          </a:bodyPr>
          <a:lstStyle/>
          <a:p>
            <a:pPr>
              <a:lnSpc>
                <a:spcPct val="100000"/>
              </a:lnSpc>
              <a:spcBef>
                <a:spcPts val="0"/>
              </a:spcBef>
              <a:spcAft>
                <a:spcPts val="60"/>
              </a:spcAft>
            </a:pPr>
            <a:r>
              <a:rPr sz="770" b="0" i="0">
                <a:solidFill>
                  <a:srgbClr val="E5E7EB"/>
                </a:solidFill>
                <a:latin typeface="Consolas"/>
              </a:rPr>
              <a:t>// ——— src/t4_except/Main.java ———</a:t>
            </a:r>
          </a:p>
          <a:p>
            <a:pPr>
              <a:lnSpc>
                <a:spcPct val="100000"/>
              </a:lnSpc>
              <a:spcBef>
                <a:spcPts val="0"/>
              </a:spcBef>
              <a:spcAft>
                <a:spcPts val="60"/>
              </a:spcAft>
            </a:pPr>
            <a:r>
              <a:rPr sz="770" b="0" i="0">
                <a:solidFill>
                  <a:srgbClr val="E5E7EB"/>
                </a:solidFill>
                <a:latin typeface="Consolas"/>
              </a:rPr>
              <a:t>// Module 4, demo 1 -- exception handling: built-in types, try/catch with</a:t>
            </a:r>
          </a:p>
          <a:p>
            <a:pPr>
              <a:lnSpc>
                <a:spcPct val="100000"/>
              </a:lnSpc>
              <a:spcBef>
                <a:spcPts val="0"/>
              </a:spcBef>
              <a:spcAft>
                <a:spcPts val="60"/>
              </a:spcAft>
            </a:pPr>
            <a:r>
              <a:rPr sz="770" b="0" i="0">
                <a:solidFill>
                  <a:srgbClr val="E5E7EB"/>
                </a:solidFill>
                <a:latin typeface="Consolas"/>
              </a:rPr>
              <a:t>// multiple and nested catches, throw, throws, finally, a custom subclass</a:t>
            </a:r>
          </a:p>
          <a:p>
            <a:pPr>
              <a:lnSpc>
                <a:spcPct val="100000"/>
              </a:lnSpc>
              <a:spcBef>
                <a:spcPts val="0"/>
              </a:spcBef>
              <a:spcAft>
                <a:spcPts val="60"/>
              </a:spcAft>
            </a:pPr>
            <a:r>
              <a:rPr sz="770" b="0" i="0">
                <a:solidFill>
                  <a:srgbClr val="E5E7EB"/>
                </a:solidFill>
                <a:latin typeface="Consolas"/>
              </a:rPr>
              <a:t>// of Exception, and a chained exception (with a cause).</a:t>
            </a:r>
          </a:p>
          <a:p>
            <a:pPr>
              <a:lnSpc>
                <a:spcPct val="100000"/>
              </a:lnSpc>
              <a:spcBef>
                <a:spcPts val="0"/>
              </a:spcBef>
              <a:spcAft>
                <a:spcPts val="60"/>
              </a:spcAft>
            </a:pPr>
            <a:r>
              <a:rPr sz="770" b="0" i="0">
                <a:solidFill>
                  <a:srgbClr val="E5E7EB"/>
                </a:solidFill>
                <a:latin typeface="Consolas"/>
              </a:rPr>
              <a:t>import java.io.IOException;</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class LowBalanceException extends Exception {          // a checked exception of our own</a:t>
            </a:r>
          </a:p>
          <a:p>
            <a:pPr>
              <a:lnSpc>
                <a:spcPct val="100000"/>
              </a:lnSpc>
              <a:spcBef>
                <a:spcPts val="0"/>
              </a:spcBef>
              <a:spcAft>
                <a:spcPts val="60"/>
              </a:spcAft>
            </a:pPr>
            <a:r>
              <a:rPr sz="770" b="0" i="0">
                <a:solidFill>
                  <a:srgbClr val="E5E7EB"/>
                </a:solidFill>
                <a:latin typeface="Consolas"/>
              </a:rPr>
              <a:t>    LowBalanceException(String msg)            { super(msg); }</a:t>
            </a:r>
          </a:p>
          <a:p>
            <a:pPr>
              <a:lnSpc>
                <a:spcPct val="100000"/>
              </a:lnSpc>
              <a:spcBef>
                <a:spcPts val="0"/>
              </a:spcBef>
              <a:spcAft>
                <a:spcPts val="60"/>
              </a:spcAft>
            </a:pPr>
            <a:r>
              <a:rPr sz="770" b="0" i="0">
                <a:solidFill>
                  <a:srgbClr val="E5E7EB"/>
                </a:solidFill>
                <a:latin typeface="Consolas"/>
              </a:rPr>
              <a:t>    LowBalanceException(String msg, Throwable cause) { super(msg, cause); }  // chained</a:t>
            </a:r>
          </a:p>
          <a:p>
            <a:pPr>
              <a:lnSpc>
                <a:spcPct val="100000"/>
              </a:lnSpc>
              <a:spcBef>
                <a:spcPts val="0"/>
              </a:spcBef>
              <a:spcAft>
                <a:spcPts val="60"/>
              </a:spcAft>
            </a:pPr>
            <a:r>
              <a:rPr sz="770" b="0" i="0">
                <a:solidFill>
                  <a:srgbClr val="E5E7EB"/>
                </a:solidFill>
                <a:latin typeface="Consolas"/>
              </a:rPr>
              <a:t>}</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class Bank {</a:t>
            </a:r>
          </a:p>
          <a:p>
            <a:pPr>
              <a:lnSpc>
                <a:spcPct val="100000"/>
              </a:lnSpc>
              <a:spcBef>
                <a:spcPts val="0"/>
              </a:spcBef>
              <a:spcAft>
                <a:spcPts val="60"/>
              </a:spcAft>
            </a:pPr>
            <a:r>
              <a:rPr sz="770" b="0" i="0">
                <a:solidFill>
                  <a:srgbClr val="E5E7EB"/>
                </a:solidFill>
                <a:latin typeface="Consolas"/>
              </a:rPr>
              <a:t>    private int balance = 100;</a:t>
            </a:r>
          </a:p>
          <a:p>
            <a:pPr>
              <a:lnSpc>
                <a:spcPct val="100000"/>
              </a:lnSpc>
              <a:spcBef>
                <a:spcPts val="0"/>
              </a:spcBef>
              <a:spcAft>
                <a:spcPts val="60"/>
              </a:spcAft>
            </a:pPr>
            <a:r>
              <a:rPr sz="770" b="0" i="0">
                <a:solidFill>
                  <a:srgbClr val="E5E7EB"/>
                </a:solidFill>
                <a:latin typeface="Consolas"/>
              </a:rPr>
              <a:t>    void withdraw(int amount) throws LowBalanceException {</a:t>
            </a:r>
          </a:p>
          <a:p>
            <a:pPr>
              <a:lnSpc>
                <a:spcPct val="100000"/>
              </a:lnSpc>
              <a:spcBef>
                <a:spcPts val="0"/>
              </a:spcBef>
              <a:spcAft>
                <a:spcPts val="60"/>
              </a:spcAft>
            </a:pPr>
            <a:r>
              <a:rPr sz="770" b="0" i="0">
                <a:solidFill>
                  <a:srgbClr val="E5E7EB"/>
                </a:solidFill>
                <a:latin typeface="Consolas"/>
              </a:rPr>
              <a:t>        if (amount &lt;= 0)</a:t>
            </a:r>
          </a:p>
          <a:p>
            <a:pPr>
              <a:lnSpc>
                <a:spcPct val="100000"/>
              </a:lnSpc>
              <a:spcBef>
                <a:spcPts val="0"/>
              </a:spcBef>
              <a:spcAft>
                <a:spcPts val="60"/>
              </a:spcAft>
            </a:pPr>
            <a:r>
              <a:rPr sz="770" b="0" i="0">
                <a:solidFill>
                  <a:srgbClr val="E5E7EB"/>
                </a:solidFill>
                <a:latin typeface="Consolas"/>
              </a:rPr>
              <a:t>            throw new IllegalArgumentException("non-positive amount");       // throw</a:t>
            </a:r>
          </a:p>
          <a:p>
            <a:pPr>
              <a:lnSpc>
                <a:spcPct val="100000"/>
              </a:lnSpc>
              <a:spcBef>
                <a:spcPts val="0"/>
              </a:spcBef>
              <a:spcAft>
                <a:spcPts val="60"/>
              </a:spcAft>
            </a:pPr>
            <a:r>
              <a:rPr sz="770" b="0" i="0">
                <a:solidFill>
                  <a:srgbClr val="E5E7EB"/>
                </a:solidFill>
                <a:latin typeface="Consolas"/>
              </a:rPr>
              <a:t>        if (amount &gt; balance)</a:t>
            </a:r>
          </a:p>
          <a:p>
            <a:pPr>
              <a:lnSpc>
                <a:spcPct val="100000"/>
              </a:lnSpc>
              <a:spcBef>
                <a:spcPts val="0"/>
              </a:spcBef>
              <a:spcAft>
                <a:spcPts val="60"/>
              </a:spcAft>
            </a:pPr>
            <a:r>
              <a:rPr sz="770" b="0" i="0">
                <a:solidFill>
                  <a:srgbClr val="E5E7EB"/>
                </a:solidFill>
                <a:latin typeface="Consolas"/>
              </a:rPr>
              <a:t>            throw new LowBalanceException("insufficient funds",              // wraps a cause</a:t>
            </a:r>
          </a:p>
          <a:p>
            <a:pPr>
              <a:lnSpc>
                <a:spcPct val="100000"/>
              </a:lnSpc>
              <a:spcBef>
                <a:spcPts val="0"/>
              </a:spcBef>
              <a:spcAft>
                <a:spcPts val="60"/>
              </a:spcAft>
            </a:pPr>
            <a:r>
              <a:rPr sz="770" b="0" i="0">
                <a:solidFill>
                  <a:srgbClr val="E5E7EB"/>
                </a:solidFill>
                <a:latin typeface="Consolas"/>
              </a:rPr>
              <a:t>                    new IOException("ledger read failed at record " + amount));</a:t>
            </a:r>
          </a:p>
          <a:p>
            <a:pPr>
              <a:lnSpc>
                <a:spcPct val="100000"/>
              </a:lnSpc>
              <a:spcBef>
                <a:spcPts val="0"/>
              </a:spcBef>
              <a:spcAft>
                <a:spcPts val="60"/>
              </a:spcAft>
            </a:pPr>
            <a:r>
              <a:rPr sz="770" b="0" i="0">
                <a:solidFill>
                  <a:srgbClr val="E5E7EB"/>
                </a:solidFill>
                <a:latin typeface="Consolas"/>
              </a:rPr>
              <a:t>        balance -= amount;</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    int getBalance() { return balance; }</a:t>
            </a:r>
          </a:p>
          <a:p>
            <a:pPr>
              <a:lnSpc>
                <a:spcPct val="100000"/>
              </a:lnSpc>
              <a:spcBef>
                <a:spcPts val="0"/>
              </a:spcBef>
              <a:spcAft>
                <a:spcPts val="60"/>
              </a:spcAft>
            </a:pPr>
            <a:r>
              <a:rPr sz="770" b="0" i="0">
                <a:solidFill>
                  <a:srgbClr val="E5E7EB"/>
                </a:solidFill>
                <a:latin typeface="Consolas"/>
              </a:rPr>
              <a:t>}</a:t>
            </a:r>
          </a:p>
          <a:p>
            <a:pPr>
              <a:lnSpc>
                <a:spcPct val="100000"/>
              </a:lnSpc>
              <a:spcBef>
                <a:spcPts val="0"/>
              </a:spcBef>
              <a:spcAft>
                <a:spcPts val="60"/>
              </a:spcAft>
            </a:pPr>
            <a:r>
              <a:rPr sz="770" b="0" i="0">
                <a:solidFill>
                  <a:srgbClr val="E5E7EB"/>
                </a:solidFill>
                <a:latin typeface="Consolas"/>
              </a:rPr>
              <a:t> </a:t>
            </a:r>
          </a:p>
          <a:p>
            <a:pPr>
              <a:lnSpc>
                <a:spcPct val="100000"/>
              </a:lnSpc>
              <a:spcBef>
                <a:spcPts val="0"/>
              </a:spcBef>
              <a:spcAft>
                <a:spcPts val="60"/>
              </a:spcAft>
            </a:pPr>
            <a:r>
              <a:rPr sz="770" b="0" i="0">
                <a:solidFill>
                  <a:srgbClr val="E5E7EB"/>
                </a:solidFill>
                <a:latin typeface="Consolas"/>
              </a:rPr>
              <a:t>public class Main {</a:t>
            </a:r>
          </a:p>
          <a:p>
            <a:pPr>
              <a:lnSpc>
                <a:spcPct val="100000"/>
              </a:lnSpc>
              <a:spcBef>
                <a:spcPts val="0"/>
              </a:spcBef>
              <a:spcAft>
                <a:spcPts val="60"/>
              </a:spcAft>
            </a:pPr>
            <a:r>
              <a:rPr sz="770" b="0" i="0">
                <a:solidFill>
                  <a:srgbClr val="E5E7EB"/>
                </a:solidFill>
                <a:latin typeface="Consolas"/>
              </a:rPr>
              <a:t>    static int safeDivide(int a, int b) {</a:t>
            </a:r>
          </a:p>
          <a:p>
            <a:pPr>
              <a:lnSpc>
                <a:spcPct val="100000"/>
              </a:lnSpc>
              <a:spcBef>
                <a:spcPts val="0"/>
              </a:spcBef>
              <a:spcAft>
                <a:spcPts val="60"/>
              </a:spcAft>
            </a:pPr>
            <a:r>
              <a:rPr sz="770" b="0" i="0">
                <a:solidFill>
                  <a:srgbClr val="E5E7EB"/>
                </a:solidFill>
                <a:latin typeface="Consolas"/>
              </a:rPr>
              <a:t>        try {</a:t>
            </a:r>
          </a:p>
          <a:p>
            <a:pPr>
              <a:lnSpc>
                <a:spcPct val="100000"/>
              </a:lnSpc>
              <a:spcBef>
                <a:spcPts val="0"/>
              </a:spcBef>
              <a:spcAft>
                <a:spcPts val="60"/>
              </a:spcAft>
            </a:pPr>
            <a:r>
              <a:rPr sz="770" b="0" i="0">
                <a:solidFill>
                  <a:srgbClr val="E5E7EB"/>
                </a:solidFill>
                <a:latin typeface="Consolas"/>
              </a:rPr>
              <a:t>            return a / b;</a:t>
            </a:r>
          </a:p>
          <a:p>
            <a:pPr>
              <a:lnSpc>
                <a:spcPct val="100000"/>
              </a:lnSpc>
              <a:spcBef>
                <a:spcPts val="0"/>
              </a:spcBef>
              <a:spcAft>
                <a:spcPts val="60"/>
              </a:spcAft>
            </a:pPr>
            <a:r>
              <a:rPr sz="770" b="0" i="0">
                <a:solidFill>
                  <a:srgbClr val="E5E7EB"/>
                </a:solidFill>
                <a:latin typeface="Consolas"/>
              </a:rPr>
              <a:t>        } catch (ArithmeticException e) {</a:t>
            </a:r>
          </a:p>
          <a:p>
            <a:pPr>
              <a:lnSpc>
                <a:spcPct val="100000"/>
              </a:lnSpc>
              <a:spcBef>
                <a:spcPts val="0"/>
              </a:spcBef>
              <a:spcAft>
                <a:spcPts val="60"/>
              </a:spcAft>
            </a:pPr>
            <a:r>
              <a:rPr sz="770" b="0" i="0">
                <a:solidFill>
                  <a:srgbClr val="E5E7EB"/>
                </a:solidFill>
                <a:latin typeface="Consolas"/>
              </a:rPr>
              <a:t>            System.out.println("  caught: " + e);</a:t>
            </a:r>
          </a:p>
          <a:p>
            <a:pPr>
              <a:lnSpc>
                <a:spcPct val="100000"/>
              </a:lnSpc>
              <a:spcBef>
                <a:spcPts val="0"/>
              </a:spcBef>
              <a:spcAft>
                <a:spcPts val="60"/>
              </a:spcAft>
            </a:pPr>
            <a:r>
              <a:rPr sz="770" b="0" i="0">
                <a:solidFill>
                  <a:srgbClr val="E5E7EB"/>
                </a:solidFill>
                <a:latin typeface="Consolas"/>
              </a:rPr>
              <a:t>            return 0;</a:t>
            </a:r>
          </a:p>
          <a:p>
            <a:pPr>
              <a:lnSpc>
                <a:spcPct val="100000"/>
              </a:lnSpc>
              <a:spcBef>
                <a:spcPts val="0"/>
              </a:spcBef>
              <a:spcAft>
                <a:spcPts val="60"/>
              </a:spcAft>
            </a:pPr>
            <a:r>
              <a:rPr sz="770" b="0" i="0">
                <a:solidFill>
                  <a:srgbClr val="E5E7EB"/>
                </a:solidFill>
                <a:latin typeface="Consolas"/>
              </a:rPr>
              <a:t>        } finally {</a:t>
            </a:r>
          </a:p>
          <a:p>
            <a:pPr>
              <a:lnSpc>
                <a:spcPct val="100000"/>
              </a:lnSpc>
              <a:spcBef>
                <a:spcPts val="0"/>
              </a:spcBef>
              <a:spcAft>
                <a:spcPts val="60"/>
              </a:spcAft>
            </a:pPr>
            <a:r>
              <a:rPr sz="770" b="0" i="0">
                <a:solidFill>
                  <a:srgbClr val="E5E7EB"/>
                </a:solidFill>
                <a:latin typeface="Consolas"/>
              </a:rPr>
              <a:t>            System.out.println("  finally always runs");</a:t>
            </a:r>
          </a:p>
          <a:p>
            <a:pPr>
              <a:lnSpc>
                <a:spcPct val="100000"/>
              </a:lnSpc>
              <a:spcBef>
                <a:spcPts val="0"/>
              </a:spcBef>
              <a:spcAft>
                <a:spcPts val="60"/>
              </a:spcAft>
            </a:pPr>
            <a:r>
              <a:rPr sz="770" b="0" i="0">
                <a:solidFill>
                  <a:srgbClr val="E5E7EB"/>
                </a:solidFill>
                <a:latin typeface="Consolas"/>
              </a:rPr>
              <a:t>  …  (complete source: the course book)</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out/t4_except.txt</a:t>
            </a:r>
          </a:p>
        </p:txBody>
      </p:sp>
      <p:sp>
        <p:nvSpPr>
          <p:cNvPr id="14" name="TextBox 13"/>
          <p:cNvSpPr txBox="1"/>
          <p:nvPr/>
        </p:nvSpPr>
        <p:spPr>
          <a:xfrm>
            <a:off x="7004304" y="1938528"/>
            <a:ext cx="4572000" cy="4343400"/>
          </a:xfrm>
          <a:prstGeom prst="rect">
            <a:avLst/>
          </a:prstGeom>
          <a:noFill/>
        </p:spPr>
        <p:txBody>
          <a:bodyPr wrap="none" anchor="t" lIns="0" rIns="0" tIns="0" bIns="0">
            <a:spAutoFit/>
          </a:bodyPr>
          <a:lstStyle/>
          <a:p>
            <a:pPr>
              <a:lnSpc>
                <a:spcPct val="100000"/>
              </a:lnSpc>
              <a:spcBef>
                <a:spcPts val="0"/>
              </a:spcBef>
              <a:spcAft>
                <a:spcPts val="60"/>
              </a:spcAft>
            </a:pPr>
            <a:r>
              <a:rPr sz="896" b="0" i="0">
                <a:solidFill>
                  <a:srgbClr val="14171C"/>
                </a:solidFill>
                <a:latin typeface="Consolas"/>
              </a:rPr>
              <a:t>$ javac -d bin/t4_except src/t4_except/Main.java</a:t>
            </a:r>
          </a:p>
          <a:p>
            <a:pPr>
              <a:lnSpc>
                <a:spcPct val="100000"/>
              </a:lnSpc>
              <a:spcBef>
                <a:spcPts val="0"/>
              </a:spcBef>
              <a:spcAft>
                <a:spcPts val="60"/>
              </a:spcAft>
            </a:pPr>
            <a:r>
              <a:rPr sz="896" b="0" i="0">
                <a:solidFill>
                  <a:srgbClr val="14171C"/>
                </a:solidFill>
                <a:latin typeface="Consolas"/>
              </a:rPr>
              <a:t>$ java -cp bin/t4_except Main</a:t>
            </a:r>
          </a:p>
          <a:p>
            <a:pPr>
              <a:lnSpc>
                <a:spcPct val="100000"/>
              </a:lnSpc>
              <a:spcBef>
                <a:spcPts val="0"/>
              </a:spcBef>
              <a:spcAft>
                <a:spcPts val="60"/>
              </a:spcAft>
            </a:pPr>
            <a:r>
              <a:rPr sz="896" b="0" i="0">
                <a:solidFill>
                  <a:srgbClr val="14171C"/>
                </a:solidFill>
                <a:latin typeface="Consolas"/>
              </a:rPr>
              <a:t>1) built-in ArithmeticException:</a:t>
            </a:r>
          </a:p>
          <a:p>
            <a:pPr>
              <a:lnSpc>
                <a:spcPct val="100000"/>
              </a:lnSpc>
              <a:spcBef>
                <a:spcPts val="0"/>
              </a:spcBef>
              <a:spcAft>
                <a:spcPts val="60"/>
              </a:spcAft>
            </a:pPr>
            <a:r>
              <a:rPr sz="896" b="0" i="0">
                <a:solidFill>
                  <a:srgbClr val="14171C"/>
                </a:solidFill>
                <a:latin typeface="Consolas"/>
              </a:rPr>
              <a:t>  finally always runs</a:t>
            </a:r>
          </a:p>
          <a:p>
            <a:pPr>
              <a:lnSpc>
                <a:spcPct val="100000"/>
              </a:lnSpc>
              <a:spcBef>
                <a:spcPts val="0"/>
              </a:spcBef>
              <a:spcAft>
                <a:spcPts val="60"/>
              </a:spcAft>
            </a:pPr>
            <a:r>
              <a:rPr sz="896" b="0" i="0">
                <a:solidFill>
                  <a:srgbClr val="14171C"/>
                </a:solidFill>
                <a:latin typeface="Consolas"/>
              </a:rPr>
              <a:t>   10 / 2 = 5</a:t>
            </a:r>
          </a:p>
          <a:p>
            <a:pPr>
              <a:lnSpc>
                <a:spcPct val="100000"/>
              </a:lnSpc>
              <a:spcBef>
                <a:spcPts val="0"/>
              </a:spcBef>
              <a:spcAft>
                <a:spcPts val="60"/>
              </a:spcAft>
            </a:pPr>
            <a:r>
              <a:rPr sz="896" b="0" i="0">
                <a:solidFill>
                  <a:srgbClr val="14171C"/>
                </a:solidFill>
                <a:latin typeface="Consolas"/>
              </a:rPr>
              <a:t>  caught: java.lang.ArithmeticException: / by zero</a:t>
            </a:r>
          </a:p>
          <a:p>
            <a:pPr>
              <a:lnSpc>
                <a:spcPct val="100000"/>
              </a:lnSpc>
              <a:spcBef>
                <a:spcPts val="0"/>
              </a:spcBef>
              <a:spcAft>
                <a:spcPts val="60"/>
              </a:spcAft>
            </a:pPr>
            <a:r>
              <a:rPr sz="896" b="0" i="0">
                <a:solidFill>
                  <a:srgbClr val="14171C"/>
                </a:solidFill>
                <a:latin typeface="Consolas"/>
              </a:rPr>
              <a:t>  finally always runs</a:t>
            </a:r>
          </a:p>
          <a:p>
            <a:pPr>
              <a:lnSpc>
                <a:spcPct val="100000"/>
              </a:lnSpc>
              <a:spcBef>
                <a:spcPts val="0"/>
              </a:spcBef>
              <a:spcAft>
                <a:spcPts val="60"/>
              </a:spcAft>
            </a:pPr>
            <a:r>
              <a:rPr sz="896" b="0" i="0">
                <a:solidFill>
                  <a:srgbClr val="14171C"/>
                </a:solidFill>
                <a:latin typeface="Consolas"/>
              </a:rPr>
              <a:t>   10 / 0 -&gt; result 0</a:t>
            </a:r>
          </a:p>
          <a:p>
            <a:pPr>
              <a:lnSpc>
                <a:spcPct val="100000"/>
              </a:lnSpc>
              <a:spcBef>
                <a:spcPts val="0"/>
              </a:spcBef>
              <a:spcAft>
                <a:spcPts val="60"/>
              </a:spcAft>
            </a:pPr>
            <a:r>
              <a:rPr sz="896" b="0" i="0">
                <a:solidFill>
                  <a:srgbClr val="14171C"/>
                </a:solidFill>
                <a:latin typeface="Consolas"/>
              </a:rPr>
              <a:t>2) multiple + nested try/catch:</a:t>
            </a:r>
          </a:p>
          <a:p>
            <a:pPr>
              <a:lnSpc>
                <a:spcPct val="100000"/>
              </a:lnSpc>
              <a:spcBef>
                <a:spcPts val="0"/>
              </a:spcBef>
              <a:spcAft>
                <a:spcPts val="60"/>
              </a:spcAft>
            </a:pPr>
            <a:r>
              <a:rPr sz="896" b="0" i="0">
                <a:solidFill>
                  <a:srgbClr val="14171C"/>
                </a:solidFill>
                <a:latin typeface="Consolas"/>
              </a:rPr>
              <a:t>   16 / 4 = 4</a:t>
            </a:r>
          </a:p>
          <a:p>
            <a:pPr>
              <a:lnSpc>
                <a:spcPct val="100000"/>
              </a:lnSpc>
              <a:spcBef>
                <a:spcPts val="0"/>
              </a:spcBef>
              <a:spcAft>
                <a:spcPts val="60"/>
              </a:spcAft>
            </a:pPr>
            <a:r>
              <a:rPr sz="896" b="0" i="0">
                <a:solidFill>
                  <a:srgbClr val="14171C"/>
                </a:solidFill>
                <a:latin typeface="Consolas"/>
              </a:rPr>
              <a:t>   inner catch: divide by zero input 0</a:t>
            </a:r>
          </a:p>
          <a:p>
            <a:pPr>
              <a:lnSpc>
                <a:spcPct val="100000"/>
              </a:lnSpc>
              <a:spcBef>
                <a:spcPts val="0"/>
              </a:spcBef>
              <a:spcAft>
                <a:spcPts val="60"/>
              </a:spcAft>
            </a:pPr>
            <a:r>
              <a:rPr sz="896" b="0" i="0">
                <a:solidFill>
                  <a:srgbClr val="14171C"/>
                </a:solidFill>
                <a:latin typeface="Consolas"/>
              </a:rPr>
              <a:t>   outer catch: not a number: For input string: "abc"</a:t>
            </a:r>
          </a:p>
          <a:p>
            <a:pPr>
              <a:lnSpc>
                <a:spcPct val="100000"/>
              </a:lnSpc>
              <a:spcBef>
                <a:spcPts val="0"/>
              </a:spcBef>
              <a:spcAft>
                <a:spcPts val="60"/>
              </a:spcAft>
            </a:pPr>
            <a:r>
              <a:rPr sz="896" b="0" i="0">
                <a:solidFill>
                  <a:srgbClr val="14171C"/>
                </a:solidFill>
                <a:latin typeface="Consolas"/>
              </a:rPr>
              <a:t>3) checked exception with a chained cause:</a:t>
            </a:r>
          </a:p>
          <a:p>
            <a:pPr>
              <a:lnSpc>
                <a:spcPct val="100000"/>
              </a:lnSpc>
              <a:spcBef>
                <a:spcPts val="0"/>
              </a:spcBef>
              <a:spcAft>
                <a:spcPts val="60"/>
              </a:spcAft>
            </a:pPr>
            <a:r>
              <a:rPr sz="896" b="0" i="0">
                <a:solidFill>
                  <a:srgbClr val="14171C"/>
                </a:solidFill>
                <a:latin typeface="Consolas"/>
              </a:rPr>
              <a:t>   caught: insufficient funds</a:t>
            </a:r>
          </a:p>
          <a:p>
            <a:pPr>
              <a:lnSpc>
                <a:spcPct val="100000"/>
              </a:lnSpc>
              <a:spcBef>
                <a:spcPts val="0"/>
              </a:spcBef>
              <a:spcAft>
                <a:spcPts val="60"/>
              </a:spcAft>
            </a:pPr>
            <a:r>
              <a:rPr sz="896" b="0" i="0">
                <a:solidFill>
                  <a:srgbClr val="14171C"/>
                </a:solidFill>
                <a:latin typeface="Consolas"/>
              </a:rPr>
              <a:t>   cause:  java.io.IOException: ledger read failed at record 1000</a:t>
            </a:r>
          </a:p>
          <a:p>
            <a:pPr>
              <a:lnSpc>
                <a:spcPct val="100000"/>
              </a:lnSpc>
              <a:spcBef>
                <a:spcPts val="0"/>
              </a:spcBef>
              <a:spcAft>
                <a:spcPts val="60"/>
              </a:spcAft>
            </a:pPr>
            <a:r>
              <a:rPr sz="896" b="0" i="0">
                <a:solidFill>
                  <a:srgbClr val="14171C"/>
                </a:solidFill>
                <a:latin typeface="Consolas"/>
              </a:rPr>
              <a:t>   balance left: 70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4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4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23</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A method catches ArithmeticException only. Which family does NumberFormatException belong to, and how did the demo still catch it?</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Add a third subject “history” string “ninety” to Exp. 10’s data. What must change, and what exception will fire where?</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Why does printing “finally always runs” before “10 / 2 = 5” in the transcript not contradict anything about finally? (Think about when each println executes.)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Two threads both write one StringBuilder. Name the hazard the buffered design avoided and the language feature (from Module 4’s sync vocabulary in the reference book) that guards shared state in general.</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Rewrite withdraw() so LowBalanceException becomes unchecked. Which line of main changes?</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§4.5 — these are IA-test-shaped practice.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A · THEORY</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5 — Enumerations, Autoboxing and Generics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24</a:t>
            </a:r>
          </a:p>
        </p:txBody>
      </p:sp>
      <p:sp>
        <p:nvSpPr>
          <p:cNvPr id="8" name="TextBox 7"/>
          <p:cNvSpPr txBox="1"/>
          <p:nvPr/>
        </p:nvSpPr>
        <p:spPr>
          <a:xfrm>
            <a:off x="502920" y="1481328"/>
            <a:ext cx="11155680" cy="384048"/>
          </a:xfrm>
          <a:prstGeom prst="rect">
            <a:avLst/>
          </a:prstGeom>
          <a:noFill/>
        </p:spPr>
        <p:txBody>
          <a:bodyPr wrap="square" anchor="t" lIns="0" rIns="0" tIns="0" bIns="0">
            <a:spAutoFit/>
          </a:bodyPr>
          <a:lstStyle/>
          <a:p>
            <a:pPr>
              <a:spcBef>
                <a:spcPts val="0"/>
              </a:spcBef>
              <a:spcAft>
                <a:spcPts val="0"/>
              </a:spcAft>
            </a:pPr>
            <a:r>
              <a:rPr sz="1450" b="1" i="0">
                <a:solidFill>
                  <a:srgbClr val="B3261E"/>
                </a:solidFill>
                <a:latin typeface="Calibri"/>
              </a:rPr>
              <a:t>CO5 — autoboxing, enumerations, generics</a:t>
            </a:r>
            <a:r>
              <a:rPr sz="1300" b="0" i="0">
                <a:solidFill>
                  <a:srgbClr val="4B5563"/>
                </a:solidFill>
                <a:latin typeface="Calibri"/>
              </a:rPr>
              <a:t>    ·    Number of Hours: 8 · Textbook: Chapters 12, 14</a:t>
            </a:r>
            <a:r>
              <a:rPr sz="1250" b="0" i="0">
                <a:solidFill>
                  <a:srgbClr val="4B5563"/>
                </a:solidFill>
                <a:latin typeface="Calibri"/>
              </a:rPr>
              <a:t>    ·    Textbook: Chapters 12, 14 — Number of Hours: 8</a:t>
            </a:r>
          </a:p>
        </p:txBody>
      </p:sp>
      <p:sp>
        <p:nvSpPr>
          <p:cNvPr id="9" name="TextBox 8"/>
          <p:cNvSpPr txBox="1"/>
          <p:nvPr/>
        </p:nvSpPr>
        <p:spPr>
          <a:xfrm>
            <a:off x="502920" y="2057400"/>
            <a:ext cx="6720840" cy="4361688"/>
          </a:xfrm>
          <a:prstGeom prst="rect">
            <a:avLst/>
          </a:prstGeom>
          <a:noFill/>
        </p:spPr>
        <p:txBody>
          <a:bodyPr wrap="square" anchor="t" lIns="0" rIns="0" tIns="0" bIns="0">
            <a:spAutoFit/>
          </a:bodyPr>
          <a:lstStyle/>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Enumeration fundamentals · values()/ordinal() · enums in switch</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Type wrappers · autoboxing/unboxing in expressions</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Autoboxing Boolean &amp; Character values · the cache boundary</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A simple generics example · two type parameters</a:t>
            </a:r>
          </a:p>
          <a:p>
            <a:pPr marL="201168" indent="-201168">
              <a:lnSpc>
                <a:spcPct val="104000"/>
              </a:lnSpc>
              <a:spcBef>
                <a:spcPts val="0"/>
              </a:spcBef>
              <a:spcAft>
                <a:spcPts val="800"/>
              </a:spcAft>
            </a:pPr>
            <a:r>
              <a:rPr sz="1400" b="1" i="0">
                <a:solidFill>
                  <a:srgbClr val="B3261E"/>
                </a:solidFill>
                <a:latin typeface="Calibri"/>
              </a:rPr>
              <a:t>•  </a:t>
            </a:r>
            <a:r>
              <a:rPr sz="1400" b="0" i="0">
                <a:solidFill>
                  <a:srgbClr val="16181D"/>
                </a:solidFill>
                <a:latin typeface="Calibri"/>
              </a:rPr>
              <a:t>The general form of a generic class (bounded &lt;T extends …&gt;)</a:t>
            </a:r>
          </a:p>
        </p:txBody>
      </p:sp>
      <p:sp>
        <p:nvSpPr>
          <p:cNvPr id="10" name="Rectangle 9"/>
          <p:cNvSpPr/>
          <p:nvPr/>
        </p:nvSpPr>
        <p:spPr>
          <a:xfrm>
            <a:off x="7452360" y="2057400"/>
            <a:ext cx="4251960" cy="3977639"/>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52360" y="2057400"/>
            <a:ext cx="54864" cy="3977639"/>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8" y="2148840"/>
            <a:ext cx="3867912" cy="3794759"/>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MODULE-5 SYLLABUS (VERBATIM)</a:t>
            </a:r>
          </a:p>
          <a:p>
            <a:pPr>
              <a:lnSpc>
                <a:spcPct val="108000"/>
              </a:lnSpc>
              <a:spcBef>
                <a:spcPts val="0"/>
              </a:spcBef>
              <a:spcAft>
                <a:spcPts val="0"/>
              </a:spcAft>
            </a:pPr>
            <a:r>
              <a:rPr sz="1050" b="0" i="0">
                <a:solidFill>
                  <a:srgbClr val="16181D"/>
                </a:solidFill>
                <a:latin typeface="Calibri"/>
              </a:rPr>
              <a:t>Enumerations, Type Wrappers and Autoboxing: Enumerations (Enumeration Fundamentals, The values() [...] Methods, Autoboxing/Unboxing Occurs in Expressions, Autoboxing/Unboxing Boolean and Character Values). Generics: A Simple Generics Example, A Generic Class with Two Type Parameters, The General Form of a Generic Class.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Enums &amp; wrappers: named values, quiet conversions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25</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The compiler builds the family: </a:t>
            </a:r>
            <a:r>
              <a:rPr sz="1150" b="0" i="0">
                <a:solidFill>
                  <a:srgbClr val="B3261E"/>
                </a:solidFill>
                <a:latin typeface="Consolas"/>
              </a:rPr>
              <a:t>values(): 0=MON 1=TUE 2=WED 3=THU 4=FRI 5=SAT 6=SUN</a:t>
            </a:r>
            <a:r>
              <a:rPr sz="1450" b="0" i="0">
                <a:solidFill>
                  <a:srgbClr val="16181D"/>
                </a:solidFill>
                <a:latin typeface="Calibri"/>
              </a:rPr>
              <a:t> — ordinal(), name(), unqualified switch labels.</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Enums are classes: constants + fields + a private constructor — Department's full names ride along.</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Boxing is the compiler's arithmetic: </a:t>
            </a:r>
            <a:r>
              <a:rPr sz="1300" b="0" i="0">
                <a:solidFill>
                  <a:srgbClr val="B3261E"/>
                </a:solidFill>
                <a:latin typeface="Consolas"/>
              </a:rPr>
              <a:t>boxed after +1: 100</a:t>
            </a:r>
            <a:r>
              <a:rPr sz="1450" b="0" i="0">
                <a:solidFill>
                  <a:srgbClr val="16181D"/>
                </a:solidFill>
                <a:latin typeface="Calibri"/>
              </a:rPr>
              <a:t> ran unbox→add→re-box.</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The cache boundary, printed: </a:t>
            </a:r>
            <a:r>
              <a:rPr sz="1200" b="0" i="0">
                <a:solidFill>
                  <a:srgbClr val="B3261E"/>
                </a:solidFill>
                <a:latin typeface="Consolas"/>
              </a:rPr>
              <a:t>127 == 127 (identity): true, 128 == 128: false</a:t>
            </a:r>
            <a:r>
              <a:rPr sz="1450" b="0" i="0">
                <a:solidFill>
                  <a:srgbClr val="16181D"/>
                </a:solidFill>
                <a:latin typeface="Calibri"/>
              </a:rPr>
              <a:t>; equals true on both.</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Boolean/Character wrappers keep semantics: </a:t>
            </a:r>
            <a:r>
              <a:rPr sz="1300" b="0" i="0">
                <a:solidFill>
                  <a:srgbClr val="B3261E"/>
                </a:solidFill>
                <a:latin typeface="Consolas"/>
              </a:rPr>
              <a:t>compare: 1</a:t>
            </a:r>
            <a:r>
              <a:rPr sz="1450" b="0" i="0">
                <a:solidFill>
                  <a:srgbClr val="16181D"/>
                </a:solidFill>
                <a:latin typeface="Calibri"/>
              </a:rPr>
              <a:t> TRUE&gt;FALSE, </a:t>
            </a:r>
            <a:r>
              <a:rPr sz="1300" b="0" i="0">
                <a:solidFill>
                  <a:srgbClr val="B3261E"/>
                </a:solidFill>
                <a:latin typeface="Consolas"/>
              </a:rPr>
              <a:t>isLetter=true, upper='A'</a:t>
            </a:r>
            <a:r>
              <a:rPr sz="1450" b="0" i="0">
                <a:solidFill>
                  <a:srgbClr val="16181D"/>
                </a:solidFill>
                <a:latin typeface="Calibri"/>
              </a:rPr>
              <a:t>.</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src/t5_enum/</a:t>
            </a:r>
          </a:p>
        </p:txBody>
      </p:sp>
      <p:sp>
        <p:nvSpPr>
          <p:cNvPr id="12" name="TextBox 11"/>
          <p:cNvSpPr txBox="1"/>
          <p:nvPr/>
        </p:nvSpPr>
        <p:spPr>
          <a:xfrm>
            <a:off x="7388352" y="2002536"/>
            <a:ext cx="4169664" cy="4279392"/>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 src/t5_enum/Main.java ———</a:t>
            </a:r>
          </a:p>
          <a:p>
            <a:pPr>
              <a:lnSpc>
                <a:spcPct val="100000"/>
              </a:lnSpc>
              <a:spcBef>
                <a:spcPts val="0"/>
              </a:spcBef>
              <a:spcAft>
                <a:spcPts val="60"/>
              </a:spcAft>
            </a:pPr>
            <a:r>
              <a:rPr sz="640" b="0" i="0">
                <a:solidFill>
                  <a:srgbClr val="E5E7EB"/>
                </a:solidFill>
                <a:latin typeface="Consolas"/>
              </a:rPr>
              <a:t>// Module 5, demo 1 -- enumeration fundamentals (values(), ordinal(),</a:t>
            </a:r>
          </a:p>
          <a:p>
            <a:pPr>
              <a:lnSpc>
                <a:spcPct val="100000"/>
              </a:lnSpc>
              <a:spcBef>
                <a:spcPts val="0"/>
              </a:spcBef>
              <a:spcAft>
                <a:spcPts val="60"/>
              </a:spcAft>
            </a:pPr>
            <a:r>
              <a:rPr sz="640" b="0" i="0">
                <a:solidFill>
                  <a:srgbClr val="E5E7EB"/>
                </a:solidFill>
                <a:latin typeface="Consolas"/>
              </a:rPr>
              <a:t>// name(), switch on an enum) plus type wrappers and autoboxing/unboxing</a:t>
            </a:r>
          </a:p>
          <a:p>
            <a:pPr>
              <a:lnSpc>
                <a:spcPct val="100000"/>
              </a:lnSpc>
              <a:spcBef>
                <a:spcPts val="0"/>
              </a:spcBef>
              <a:spcAft>
                <a:spcPts val="60"/>
              </a:spcAft>
            </a:pPr>
            <a:r>
              <a:rPr sz="640" b="0" i="0">
                <a:solidFill>
                  <a:srgbClr val="E5E7EB"/>
                </a:solidFill>
                <a:latin typeface="Consolas"/>
              </a:rPr>
              <a:t>// in expressions, including Boolean and Character values.</a:t>
            </a:r>
          </a:p>
          <a:p>
            <a:pPr>
              <a:lnSpc>
                <a:spcPct val="100000"/>
              </a:lnSpc>
              <a:spcBef>
                <a:spcPts val="0"/>
              </a:spcBef>
              <a:spcAft>
                <a:spcPts val="60"/>
              </a:spcAft>
            </a:pPr>
            <a:r>
              <a:rPr sz="640" b="0" i="0">
                <a:solidFill>
                  <a:srgbClr val="E5E7EB"/>
                </a:solidFill>
                <a:latin typeface="Consolas"/>
              </a:rPr>
              <a:t>enum Day { MON, TUE, WED, THU, FRI, SAT, SUN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public class Main {</a:t>
            </a:r>
          </a:p>
          <a:p>
            <a:pPr>
              <a:lnSpc>
                <a:spcPct val="100000"/>
              </a:lnSpc>
              <a:spcBef>
                <a:spcPts val="0"/>
              </a:spcBef>
              <a:spcAft>
                <a:spcPts val="60"/>
              </a:spcAft>
            </a:pPr>
            <a:r>
              <a:rPr sz="640" b="0" i="0">
                <a:solidFill>
                  <a:srgbClr val="E5E7EB"/>
                </a:solidFill>
                <a:latin typeface="Consolas"/>
              </a:rPr>
              <a:t>    public static void main(String[] args) {</a:t>
            </a:r>
          </a:p>
          <a:p>
            <a:pPr>
              <a:lnSpc>
                <a:spcPct val="100000"/>
              </a:lnSpc>
              <a:spcBef>
                <a:spcPts val="0"/>
              </a:spcBef>
              <a:spcAft>
                <a:spcPts val="60"/>
              </a:spcAft>
            </a:pPr>
            <a:r>
              <a:rPr sz="640" b="0" i="0">
                <a:solidFill>
                  <a:srgbClr val="E5E7EB"/>
                </a:solidFill>
                <a:latin typeface="Consolas"/>
              </a:rPr>
              <a:t>        Day today = Day.WED;</a:t>
            </a:r>
          </a:p>
          <a:p>
            <a:pPr>
              <a:lnSpc>
                <a:spcPct val="100000"/>
              </a:lnSpc>
              <a:spcBef>
                <a:spcPts val="0"/>
              </a:spcBef>
              <a:spcAft>
                <a:spcPts val="60"/>
              </a:spcAft>
            </a:pPr>
            <a:r>
              <a:rPr sz="640" b="0" i="0">
                <a:solidFill>
                  <a:srgbClr val="E5E7EB"/>
                </a:solidFill>
                <a:latin typeface="Consolas"/>
              </a:rPr>
              <a:t>        System.out.println("today = " + today + ", ordinal = " + today.ordinal() + ", name = \"" + today.name() +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System.out.print("values(): ");</a:t>
            </a:r>
          </a:p>
          <a:p>
            <a:pPr>
              <a:lnSpc>
                <a:spcPct val="100000"/>
              </a:lnSpc>
              <a:spcBef>
                <a:spcPts val="0"/>
              </a:spcBef>
              <a:spcAft>
                <a:spcPts val="60"/>
              </a:spcAft>
            </a:pPr>
            <a:r>
              <a:rPr sz="640" b="0" i="0">
                <a:solidFill>
                  <a:srgbClr val="E5E7EB"/>
                </a:solidFill>
                <a:latin typeface="Consolas"/>
              </a:rPr>
              <a:t>        for (Day d : Day.values()) System.out.print(d.ordinal() + "=" + d + " ");</a:t>
            </a:r>
          </a:p>
          <a:p>
            <a:pPr>
              <a:lnSpc>
                <a:spcPct val="100000"/>
              </a:lnSpc>
              <a:spcBef>
                <a:spcPts val="0"/>
              </a:spcBef>
              <a:spcAft>
                <a:spcPts val="60"/>
              </a:spcAft>
            </a:pPr>
            <a:r>
              <a:rPr sz="640" b="0" i="0">
                <a:solidFill>
                  <a:srgbClr val="E5E7EB"/>
                </a:solidFill>
                <a:latin typeface="Consolas"/>
              </a:rPr>
              <a:t>        System.out.println();</a:t>
            </a:r>
          </a:p>
          <a:p>
            <a:pPr>
              <a:lnSpc>
                <a:spcPct val="100000"/>
              </a:lnSpc>
              <a:spcBef>
                <a:spcPts val="0"/>
              </a:spcBef>
              <a:spcAft>
                <a:spcPts val="60"/>
              </a:spcAft>
            </a:pPr>
            <a:r>
              <a:rPr sz="640" b="0" i="0">
                <a:solidFill>
                  <a:srgbClr val="E5E7EB"/>
                </a:solidFill>
                <a:latin typeface="Consolas"/>
              </a:rPr>
              <a:t>        System.out.println("compareTo(SAT) &gt;= 0 (weekend?) -&gt; " + (today.compareTo(Day.SAT) &gt;= 0));</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switch (today) {                       // enum constants as unqualified case labels</a:t>
            </a:r>
          </a:p>
          <a:p>
            <a:pPr>
              <a:lnSpc>
                <a:spcPct val="100000"/>
              </a:lnSpc>
              <a:spcBef>
                <a:spcPts val="0"/>
              </a:spcBef>
              <a:spcAft>
                <a:spcPts val="60"/>
              </a:spcAft>
            </a:pPr>
            <a:r>
              <a:rPr sz="640" b="0" i="0">
                <a:solidFill>
                  <a:srgbClr val="E5E7EB"/>
                </a:solidFill>
                <a:latin typeface="Consolas"/>
              </a:rPr>
              <a:t>            case SAT: case SUN:</a:t>
            </a:r>
          </a:p>
          <a:p>
            <a:pPr>
              <a:lnSpc>
                <a:spcPct val="100000"/>
              </a:lnSpc>
              <a:spcBef>
                <a:spcPts val="0"/>
              </a:spcBef>
              <a:spcAft>
                <a:spcPts val="60"/>
              </a:spcAft>
            </a:pPr>
            <a:r>
              <a:rPr sz="640" b="0" i="0">
                <a:solidFill>
                  <a:srgbClr val="E5E7EB"/>
                </a:solidFill>
                <a:latin typeface="Consolas"/>
              </a:rPr>
              <a:t>                System.out.println("weekend"); break;</a:t>
            </a:r>
          </a:p>
          <a:p>
            <a:pPr>
              <a:lnSpc>
                <a:spcPct val="100000"/>
              </a:lnSpc>
              <a:spcBef>
                <a:spcPts val="0"/>
              </a:spcBef>
              <a:spcAft>
                <a:spcPts val="60"/>
              </a:spcAft>
            </a:pPr>
            <a:r>
              <a:rPr sz="640" b="0" i="0">
                <a:solidFill>
                  <a:srgbClr val="E5E7EB"/>
                </a:solidFill>
                <a:latin typeface="Consolas"/>
              </a:rPr>
              <a:t>            default:</a:t>
            </a:r>
          </a:p>
          <a:p>
            <a:pPr>
              <a:lnSpc>
                <a:spcPct val="100000"/>
              </a:lnSpc>
              <a:spcBef>
                <a:spcPts val="0"/>
              </a:spcBef>
              <a:spcAft>
                <a:spcPts val="60"/>
              </a:spcAft>
            </a:pPr>
            <a:r>
              <a:rPr sz="640" b="0" i="0">
                <a:solidFill>
                  <a:srgbClr val="E5E7EB"/>
                </a:solidFill>
                <a:latin typeface="Consolas"/>
              </a:rPr>
              <a:t>                System.out.println("weekday number " + today.ordinal());</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 ---- autoboxing and unboxing in expressions ----------------------</a:t>
            </a:r>
          </a:p>
          <a:p>
            <a:pPr>
              <a:lnSpc>
                <a:spcPct val="100000"/>
              </a:lnSpc>
              <a:spcBef>
                <a:spcPts val="0"/>
              </a:spcBef>
              <a:spcAft>
                <a:spcPts val="60"/>
              </a:spcAft>
            </a:pPr>
            <a:r>
              <a:rPr sz="640" b="0" i="0">
                <a:solidFill>
                  <a:srgbClr val="E5E7EB"/>
                </a:solidFill>
                <a:latin typeface="Consolas"/>
              </a:rPr>
              <a:t>        Integer boxed = 99;                    // autoboxed via Integer.valueOf</a:t>
            </a:r>
          </a:p>
          <a:p>
            <a:pPr>
              <a:lnSpc>
                <a:spcPct val="100000"/>
              </a:lnSpc>
              <a:spcBef>
                <a:spcPts val="0"/>
              </a:spcBef>
              <a:spcAft>
                <a:spcPts val="60"/>
              </a:spcAft>
            </a:pPr>
            <a:r>
              <a:rPr sz="640" b="0" i="0">
                <a:solidFill>
                  <a:srgbClr val="E5E7EB"/>
                </a:solidFill>
                <a:latin typeface="Consolas"/>
              </a:rPr>
              <a:t>        int plain = boxed;                     // unboxed via intValue()</a:t>
            </a:r>
          </a:p>
          <a:p>
            <a:pPr>
              <a:lnSpc>
                <a:spcPct val="100000"/>
              </a:lnSpc>
              <a:spcBef>
                <a:spcPts val="0"/>
              </a:spcBef>
              <a:spcAft>
                <a:spcPts val="60"/>
              </a:spcAft>
            </a:pPr>
            <a:r>
              <a:rPr sz="640" b="0" i="0">
                <a:solidFill>
                  <a:srgbClr val="E5E7EB"/>
                </a:solidFill>
                <a:latin typeface="Consolas"/>
              </a:rPr>
              <a:t>        boxed = boxed + 1;                     // unbox, add, re-box</a:t>
            </a:r>
          </a:p>
          <a:p>
            <a:pPr>
              <a:lnSpc>
                <a:spcPct val="100000"/>
              </a:lnSpc>
              <a:spcBef>
                <a:spcPts val="0"/>
              </a:spcBef>
              <a:spcAft>
                <a:spcPts val="60"/>
              </a:spcAft>
            </a:pPr>
            <a:r>
              <a:rPr sz="640" b="0" i="0">
                <a:solidFill>
                  <a:srgbClr val="E5E7EB"/>
                </a:solidFill>
                <a:latin typeface="Consolas"/>
              </a:rPr>
              <a:t>        System.out.println("boxed after +1: " + boxed + ", unboxed view: " + plain);</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Integer x = 127, y = 127;              // cached: -128..127</a:t>
            </a:r>
          </a:p>
          <a:p>
            <a:pPr>
              <a:lnSpc>
                <a:spcPct val="100000"/>
              </a:lnSpc>
              <a:spcBef>
                <a:spcPts val="0"/>
              </a:spcBef>
              <a:spcAft>
                <a:spcPts val="60"/>
              </a:spcAft>
            </a:pPr>
            <a:r>
              <a:rPr sz="640" b="0" i="0">
                <a:solidFill>
                  <a:srgbClr val="E5E7EB"/>
                </a:solidFill>
                <a:latin typeface="Consolas"/>
              </a:rPr>
              <a:t>        Integer p = 128, q = 128;              // outside the cache</a:t>
            </a:r>
          </a:p>
          <a:p>
            <a:pPr>
              <a:lnSpc>
                <a:spcPct val="100000"/>
              </a:lnSpc>
              <a:spcBef>
                <a:spcPts val="0"/>
              </a:spcBef>
              <a:spcAft>
                <a:spcPts val="60"/>
              </a:spcAft>
            </a:pPr>
            <a:r>
              <a:rPr sz="640" b="0" i="0">
                <a:solidFill>
                  <a:srgbClr val="E5E7EB"/>
                </a:solidFill>
                <a:latin typeface="Consolas"/>
              </a:rPr>
              <a:t>        System.out.println("127 == 127 (identity): " + (x == y) + ", 128 == 128: " + (p == q));</a:t>
            </a:r>
          </a:p>
          <a:p>
            <a:pPr>
              <a:lnSpc>
                <a:spcPct val="100000"/>
              </a:lnSpc>
              <a:spcBef>
                <a:spcPts val="0"/>
              </a:spcBef>
              <a:spcAft>
                <a:spcPts val="60"/>
              </a:spcAft>
            </a:pPr>
            <a:r>
              <a:rPr sz="640" b="0" i="0">
                <a:solidFill>
                  <a:srgbClr val="E5E7EB"/>
                </a:solidFill>
                <a:latin typeface="Consolas"/>
              </a:rPr>
              <a:t>        System.out.println("equals() on both: " + x.equals(y) + ", " + p.equals(q));</a:t>
            </a:r>
          </a:p>
          <a:p>
            <a:pPr>
              <a:lnSpc>
                <a:spcPct val="100000"/>
              </a:lnSpc>
              <a:spcBef>
                <a:spcPts val="0"/>
              </a:spcBef>
              <a:spcAft>
                <a:spcPts val="60"/>
              </a:spcAft>
            </a:pPr>
            <a:r>
              <a:rPr sz="640" b="0" i="0">
                <a:solidFill>
                  <a:srgbClr val="E5E7EB"/>
                </a:solidFill>
                <a:latin typeface="Consolas"/>
              </a:rPr>
              <a:t>  …  (complete source: the course book)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RULES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Generics: type checking before run time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26</a:t>
            </a:r>
          </a:p>
        </p:txBody>
      </p:sp>
      <p:sp>
        <p:nvSpPr>
          <p:cNvPr id="8" name="TextBox 7"/>
          <p:cNvSpPr txBox="1"/>
          <p:nvPr/>
        </p:nvSpPr>
        <p:spPr>
          <a:xfrm>
            <a:off x="502920" y="1600200"/>
            <a:ext cx="640080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300" b="0" i="0">
                <a:solidFill>
                  <a:srgbClr val="16181D"/>
                </a:solidFill>
                <a:latin typeface="Consolas"/>
              </a:rPr>
              <a:t>class Gen&lt;T&gt;</a:t>
            </a:r>
            <a:r>
              <a:rPr sz="1450" b="0" i="0">
                <a:solidFill>
                  <a:srgbClr val="16181D"/>
                </a:solidFill>
                <a:latin typeface="Calibri"/>
              </a:rPr>
              <a:t> — the SAME source, two checked uses: </a:t>
            </a:r>
            <a:r>
              <a:rPr sz="1250" b="0" i="0">
                <a:solidFill>
                  <a:srgbClr val="B3261E"/>
                </a:solidFill>
                <a:latin typeface="Consolas"/>
              </a:rPr>
              <a:t>T is java.lang.Integer</a:t>
            </a:r>
            <a:r>
              <a:rPr sz="1450" b="0" i="0">
                <a:solidFill>
                  <a:srgbClr val="16181D"/>
                </a:solidFill>
                <a:latin typeface="Calibri"/>
              </a:rPr>
              <a:t> / </a:t>
            </a:r>
            <a:r>
              <a:rPr sz="1250" b="0" i="0">
                <a:solidFill>
                  <a:srgbClr val="B3261E"/>
                </a:solidFill>
                <a:latin typeface="Consolas"/>
              </a:rPr>
              <a:t>T is java.lang.String</a:t>
            </a:r>
            <a:r>
              <a:rPr sz="1450" b="0" i="0">
                <a:solidFill>
                  <a:srgbClr val="16181D"/>
                </a:solidFill>
                <a:latin typeface="Calibri"/>
              </a:rPr>
              <a: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Two parameters: </a:t>
            </a:r>
            <a:r>
              <a:rPr sz="1300" b="0" i="0">
                <a:solidFill>
                  <a:srgbClr val="16181D"/>
                </a:solidFill>
                <a:latin typeface="Consolas"/>
              </a:rPr>
              <a:t>TwoGen&lt;Integer, String&gt;</a:t>
            </a:r>
            <a:r>
              <a:rPr sz="1450" b="0" i="0">
                <a:solidFill>
                  <a:srgbClr val="16181D"/>
                </a:solidFill>
                <a:latin typeface="Calibri"/>
              </a:rPr>
              <a:t> → </a:t>
            </a:r>
            <a:r>
              <a:rPr sz="1300" b="0" i="0">
                <a:solidFill>
                  <a:srgbClr val="B3261E"/>
                </a:solidFill>
                <a:latin typeface="Consolas"/>
              </a:rPr>
              <a:t>first * 2 = 176</a:t>
            </a:r>
            <a:r>
              <a:rPr sz="1450" b="0" i="0">
                <a:solidFill>
                  <a:srgbClr val="16181D"/>
                </a:solidFill>
                <a:latin typeface="Calibri"/>
              </a:rPr>
              <a:t> while the String got toUpperCase() — zero casts.</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Diamond </a:t>
            </a:r>
            <a:r>
              <a:rPr sz="1300" b="0" i="0">
                <a:solidFill>
                  <a:srgbClr val="16181D"/>
                </a:solidFill>
                <a:latin typeface="Consolas"/>
              </a:rPr>
              <a:t>new Gen&lt;&gt;(42)</a:t>
            </a:r>
            <a:r>
              <a:rPr sz="1450" b="0" i="0">
                <a:solidFill>
                  <a:srgbClr val="16181D"/>
                </a:solidFill>
                <a:latin typeface="Calibri"/>
              </a:rPr>
              <a:t> infers from the target.</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The general form adds bounds: </a:t>
            </a:r>
            <a:r>
              <a:rPr sz="1300" b="0" i="0">
                <a:solidFill>
                  <a:srgbClr val="16181D"/>
                </a:solidFill>
                <a:latin typeface="Consolas"/>
              </a:rPr>
              <a:t>&lt;T extends Comparable&lt;T&gt;&gt;</a:t>
            </a:r>
            <a:r>
              <a:rPr sz="1450" b="0" i="0">
                <a:solidFill>
                  <a:srgbClr val="16181D"/>
                </a:solidFill>
                <a:latin typeface="Calibri"/>
              </a:rPr>
              <a:t> — that is where compareTo comes from.</a:t>
            </a:r>
          </a:p>
          <a:p>
            <a:pPr marL="201168" indent="-201168">
              <a:lnSpc>
                <a:spcPct val="104000"/>
              </a:lnSpc>
              <a:spcBef>
                <a:spcPts val="0"/>
              </a:spcBef>
              <a:spcAft>
                <a:spcPts val="900"/>
              </a:spcAft>
            </a:pPr>
            <a:r>
              <a:rPr sz="1450" b="1" i="0">
                <a:solidFill>
                  <a:srgbClr val="B3261E"/>
                </a:solidFill>
                <a:latin typeface="Calibri"/>
              </a:rPr>
              <a:t>•  </a:t>
            </a:r>
            <a:r>
              <a:rPr sz="1450" b="0" i="0">
                <a:solidFill>
                  <a:srgbClr val="16181D"/>
                </a:solidFill>
                <a:latin typeface="Calibri"/>
              </a:rPr>
              <a:t>One bounded method, two worlds: </a:t>
            </a:r>
            <a:r>
              <a:rPr sz="1250" b="0" i="0">
                <a:solidFill>
                  <a:srgbClr val="B3261E"/>
                </a:solidFill>
                <a:latin typeface="Consolas"/>
              </a:rPr>
              <a:t>max(3.5, 7.25)      = 7.25</a:t>
            </a:r>
            <a:r>
              <a:rPr sz="1450" b="0" i="0">
                <a:solidFill>
                  <a:srgbClr val="16181D"/>
                </a:solidFill>
                <a:latin typeface="Calibri"/>
              </a:rPr>
              <a:t>, </a:t>
            </a:r>
            <a:r>
              <a:rPr sz="1250" b="0" i="0">
                <a:solidFill>
                  <a:srgbClr val="B3261E"/>
                </a:solidFill>
                <a:latin typeface="Consolas"/>
              </a:rPr>
              <a:t>max(pear, peach)    = pear</a:t>
            </a:r>
            <a:r>
              <a:rPr sz="1450" b="0" i="0">
                <a:solidFill>
                  <a:srgbClr val="16181D"/>
                </a:solidFill>
                <a:latin typeface="Calibri"/>
              </a:rPr>
              <a:t>.</a:t>
            </a:r>
          </a:p>
        </p:txBody>
      </p:sp>
      <p:sp>
        <p:nvSpPr>
          <p:cNvPr id="9" name="Rectangle 8"/>
          <p:cNvSpPr/>
          <p:nvPr/>
        </p:nvSpPr>
        <p:spPr>
          <a:xfrm>
            <a:off x="7223760" y="1600200"/>
            <a:ext cx="4480560" cy="47548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23760" y="1600200"/>
            <a:ext cx="448056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50492"/>
            <a:ext cx="418795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src/t5_generics/</a:t>
            </a:r>
          </a:p>
        </p:txBody>
      </p:sp>
      <p:sp>
        <p:nvSpPr>
          <p:cNvPr id="12" name="TextBox 11"/>
          <p:cNvSpPr txBox="1"/>
          <p:nvPr/>
        </p:nvSpPr>
        <p:spPr>
          <a:xfrm>
            <a:off x="7388352" y="2002536"/>
            <a:ext cx="4169664" cy="4279392"/>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 src/t5_generics/Main.java ———</a:t>
            </a:r>
          </a:p>
          <a:p>
            <a:pPr>
              <a:lnSpc>
                <a:spcPct val="100000"/>
              </a:lnSpc>
              <a:spcBef>
                <a:spcPts val="0"/>
              </a:spcBef>
              <a:spcAft>
                <a:spcPts val="60"/>
              </a:spcAft>
            </a:pPr>
            <a:r>
              <a:rPr sz="640" b="0" i="0">
                <a:solidFill>
                  <a:srgbClr val="E5E7EB"/>
                </a:solidFill>
                <a:latin typeface="Consolas"/>
              </a:rPr>
              <a:t>// Module 5, demo 2 -- generics: a simple generic class, a class with two</a:t>
            </a:r>
          </a:p>
          <a:p>
            <a:pPr>
              <a:lnSpc>
                <a:spcPct val="100000"/>
              </a:lnSpc>
              <a:spcBef>
                <a:spcPts val="0"/>
              </a:spcBef>
              <a:spcAft>
                <a:spcPts val="60"/>
              </a:spcAft>
            </a:pPr>
            <a:r>
              <a:rPr sz="640" b="0" i="0">
                <a:solidFill>
                  <a:srgbClr val="E5E7EB"/>
                </a:solidFill>
                <a:latin typeface="Consolas"/>
              </a:rPr>
              <a:t>// type parameters, the general form, and a bounded generic method.</a:t>
            </a:r>
          </a:p>
          <a:p>
            <a:pPr>
              <a:lnSpc>
                <a:spcPct val="100000"/>
              </a:lnSpc>
              <a:spcBef>
                <a:spcPts val="0"/>
              </a:spcBef>
              <a:spcAft>
                <a:spcPts val="60"/>
              </a:spcAft>
            </a:pPr>
            <a:r>
              <a:rPr sz="640" b="0" i="0">
                <a:solidFill>
                  <a:srgbClr val="E5E7EB"/>
                </a:solidFill>
                <a:latin typeface="Consolas"/>
              </a:rPr>
              <a:t>class Gen&lt;T&gt; {                          // one type parameter</a:t>
            </a:r>
          </a:p>
          <a:p>
            <a:pPr>
              <a:lnSpc>
                <a:spcPct val="100000"/>
              </a:lnSpc>
              <a:spcBef>
                <a:spcPts val="0"/>
              </a:spcBef>
              <a:spcAft>
                <a:spcPts val="60"/>
              </a:spcAft>
            </a:pPr>
            <a:r>
              <a:rPr sz="640" b="0" i="0">
                <a:solidFill>
                  <a:srgbClr val="E5E7EB"/>
                </a:solidFill>
                <a:latin typeface="Consolas"/>
              </a:rPr>
              <a:t>    private T obj;</a:t>
            </a:r>
          </a:p>
          <a:p>
            <a:pPr>
              <a:lnSpc>
                <a:spcPct val="100000"/>
              </a:lnSpc>
              <a:spcBef>
                <a:spcPts val="0"/>
              </a:spcBef>
              <a:spcAft>
                <a:spcPts val="60"/>
              </a:spcAft>
            </a:pPr>
            <a:r>
              <a:rPr sz="640" b="0" i="0">
                <a:solidFill>
                  <a:srgbClr val="E5E7EB"/>
                </a:solidFill>
                <a:latin typeface="Consolas"/>
              </a:rPr>
              <a:t>    Gen(T o) { obj = o; }</a:t>
            </a:r>
          </a:p>
          <a:p>
            <a:pPr>
              <a:lnSpc>
                <a:spcPct val="100000"/>
              </a:lnSpc>
              <a:spcBef>
                <a:spcPts val="0"/>
              </a:spcBef>
              <a:spcAft>
                <a:spcPts val="60"/>
              </a:spcAft>
            </a:pPr>
            <a:r>
              <a:rPr sz="640" b="0" i="0">
                <a:solidFill>
                  <a:srgbClr val="E5E7EB"/>
                </a:solidFill>
                <a:latin typeface="Consolas"/>
              </a:rPr>
              <a:t>    T get() { return obj; }</a:t>
            </a:r>
          </a:p>
          <a:p>
            <a:pPr>
              <a:lnSpc>
                <a:spcPct val="100000"/>
              </a:lnSpc>
              <a:spcBef>
                <a:spcPts val="0"/>
              </a:spcBef>
              <a:spcAft>
                <a:spcPts val="60"/>
              </a:spcAft>
            </a:pPr>
            <a:r>
              <a:rPr sz="640" b="0" i="0">
                <a:solidFill>
                  <a:srgbClr val="E5E7EB"/>
                </a:solidFill>
                <a:latin typeface="Consolas"/>
              </a:rPr>
              <a:t>    void showType() { System.out.println("  T is " + obj.getClass().getName());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class TwoGen&lt;T, V&gt; {                    // two type parameters</a:t>
            </a:r>
          </a:p>
          <a:p>
            <a:pPr>
              <a:lnSpc>
                <a:spcPct val="100000"/>
              </a:lnSpc>
              <a:spcBef>
                <a:spcPts val="0"/>
              </a:spcBef>
              <a:spcAft>
                <a:spcPts val="60"/>
              </a:spcAft>
            </a:pPr>
            <a:r>
              <a:rPr sz="640" b="0" i="0">
                <a:solidFill>
                  <a:srgbClr val="E5E7EB"/>
                </a:solidFill>
                <a:latin typeface="Consolas"/>
              </a:rPr>
              <a:t>    private T one;</a:t>
            </a:r>
          </a:p>
          <a:p>
            <a:pPr>
              <a:lnSpc>
                <a:spcPct val="100000"/>
              </a:lnSpc>
              <a:spcBef>
                <a:spcPts val="0"/>
              </a:spcBef>
              <a:spcAft>
                <a:spcPts val="60"/>
              </a:spcAft>
            </a:pPr>
            <a:r>
              <a:rPr sz="640" b="0" i="0">
                <a:solidFill>
                  <a:srgbClr val="E5E7EB"/>
                </a:solidFill>
                <a:latin typeface="Consolas"/>
              </a:rPr>
              <a:t>    private V two;</a:t>
            </a:r>
          </a:p>
          <a:p>
            <a:pPr>
              <a:lnSpc>
                <a:spcPct val="100000"/>
              </a:lnSpc>
              <a:spcBef>
                <a:spcPts val="0"/>
              </a:spcBef>
              <a:spcAft>
                <a:spcPts val="60"/>
              </a:spcAft>
            </a:pPr>
            <a:r>
              <a:rPr sz="640" b="0" i="0">
                <a:solidFill>
                  <a:srgbClr val="E5E7EB"/>
                </a:solidFill>
                <a:latin typeface="Consolas"/>
              </a:rPr>
              <a:t>    TwoGen(T one, V two) { this.one = one; this.two = two; }</a:t>
            </a:r>
          </a:p>
          <a:p>
            <a:pPr>
              <a:lnSpc>
                <a:spcPct val="100000"/>
              </a:lnSpc>
              <a:spcBef>
                <a:spcPts val="0"/>
              </a:spcBef>
              <a:spcAft>
                <a:spcPts val="60"/>
              </a:spcAft>
            </a:pPr>
            <a:r>
              <a:rPr sz="640" b="0" i="0">
                <a:solidFill>
                  <a:srgbClr val="E5E7EB"/>
                </a:solidFill>
                <a:latin typeface="Consolas"/>
              </a:rPr>
              <a:t>    T first()  { return one; }</a:t>
            </a:r>
          </a:p>
          <a:p>
            <a:pPr>
              <a:lnSpc>
                <a:spcPct val="100000"/>
              </a:lnSpc>
              <a:spcBef>
                <a:spcPts val="0"/>
              </a:spcBef>
              <a:spcAft>
                <a:spcPts val="60"/>
              </a:spcAft>
            </a:pPr>
            <a:r>
              <a:rPr sz="640" b="0" i="0">
                <a:solidFill>
                  <a:srgbClr val="E5E7EB"/>
                </a:solidFill>
                <a:latin typeface="Consolas"/>
              </a:rPr>
              <a:t>    V second() { return two; }</a:t>
            </a:r>
          </a:p>
          <a:p>
            <a:pPr>
              <a:lnSpc>
                <a:spcPct val="100000"/>
              </a:lnSpc>
              <a:spcBef>
                <a:spcPts val="0"/>
              </a:spcBef>
              <a:spcAft>
                <a:spcPts val="60"/>
              </a:spcAft>
            </a:pPr>
            <a:r>
              <a:rPr sz="640" b="0" i="0">
                <a:solidFill>
                  <a:srgbClr val="E5E7EB"/>
                </a:solidFill>
                <a:latin typeface="Consolas"/>
              </a:rPr>
              <a:t>    void showTypes() {</a:t>
            </a:r>
          </a:p>
          <a:p>
            <a:pPr>
              <a:lnSpc>
                <a:spcPct val="100000"/>
              </a:lnSpc>
              <a:spcBef>
                <a:spcPts val="0"/>
              </a:spcBef>
              <a:spcAft>
                <a:spcPts val="60"/>
              </a:spcAft>
            </a:pPr>
            <a:r>
              <a:rPr sz="640" b="0" i="0">
                <a:solidFill>
                  <a:srgbClr val="E5E7EB"/>
                </a:solidFill>
                <a:latin typeface="Consolas"/>
              </a:rPr>
              <a:t>        System.out.println("  T is " + one.getClass().getName() + ", V is " + two.getClass().getName());</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class Helper {</a:t>
            </a:r>
          </a:p>
          <a:p>
            <a:pPr>
              <a:lnSpc>
                <a:spcPct val="100000"/>
              </a:lnSpc>
              <a:spcBef>
                <a:spcPts val="0"/>
              </a:spcBef>
              <a:spcAft>
                <a:spcPts val="60"/>
              </a:spcAft>
            </a:pPr>
            <a:r>
              <a:rPr sz="640" b="0" i="0">
                <a:solidFill>
                  <a:srgbClr val="E5E7EB"/>
                </a:solidFill>
                <a:latin typeface="Consolas"/>
              </a:rPr>
              <a:t>    // general form: &lt;T extends Comparable&lt;T&gt;&gt; return-type name(params)</a:t>
            </a:r>
          </a:p>
          <a:p>
            <a:pPr>
              <a:lnSpc>
                <a:spcPct val="100000"/>
              </a:lnSpc>
              <a:spcBef>
                <a:spcPts val="0"/>
              </a:spcBef>
              <a:spcAft>
                <a:spcPts val="60"/>
              </a:spcAft>
            </a:pPr>
            <a:r>
              <a:rPr sz="640" b="0" i="0">
                <a:solidFill>
                  <a:srgbClr val="E5E7EB"/>
                </a:solidFill>
                <a:latin typeface="Consolas"/>
              </a:rPr>
              <a:t>    static &lt;T extends Comparable&lt;T&gt;&gt; T max(T a, T b) {</a:t>
            </a:r>
          </a:p>
          <a:p>
            <a:pPr>
              <a:lnSpc>
                <a:spcPct val="100000"/>
              </a:lnSpc>
              <a:spcBef>
                <a:spcPts val="0"/>
              </a:spcBef>
              <a:spcAft>
                <a:spcPts val="60"/>
              </a:spcAft>
            </a:pPr>
            <a:r>
              <a:rPr sz="640" b="0" i="0">
                <a:solidFill>
                  <a:srgbClr val="E5E7EB"/>
                </a:solidFill>
                <a:latin typeface="Consolas"/>
              </a:rPr>
              <a:t>        return a.compareTo(b) &gt;= 0 ? a : b;</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public class Main {</a:t>
            </a:r>
          </a:p>
          <a:p>
            <a:pPr>
              <a:lnSpc>
                <a:spcPct val="100000"/>
              </a:lnSpc>
              <a:spcBef>
                <a:spcPts val="0"/>
              </a:spcBef>
              <a:spcAft>
                <a:spcPts val="60"/>
              </a:spcAft>
            </a:pPr>
            <a:r>
              <a:rPr sz="640" b="0" i="0">
                <a:solidFill>
                  <a:srgbClr val="E5E7EB"/>
                </a:solidFill>
                <a:latin typeface="Consolas"/>
              </a:rPr>
              <a:t>    public static void main(String[] args) {</a:t>
            </a:r>
          </a:p>
          <a:p>
            <a:pPr>
              <a:lnSpc>
                <a:spcPct val="100000"/>
              </a:lnSpc>
              <a:spcBef>
                <a:spcPts val="0"/>
              </a:spcBef>
              <a:spcAft>
                <a:spcPts val="60"/>
              </a:spcAft>
            </a:pPr>
            <a:r>
              <a:rPr sz="640" b="0" i="0">
                <a:solidFill>
                  <a:srgbClr val="E5E7EB"/>
                </a:solidFill>
                <a:latin typeface="Consolas"/>
              </a:rPr>
              <a:t>        Gen&lt;Integer&gt; gi = new Gen&lt;&gt;(42);        // diamond infers Integer</a:t>
            </a:r>
          </a:p>
          <a:p>
            <a:pPr>
              <a:lnSpc>
                <a:spcPct val="100000"/>
              </a:lnSpc>
              <a:spcBef>
                <a:spcPts val="0"/>
              </a:spcBef>
              <a:spcAft>
                <a:spcPts val="60"/>
              </a:spcAft>
            </a:pPr>
            <a:r>
              <a:rPr sz="640" b="0" i="0">
                <a:solidFill>
                  <a:srgbClr val="E5E7EB"/>
                </a:solidFill>
                <a:latin typeface="Consolas"/>
              </a:rPr>
              <a:t>        gi.showType();</a:t>
            </a:r>
          </a:p>
          <a:p>
            <a:pPr>
              <a:lnSpc>
                <a:spcPct val="100000"/>
              </a:lnSpc>
              <a:spcBef>
                <a:spcPts val="0"/>
              </a:spcBef>
              <a:spcAft>
                <a:spcPts val="60"/>
              </a:spcAft>
            </a:pPr>
            <a:r>
              <a:rPr sz="640" b="0" i="0">
                <a:solidFill>
                  <a:srgbClr val="E5E7EB"/>
                </a:solidFill>
                <a:latin typeface="Consolas"/>
              </a:rPr>
              <a:t>        System.out.println("  value: " + gi.get());</a:t>
            </a:r>
          </a:p>
          <a:p>
            <a:pPr>
              <a:lnSpc>
                <a:spcPct val="100000"/>
              </a:lnSpc>
              <a:spcBef>
                <a:spcPts val="0"/>
              </a:spcBef>
              <a:spcAft>
                <a:spcPts val="60"/>
              </a:spcAft>
            </a:pPr>
            <a:r>
              <a:rPr sz="640" b="0" i="0">
                <a:solidFill>
                  <a:srgbClr val="E5E7EB"/>
                </a:solidFill>
                <a:latin typeface="Consolas"/>
              </a:rPr>
              <a:t>  …  (complete source: the course book)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DEMO</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Worked Demo — t5_enum (compiled &amp; captured)</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27</a:t>
            </a:r>
          </a:p>
        </p:txBody>
      </p:sp>
      <p:sp>
        <p:nvSpPr>
          <p:cNvPr id="8" name="Rectangle 7"/>
          <p:cNvSpPr/>
          <p:nvPr/>
        </p:nvSpPr>
        <p:spPr>
          <a:xfrm>
            <a:off x="502920" y="1572768"/>
            <a:ext cx="6126480" cy="4800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72768"/>
            <a:ext cx="612648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623060"/>
            <a:ext cx="5833872"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src/t5_enum/Main.java</a:t>
            </a:r>
          </a:p>
        </p:txBody>
      </p:sp>
      <p:sp>
        <p:nvSpPr>
          <p:cNvPr id="11" name="TextBox 10"/>
          <p:cNvSpPr txBox="1"/>
          <p:nvPr/>
        </p:nvSpPr>
        <p:spPr>
          <a:xfrm>
            <a:off x="667512" y="1975104"/>
            <a:ext cx="5815584" cy="4325112"/>
          </a:xfrm>
          <a:prstGeom prst="rect">
            <a:avLst/>
          </a:prstGeom>
          <a:noFill/>
        </p:spPr>
        <p:txBody>
          <a:bodyPr wrap="none" anchor="t" lIns="0" rIns="0" tIns="0" bIns="0">
            <a:spAutoFit/>
          </a:bodyPr>
          <a:lstStyle/>
          <a:p>
            <a:pPr>
              <a:lnSpc>
                <a:spcPct val="100000"/>
              </a:lnSpc>
              <a:spcBef>
                <a:spcPts val="0"/>
              </a:spcBef>
              <a:spcAft>
                <a:spcPts val="60"/>
              </a:spcAft>
            </a:pPr>
            <a:r>
              <a:rPr sz="640" b="0" i="0">
                <a:solidFill>
                  <a:srgbClr val="E5E7EB"/>
                </a:solidFill>
                <a:latin typeface="Consolas"/>
              </a:rPr>
              <a:t>// ——— src/t5_enum/Main.java ———</a:t>
            </a:r>
          </a:p>
          <a:p>
            <a:pPr>
              <a:lnSpc>
                <a:spcPct val="100000"/>
              </a:lnSpc>
              <a:spcBef>
                <a:spcPts val="0"/>
              </a:spcBef>
              <a:spcAft>
                <a:spcPts val="60"/>
              </a:spcAft>
            </a:pPr>
            <a:r>
              <a:rPr sz="640" b="0" i="0">
                <a:solidFill>
                  <a:srgbClr val="E5E7EB"/>
                </a:solidFill>
                <a:latin typeface="Consolas"/>
              </a:rPr>
              <a:t>// Module 5, demo 1 -- enumeration fundamentals (values(), ordinal(),</a:t>
            </a:r>
          </a:p>
          <a:p>
            <a:pPr>
              <a:lnSpc>
                <a:spcPct val="100000"/>
              </a:lnSpc>
              <a:spcBef>
                <a:spcPts val="0"/>
              </a:spcBef>
              <a:spcAft>
                <a:spcPts val="60"/>
              </a:spcAft>
            </a:pPr>
            <a:r>
              <a:rPr sz="640" b="0" i="0">
                <a:solidFill>
                  <a:srgbClr val="E5E7EB"/>
                </a:solidFill>
                <a:latin typeface="Consolas"/>
              </a:rPr>
              <a:t>// name(), switch on an enum) plus type wrappers and autoboxing/unboxing</a:t>
            </a:r>
          </a:p>
          <a:p>
            <a:pPr>
              <a:lnSpc>
                <a:spcPct val="100000"/>
              </a:lnSpc>
              <a:spcBef>
                <a:spcPts val="0"/>
              </a:spcBef>
              <a:spcAft>
                <a:spcPts val="60"/>
              </a:spcAft>
            </a:pPr>
            <a:r>
              <a:rPr sz="640" b="0" i="0">
                <a:solidFill>
                  <a:srgbClr val="E5E7EB"/>
                </a:solidFill>
                <a:latin typeface="Consolas"/>
              </a:rPr>
              <a:t>// in expressions, including Boolean and Character values.</a:t>
            </a:r>
          </a:p>
          <a:p>
            <a:pPr>
              <a:lnSpc>
                <a:spcPct val="100000"/>
              </a:lnSpc>
              <a:spcBef>
                <a:spcPts val="0"/>
              </a:spcBef>
              <a:spcAft>
                <a:spcPts val="60"/>
              </a:spcAft>
            </a:pPr>
            <a:r>
              <a:rPr sz="640" b="0" i="0">
                <a:solidFill>
                  <a:srgbClr val="E5E7EB"/>
                </a:solidFill>
                <a:latin typeface="Consolas"/>
              </a:rPr>
              <a:t>enum Day { MON, TUE, WED, THU, FRI, SAT, SUN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public class Main {</a:t>
            </a:r>
          </a:p>
          <a:p>
            <a:pPr>
              <a:lnSpc>
                <a:spcPct val="100000"/>
              </a:lnSpc>
              <a:spcBef>
                <a:spcPts val="0"/>
              </a:spcBef>
              <a:spcAft>
                <a:spcPts val="60"/>
              </a:spcAft>
            </a:pPr>
            <a:r>
              <a:rPr sz="640" b="0" i="0">
                <a:solidFill>
                  <a:srgbClr val="E5E7EB"/>
                </a:solidFill>
                <a:latin typeface="Consolas"/>
              </a:rPr>
              <a:t>    public static void main(String[] args) {</a:t>
            </a:r>
          </a:p>
          <a:p>
            <a:pPr>
              <a:lnSpc>
                <a:spcPct val="100000"/>
              </a:lnSpc>
              <a:spcBef>
                <a:spcPts val="0"/>
              </a:spcBef>
              <a:spcAft>
                <a:spcPts val="60"/>
              </a:spcAft>
            </a:pPr>
            <a:r>
              <a:rPr sz="640" b="0" i="0">
                <a:solidFill>
                  <a:srgbClr val="E5E7EB"/>
                </a:solidFill>
                <a:latin typeface="Consolas"/>
              </a:rPr>
              <a:t>        Day today = Day.WED;</a:t>
            </a:r>
          </a:p>
          <a:p>
            <a:pPr>
              <a:lnSpc>
                <a:spcPct val="100000"/>
              </a:lnSpc>
              <a:spcBef>
                <a:spcPts val="0"/>
              </a:spcBef>
              <a:spcAft>
                <a:spcPts val="60"/>
              </a:spcAft>
            </a:pPr>
            <a:r>
              <a:rPr sz="640" b="0" i="0">
                <a:solidFill>
                  <a:srgbClr val="E5E7EB"/>
                </a:solidFill>
                <a:latin typeface="Consolas"/>
              </a:rPr>
              <a:t>        System.out.println("today = " + today + ", ordinal = " + today.ordinal() + ", name = \"" + today.name() +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System.out.print("values(): ");</a:t>
            </a:r>
          </a:p>
          <a:p>
            <a:pPr>
              <a:lnSpc>
                <a:spcPct val="100000"/>
              </a:lnSpc>
              <a:spcBef>
                <a:spcPts val="0"/>
              </a:spcBef>
              <a:spcAft>
                <a:spcPts val="60"/>
              </a:spcAft>
            </a:pPr>
            <a:r>
              <a:rPr sz="640" b="0" i="0">
                <a:solidFill>
                  <a:srgbClr val="E5E7EB"/>
                </a:solidFill>
                <a:latin typeface="Consolas"/>
              </a:rPr>
              <a:t>        for (Day d : Day.values()) System.out.print(d.ordinal() + "=" + d + " ");</a:t>
            </a:r>
          </a:p>
          <a:p>
            <a:pPr>
              <a:lnSpc>
                <a:spcPct val="100000"/>
              </a:lnSpc>
              <a:spcBef>
                <a:spcPts val="0"/>
              </a:spcBef>
              <a:spcAft>
                <a:spcPts val="60"/>
              </a:spcAft>
            </a:pPr>
            <a:r>
              <a:rPr sz="640" b="0" i="0">
                <a:solidFill>
                  <a:srgbClr val="E5E7EB"/>
                </a:solidFill>
                <a:latin typeface="Consolas"/>
              </a:rPr>
              <a:t>        System.out.println();</a:t>
            </a:r>
          </a:p>
          <a:p>
            <a:pPr>
              <a:lnSpc>
                <a:spcPct val="100000"/>
              </a:lnSpc>
              <a:spcBef>
                <a:spcPts val="0"/>
              </a:spcBef>
              <a:spcAft>
                <a:spcPts val="60"/>
              </a:spcAft>
            </a:pPr>
            <a:r>
              <a:rPr sz="640" b="0" i="0">
                <a:solidFill>
                  <a:srgbClr val="E5E7EB"/>
                </a:solidFill>
                <a:latin typeface="Consolas"/>
              </a:rPr>
              <a:t>        System.out.println("compareTo(SAT) &gt;= 0 (weekend?) -&gt; " + (today.compareTo(Day.SAT) &gt;= 0));</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switch (today) {                       // enum constants as unqualified case labels</a:t>
            </a:r>
          </a:p>
          <a:p>
            <a:pPr>
              <a:lnSpc>
                <a:spcPct val="100000"/>
              </a:lnSpc>
              <a:spcBef>
                <a:spcPts val="0"/>
              </a:spcBef>
              <a:spcAft>
                <a:spcPts val="60"/>
              </a:spcAft>
            </a:pPr>
            <a:r>
              <a:rPr sz="640" b="0" i="0">
                <a:solidFill>
                  <a:srgbClr val="E5E7EB"/>
                </a:solidFill>
                <a:latin typeface="Consolas"/>
              </a:rPr>
              <a:t>            case SAT: case SUN:</a:t>
            </a:r>
          </a:p>
          <a:p>
            <a:pPr>
              <a:lnSpc>
                <a:spcPct val="100000"/>
              </a:lnSpc>
              <a:spcBef>
                <a:spcPts val="0"/>
              </a:spcBef>
              <a:spcAft>
                <a:spcPts val="60"/>
              </a:spcAft>
            </a:pPr>
            <a:r>
              <a:rPr sz="640" b="0" i="0">
                <a:solidFill>
                  <a:srgbClr val="E5E7EB"/>
                </a:solidFill>
                <a:latin typeface="Consolas"/>
              </a:rPr>
              <a:t>                System.out.println("weekend"); break;</a:t>
            </a:r>
          </a:p>
          <a:p>
            <a:pPr>
              <a:lnSpc>
                <a:spcPct val="100000"/>
              </a:lnSpc>
              <a:spcBef>
                <a:spcPts val="0"/>
              </a:spcBef>
              <a:spcAft>
                <a:spcPts val="60"/>
              </a:spcAft>
            </a:pPr>
            <a:r>
              <a:rPr sz="640" b="0" i="0">
                <a:solidFill>
                  <a:srgbClr val="E5E7EB"/>
                </a:solidFill>
                <a:latin typeface="Consolas"/>
              </a:rPr>
              <a:t>            default:</a:t>
            </a:r>
          </a:p>
          <a:p>
            <a:pPr>
              <a:lnSpc>
                <a:spcPct val="100000"/>
              </a:lnSpc>
              <a:spcBef>
                <a:spcPts val="0"/>
              </a:spcBef>
              <a:spcAft>
                <a:spcPts val="60"/>
              </a:spcAft>
            </a:pPr>
            <a:r>
              <a:rPr sz="640" b="0" i="0">
                <a:solidFill>
                  <a:srgbClr val="E5E7EB"/>
                </a:solidFill>
                <a:latin typeface="Consolas"/>
              </a:rPr>
              <a:t>                System.out.println("weekday number " + today.ordinal());</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 ---- autoboxing and unboxing in expressions ----------------------</a:t>
            </a:r>
          </a:p>
          <a:p>
            <a:pPr>
              <a:lnSpc>
                <a:spcPct val="100000"/>
              </a:lnSpc>
              <a:spcBef>
                <a:spcPts val="0"/>
              </a:spcBef>
              <a:spcAft>
                <a:spcPts val="60"/>
              </a:spcAft>
            </a:pPr>
            <a:r>
              <a:rPr sz="640" b="0" i="0">
                <a:solidFill>
                  <a:srgbClr val="E5E7EB"/>
                </a:solidFill>
                <a:latin typeface="Consolas"/>
              </a:rPr>
              <a:t>        Integer boxed = 99;                    // autoboxed via Integer.valueOf</a:t>
            </a:r>
          </a:p>
          <a:p>
            <a:pPr>
              <a:lnSpc>
                <a:spcPct val="100000"/>
              </a:lnSpc>
              <a:spcBef>
                <a:spcPts val="0"/>
              </a:spcBef>
              <a:spcAft>
                <a:spcPts val="60"/>
              </a:spcAft>
            </a:pPr>
            <a:r>
              <a:rPr sz="640" b="0" i="0">
                <a:solidFill>
                  <a:srgbClr val="E5E7EB"/>
                </a:solidFill>
                <a:latin typeface="Consolas"/>
              </a:rPr>
              <a:t>        int plain = boxed;                     // unboxed via intValue()</a:t>
            </a:r>
          </a:p>
          <a:p>
            <a:pPr>
              <a:lnSpc>
                <a:spcPct val="100000"/>
              </a:lnSpc>
              <a:spcBef>
                <a:spcPts val="0"/>
              </a:spcBef>
              <a:spcAft>
                <a:spcPts val="60"/>
              </a:spcAft>
            </a:pPr>
            <a:r>
              <a:rPr sz="640" b="0" i="0">
                <a:solidFill>
                  <a:srgbClr val="E5E7EB"/>
                </a:solidFill>
                <a:latin typeface="Consolas"/>
              </a:rPr>
              <a:t>        boxed = boxed + 1;                     // unbox, add, re-box</a:t>
            </a:r>
          </a:p>
          <a:p>
            <a:pPr>
              <a:lnSpc>
                <a:spcPct val="100000"/>
              </a:lnSpc>
              <a:spcBef>
                <a:spcPts val="0"/>
              </a:spcBef>
              <a:spcAft>
                <a:spcPts val="60"/>
              </a:spcAft>
            </a:pPr>
            <a:r>
              <a:rPr sz="640" b="0" i="0">
                <a:solidFill>
                  <a:srgbClr val="E5E7EB"/>
                </a:solidFill>
                <a:latin typeface="Consolas"/>
              </a:rPr>
              <a:t>        System.out.println("boxed after +1: " + boxed + ", unboxed view: " + plain);</a:t>
            </a:r>
          </a:p>
          <a:p>
            <a:pPr>
              <a:lnSpc>
                <a:spcPct val="100000"/>
              </a:lnSpc>
              <a:spcBef>
                <a:spcPts val="0"/>
              </a:spcBef>
              <a:spcAft>
                <a:spcPts val="60"/>
              </a:spcAft>
            </a:pPr>
            <a:r>
              <a:rPr sz="640" b="0" i="0">
                <a:solidFill>
                  <a:srgbClr val="E5E7EB"/>
                </a:solidFill>
                <a:latin typeface="Consolas"/>
              </a:rPr>
              <a:t> </a:t>
            </a:r>
          </a:p>
          <a:p>
            <a:pPr>
              <a:lnSpc>
                <a:spcPct val="100000"/>
              </a:lnSpc>
              <a:spcBef>
                <a:spcPts val="0"/>
              </a:spcBef>
              <a:spcAft>
                <a:spcPts val="60"/>
              </a:spcAft>
            </a:pPr>
            <a:r>
              <a:rPr sz="640" b="0" i="0">
                <a:solidFill>
                  <a:srgbClr val="E5E7EB"/>
                </a:solidFill>
                <a:latin typeface="Consolas"/>
              </a:rPr>
              <a:t>        Integer x = 127, y = 127;              // cached: -128..127</a:t>
            </a:r>
          </a:p>
          <a:p>
            <a:pPr>
              <a:lnSpc>
                <a:spcPct val="100000"/>
              </a:lnSpc>
              <a:spcBef>
                <a:spcPts val="0"/>
              </a:spcBef>
              <a:spcAft>
                <a:spcPts val="60"/>
              </a:spcAft>
            </a:pPr>
            <a:r>
              <a:rPr sz="640" b="0" i="0">
                <a:solidFill>
                  <a:srgbClr val="E5E7EB"/>
                </a:solidFill>
                <a:latin typeface="Consolas"/>
              </a:rPr>
              <a:t>        Integer p = 128, q = 128;              // outside the cache</a:t>
            </a:r>
          </a:p>
          <a:p>
            <a:pPr>
              <a:lnSpc>
                <a:spcPct val="100000"/>
              </a:lnSpc>
              <a:spcBef>
                <a:spcPts val="0"/>
              </a:spcBef>
              <a:spcAft>
                <a:spcPts val="60"/>
              </a:spcAft>
            </a:pPr>
            <a:r>
              <a:rPr sz="640" b="0" i="0">
                <a:solidFill>
                  <a:srgbClr val="E5E7EB"/>
                </a:solidFill>
                <a:latin typeface="Consolas"/>
              </a:rPr>
              <a:t>        System.out.println("127 == 127 (identity): " + (x == y) + ", 128 == 128: " + (p == q));</a:t>
            </a:r>
          </a:p>
          <a:p>
            <a:pPr>
              <a:lnSpc>
                <a:spcPct val="100000"/>
              </a:lnSpc>
              <a:spcBef>
                <a:spcPts val="0"/>
              </a:spcBef>
              <a:spcAft>
                <a:spcPts val="60"/>
              </a:spcAft>
            </a:pPr>
            <a:r>
              <a:rPr sz="640" b="0" i="0">
                <a:solidFill>
                  <a:srgbClr val="E5E7EB"/>
                </a:solidFill>
                <a:latin typeface="Consolas"/>
              </a:rPr>
              <a:t>        System.out.println("equals() on both: " + x.equals(y) + ", " + p.equals(q));</a:t>
            </a:r>
          </a:p>
          <a:p>
            <a:pPr>
              <a:lnSpc>
                <a:spcPct val="100000"/>
              </a:lnSpc>
              <a:spcBef>
                <a:spcPts val="0"/>
              </a:spcBef>
              <a:spcAft>
                <a:spcPts val="60"/>
              </a:spcAft>
            </a:pPr>
            <a:r>
              <a:rPr sz="640" b="0" i="0">
                <a:solidFill>
                  <a:srgbClr val="E5E7EB"/>
                </a:solidFill>
                <a:latin typeface="Consolas"/>
              </a:rPr>
              <a:t>  …  (complete source: the course book)</a:t>
            </a:r>
          </a:p>
        </p:txBody>
      </p:sp>
      <p:sp>
        <p:nvSpPr>
          <p:cNvPr id="12" name="Rectangle 11"/>
          <p:cNvSpPr/>
          <p:nvPr/>
        </p:nvSpPr>
        <p:spPr>
          <a:xfrm>
            <a:off x="6858000" y="1572768"/>
            <a:ext cx="4846320" cy="480060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04304" y="1664208"/>
            <a:ext cx="45720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out/t5_enum.txt</a:t>
            </a:r>
          </a:p>
        </p:txBody>
      </p:sp>
      <p:sp>
        <p:nvSpPr>
          <p:cNvPr id="14" name="TextBox 13"/>
          <p:cNvSpPr txBox="1"/>
          <p:nvPr/>
        </p:nvSpPr>
        <p:spPr>
          <a:xfrm>
            <a:off x="7004304" y="1938528"/>
            <a:ext cx="4572000" cy="4343400"/>
          </a:xfrm>
          <a:prstGeom prst="rect">
            <a:avLst/>
          </a:prstGeom>
          <a:noFill/>
        </p:spPr>
        <p:txBody>
          <a:bodyPr wrap="none" anchor="t" lIns="0" rIns="0" tIns="0" bIns="0">
            <a:spAutoFit/>
          </a:bodyPr>
          <a:lstStyle/>
          <a:p>
            <a:pPr>
              <a:lnSpc>
                <a:spcPct val="100000"/>
              </a:lnSpc>
              <a:spcBef>
                <a:spcPts val="0"/>
              </a:spcBef>
              <a:spcAft>
                <a:spcPts val="60"/>
              </a:spcAft>
            </a:pPr>
            <a:r>
              <a:rPr sz="988" b="0" i="0">
                <a:solidFill>
                  <a:srgbClr val="14171C"/>
                </a:solidFill>
                <a:latin typeface="Consolas"/>
              </a:rPr>
              <a:t>$ javac -d bin/t5_enum src/t5_enum/Main.java</a:t>
            </a:r>
          </a:p>
          <a:p>
            <a:pPr>
              <a:lnSpc>
                <a:spcPct val="100000"/>
              </a:lnSpc>
              <a:spcBef>
                <a:spcPts val="0"/>
              </a:spcBef>
              <a:spcAft>
                <a:spcPts val="60"/>
              </a:spcAft>
            </a:pPr>
            <a:r>
              <a:rPr sz="988" b="0" i="0">
                <a:solidFill>
                  <a:srgbClr val="14171C"/>
                </a:solidFill>
                <a:latin typeface="Consolas"/>
              </a:rPr>
              <a:t>$ java -cp bin/t5_enum Main</a:t>
            </a:r>
          </a:p>
          <a:p>
            <a:pPr>
              <a:lnSpc>
                <a:spcPct val="100000"/>
              </a:lnSpc>
              <a:spcBef>
                <a:spcPts val="0"/>
              </a:spcBef>
              <a:spcAft>
                <a:spcPts val="60"/>
              </a:spcAft>
            </a:pPr>
            <a:r>
              <a:rPr sz="988" b="0" i="0">
                <a:solidFill>
                  <a:srgbClr val="14171C"/>
                </a:solidFill>
                <a:latin typeface="Consolas"/>
              </a:rPr>
              <a:t>today = WED, ordinal = 2, name = "WED"</a:t>
            </a:r>
          </a:p>
          <a:p>
            <a:pPr>
              <a:lnSpc>
                <a:spcPct val="100000"/>
              </a:lnSpc>
              <a:spcBef>
                <a:spcPts val="0"/>
              </a:spcBef>
              <a:spcAft>
                <a:spcPts val="60"/>
              </a:spcAft>
            </a:pPr>
            <a:r>
              <a:rPr sz="988" b="0" i="0">
                <a:solidFill>
                  <a:srgbClr val="14171C"/>
                </a:solidFill>
                <a:latin typeface="Consolas"/>
              </a:rPr>
              <a:t>values(): 0=MON 1=TUE 2=WED 3=THU 4=FRI 5=SAT 6=SUN </a:t>
            </a:r>
          </a:p>
          <a:p>
            <a:pPr>
              <a:lnSpc>
                <a:spcPct val="100000"/>
              </a:lnSpc>
              <a:spcBef>
                <a:spcPts val="0"/>
              </a:spcBef>
              <a:spcAft>
                <a:spcPts val="60"/>
              </a:spcAft>
            </a:pPr>
            <a:r>
              <a:rPr sz="988" b="0" i="0">
                <a:solidFill>
                  <a:srgbClr val="14171C"/>
                </a:solidFill>
                <a:latin typeface="Consolas"/>
              </a:rPr>
              <a:t>compareTo(SAT) &gt;= 0 (weekend?) -&gt; false</a:t>
            </a:r>
          </a:p>
          <a:p>
            <a:pPr>
              <a:lnSpc>
                <a:spcPct val="100000"/>
              </a:lnSpc>
              <a:spcBef>
                <a:spcPts val="0"/>
              </a:spcBef>
              <a:spcAft>
                <a:spcPts val="60"/>
              </a:spcAft>
            </a:pPr>
            <a:r>
              <a:rPr sz="988" b="0" i="0">
                <a:solidFill>
                  <a:srgbClr val="14171C"/>
                </a:solidFill>
                <a:latin typeface="Consolas"/>
              </a:rPr>
              <a:t>weekday number 2</a:t>
            </a:r>
          </a:p>
          <a:p>
            <a:pPr>
              <a:lnSpc>
                <a:spcPct val="100000"/>
              </a:lnSpc>
              <a:spcBef>
                <a:spcPts val="0"/>
              </a:spcBef>
              <a:spcAft>
                <a:spcPts val="60"/>
              </a:spcAft>
            </a:pPr>
            <a:r>
              <a:rPr sz="988" b="0" i="0">
                <a:solidFill>
                  <a:srgbClr val="14171C"/>
                </a:solidFill>
                <a:latin typeface="Consolas"/>
              </a:rPr>
              <a:t>boxed after +1: 100, unboxed view: 99</a:t>
            </a:r>
          </a:p>
          <a:p>
            <a:pPr>
              <a:lnSpc>
                <a:spcPct val="100000"/>
              </a:lnSpc>
              <a:spcBef>
                <a:spcPts val="0"/>
              </a:spcBef>
              <a:spcAft>
                <a:spcPts val="60"/>
              </a:spcAft>
            </a:pPr>
            <a:r>
              <a:rPr sz="988" b="0" i="0">
                <a:solidFill>
                  <a:srgbClr val="14171C"/>
                </a:solidFill>
                <a:latin typeface="Consolas"/>
              </a:rPr>
              <a:t>127 == 127 (identity): true, 128 == 128: false</a:t>
            </a:r>
          </a:p>
          <a:p>
            <a:pPr>
              <a:lnSpc>
                <a:spcPct val="100000"/>
              </a:lnSpc>
              <a:spcBef>
                <a:spcPts val="0"/>
              </a:spcBef>
              <a:spcAft>
                <a:spcPts val="60"/>
              </a:spcAft>
            </a:pPr>
            <a:r>
              <a:rPr sz="988" b="0" i="0">
                <a:solidFill>
                  <a:srgbClr val="14171C"/>
                </a:solidFill>
                <a:latin typeface="Consolas"/>
              </a:rPr>
              <a:t>equals() on both: true, true</a:t>
            </a:r>
          </a:p>
          <a:p>
            <a:pPr>
              <a:lnSpc>
                <a:spcPct val="100000"/>
              </a:lnSpc>
              <a:spcBef>
                <a:spcPts val="0"/>
              </a:spcBef>
              <a:spcAft>
                <a:spcPts val="60"/>
              </a:spcAft>
            </a:pPr>
            <a:r>
              <a:rPr sz="988" b="0" i="0">
                <a:solidFill>
                  <a:srgbClr val="14171C"/>
                </a:solidFill>
                <a:latin typeface="Consolas"/>
              </a:rPr>
              <a:t>Boolean true/false, compare: 1, parseBoolean("2&gt;1"):false</a:t>
            </a:r>
          </a:p>
          <a:p>
            <a:pPr>
              <a:lnSpc>
                <a:spcPct val="100000"/>
              </a:lnSpc>
              <a:spcBef>
                <a:spcPts val="0"/>
              </a:spcBef>
              <a:spcAft>
                <a:spcPts val="60"/>
              </a:spcAft>
            </a:pPr>
            <a:r>
              <a:rPr sz="988" b="0" i="0">
                <a:solidFill>
                  <a:srgbClr val="14171C"/>
                </a:solidFill>
                <a:latin typeface="Consolas"/>
              </a:rPr>
              <a:t>Character 'a': isLetter=true, upper='A', digit check: false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MODULE 5 · SELF-TEST</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Module 5 — Checkpoint Questions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28</a:t>
            </a:r>
          </a:p>
        </p:txBody>
      </p:sp>
      <p:sp>
        <p:nvSpPr>
          <p:cNvPr id="8" name="TextBox 7"/>
          <p:cNvSpPr txBox="1"/>
          <p:nvPr/>
        </p:nvSpPr>
        <p:spPr>
          <a:xfrm>
            <a:off x="502920" y="1600200"/>
            <a:ext cx="11155680" cy="4818888"/>
          </a:xfrm>
          <a:prstGeom prst="rect">
            <a:avLst/>
          </a:prstGeom>
          <a:noFill/>
        </p:spPr>
        <p:txBody>
          <a:bodyPr wrap="square" anchor="t" lIns="0" rIns="0" tIns="0" bIns="0">
            <a:spAutoFit/>
          </a:bodyPr>
          <a:lstStyle/>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Q1.  </a:t>
            </a:r>
            <a:r>
              <a:rPr sz="1450" b="0" i="0">
                <a:solidFill>
                  <a:srgbClr val="16181D"/>
                </a:solidFill>
                <a:latin typeface="Calibri"/>
              </a:rPr>
              <a:t>Why is Day.valueOf("mon") an error while Day.valueOf("MON") is not — and which method would you add to accept user input like the Department experiment does?</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Q2.  </a:t>
            </a:r>
            <a:r>
              <a:rPr sz="1450" b="0" i="0">
                <a:solidFill>
                  <a:srgbClr val="16181D"/>
                </a:solidFill>
                <a:latin typeface="Calibri"/>
              </a:rPr>
              <a:t>Predict: Integer a = 12, b = 12; System.out.println(a == b); then the same with 1 200.</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Q3.  </a:t>
            </a:r>
            <a:r>
              <a:rPr sz="1450" b="0" i="0">
                <a:solidFill>
                  <a:srgbClr val="16181D"/>
                </a:solidFill>
                <a:latin typeface="Calibri"/>
              </a:rPr>
              <a:t>Rewrite total += m (marks is Integer) with explicit intValue()/valueOf calls and confirm both versions print the same total.</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Q4.  </a:t>
            </a:r>
            <a:r>
              <a:rPr sz="1450" b="0" i="0">
                <a:solidFill>
                  <a:srgbClr val="16181D"/>
                </a:solidFill>
                <a:latin typeface="Calibri"/>
              </a:rPr>
              <a:t>Exp. 10’s three marks arrive as strings. Which conversion is “wrapper conversion” and which is “autoboxing”? The line is asked in viva as often as the code.</a:t>
            </a:r>
          </a:p>
          <a:p>
            <a:pPr marL="201168" indent="-201168">
              <a:lnSpc>
                <a:spcPct val="104000"/>
              </a:lnSpc>
              <a:spcBef>
                <a:spcPts val="0"/>
              </a:spcBef>
              <a:spcAft>
                <a:spcPts val="900"/>
              </a:spcAft>
            </a:pPr>
            <a:r>
              <a:rPr sz="1450" b="1" i="0">
                <a:solidFill>
                  <a:srgbClr val="B3261E"/>
                </a:solidFill>
                <a:latin typeface="Calibri"/>
              </a:rPr>
              <a:t>•  </a:t>
            </a:r>
            <a:r>
              <a:rPr sz="1450" b="1" i="0">
                <a:solidFill>
                  <a:srgbClr val="B3261E"/>
                </a:solidFill>
                <a:latin typeface="Calibri"/>
              </a:rPr>
              <a:t>Q5.  </a:t>
            </a:r>
            <a:r>
              <a:rPr sz="1450" b="0" i="0">
                <a:solidFill>
                  <a:srgbClr val="16181D"/>
                </a:solidFill>
                <a:latin typeface="Calibri"/>
              </a:rPr>
              <a:t>What is the bound in &lt;T extends Comparable&lt;T&gt;&gt; buying the max method, line by line?</a:t>
            </a:r>
          </a:p>
        </p:txBody>
      </p:sp>
      <p:sp>
        <p:nvSpPr>
          <p:cNvPr id="9" name="TextBox 8"/>
          <p:cNvSpPr txBox="1"/>
          <p:nvPr/>
        </p:nvSpPr>
        <p:spPr>
          <a:xfrm>
            <a:off x="502920" y="6053328"/>
            <a:ext cx="11155680" cy="365760"/>
          </a:xfrm>
          <a:prstGeom prst="rect">
            <a:avLst/>
          </a:prstGeom>
          <a:noFill/>
        </p:spPr>
        <p:txBody>
          <a:bodyPr wrap="square" anchor="t" lIns="0" rIns="0" tIns="0" bIns="0">
            <a:spAutoFit/>
          </a:bodyPr>
          <a:lstStyle/>
          <a:p>
            <a:pPr>
              <a:spcBef>
                <a:spcPts val="0"/>
              </a:spcBef>
              <a:spcAft>
                <a:spcPts val="400"/>
              </a:spcAft>
            </a:pPr>
            <a:r>
              <a:rPr sz="1200" b="0" i="1">
                <a:solidFill>
                  <a:srgbClr val="4B5563"/>
                </a:solidFill>
                <a:latin typeface="Calibri"/>
              </a:rPr>
              <a:t>Model answers: course book §5.5 — these are IA-test-shaped practice.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400"/>
              </a:spcAft>
            </a:pPr>
            <a:r>
              <a:rPr sz="1300" b="1" i="0">
                <a:solidFill>
                  <a:srgbClr val="4B5563"/>
                </a:solidFill>
                <a:latin typeface="Calibri"/>
              </a:rPr>
              <a:t>P A R T</a:t>
            </a:r>
          </a:p>
        </p:txBody>
      </p:sp>
      <p:sp>
        <p:nvSpPr>
          <p:cNvPr id="3" name="TextBox 2"/>
          <p:cNvSpPr txBox="1"/>
          <p:nvPr/>
        </p:nvSpPr>
        <p:spPr>
          <a:xfrm>
            <a:off x="914400" y="914400"/>
            <a:ext cx="10362895" cy="2011680"/>
          </a:xfrm>
          <a:prstGeom prst="rect">
            <a:avLst/>
          </a:prstGeom>
          <a:noFill/>
        </p:spPr>
        <p:txBody>
          <a:bodyPr wrap="square" anchor="t" lIns="0" rIns="0" tIns="0" bIns="0">
            <a:spAutoFit/>
          </a:bodyPr>
          <a:lstStyle/>
          <a:p>
            <a:pPr algn="ctr">
              <a:spcBef>
                <a:spcPts val="0"/>
              </a:spcBef>
              <a:spcAft>
                <a:spcPts val="400"/>
              </a:spcAft>
            </a:pPr>
            <a:r>
              <a:rPr sz="15000" b="1" i="0">
                <a:solidFill>
                  <a:srgbClr val="B3261E"/>
                </a:solidFill>
                <a:latin typeface="Calibri"/>
              </a:rPr>
              <a:t>B</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400"/>
              </a:spcAft>
            </a:pPr>
            <a:r>
              <a:rPr sz="3000" b="1" i="0">
                <a:solidFill>
                  <a:srgbClr val="0F172A"/>
                </a:solidFill>
                <a:latin typeface="Calibri"/>
              </a:rPr>
              <a:t>Laboratory — Experiments 1 to 11</a:t>
            </a:r>
          </a:p>
        </p:txBody>
      </p:sp>
      <p:sp>
        <p:nvSpPr>
          <p:cNvPr id="6" name="TextBox 5"/>
          <p:cNvSpPr txBox="1"/>
          <p:nvPr/>
        </p:nvSpPr>
        <p:spPr>
          <a:xfrm>
            <a:off x="1737360" y="4114800"/>
            <a:ext cx="8716975" cy="960120"/>
          </a:xfrm>
          <a:prstGeom prst="rect">
            <a:avLst/>
          </a:prstGeom>
          <a:noFill/>
        </p:spPr>
        <p:txBody>
          <a:bodyPr wrap="square" anchor="t" lIns="0" rIns="0" tIns="0" bIns="0">
            <a:spAutoFit/>
          </a:bodyPr>
          <a:lstStyle/>
          <a:p>
            <a:pPr algn="ctr">
              <a:spcBef>
                <a:spcPts val="0"/>
              </a:spcBef>
              <a:spcAft>
                <a:spcPts val="400"/>
              </a:spcAft>
            </a:pPr>
            <a:r>
              <a:rPr sz="1400" b="0" i="0">
                <a:solidFill>
                  <a:srgbClr val="4B5563"/>
                </a:solidFill>
                <a:latin typeface="Calibri"/>
              </a:rPr>
              <a:t>The ten prescribed programs plus the micro project. Each slide pair: the question verbatim, the program as compiled, the captured session with guard runs, and the viva trail the record must survive. Marking: 30 per report (6 rubric rows × 5), micro 120, total 420 → 15.</a:t>
            </a:r>
          </a:p>
        </p:txBody>
      </p:sp>
      <p:sp>
        <p:nvSpPr>
          <p:cNvPr id="7" name="Rectangle 6"/>
          <p:cNvSpPr/>
          <p:nvPr/>
        </p:nvSpPr>
        <p:spPr>
          <a:xfrm>
            <a:off x="655167" y="4844033"/>
            <a:ext cx="10881360" cy="160248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2911" y="4962905"/>
            <a:ext cx="5111496" cy="1383030"/>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IN THIS PART</a:t>
            </a:r>
          </a:p>
          <a:p>
            <a:pPr>
              <a:spcBef>
                <a:spcPts val="0"/>
              </a:spcBef>
              <a:spcAft>
                <a:spcPts val="160"/>
              </a:spcAft>
            </a:pPr>
            <a:r>
              <a:rPr sz="1019" b="1" i="0">
                <a:solidFill>
                  <a:srgbClr val="B3261E"/>
                </a:solidFill>
                <a:latin typeface="Calibri"/>
              </a:rPr>
              <a:t>•  </a:t>
            </a:r>
            <a:r>
              <a:rPr sz="1019" b="0" i="0">
                <a:solidFill>
                  <a:srgbClr val="16181D"/>
                </a:solidFill>
                <a:latin typeface="Calibri"/>
              </a:rPr>
              <a:t>Exp 1 — read two N×N matrices (N ≤ 10) and print…</a:t>
            </a:r>
          </a:p>
          <a:p>
            <a:pPr>
              <a:spcBef>
                <a:spcPts val="0"/>
              </a:spcBef>
              <a:spcAft>
                <a:spcPts val="160"/>
              </a:spcAft>
            </a:pPr>
            <a:r>
              <a:rPr sz="1019" b="1" i="0">
                <a:solidFill>
                  <a:srgbClr val="B3261E"/>
                </a:solidFill>
                <a:latin typeface="Calibri"/>
              </a:rPr>
              <a:t>•  </a:t>
            </a:r>
            <a:r>
              <a:rPr sz="1019" b="0" i="0">
                <a:solidFill>
                  <a:srgbClr val="16181D"/>
                </a:solidFill>
                <a:latin typeface="Calibri"/>
              </a:rPr>
              <a:t>Exp 2 — IntStack class (max 10) + main demonstrating…</a:t>
            </a:r>
          </a:p>
          <a:p>
            <a:pPr>
              <a:spcBef>
                <a:spcPts val="0"/>
              </a:spcBef>
              <a:spcAft>
                <a:spcPts val="160"/>
              </a:spcAft>
            </a:pPr>
            <a:r>
              <a:rPr sz="1019" b="1" i="0">
                <a:solidFill>
                  <a:srgbClr val="B3261E"/>
                </a:solidFill>
                <a:latin typeface="Calibri"/>
              </a:rPr>
              <a:t>•  </a:t>
            </a:r>
            <a:r>
              <a:rPr sz="1019" b="0" i="0">
                <a:solidFill>
                  <a:srgbClr val="16181D"/>
                </a:solidFill>
                <a:latin typeface="Calibri"/>
              </a:rPr>
              <a:t>Exp 3 — Student class (USN, Name, Branch, Phone);…</a:t>
            </a:r>
          </a:p>
          <a:p>
            <a:pPr>
              <a:spcBef>
                <a:spcPts val="0"/>
              </a:spcBef>
              <a:spcAft>
                <a:spcPts val="160"/>
              </a:spcAft>
            </a:pPr>
            <a:r>
              <a:rPr sz="1019" b="1" i="0">
                <a:solidFill>
                  <a:srgbClr val="B3261E"/>
                </a:solidFill>
                <a:latin typeface="Calibri"/>
              </a:rPr>
              <a:t>•  </a:t>
            </a:r>
            <a:r>
              <a:rPr sz="1019" b="0" i="0">
                <a:solidFill>
                  <a:srgbClr val="16181D"/>
                </a:solidFill>
                <a:latin typeface="Calibri"/>
              </a:rPr>
              <a:t>Exp 4 — one base, three children, draw/erase…</a:t>
            </a:r>
          </a:p>
          <a:p>
            <a:pPr>
              <a:spcBef>
                <a:spcPts val="0"/>
              </a:spcBef>
              <a:spcAft>
                <a:spcPts val="160"/>
              </a:spcAft>
            </a:pPr>
            <a:r>
              <a:rPr sz="1019" b="1" i="0">
                <a:solidFill>
                  <a:srgbClr val="B3261E"/>
                </a:solidFill>
                <a:latin typeface="Calibri"/>
              </a:rPr>
              <a:t>•  </a:t>
            </a:r>
            <a:r>
              <a:rPr sz="1019" b="0" i="0">
                <a:solidFill>
                  <a:srgbClr val="16181D"/>
                </a:solidFill>
                <a:latin typeface="Calibri"/>
              </a:rPr>
              <a:t>Exp 5 — resizeWidth(int) / resizeHeight(int) through…</a:t>
            </a:r>
          </a:p>
          <a:p>
            <a:pPr>
              <a:spcBef>
                <a:spcPts val="0"/>
              </a:spcBef>
              <a:spcAft>
                <a:spcPts val="160"/>
              </a:spcAft>
            </a:pPr>
            <a:r>
              <a:rPr sz="1019" b="1" i="0">
                <a:solidFill>
                  <a:srgbClr val="B3261E"/>
                </a:solidFill>
                <a:latin typeface="Calibri"/>
              </a:rPr>
              <a:t>•  </a:t>
            </a:r>
            <a:r>
              <a:rPr sz="1019" b="0" i="0">
                <a:solidFill>
                  <a:srgbClr val="16181D"/>
                </a:solidFill>
                <a:latin typeface="Calibri"/>
              </a:rPr>
              <a:t>Exp 6 — mypack.Calculator used from mypack.user.Demo</a:t>
            </a:r>
          </a:p>
        </p:txBody>
      </p:sp>
      <p:sp>
        <p:nvSpPr>
          <p:cNvPr id="9" name="TextBox 8"/>
          <p:cNvSpPr txBox="1"/>
          <p:nvPr/>
        </p:nvSpPr>
        <p:spPr>
          <a:xfrm>
            <a:off x="6333591" y="4962905"/>
            <a:ext cx="5111496" cy="1383030"/>
          </a:xfrm>
          <a:prstGeom prst="rect">
            <a:avLst/>
          </a:prstGeom>
          <a:noFill/>
        </p:spPr>
        <p:txBody>
          <a:bodyPr wrap="square" anchor="t" lIns="0" rIns="0" tIns="0" bIns="0">
            <a:spAutoFit/>
          </a:bodyPr>
          <a:lstStyle/>
          <a:p>
            <a:pPr>
              <a:spcBef>
                <a:spcPts val="0"/>
              </a:spcBef>
              <a:spcAft>
                <a:spcPts val="160"/>
              </a:spcAft>
            </a:pPr>
            <a:r>
              <a:rPr sz="1019" b="1" i="0">
                <a:solidFill>
                  <a:srgbClr val="B3261E"/>
                </a:solidFill>
                <a:latin typeface="Calibri"/>
              </a:rPr>
              <a:t>•  </a:t>
            </a:r>
            <a:r>
              <a:rPr sz="1019" b="0" i="0">
                <a:solidFill>
                  <a:srgbClr val="16181D"/>
                </a:solidFill>
                <a:latin typeface="Calibri"/>
              </a:rPr>
              <a:t>Exp 7 — a checked exception of your own, raised and…</a:t>
            </a:r>
          </a:p>
          <a:p>
            <a:pPr>
              <a:spcBef>
                <a:spcPts val="0"/>
              </a:spcBef>
              <a:spcAft>
                <a:spcPts val="160"/>
              </a:spcAft>
            </a:pPr>
            <a:r>
              <a:rPr sz="1019" b="1" i="0">
                <a:solidFill>
                  <a:srgbClr val="B3261E"/>
                </a:solidFill>
                <a:latin typeface="Calibri"/>
              </a:rPr>
              <a:t>•  </a:t>
            </a:r>
            <a:r>
              <a:rPr sz="1019" b="0" i="0">
                <a:solidFill>
                  <a:srgbClr val="16181D"/>
                </a:solidFill>
                <a:latin typeface="Calibri"/>
              </a:rPr>
              <a:t>Exp 8 — super(name) constructor, two children, join,…</a:t>
            </a:r>
          </a:p>
          <a:p>
            <a:pPr>
              <a:spcBef>
                <a:spcPts val="0"/>
              </a:spcBef>
              <a:spcAft>
                <a:spcPts val="160"/>
              </a:spcAft>
            </a:pPr>
            <a:r>
              <a:rPr sz="1019" b="1" i="0">
                <a:solidFill>
                  <a:srgbClr val="B3261E"/>
                </a:solidFill>
                <a:latin typeface="Calibri"/>
              </a:rPr>
              <a:t>•  </a:t>
            </a:r>
            <a:r>
              <a:rPr sz="1019" b="0" i="0">
                <a:solidFill>
                  <a:srgbClr val="16181D"/>
                </a:solidFill>
                <a:latin typeface="Calibri"/>
              </a:rPr>
              <a:t>Exp 9 — CSE/ISE/ECE/MECH + full names; string input,…</a:t>
            </a:r>
          </a:p>
          <a:p>
            <a:pPr>
              <a:spcBef>
                <a:spcPts val="0"/>
              </a:spcBef>
              <a:spcAft>
                <a:spcPts val="160"/>
              </a:spcAft>
            </a:pPr>
            <a:r>
              <a:rPr sz="1019" b="1" i="0">
                <a:solidFill>
                  <a:srgbClr val="B3261E"/>
                </a:solidFill>
                <a:latin typeface="Calibri"/>
              </a:rPr>
              <a:t>•  </a:t>
            </a:r>
            <a:r>
              <a:rPr sz="1019" b="0" i="0">
                <a:solidFill>
                  <a:srgbClr val="16181D"/>
                </a:solidFill>
                <a:latin typeface="Calibri"/>
              </a:rPr>
              <a:t>Exp 10 — three subjects; Integer.valueOf, autoboxing…</a:t>
            </a:r>
          </a:p>
          <a:p>
            <a:pPr>
              <a:spcBef>
                <a:spcPts val="0"/>
              </a:spcBef>
              <a:spcAft>
                <a:spcPts val="160"/>
              </a:spcAft>
            </a:pPr>
            <a:r>
              <a:rPr sz="1019" b="1" i="0">
                <a:solidFill>
                  <a:srgbClr val="B3261E"/>
                </a:solidFill>
                <a:latin typeface="Calibri"/>
              </a:rPr>
              <a:t>•  </a:t>
            </a:r>
            <a:r>
              <a:rPr sz="1019" b="0" i="0">
                <a:solidFill>
                  <a:srgbClr val="16181D"/>
                </a:solidFill>
                <a:latin typeface="Calibri"/>
              </a:rPr>
              <a:t>Exp 11 — console app for a 2–3 student batch: add /…</a:t>
            </a:r>
          </a:p>
        </p:txBody>
      </p:sp>
      <p:sp>
        <p:nvSpPr>
          <p:cNvPr id="10" name="TextBox 9"/>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400"/>
              </a:spcAft>
            </a:pPr>
            <a:r>
              <a:rPr sz="1000" b="1" i="0">
                <a:solidFill>
                  <a:srgbClr val="4B5563"/>
                </a:solidFill>
                <a:latin typeface="Calibr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 — Matrix addition with branching and looping</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30</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100" b="0" i="0">
                <a:solidFill>
                  <a:srgbClr val="16181D"/>
                </a:solidFill>
                <a:latin typeface="Calibri"/>
              </a:rPr>
              <a:t>1. Develop a Java program to add TWO matrices of suitable order N.</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src/e01_matrix/</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773" b="0" i="0">
                <a:solidFill>
                  <a:srgbClr val="E5E7EB"/>
                </a:solidFill>
                <a:latin typeface="Consolas"/>
              </a:rPr>
              <a:t>// ——— src/e01_matrix/Main.java ———</a:t>
            </a:r>
          </a:p>
          <a:p>
            <a:pPr>
              <a:lnSpc>
                <a:spcPct val="100000"/>
              </a:lnSpc>
              <a:spcBef>
                <a:spcPts val="0"/>
              </a:spcBef>
              <a:spcAft>
                <a:spcPts val="60"/>
              </a:spcAft>
            </a:pPr>
            <a:r>
              <a:rPr sz="773" b="0" i="0">
                <a:solidFill>
                  <a:srgbClr val="E5E7EB"/>
                </a:solidFill>
                <a:latin typeface="Consolas"/>
              </a:rPr>
              <a:t>import java.util.Scanner;</a:t>
            </a:r>
          </a:p>
          <a:p>
            <a:pPr>
              <a:lnSpc>
                <a:spcPct val="100000"/>
              </a:lnSpc>
              <a:spcBef>
                <a:spcPts val="0"/>
              </a:spcBef>
              <a:spcAft>
                <a:spcPts val="60"/>
              </a:spcAft>
            </a:pPr>
            <a:r>
              <a:rPr sz="773" b="0" i="0">
                <a:solidFill>
                  <a:srgbClr val="E5E7EB"/>
                </a:solidFill>
                <a:latin typeface="Consolas"/>
              </a:rPr>
              <a:t>/* Experiment 1 -- branching and looping: read two N x N matrices from the</a:t>
            </a:r>
          </a:p>
          <a:p>
            <a:pPr>
              <a:lnSpc>
                <a:spcPct val="100000"/>
              </a:lnSpc>
              <a:spcBef>
                <a:spcPts val="0"/>
              </a:spcBef>
              <a:spcAft>
                <a:spcPts val="60"/>
              </a:spcAft>
            </a:pPr>
            <a:r>
              <a:rPr sz="773" b="0" i="0">
                <a:solidFill>
                  <a:srgbClr val="E5E7EB"/>
                </a:solidFill>
                <a:latin typeface="Consolas"/>
              </a:rPr>
              <a:t>   user (N &lt;= 10) and display their sum.  A while loop with an if guard</a:t>
            </a:r>
          </a:p>
          <a:p>
            <a:pPr>
              <a:lnSpc>
                <a:spcPct val="100000"/>
              </a:lnSpc>
              <a:spcBef>
                <a:spcPts val="0"/>
              </a:spcBef>
              <a:spcAft>
                <a:spcPts val="60"/>
              </a:spcAft>
            </a:pPr>
            <a:r>
              <a:rPr sz="773" b="0" i="0">
                <a:solidFill>
                  <a:srgbClr val="E5E7EB"/>
                </a:solidFill>
                <a:latin typeface="Consolas"/>
              </a:rPr>
              <a:t>   rejects out-of-range sizes; nested for loops read, add and print. */</a:t>
            </a:r>
          </a:p>
          <a:p>
            <a:pPr>
              <a:lnSpc>
                <a:spcPct val="100000"/>
              </a:lnSpc>
              <a:spcBef>
                <a:spcPts val="0"/>
              </a:spcBef>
              <a:spcAft>
                <a:spcPts val="60"/>
              </a:spcAft>
            </a:pPr>
            <a:r>
              <a:rPr sz="773" b="0" i="0">
                <a:solidFill>
                  <a:srgbClr val="E5E7EB"/>
                </a:solidFill>
                <a:latin typeface="Consolas"/>
              </a:rPr>
              <a:t>public class Main {</a:t>
            </a:r>
          </a:p>
          <a:p>
            <a:pPr>
              <a:lnSpc>
                <a:spcPct val="100000"/>
              </a:lnSpc>
              <a:spcBef>
                <a:spcPts val="0"/>
              </a:spcBef>
              <a:spcAft>
                <a:spcPts val="60"/>
              </a:spcAft>
            </a:pPr>
            <a:r>
              <a:rPr sz="773" b="0" i="0">
                <a:solidFill>
                  <a:srgbClr val="E5E7EB"/>
                </a:solidFill>
                <a:latin typeface="Consolas"/>
              </a:rPr>
              <a:t>    public static void main(String[] args) {</a:t>
            </a:r>
          </a:p>
          <a:p>
            <a:pPr>
              <a:lnSpc>
                <a:spcPct val="100000"/>
              </a:lnSpc>
              <a:spcBef>
                <a:spcPts val="0"/>
              </a:spcBef>
              <a:spcAft>
                <a:spcPts val="60"/>
              </a:spcAft>
            </a:pPr>
            <a:r>
              <a:rPr sz="773" b="0" i="0">
                <a:solidFill>
                  <a:srgbClr val="E5E7EB"/>
                </a:solidFill>
                <a:latin typeface="Consolas"/>
              </a:rPr>
              <a:t>        Scanner sc = new Scanner(System.in);</a:t>
            </a:r>
          </a:p>
          <a:p>
            <a:pPr>
              <a:lnSpc>
                <a:spcPct val="100000"/>
              </a:lnSpc>
              <a:spcBef>
                <a:spcPts val="0"/>
              </a:spcBef>
              <a:spcAft>
                <a:spcPts val="60"/>
              </a:spcAft>
            </a:pPr>
            <a:r>
              <a:rPr sz="773" b="0" i="0">
                <a:solidFill>
                  <a:srgbClr val="E5E7EB"/>
                </a:solidFill>
                <a:latin typeface="Consolas"/>
              </a:rPr>
              <a:t>        int n;</a:t>
            </a:r>
          </a:p>
          <a:p>
            <a:pPr>
              <a:lnSpc>
                <a:spcPct val="100000"/>
              </a:lnSpc>
              <a:spcBef>
                <a:spcPts val="0"/>
              </a:spcBef>
              <a:spcAft>
                <a:spcPts val="60"/>
              </a:spcAft>
            </a:pPr>
            <a:r>
              <a:rPr sz="773" b="0" i="0">
                <a:solidFill>
                  <a:srgbClr val="E5E7EB"/>
                </a:solidFill>
                <a:latin typeface="Consolas"/>
              </a:rPr>
              <a:t>        while (true) {</a:t>
            </a:r>
          </a:p>
          <a:p>
            <a:pPr>
              <a:lnSpc>
                <a:spcPct val="100000"/>
              </a:lnSpc>
              <a:spcBef>
                <a:spcPts val="0"/>
              </a:spcBef>
              <a:spcAft>
                <a:spcPts val="60"/>
              </a:spcAft>
            </a:pPr>
            <a:r>
              <a:rPr sz="773" b="0" i="0">
                <a:solidFill>
                  <a:srgbClr val="E5E7EB"/>
                </a:solidFill>
                <a:latin typeface="Consolas"/>
              </a:rPr>
              <a:t>            System.out.printf("Enter order of the square matrix (&lt;= 10): ");</a:t>
            </a:r>
          </a:p>
          <a:p>
            <a:pPr>
              <a:lnSpc>
                <a:spcPct val="100000"/>
              </a:lnSpc>
              <a:spcBef>
                <a:spcPts val="0"/>
              </a:spcBef>
              <a:spcAft>
                <a:spcPts val="60"/>
              </a:spcAft>
            </a:pPr>
            <a:r>
              <a:rPr sz="773" b="0" i="0">
                <a:solidFill>
                  <a:srgbClr val="E5E7EB"/>
                </a:solidFill>
                <a:latin typeface="Consolas"/>
              </a:rPr>
              <a:t>            n = sc.nextInt();</a:t>
            </a:r>
          </a:p>
          <a:p>
            <a:pPr>
              <a:lnSpc>
                <a:spcPct val="100000"/>
              </a:lnSpc>
              <a:spcBef>
                <a:spcPts val="0"/>
              </a:spcBef>
              <a:spcAft>
                <a:spcPts val="60"/>
              </a:spcAft>
            </a:pPr>
            <a:r>
              <a:rPr sz="773" b="0" i="0">
                <a:solidFill>
                  <a:srgbClr val="E5E7EB"/>
                </a:solidFill>
                <a:latin typeface="Consolas"/>
              </a:rPr>
              <a:t>            if (n &gt;= 1 &amp;&amp; n &lt;= 10) break;</a:t>
            </a:r>
          </a:p>
          <a:p>
            <a:pPr>
              <a:lnSpc>
                <a:spcPct val="100000"/>
              </a:lnSpc>
              <a:spcBef>
                <a:spcPts val="0"/>
              </a:spcBef>
              <a:spcAft>
                <a:spcPts val="60"/>
              </a:spcAft>
            </a:pPr>
            <a:r>
              <a:rPr sz="773" b="0" i="0">
                <a:solidFill>
                  <a:srgbClr val="E5E7EB"/>
                </a:solidFill>
                <a:latin typeface="Consolas"/>
              </a:rPr>
              <a:t>            System.out.println("N must be between 1 and 10 -- try again.");</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int[][] a = new int[n][n];</a:t>
            </a:r>
          </a:p>
          <a:p>
            <a:pPr>
              <a:lnSpc>
                <a:spcPct val="100000"/>
              </a:lnSpc>
              <a:spcBef>
                <a:spcPts val="0"/>
              </a:spcBef>
              <a:spcAft>
                <a:spcPts val="60"/>
              </a:spcAft>
            </a:pPr>
            <a:r>
              <a:rPr sz="773" b="0" i="0">
                <a:solidFill>
                  <a:srgbClr val="E5E7EB"/>
                </a:solidFill>
                <a:latin typeface="Consolas"/>
              </a:rPr>
              <a:t>        int[][] b = new int[n][n];</a:t>
            </a:r>
          </a:p>
          <a:p>
            <a:pPr>
              <a:lnSpc>
                <a:spcPct val="100000"/>
              </a:lnSpc>
              <a:spcBef>
                <a:spcPts val="0"/>
              </a:spcBef>
              <a:spcAft>
                <a:spcPts val="60"/>
              </a:spcAft>
            </a:pPr>
            <a:r>
              <a:rPr sz="773" b="0" i="0">
                <a:solidFill>
                  <a:srgbClr val="E5E7EB"/>
                </a:solidFill>
                <a:latin typeface="Consolas"/>
              </a:rPr>
              <a:t>        read(sc, a, n, "first");</a:t>
            </a:r>
          </a:p>
          <a:p>
            <a:pPr>
              <a:lnSpc>
                <a:spcPct val="100000"/>
              </a:lnSpc>
              <a:spcBef>
                <a:spcPts val="0"/>
              </a:spcBef>
              <a:spcAft>
                <a:spcPts val="60"/>
              </a:spcAft>
            </a:pPr>
            <a:r>
              <a:rPr sz="773" b="0" i="0">
                <a:solidFill>
                  <a:srgbClr val="E5E7EB"/>
                </a:solidFill>
                <a:latin typeface="Consolas"/>
              </a:rPr>
              <a:t>        read(sc, b, n, "second");</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int[][] s = new int[n][n];</a:t>
            </a:r>
          </a:p>
          <a:p>
            <a:pPr>
              <a:lnSpc>
                <a:spcPct val="100000"/>
              </a:lnSpc>
              <a:spcBef>
                <a:spcPts val="0"/>
              </a:spcBef>
              <a:spcAft>
                <a:spcPts val="60"/>
              </a:spcAft>
            </a:pPr>
            <a:r>
              <a:rPr sz="773" b="0" i="0">
                <a:solidFill>
                  <a:srgbClr val="E5E7EB"/>
                </a:solidFill>
                <a:latin typeface="Consolas"/>
              </a:rPr>
              <a:t>        for (int i = 0; i &lt; n; i++)</a:t>
            </a:r>
          </a:p>
          <a:p>
            <a:pPr>
              <a:lnSpc>
                <a:spcPct val="100000"/>
              </a:lnSpc>
              <a:spcBef>
                <a:spcPts val="0"/>
              </a:spcBef>
              <a:spcAft>
                <a:spcPts val="60"/>
              </a:spcAft>
            </a:pPr>
            <a:r>
              <a:rPr sz="773" b="0" i="0">
                <a:solidFill>
                  <a:srgbClr val="E5E7EB"/>
                </a:solidFill>
                <a:latin typeface="Consolas"/>
              </a:rPr>
              <a:t>            for (int j = 0; j &lt; n; j++)</a:t>
            </a:r>
          </a:p>
          <a:p>
            <a:pPr>
              <a:lnSpc>
                <a:spcPct val="100000"/>
              </a:lnSpc>
              <a:spcBef>
                <a:spcPts val="0"/>
              </a:spcBef>
              <a:spcAft>
                <a:spcPts val="60"/>
              </a:spcAft>
            </a:pPr>
            <a:r>
              <a:rPr sz="773" b="0" i="0">
                <a:solidFill>
                  <a:srgbClr val="E5E7EB"/>
                </a:solidFill>
                <a:latin typeface="Consolas"/>
              </a:rPr>
              <a:t>                s[i][j] = a[i][j] + b[i][j];</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out/e01_matrix.txt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874" b="0" i="0">
                <a:solidFill>
                  <a:srgbClr val="14171C"/>
                </a:solidFill>
                <a:latin typeface="Consolas"/>
              </a:rPr>
              <a:t>$ javac -d bin/e01_matrix src/e01_matrix/Main.java</a:t>
            </a:r>
          </a:p>
          <a:p>
            <a:pPr>
              <a:lnSpc>
                <a:spcPct val="100000"/>
              </a:lnSpc>
              <a:spcBef>
                <a:spcPts val="0"/>
              </a:spcBef>
              <a:spcAft>
                <a:spcPts val="60"/>
              </a:spcAft>
            </a:pPr>
            <a:r>
              <a:rPr sz="874" b="0" i="0">
                <a:solidFill>
                  <a:srgbClr val="14171C"/>
                </a:solidFill>
                <a:latin typeface="Consolas"/>
              </a:rPr>
              <a:t>$ java -cp bin/e01_matrix Main</a:t>
            </a:r>
          </a:p>
          <a:p>
            <a:pPr>
              <a:lnSpc>
                <a:spcPct val="100000"/>
              </a:lnSpc>
              <a:spcBef>
                <a:spcPts val="0"/>
              </a:spcBef>
              <a:spcAft>
                <a:spcPts val="60"/>
              </a:spcAft>
            </a:pPr>
            <a:r>
              <a:rPr sz="874" b="0" i="0">
                <a:solidFill>
                  <a:srgbClr val="14171C"/>
                </a:solidFill>
                <a:latin typeface="Consolas"/>
              </a:rPr>
              <a:t>Enter order of the square matrix (&lt;= 10): 3</a:t>
            </a:r>
          </a:p>
          <a:p>
            <a:pPr>
              <a:lnSpc>
                <a:spcPct val="100000"/>
              </a:lnSpc>
              <a:spcBef>
                <a:spcPts val="0"/>
              </a:spcBef>
              <a:spcAft>
                <a:spcPts val="60"/>
              </a:spcAft>
            </a:pPr>
            <a:r>
              <a:rPr sz="874" b="0" i="0">
                <a:solidFill>
                  <a:srgbClr val="14171C"/>
                </a:solidFill>
                <a:latin typeface="Consolas"/>
              </a:rPr>
              <a:t>Enter elements of the first matrix (9 integers, one per line):</a:t>
            </a:r>
          </a:p>
          <a:p>
            <a:pPr>
              <a:lnSpc>
                <a:spcPct val="100000"/>
              </a:lnSpc>
              <a:spcBef>
                <a:spcPts val="0"/>
              </a:spcBef>
              <a:spcAft>
                <a:spcPts val="60"/>
              </a:spcAft>
            </a:pPr>
            <a:r>
              <a:rPr sz="874" b="0" i="0">
                <a:solidFill>
                  <a:srgbClr val="14171C"/>
                </a:solidFill>
                <a:latin typeface="Consolas"/>
              </a:rPr>
              <a:t>1</a:t>
            </a:r>
          </a:p>
          <a:p>
            <a:pPr>
              <a:lnSpc>
                <a:spcPct val="100000"/>
              </a:lnSpc>
              <a:spcBef>
                <a:spcPts val="0"/>
              </a:spcBef>
              <a:spcAft>
                <a:spcPts val="60"/>
              </a:spcAft>
            </a:pPr>
            <a:r>
              <a:rPr sz="874" b="0" i="0">
                <a:solidFill>
                  <a:srgbClr val="14171C"/>
                </a:solidFill>
                <a:latin typeface="Consolas"/>
              </a:rPr>
              <a:t>2</a:t>
            </a:r>
          </a:p>
          <a:p>
            <a:pPr>
              <a:lnSpc>
                <a:spcPct val="100000"/>
              </a:lnSpc>
              <a:spcBef>
                <a:spcPts val="0"/>
              </a:spcBef>
              <a:spcAft>
                <a:spcPts val="60"/>
              </a:spcAft>
            </a:pPr>
            <a:r>
              <a:rPr sz="874" b="0" i="0">
                <a:solidFill>
                  <a:srgbClr val="14171C"/>
                </a:solidFill>
                <a:latin typeface="Consolas"/>
              </a:rPr>
              <a:t>3</a:t>
            </a:r>
          </a:p>
          <a:p>
            <a:pPr>
              <a:lnSpc>
                <a:spcPct val="100000"/>
              </a:lnSpc>
              <a:spcBef>
                <a:spcPts val="0"/>
              </a:spcBef>
              <a:spcAft>
                <a:spcPts val="60"/>
              </a:spcAft>
            </a:pPr>
            <a:r>
              <a:rPr sz="874" b="0" i="0">
                <a:solidFill>
                  <a:srgbClr val="14171C"/>
                </a:solidFill>
                <a:latin typeface="Consolas"/>
              </a:rPr>
              <a:t>4</a:t>
            </a:r>
          </a:p>
          <a:p>
            <a:pPr>
              <a:lnSpc>
                <a:spcPct val="100000"/>
              </a:lnSpc>
              <a:spcBef>
                <a:spcPts val="0"/>
              </a:spcBef>
              <a:spcAft>
                <a:spcPts val="60"/>
              </a:spcAft>
            </a:pPr>
            <a:r>
              <a:rPr sz="874" b="0" i="0">
                <a:solidFill>
                  <a:srgbClr val="14171C"/>
                </a:solidFill>
                <a:latin typeface="Consolas"/>
              </a:rPr>
              <a:t>5</a:t>
            </a:r>
          </a:p>
          <a:p>
            <a:pPr>
              <a:lnSpc>
                <a:spcPct val="100000"/>
              </a:lnSpc>
              <a:spcBef>
                <a:spcPts val="0"/>
              </a:spcBef>
              <a:spcAft>
                <a:spcPts val="60"/>
              </a:spcAft>
            </a:pPr>
            <a:r>
              <a:rPr sz="874" b="0" i="0">
                <a:solidFill>
                  <a:srgbClr val="14171C"/>
                </a:solidFill>
                <a:latin typeface="Consolas"/>
              </a:rPr>
              <a:t>6</a:t>
            </a:r>
          </a:p>
          <a:p>
            <a:pPr>
              <a:lnSpc>
                <a:spcPct val="100000"/>
              </a:lnSpc>
              <a:spcBef>
                <a:spcPts val="0"/>
              </a:spcBef>
              <a:spcAft>
                <a:spcPts val="60"/>
              </a:spcAft>
            </a:pPr>
            <a:r>
              <a:rPr sz="874" b="0" i="0">
                <a:solidFill>
                  <a:srgbClr val="14171C"/>
                </a:solidFill>
                <a:latin typeface="Consolas"/>
              </a:rPr>
              <a:t>7</a:t>
            </a:r>
          </a:p>
          <a:p>
            <a:pPr>
              <a:lnSpc>
                <a:spcPct val="100000"/>
              </a:lnSpc>
              <a:spcBef>
                <a:spcPts val="0"/>
              </a:spcBef>
              <a:spcAft>
                <a:spcPts val="60"/>
              </a:spcAft>
            </a:pPr>
            <a:r>
              <a:rPr sz="874" b="0" i="0">
                <a:solidFill>
                  <a:srgbClr val="14171C"/>
                </a:solidFill>
                <a:latin typeface="Consolas"/>
              </a:rPr>
              <a:t>8</a:t>
            </a:r>
          </a:p>
          <a:p>
            <a:pPr>
              <a:lnSpc>
                <a:spcPct val="100000"/>
              </a:lnSpc>
              <a:spcBef>
                <a:spcPts val="0"/>
              </a:spcBef>
              <a:spcAft>
                <a:spcPts val="60"/>
              </a:spcAft>
            </a:pPr>
            <a:r>
              <a:rPr sz="874" b="0" i="0">
                <a:solidFill>
                  <a:srgbClr val="14171C"/>
                </a:solidFill>
                <a:latin typeface="Consolas"/>
              </a:rPr>
              <a:t>9</a:t>
            </a:r>
          </a:p>
          <a:p>
            <a:pPr>
              <a:lnSpc>
                <a:spcPct val="100000"/>
              </a:lnSpc>
              <a:spcBef>
                <a:spcPts val="0"/>
              </a:spcBef>
              <a:spcAft>
                <a:spcPts val="60"/>
              </a:spcAft>
            </a:pPr>
            <a:r>
              <a:rPr sz="874" b="0" i="0">
                <a:solidFill>
                  <a:srgbClr val="14171C"/>
                </a:solidFill>
                <a:latin typeface="Consolas"/>
              </a:rPr>
              <a:t>Enter elements of the second matrix (9 integers, one per line):</a:t>
            </a:r>
          </a:p>
          <a:p>
            <a:pPr>
              <a:lnSpc>
                <a:spcPct val="100000"/>
              </a:lnSpc>
              <a:spcBef>
                <a:spcPts val="0"/>
              </a:spcBef>
              <a:spcAft>
                <a:spcPts val="60"/>
              </a:spcAft>
            </a:pPr>
            <a:r>
              <a:rPr sz="874" b="0" i="0">
                <a:solidFill>
                  <a:srgbClr val="14171C"/>
                </a:solidFill>
                <a:latin typeface="Consolas"/>
              </a:rPr>
              <a:t>10</a:t>
            </a:r>
          </a:p>
          <a:p>
            <a:pPr>
              <a:lnSpc>
                <a:spcPct val="100000"/>
              </a:lnSpc>
              <a:spcBef>
                <a:spcPts val="0"/>
              </a:spcBef>
              <a:spcAft>
                <a:spcPts val="60"/>
              </a:spcAft>
            </a:pPr>
            <a:r>
              <a:rPr sz="874" b="0" i="0">
                <a:solidFill>
                  <a:srgbClr val="14171C"/>
                </a:solidFill>
                <a:latin typeface="Consolas"/>
              </a:rPr>
              <a:t>11</a:t>
            </a:r>
          </a:p>
          <a:p>
            <a:pPr>
              <a:lnSpc>
                <a:spcPct val="100000"/>
              </a:lnSpc>
              <a:spcBef>
                <a:spcPts val="0"/>
              </a:spcBef>
              <a:spcAft>
                <a:spcPts val="60"/>
              </a:spcAft>
            </a:pPr>
            <a:r>
              <a:rPr sz="874" b="0" i="0">
                <a:solidFill>
                  <a:srgbClr val="14171C"/>
                </a:solidFill>
                <a:latin typeface="Consolas"/>
              </a:rPr>
              <a:t>12</a:t>
            </a:r>
          </a:p>
          <a:p>
            <a:pPr>
              <a:lnSpc>
                <a:spcPct val="100000"/>
              </a:lnSpc>
              <a:spcBef>
                <a:spcPts val="0"/>
              </a:spcBef>
              <a:spcAft>
                <a:spcPts val="60"/>
              </a:spcAft>
            </a:pPr>
            <a:r>
              <a:rPr sz="874" b="0" i="0">
                <a:solidFill>
                  <a:srgbClr val="14171C"/>
                </a:solidFill>
                <a:latin typeface="Consolas"/>
              </a:rPr>
              <a:t>13</a:t>
            </a:r>
          </a:p>
          <a:p>
            <a:pPr>
              <a:lnSpc>
                <a:spcPct val="100000"/>
              </a:lnSpc>
              <a:spcBef>
                <a:spcPts val="0"/>
              </a:spcBef>
              <a:spcAft>
                <a:spcPts val="60"/>
              </a:spcAft>
            </a:pPr>
            <a:r>
              <a:rPr sz="874" b="0" i="0">
                <a:solidFill>
                  <a:srgbClr val="14171C"/>
                </a:solidFill>
                <a:latin typeface="Consolas"/>
              </a:rPr>
              <a:t>14</a:t>
            </a:r>
          </a:p>
          <a:p>
            <a:pPr>
              <a:lnSpc>
                <a:spcPct val="100000"/>
              </a:lnSpc>
              <a:spcBef>
                <a:spcPts val="0"/>
              </a:spcBef>
              <a:spcAft>
                <a:spcPts val="60"/>
              </a:spcAft>
            </a:pPr>
            <a:r>
              <a:rPr sz="874" b="0" i="0">
                <a:solidFill>
                  <a:srgbClr val="14171C"/>
                </a:solidFill>
                <a:latin typeface="Consolas"/>
              </a:rPr>
              <a:t>15</a:t>
            </a:r>
          </a:p>
          <a:p>
            <a:pPr>
              <a:lnSpc>
                <a:spcPct val="100000"/>
              </a:lnSpc>
              <a:spcBef>
                <a:spcPts val="0"/>
              </a:spcBef>
              <a:spcAft>
                <a:spcPts val="60"/>
              </a:spcAft>
            </a:pPr>
            <a:r>
              <a:rPr sz="874" b="0" i="0">
                <a:solidFill>
                  <a:srgbClr val="14171C"/>
                </a:solidFill>
                <a:latin typeface="Consolas"/>
              </a:rPr>
              <a:t>16</a:t>
            </a:r>
          </a:p>
          <a:p>
            <a:pPr>
              <a:lnSpc>
                <a:spcPct val="100000"/>
              </a:lnSpc>
              <a:spcBef>
                <a:spcPts val="0"/>
              </a:spcBef>
              <a:spcAft>
                <a:spcPts val="60"/>
              </a:spcAft>
            </a:pPr>
            <a:r>
              <a:rPr sz="874" b="0" i="0">
                <a:solidFill>
                  <a:srgbClr val="14171C"/>
                </a:solidFill>
                <a:latin typeface="Consolas"/>
              </a:rPr>
              <a:t>17</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31</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Case 1 fed n = 3 and the integers 1…9 then 10…18; the printed sum rows are</a:t>
            </a:r>
            <a:r>
              <a:rPr sz="1200" b="0" i="0">
                <a:solidFill>
                  <a:srgbClr val="16181D"/>
                </a:solidFill>
                <a:latin typeface="Consolas"/>
              </a:rPr>
              <a:t>11 13 15</a:t>
            </a:r>
            <a:r>
              <a:rPr sz="1250" b="0" i="0">
                <a:solidFill>
                  <a:srgbClr val="16181D"/>
                </a:solidFill>
                <a:latin typeface="Calibri"/>
              </a:rPr>
              <a:t>,</a:t>
            </a:r>
            <a:r>
              <a:rPr sz="1200" b="0" i="0">
                <a:solidFill>
                  <a:srgbClr val="16181D"/>
                </a:solidFill>
                <a:latin typeface="Consolas"/>
              </a:rPr>
              <a:t>17 19 21</a:t>
            </a:r>
            <a:r>
              <a:rPr sz="1250" b="0" i="0">
                <a:solidFill>
                  <a:srgbClr val="16181D"/>
                </a:solidFill>
                <a:latin typeface="Calibri"/>
              </a:rPr>
              <a:t>,</a:t>
            </a:r>
            <a:r>
              <a:rPr sz="1200" b="0" i="0">
                <a:solidFill>
                  <a:srgbClr val="16181D"/>
                </a:solidFill>
                <a:latin typeface="Consolas"/>
              </a:rPr>
              <a:t>23 25 27</a:t>
            </a:r>
            <a:r>
              <a:rPr sz="1250" b="0" i="0">
                <a:solidFill>
                  <a:srgbClr val="16181D"/>
                </a:solidFill>
                <a:latin typeface="Calibri"/>
              </a:rPr>
              <a:t>— each entry verified as a[i][j] + b[i][j] (e.g. 25 = 15 + 10).</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Case 2 (n = 2, entries 5,6,7,8 and 1,2,3,4) printed the sum</a:t>
            </a:r>
            <a:r>
              <a:rPr sz="1200" b="0" i="0">
                <a:solidFill>
                  <a:srgbClr val="16181D"/>
                </a:solidFill>
                <a:latin typeface="Consolas"/>
              </a:rPr>
              <a:t>6 8 / 10 12</a:t>
            </a:r>
            <a:r>
              <a:rPr sz="1250" b="0" i="0">
                <a:solidFill>
                  <a:srgbClr val="16181D"/>
                </a:solidFill>
                <a:latin typeface="Calibri"/>
              </a:rPr>
              <a:t>— the program was recompiled not a line, proving the loops are size-agnostic.</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Re-entering an invalid order prints “N must be between 1 and 10 — try again.” and re-prompts; no ArrayIndexOutOfBounds can escape the guard.</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Scanner.nextInt skips whitespace/newlines, so the one-per-line input contract matches how the matrix is typed at the bench.</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is n &gt;= 1 &amp;&amp; n &lt;= 10 a short-circuit expression and does order matter here?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What does printf’s %4d do to the number 7?</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Where would you change the program to support subtraction as well?</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Both operands are side-effect-free comparisons, so &amp;&amp; short-circuits but order changes nothing; on (n &gt;= 1 &amp;&amp; n &lt;= 10) with n = 0 the first test alone decides false.</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 guarded, size-agnostic N×N matrix adder was implemented with branching and looping only,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2 — A 10-slot integer stack as a class, driven by a menu</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32</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100" b="0" i="0">
                <a:solidFill>
                  <a:srgbClr val="16181D"/>
                </a:solidFill>
                <a:latin typeface="Calibri"/>
              </a:rPr>
              <a:t>2. Develop a stack class to hold a maximum of 10 integers with suitable methods. Develop a Java main method to illustrate Stack operations.</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src/e02_stack/</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773" b="0" i="0">
                <a:solidFill>
                  <a:srgbClr val="E5E7EB"/>
                </a:solidFill>
                <a:latin typeface="Consolas"/>
              </a:rPr>
              <a:t>// ——— src/e02_stack/Main.java ———</a:t>
            </a:r>
          </a:p>
          <a:p>
            <a:pPr>
              <a:lnSpc>
                <a:spcPct val="100000"/>
              </a:lnSpc>
              <a:spcBef>
                <a:spcPts val="0"/>
              </a:spcBef>
              <a:spcAft>
                <a:spcPts val="60"/>
              </a:spcAft>
            </a:pPr>
            <a:r>
              <a:rPr sz="773" b="0" i="0">
                <a:solidFill>
                  <a:srgbClr val="E5E7EB"/>
                </a:solidFill>
                <a:latin typeface="Consolas"/>
              </a:rPr>
              <a:t>import java.util.Scanner;</a:t>
            </a:r>
          </a:p>
          <a:p>
            <a:pPr>
              <a:lnSpc>
                <a:spcPct val="100000"/>
              </a:lnSpc>
              <a:spcBef>
                <a:spcPts val="0"/>
              </a:spcBef>
              <a:spcAft>
                <a:spcPts val="60"/>
              </a:spcAft>
            </a:pPr>
            <a:r>
              <a:rPr sz="773" b="0" i="0">
                <a:solidFill>
                  <a:srgbClr val="E5E7EB"/>
                </a:solidFill>
                <a:latin typeface="Consolas"/>
              </a:rPr>
              <a:t>/* Experiment 2 -- a class + array based integer stack limited to 10</a:t>
            </a:r>
          </a:p>
          <a:p>
            <a:pPr>
              <a:lnSpc>
                <a:spcPct val="100000"/>
              </a:lnSpc>
              <a:spcBef>
                <a:spcPts val="0"/>
              </a:spcBef>
              <a:spcAft>
                <a:spcPts val="60"/>
              </a:spcAft>
            </a:pPr>
            <a:r>
              <a:rPr sz="773" b="0" i="0">
                <a:solidFill>
                  <a:srgbClr val="E5E7EB"/>
                </a:solidFill>
                <a:latin typeface="Consolas"/>
              </a:rPr>
              <a:t>   elements with push, pop and display, driven through a menu.</a:t>
            </a:r>
          </a:p>
          <a:p>
            <a:pPr>
              <a:lnSpc>
                <a:spcPct val="100000"/>
              </a:lnSpc>
              <a:spcBef>
                <a:spcPts val="0"/>
              </a:spcBef>
              <a:spcAft>
                <a:spcPts val="60"/>
              </a:spcAft>
            </a:pPr>
            <a:r>
              <a:rPr sz="773" b="0" i="0">
                <a:solidFill>
                  <a:srgbClr val="E5E7EB"/>
                </a:solidFill>
                <a:latin typeface="Consolas"/>
              </a:rPr>
              <a:t>   Class IntStack keeps the state (data[], top); Main only drives. */</a:t>
            </a:r>
          </a:p>
          <a:p>
            <a:pPr>
              <a:lnSpc>
                <a:spcPct val="100000"/>
              </a:lnSpc>
              <a:spcBef>
                <a:spcPts val="0"/>
              </a:spcBef>
              <a:spcAft>
                <a:spcPts val="60"/>
              </a:spcAft>
            </a:pPr>
            <a:r>
              <a:rPr sz="773" b="0" i="0">
                <a:solidFill>
                  <a:srgbClr val="E5E7EB"/>
                </a:solidFill>
                <a:latin typeface="Consolas"/>
              </a:rPr>
              <a:t>class IntStack {</a:t>
            </a:r>
          </a:p>
          <a:p>
            <a:pPr>
              <a:lnSpc>
                <a:spcPct val="100000"/>
              </a:lnSpc>
              <a:spcBef>
                <a:spcPts val="0"/>
              </a:spcBef>
              <a:spcAft>
                <a:spcPts val="60"/>
              </a:spcAft>
            </a:pPr>
            <a:r>
              <a:rPr sz="773" b="0" i="0">
                <a:solidFill>
                  <a:srgbClr val="E5E7EB"/>
                </a:solidFill>
                <a:latin typeface="Consolas"/>
              </a:rPr>
              <a:t>    private final int[] data = new int[10];   // fixed capacity of 10</a:t>
            </a:r>
          </a:p>
          <a:p>
            <a:pPr>
              <a:lnSpc>
                <a:spcPct val="100000"/>
              </a:lnSpc>
              <a:spcBef>
                <a:spcPts val="0"/>
              </a:spcBef>
              <a:spcAft>
                <a:spcPts val="60"/>
              </a:spcAft>
            </a:pPr>
            <a:r>
              <a:rPr sz="773" b="0" i="0">
                <a:solidFill>
                  <a:srgbClr val="E5E7EB"/>
                </a:solidFill>
                <a:latin typeface="Consolas"/>
              </a:rPr>
              <a:t>    private int top = -1;</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boolean push(int v) {</a:t>
            </a:r>
          </a:p>
          <a:p>
            <a:pPr>
              <a:lnSpc>
                <a:spcPct val="100000"/>
              </a:lnSpc>
              <a:spcBef>
                <a:spcPts val="0"/>
              </a:spcBef>
              <a:spcAft>
                <a:spcPts val="60"/>
              </a:spcAft>
            </a:pPr>
            <a:r>
              <a:rPr sz="773" b="0" i="0">
                <a:solidFill>
                  <a:srgbClr val="E5E7EB"/>
                </a:solidFill>
                <a:latin typeface="Consolas"/>
              </a:rPr>
              <a:t>        if (top == data.length - 1) return false;      // full -&gt; overflow</a:t>
            </a:r>
          </a:p>
          <a:p>
            <a:pPr>
              <a:lnSpc>
                <a:spcPct val="100000"/>
              </a:lnSpc>
              <a:spcBef>
                <a:spcPts val="0"/>
              </a:spcBef>
              <a:spcAft>
                <a:spcPts val="60"/>
              </a:spcAft>
            </a:pPr>
            <a:r>
              <a:rPr sz="773" b="0" i="0">
                <a:solidFill>
                  <a:srgbClr val="E5E7EB"/>
                </a:solidFill>
                <a:latin typeface="Consolas"/>
              </a:rPr>
              <a:t>        data[++top] = v;</a:t>
            </a:r>
          </a:p>
          <a:p>
            <a:pPr>
              <a:lnSpc>
                <a:spcPct val="100000"/>
              </a:lnSpc>
              <a:spcBef>
                <a:spcPts val="0"/>
              </a:spcBef>
              <a:spcAft>
                <a:spcPts val="60"/>
              </a:spcAft>
            </a:pPr>
            <a:r>
              <a:rPr sz="773" b="0" i="0">
                <a:solidFill>
                  <a:srgbClr val="E5E7EB"/>
                </a:solidFill>
                <a:latin typeface="Consolas"/>
              </a:rPr>
              <a:t>        return true;</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Integer pop() {</a:t>
            </a:r>
          </a:p>
          <a:p>
            <a:pPr>
              <a:lnSpc>
                <a:spcPct val="100000"/>
              </a:lnSpc>
              <a:spcBef>
                <a:spcPts val="0"/>
              </a:spcBef>
              <a:spcAft>
                <a:spcPts val="60"/>
              </a:spcAft>
            </a:pPr>
            <a:r>
              <a:rPr sz="773" b="0" i="0">
                <a:solidFill>
                  <a:srgbClr val="E5E7EB"/>
                </a:solidFill>
                <a:latin typeface="Consolas"/>
              </a:rPr>
              <a:t>        if (top == -1) return null;                     // empty -&gt; underflow</a:t>
            </a:r>
          </a:p>
          <a:p>
            <a:pPr>
              <a:lnSpc>
                <a:spcPct val="100000"/>
              </a:lnSpc>
              <a:spcBef>
                <a:spcPts val="0"/>
              </a:spcBef>
              <a:spcAft>
                <a:spcPts val="60"/>
              </a:spcAft>
            </a:pPr>
            <a:r>
              <a:rPr sz="773" b="0" i="0">
                <a:solidFill>
                  <a:srgbClr val="E5E7EB"/>
                </a:solidFill>
                <a:latin typeface="Consolas"/>
              </a:rPr>
              <a:t>        return data[top--];                             // result autoboxes</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boolean isEmpty() { return top == -1; }</a:t>
            </a:r>
          </a:p>
          <a:p>
            <a:pPr>
              <a:lnSpc>
                <a:spcPct val="100000"/>
              </a:lnSpc>
              <a:spcBef>
                <a:spcPts val="0"/>
              </a:spcBef>
              <a:spcAft>
                <a:spcPts val="60"/>
              </a:spcAft>
            </a:pPr>
            <a:r>
              <a:rPr sz="773" b="0" i="0">
                <a:solidFill>
                  <a:srgbClr val="E5E7EB"/>
                </a:solidFill>
                <a:latin typeface="Consolas"/>
              </a:rPr>
              <a:t>    int size() { return top + 1; }</a:t>
            </a:r>
          </a:p>
          <a:p>
            <a:pPr>
              <a:lnSpc>
                <a:spcPct val="100000"/>
              </a:lnSpc>
              <a:spcBef>
                <a:spcPts val="0"/>
              </a:spcBef>
              <a:spcAft>
                <a:spcPts val="60"/>
              </a:spcAft>
            </a:pPr>
            <a:r>
              <a:rPr sz="773" b="0" i="0">
                <a:solidFill>
                  <a:srgbClr val="E5E7EB"/>
                </a:solidFill>
                <a:latin typeface="Consolas"/>
              </a:rPr>
              <a:t>    String dump() {                                     // top first</a:t>
            </a:r>
          </a:p>
          <a:p>
            <a:pPr>
              <a:lnSpc>
                <a:spcPct val="100000"/>
              </a:lnSpc>
              <a:spcBef>
                <a:spcPts val="0"/>
              </a:spcBef>
              <a:spcAft>
                <a:spcPts val="60"/>
              </a:spcAft>
            </a:pPr>
            <a:r>
              <a:rPr sz="773" b="0" i="0">
                <a:solidFill>
                  <a:srgbClr val="E5E7EB"/>
                </a:solidFill>
                <a:latin typeface="Consolas"/>
              </a:rPr>
              <a:t>        if (isEmpty()) return "(empty)";</a:t>
            </a:r>
          </a:p>
          <a:p>
            <a:pPr>
              <a:lnSpc>
                <a:spcPct val="100000"/>
              </a:lnSpc>
              <a:spcBef>
                <a:spcPts val="0"/>
              </a:spcBef>
              <a:spcAft>
                <a:spcPts val="60"/>
              </a:spcAft>
            </a:pPr>
            <a:r>
              <a:rPr sz="773" b="0" i="0">
                <a:solidFill>
                  <a:srgbClr val="E5E7EB"/>
                </a:solidFill>
                <a:latin typeface="Consolas"/>
              </a:rPr>
              <a:t>        StringBuilder sb = new StringBuilder();</a:t>
            </a:r>
          </a:p>
          <a:p>
            <a:pPr>
              <a:lnSpc>
                <a:spcPct val="100000"/>
              </a:lnSpc>
              <a:spcBef>
                <a:spcPts val="0"/>
              </a:spcBef>
              <a:spcAft>
                <a:spcPts val="60"/>
              </a:spcAft>
            </a:pPr>
            <a:r>
              <a:rPr sz="773" b="0" i="0">
                <a:solidFill>
                  <a:srgbClr val="E5E7EB"/>
                </a:solidFill>
                <a:latin typeface="Consolas"/>
              </a:rPr>
              <a:t>        for (int i = top; i &gt;= 0; i--)</a:t>
            </a:r>
          </a:p>
          <a:p>
            <a:pPr>
              <a:lnSpc>
                <a:spcPct val="100000"/>
              </a:lnSpc>
              <a:spcBef>
                <a:spcPts val="0"/>
              </a:spcBef>
              <a:spcAft>
                <a:spcPts val="60"/>
              </a:spcAft>
            </a:pPr>
            <a:r>
              <a:rPr sz="773" b="0" i="0">
                <a:solidFill>
                  <a:srgbClr val="E5E7EB"/>
                </a:solidFill>
                <a:latin typeface="Consolas"/>
              </a:rPr>
              <a:t>            sb.append(data[i]).append(i &gt; 0 ? " " : "");</a:t>
            </a:r>
          </a:p>
          <a:p>
            <a:pPr>
              <a:lnSpc>
                <a:spcPct val="100000"/>
              </a:lnSpc>
              <a:spcBef>
                <a:spcPts val="0"/>
              </a:spcBef>
              <a:spcAft>
                <a:spcPts val="60"/>
              </a:spcAft>
            </a:pPr>
            <a:r>
              <a:rPr sz="773"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out/e02_stack.txt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874" b="0" i="0">
                <a:solidFill>
                  <a:srgbClr val="14171C"/>
                </a:solidFill>
                <a:latin typeface="Consolas"/>
              </a:rPr>
              <a:t>$ javac -d bin/e02_stack src/e02_stack/Main.java</a:t>
            </a:r>
          </a:p>
          <a:p>
            <a:pPr>
              <a:lnSpc>
                <a:spcPct val="100000"/>
              </a:lnSpc>
              <a:spcBef>
                <a:spcPts val="0"/>
              </a:spcBef>
              <a:spcAft>
                <a:spcPts val="60"/>
              </a:spcAft>
            </a:pPr>
            <a:r>
              <a:rPr sz="874" b="0" i="0">
                <a:solidFill>
                  <a:srgbClr val="14171C"/>
                </a:solidFill>
                <a:latin typeface="Consolas"/>
              </a:rPr>
              <a:t>$ java -cp bin/e02_stack Main</a:t>
            </a:r>
          </a:p>
          <a:p>
            <a:pPr>
              <a:lnSpc>
                <a:spcPct val="100000"/>
              </a:lnSpc>
              <a:spcBef>
                <a:spcPts val="0"/>
              </a:spcBef>
              <a:spcAft>
                <a:spcPts val="60"/>
              </a:spcAft>
            </a:pPr>
            <a:r>
              <a:rPr sz="874" b="0" i="0">
                <a:solidFill>
                  <a:srgbClr val="14171C"/>
                </a:solidFill>
                <a:latin typeface="Consolas"/>
              </a:rPr>
              <a:t> </a:t>
            </a:r>
          </a:p>
          <a:p>
            <a:pPr>
              <a:lnSpc>
                <a:spcPct val="100000"/>
              </a:lnSpc>
              <a:spcBef>
                <a:spcPts val="0"/>
              </a:spcBef>
              <a:spcAft>
                <a:spcPts val="60"/>
              </a:spcAft>
            </a:pPr>
            <a:r>
              <a:rPr sz="874" b="0" i="0">
                <a:solidFill>
                  <a:srgbClr val="14171C"/>
                </a:solidFill>
                <a:latin typeface="Consolas"/>
              </a:rPr>
              <a:t>1.Push  2.Pop  3.Display  4.Exit</a:t>
            </a:r>
          </a:p>
          <a:p>
            <a:pPr>
              <a:lnSpc>
                <a:spcPct val="100000"/>
              </a:lnSpc>
              <a:spcBef>
                <a:spcPts val="0"/>
              </a:spcBef>
              <a:spcAft>
                <a:spcPts val="60"/>
              </a:spcAft>
            </a:pPr>
            <a:r>
              <a:rPr sz="874" b="0" i="0">
                <a:solidFill>
                  <a:srgbClr val="14171C"/>
                </a:solidFill>
                <a:latin typeface="Consolas"/>
              </a:rPr>
              <a:t>Enter your choice: 1</a:t>
            </a:r>
          </a:p>
          <a:p>
            <a:pPr>
              <a:lnSpc>
                <a:spcPct val="100000"/>
              </a:lnSpc>
              <a:spcBef>
                <a:spcPts val="0"/>
              </a:spcBef>
              <a:spcAft>
                <a:spcPts val="60"/>
              </a:spcAft>
            </a:pPr>
            <a:r>
              <a:rPr sz="874" b="0" i="0">
                <a:solidFill>
                  <a:srgbClr val="14171C"/>
                </a:solidFill>
                <a:latin typeface="Consolas"/>
              </a:rPr>
              <a:t>Element to push: 10</a:t>
            </a:r>
          </a:p>
          <a:p>
            <a:pPr>
              <a:lnSpc>
                <a:spcPct val="100000"/>
              </a:lnSpc>
              <a:spcBef>
                <a:spcPts val="0"/>
              </a:spcBef>
              <a:spcAft>
                <a:spcPts val="60"/>
              </a:spcAft>
            </a:pPr>
            <a:r>
              <a:rPr sz="874" b="0" i="0">
                <a:solidFill>
                  <a:srgbClr val="14171C"/>
                </a:solidFill>
                <a:latin typeface="Consolas"/>
              </a:rPr>
              <a:t>10 pushed</a:t>
            </a:r>
          </a:p>
          <a:p>
            <a:pPr>
              <a:lnSpc>
                <a:spcPct val="100000"/>
              </a:lnSpc>
              <a:spcBef>
                <a:spcPts val="0"/>
              </a:spcBef>
              <a:spcAft>
                <a:spcPts val="60"/>
              </a:spcAft>
            </a:pPr>
            <a:r>
              <a:rPr sz="874" b="0" i="0">
                <a:solidFill>
                  <a:srgbClr val="14171C"/>
                </a:solidFill>
                <a:latin typeface="Consolas"/>
              </a:rPr>
              <a:t> </a:t>
            </a:r>
          </a:p>
          <a:p>
            <a:pPr>
              <a:lnSpc>
                <a:spcPct val="100000"/>
              </a:lnSpc>
              <a:spcBef>
                <a:spcPts val="0"/>
              </a:spcBef>
              <a:spcAft>
                <a:spcPts val="60"/>
              </a:spcAft>
            </a:pPr>
            <a:r>
              <a:rPr sz="874" b="0" i="0">
                <a:solidFill>
                  <a:srgbClr val="14171C"/>
                </a:solidFill>
                <a:latin typeface="Consolas"/>
              </a:rPr>
              <a:t>1.Push  2.Pop  3.Display  4.Exit</a:t>
            </a:r>
          </a:p>
          <a:p>
            <a:pPr>
              <a:lnSpc>
                <a:spcPct val="100000"/>
              </a:lnSpc>
              <a:spcBef>
                <a:spcPts val="0"/>
              </a:spcBef>
              <a:spcAft>
                <a:spcPts val="60"/>
              </a:spcAft>
            </a:pPr>
            <a:r>
              <a:rPr sz="874" b="0" i="0">
                <a:solidFill>
                  <a:srgbClr val="14171C"/>
                </a:solidFill>
                <a:latin typeface="Consolas"/>
              </a:rPr>
              <a:t>Enter your choice: 1</a:t>
            </a:r>
          </a:p>
          <a:p>
            <a:pPr>
              <a:lnSpc>
                <a:spcPct val="100000"/>
              </a:lnSpc>
              <a:spcBef>
                <a:spcPts val="0"/>
              </a:spcBef>
              <a:spcAft>
                <a:spcPts val="60"/>
              </a:spcAft>
            </a:pPr>
            <a:r>
              <a:rPr sz="874" b="0" i="0">
                <a:solidFill>
                  <a:srgbClr val="14171C"/>
                </a:solidFill>
                <a:latin typeface="Consolas"/>
              </a:rPr>
              <a:t>Element to push: 20</a:t>
            </a:r>
          </a:p>
          <a:p>
            <a:pPr>
              <a:lnSpc>
                <a:spcPct val="100000"/>
              </a:lnSpc>
              <a:spcBef>
                <a:spcPts val="0"/>
              </a:spcBef>
              <a:spcAft>
                <a:spcPts val="60"/>
              </a:spcAft>
            </a:pPr>
            <a:r>
              <a:rPr sz="874" b="0" i="0">
                <a:solidFill>
                  <a:srgbClr val="14171C"/>
                </a:solidFill>
                <a:latin typeface="Consolas"/>
              </a:rPr>
              <a:t>20 pushed</a:t>
            </a:r>
          </a:p>
          <a:p>
            <a:pPr>
              <a:lnSpc>
                <a:spcPct val="100000"/>
              </a:lnSpc>
              <a:spcBef>
                <a:spcPts val="0"/>
              </a:spcBef>
              <a:spcAft>
                <a:spcPts val="60"/>
              </a:spcAft>
            </a:pPr>
            <a:r>
              <a:rPr sz="874" b="0" i="0">
                <a:solidFill>
                  <a:srgbClr val="14171C"/>
                </a:solidFill>
                <a:latin typeface="Consolas"/>
              </a:rPr>
              <a:t> </a:t>
            </a:r>
          </a:p>
          <a:p>
            <a:pPr>
              <a:lnSpc>
                <a:spcPct val="100000"/>
              </a:lnSpc>
              <a:spcBef>
                <a:spcPts val="0"/>
              </a:spcBef>
              <a:spcAft>
                <a:spcPts val="60"/>
              </a:spcAft>
            </a:pPr>
            <a:r>
              <a:rPr sz="874" b="0" i="0">
                <a:solidFill>
                  <a:srgbClr val="14171C"/>
                </a:solidFill>
                <a:latin typeface="Consolas"/>
              </a:rPr>
              <a:t>1.Push  2.Pop  3.Display  4.Exit</a:t>
            </a:r>
          </a:p>
          <a:p>
            <a:pPr>
              <a:lnSpc>
                <a:spcPct val="100000"/>
              </a:lnSpc>
              <a:spcBef>
                <a:spcPts val="0"/>
              </a:spcBef>
              <a:spcAft>
                <a:spcPts val="60"/>
              </a:spcAft>
            </a:pPr>
            <a:r>
              <a:rPr sz="874" b="0" i="0">
                <a:solidFill>
                  <a:srgbClr val="14171C"/>
                </a:solidFill>
                <a:latin typeface="Consolas"/>
              </a:rPr>
              <a:t>Enter your choice: 1</a:t>
            </a:r>
          </a:p>
          <a:p>
            <a:pPr>
              <a:lnSpc>
                <a:spcPct val="100000"/>
              </a:lnSpc>
              <a:spcBef>
                <a:spcPts val="0"/>
              </a:spcBef>
              <a:spcAft>
                <a:spcPts val="60"/>
              </a:spcAft>
            </a:pPr>
            <a:r>
              <a:rPr sz="874" b="0" i="0">
                <a:solidFill>
                  <a:srgbClr val="14171C"/>
                </a:solidFill>
                <a:latin typeface="Consolas"/>
              </a:rPr>
              <a:t>Element to push: 30</a:t>
            </a:r>
          </a:p>
          <a:p>
            <a:pPr>
              <a:lnSpc>
                <a:spcPct val="100000"/>
              </a:lnSpc>
              <a:spcBef>
                <a:spcPts val="0"/>
              </a:spcBef>
              <a:spcAft>
                <a:spcPts val="60"/>
              </a:spcAft>
            </a:pPr>
            <a:r>
              <a:rPr sz="874" b="0" i="0">
                <a:solidFill>
                  <a:srgbClr val="14171C"/>
                </a:solidFill>
                <a:latin typeface="Consolas"/>
              </a:rPr>
              <a:t>30 pushed</a:t>
            </a:r>
          </a:p>
          <a:p>
            <a:pPr>
              <a:lnSpc>
                <a:spcPct val="100000"/>
              </a:lnSpc>
              <a:spcBef>
                <a:spcPts val="0"/>
              </a:spcBef>
              <a:spcAft>
                <a:spcPts val="60"/>
              </a:spcAft>
            </a:pPr>
            <a:r>
              <a:rPr sz="874" b="0" i="0">
                <a:solidFill>
                  <a:srgbClr val="14171C"/>
                </a:solidFill>
                <a:latin typeface="Consolas"/>
              </a:rPr>
              <a:t> </a:t>
            </a:r>
          </a:p>
          <a:p>
            <a:pPr>
              <a:lnSpc>
                <a:spcPct val="100000"/>
              </a:lnSpc>
              <a:spcBef>
                <a:spcPts val="0"/>
              </a:spcBef>
              <a:spcAft>
                <a:spcPts val="60"/>
              </a:spcAft>
            </a:pPr>
            <a:r>
              <a:rPr sz="874" b="0" i="0">
                <a:solidFill>
                  <a:srgbClr val="14171C"/>
                </a:solidFill>
                <a:latin typeface="Consolas"/>
              </a:rPr>
              <a:t>1.Push  2.Pop  3.Display  4.Exit</a:t>
            </a:r>
          </a:p>
          <a:p>
            <a:pPr>
              <a:lnSpc>
                <a:spcPct val="100000"/>
              </a:lnSpc>
              <a:spcBef>
                <a:spcPts val="0"/>
              </a:spcBef>
              <a:spcAft>
                <a:spcPts val="60"/>
              </a:spcAft>
            </a:pPr>
            <a:r>
              <a:rPr sz="874" b="0" i="0">
                <a:solidFill>
                  <a:srgbClr val="14171C"/>
                </a:solidFill>
                <a:latin typeface="Consolas"/>
              </a:rPr>
              <a:t>Enter your choice: 3</a:t>
            </a:r>
          </a:p>
          <a:p>
            <a:pPr>
              <a:lnSpc>
                <a:spcPct val="100000"/>
              </a:lnSpc>
              <a:spcBef>
                <a:spcPts val="0"/>
              </a:spcBef>
              <a:spcAft>
                <a:spcPts val="60"/>
              </a:spcAft>
            </a:pPr>
            <a:r>
              <a:rPr sz="874" b="0" i="0">
                <a:solidFill>
                  <a:srgbClr val="14171C"/>
                </a:solidFill>
                <a:latin typeface="Consolas"/>
              </a:rPr>
              <a:t>Stack top-&gt;bottom: [30 20 10]  size = 3</a:t>
            </a:r>
          </a:p>
          <a:p>
            <a:pPr>
              <a:lnSpc>
                <a:spcPct val="100000"/>
              </a:lnSpc>
              <a:spcBef>
                <a:spcPts val="0"/>
              </a:spcBef>
              <a:spcAft>
                <a:spcPts val="60"/>
              </a:spcAft>
            </a:pPr>
            <a:r>
              <a:rPr sz="874" b="0" i="0">
                <a:solidFill>
                  <a:srgbClr val="14171C"/>
                </a:solidFill>
                <a:latin typeface="Consolas"/>
              </a:rPr>
              <a:t> </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2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33</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Case 1 pushed 10, 20, 30; display printed</a:t>
            </a:r>
            <a:r>
              <a:rPr sz="1200" b="0" i="0">
                <a:solidFill>
                  <a:srgbClr val="16181D"/>
                </a:solidFill>
                <a:latin typeface="Consolas"/>
              </a:rPr>
              <a:t>Stack top-›bottom: [30 20 10] size = 3</a:t>
            </a:r>
            <a:r>
              <a:rPr sz="1250" b="0" i="0">
                <a:solidFill>
                  <a:srgbClr val="16181D"/>
                </a:solidFill>
                <a:latin typeface="Calibri"/>
              </a:rPr>
              <a:t>— LIFO made visible by the dump direction.</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two pops printed</a:t>
            </a:r>
            <a:r>
              <a:rPr sz="1200" b="0" i="0">
                <a:solidFill>
                  <a:srgbClr val="16181D"/>
                </a:solidFill>
                <a:latin typeface="Consolas"/>
              </a:rPr>
              <a:t>30 popped</a:t>
            </a:r>
            <a:r>
              <a:rPr sz="1250" b="0" i="0">
                <a:solidFill>
                  <a:srgbClr val="16181D"/>
                </a:solidFill>
                <a:latin typeface="Calibri"/>
              </a:rPr>
              <a:t>,</a:t>
            </a:r>
            <a:r>
              <a:rPr sz="1200" b="0" i="0">
                <a:solidFill>
                  <a:srgbClr val="16181D"/>
                </a:solidFill>
                <a:latin typeface="Consolas"/>
              </a:rPr>
              <a:t>20 popped</a:t>
            </a:r>
            <a:r>
              <a:rPr sz="1250" b="0" i="0">
                <a:solidFill>
                  <a:srgbClr val="16181D"/>
                </a:solidFill>
                <a:latin typeface="Calibri"/>
              </a:rPr>
              <a:t>; a third display showed</a:t>
            </a:r>
            <a:r>
              <a:rPr sz="1200" b="0" i="0">
                <a:solidFill>
                  <a:srgbClr val="16181D"/>
                </a:solidFill>
                <a:latin typeface="Consolas"/>
              </a:rPr>
              <a:t>[10] size = 1</a:t>
            </a:r>
            <a:r>
              <a:rPr sz="1250" b="0" i="0">
                <a:solidFill>
                  <a:srgbClr val="16181D"/>
                </a:solidFill>
                <a:latin typeface="Calibri"/>
              </a:rPr>
              <a:t>, then one more pop and</a:t>
            </a:r>
            <a:r>
              <a:rPr sz="1200" b="0" i="0">
                <a:solidFill>
                  <a:srgbClr val="16181D"/>
                </a:solidFill>
                <a:latin typeface="Consolas"/>
              </a:rPr>
              <a:t>Stack underflow (empty)</a:t>
            </a:r>
            <a:r>
              <a:rPr sz="1250" b="0" i="0">
                <a:solidFill>
                  <a:srgbClr val="16181D"/>
                </a:solidFill>
                <a:latin typeface="Calibri"/>
              </a:rPr>
              <a:t>— the two guard messages are both evidence.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Case 2 started on an empty stack: the first choice-2 printed</a:t>
            </a:r>
            <a:r>
              <a:rPr sz="1200" b="0" i="0">
                <a:solidFill>
                  <a:srgbClr val="16181D"/>
                </a:solidFill>
                <a:latin typeface="Consolas"/>
              </a:rPr>
              <a:t>Stack underflow (empty)</a:t>
            </a:r>
            <a:r>
              <a:rPr sz="1250" b="0" i="0">
                <a:solidFill>
                  <a:srgbClr val="16181D"/>
                </a:solidFill>
                <a:latin typeface="Calibri"/>
              </a:rPr>
              <a:t>before any push ever ran; boundary behaviour does not depend on history.</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pop() returned Integer null for the underflow and a boxed value otherwise — autoboxing is already at work inside Experiment 2, well before its own experiment.</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is the stack limit written as data.length - 1 and not 9?</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What breaks if top is initialised to 0 instead of −1?</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Why does push return boolean but pop return Integer?</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Because top tests against the array itself — change the one literal 10 and every bound follows; magic-number-free code.</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 10-slot IntStack with boolean push, Integer-or-null pop and top-first display was implemented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3 — N students in an array of objects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34</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100" b="0" i="0">
                <a:solidFill>
                  <a:srgbClr val="16181D"/>
                </a:solidFill>
                <a:latin typeface="Calibri"/>
              </a:rPr>
              <a:t>3. Create a Java class called Student with the USN,Name,Branch,Phone details as variables within it. Write a Java program to create N Student objects and print the USN, Name, Branch, and Phone of these objects with suitable headings.</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src/e03_students/</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773" b="0" i="0">
                <a:solidFill>
                  <a:srgbClr val="E5E7EB"/>
                </a:solidFill>
                <a:latin typeface="Consolas"/>
              </a:rPr>
              <a:t>// ——— src/e03_students/Main.java ———</a:t>
            </a:r>
          </a:p>
          <a:p>
            <a:pPr>
              <a:lnSpc>
                <a:spcPct val="100000"/>
              </a:lnSpc>
              <a:spcBef>
                <a:spcPts val="0"/>
              </a:spcBef>
              <a:spcAft>
                <a:spcPts val="60"/>
              </a:spcAft>
            </a:pPr>
            <a:r>
              <a:rPr sz="773" b="0" i="0">
                <a:solidFill>
                  <a:srgbClr val="E5E7EB"/>
                </a:solidFill>
                <a:latin typeface="Consolas"/>
              </a:rPr>
              <a:t>import java.util.Scanner;</a:t>
            </a:r>
          </a:p>
          <a:p>
            <a:pPr>
              <a:lnSpc>
                <a:spcPct val="100000"/>
              </a:lnSpc>
              <a:spcBef>
                <a:spcPts val="0"/>
              </a:spcBef>
              <a:spcAft>
                <a:spcPts val="60"/>
              </a:spcAft>
            </a:pPr>
            <a:r>
              <a:rPr sz="773" b="0" i="0">
                <a:solidFill>
                  <a:srgbClr val="E5E7EB"/>
                </a:solidFill>
                <a:latin typeface="Consolas"/>
              </a:rPr>
              <a:t>/* Experiment 3 -- read N students (USN, name, branch, phone) into an</a:t>
            </a:r>
          </a:p>
          <a:p>
            <a:pPr>
              <a:lnSpc>
                <a:spcPct val="100000"/>
              </a:lnSpc>
              <a:spcBef>
                <a:spcPts val="0"/>
              </a:spcBef>
              <a:spcAft>
                <a:spcPts val="60"/>
              </a:spcAft>
            </a:pPr>
            <a:r>
              <a:rPr sz="773" b="0" i="0">
                <a:solidFill>
                  <a:srgbClr val="E5E7EB"/>
                </a:solidFill>
                <a:latin typeface="Consolas"/>
              </a:rPr>
              <a:t>   array of objects and display the list.  Each array slot holds a</a:t>
            </a:r>
          </a:p>
          <a:p>
            <a:pPr>
              <a:lnSpc>
                <a:spcPct val="100000"/>
              </a:lnSpc>
              <a:spcBef>
                <a:spcPts val="0"/>
              </a:spcBef>
              <a:spcAft>
                <a:spcPts val="60"/>
              </a:spcAft>
            </a:pPr>
            <a:r>
              <a:rPr sz="773" b="0" i="0">
                <a:solidFill>
                  <a:srgbClr val="E5E7EB"/>
                </a:solidFill>
                <a:latin typeface="Consolas"/>
              </a:rPr>
              <a:t>   reference to a Student object built by the constructor. */</a:t>
            </a:r>
          </a:p>
          <a:p>
            <a:pPr>
              <a:lnSpc>
                <a:spcPct val="100000"/>
              </a:lnSpc>
              <a:spcBef>
                <a:spcPts val="0"/>
              </a:spcBef>
              <a:spcAft>
                <a:spcPts val="60"/>
              </a:spcAft>
            </a:pPr>
            <a:r>
              <a:rPr sz="773" b="0" i="0">
                <a:solidFill>
                  <a:srgbClr val="E5E7EB"/>
                </a:solidFill>
                <a:latin typeface="Consolas"/>
              </a:rPr>
              <a:t>class Student {</a:t>
            </a:r>
          </a:p>
          <a:p>
            <a:pPr>
              <a:lnSpc>
                <a:spcPct val="100000"/>
              </a:lnSpc>
              <a:spcBef>
                <a:spcPts val="0"/>
              </a:spcBef>
              <a:spcAft>
                <a:spcPts val="60"/>
              </a:spcAft>
            </a:pPr>
            <a:r>
              <a:rPr sz="773" b="0" i="0">
                <a:solidFill>
                  <a:srgbClr val="E5E7EB"/>
                </a:solidFill>
                <a:latin typeface="Consolas"/>
              </a:rPr>
              <a:t>    private final String usn, name, branch, phone;</a:t>
            </a:r>
          </a:p>
          <a:p>
            <a:pPr>
              <a:lnSpc>
                <a:spcPct val="100000"/>
              </a:lnSpc>
              <a:spcBef>
                <a:spcPts val="0"/>
              </a:spcBef>
              <a:spcAft>
                <a:spcPts val="60"/>
              </a:spcAft>
            </a:pPr>
            <a:r>
              <a:rPr sz="773" b="0" i="0">
                <a:solidFill>
                  <a:srgbClr val="E5E7EB"/>
                </a:solidFill>
                <a:latin typeface="Consolas"/>
              </a:rPr>
              <a:t>    Student(String usn, String name, String branch, String phone) {</a:t>
            </a:r>
          </a:p>
          <a:p>
            <a:pPr>
              <a:lnSpc>
                <a:spcPct val="100000"/>
              </a:lnSpc>
              <a:spcBef>
                <a:spcPts val="0"/>
              </a:spcBef>
              <a:spcAft>
                <a:spcPts val="60"/>
              </a:spcAft>
            </a:pPr>
            <a:r>
              <a:rPr sz="773" b="0" i="0">
                <a:solidFill>
                  <a:srgbClr val="E5E7EB"/>
                </a:solidFill>
                <a:latin typeface="Consolas"/>
              </a:rPr>
              <a:t>        this.usn = usn; this.name = name; this.branch = branch; this.phone = phone;</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public String toString() {</a:t>
            </a:r>
          </a:p>
          <a:p>
            <a:pPr>
              <a:lnSpc>
                <a:spcPct val="100000"/>
              </a:lnSpc>
              <a:spcBef>
                <a:spcPts val="0"/>
              </a:spcBef>
              <a:spcAft>
                <a:spcPts val="60"/>
              </a:spcAft>
            </a:pPr>
            <a:r>
              <a:rPr sz="773" b="0" i="0">
                <a:solidFill>
                  <a:srgbClr val="E5E7EB"/>
                </a:solidFill>
                <a:latin typeface="Consolas"/>
              </a:rPr>
              <a:t>        return String.format("%-12s %-10s %-5s %s", usn, name, branch, phone);</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public class Main {</a:t>
            </a:r>
          </a:p>
          <a:p>
            <a:pPr>
              <a:lnSpc>
                <a:spcPct val="100000"/>
              </a:lnSpc>
              <a:spcBef>
                <a:spcPts val="0"/>
              </a:spcBef>
              <a:spcAft>
                <a:spcPts val="60"/>
              </a:spcAft>
            </a:pPr>
            <a:r>
              <a:rPr sz="773" b="0" i="0">
                <a:solidFill>
                  <a:srgbClr val="E5E7EB"/>
                </a:solidFill>
                <a:latin typeface="Consolas"/>
              </a:rPr>
              <a:t>    public static void main(String[] args) {</a:t>
            </a:r>
          </a:p>
          <a:p>
            <a:pPr>
              <a:lnSpc>
                <a:spcPct val="100000"/>
              </a:lnSpc>
              <a:spcBef>
                <a:spcPts val="0"/>
              </a:spcBef>
              <a:spcAft>
                <a:spcPts val="60"/>
              </a:spcAft>
            </a:pPr>
            <a:r>
              <a:rPr sz="773" b="0" i="0">
                <a:solidFill>
                  <a:srgbClr val="E5E7EB"/>
                </a:solidFill>
                <a:latin typeface="Consolas"/>
              </a:rPr>
              <a:t>        Scanner sc = new Scanner(System.in);</a:t>
            </a:r>
          </a:p>
          <a:p>
            <a:pPr>
              <a:lnSpc>
                <a:spcPct val="100000"/>
              </a:lnSpc>
              <a:spcBef>
                <a:spcPts val="0"/>
              </a:spcBef>
              <a:spcAft>
                <a:spcPts val="60"/>
              </a:spcAft>
            </a:pPr>
            <a:r>
              <a:rPr sz="773" b="0" i="0">
                <a:solidFill>
                  <a:srgbClr val="E5E7EB"/>
                </a:solidFill>
                <a:latin typeface="Consolas"/>
              </a:rPr>
              <a:t>        System.out.printf("Enter number of students: ");</a:t>
            </a:r>
          </a:p>
          <a:p>
            <a:pPr>
              <a:lnSpc>
                <a:spcPct val="100000"/>
              </a:lnSpc>
              <a:spcBef>
                <a:spcPts val="0"/>
              </a:spcBef>
              <a:spcAft>
                <a:spcPts val="60"/>
              </a:spcAft>
            </a:pPr>
            <a:r>
              <a:rPr sz="773" b="0" i="0">
                <a:solidFill>
                  <a:srgbClr val="E5E7EB"/>
                </a:solidFill>
                <a:latin typeface="Consolas"/>
              </a:rPr>
              <a:t>        int n = sc.nextInt();</a:t>
            </a:r>
          </a:p>
          <a:p>
            <a:pPr>
              <a:lnSpc>
                <a:spcPct val="100000"/>
              </a:lnSpc>
              <a:spcBef>
                <a:spcPts val="0"/>
              </a:spcBef>
              <a:spcAft>
                <a:spcPts val="60"/>
              </a:spcAft>
            </a:pPr>
            <a:r>
              <a:rPr sz="773" b="0" i="0">
                <a:solidFill>
                  <a:srgbClr val="E5E7EB"/>
                </a:solidFill>
                <a:latin typeface="Consolas"/>
              </a:rPr>
              <a:t>        sc.nextLine();                                  // swallow end-of-line</a:t>
            </a:r>
          </a:p>
          <a:p>
            <a:pPr>
              <a:lnSpc>
                <a:spcPct val="100000"/>
              </a:lnSpc>
              <a:spcBef>
                <a:spcPts val="0"/>
              </a:spcBef>
              <a:spcAft>
                <a:spcPts val="60"/>
              </a:spcAft>
            </a:pPr>
            <a:r>
              <a:rPr sz="773" b="0" i="0">
                <a:solidFill>
                  <a:srgbClr val="E5E7EB"/>
                </a:solidFill>
                <a:latin typeface="Consolas"/>
              </a:rPr>
              <a:t>        Student[] std = new Student[n];                 // array of references</a:t>
            </a:r>
          </a:p>
          <a:p>
            <a:pPr>
              <a:lnSpc>
                <a:spcPct val="100000"/>
              </a:lnSpc>
              <a:spcBef>
                <a:spcPts val="0"/>
              </a:spcBef>
              <a:spcAft>
                <a:spcPts val="60"/>
              </a:spcAft>
            </a:pPr>
            <a:r>
              <a:rPr sz="773" b="0" i="0">
                <a:solidFill>
                  <a:srgbClr val="E5E7EB"/>
                </a:solidFill>
                <a:latin typeface="Consolas"/>
              </a:rPr>
              <a:t>        for (int i = 0; i &lt; n; i++) {</a:t>
            </a:r>
          </a:p>
          <a:p>
            <a:pPr>
              <a:lnSpc>
                <a:spcPct val="100000"/>
              </a:lnSpc>
              <a:spcBef>
                <a:spcPts val="0"/>
              </a:spcBef>
              <a:spcAft>
                <a:spcPts val="60"/>
              </a:spcAft>
            </a:pPr>
            <a:r>
              <a:rPr sz="773" b="0" i="0">
                <a:solidFill>
                  <a:srgbClr val="E5E7EB"/>
                </a:solidFill>
                <a:latin typeface="Consolas"/>
              </a:rPr>
              <a:t>            System.out.println("Student " + (i + 1) + ":");</a:t>
            </a:r>
          </a:p>
          <a:p>
            <a:pPr>
              <a:lnSpc>
                <a:spcPct val="100000"/>
              </a:lnSpc>
              <a:spcBef>
                <a:spcPts val="0"/>
              </a:spcBef>
              <a:spcAft>
                <a:spcPts val="60"/>
              </a:spcAft>
            </a:pPr>
            <a:r>
              <a:rPr sz="773" b="0" i="0">
                <a:solidFill>
                  <a:srgbClr val="E5E7EB"/>
                </a:solidFill>
                <a:latin typeface="Consolas"/>
              </a:rPr>
              <a:t>            System.out.printf("  USN:   "); String usn = sc.nextLine();</a:t>
            </a:r>
          </a:p>
          <a:p>
            <a:pPr>
              <a:lnSpc>
                <a:spcPct val="100000"/>
              </a:lnSpc>
              <a:spcBef>
                <a:spcPts val="0"/>
              </a:spcBef>
              <a:spcAft>
                <a:spcPts val="60"/>
              </a:spcAft>
            </a:pPr>
            <a:r>
              <a:rPr sz="773"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out/e03_students.txt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874" b="0" i="0">
                <a:solidFill>
                  <a:srgbClr val="14171C"/>
                </a:solidFill>
                <a:latin typeface="Consolas"/>
              </a:rPr>
              <a:t>$ javac -d bin/e03_students src/e03_students/Main.java</a:t>
            </a:r>
          </a:p>
          <a:p>
            <a:pPr>
              <a:lnSpc>
                <a:spcPct val="100000"/>
              </a:lnSpc>
              <a:spcBef>
                <a:spcPts val="0"/>
              </a:spcBef>
              <a:spcAft>
                <a:spcPts val="60"/>
              </a:spcAft>
            </a:pPr>
            <a:r>
              <a:rPr sz="874" b="0" i="0">
                <a:solidFill>
                  <a:srgbClr val="14171C"/>
                </a:solidFill>
                <a:latin typeface="Consolas"/>
              </a:rPr>
              <a:t>$ java -cp bin/e03_students Main</a:t>
            </a:r>
          </a:p>
          <a:p>
            <a:pPr>
              <a:lnSpc>
                <a:spcPct val="100000"/>
              </a:lnSpc>
              <a:spcBef>
                <a:spcPts val="0"/>
              </a:spcBef>
              <a:spcAft>
                <a:spcPts val="60"/>
              </a:spcAft>
            </a:pPr>
            <a:r>
              <a:rPr sz="874" b="0" i="0">
                <a:solidFill>
                  <a:srgbClr val="14171C"/>
                </a:solidFill>
                <a:latin typeface="Consolas"/>
              </a:rPr>
              <a:t>Enter number of students: 2</a:t>
            </a:r>
          </a:p>
          <a:p>
            <a:pPr>
              <a:lnSpc>
                <a:spcPct val="100000"/>
              </a:lnSpc>
              <a:spcBef>
                <a:spcPts val="0"/>
              </a:spcBef>
              <a:spcAft>
                <a:spcPts val="60"/>
              </a:spcAft>
            </a:pPr>
            <a:r>
              <a:rPr sz="874" b="0" i="0">
                <a:solidFill>
                  <a:srgbClr val="14171C"/>
                </a:solidFill>
                <a:latin typeface="Consolas"/>
              </a:rPr>
              <a:t>Student 1:</a:t>
            </a:r>
          </a:p>
          <a:p>
            <a:pPr>
              <a:lnSpc>
                <a:spcPct val="100000"/>
              </a:lnSpc>
              <a:spcBef>
                <a:spcPts val="0"/>
              </a:spcBef>
              <a:spcAft>
                <a:spcPts val="60"/>
              </a:spcAft>
            </a:pPr>
            <a:r>
              <a:rPr sz="874" b="0" i="0">
                <a:solidFill>
                  <a:srgbClr val="14171C"/>
                </a:solidFill>
                <a:latin typeface="Consolas"/>
              </a:rPr>
              <a:t>  USN:   1AB23CS001</a:t>
            </a:r>
          </a:p>
          <a:p>
            <a:pPr>
              <a:lnSpc>
                <a:spcPct val="100000"/>
              </a:lnSpc>
              <a:spcBef>
                <a:spcPts val="0"/>
              </a:spcBef>
              <a:spcAft>
                <a:spcPts val="60"/>
              </a:spcAft>
            </a:pPr>
            <a:r>
              <a:rPr sz="874" b="0" i="0">
                <a:solidFill>
                  <a:srgbClr val="14171C"/>
                </a:solidFill>
                <a:latin typeface="Consolas"/>
              </a:rPr>
              <a:t>  Name:  Aarav</a:t>
            </a:r>
          </a:p>
          <a:p>
            <a:pPr>
              <a:lnSpc>
                <a:spcPct val="100000"/>
              </a:lnSpc>
              <a:spcBef>
                <a:spcPts val="0"/>
              </a:spcBef>
              <a:spcAft>
                <a:spcPts val="60"/>
              </a:spcAft>
            </a:pPr>
            <a:r>
              <a:rPr sz="874" b="0" i="0">
                <a:solidFill>
                  <a:srgbClr val="14171C"/>
                </a:solidFill>
                <a:latin typeface="Consolas"/>
              </a:rPr>
              <a:t>  Branch:CSE</a:t>
            </a:r>
          </a:p>
          <a:p>
            <a:pPr>
              <a:lnSpc>
                <a:spcPct val="100000"/>
              </a:lnSpc>
              <a:spcBef>
                <a:spcPts val="0"/>
              </a:spcBef>
              <a:spcAft>
                <a:spcPts val="60"/>
              </a:spcAft>
            </a:pPr>
            <a:r>
              <a:rPr sz="874" b="0" i="0">
                <a:solidFill>
                  <a:srgbClr val="14171C"/>
                </a:solidFill>
                <a:latin typeface="Consolas"/>
              </a:rPr>
              <a:t>  Phone: 9810011223</a:t>
            </a:r>
          </a:p>
          <a:p>
            <a:pPr>
              <a:lnSpc>
                <a:spcPct val="100000"/>
              </a:lnSpc>
              <a:spcBef>
                <a:spcPts val="0"/>
              </a:spcBef>
              <a:spcAft>
                <a:spcPts val="60"/>
              </a:spcAft>
            </a:pPr>
            <a:r>
              <a:rPr sz="874" b="0" i="0">
                <a:solidFill>
                  <a:srgbClr val="14171C"/>
                </a:solidFill>
                <a:latin typeface="Consolas"/>
              </a:rPr>
              <a:t>Student 2:</a:t>
            </a:r>
          </a:p>
          <a:p>
            <a:pPr>
              <a:lnSpc>
                <a:spcPct val="100000"/>
              </a:lnSpc>
              <a:spcBef>
                <a:spcPts val="0"/>
              </a:spcBef>
              <a:spcAft>
                <a:spcPts val="60"/>
              </a:spcAft>
            </a:pPr>
            <a:r>
              <a:rPr sz="874" b="0" i="0">
                <a:solidFill>
                  <a:srgbClr val="14171C"/>
                </a:solidFill>
                <a:latin typeface="Consolas"/>
              </a:rPr>
              <a:t>  USN:   1AB23IS014</a:t>
            </a:r>
          </a:p>
          <a:p>
            <a:pPr>
              <a:lnSpc>
                <a:spcPct val="100000"/>
              </a:lnSpc>
              <a:spcBef>
                <a:spcPts val="0"/>
              </a:spcBef>
              <a:spcAft>
                <a:spcPts val="60"/>
              </a:spcAft>
            </a:pPr>
            <a:r>
              <a:rPr sz="874" b="0" i="0">
                <a:solidFill>
                  <a:srgbClr val="14171C"/>
                </a:solidFill>
                <a:latin typeface="Consolas"/>
              </a:rPr>
              <a:t>  Name:  Diya</a:t>
            </a:r>
          </a:p>
          <a:p>
            <a:pPr>
              <a:lnSpc>
                <a:spcPct val="100000"/>
              </a:lnSpc>
              <a:spcBef>
                <a:spcPts val="0"/>
              </a:spcBef>
              <a:spcAft>
                <a:spcPts val="60"/>
              </a:spcAft>
            </a:pPr>
            <a:r>
              <a:rPr sz="874" b="0" i="0">
                <a:solidFill>
                  <a:srgbClr val="14171C"/>
                </a:solidFill>
                <a:latin typeface="Consolas"/>
              </a:rPr>
              <a:t>  Branch:ISE</a:t>
            </a:r>
          </a:p>
          <a:p>
            <a:pPr>
              <a:lnSpc>
                <a:spcPct val="100000"/>
              </a:lnSpc>
              <a:spcBef>
                <a:spcPts val="0"/>
              </a:spcBef>
              <a:spcAft>
                <a:spcPts val="60"/>
              </a:spcAft>
            </a:pPr>
            <a:r>
              <a:rPr sz="874" b="0" i="0">
                <a:solidFill>
                  <a:srgbClr val="14171C"/>
                </a:solidFill>
                <a:latin typeface="Consolas"/>
              </a:rPr>
              <a:t>  Phone: 9900223344</a:t>
            </a:r>
          </a:p>
          <a:p>
            <a:pPr>
              <a:lnSpc>
                <a:spcPct val="100000"/>
              </a:lnSpc>
              <a:spcBef>
                <a:spcPts val="0"/>
              </a:spcBef>
              <a:spcAft>
                <a:spcPts val="60"/>
              </a:spcAft>
            </a:pPr>
            <a:r>
              <a:rPr sz="874" b="0" i="0">
                <a:solidFill>
                  <a:srgbClr val="14171C"/>
                </a:solidFill>
                <a:latin typeface="Consolas"/>
              </a:rPr>
              <a:t> </a:t>
            </a:r>
          </a:p>
          <a:p>
            <a:pPr>
              <a:lnSpc>
                <a:spcPct val="100000"/>
              </a:lnSpc>
              <a:spcBef>
                <a:spcPts val="0"/>
              </a:spcBef>
              <a:spcAft>
                <a:spcPts val="60"/>
              </a:spcAft>
            </a:pPr>
            <a:r>
              <a:rPr sz="874" b="0" i="0">
                <a:solidFill>
                  <a:srgbClr val="14171C"/>
                </a:solidFill>
                <a:latin typeface="Consolas"/>
              </a:rPr>
              <a:t>USN          NAME       BRANCH PHONE</a:t>
            </a:r>
          </a:p>
          <a:p>
            <a:pPr>
              <a:lnSpc>
                <a:spcPct val="100000"/>
              </a:lnSpc>
              <a:spcBef>
                <a:spcPts val="0"/>
              </a:spcBef>
              <a:spcAft>
                <a:spcPts val="60"/>
              </a:spcAft>
            </a:pPr>
            <a:r>
              <a:rPr sz="874" b="0" i="0">
                <a:solidFill>
                  <a:srgbClr val="14171C"/>
                </a:solidFill>
                <a:latin typeface="Consolas"/>
              </a:rPr>
              <a:t>1AB23CS001   Aarav      CSE   9810011223</a:t>
            </a:r>
          </a:p>
          <a:p>
            <a:pPr>
              <a:lnSpc>
                <a:spcPct val="100000"/>
              </a:lnSpc>
              <a:spcBef>
                <a:spcPts val="0"/>
              </a:spcBef>
              <a:spcAft>
                <a:spcPts val="60"/>
              </a:spcAft>
            </a:pPr>
            <a:r>
              <a:rPr sz="874" b="0" i="0">
                <a:solidFill>
                  <a:srgbClr val="14171C"/>
                </a:solidFill>
                <a:latin typeface="Consolas"/>
              </a:rPr>
              <a:t>1AB23IS014   Diya       ISE   9900223344</a:t>
            </a:r>
          </a:p>
          <a:p>
            <a:pPr>
              <a:lnSpc>
                <a:spcPct val="100000"/>
              </a:lnSpc>
              <a:spcBef>
                <a:spcPts val="0"/>
              </a:spcBef>
              <a:spcAft>
                <a:spcPts val="60"/>
              </a:spcAft>
            </a:pPr>
            <a:r>
              <a:rPr sz="874" b="0" i="0">
                <a:solidFill>
                  <a:srgbClr val="14171C"/>
                </a:solidFill>
                <a:latin typeface="Consolas"/>
              </a:rPr>
              <a:t>Record count: 2</a:t>
            </a:r>
          </a:p>
          <a:p>
            <a:pPr>
              <a:lnSpc>
                <a:spcPct val="100000"/>
              </a:lnSpc>
              <a:spcBef>
                <a:spcPts val="0"/>
              </a:spcBef>
              <a:spcAft>
                <a:spcPts val="60"/>
              </a:spcAft>
            </a:pPr>
            <a:r>
              <a:rPr sz="874" b="0" i="0">
                <a:solidFill>
                  <a:srgbClr val="14171C"/>
                </a:solidFill>
                <a:latin typeface="Consolas"/>
              </a:rPr>
              <a:t>$ java -cp bin/e03_students Main</a:t>
            </a:r>
          </a:p>
          <a:p>
            <a:pPr>
              <a:lnSpc>
                <a:spcPct val="100000"/>
              </a:lnSpc>
              <a:spcBef>
                <a:spcPts val="0"/>
              </a:spcBef>
              <a:spcAft>
                <a:spcPts val="60"/>
              </a:spcAft>
            </a:pPr>
            <a:r>
              <a:rPr sz="874" b="0" i="0">
                <a:solidFill>
                  <a:srgbClr val="14171C"/>
                </a:solidFill>
                <a:latin typeface="Consolas"/>
              </a:rPr>
              <a:t>Enter number of students: 1</a:t>
            </a:r>
          </a:p>
          <a:p>
            <a:pPr>
              <a:lnSpc>
                <a:spcPct val="100000"/>
              </a:lnSpc>
              <a:spcBef>
                <a:spcPts val="0"/>
              </a:spcBef>
              <a:spcAft>
                <a:spcPts val="60"/>
              </a:spcAft>
            </a:pPr>
            <a:r>
              <a:rPr sz="874" b="0" i="0">
                <a:solidFill>
                  <a:srgbClr val="14171C"/>
                </a:solidFill>
                <a:latin typeface="Consolas"/>
              </a:rPr>
              <a:t>Student 1:</a:t>
            </a:r>
          </a:p>
          <a:p>
            <a:pPr>
              <a:lnSpc>
                <a:spcPct val="100000"/>
              </a:lnSpc>
              <a:spcBef>
                <a:spcPts val="0"/>
              </a:spcBef>
              <a:spcAft>
                <a:spcPts val="60"/>
              </a:spcAft>
            </a:pPr>
            <a:r>
              <a:rPr sz="874" b="0" i="0">
                <a:solidFill>
                  <a:srgbClr val="14171C"/>
                </a:solidFill>
                <a:latin typeface="Consolas"/>
              </a:rPr>
              <a:t>  USN:   1AB23EC007</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3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35</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Two records in, two rows out:</a:t>
            </a:r>
            <a:r>
              <a:rPr sz="1200" b="0" i="0">
                <a:solidFill>
                  <a:srgbClr val="16181D"/>
                </a:solidFill>
                <a:latin typeface="Consolas"/>
              </a:rPr>
              <a:t>1AB23CS001 Aarav CSE 9810011223</a:t>
            </a:r>
            <a:r>
              <a:rPr sz="1250" b="0" i="0">
                <a:solidFill>
                  <a:srgbClr val="16181D"/>
                </a:solidFill>
                <a:latin typeface="Calibri"/>
              </a:rPr>
              <a:t>over</a:t>
            </a:r>
            <a:r>
              <a:rPr sz="1200" b="0" i="0">
                <a:solidFill>
                  <a:srgbClr val="16181D"/>
                </a:solidFill>
                <a:latin typeface="Consolas"/>
              </a:rPr>
              <a:t>1AB23IS014 Diya ISE 9900223344</a:t>
            </a:r>
            <a:r>
              <a:rPr sz="1250" b="0" i="0">
                <a:solidFill>
                  <a:srgbClr val="16181D"/>
                </a:solidFill>
                <a:latin typeface="Calibri"/>
              </a:rPr>
              <a:t>— columns line up with the printed heading row.</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Case 2 ran with n = 1 — the table printed one row and</a:t>
            </a:r>
            <a:r>
              <a:rPr sz="1200" b="0" i="0">
                <a:solidFill>
                  <a:srgbClr val="16181D"/>
                </a:solidFill>
                <a:latin typeface="Consolas"/>
              </a:rPr>
              <a:t>Record count: 1</a:t>
            </a:r>
            <a:r>
              <a:rPr sz="1250" b="0" i="0">
                <a:solidFill>
                  <a:srgbClr val="16181D"/>
                </a:solidFill>
                <a:latin typeface="Calibri"/>
              </a:rPr>
              <a:t>; the for-each never needed an n.</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Fields are final: after construction no code path can swap a phone number — immutability bought with two keywords.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heading uses the same %-widths as the rows; changing one width in one place moves heading and data together.</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final on the fields, why no setters?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What does Student[] std hold before the loop body assigns std[i]?</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Show the transcript line proving nextLine-after-nextInt was needed.</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Once entered, a student’s identity fields should not change in the program’s life; a final+constructor object is the smallest safe class Java allows.</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 Student class with a self-formatting toString and an array of Student objects were built;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4 — Shape → circle, triangle, square: polymorphism on stage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36</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000" b="0" i="0">
                <a:solidFill>
                  <a:srgbClr val="16181D"/>
                </a:solidFill>
                <a:latin typeface="Calibri"/>
              </a:rPr>
              <a:t>4. Develop a Java program to create a class named Shape. Create three sub classes, namely: circle, triangle and square. Each class has two member functions named draw and erase. Demonstrate the concepts of polymorphism by developing appropriate methods, defining member data, and implementing the main program.</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src/e04_shapes/</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773" b="0" i="0">
                <a:solidFill>
                  <a:srgbClr val="E5E7EB"/>
                </a:solidFill>
                <a:latin typeface="Consolas"/>
              </a:rPr>
              <a:t>// ——— src/e04_shapes/Main.java ———</a:t>
            </a:r>
          </a:p>
          <a:p>
            <a:pPr>
              <a:lnSpc>
                <a:spcPct val="100000"/>
              </a:lnSpc>
              <a:spcBef>
                <a:spcPts val="0"/>
              </a:spcBef>
              <a:spcAft>
                <a:spcPts val="60"/>
              </a:spcAft>
            </a:pPr>
            <a:r>
              <a:rPr sz="773" b="0" i="0">
                <a:solidFill>
                  <a:srgbClr val="E5E7EB"/>
                </a:solidFill>
                <a:latin typeface="Consolas"/>
              </a:rPr>
              <a:t>/* Experiment 4 -- inheritance demo: abstract base class Shape with</a:t>
            </a:r>
          </a:p>
          <a:p>
            <a:pPr>
              <a:lnSpc>
                <a:spcPct val="100000"/>
              </a:lnSpc>
              <a:spcBef>
                <a:spcPts val="0"/>
              </a:spcBef>
              <a:spcAft>
                <a:spcPts val="60"/>
              </a:spcAft>
            </a:pPr>
            <a:r>
              <a:rPr sz="773" b="0" i="0">
                <a:solidFill>
                  <a:srgbClr val="E5E7EB"/>
                </a:solidFill>
                <a:latin typeface="Consolas"/>
              </a:rPr>
              <a:t>   draw()/erase(); Circle, Triangle and Square derive from it.  A Shape[]</a:t>
            </a:r>
          </a:p>
          <a:p>
            <a:pPr>
              <a:lnSpc>
                <a:spcPct val="100000"/>
              </a:lnSpc>
              <a:spcBef>
                <a:spcPts val="0"/>
              </a:spcBef>
              <a:spcAft>
                <a:spcPts val="60"/>
              </a:spcAft>
            </a:pPr>
            <a:r>
              <a:rPr sz="773" b="0" i="0">
                <a:solidFill>
                  <a:srgbClr val="E5E7EB"/>
                </a:solidFill>
                <a:latin typeface="Consolas"/>
              </a:rPr>
              <a:t>   array shows one call site producing three behaviours (dynamic</a:t>
            </a:r>
          </a:p>
          <a:p>
            <a:pPr>
              <a:lnSpc>
                <a:spcPct val="100000"/>
              </a:lnSpc>
              <a:spcBef>
                <a:spcPts val="0"/>
              </a:spcBef>
              <a:spcAft>
                <a:spcPts val="60"/>
              </a:spcAft>
            </a:pPr>
            <a:r>
              <a:rPr sz="773" b="0" i="0">
                <a:solidFill>
                  <a:srgbClr val="E5E7EB"/>
                </a:solidFill>
                <a:latin typeface="Consolas"/>
              </a:rPr>
              <a:t>   method dispatch). */</a:t>
            </a:r>
          </a:p>
          <a:p>
            <a:pPr>
              <a:lnSpc>
                <a:spcPct val="100000"/>
              </a:lnSpc>
              <a:spcBef>
                <a:spcPts val="0"/>
              </a:spcBef>
              <a:spcAft>
                <a:spcPts val="60"/>
              </a:spcAft>
            </a:pPr>
            <a:r>
              <a:rPr sz="773" b="0" i="0">
                <a:solidFill>
                  <a:srgbClr val="E5E7EB"/>
                </a:solidFill>
                <a:latin typeface="Consolas"/>
              </a:rPr>
              <a:t>abstract class Shape {</a:t>
            </a:r>
          </a:p>
          <a:p>
            <a:pPr>
              <a:lnSpc>
                <a:spcPct val="100000"/>
              </a:lnSpc>
              <a:spcBef>
                <a:spcPts val="0"/>
              </a:spcBef>
              <a:spcAft>
                <a:spcPts val="60"/>
              </a:spcAft>
            </a:pPr>
            <a:r>
              <a:rPr sz="773" b="0" i="0">
                <a:solidFill>
                  <a:srgbClr val="E5E7EB"/>
                </a:solidFill>
                <a:latin typeface="Consolas"/>
              </a:rPr>
              <a:t>    protected final String tag;</a:t>
            </a:r>
          </a:p>
          <a:p>
            <a:pPr>
              <a:lnSpc>
                <a:spcPct val="100000"/>
              </a:lnSpc>
              <a:spcBef>
                <a:spcPts val="0"/>
              </a:spcBef>
              <a:spcAft>
                <a:spcPts val="60"/>
              </a:spcAft>
            </a:pPr>
            <a:r>
              <a:rPr sz="773" b="0" i="0">
                <a:solidFill>
                  <a:srgbClr val="E5E7EB"/>
                </a:solidFill>
                <a:latin typeface="Consolas"/>
              </a:rPr>
              <a:t>    Shape(String tag) { this.tag = tag; }</a:t>
            </a:r>
          </a:p>
          <a:p>
            <a:pPr>
              <a:lnSpc>
                <a:spcPct val="100000"/>
              </a:lnSpc>
              <a:spcBef>
                <a:spcPts val="0"/>
              </a:spcBef>
              <a:spcAft>
                <a:spcPts val="60"/>
              </a:spcAft>
            </a:pPr>
            <a:r>
              <a:rPr sz="773" b="0" i="0">
                <a:solidFill>
                  <a:srgbClr val="E5E7EB"/>
                </a:solidFill>
                <a:latin typeface="Consolas"/>
              </a:rPr>
              <a:t>    abstract void draw();</a:t>
            </a:r>
          </a:p>
          <a:p>
            <a:pPr>
              <a:lnSpc>
                <a:spcPct val="100000"/>
              </a:lnSpc>
              <a:spcBef>
                <a:spcPts val="0"/>
              </a:spcBef>
              <a:spcAft>
                <a:spcPts val="60"/>
              </a:spcAft>
            </a:pPr>
            <a:r>
              <a:rPr sz="773" b="0" i="0">
                <a:solidFill>
                  <a:srgbClr val="E5E7EB"/>
                </a:solidFill>
                <a:latin typeface="Consolas"/>
              </a:rPr>
              <a:t>    abstract void erase();</a:t>
            </a:r>
          </a:p>
          <a:p>
            <a:pPr>
              <a:lnSpc>
                <a:spcPct val="100000"/>
              </a:lnSpc>
              <a:spcBef>
                <a:spcPts val="0"/>
              </a:spcBef>
              <a:spcAft>
                <a:spcPts val="60"/>
              </a:spcAft>
            </a:pPr>
            <a:r>
              <a:rPr sz="773" b="0" i="0">
                <a:solidFill>
                  <a:srgbClr val="E5E7EB"/>
                </a:solidFill>
                <a:latin typeface="Consolas"/>
              </a:rPr>
              <a:t>}</a:t>
            </a:r>
          </a:p>
          <a:p>
            <a:pPr>
              <a:lnSpc>
                <a:spcPct val="100000"/>
              </a:lnSpc>
              <a:spcBef>
                <a:spcPts val="0"/>
              </a:spcBef>
              <a:spcAft>
                <a:spcPts val="60"/>
              </a:spcAft>
            </a:pPr>
            <a:r>
              <a:rPr sz="773" b="0" i="0">
                <a:solidFill>
                  <a:srgbClr val="E5E7EB"/>
                </a:solidFill>
                <a:latin typeface="Consolas"/>
              </a:rPr>
              <a:t>class Circle extends Shape {</a:t>
            </a:r>
          </a:p>
          <a:p>
            <a:pPr>
              <a:lnSpc>
                <a:spcPct val="100000"/>
              </a:lnSpc>
              <a:spcBef>
                <a:spcPts val="0"/>
              </a:spcBef>
              <a:spcAft>
                <a:spcPts val="60"/>
              </a:spcAft>
            </a:pPr>
            <a:r>
              <a:rPr sz="773" b="0" i="0">
                <a:solidFill>
                  <a:srgbClr val="E5E7EB"/>
                </a:solidFill>
                <a:latin typeface="Consolas"/>
              </a:rPr>
              <a:t>    private final double r;</a:t>
            </a:r>
          </a:p>
          <a:p>
            <a:pPr>
              <a:lnSpc>
                <a:spcPct val="100000"/>
              </a:lnSpc>
              <a:spcBef>
                <a:spcPts val="0"/>
              </a:spcBef>
              <a:spcAft>
                <a:spcPts val="60"/>
              </a:spcAft>
            </a:pPr>
            <a:r>
              <a:rPr sz="773" b="0" i="0">
                <a:solidFill>
                  <a:srgbClr val="E5E7EB"/>
                </a:solidFill>
                <a:latin typeface="Consolas"/>
              </a:rPr>
              <a:t>    Circle(double r) { super("circle"); this.r = r; }</a:t>
            </a:r>
          </a:p>
          <a:p>
            <a:pPr>
              <a:lnSpc>
                <a:spcPct val="100000"/>
              </a:lnSpc>
              <a:spcBef>
                <a:spcPts val="0"/>
              </a:spcBef>
              <a:spcAft>
                <a:spcPts val="60"/>
              </a:spcAft>
            </a:pPr>
            <a:r>
              <a:rPr sz="773" b="0" i="0">
                <a:solidFill>
                  <a:srgbClr val="E5E7EB"/>
                </a:solidFill>
                <a:latin typeface="Consolas"/>
              </a:rPr>
              <a:t>    void draw() {</a:t>
            </a:r>
          </a:p>
          <a:p>
            <a:pPr>
              <a:lnSpc>
                <a:spcPct val="100000"/>
              </a:lnSpc>
              <a:spcBef>
                <a:spcPts val="0"/>
              </a:spcBef>
              <a:spcAft>
                <a:spcPts val="60"/>
              </a:spcAft>
            </a:pPr>
            <a:r>
              <a:rPr sz="773" b="0" i="0">
                <a:solidFill>
                  <a:srgbClr val="E5E7EB"/>
                </a:solidFill>
                <a:latin typeface="Consolas"/>
              </a:rPr>
              <a:t>        System.out.printf("Drawing %s: centre(0,0) radius %.1f (circumference %.2f)%n",</a:t>
            </a:r>
          </a:p>
          <a:p>
            <a:pPr>
              <a:lnSpc>
                <a:spcPct val="100000"/>
              </a:lnSpc>
              <a:spcBef>
                <a:spcPts val="0"/>
              </a:spcBef>
              <a:spcAft>
                <a:spcPts val="60"/>
              </a:spcAft>
            </a:pPr>
            <a:r>
              <a:rPr sz="773" b="0" i="0">
                <a:solidFill>
                  <a:srgbClr val="E5E7EB"/>
                </a:solidFill>
                <a:latin typeface="Consolas"/>
              </a:rPr>
              <a:t>                tag, r, 2 * Math.PI * r);</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void erase() { System.out.println("Erasing " + tag); }</a:t>
            </a:r>
          </a:p>
          <a:p>
            <a:pPr>
              <a:lnSpc>
                <a:spcPct val="100000"/>
              </a:lnSpc>
              <a:spcBef>
                <a:spcPts val="0"/>
              </a:spcBef>
              <a:spcAft>
                <a:spcPts val="60"/>
              </a:spcAft>
            </a:pPr>
            <a:r>
              <a:rPr sz="773" b="0" i="0">
                <a:solidFill>
                  <a:srgbClr val="E5E7EB"/>
                </a:solidFill>
                <a:latin typeface="Consolas"/>
              </a:rPr>
              <a:t>}</a:t>
            </a:r>
          </a:p>
          <a:p>
            <a:pPr>
              <a:lnSpc>
                <a:spcPct val="100000"/>
              </a:lnSpc>
              <a:spcBef>
                <a:spcPts val="0"/>
              </a:spcBef>
              <a:spcAft>
                <a:spcPts val="60"/>
              </a:spcAft>
            </a:pPr>
            <a:r>
              <a:rPr sz="773" b="0" i="0">
                <a:solidFill>
                  <a:srgbClr val="E5E7EB"/>
                </a:solidFill>
                <a:latin typeface="Consolas"/>
              </a:rPr>
              <a:t>class Triangle extends Shape {</a:t>
            </a:r>
          </a:p>
          <a:p>
            <a:pPr>
              <a:lnSpc>
                <a:spcPct val="100000"/>
              </a:lnSpc>
              <a:spcBef>
                <a:spcPts val="0"/>
              </a:spcBef>
              <a:spcAft>
                <a:spcPts val="60"/>
              </a:spcAft>
            </a:pPr>
            <a:r>
              <a:rPr sz="773" b="0" i="0">
                <a:solidFill>
                  <a:srgbClr val="E5E7EB"/>
                </a:solidFill>
                <a:latin typeface="Consolas"/>
              </a:rPr>
              <a:t>    private final double base, height;</a:t>
            </a:r>
          </a:p>
          <a:p>
            <a:pPr>
              <a:lnSpc>
                <a:spcPct val="100000"/>
              </a:lnSpc>
              <a:spcBef>
                <a:spcPts val="0"/>
              </a:spcBef>
              <a:spcAft>
                <a:spcPts val="60"/>
              </a:spcAft>
            </a:pPr>
            <a:r>
              <a:rPr sz="773" b="0" i="0">
                <a:solidFill>
                  <a:srgbClr val="E5E7EB"/>
                </a:solidFill>
                <a:latin typeface="Consolas"/>
              </a:rPr>
              <a:t>    Triangle(double b, double h) { super("triangle"); base = b; height = h; }</a:t>
            </a:r>
          </a:p>
          <a:p>
            <a:pPr>
              <a:lnSpc>
                <a:spcPct val="100000"/>
              </a:lnSpc>
              <a:spcBef>
                <a:spcPts val="0"/>
              </a:spcBef>
              <a:spcAft>
                <a:spcPts val="60"/>
              </a:spcAft>
            </a:pPr>
            <a:r>
              <a:rPr sz="773" b="0" i="0">
                <a:solidFill>
                  <a:srgbClr val="E5E7EB"/>
                </a:solidFill>
                <a:latin typeface="Consolas"/>
              </a:rPr>
              <a:t>    void draw() {</a:t>
            </a:r>
          </a:p>
          <a:p>
            <a:pPr>
              <a:lnSpc>
                <a:spcPct val="100000"/>
              </a:lnSpc>
              <a:spcBef>
                <a:spcPts val="0"/>
              </a:spcBef>
              <a:spcAft>
                <a:spcPts val="60"/>
              </a:spcAft>
            </a:pPr>
            <a:r>
              <a:rPr sz="773" b="0" i="0">
                <a:solidFill>
                  <a:srgbClr val="E5E7EB"/>
                </a:solidFill>
                <a:latin typeface="Consolas"/>
              </a:rPr>
              <a:t>        System.out.printf("Drawing %s: base %.1f height %.1f (area %.2f)%n",</a:t>
            </a:r>
          </a:p>
          <a:p>
            <a:pPr>
              <a:lnSpc>
                <a:spcPct val="100000"/>
              </a:lnSpc>
              <a:spcBef>
                <a:spcPts val="0"/>
              </a:spcBef>
              <a:spcAft>
                <a:spcPts val="60"/>
              </a:spcAft>
            </a:pPr>
            <a:r>
              <a:rPr sz="773"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out/e04_shapes.txt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922" b="0" i="0">
                <a:solidFill>
                  <a:srgbClr val="14171C"/>
                </a:solidFill>
                <a:latin typeface="Consolas"/>
              </a:rPr>
              <a:t>$ javac -d bin/e04_shapes src/e04_shapes/Main.java</a:t>
            </a:r>
          </a:p>
          <a:p>
            <a:pPr>
              <a:lnSpc>
                <a:spcPct val="100000"/>
              </a:lnSpc>
              <a:spcBef>
                <a:spcPts val="0"/>
              </a:spcBef>
              <a:spcAft>
                <a:spcPts val="60"/>
              </a:spcAft>
            </a:pPr>
            <a:r>
              <a:rPr sz="922" b="0" i="0">
                <a:solidFill>
                  <a:srgbClr val="14171C"/>
                </a:solidFill>
                <a:latin typeface="Consolas"/>
              </a:rPr>
              <a:t>$ java -cp bin/e04_shapes Main</a:t>
            </a:r>
          </a:p>
          <a:p>
            <a:pPr>
              <a:lnSpc>
                <a:spcPct val="100000"/>
              </a:lnSpc>
              <a:spcBef>
                <a:spcPts val="0"/>
              </a:spcBef>
              <a:spcAft>
                <a:spcPts val="60"/>
              </a:spcAft>
            </a:pPr>
            <a:r>
              <a:rPr sz="922" b="0" i="0">
                <a:solidFill>
                  <a:srgbClr val="14171C"/>
                </a:solidFill>
                <a:latin typeface="Consolas"/>
              </a:rPr>
              <a:t>Drawing circle: centre(0,0) radius 2.5 (circumference 15.71)</a:t>
            </a:r>
          </a:p>
          <a:p>
            <a:pPr>
              <a:lnSpc>
                <a:spcPct val="100000"/>
              </a:lnSpc>
              <a:spcBef>
                <a:spcPts val="0"/>
              </a:spcBef>
              <a:spcAft>
                <a:spcPts val="60"/>
              </a:spcAft>
            </a:pPr>
            <a:r>
              <a:rPr sz="922" b="0" i="0">
                <a:solidFill>
                  <a:srgbClr val="14171C"/>
                </a:solidFill>
                <a:latin typeface="Consolas"/>
              </a:rPr>
              <a:t>Drawing triangle: base 6.0 height 4.0 (area 12.00)</a:t>
            </a:r>
          </a:p>
          <a:p>
            <a:pPr>
              <a:lnSpc>
                <a:spcPct val="100000"/>
              </a:lnSpc>
              <a:spcBef>
                <a:spcPts val="0"/>
              </a:spcBef>
              <a:spcAft>
                <a:spcPts val="60"/>
              </a:spcAft>
            </a:pPr>
            <a:r>
              <a:rPr sz="922" b="0" i="0">
                <a:solidFill>
                  <a:srgbClr val="14171C"/>
                </a:solidFill>
                <a:latin typeface="Consolas"/>
              </a:rPr>
              <a:t>Drawing square: side 3.0 (area 9.00)</a:t>
            </a:r>
          </a:p>
          <a:p>
            <a:pPr>
              <a:lnSpc>
                <a:spcPct val="100000"/>
              </a:lnSpc>
              <a:spcBef>
                <a:spcPts val="0"/>
              </a:spcBef>
              <a:spcAft>
                <a:spcPts val="60"/>
              </a:spcAft>
            </a:pPr>
            <a:r>
              <a:rPr sz="922" b="0" i="0">
                <a:solidFill>
                  <a:srgbClr val="14171C"/>
                </a:solidFill>
                <a:latin typeface="Consolas"/>
              </a:rPr>
              <a:t> </a:t>
            </a:r>
          </a:p>
          <a:p>
            <a:pPr>
              <a:lnSpc>
                <a:spcPct val="100000"/>
              </a:lnSpc>
              <a:spcBef>
                <a:spcPts val="0"/>
              </a:spcBef>
              <a:spcAft>
                <a:spcPts val="60"/>
              </a:spcAft>
            </a:pPr>
            <a:r>
              <a:rPr sz="922" b="0" i="0">
                <a:solidFill>
                  <a:srgbClr val="14171C"/>
                </a:solidFill>
                <a:latin typeface="Consolas"/>
              </a:rPr>
              <a:t>Erasing circle</a:t>
            </a:r>
          </a:p>
          <a:p>
            <a:pPr>
              <a:lnSpc>
                <a:spcPct val="100000"/>
              </a:lnSpc>
              <a:spcBef>
                <a:spcPts val="0"/>
              </a:spcBef>
              <a:spcAft>
                <a:spcPts val="60"/>
              </a:spcAft>
            </a:pPr>
            <a:r>
              <a:rPr sz="922" b="0" i="0">
                <a:solidFill>
                  <a:srgbClr val="14171C"/>
                </a:solidFill>
                <a:latin typeface="Consolas"/>
              </a:rPr>
              <a:t>Erasing triangle</a:t>
            </a:r>
          </a:p>
          <a:p>
            <a:pPr>
              <a:lnSpc>
                <a:spcPct val="100000"/>
              </a:lnSpc>
              <a:spcBef>
                <a:spcPts val="0"/>
              </a:spcBef>
              <a:spcAft>
                <a:spcPts val="60"/>
              </a:spcAft>
            </a:pPr>
            <a:r>
              <a:rPr sz="922" b="0" i="0">
                <a:solidFill>
                  <a:srgbClr val="14171C"/>
                </a:solidFill>
                <a:latin typeface="Consolas"/>
              </a:rPr>
              <a:t>Erasing square</a:t>
            </a:r>
          </a:p>
          <a:p>
            <a:pPr>
              <a:lnSpc>
                <a:spcPct val="100000"/>
              </a:lnSpc>
              <a:spcBef>
                <a:spcPts val="0"/>
              </a:spcBef>
              <a:spcAft>
                <a:spcPts val="60"/>
              </a:spcAft>
            </a:pPr>
            <a:r>
              <a:rPr sz="922" b="0" i="0">
                <a:solidFill>
                  <a:srgbClr val="14171C"/>
                </a:solidFill>
                <a:latin typeface="Consolas"/>
              </a:rPr>
              <a:t> </a:t>
            </a:r>
          </a:p>
          <a:p>
            <a:pPr>
              <a:lnSpc>
                <a:spcPct val="100000"/>
              </a:lnSpc>
              <a:spcBef>
                <a:spcPts val="0"/>
              </a:spcBef>
              <a:spcAft>
                <a:spcPts val="60"/>
              </a:spcAft>
            </a:pPr>
            <a:r>
              <a:rPr sz="922" b="0" i="0">
                <a:solidFill>
                  <a:srgbClr val="14171C"/>
                </a:solidFill>
                <a:latin typeface="Consolas"/>
              </a:rPr>
              <a:t>r instanceof Square? false</a:t>
            </a:r>
          </a:p>
          <a:p>
            <a:pPr>
              <a:lnSpc>
                <a:spcPct val="100000"/>
              </a:lnSpc>
              <a:spcBef>
                <a:spcPts val="0"/>
              </a:spcBef>
              <a:spcAft>
                <a:spcPts val="60"/>
              </a:spcAft>
            </a:pPr>
            <a:r>
              <a:rPr sz="922" b="0" i="0">
                <a:solidFill>
                  <a:srgbClr val="14171C"/>
                </a:solidFill>
                <a:latin typeface="Consolas"/>
              </a:rPr>
              <a:t>at run time r is really a Circle</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4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37</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One loop printed three behaviours: “Drawing circle: … radius 2.5 (circumference 15.71)”, “… triangle: base 6.0 height 4.0 (area 12.00)”, “… square: side 3.0 (area 9.00)” — 15.71 = 2π·2.5, 12.00 = ½·6·4, 9.00 = 3².</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erase loop printed all three names with no cast or type test: dispatch did the routing.</a:t>
            </a:r>
          </a:p>
          <a:p>
            <a:pPr marL="201168" indent="-201168">
              <a:lnSpc>
                <a:spcPct val="104000"/>
              </a:lnSpc>
              <a:spcBef>
                <a:spcPts val="0"/>
              </a:spcBef>
              <a:spcAft>
                <a:spcPts val="600"/>
              </a:spcAft>
            </a:pPr>
            <a:r>
              <a:rPr sz="1250" b="1" i="0">
                <a:solidFill>
                  <a:srgbClr val="B3261E"/>
                </a:solidFill>
                <a:latin typeface="Calibri"/>
              </a:rPr>
              <a:t>•  </a:t>
            </a:r>
            <a:r>
              <a:rPr sz="1200" b="0" i="0">
                <a:solidFill>
                  <a:srgbClr val="16181D"/>
                </a:solidFill>
                <a:latin typeface="Consolas"/>
              </a:rPr>
              <a:t>r instanceof Square? false</a:t>
            </a:r>
            <a:r>
              <a:rPr sz="1250" b="0" i="0">
                <a:solidFill>
                  <a:srgbClr val="16181D"/>
                </a:solidFill>
                <a:latin typeface="Calibri"/>
              </a:rPr>
              <a:t>with a parent-typed handle — the instanceof guard before a downcast, demonstrated in one line.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Constructor chain visible in shape identity: each child’s super("circle"…) feeds tag, which every method then reuses — parent state stays the parent’s.</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can’t new Shape(...) appear in main?</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Which constructor runs first — Circle’s or Shape’s? Cite the evidence.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What would the transcript lose if bag were declared Circle[]?</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Shape is abstract — the language forbids instantiating a class with unfinished methods; it exists only to be inherited through.</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 three-level Shape hierarchy with abstract draw/erase was constructed; one parent-typed loop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5 — A Resizable interface implemented by Rectangle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38</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100" b="0" i="0">
                <a:solidFill>
                  <a:srgbClr val="16181D"/>
                </a:solidFill>
                <a:latin typeface="Calibri"/>
              </a:rPr>
              <a:t>5. Develop a Java program to create an interface Resizable with methods resizeWidth(int width) and resizeHeight(int height) that allow an object to be resized. Create a class Rectangle that implements the Resizable interface and implements the resize methods.</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src/e05_iface/</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773" b="0" i="0">
                <a:solidFill>
                  <a:srgbClr val="E5E7EB"/>
                </a:solidFill>
                <a:latin typeface="Consolas"/>
              </a:rPr>
              <a:t>// ——— src/e05_iface/Main.java ———</a:t>
            </a:r>
          </a:p>
          <a:p>
            <a:pPr>
              <a:lnSpc>
                <a:spcPct val="100000"/>
              </a:lnSpc>
              <a:spcBef>
                <a:spcPts val="0"/>
              </a:spcBef>
              <a:spcAft>
                <a:spcPts val="60"/>
              </a:spcAft>
            </a:pPr>
            <a:r>
              <a:rPr sz="773" b="0" i="0">
                <a:solidFill>
                  <a:srgbClr val="E5E7EB"/>
                </a:solidFill>
                <a:latin typeface="Consolas"/>
              </a:rPr>
              <a:t>/* Experiment 5 -- the Resizable interface with resizeWidth(int) and</a:t>
            </a:r>
          </a:p>
          <a:p>
            <a:pPr>
              <a:lnSpc>
                <a:spcPct val="100000"/>
              </a:lnSpc>
              <a:spcBef>
                <a:spcPts val="0"/>
              </a:spcBef>
              <a:spcAft>
                <a:spcPts val="60"/>
              </a:spcAft>
            </a:pPr>
            <a:r>
              <a:rPr sz="773" b="0" i="0">
                <a:solidFill>
                  <a:srgbClr val="E5E7EB"/>
                </a:solidFill>
                <a:latin typeface="Consolas"/>
              </a:rPr>
              <a:t>   resizeHeight(int), implemented by the Rectangle class; the resize</a:t>
            </a:r>
          </a:p>
          <a:p>
            <a:pPr>
              <a:lnSpc>
                <a:spcPct val="100000"/>
              </a:lnSpc>
              <a:spcBef>
                <a:spcPts val="0"/>
              </a:spcBef>
              <a:spcAft>
                <a:spcPts val="60"/>
              </a:spcAft>
            </a:pPr>
            <a:r>
              <a:rPr sz="773" b="0" i="0">
                <a:solidFill>
                  <a:srgbClr val="E5E7EB"/>
                </a:solidFill>
                <a:latin typeface="Consolas"/>
              </a:rPr>
              <a:t>   methods are then invoked through an interface reference. */</a:t>
            </a:r>
          </a:p>
          <a:p>
            <a:pPr>
              <a:lnSpc>
                <a:spcPct val="100000"/>
              </a:lnSpc>
              <a:spcBef>
                <a:spcPts val="0"/>
              </a:spcBef>
              <a:spcAft>
                <a:spcPts val="60"/>
              </a:spcAft>
            </a:pPr>
            <a:r>
              <a:rPr sz="773" b="0" i="0">
                <a:solidFill>
                  <a:srgbClr val="E5E7EB"/>
                </a:solidFill>
                <a:latin typeface="Consolas"/>
              </a:rPr>
              <a:t>interface Resizable {</a:t>
            </a:r>
          </a:p>
          <a:p>
            <a:pPr>
              <a:lnSpc>
                <a:spcPct val="100000"/>
              </a:lnSpc>
              <a:spcBef>
                <a:spcPts val="0"/>
              </a:spcBef>
              <a:spcAft>
                <a:spcPts val="60"/>
              </a:spcAft>
            </a:pPr>
            <a:r>
              <a:rPr sz="773" b="0" i="0">
                <a:solidFill>
                  <a:srgbClr val="E5E7EB"/>
                </a:solidFill>
                <a:latin typeface="Consolas"/>
              </a:rPr>
              <a:t>    void resizeWidth(int width);</a:t>
            </a:r>
          </a:p>
          <a:p>
            <a:pPr>
              <a:lnSpc>
                <a:spcPct val="100000"/>
              </a:lnSpc>
              <a:spcBef>
                <a:spcPts val="0"/>
              </a:spcBef>
              <a:spcAft>
                <a:spcPts val="60"/>
              </a:spcAft>
            </a:pPr>
            <a:r>
              <a:rPr sz="773" b="0" i="0">
                <a:solidFill>
                  <a:srgbClr val="E5E7EB"/>
                </a:solidFill>
                <a:latin typeface="Consolas"/>
              </a:rPr>
              <a:t>    void resizeHeight(int height);</a:t>
            </a:r>
          </a:p>
          <a:p>
            <a:pPr>
              <a:lnSpc>
                <a:spcPct val="100000"/>
              </a:lnSpc>
              <a:spcBef>
                <a:spcPts val="0"/>
              </a:spcBef>
              <a:spcAft>
                <a:spcPts val="60"/>
              </a:spcAft>
            </a:pPr>
            <a:r>
              <a:rPr sz="773" b="0" i="0">
                <a:solidFill>
                  <a:srgbClr val="E5E7EB"/>
                </a:solidFill>
                <a:latin typeface="Consolas"/>
              </a:rPr>
              <a:t>    int width();</a:t>
            </a:r>
          </a:p>
          <a:p>
            <a:pPr>
              <a:lnSpc>
                <a:spcPct val="100000"/>
              </a:lnSpc>
              <a:spcBef>
                <a:spcPts val="0"/>
              </a:spcBef>
              <a:spcAft>
                <a:spcPts val="60"/>
              </a:spcAft>
            </a:pPr>
            <a:r>
              <a:rPr sz="773" b="0" i="0">
                <a:solidFill>
                  <a:srgbClr val="E5E7EB"/>
                </a:solidFill>
                <a:latin typeface="Consolas"/>
              </a:rPr>
              <a:t>    int height();</a:t>
            </a:r>
          </a:p>
          <a:p>
            <a:pPr>
              <a:lnSpc>
                <a:spcPct val="100000"/>
              </a:lnSpc>
              <a:spcBef>
                <a:spcPts val="0"/>
              </a:spcBef>
              <a:spcAft>
                <a:spcPts val="60"/>
              </a:spcAft>
            </a:pPr>
            <a:r>
              <a:rPr sz="773" b="0" i="0">
                <a:solidFill>
                  <a:srgbClr val="E5E7EB"/>
                </a:solidFill>
                <a:latin typeface="Consolas"/>
              </a:rPr>
              <a:t>    default String describe() {              // a convenience every implementor inherits</a:t>
            </a:r>
          </a:p>
          <a:p>
            <a:pPr>
              <a:lnSpc>
                <a:spcPct val="100000"/>
              </a:lnSpc>
              <a:spcBef>
                <a:spcPts val="0"/>
              </a:spcBef>
              <a:spcAft>
                <a:spcPts val="60"/>
              </a:spcAft>
            </a:pPr>
            <a:r>
              <a:rPr sz="773" b="0" i="0">
                <a:solidFill>
                  <a:srgbClr val="E5E7EB"/>
                </a:solidFill>
                <a:latin typeface="Consolas"/>
              </a:rPr>
              <a:t>        return getClass().getSimpleName() + " is now " + width() + " x " + height();</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class Rectangle implements Resizable {</a:t>
            </a:r>
          </a:p>
          <a:p>
            <a:pPr>
              <a:lnSpc>
                <a:spcPct val="100000"/>
              </a:lnSpc>
              <a:spcBef>
                <a:spcPts val="0"/>
              </a:spcBef>
              <a:spcAft>
                <a:spcPts val="60"/>
              </a:spcAft>
            </a:pPr>
            <a:r>
              <a:rPr sz="773" b="0" i="0">
                <a:solidFill>
                  <a:srgbClr val="E5E7EB"/>
                </a:solidFill>
                <a:latin typeface="Consolas"/>
              </a:rPr>
              <a:t>    private int w, h;</a:t>
            </a:r>
          </a:p>
          <a:p>
            <a:pPr>
              <a:lnSpc>
                <a:spcPct val="100000"/>
              </a:lnSpc>
              <a:spcBef>
                <a:spcPts val="0"/>
              </a:spcBef>
              <a:spcAft>
                <a:spcPts val="60"/>
              </a:spcAft>
            </a:pPr>
            <a:r>
              <a:rPr sz="773" b="0" i="0">
                <a:solidFill>
                  <a:srgbClr val="E5E7EB"/>
                </a:solidFill>
                <a:latin typeface="Consolas"/>
              </a:rPr>
              <a:t>    Rectangle(int w, int h) { this.w = w; this.h = h; }</a:t>
            </a:r>
          </a:p>
          <a:p>
            <a:pPr>
              <a:lnSpc>
                <a:spcPct val="100000"/>
              </a:lnSpc>
              <a:spcBef>
                <a:spcPts val="0"/>
              </a:spcBef>
              <a:spcAft>
                <a:spcPts val="60"/>
              </a:spcAft>
            </a:pPr>
            <a:r>
              <a:rPr sz="773" b="0" i="0">
                <a:solidFill>
                  <a:srgbClr val="E5E7EB"/>
                </a:solidFill>
                <a:latin typeface="Consolas"/>
              </a:rPr>
              <a:t>    public void resizeWidth(int width)   { w = width; }</a:t>
            </a:r>
          </a:p>
          <a:p>
            <a:pPr>
              <a:lnSpc>
                <a:spcPct val="100000"/>
              </a:lnSpc>
              <a:spcBef>
                <a:spcPts val="0"/>
              </a:spcBef>
              <a:spcAft>
                <a:spcPts val="60"/>
              </a:spcAft>
            </a:pPr>
            <a:r>
              <a:rPr sz="773" b="0" i="0">
                <a:solidFill>
                  <a:srgbClr val="E5E7EB"/>
                </a:solidFill>
                <a:latin typeface="Consolas"/>
              </a:rPr>
              <a:t>    public void resizeHeight(int height) { h = height; }</a:t>
            </a:r>
          </a:p>
          <a:p>
            <a:pPr>
              <a:lnSpc>
                <a:spcPct val="100000"/>
              </a:lnSpc>
              <a:spcBef>
                <a:spcPts val="0"/>
              </a:spcBef>
              <a:spcAft>
                <a:spcPts val="60"/>
              </a:spcAft>
            </a:pPr>
            <a:r>
              <a:rPr sz="773" b="0" i="0">
                <a:solidFill>
                  <a:srgbClr val="E5E7EB"/>
                </a:solidFill>
                <a:latin typeface="Consolas"/>
              </a:rPr>
              <a:t>    public int width()  { return w; }</a:t>
            </a:r>
          </a:p>
          <a:p>
            <a:pPr>
              <a:lnSpc>
                <a:spcPct val="100000"/>
              </a:lnSpc>
              <a:spcBef>
                <a:spcPts val="0"/>
              </a:spcBef>
              <a:spcAft>
                <a:spcPts val="60"/>
              </a:spcAft>
            </a:pPr>
            <a:r>
              <a:rPr sz="773" b="0" i="0">
                <a:solidFill>
                  <a:srgbClr val="E5E7EB"/>
                </a:solidFill>
                <a:latin typeface="Consolas"/>
              </a:rPr>
              <a:t>    public int height() { return h; }</a:t>
            </a:r>
          </a:p>
          <a:p>
            <a:pPr>
              <a:lnSpc>
                <a:spcPct val="100000"/>
              </a:lnSpc>
              <a:spcBef>
                <a:spcPts val="0"/>
              </a:spcBef>
              <a:spcAft>
                <a:spcPts val="60"/>
              </a:spcAft>
            </a:pPr>
            <a:r>
              <a:rPr sz="773" b="0" i="0">
                <a:solidFill>
                  <a:srgbClr val="E5E7EB"/>
                </a:solidFill>
                <a:latin typeface="Consolas"/>
              </a:rPr>
              <a:t>}</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public class Main {</a:t>
            </a:r>
          </a:p>
          <a:p>
            <a:pPr>
              <a:lnSpc>
                <a:spcPct val="100000"/>
              </a:lnSpc>
              <a:spcBef>
                <a:spcPts val="0"/>
              </a:spcBef>
              <a:spcAft>
                <a:spcPts val="60"/>
              </a:spcAft>
            </a:pPr>
            <a:r>
              <a:rPr sz="773" b="0" i="0">
                <a:solidFill>
                  <a:srgbClr val="E5E7EB"/>
                </a:solidFill>
                <a:latin typeface="Consolas"/>
              </a:rPr>
              <a:t>    public static void main(String[] args) {</a:t>
            </a:r>
          </a:p>
          <a:p>
            <a:pPr>
              <a:lnSpc>
                <a:spcPct val="100000"/>
              </a:lnSpc>
              <a:spcBef>
                <a:spcPts val="0"/>
              </a:spcBef>
              <a:spcAft>
                <a:spcPts val="60"/>
              </a:spcAft>
            </a:pPr>
            <a:r>
              <a:rPr sz="773"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out/e05_iface.txt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878" b="0" i="0">
                <a:solidFill>
                  <a:srgbClr val="14171C"/>
                </a:solidFill>
                <a:latin typeface="Consolas"/>
              </a:rPr>
              <a:t>$ javac -d bin/e05_iface src/e05_iface/Main.java</a:t>
            </a:r>
          </a:p>
          <a:p>
            <a:pPr>
              <a:lnSpc>
                <a:spcPct val="100000"/>
              </a:lnSpc>
              <a:spcBef>
                <a:spcPts val="0"/>
              </a:spcBef>
              <a:spcAft>
                <a:spcPts val="60"/>
              </a:spcAft>
            </a:pPr>
            <a:r>
              <a:rPr sz="878" b="0" i="0">
                <a:solidFill>
                  <a:srgbClr val="14171C"/>
                </a:solidFill>
                <a:latin typeface="Consolas"/>
              </a:rPr>
              <a:t>$ java -cp bin/e05_iface Main</a:t>
            </a:r>
          </a:p>
          <a:p>
            <a:pPr>
              <a:lnSpc>
                <a:spcPct val="100000"/>
              </a:lnSpc>
              <a:spcBef>
                <a:spcPts val="0"/>
              </a:spcBef>
              <a:spcAft>
                <a:spcPts val="60"/>
              </a:spcAft>
            </a:pPr>
            <a:r>
              <a:rPr sz="878" b="0" i="0">
                <a:solidFill>
                  <a:srgbClr val="14171C"/>
                </a:solidFill>
                <a:latin typeface="Consolas"/>
              </a:rPr>
              <a:t>initial: Rectangle is now 10 x 6</a:t>
            </a:r>
          </a:p>
          <a:p>
            <a:pPr>
              <a:lnSpc>
                <a:spcPct val="100000"/>
              </a:lnSpc>
              <a:spcBef>
                <a:spcPts val="0"/>
              </a:spcBef>
              <a:spcAft>
                <a:spcPts val="60"/>
              </a:spcAft>
            </a:pPr>
            <a:r>
              <a:rPr sz="878" b="0" i="0">
                <a:solidFill>
                  <a:srgbClr val="14171C"/>
                </a:solidFill>
                <a:latin typeface="Consolas"/>
              </a:rPr>
              <a:t>after resizeWidth(15), resizeHeight(4): Rectangle is now 15 x 4</a:t>
            </a:r>
          </a:p>
          <a:p>
            <a:pPr>
              <a:lnSpc>
                <a:spcPct val="100000"/>
              </a:lnSpc>
              <a:spcBef>
                <a:spcPts val="0"/>
              </a:spcBef>
              <a:spcAft>
                <a:spcPts val="60"/>
              </a:spcAft>
            </a:pPr>
            <a:r>
              <a:rPr sz="878" b="0" i="0">
                <a:solidFill>
                  <a:srgbClr val="14171C"/>
                </a:solidFill>
                <a:latin typeface="Consolas"/>
              </a:rPr>
              <a:t>area computed through the interface: 60</a:t>
            </a:r>
          </a:p>
          <a:p>
            <a:pPr>
              <a:lnSpc>
                <a:spcPct val="100000"/>
              </a:lnSpc>
              <a:spcBef>
                <a:spcPts val="0"/>
              </a:spcBef>
              <a:spcAft>
                <a:spcPts val="60"/>
              </a:spcAft>
            </a:pPr>
            <a:r>
              <a:rPr sz="878" b="0" i="0">
                <a:solidFill>
                  <a:srgbClr val="14171C"/>
                </a:solidFill>
                <a:latin typeface="Consolas"/>
              </a:rPr>
              <a:t>the class behind the interface handle: Rectangle</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5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39</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Before/after the interface calls: “initial: Rectangle is now 10 x 6” became “after resizeWidth(15), resizeHeight(4): Rectangle is now 15 x 4” — the object mutated, the reference type never changed.</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Area through the interface handle printed 60 — width()×height() were interface methods all along.</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describe() ran without Rectangle containing a line of it — the default method was inherited whole.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class behind the interface handle: Rectangle” — getClass() pierces the abstraction; useful for debugging, not for decisions (an if-on-class-name would be the anti-pattern).</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May the interface hold state, e.g. int count;?</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Which methods must Rectangle implement and which may it skip?</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Why does main keep r as well as res?</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No instance fields — interfaces define behaviour only; the constants it does hold are implicitly public static final.</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The Resizable contract was implemented by Rectangle and exercised entirely through interface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6 — A package mypack, imported and used across the boundary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40</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100" b="0" i="0">
                <a:solidFill>
                  <a:srgbClr val="16181D"/>
                </a:solidFill>
                <a:latin typeface="Calibri"/>
              </a:rPr>
              <a:t>6. Develop a Java program to create a package named mypack and import &amp; implement it in a suitable class.</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src/e06_pkg/</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804" b="0" i="0">
                <a:solidFill>
                  <a:srgbClr val="E5E7EB"/>
                </a:solidFill>
                <a:latin typeface="Consolas"/>
              </a:rPr>
              <a:t>// ——— src/e06_pkg/mypack/Calculator.java ———</a:t>
            </a:r>
          </a:p>
          <a:p>
            <a:pPr>
              <a:lnSpc>
                <a:spcPct val="100000"/>
              </a:lnSpc>
              <a:spcBef>
                <a:spcPts val="0"/>
              </a:spcBef>
              <a:spcAft>
                <a:spcPts val="60"/>
              </a:spcAft>
            </a:pPr>
            <a:r>
              <a:rPr sz="804" b="0" i="0">
                <a:solidFill>
                  <a:srgbClr val="E5E7EB"/>
                </a:solidFill>
                <a:latin typeface="Consolas"/>
              </a:rPr>
              <a:t>package mypack;</a:t>
            </a:r>
          </a:p>
          <a:p>
            <a:pPr>
              <a:lnSpc>
                <a:spcPct val="100000"/>
              </a:lnSpc>
              <a:spcBef>
                <a:spcPts val="0"/>
              </a:spcBef>
              <a:spcAft>
                <a:spcPts val="60"/>
              </a:spcAft>
            </a:pPr>
            <a:r>
              <a:rPr sz="804" b="0" i="0">
                <a:solidFill>
                  <a:srgbClr val="E5E7EB"/>
                </a:solidFill>
                <a:latin typeface="Consolas"/>
              </a:rPr>
              <a:t>/* Experiment 6 -- the package mypack with an arithmetic class. */</a:t>
            </a:r>
          </a:p>
          <a:p>
            <a:pPr>
              <a:lnSpc>
                <a:spcPct val="100000"/>
              </a:lnSpc>
              <a:spcBef>
                <a:spcPts val="0"/>
              </a:spcBef>
              <a:spcAft>
                <a:spcPts val="60"/>
              </a:spcAft>
            </a:pPr>
            <a:r>
              <a:rPr sz="804" b="0" i="0">
                <a:solidFill>
                  <a:srgbClr val="E5E7EB"/>
                </a:solidFill>
                <a:latin typeface="Consolas"/>
              </a:rPr>
              <a:t>public class Calculator {</a:t>
            </a:r>
          </a:p>
          <a:p>
            <a:pPr>
              <a:lnSpc>
                <a:spcPct val="100000"/>
              </a:lnSpc>
              <a:spcBef>
                <a:spcPts val="0"/>
              </a:spcBef>
              <a:spcAft>
                <a:spcPts val="60"/>
              </a:spcAft>
            </a:pPr>
            <a:r>
              <a:rPr sz="804" b="0" i="0">
                <a:solidFill>
                  <a:srgbClr val="E5E7EB"/>
                </a:solidFill>
                <a:latin typeface="Consolas"/>
              </a:rPr>
              <a:t>    public int add(int a, int b)      { return a + b; }</a:t>
            </a:r>
          </a:p>
          <a:p>
            <a:pPr>
              <a:lnSpc>
                <a:spcPct val="100000"/>
              </a:lnSpc>
              <a:spcBef>
                <a:spcPts val="0"/>
              </a:spcBef>
              <a:spcAft>
                <a:spcPts val="60"/>
              </a:spcAft>
            </a:pPr>
            <a:r>
              <a:rPr sz="804" b="0" i="0">
                <a:solidFill>
                  <a:srgbClr val="E5E7EB"/>
                </a:solidFill>
                <a:latin typeface="Consolas"/>
              </a:rPr>
              <a:t>    public int subtract(int a, int b) { return a - b; }</a:t>
            </a:r>
          </a:p>
          <a:p>
            <a:pPr>
              <a:lnSpc>
                <a:spcPct val="100000"/>
              </a:lnSpc>
              <a:spcBef>
                <a:spcPts val="0"/>
              </a:spcBef>
              <a:spcAft>
                <a:spcPts val="60"/>
              </a:spcAft>
            </a:pPr>
            <a:r>
              <a:rPr sz="804" b="0" i="0">
                <a:solidFill>
                  <a:srgbClr val="E5E7EB"/>
                </a:solidFill>
                <a:latin typeface="Consolas"/>
              </a:rPr>
              <a:t>    public int multiply(int a, int b) { return a * b; }</a:t>
            </a:r>
          </a:p>
          <a:p>
            <a:pPr>
              <a:lnSpc>
                <a:spcPct val="100000"/>
              </a:lnSpc>
              <a:spcBef>
                <a:spcPts val="0"/>
              </a:spcBef>
              <a:spcAft>
                <a:spcPts val="60"/>
              </a:spcAft>
            </a:pPr>
            <a:r>
              <a:rPr sz="804" b="0" i="0">
                <a:solidFill>
                  <a:srgbClr val="E5E7EB"/>
                </a:solidFill>
                <a:latin typeface="Consolas"/>
              </a:rPr>
              <a:t>    static int helper() { return 1000; }    // package-private -- stays inside</a:t>
            </a:r>
          </a:p>
          <a:p>
            <a:pPr>
              <a:lnSpc>
                <a:spcPct val="100000"/>
              </a:lnSpc>
              <a:spcBef>
                <a:spcPts val="0"/>
              </a:spcBef>
              <a:spcAft>
                <a:spcPts val="60"/>
              </a:spcAft>
            </a:pPr>
            <a:r>
              <a:rPr sz="804" b="0" i="0">
                <a:solidFill>
                  <a:srgbClr val="E5E7EB"/>
                </a:solidFill>
                <a:latin typeface="Consolas"/>
              </a:rPr>
              <a:t>}</a:t>
            </a:r>
          </a:p>
          <a:p>
            <a:pPr>
              <a:lnSpc>
                <a:spcPct val="100000"/>
              </a:lnSpc>
              <a:spcBef>
                <a:spcPts val="0"/>
              </a:spcBef>
              <a:spcAft>
                <a:spcPts val="60"/>
              </a:spcAft>
            </a:pPr>
            <a:r>
              <a:rPr sz="804" b="0" i="0">
                <a:solidFill>
                  <a:srgbClr val="E5E7EB"/>
                </a:solidFill>
                <a:latin typeface="Consolas"/>
              </a:rPr>
              <a:t>// ——— src/e06_pkg/mypack/user/Demo.java ———</a:t>
            </a:r>
          </a:p>
          <a:p>
            <a:pPr>
              <a:lnSpc>
                <a:spcPct val="100000"/>
              </a:lnSpc>
              <a:spcBef>
                <a:spcPts val="0"/>
              </a:spcBef>
              <a:spcAft>
                <a:spcPts val="60"/>
              </a:spcAft>
            </a:pPr>
            <a:r>
              <a:rPr sz="804" b="0" i="0">
                <a:solidFill>
                  <a:srgbClr val="E5E7EB"/>
                </a:solidFill>
                <a:latin typeface="Consolas"/>
              </a:rPr>
              <a:t>package mypack.user;</a:t>
            </a:r>
          </a:p>
          <a:p>
            <a:pPr>
              <a:lnSpc>
                <a:spcPct val="100000"/>
              </a:lnSpc>
              <a:spcBef>
                <a:spcPts val="0"/>
              </a:spcBef>
              <a:spcAft>
                <a:spcPts val="60"/>
              </a:spcAft>
            </a:pPr>
            <a:r>
              <a:rPr sz="804" b="0" i="0">
                <a:solidFill>
                  <a:srgbClr val="E5E7EB"/>
                </a:solidFill>
                <a:latin typeface="Consolas"/>
              </a:rPr>
              <a:t>import mypack.Calculator;               // import from the sibling package</a:t>
            </a:r>
          </a:p>
          <a:p>
            <a:pPr>
              <a:lnSpc>
                <a:spcPct val="100000"/>
              </a:lnSpc>
              <a:spcBef>
                <a:spcPts val="0"/>
              </a:spcBef>
              <a:spcAft>
                <a:spcPts val="60"/>
              </a:spcAft>
            </a:pPr>
            <a:r>
              <a:rPr sz="804" b="0" i="0">
                <a:solidFill>
                  <a:srgbClr val="E5E7EB"/>
                </a:solidFill>
                <a:latin typeface="Consolas"/>
              </a:rPr>
              <a:t>// A class in ANOTHER package uses mypack.Calculator's public members.</a:t>
            </a:r>
          </a:p>
          <a:p>
            <a:pPr>
              <a:lnSpc>
                <a:spcPct val="100000"/>
              </a:lnSpc>
              <a:spcBef>
                <a:spcPts val="0"/>
              </a:spcBef>
              <a:spcAft>
                <a:spcPts val="60"/>
              </a:spcAft>
            </a:pPr>
            <a:r>
              <a:rPr sz="804" b="0" i="0">
                <a:solidFill>
                  <a:srgbClr val="E5E7EB"/>
                </a:solidFill>
                <a:latin typeface="Consolas"/>
              </a:rPr>
              <a:t>public class Demo {</a:t>
            </a:r>
          </a:p>
          <a:p>
            <a:pPr>
              <a:lnSpc>
                <a:spcPct val="100000"/>
              </a:lnSpc>
              <a:spcBef>
                <a:spcPts val="0"/>
              </a:spcBef>
              <a:spcAft>
                <a:spcPts val="60"/>
              </a:spcAft>
            </a:pPr>
            <a:r>
              <a:rPr sz="804" b="0" i="0">
                <a:solidFill>
                  <a:srgbClr val="E5E7EB"/>
                </a:solidFill>
                <a:latin typeface="Consolas"/>
              </a:rPr>
              <a:t>    public static void main(String[] args) {</a:t>
            </a:r>
          </a:p>
          <a:p>
            <a:pPr>
              <a:lnSpc>
                <a:spcPct val="100000"/>
              </a:lnSpc>
              <a:spcBef>
                <a:spcPts val="0"/>
              </a:spcBef>
              <a:spcAft>
                <a:spcPts val="60"/>
              </a:spcAft>
            </a:pPr>
            <a:r>
              <a:rPr sz="804" b="0" i="0">
                <a:solidFill>
                  <a:srgbClr val="E5E7EB"/>
                </a:solidFill>
                <a:latin typeface="Consolas"/>
              </a:rPr>
              <a:t>        Calculator c = new Calculator();</a:t>
            </a:r>
          </a:p>
          <a:p>
            <a:pPr>
              <a:lnSpc>
                <a:spcPct val="100000"/>
              </a:lnSpc>
              <a:spcBef>
                <a:spcPts val="0"/>
              </a:spcBef>
              <a:spcAft>
                <a:spcPts val="60"/>
              </a:spcAft>
            </a:pPr>
            <a:r>
              <a:rPr sz="804" b="0" i="0">
                <a:solidFill>
                  <a:srgbClr val="E5E7EB"/>
                </a:solidFill>
                <a:latin typeface="Consolas"/>
              </a:rPr>
              <a:t>        int a = 45, b = 27;</a:t>
            </a:r>
          </a:p>
          <a:p>
            <a:pPr>
              <a:lnSpc>
                <a:spcPct val="100000"/>
              </a:lnSpc>
              <a:spcBef>
                <a:spcPts val="0"/>
              </a:spcBef>
              <a:spcAft>
                <a:spcPts val="60"/>
              </a:spcAft>
            </a:pPr>
            <a:r>
              <a:rPr sz="804" b="0" i="0">
                <a:solidFill>
                  <a:srgbClr val="E5E7EB"/>
                </a:solidFill>
                <a:latin typeface="Consolas"/>
              </a:rPr>
              <a:t>        System.out.println("package mypack.user importing mypack.Calculator");</a:t>
            </a:r>
          </a:p>
          <a:p>
            <a:pPr>
              <a:lnSpc>
                <a:spcPct val="100000"/>
              </a:lnSpc>
              <a:spcBef>
                <a:spcPts val="0"/>
              </a:spcBef>
              <a:spcAft>
                <a:spcPts val="60"/>
              </a:spcAft>
            </a:pPr>
            <a:r>
              <a:rPr sz="804" b="0" i="0">
                <a:solidFill>
                  <a:srgbClr val="E5E7EB"/>
                </a:solidFill>
                <a:latin typeface="Consolas"/>
              </a:rPr>
              <a:t>        System.out.println(a + " + " + b + " = " + c.add(a, b));</a:t>
            </a:r>
          </a:p>
          <a:p>
            <a:pPr>
              <a:lnSpc>
                <a:spcPct val="100000"/>
              </a:lnSpc>
              <a:spcBef>
                <a:spcPts val="0"/>
              </a:spcBef>
              <a:spcAft>
                <a:spcPts val="60"/>
              </a:spcAft>
            </a:pPr>
            <a:r>
              <a:rPr sz="804" b="0" i="0">
                <a:solidFill>
                  <a:srgbClr val="E5E7EB"/>
                </a:solidFill>
                <a:latin typeface="Consolas"/>
              </a:rPr>
              <a:t>        System.out.println(a + " - " + b + " = " + c.subtract(a, b));</a:t>
            </a:r>
          </a:p>
          <a:p>
            <a:pPr>
              <a:lnSpc>
                <a:spcPct val="100000"/>
              </a:lnSpc>
              <a:spcBef>
                <a:spcPts val="0"/>
              </a:spcBef>
              <a:spcAft>
                <a:spcPts val="60"/>
              </a:spcAft>
            </a:pPr>
            <a:r>
              <a:rPr sz="804" b="0" i="0">
                <a:solidFill>
                  <a:srgbClr val="E5E7EB"/>
                </a:solidFill>
                <a:latin typeface="Consolas"/>
              </a:rPr>
              <a:t>        System.out.println(a + " * " + b + " = " + c.multiply(a, b));</a:t>
            </a:r>
          </a:p>
          <a:p>
            <a:pPr>
              <a:lnSpc>
                <a:spcPct val="100000"/>
              </a:lnSpc>
              <a:spcBef>
                <a:spcPts val="0"/>
              </a:spcBef>
              <a:spcAft>
                <a:spcPts val="60"/>
              </a:spcAft>
            </a:pPr>
            <a:r>
              <a:rPr sz="804" b="0" i="0">
                <a:solidFill>
                  <a:srgbClr val="E5E7EB"/>
                </a:solidFill>
                <a:latin typeface="Consolas"/>
              </a:rPr>
              <a:t>        // Calculator.helper();          // NOT visible outside mypack</a:t>
            </a:r>
          </a:p>
          <a:p>
            <a:pPr>
              <a:lnSpc>
                <a:spcPct val="100000"/>
              </a:lnSpc>
              <a:spcBef>
                <a:spcPts val="0"/>
              </a:spcBef>
              <a:spcAft>
                <a:spcPts val="60"/>
              </a:spcAft>
            </a:pPr>
            <a:r>
              <a:rPr sz="804" b="0" i="0">
                <a:solidFill>
                  <a:srgbClr val="E5E7EB"/>
                </a:solidFill>
                <a:latin typeface="Consolas"/>
              </a:rPr>
              <a:t>        System.out.println("Only the public members crossed the package boundary.");</a:t>
            </a:r>
          </a:p>
          <a:p>
            <a:pPr>
              <a:lnSpc>
                <a:spcPct val="100000"/>
              </a:lnSpc>
              <a:spcBef>
                <a:spcPts val="0"/>
              </a:spcBef>
              <a:spcAft>
                <a:spcPts val="60"/>
              </a:spcAft>
            </a:pPr>
            <a:r>
              <a:rPr sz="804" b="0" i="0">
                <a:solidFill>
                  <a:srgbClr val="E5E7EB"/>
                </a:solidFill>
                <a:latin typeface="Consolas"/>
              </a:rPr>
              <a:t>    }</a:t>
            </a:r>
          </a:p>
          <a:p>
            <a:pPr>
              <a:lnSpc>
                <a:spcPct val="100000"/>
              </a:lnSpc>
              <a:spcBef>
                <a:spcPts val="0"/>
              </a:spcBef>
              <a:spcAft>
                <a:spcPts val="60"/>
              </a:spcAft>
            </a:pPr>
            <a:r>
              <a:rPr sz="804" b="0" i="0">
                <a:solidFill>
                  <a:srgbClr val="E5E7EB"/>
                </a:solidFill>
                <a:latin typeface="Consolas"/>
              </a:rPr>
              <a:t>}</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out/e06_pkg.txt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720" b="0" i="0">
                <a:solidFill>
                  <a:srgbClr val="14171C"/>
                </a:solidFill>
                <a:latin typeface="Consolas"/>
              </a:rPr>
              <a:t>$ javac -d bin/e06_pkg src/e06_pkg/mypack/Calculator.java src/e06_pkg/mypack/user/Demo.java</a:t>
            </a:r>
          </a:p>
          <a:p>
            <a:pPr>
              <a:lnSpc>
                <a:spcPct val="100000"/>
              </a:lnSpc>
              <a:spcBef>
                <a:spcPts val="0"/>
              </a:spcBef>
              <a:spcAft>
                <a:spcPts val="60"/>
              </a:spcAft>
            </a:pPr>
            <a:r>
              <a:rPr sz="720" b="0" i="0">
                <a:solidFill>
                  <a:srgbClr val="14171C"/>
                </a:solidFill>
                <a:latin typeface="Consolas"/>
              </a:rPr>
              <a:t>$ java -cp bin/e06_pkg mypack.user.Demo</a:t>
            </a:r>
          </a:p>
          <a:p>
            <a:pPr>
              <a:lnSpc>
                <a:spcPct val="100000"/>
              </a:lnSpc>
              <a:spcBef>
                <a:spcPts val="0"/>
              </a:spcBef>
              <a:spcAft>
                <a:spcPts val="60"/>
              </a:spcAft>
            </a:pPr>
            <a:r>
              <a:rPr sz="720" b="0" i="0">
                <a:solidFill>
                  <a:srgbClr val="14171C"/>
                </a:solidFill>
                <a:latin typeface="Consolas"/>
              </a:rPr>
              <a:t>package mypack.user importing mypack.Calculator</a:t>
            </a:r>
          </a:p>
          <a:p>
            <a:pPr>
              <a:lnSpc>
                <a:spcPct val="100000"/>
              </a:lnSpc>
              <a:spcBef>
                <a:spcPts val="0"/>
              </a:spcBef>
              <a:spcAft>
                <a:spcPts val="60"/>
              </a:spcAft>
            </a:pPr>
            <a:r>
              <a:rPr sz="720" b="0" i="0">
                <a:solidFill>
                  <a:srgbClr val="14171C"/>
                </a:solidFill>
                <a:latin typeface="Consolas"/>
              </a:rPr>
              <a:t>45 + 27 = 72</a:t>
            </a:r>
          </a:p>
          <a:p>
            <a:pPr>
              <a:lnSpc>
                <a:spcPct val="100000"/>
              </a:lnSpc>
              <a:spcBef>
                <a:spcPts val="0"/>
              </a:spcBef>
              <a:spcAft>
                <a:spcPts val="60"/>
              </a:spcAft>
            </a:pPr>
            <a:r>
              <a:rPr sz="720" b="0" i="0">
                <a:solidFill>
                  <a:srgbClr val="14171C"/>
                </a:solidFill>
                <a:latin typeface="Consolas"/>
              </a:rPr>
              <a:t>45 - 27 = 18</a:t>
            </a:r>
          </a:p>
          <a:p>
            <a:pPr>
              <a:lnSpc>
                <a:spcPct val="100000"/>
              </a:lnSpc>
              <a:spcBef>
                <a:spcPts val="0"/>
              </a:spcBef>
              <a:spcAft>
                <a:spcPts val="60"/>
              </a:spcAft>
            </a:pPr>
            <a:r>
              <a:rPr sz="720" b="0" i="0">
                <a:solidFill>
                  <a:srgbClr val="14171C"/>
                </a:solidFill>
                <a:latin typeface="Consolas"/>
              </a:rPr>
              <a:t>45 * 27 = 1215</a:t>
            </a:r>
          </a:p>
          <a:p>
            <a:pPr>
              <a:lnSpc>
                <a:spcPct val="100000"/>
              </a:lnSpc>
              <a:spcBef>
                <a:spcPts val="0"/>
              </a:spcBef>
              <a:spcAft>
                <a:spcPts val="60"/>
              </a:spcAft>
            </a:pPr>
            <a:r>
              <a:rPr sz="720" b="0" i="0">
                <a:solidFill>
                  <a:srgbClr val="14171C"/>
                </a:solidFill>
                <a:latin typeface="Consolas"/>
              </a:rPr>
              <a:t>Only the public members crossed the package boundary.</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6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41</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transcript’s second line is the whole lesson:</a:t>
            </a:r>
            <a:r>
              <a:rPr sz="1200" b="0" i="0">
                <a:solidFill>
                  <a:srgbClr val="16181D"/>
                </a:solidFill>
                <a:latin typeface="Consolas"/>
              </a:rPr>
              <a:t>java -cp bin/e06_pkg mypack.user.Demo</a:t>
            </a:r>
            <a:r>
              <a:rPr sz="1250" b="0" i="0">
                <a:solidFill>
                  <a:srgbClr val="16181D"/>
                </a:solidFill>
                <a:latin typeface="Calibri"/>
              </a:rPr>
              <a:t>— package-qualified main class.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Three arithmetic results (72, 18, 1215) prove the imported public methods resolved — the compiler found Calculator inside bin/e06_pkg/mypack/Calculator.class.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Calculator.helper() is callable from any other mypack class but its call line in Demo stays commented; uncomment it and javac answers “helper() is not public in mypack.Calculator; cannot be accessed from outside package”.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Directory layout on the record (src/e06_pkg/mypack/…, …/user/Demo.java) matches package statements — a line-by-line isomorphism examiners can check at a glance.</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Which file must be recompiled when Calculator gains a method — Demo too?</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Why not import mypack.*;?</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Where does the JVM look for mypack.user.Demo — and name the one-word error if it can’t?</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Demo needn’t; it referenced only names that still exist. Java’s compile-time coupling is to signatures; rebuilding both is hygiene, not necessity.</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The mypack package was created with a public arithmetic class and consumed from mypack.user.Demo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7 — A custom DivisionByZeroException with try/catch/throw/throws/finally</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42</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100" b="0" i="0">
                <a:solidFill>
                  <a:srgbClr val="16181D"/>
                </a:solidFill>
                <a:latin typeface="Calibri"/>
              </a:rPr>
              <a:t>7. Develop a Java program to raise a custom exception (user-defined exception) for DivisionByZero using try, catch, throw and finally.</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src/e07_divzero/</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759" b="0" i="0">
                <a:solidFill>
                  <a:srgbClr val="E5E7EB"/>
                </a:solidFill>
                <a:latin typeface="Consolas"/>
              </a:rPr>
              <a:t>// ——— src/e07_divzero/Main.java ———</a:t>
            </a:r>
          </a:p>
          <a:p>
            <a:pPr>
              <a:lnSpc>
                <a:spcPct val="100000"/>
              </a:lnSpc>
              <a:spcBef>
                <a:spcPts val="0"/>
              </a:spcBef>
              <a:spcAft>
                <a:spcPts val="60"/>
              </a:spcAft>
            </a:pPr>
            <a:r>
              <a:rPr sz="759" b="0" i="0">
                <a:solidFill>
                  <a:srgbClr val="E5E7EB"/>
                </a:solidFill>
                <a:latin typeface="Consolas"/>
              </a:rPr>
              <a:t>import java.util.Scanner;</a:t>
            </a:r>
          </a:p>
          <a:p>
            <a:pPr>
              <a:lnSpc>
                <a:spcPct val="100000"/>
              </a:lnSpc>
              <a:spcBef>
                <a:spcPts val="0"/>
              </a:spcBef>
              <a:spcAft>
                <a:spcPts val="60"/>
              </a:spcAft>
            </a:pPr>
            <a:r>
              <a:rPr sz="759" b="0" i="0">
                <a:solidFill>
                  <a:srgbClr val="E5E7EB"/>
                </a:solidFill>
                <a:latin typeface="Consolas"/>
              </a:rPr>
              <a:t>/* Experiment 7 -- a custom checked exception for division by zero,</a:t>
            </a:r>
          </a:p>
          <a:p>
            <a:pPr>
              <a:lnSpc>
                <a:spcPct val="100000"/>
              </a:lnSpc>
              <a:spcBef>
                <a:spcPts val="0"/>
              </a:spcBef>
              <a:spcAft>
                <a:spcPts val="60"/>
              </a:spcAft>
            </a:pPr>
            <a:r>
              <a:rPr sz="759" b="0" i="0">
                <a:solidFill>
                  <a:srgbClr val="E5E7EB"/>
                </a:solidFill>
                <a:latin typeface="Consolas"/>
              </a:rPr>
              <a:t>   exercised with try / catch / throw / throws / finally. */</a:t>
            </a:r>
          </a:p>
          <a:p>
            <a:pPr>
              <a:lnSpc>
                <a:spcPct val="100000"/>
              </a:lnSpc>
              <a:spcBef>
                <a:spcPts val="0"/>
              </a:spcBef>
              <a:spcAft>
                <a:spcPts val="60"/>
              </a:spcAft>
            </a:pPr>
            <a:r>
              <a:rPr sz="759" b="0" i="0">
                <a:solidFill>
                  <a:srgbClr val="E5E7EB"/>
                </a:solidFill>
                <a:latin typeface="Consolas"/>
              </a:rPr>
              <a:t>class DivisionByZeroException extends Exception {</a:t>
            </a:r>
          </a:p>
          <a:p>
            <a:pPr>
              <a:lnSpc>
                <a:spcPct val="100000"/>
              </a:lnSpc>
              <a:spcBef>
                <a:spcPts val="0"/>
              </a:spcBef>
              <a:spcAft>
                <a:spcPts val="60"/>
              </a:spcAft>
            </a:pPr>
            <a:r>
              <a:rPr sz="759" b="0" i="0">
                <a:solidFill>
                  <a:srgbClr val="E5E7EB"/>
                </a:solidFill>
                <a:latin typeface="Consolas"/>
              </a:rPr>
              <a:t>    DivisionByZeroException(String message) { super(message); }</a:t>
            </a:r>
          </a:p>
          <a:p>
            <a:pPr>
              <a:lnSpc>
                <a:spcPct val="100000"/>
              </a:lnSpc>
              <a:spcBef>
                <a:spcPts val="0"/>
              </a:spcBef>
              <a:spcAft>
                <a:spcPts val="60"/>
              </a:spcAft>
            </a:pPr>
            <a:r>
              <a:rPr sz="759" b="0" i="0">
                <a:solidFill>
                  <a:srgbClr val="E5E7EB"/>
                </a:solidFill>
                <a:latin typeface="Consolas"/>
              </a:rPr>
              <a:t>}</a:t>
            </a:r>
          </a:p>
          <a:p>
            <a:pPr>
              <a:lnSpc>
                <a:spcPct val="100000"/>
              </a:lnSpc>
              <a:spcBef>
                <a:spcPts val="0"/>
              </a:spcBef>
              <a:spcAft>
                <a:spcPts val="60"/>
              </a:spcAft>
            </a:pPr>
            <a:r>
              <a:rPr sz="759" b="0" i="0">
                <a:solidFill>
                  <a:srgbClr val="E5E7EB"/>
                </a:solidFill>
                <a:latin typeface="Consolas"/>
              </a:rPr>
              <a:t>class Divider {</a:t>
            </a:r>
          </a:p>
          <a:p>
            <a:pPr>
              <a:lnSpc>
                <a:spcPct val="100000"/>
              </a:lnSpc>
              <a:spcBef>
                <a:spcPts val="0"/>
              </a:spcBef>
              <a:spcAft>
                <a:spcPts val="60"/>
              </a:spcAft>
            </a:pPr>
            <a:r>
              <a:rPr sz="759" b="0" i="0">
                <a:solidFill>
                  <a:srgbClr val="E5E7EB"/>
                </a:solidFill>
                <a:latin typeface="Consolas"/>
              </a:rPr>
              <a:t>    // the method DECLARES the exception -- callers must handle it</a:t>
            </a:r>
          </a:p>
          <a:p>
            <a:pPr>
              <a:lnSpc>
                <a:spcPct val="100000"/>
              </a:lnSpc>
              <a:spcBef>
                <a:spcPts val="0"/>
              </a:spcBef>
              <a:spcAft>
                <a:spcPts val="60"/>
              </a:spcAft>
            </a:pPr>
            <a:r>
              <a:rPr sz="759" b="0" i="0">
                <a:solidFill>
                  <a:srgbClr val="E5E7EB"/>
                </a:solidFill>
                <a:latin typeface="Consolas"/>
              </a:rPr>
              <a:t>    static int divide(int num, int den) throws DivisionByZeroException {</a:t>
            </a:r>
          </a:p>
          <a:p>
            <a:pPr>
              <a:lnSpc>
                <a:spcPct val="100000"/>
              </a:lnSpc>
              <a:spcBef>
                <a:spcPts val="0"/>
              </a:spcBef>
              <a:spcAft>
                <a:spcPts val="60"/>
              </a:spcAft>
            </a:pPr>
            <a:r>
              <a:rPr sz="759" b="0" i="0">
                <a:solidFill>
                  <a:srgbClr val="E5E7EB"/>
                </a:solidFill>
                <a:latin typeface="Consolas"/>
              </a:rPr>
              <a:t>        if (den == 0)</a:t>
            </a:r>
          </a:p>
          <a:p>
            <a:pPr>
              <a:lnSpc>
                <a:spcPct val="100000"/>
              </a:lnSpc>
              <a:spcBef>
                <a:spcPts val="0"/>
              </a:spcBef>
              <a:spcAft>
                <a:spcPts val="60"/>
              </a:spcAft>
            </a:pPr>
            <a:r>
              <a:rPr sz="759" b="0" i="0">
                <a:solidFill>
                  <a:srgbClr val="E5E7EB"/>
                </a:solidFill>
                <a:latin typeface="Consolas"/>
              </a:rPr>
              <a:t>            throw new DivisionByZeroException("divisor cannot be zero (numerator was " + num + ")");</a:t>
            </a:r>
          </a:p>
          <a:p>
            <a:pPr>
              <a:lnSpc>
                <a:spcPct val="100000"/>
              </a:lnSpc>
              <a:spcBef>
                <a:spcPts val="0"/>
              </a:spcBef>
              <a:spcAft>
                <a:spcPts val="60"/>
              </a:spcAft>
            </a:pPr>
            <a:r>
              <a:rPr sz="759" b="0" i="0">
                <a:solidFill>
                  <a:srgbClr val="E5E7EB"/>
                </a:solidFill>
                <a:latin typeface="Consolas"/>
              </a:rPr>
              <a:t>        return num / den;</a:t>
            </a:r>
          </a:p>
          <a:p>
            <a:pPr>
              <a:lnSpc>
                <a:spcPct val="100000"/>
              </a:lnSpc>
              <a:spcBef>
                <a:spcPts val="0"/>
              </a:spcBef>
              <a:spcAft>
                <a:spcPts val="60"/>
              </a:spcAft>
            </a:pPr>
            <a:r>
              <a:rPr sz="759" b="0" i="0">
                <a:solidFill>
                  <a:srgbClr val="E5E7EB"/>
                </a:solidFill>
                <a:latin typeface="Consolas"/>
              </a:rPr>
              <a:t>    }</a:t>
            </a:r>
          </a:p>
          <a:p>
            <a:pPr>
              <a:lnSpc>
                <a:spcPct val="100000"/>
              </a:lnSpc>
              <a:spcBef>
                <a:spcPts val="0"/>
              </a:spcBef>
              <a:spcAft>
                <a:spcPts val="60"/>
              </a:spcAft>
            </a:pPr>
            <a:r>
              <a:rPr sz="759" b="0" i="0">
                <a:solidFill>
                  <a:srgbClr val="E5E7EB"/>
                </a:solidFill>
                <a:latin typeface="Consolas"/>
              </a:rPr>
              <a:t>}</a:t>
            </a:r>
          </a:p>
          <a:p>
            <a:pPr>
              <a:lnSpc>
                <a:spcPct val="100000"/>
              </a:lnSpc>
              <a:spcBef>
                <a:spcPts val="0"/>
              </a:spcBef>
              <a:spcAft>
                <a:spcPts val="60"/>
              </a:spcAft>
            </a:pPr>
            <a:r>
              <a:rPr sz="759" b="0" i="0">
                <a:solidFill>
                  <a:srgbClr val="E5E7EB"/>
                </a:solidFill>
                <a:latin typeface="Consolas"/>
              </a:rPr>
              <a:t>public class Main {</a:t>
            </a:r>
          </a:p>
          <a:p>
            <a:pPr>
              <a:lnSpc>
                <a:spcPct val="100000"/>
              </a:lnSpc>
              <a:spcBef>
                <a:spcPts val="0"/>
              </a:spcBef>
              <a:spcAft>
                <a:spcPts val="60"/>
              </a:spcAft>
            </a:pPr>
            <a:r>
              <a:rPr sz="759" b="0" i="0">
                <a:solidFill>
                  <a:srgbClr val="E5E7EB"/>
                </a:solidFill>
                <a:latin typeface="Consolas"/>
              </a:rPr>
              <a:t>    public static void main(String[] args) {</a:t>
            </a:r>
          </a:p>
          <a:p>
            <a:pPr>
              <a:lnSpc>
                <a:spcPct val="100000"/>
              </a:lnSpc>
              <a:spcBef>
                <a:spcPts val="0"/>
              </a:spcBef>
              <a:spcAft>
                <a:spcPts val="60"/>
              </a:spcAft>
            </a:pPr>
            <a:r>
              <a:rPr sz="759" b="0" i="0">
                <a:solidFill>
                  <a:srgbClr val="E5E7EB"/>
                </a:solidFill>
                <a:latin typeface="Consolas"/>
              </a:rPr>
              <a:t>        Scanner sc = new Scanner(System.in);</a:t>
            </a:r>
          </a:p>
          <a:p>
            <a:pPr>
              <a:lnSpc>
                <a:spcPct val="100000"/>
              </a:lnSpc>
              <a:spcBef>
                <a:spcPts val="0"/>
              </a:spcBef>
              <a:spcAft>
                <a:spcPts val="60"/>
              </a:spcAft>
            </a:pPr>
            <a:r>
              <a:rPr sz="759" b="0" i="0">
                <a:solidFill>
                  <a:srgbClr val="E5E7EB"/>
                </a:solidFill>
                <a:latin typeface="Consolas"/>
              </a:rPr>
              <a:t>        while (true) {</a:t>
            </a:r>
          </a:p>
          <a:p>
            <a:pPr>
              <a:lnSpc>
                <a:spcPct val="100000"/>
              </a:lnSpc>
              <a:spcBef>
                <a:spcPts val="0"/>
              </a:spcBef>
              <a:spcAft>
                <a:spcPts val="60"/>
              </a:spcAft>
            </a:pPr>
            <a:r>
              <a:rPr sz="759" b="0" i="0">
                <a:solidFill>
                  <a:srgbClr val="E5E7EB"/>
                </a:solidFill>
                <a:latin typeface="Consolas"/>
              </a:rPr>
              <a:t>            System.out.printf("Enter numerator and denominator (0 0 to quit): ");</a:t>
            </a:r>
          </a:p>
          <a:p>
            <a:pPr>
              <a:lnSpc>
                <a:spcPct val="100000"/>
              </a:lnSpc>
              <a:spcBef>
                <a:spcPts val="0"/>
              </a:spcBef>
              <a:spcAft>
                <a:spcPts val="60"/>
              </a:spcAft>
            </a:pPr>
            <a:r>
              <a:rPr sz="759" b="0" i="0">
                <a:solidFill>
                  <a:srgbClr val="E5E7EB"/>
                </a:solidFill>
                <a:latin typeface="Consolas"/>
              </a:rPr>
              <a:t>            int n = sc.nextInt(), d = sc.nextInt();</a:t>
            </a:r>
          </a:p>
          <a:p>
            <a:pPr>
              <a:lnSpc>
                <a:spcPct val="100000"/>
              </a:lnSpc>
              <a:spcBef>
                <a:spcPts val="0"/>
              </a:spcBef>
              <a:spcAft>
                <a:spcPts val="60"/>
              </a:spcAft>
            </a:pPr>
            <a:r>
              <a:rPr sz="759" b="0" i="0">
                <a:solidFill>
                  <a:srgbClr val="E5E7EB"/>
                </a:solidFill>
                <a:latin typeface="Consolas"/>
              </a:rPr>
              <a:t>            if (n == 0 &amp;&amp; d == 0) {</a:t>
            </a:r>
          </a:p>
          <a:p>
            <a:pPr>
              <a:lnSpc>
                <a:spcPct val="100000"/>
              </a:lnSpc>
              <a:spcBef>
                <a:spcPts val="0"/>
              </a:spcBef>
              <a:spcAft>
                <a:spcPts val="60"/>
              </a:spcAft>
            </a:pPr>
            <a:r>
              <a:rPr sz="759" b="0" i="0">
                <a:solidFill>
                  <a:srgbClr val="E5E7EB"/>
                </a:solidFill>
                <a:latin typeface="Consolas"/>
              </a:rPr>
              <a:t>                System.out.println("Goodbye.");</a:t>
            </a:r>
          </a:p>
          <a:p>
            <a:pPr>
              <a:lnSpc>
                <a:spcPct val="100000"/>
              </a:lnSpc>
              <a:spcBef>
                <a:spcPts val="0"/>
              </a:spcBef>
              <a:spcAft>
                <a:spcPts val="60"/>
              </a:spcAft>
            </a:pPr>
            <a:r>
              <a:rPr sz="759" b="0" i="0">
                <a:solidFill>
                  <a:srgbClr val="E5E7EB"/>
                </a:solidFill>
                <a:latin typeface="Consolas"/>
              </a:rPr>
              <a:t>                return;</a:t>
            </a:r>
          </a:p>
          <a:p>
            <a:pPr>
              <a:lnSpc>
                <a:spcPct val="100000"/>
              </a:lnSpc>
              <a:spcBef>
                <a:spcPts val="0"/>
              </a:spcBef>
              <a:spcAft>
                <a:spcPts val="60"/>
              </a:spcAft>
            </a:pPr>
            <a:r>
              <a:rPr sz="759" b="0" i="0">
                <a:solidFill>
                  <a:srgbClr val="E5E7EB"/>
                </a:solidFill>
                <a:latin typeface="Consolas"/>
              </a:rPr>
              <a:t>            }</a:t>
            </a:r>
          </a:p>
          <a:p>
            <a:pPr>
              <a:lnSpc>
                <a:spcPct val="100000"/>
              </a:lnSpc>
              <a:spcBef>
                <a:spcPts val="0"/>
              </a:spcBef>
              <a:spcAft>
                <a:spcPts val="60"/>
              </a:spcAft>
            </a:pPr>
            <a:r>
              <a:rPr sz="759"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out/e07_divzero.txt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913" b="0" i="0">
                <a:solidFill>
                  <a:srgbClr val="14171C"/>
                </a:solidFill>
                <a:latin typeface="Consolas"/>
              </a:rPr>
              <a:t>$ javac -d bin/e07_divzero src/e07_divzero/Main.java</a:t>
            </a:r>
          </a:p>
          <a:p>
            <a:pPr>
              <a:lnSpc>
                <a:spcPct val="100000"/>
              </a:lnSpc>
              <a:spcBef>
                <a:spcPts val="0"/>
              </a:spcBef>
              <a:spcAft>
                <a:spcPts val="60"/>
              </a:spcAft>
            </a:pPr>
            <a:r>
              <a:rPr sz="913" b="0" i="0">
                <a:solidFill>
                  <a:srgbClr val="14171C"/>
                </a:solidFill>
                <a:latin typeface="Consolas"/>
              </a:rPr>
              <a:t>$ java -cp bin/e07_divzero Main</a:t>
            </a:r>
          </a:p>
          <a:p>
            <a:pPr>
              <a:lnSpc>
                <a:spcPct val="100000"/>
              </a:lnSpc>
              <a:spcBef>
                <a:spcPts val="0"/>
              </a:spcBef>
              <a:spcAft>
                <a:spcPts val="60"/>
              </a:spcAft>
            </a:pPr>
            <a:r>
              <a:rPr sz="913" b="0" i="0">
                <a:solidFill>
                  <a:srgbClr val="14171C"/>
                </a:solidFill>
                <a:latin typeface="Consolas"/>
              </a:rPr>
              <a:t>Enter numerator and denominator (0 0 to quit): 20</a:t>
            </a:r>
          </a:p>
          <a:p>
            <a:pPr>
              <a:lnSpc>
                <a:spcPct val="100000"/>
              </a:lnSpc>
              <a:spcBef>
                <a:spcPts val="0"/>
              </a:spcBef>
              <a:spcAft>
                <a:spcPts val="60"/>
              </a:spcAft>
            </a:pPr>
            <a:r>
              <a:rPr sz="913" b="0" i="0">
                <a:solidFill>
                  <a:srgbClr val="14171C"/>
                </a:solidFill>
                <a:latin typeface="Consolas"/>
              </a:rPr>
              <a:t>5</a:t>
            </a:r>
          </a:p>
          <a:p>
            <a:pPr>
              <a:lnSpc>
                <a:spcPct val="100000"/>
              </a:lnSpc>
              <a:spcBef>
                <a:spcPts val="0"/>
              </a:spcBef>
              <a:spcAft>
                <a:spcPts val="60"/>
              </a:spcAft>
            </a:pPr>
            <a:r>
              <a:rPr sz="913" b="0" i="0">
                <a:solidFill>
                  <a:srgbClr val="14171C"/>
                </a:solidFill>
                <a:latin typeface="Consolas"/>
              </a:rPr>
              <a:t>20 / 5 = 4</a:t>
            </a:r>
          </a:p>
          <a:p>
            <a:pPr>
              <a:lnSpc>
                <a:spcPct val="100000"/>
              </a:lnSpc>
              <a:spcBef>
                <a:spcPts val="0"/>
              </a:spcBef>
              <a:spcAft>
                <a:spcPts val="60"/>
              </a:spcAft>
            </a:pPr>
            <a:r>
              <a:rPr sz="913" b="0" i="0">
                <a:solidFill>
                  <a:srgbClr val="14171C"/>
                </a:solidFill>
                <a:latin typeface="Consolas"/>
              </a:rPr>
              <a:t>finally: this round is cleaned up</a:t>
            </a:r>
          </a:p>
          <a:p>
            <a:pPr>
              <a:lnSpc>
                <a:spcPct val="100000"/>
              </a:lnSpc>
              <a:spcBef>
                <a:spcPts val="0"/>
              </a:spcBef>
              <a:spcAft>
                <a:spcPts val="60"/>
              </a:spcAft>
            </a:pPr>
            <a:r>
              <a:rPr sz="913" b="0" i="0">
                <a:solidFill>
                  <a:srgbClr val="14171C"/>
                </a:solidFill>
                <a:latin typeface="Consolas"/>
              </a:rPr>
              <a:t>Enter numerator and denominator (0 0 to quit): 9</a:t>
            </a:r>
          </a:p>
          <a:p>
            <a:pPr>
              <a:lnSpc>
                <a:spcPct val="100000"/>
              </a:lnSpc>
              <a:spcBef>
                <a:spcPts val="0"/>
              </a:spcBef>
              <a:spcAft>
                <a:spcPts val="60"/>
              </a:spcAft>
            </a:pPr>
            <a:r>
              <a:rPr sz="913" b="0" i="0">
                <a:solidFill>
                  <a:srgbClr val="14171C"/>
                </a:solidFill>
                <a:latin typeface="Consolas"/>
              </a:rPr>
              <a:t>0</a:t>
            </a:r>
          </a:p>
          <a:p>
            <a:pPr>
              <a:lnSpc>
                <a:spcPct val="100000"/>
              </a:lnSpc>
              <a:spcBef>
                <a:spcPts val="0"/>
              </a:spcBef>
              <a:spcAft>
                <a:spcPts val="60"/>
              </a:spcAft>
            </a:pPr>
            <a:r>
              <a:rPr sz="913" b="0" i="0">
                <a:solidFill>
                  <a:srgbClr val="14171C"/>
                </a:solidFill>
                <a:latin typeface="Consolas"/>
              </a:rPr>
              <a:t>Handled: divisor cannot be zero (numerator was 9)</a:t>
            </a:r>
          </a:p>
          <a:p>
            <a:pPr>
              <a:lnSpc>
                <a:spcPct val="100000"/>
              </a:lnSpc>
              <a:spcBef>
                <a:spcPts val="0"/>
              </a:spcBef>
              <a:spcAft>
                <a:spcPts val="60"/>
              </a:spcAft>
            </a:pPr>
            <a:r>
              <a:rPr sz="913" b="0" i="0">
                <a:solidFill>
                  <a:srgbClr val="14171C"/>
                </a:solidFill>
                <a:latin typeface="Consolas"/>
              </a:rPr>
              <a:t>finally: this round is cleaned up</a:t>
            </a:r>
          </a:p>
          <a:p>
            <a:pPr>
              <a:lnSpc>
                <a:spcPct val="100000"/>
              </a:lnSpc>
              <a:spcBef>
                <a:spcPts val="0"/>
              </a:spcBef>
              <a:spcAft>
                <a:spcPts val="60"/>
              </a:spcAft>
            </a:pPr>
            <a:r>
              <a:rPr sz="913" b="0" i="0">
                <a:solidFill>
                  <a:srgbClr val="14171C"/>
                </a:solidFill>
                <a:latin typeface="Consolas"/>
              </a:rPr>
              <a:t>Enter numerator and denominator (0 0 to quit): 0</a:t>
            </a:r>
          </a:p>
          <a:p>
            <a:pPr>
              <a:lnSpc>
                <a:spcPct val="100000"/>
              </a:lnSpc>
              <a:spcBef>
                <a:spcPts val="0"/>
              </a:spcBef>
              <a:spcAft>
                <a:spcPts val="60"/>
              </a:spcAft>
            </a:pPr>
            <a:r>
              <a:rPr sz="913" b="0" i="0">
                <a:solidFill>
                  <a:srgbClr val="14171C"/>
                </a:solidFill>
                <a:latin typeface="Consolas"/>
              </a:rPr>
              <a:t>0</a:t>
            </a:r>
          </a:p>
          <a:p>
            <a:pPr>
              <a:lnSpc>
                <a:spcPct val="100000"/>
              </a:lnSpc>
              <a:spcBef>
                <a:spcPts val="0"/>
              </a:spcBef>
              <a:spcAft>
                <a:spcPts val="60"/>
              </a:spcAft>
            </a:pPr>
            <a:r>
              <a:rPr sz="913" b="0" i="0">
                <a:solidFill>
                  <a:srgbClr val="14171C"/>
                </a:solidFill>
                <a:latin typeface="Consolas"/>
              </a:rPr>
              <a:t>Goodbye.</a:t>
            </a:r>
          </a:p>
          <a:p>
            <a:pPr>
              <a:lnSpc>
                <a:spcPct val="100000"/>
              </a:lnSpc>
              <a:spcBef>
                <a:spcPts val="0"/>
              </a:spcBef>
              <a:spcAft>
                <a:spcPts val="60"/>
              </a:spcAft>
            </a:pPr>
            <a:r>
              <a:rPr sz="913" b="0" i="0">
                <a:solidFill>
                  <a:srgbClr val="14171C"/>
                </a:solidFill>
                <a:latin typeface="Consolas"/>
              </a:rPr>
              <a:t>$ java -cp bin/e07_divzero Main</a:t>
            </a:r>
          </a:p>
          <a:p>
            <a:pPr>
              <a:lnSpc>
                <a:spcPct val="100000"/>
              </a:lnSpc>
              <a:spcBef>
                <a:spcPts val="0"/>
              </a:spcBef>
              <a:spcAft>
                <a:spcPts val="60"/>
              </a:spcAft>
            </a:pPr>
            <a:r>
              <a:rPr sz="913" b="0" i="0">
                <a:solidFill>
                  <a:srgbClr val="14171C"/>
                </a:solidFill>
                <a:latin typeface="Consolas"/>
              </a:rPr>
              <a:t>Enter numerator and denominator (0 0 to quit): 7</a:t>
            </a:r>
          </a:p>
          <a:p>
            <a:pPr>
              <a:lnSpc>
                <a:spcPct val="100000"/>
              </a:lnSpc>
              <a:spcBef>
                <a:spcPts val="0"/>
              </a:spcBef>
              <a:spcAft>
                <a:spcPts val="60"/>
              </a:spcAft>
            </a:pPr>
            <a:r>
              <a:rPr sz="913" b="0" i="0">
                <a:solidFill>
                  <a:srgbClr val="14171C"/>
                </a:solidFill>
                <a:latin typeface="Consolas"/>
              </a:rPr>
              <a:t>3</a:t>
            </a:r>
          </a:p>
          <a:p>
            <a:pPr>
              <a:lnSpc>
                <a:spcPct val="100000"/>
              </a:lnSpc>
              <a:spcBef>
                <a:spcPts val="0"/>
              </a:spcBef>
              <a:spcAft>
                <a:spcPts val="60"/>
              </a:spcAft>
            </a:pPr>
            <a:r>
              <a:rPr sz="913" b="0" i="0">
                <a:solidFill>
                  <a:srgbClr val="14171C"/>
                </a:solidFill>
                <a:latin typeface="Consolas"/>
              </a:rPr>
              <a:t>7 / 3 = 2</a:t>
            </a:r>
          </a:p>
          <a:p>
            <a:pPr>
              <a:lnSpc>
                <a:spcPct val="100000"/>
              </a:lnSpc>
              <a:spcBef>
                <a:spcPts val="0"/>
              </a:spcBef>
              <a:spcAft>
                <a:spcPts val="60"/>
              </a:spcAft>
            </a:pPr>
            <a:r>
              <a:rPr sz="913" b="0" i="0">
                <a:solidFill>
                  <a:srgbClr val="14171C"/>
                </a:solidFill>
                <a:latin typeface="Consolas"/>
              </a:rPr>
              <a:t>finally: this round is cleaned up</a:t>
            </a:r>
          </a:p>
          <a:p>
            <a:pPr>
              <a:lnSpc>
                <a:spcPct val="100000"/>
              </a:lnSpc>
              <a:spcBef>
                <a:spcPts val="0"/>
              </a:spcBef>
              <a:spcAft>
                <a:spcPts val="60"/>
              </a:spcAft>
            </a:pPr>
            <a:r>
              <a:rPr sz="913" b="0" i="0">
                <a:solidFill>
                  <a:srgbClr val="14171C"/>
                </a:solidFill>
                <a:latin typeface="Consolas"/>
              </a:rPr>
              <a:t>Enter numerator and denominator (0 0 to quit): 0</a:t>
            </a:r>
          </a:p>
          <a:p>
            <a:pPr>
              <a:lnSpc>
                <a:spcPct val="100000"/>
              </a:lnSpc>
              <a:spcBef>
                <a:spcPts val="0"/>
              </a:spcBef>
              <a:spcAft>
                <a:spcPts val="60"/>
              </a:spcAft>
            </a:pPr>
            <a:r>
              <a:rPr sz="913" b="0" i="0">
                <a:solidFill>
                  <a:srgbClr val="14171C"/>
                </a:solidFill>
                <a:latin typeface="Consolas"/>
              </a:rPr>
              <a:t>0</a:t>
            </a:r>
          </a:p>
          <a:p>
            <a:pPr>
              <a:lnSpc>
                <a:spcPct val="100000"/>
              </a:lnSpc>
              <a:spcBef>
                <a:spcPts val="0"/>
              </a:spcBef>
              <a:spcAft>
                <a:spcPts val="60"/>
              </a:spcAft>
            </a:pPr>
            <a:r>
              <a:rPr sz="913" b="0" i="0">
                <a:solidFill>
                  <a:srgbClr val="14171C"/>
                </a:solidFill>
                <a:latin typeface="Consolas"/>
              </a:rPr>
              <a:t>Goodbye.</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7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43</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Round 1: 20/5 = 4 then finally; round 2: “Handled: divisor cannot be zero (numerator was 9)” then finally — the same tail on both paths is finally’s report card.</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Case 2 divided 7/3 = 2 — integer truncation visible under a clean catch-free round; the guard did not trigger because the denominator was not zero.</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“Goodbye.” came from the 0 0 sentinel, not from an exception — control flow and error flow stay separate.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Because the exception is checked, deleting the catch turns this from a demonstration into a compile error — the class hierarchy choice was the design, not decoration.</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not extend RuntimeException?</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Say the throw/throws difference in one viva breath.</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Could finally be merged into the end of the try? When does that fail?</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Then the compiler would stop requiring the catch; the program would run identically on good input and crash on the bad — the checked form is what makes the API promise visible.</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 checked DivisionByZeroException was defined, raised through a declared throws clause, caught by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8 — MyThread: a Thread subclass, concurrent with main</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44</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100" b="0" i="0">
                <a:solidFill>
                  <a:srgbClr val="16181D"/>
                </a:solidFill>
                <a:latin typeface="Calibri"/>
              </a:rPr>
              <a:t>8. Develop a program to create a class MyThread with a class constructor, call the base class constructor, using super and start the thread. The run method of the class starts after this. It can be observed that both main thread and created child thread are executed concurrently.</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src/e08_threads/</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678" b="0" i="0">
                <a:solidFill>
                  <a:srgbClr val="E5E7EB"/>
                </a:solidFill>
                <a:latin typeface="Consolas"/>
              </a:rPr>
              <a:t>// ——— src/e08_threads/Main.java ———</a:t>
            </a:r>
          </a:p>
          <a:p>
            <a:pPr>
              <a:lnSpc>
                <a:spcPct val="100000"/>
              </a:lnSpc>
              <a:spcBef>
                <a:spcPts val="0"/>
              </a:spcBef>
              <a:spcAft>
                <a:spcPts val="60"/>
              </a:spcAft>
            </a:pPr>
            <a:r>
              <a:rPr sz="678" b="0" i="0">
                <a:solidFill>
                  <a:srgbClr val="E5E7EB"/>
                </a:solidFill>
                <a:latin typeface="Consolas"/>
              </a:rPr>
              <a:t>/* Experiment 8 -- MyThread extends Thread and its constructor invokes the</a:t>
            </a:r>
          </a:p>
          <a:p>
            <a:pPr>
              <a:lnSpc>
                <a:spcPct val="100000"/>
              </a:lnSpc>
              <a:spcBef>
                <a:spcPts val="0"/>
              </a:spcBef>
              <a:spcAft>
                <a:spcPts val="60"/>
              </a:spcAft>
            </a:pPr>
            <a:r>
              <a:rPr sz="678" b="0" i="0">
                <a:solidFill>
                  <a:srgbClr val="E5E7EB"/>
                </a:solidFill>
                <a:latin typeface="Consolas"/>
              </a:rPr>
              <a:t>   superclass constructor; two worker threads run concurrently with main</a:t>
            </a:r>
          </a:p>
          <a:p>
            <a:pPr>
              <a:lnSpc>
                <a:spcPct val="100000"/>
              </a:lnSpc>
              <a:spcBef>
                <a:spcPts val="0"/>
              </a:spcBef>
              <a:spcAft>
                <a:spcPts val="60"/>
              </a:spcAft>
            </a:pPr>
            <a:r>
              <a:rPr sz="678" b="0" i="0">
                <a:solidFill>
                  <a:srgbClr val="E5E7EB"/>
                </a:solidFill>
                <a:latin typeface="Consolas"/>
              </a:rPr>
              <a:t>   and are awaited with join().  Worker output is buffered so the printed</a:t>
            </a:r>
          </a:p>
          <a:p>
            <a:pPr>
              <a:lnSpc>
                <a:spcPct val="100000"/>
              </a:lnSpc>
              <a:spcBef>
                <a:spcPts val="0"/>
              </a:spcBef>
              <a:spcAft>
                <a:spcPts val="60"/>
              </a:spcAft>
            </a:pPr>
            <a:r>
              <a:rPr sz="678" b="0" i="0">
                <a:solidFill>
                  <a:srgbClr val="E5E7EB"/>
                </a:solidFill>
                <a:latin typeface="Consolas"/>
              </a:rPr>
              <a:t>   record is reproducible (a live run may interleave differently). */</a:t>
            </a:r>
          </a:p>
          <a:p>
            <a:pPr>
              <a:lnSpc>
                <a:spcPct val="100000"/>
              </a:lnSpc>
              <a:spcBef>
                <a:spcPts val="0"/>
              </a:spcBef>
              <a:spcAft>
                <a:spcPts val="60"/>
              </a:spcAft>
            </a:pPr>
            <a:r>
              <a:rPr sz="678" b="0" i="0">
                <a:solidFill>
                  <a:srgbClr val="E5E7EB"/>
                </a:solidFill>
                <a:latin typeface="Consolas"/>
              </a:rPr>
              <a:t>class MyThread extends Thread {</a:t>
            </a:r>
          </a:p>
          <a:p>
            <a:pPr>
              <a:lnSpc>
                <a:spcPct val="100000"/>
              </a:lnSpc>
              <a:spcBef>
                <a:spcPts val="0"/>
              </a:spcBef>
              <a:spcAft>
                <a:spcPts val="60"/>
              </a:spcAft>
            </a:pPr>
            <a:r>
              <a:rPr sz="678" b="0" i="0">
                <a:solidFill>
                  <a:srgbClr val="E5E7EB"/>
                </a:solidFill>
                <a:latin typeface="Consolas"/>
              </a:rPr>
              <a:t>    private final String job;</a:t>
            </a:r>
          </a:p>
          <a:p>
            <a:pPr>
              <a:lnSpc>
                <a:spcPct val="100000"/>
              </a:lnSpc>
              <a:spcBef>
                <a:spcPts val="0"/>
              </a:spcBef>
              <a:spcAft>
                <a:spcPts val="60"/>
              </a:spcAft>
            </a:pPr>
            <a:r>
              <a:rPr sz="678" b="0" i="0">
                <a:solidFill>
                  <a:srgbClr val="E5E7EB"/>
                </a:solidFill>
                <a:latin typeface="Consolas"/>
              </a:rPr>
              <a:t>    private final int steps;</a:t>
            </a:r>
          </a:p>
          <a:p>
            <a:pPr>
              <a:lnSpc>
                <a:spcPct val="100000"/>
              </a:lnSpc>
              <a:spcBef>
                <a:spcPts val="0"/>
              </a:spcBef>
              <a:spcAft>
                <a:spcPts val="60"/>
              </a:spcAft>
            </a:pPr>
            <a:r>
              <a:rPr sz="678" b="0" i="0">
                <a:solidFill>
                  <a:srgbClr val="E5E7EB"/>
                </a:solidFill>
                <a:latin typeface="Consolas"/>
              </a:rPr>
              <a:t>    private final StringBuilder out = new StringBuilder();</a:t>
            </a:r>
          </a:p>
          <a:p>
            <a:pPr>
              <a:lnSpc>
                <a:spcPct val="100000"/>
              </a:lnSpc>
              <a:spcBef>
                <a:spcPts val="0"/>
              </a:spcBef>
              <a:spcAft>
                <a:spcPts val="60"/>
              </a:spcAft>
            </a:pPr>
            <a:r>
              <a:rPr sz="678" b="0" i="0">
                <a:solidFill>
                  <a:srgbClr val="E5E7EB"/>
                </a:solidFill>
                <a:latin typeface="Consolas"/>
              </a:rPr>
              <a:t> </a:t>
            </a:r>
          </a:p>
          <a:p>
            <a:pPr>
              <a:lnSpc>
                <a:spcPct val="100000"/>
              </a:lnSpc>
              <a:spcBef>
                <a:spcPts val="0"/>
              </a:spcBef>
              <a:spcAft>
                <a:spcPts val="60"/>
              </a:spcAft>
            </a:pPr>
            <a:r>
              <a:rPr sz="678" b="0" i="0">
                <a:solidFill>
                  <a:srgbClr val="E5E7EB"/>
                </a:solidFill>
                <a:latin typeface="Consolas"/>
              </a:rPr>
              <a:t>    MyThread(String name, String job, int steps) {</a:t>
            </a:r>
          </a:p>
          <a:p>
            <a:pPr>
              <a:lnSpc>
                <a:spcPct val="100000"/>
              </a:lnSpc>
              <a:spcBef>
                <a:spcPts val="0"/>
              </a:spcBef>
              <a:spcAft>
                <a:spcPts val="60"/>
              </a:spcAft>
            </a:pPr>
            <a:r>
              <a:rPr sz="678" b="0" i="0">
                <a:solidFill>
                  <a:srgbClr val="E5E7EB"/>
                </a:solidFill>
                <a:latin typeface="Consolas"/>
              </a:rPr>
              <a:t>        super(name);            // Thread(String) -- the superclass constructor</a:t>
            </a:r>
          </a:p>
          <a:p>
            <a:pPr>
              <a:lnSpc>
                <a:spcPct val="100000"/>
              </a:lnSpc>
              <a:spcBef>
                <a:spcPts val="0"/>
              </a:spcBef>
              <a:spcAft>
                <a:spcPts val="60"/>
              </a:spcAft>
            </a:pPr>
            <a:r>
              <a:rPr sz="678" b="0" i="0">
                <a:solidFill>
                  <a:srgbClr val="E5E7EB"/>
                </a:solidFill>
                <a:latin typeface="Consolas"/>
              </a:rPr>
              <a:t>        this.job = job;</a:t>
            </a:r>
          </a:p>
          <a:p>
            <a:pPr>
              <a:lnSpc>
                <a:spcPct val="100000"/>
              </a:lnSpc>
              <a:spcBef>
                <a:spcPts val="0"/>
              </a:spcBef>
              <a:spcAft>
                <a:spcPts val="60"/>
              </a:spcAft>
            </a:pPr>
            <a:r>
              <a:rPr sz="678" b="0" i="0">
                <a:solidFill>
                  <a:srgbClr val="E5E7EB"/>
                </a:solidFill>
                <a:latin typeface="Consolas"/>
              </a:rPr>
              <a:t>        this.steps = steps;</a:t>
            </a:r>
          </a:p>
          <a:p>
            <a:pPr>
              <a:lnSpc>
                <a:spcPct val="100000"/>
              </a:lnSpc>
              <a:spcBef>
                <a:spcPts val="0"/>
              </a:spcBef>
              <a:spcAft>
                <a:spcPts val="60"/>
              </a:spcAft>
            </a:pPr>
            <a:r>
              <a:rPr sz="678" b="0" i="0">
                <a:solidFill>
                  <a:srgbClr val="E5E7EB"/>
                </a:solidFill>
                <a:latin typeface="Consolas"/>
              </a:rPr>
              <a:t>    }</a:t>
            </a:r>
          </a:p>
          <a:p>
            <a:pPr>
              <a:lnSpc>
                <a:spcPct val="100000"/>
              </a:lnSpc>
              <a:spcBef>
                <a:spcPts val="0"/>
              </a:spcBef>
              <a:spcAft>
                <a:spcPts val="60"/>
              </a:spcAft>
            </a:pPr>
            <a:r>
              <a:rPr sz="678" b="0" i="0">
                <a:solidFill>
                  <a:srgbClr val="E5E7EB"/>
                </a:solidFill>
                <a:latin typeface="Consolas"/>
              </a:rPr>
              <a:t>    @Override public void run() {</a:t>
            </a:r>
          </a:p>
          <a:p>
            <a:pPr>
              <a:lnSpc>
                <a:spcPct val="100000"/>
              </a:lnSpc>
              <a:spcBef>
                <a:spcPts val="0"/>
              </a:spcBef>
              <a:spcAft>
                <a:spcPts val="60"/>
              </a:spcAft>
            </a:pPr>
            <a:r>
              <a:rPr sz="678" b="0" i="0">
                <a:solidFill>
                  <a:srgbClr val="E5E7EB"/>
                </a:solidFill>
                <a:latin typeface="Consolas"/>
              </a:rPr>
              <a:t>        for (int i = 1; i &lt;= steps; i++) {</a:t>
            </a:r>
          </a:p>
          <a:p>
            <a:pPr>
              <a:lnSpc>
                <a:spcPct val="100000"/>
              </a:lnSpc>
              <a:spcBef>
                <a:spcPts val="0"/>
              </a:spcBef>
              <a:spcAft>
                <a:spcPts val="60"/>
              </a:spcAft>
            </a:pPr>
            <a:r>
              <a:rPr sz="678" b="0" i="0">
                <a:solidFill>
                  <a:srgbClr val="E5E7EB"/>
                </a:solidFill>
                <a:latin typeface="Consolas"/>
              </a:rPr>
              <a:t>            out.append("  ").append(getName()).append(": ").append(job).append(" step ").append(i).append('\n');</a:t>
            </a:r>
          </a:p>
          <a:p>
            <a:pPr>
              <a:lnSpc>
                <a:spcPct val="100000"/>
              </a:lnSpc>
              <a:spcBef>
                <a:spcPts val="0"/>
              </a:spcBef>
              <a:spcAft>
                <a:spcPts val="60"/>
              </a:spcAft>
            </a:pPr>
            <a:r>
              <a:rPr sz="678" b="0" i="0">
                <a:solidFill>
                  <a:srgbClr val="E5E7EB"/>
                </a:solidFill>
                <a:latin typeface="Consolas"/>
              </a:rPr>
              <a:t>            try { Thread.sleep(12); } catch (InterruptedException e) { return; }</a:t>
            </a:r>
          </a:p>
          <a:p>
            <a:pPr>
              <a:lnSpc>
                <a:spcPct val="100000"/>
              </a:lnSpc>
              <a:spcBef>
                <a:spcPts val="0"/>
              </a:spcBef>
              <a:spcAft>
                <a:spcPts val="60"/>
              </a:spcAft>
            </a:pPr>
            <a:r>
              <a:rPr sz="678" b="0" i="0">
                <a:solidFill>
                  <a:srgbClr val="E5E7EB"/>
                </a:solidFill>
                <a:latin typeface="Consolas"/>
              </a:rPr>
              <a:t>        }</a:t>
            </a:r>
          </a:p>
          <a:p>
            <a:pPr>
              <a:lnSpc>
                <a:spcPct val="100000"/>
              </a:lnSpc>
              <a:spcBef>
                <a:spcPts val="0"/>
              </a:spcBef>
              <a:spcAft>
                <a:spcPts val="60"/>
              </a:spcAft>
            </a:pPr>
            <a:r>
              <a:rPr sz="678" b="0" i="0">
                <a:solidFill>
                  <a:srgbClr val="E5E7EB"/>
                </a:solidFill>
                <a:latin typeface="Consolas"/>
              </a:rPr>
              <a:t>    }</a:t>
            </a:r>
          </a:p>
          <a:p>
            <a:pPr>
              <a:lnSpc>
                <a:spcPct val="100000"/>
              </a:lnSpc>
              <a:spcBef>
                <a:spcPts val="0"/>
              </a:spcBef>
              <a:spcAft>
                <a:spcPts val="60"/>
              </a:spcAft>
            </a:pPr>
            <a:r>
              <a:rPr sz="678" b="0" i="0">
                <a:solidFill>
                  <a:srgbClr val="E5E7EB"/>
                </a:solidFill>
                <a:latin typeface="Consolas"/>
              </a:rPr>
              <a:t>    String result() { return out.toString(); }</a:t>
            </a:r>
          </a:p>
          <a:p>
            <a:pPr>
              <a:lnSpc>
                <a:spcPct val="100000"/>
              </a:lnSpc>
              <a:spcBef>
                <a:spcPts val="0"/>
              </a:spcBef>
              <a:spcAft>
                <a:spcPts val="60"/>
              </a:spcAft>
            </a:pPr>
            <a:r>
              <a:rPr sz="678" b="0" i="0">
                <a:solidFill>
                  <a:srgbClr val="E5E7EB"/>
                </a:solidFill>
                <a:latin typeface="Consolas"/>
              </a:rPr>
              <a:t>}</a:t>
            </a:r>
          </a:p>
          <a:p>
            <a:pPr>
              <a:lnSpc>
                <a:spcPct val="100000"/>
              </a:lnSpc>
              <a:spcBef>
                <a:spcPts val="0"/>
              </a:spcBef>
              <a:spcAft>
                <a:spcPts val="60"/>
              </a:spcAft>
            </a:pPr>
            <a:r>
              <a:rPr sz="678" b="0" i="0">
                <a:solidFill>
                  <a:srgbClr val="E5E7EB"/>
                </a:solidFill>
                <a:latin typeface="Consolas"/>
              </a:rPr>
              <a:t> </a:t>
            </a:r>
          </a:p>
          <a:p>
            <a:pPr>
              <a:lnSpc>
                <a:spcPct val="100000"/>
              </a:lnSpc>
              <a:spcBef>
                <a:spcPts val="0"/>
              </a:spcBef>
              <a:spcAft>
                <a:spcPts val="60"/>
              </a:spcAft>
            </a:pPr>
            <a:r>
              <a:rPr sz="678" b="0" i="0">
                <a:solidFill>
                  <a:srgbClr val="E5E7EB"/>
                </a:solidFill>
                <a:latin typeface="Consolas"/>
              </a:rPr>
              <a:t>public class Main {</a:t>
            </a:r>
          </a:p>
          <a:p>
            <a:pPr>
              <a:lnSpc>
                <a:spcPct val="100000"/>
              </a:lnSpc>
              <a:spcBef>
                <a:spcPts val="0"/>
              </a:spcBef>
              <a:spcAft>
                <a:spcPts val="60"/>
              </a:spcAft>
            </a:pPr>
            <a:r>
              <a:rPr sz="678"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out/e08_threads.txt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1064" b="0" i="0">
                <a:solidFill>
                  <a:srgbClr val="14171C"/>
                </a:solidFill>
                <a:latin typeface="Consolas"/>
              </a:rPr>
              <a:t>$ javac -d bin/e08_threads src/e08_threads/Main.java</a:t>
            </a:r>
          </a:p>
          <a:p>
            <a:pPr>
              <a:lnSpc>
                <a:spcPct val="100000"/>
              </a:lnSpc>
              <a:spcBef>
                <a:spcPts val="0"/>
              </a:spcBef>
              <a:spcAft>
                <a:spcPts val="60"/>
              </a:spcAft>
            </a:pPr>
            <a:r>
              <a:rPr sz="1064" b="0" i="0">
                <a:solidFill>
                  <a:srgbClr val="14171C"/>
                </a:solidFill>
                <a:latin typeface="Consolas"/>
              </a:rPr>
              <a:t>$ java -cp bin/e08_threads Main</a:t>
            </a:r>
          </a:p>
          <a:p>
            <a:pPr>
              <a:lnSpc>
                <a:spcPct val="100000"/>
              </a:lnSpc>
              <a:spcBef>
                <a:spcPts val="0"/>
              </a:spcBef>
              <a:spcAft>
                <a:spcPts val="60"/>
              </a:spcAft>
            </a:pPr>
            <a:r>
              <a:rPr sz="1064" b="0" i="0">
                <a:solidFill>
                  <a:srgbClr val="14171C"/>
                </a:solidFill>
                <a:latin typeface="Consolas"/>
              </a:rPr>
              <a:t>  main: still running tick 1</a:t>
            </a:r>
          </a:p>
          <a:p>
            <a:pPr>
              <a:lnSpc>
                <a:spcPct val="100000"/>
              </a:lnSpc>
              <a:spcBef>
                <a:spcPts val="0"/>
              </a:spcBef>
              <a:spcAft>
                <a:spcPts val="60"/>
              </a:spcAft>
            </a:pPr>
            <a:r>
              <a:rPr sz="1064" b="0" i="0">
                <a:solidFill>
                  <a:srgbClr val="14171C"/>
                </a:solidFill>
                <a:latin typeface="Consolas"/>
              </a:rPr>
              <a:t>  main: still running tick 2</a:t>
            </a:r>
          </a:p>
          <a:p>
            <a:pPr>
              <a:lnSpc>
                <a:spcPct val="100000"/>
              </a:lnSpc>
              <a:spcBef>
                <a:spcPts val="0"/>
              </a:spcBef>
              <a:spcAft>
                <a:spcPts val="60"/>
              </a:spcAft>
            </a:pPr>
            <a:r>
              <a:rPr sz="1064" b="0" i="0">
                <a:solidFill>
                  <a:srgbClr val="14171C"/>
                </a:solidFill>
                <a:latin typeface="Consolas"/>
              </a:rPr>
              <a:t>main: painting alive? true, joining...</a:t>
            </a:r>
          </a:p>
          <a:p>
            <a:pPr>
              <a:lnSpc>
                <a:spcPct val="100000"/>
              </a:lnSpc>
              <a:spcBef>
                <a:spcPts val="0"/>
              </a:spcBef>
              <a:spcAft>
                <a:spcPts val="60"/>
              </a:spcAft>
            </a:pPr>
            <a:r>
              <a:rPr sz="1064" b="0" i="0">
                <a:solidFill>
                  <a:srgbClr val="14171C"/>
                </a:solidFill>
                <a:latin typeface="Consolas"/>
              </a:rPr>
              <a:t>  painter: paint step 1</a:t>
            </a:r>
          </a:p>
          <a:p>
            <a:pPr>
              <a:lnSpc>
                <a:spcPct val="100000"/>
              </a:lnSpc>
              <a:spcBef>
                <a:spcPts val="0"/>
              </a:spcBef>
              <a:spcAft>
                <a:spcPts val="60"/>
              </a:spcAft>
            </a:pPr>
            <a:r>
              <a:rPr sz="1064" b="0" i="0">
                <a:solidFill>
                  <a:srgbClr val="14171C"/>
                </a:solidFill>
                <a:latin typeface="Consolas"/>
              </a:rPr>
              <a:t>  painter: paint step 2</a:t>
            </a:r>
          </a:p>
          <a:p>
            <a:pPr>
              <a:lnSpc>
                <a:spcPct val="100000"/>
              </a:lnSpc>
              <a:spcBef>
                <a:spcPts val="0"/>
              </a:spcBef>
              <a:spcAft>
                <a:spcPts val="60"/>
              </a:spcAft>
            </a:pPr>
            <a:r>
              <a:rPr sz="1064" b="0" i="0">
                <a:solidFill>
                  <a:srgbClr val="14171C"/>
                </a:solidFill>
                <a:latin typeface="Consolas"/>
              </a:rPr>
              <a:t>  painter: paint step 3</a:t>
            </a:r>
          </a:p>
          <a:p>
            <a:pPr>
              <a:lnSpc>
                <a:spcPct val="100000"/>
              </a:lnSpc>
              <a:spcBef>
                <a:spcPts val="0"/>
              </a:spcBef>
              <a:spcAft>
                <a:spcPts val="60"/>
              </a:spcAft>
            </a:pPr>
            <a:r>
              <a:rPr sz="1064" b="0" i="0">
                <a:solidFill>
                  <a:srgbClr val="14171C"/>
                </a:solidFill>
                <a:latin typeface="Consolas"/>
              </a:rPr>
              <a:t>  sweeper: sweep step 1</a:t>
            </a:r>
          </a:p>
          <a:p>
            <a:pPr>
              <a:lnSpc>
                <a:spcPct val="100000"/>
              </a:lnSpc>
              <a:spcBef>
                <a:spcPts val="0"/>
              </a:spcBef>
              <a:spcAft>
                <a:spcPts val="60"/>
              </a:spcAft>
            </a:pPr>
            <a:r>
              <a:rPr sz="1064" b="0" i="0">
                <a:solidFill>
                  <a:srgbClr val="14171C"/>
                </a:solidFill>
                <a:latin typeface="Consolas"/>
              </a:rPr>
              <a:t>  sweeper: sweep step 2</a:t>
            </a:r>
          </a:p>
          <a:p>
            <a:pPr>
              <a:lnSpc>
                <a:spcPct val="100000"/>
              </a:lnSpc>
              <a:spcBef>
                <a:spcPts val="0"/>
              </a:spcBef>
              <a:spcAft>
                <a:spcPts val="60"/>
              </a:spcAft>
            </a:pPr>
            <a:r>
              <a:rPr sz="1064" b="0" i="0">
                <a:solidFill>
                  <a:srgbClr val="14171C"/>
                </a:solidFill>
                <a:latin typeface="Consolas"/>
              </a:rPr>
              <a:t>  sweeper: sweep step 3</a:t>
            </a:r>
          </a:p>
          <a:p>
            <a:pPr>
              <a:lnSpc>
                <a:spcPct val="100000"/>
              </a:lnSpc>
              <a:spcBef>
                <a:spcPts val="0"/>
              </a:spcBef>
              <a:spcAft>
                <a:spcPts val="60"/>
              </a:spcAft>
            </a:pPr>
            <a:r>
              <a:rPr sz="1064" b="0" i="0">
                <a:solidFill>
                  <a:srgbClr val="14171C"/>
                </a:solidFill>
                <a:latin typeface="Consolas"/>
              </a:rPr>
              <a:t>after join: alive? painter=false, sweeper=false</a:t>
            </a:r>
          </a:p>
          <a:p>
            <a:pPr>
              <a:lnSpc>
                <a:spcPct val="100000"/>
              </a:lnSpc>
              <a:spcBef>
                <a:spcPts val="0"/>
              </a:spcBef>
              <a:spcAft>
                <a:spcPts val="60"/>
              </a:spcAft>
            </a:pPr>
            <a:r>
              <a:rPr sz="1064" b="0" i="0">
                <a:solidFill>
                  <a:srgbClr val="14171C"/>
                </a:solidFill>
                <a:latin typeface="Consolas"/>
              </a:rPr>
              <a:t>Done.</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8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45</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main’s ticks printed first (“still running tick 1/2”) while both children were already scheduled — the probe line after them read isAlive() = true, proving children were mid-flight.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join() returned per thread; the follow-up line printed</a:t>
            </a:r>
            <a:r>
              <a:rPr sz="1200" b="0" i="0">
                <a:solidFill>
                  <a:srgbClr val="16181D"/>
                </a:solidFill>
                <a:latin typeface="Consolas"/>
              </a:rPr>
              <a:t>alive? painter=false, sweeper=false</a:t>
            </a:r>
            <a:r>
              <a:rPr sz="1250" b="0" i="0">
                <a:solidFill>
                  <a:srgbClr val="16181D"/>
                </a:solidFill>
                <a:latin typeface="Calibri"/>
              </a:rPr>
              <a:t>— the isAlive contract (true between start and death) closed at both ends.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Each child’s log ran step 1…3 unpunctured by the other — buffered per-thread output, so the record is reproducible even though the run was genuinely parallel.</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“Done.” printed only after both joins: main demonstrably became the last to finish.</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What would have happened if main called t1.run() instead of t1.start()?</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Name the two ways to define a thread and which one this is.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Why sleep inside run()?</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One ordinary method call on the main thread: “paint step 1..3” would print inline, isAlive at the probe would read false, and no child would exist at all.</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 Thread subclass with a superclass constructor was run as two concurrent children; main’s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9 — Department enum with valueOf() branch lookup</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46</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100" b="0" i="0">
                <a:solidFill>
                  <a:srgbClr val="16181D"/>
                </a:solidFill>
                <a:latin typeface="Calibri"/>
              </a:rPr>
              <a:t>9. Develop a Java program using an enumeration called Department containing CSE, ISE, ECE, and MECH. Accept a department name as input and display the selected department using valueOf().</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src/e09_enum/</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773" b="0" i="0">
                <a:solidFill>
                  <a:srgbClr val="E5E7EB"/>
                </a:solidFill>
                <a:latin typeface="Consolas"/>
              </a:rPr>
              <a:t>// ——— src/e09_enum/Main.java ———</a:t>
            </a:r>
          </a:p>
          <a:p>
            <a:pPr>
              <a:lnSpc>
                <a:spcPct val="100000"/>
              </a:lnSpc>
              <a:spcBef>
                <a:spcPts val="0"/>
              </a:spcBef>
              <a:spcAft>
                <a:spcPts val="60"/>
              </a:spcAft>
            </a:pPr>
            <a:r>
              <a:rPr sz="773" b="0" i="0">
                <a:solidFill>
                  <a:srgbClr val="E5E7EB"/>
                </a:solidFill>
                <a:latin typeface="Consolas"/>
              </a:rPr>
              <a:t>import java.util.Scanner;</a:t>
            </a:r>
          </a:p>
          <a:p>
            <a:pPr>
              <a:lnSpc>
                <a:spcPct val="100000"/>
              </a:lnSpc>
              <a:spcBef>
                <a:spcPts val="0"/>
              </a:spcBef>
              <a:spcAft>
                <a:spcPts val="60"/>
              </a:spcAft>
            </a:pPr>
            <a:r>
              <a:rPr sz="773" b="0" i="0">
                <a:solidFill>
                  <a:srgbClr val="E5E7EB"/>
                </a:solidFill>
                <a:latin typeface="Consolas"/>
              </a:rPr>
              <a:t>/* Experiment 9 -- enum Department (CSE, ISE, ECE, MECH); a user-entered</a:t>
            </a:r>
          </a:p>
          <a:p>
            <a:pPr>
              <a:lnSpc>
                <a:spcPct val="100000"/>
              </a:lnSpc>
              <a:spcBef>
                <a:spcPts val="0"/>
              </a:spcBef>
              <a:spcAft>
                <a:spcPts val="60"/>
              </a:spcAft>
            </a:pPr>
            <a:r>
              <a:rPr sz="773" b="0" i="0">
                <a:solidFill>
                  <a:srgbClr val="E5E7EB"/>
                </a:solidFill>
                <a:latin typeface="Consolas"/>
              </a:rPr>
              <a:t>   string is converted to the constant with valueOf() for branch lookup. */</a:t>
            </a:r>
          </a:p>
          <a:p>
            <a:pPr>
              <a:lnSpc>
                <a:spcPct val="100000"/>
              </a:lnSpc>
              <a:spcBef>
                <a:spcPts val="0"/>
              </a:spcBef>
              <a:spcAft>
                <a:spcPts val="60"/>
              </a:spcAft>
            </a:pPr>
            <a:r>
              <a:rPr sz="773" b="0" i="0">
                <a:solidFill>
                  <a:srgbClr val="E5E7EB"/>
                </a:solidFill>
                <a:latin typeface="Consolas"/>
              </a:rPr>
              <a:t>enum Department {</a:t>
            </a:r>
          </a:p>
          <a:p>
            <a:pPr>
              <a:lnSpc>
                <a:spcPct val="100000"/>
              </a:lnSpc>
              <a:spcBef>
                <a:spcPts val="0"/>
              </a:spcBef>
              <a:spcAft>
                <a:spcPts val="60"/>
              </a:spcAft>
            </a:pPr>
            <a:r>
              <a:rPr sz="773" b="0" i="0">
                <a:solidFill>
                  <a:srgbClr val="E5E7EB"/>
                </a:solidFill>
                <a:latin typeface="Consolas"/>
              </a:rPr>
              <a:t>    CSE("Computer Science &amp; Engineering"),</a:t>
            </a:r>
          </a:p>
          <a:p>
            <a:pPr>
              <a:lnSpc>
                <a:spcPct val="100000"/>
              </a:lnSpc>
              <a:spcBef>
                <a:spcPts val="0"/>
              </a:spcBef>
              <a:spcAft>
                <a:spcPts val="60"/>
              </a:spcAft>
            </a:pPr>
            <a:r>
              <a:rPr sz="773" b="0" i="0">
                <a:solidFill>
                  <a:srgbClr val="E5E7EB"/>
                </a:solidFill>
                <a:latin typeface="Consolas"/>
              </a:rPr>
              <a:t>    ISE("Information Science &amp; Engineering"),</a:t>
            </a:r>
          </a:p>
          <a:p>
            <a:pPr>
              <a:lnSpc>
                <a:spcPct val="100000"/>
              </a:lnSpc>
              <a:spcBef>
                <a:spcPts val="0"/>
              </a:spcBef>
              <a:spcAft>
                <a:spcPts val="60"/>
              </a:spcAft>
            </a:pPr>
            <a:r>
              <a:rPr sz="773" b="0" i="0">
                <a:solidFill>
                  <a:srgbClr val="E5E7EB"/>
                </a:solidFill>
                <a:latin typeface="Consolas"/>
              </a:rPr>
              <a:t>    ECE("Electronics &amp; Communication"),</a:t>
            </a:r>
          </a:p>
          <a:p>
            <a:pPr>
              <a:lnSpc>
                <a:spcPct val="100000"/>
              </a:lnSpc>
              <a:spcBef>
                <a:spcPts val="0"/>
              </a:spcBef>
              <a:spcAft>
                <a:spcPts val="60"/>
              </a:spcAft>
            </a:pPr>
            <a:r>
              <a:rPr sz="773" b="0" i="0">
                <a:solidFill>
                  <a:srgbClr val="E5E7EB"/>
                </a:solidFill>
                <a:latin typeface="Consolas"/>
              </a:rPr>
              <a:t>    MECH("Mechanical Engineering");</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private final String fullName;</a:t>
            </a:r>
          </a:p>
          <a:p>
            <a:pPr>
              <a:lnSpc>
                <a:spcPct val="100000"/>
              </a:lnSpc>
              <a:spcBef>
                <a:spcPts val="0"/>
              </a:spcBef>
              <a:spcAft>
                <a:spcPts val="60"/>
              </a:spcAft>
            </a:pPr>
            <a:r>
              <a:rPr sz="773" b="0" i="0">
                <a:solidFill>
                  <a:srgbClr val="E5E7EB"/>
                </a:solidFill>
                <a:latin typeface="Consolas"/>
              </a:rPr>
              <a:t>    Department(String fullName) { this.fullName = fullName; }   // enum constructor</a:t>
            </a:r>
          </a:p>
          <a:p>
            <a:pPr>
              <a:lnSpc>
                <a:spcPct val="100000"/>
              </a:lnSpc>
              <a:spcBef>
                <a:spcPts val="0"/>
              </a:spcBef>
              <a:spcAft>
                <a:spcPts val="60"/>
              </a:spcAft>
            </a:pPr>
            <a:r>
              <a:rPr sz="773" b="0" i="0">
                <a:solidFill>
                  <a:srgbClr val="E5E7EB"/>
                </a:solidFill>
                <a:latin typeface="Consolas"/>
              </a:rPr>
              <a:t>    String fullName() { return fullName; }</a:t>
            </a:r>
          </a:p>
          <a:p>
            <a:pPr>
              <a:lnSpc>
                <a:spcPct val="100000"/>
              </a:lnSpc>
              <a:spcBef>
                <a:spcPts val="0"/>
              </a:spcBef>
              <a:spcAft>
                <a:spcPts val="60"/>
              </a:spcAft>
            </a:pPr>
            <a:r>
              <a:rPr sz="773" b="0" i="0">
                <a:solidFill>
                  <a:srgbClr val="E5E7EB"/>
                </a:solidFill>
                <a:latin typeface="Consolas"/>
              </a:rPr>
              <a:t>}</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public class Main {</a:t>
            </a:r>
          </a:p>
          <a:p>
            <a:pPr>
              <a:lnSpc>
                <a:spcPct val="100000"/>
              </a:lnSpc>
              <a:spcBef>
                <a:spcPts val="0"/>
              </a:spcBef>
              <a:spcAft>
                <a:spcPts val="60"/>
              </a:spcAft>
            </a:pPr>
            <a:r>
              <a:rPr sz="773" b="0" i="0">
                <a:solidFill>
                  <a:srgbClr val="E5E7EB"/>
                </a:solidFill>
                <a:latin typeface="Consolas"/>
              </a:rPr>
              <a:t>    public static void main(String[] args) {</a:t>
            </a:r>
          </a:p>
          <a:p>
            <a:pPr>
              <a:lnSpc>
                <a:spcPct val="100000"/>
              </a:lnSpc>
              <a:spcBef>
                <a:spcPts val="0"/>
              </a:spcBef>
              <a:spcAft>
                <a:spcPts val="60"/>
              </a:spcAft>
            </a:pPr>
            <a:r>
              <a:rPr sz="773" b="0" i="0">
                <a:solidFill>
                  <a:srgbClr val="E5E7EB"/>
                </a:solidFill>
                <a:latin typeface="Consolas"/>
              </a:rPr>
              <a:t>        Scanner sc = new Scanner(System.in);</a:t>
            </a:r>
          </a:p>
          <a:p>
            <a:pPr>
              <a:lnSpc>
                <a:spcPct val="100000"/>
              </a:lnSpc>
              <a:spcBef>
                <a:spcPts val="0"/>
              </a:spcBef>
              <a:spcAft>
                <a:spcPts val="60"/>
              </a:spcAft>
            </a:pPr>
            <a:r>
              <a:rPr sz="773" b="0" i="0">
                <a:solidFill>
                  <a:srgbClr val="E5E7EB"/>
                </a:solidFill>
                <a:latin typeface="Consolas"/>
              </a:rPr>
              <a:t>        System.out.println("Department codes (values()):");</a:t>
            </a:r>
          </a:p>
          <a:p>
            <a:pPr>
              <a:lnSpc>
                <a:spcPct val="100000"/>
              </a:lnSpc>
              <a:spcBef>
                <a:spcPts val="0"/>
              </a:spcBef>
              <a:spcAft>
                <a:spcPts val="60"/>
              </a:spcAft>
            </a:pPr>
            <a:r>
              <a:rPr sz="773" b="0" i="0">
                <a:solidFill>
                  <a:srgbClr val="E5E7EB"/>
                </a:solidFill>
                <a:latin typeface="Consolas"/>
              </a:rPr>
              <a:t>        for (Department d : Department.values())</a:t>
            </a:r>
          </a:p>
          <a:p>
            <a:pPr>
              <a:lnSpc>
                <a:spcPct val="100000"/>
              </a:lnSpc>
              <a:spcBef>
                <a:spcPts val="0"/>
              </a:spcBef>
              <a:spcAft>
                <a:spcPts val="60"/>
              </a:spcAft>
            </a:pPr>
            <a:r>
              <a:rPr sz="773" b="0" i="0">
                <a:solidFill>
                  <a:srgbClr val="E5E7EB"/>
                </a:solidFill>
                <a:latin typeface="Consolas"/>
              </a:rPr>
              <a:t>            System.out.println("  " + d.name() + "  ordinal " + d.ordinal());</a:t>
            </a:r>
          </a:p>
          <a:p>
            <a:pPr>
              <a:lnSpc>
                <a:spcPct val="100000"/>
              </a:lnSpc>
              <a:spcBef>
                <a:spcPts val="0"/>
              </a:spcBef>
              <a:spcAft>
                <a:spcPts val="60"/>
              </a:spcAft>
            </a:pPr>
            <a:r>
              <a:rPr sz="773" b="0" i="0">
                <a:solidFill>
                  <a:srgbClr val="E5E7EB"/>
                </a:solidFill>
                <a:latin typeface="Consolas"/>
              </a:rPr>
              <a:t>        while (true) {</a:t>
            </a:r>
          </a:p>
          <a:p>
            <a:pPr>
              <a:lnSpc>
                <a:spcPct val="100000"/>
              </a:lnSpc>
              <a:spcBef>
                <a:spcPts val="0"/>
              </a:spcBef>
              <a:spcAft>
                <a:spcPts val="60"/>
              </a:spcAft>
            </a:pPr>
            <a:r>
              <a:rPr sz="773" b="0" i="0">
                <a:solidFill>
                  <a:srgbClr val="E5E7EB"/>
                </a:solidFill>
                <a:latin typeface="Consolas"/>
              </a:rPr>
              <a:t>            System.out.printf("Enter branch code (QUIT to stop): ");</a:t>
            </a:r>
          </a:p>
          <a:p>
            <a:pPr>
              <a:lnSpc>
                <a:spcPct val="100000"/>
              </a:lnSpc>
              <a:spcBef>
                <a:spcPts val="0"/>
              </a:spcBef>
              <a:spcAft>
                <a:spcPts val="60"/>
              </a:spcAft>
            </a:pPr>
            <a:r>
              <a:rPr sz="773" b="0" i="0">
                <a:solidFill>
                  <a:srgbClr val="E5E7EB"/>
                </a:solidFill>
                <a:latin typeface="Consolas"/>
              </a:rPr>
              <a:t>            String in = sc.nextLine().trim().toUpperCase();     // normalise the string</a:t>
            </a:r>
          </a:p>
          <a:p>
            <a:pPr>
              <a:lnSpc>
                <a:spcPct val="100000"/>
              </a:lnSpc>
              <a:spcBef>
                <a:spcPts val="0"/>
              </a:spcBef>
              <a:spcAft>
                <a:spcPts val="60"/>
              </a:spcAft>
            </a:pPr>
            <a:r>
              <a:rPr sz="773" b="0" i="0">
                <a:solidFill>
                  <a:srgbClr val="E5E7EB"/>
                </a:solidFill>
                <a:latin typeface="Consolas"/>
              </a:rPr>
              <a:t>            if (in.equals("QUIT")) { System.out.println("Bye."); return; }</a:t>
            </a:r>
          </a:p>
          <a:p>
            <a:pPr>
              <a:lnSpc>
                <a:spcPct val="100000"/>
              </a:lnSpc>
              <a:spcBef>
                <a:spcPts val="0"/>
              </a:spcBef>
              <a:spcAft>
                <a:spcPts val="60"/>
              </a:spcAft>
            </a:pPr>
            <a:r>
              <a:rPr sz="773"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out/e09_enum.txt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874" b="0" i="0">
                <a:solidFill>
                  <a:srgbClr val="14171C"/>
                </a:solidFill>
                <a:latin typeface="Consolas"/>
              </a:rPr>
              <a:t>$ javac -d bin/e09_enum src/e09_enum/Main.java</a:t>
            </a:r>
          </a:p>
          <a:p>
            <a:pPr>
              <a:lnSpc>
                <a:spcPct val="100000"/>
              </a:lnSpc>
              <a:spcBef>
                <a:spcPts val="0"/>
              </a:spcBef>
              <a:spcAft>
                <a:spcPts val="60"/>
              </a:spcAft>
            </a:pPr>
            <a:r>
              <a:rPr sz="874" b="0" i="0">
                <a:solidFill>
                  <a:srgbClr val="14171C"/>
                </a:solidFill>
                <a:latin typeface="Consolas"/>
              </a:rPr>
              <a:t>$ java -cp bin/e09_enum Main</a:t>
            </a:r>
          </a:p>
          <a:p>
            <a:pPr>
              <a:lnSpc>
                <a:spcPct val="100000"/>
              </a:lnSpc>
              <a:spcBef>
                <a:spcPts val="0"/>
              </a:spcBef>
              <a:spcAft>
                <a:spcPts val="60"/>
              </a:spcAft>
            </a:pPr>
            <a:r>
              <a:rPr sz="874" b="0" i="0">
                <a:solidFill>
                  <a:srgbClr val="14171C"/>
                </a:solidFill>
                <a:latin typeface="Consolas"/>
              </a:rPr>
              <a:t>Department codes (values()):</a:t>
            </a:r>
          </a:p>
          <a:p>
            <a:pPr>
              <a:lnSpc>
                <a:spcPct val="100000"/>
              </a:lnSpc>
              <a:spcBef>
                <a:spcPts val="0"/>
              </a:spcBef>
              <a:spcAft>
                <a:spcPts val="60"/>
              </a:spcAft>
            </a:pPr>
            <a:r>
              <a:rPr sz="874" b="0" i="0">
                <a:solidFill>
                  <a:srgbClr val="14171C"/>
                </a:solidFill>
                <a:latin typeface="Consolas"/>
              </a:rPr>
              <a:t>  CSE  ordinal 0</a:t>
            </a:r>
          </a:p>
          <a:p>
            <a:pPr>
              <a:lnSpc>
                <a:spcPct val="100000"/>
              </a:lnSpc>
              <a:spcBef>
                <a:spcPts val="0"/>
              </a:spcBef>
              <a:spcAft>
                <a:spcPts val="60"/>
              </a:spcAft>
            </a:pPr>
            <a:r>
              <a:rPr sz="874" b="0" i="0">
                <a:solidFill>
                  <a:srgbClr val="14171C"/>
                </a:solidFill>
                <a:latin typeface="Consolas"/>
              </a:rPr>
              <a:t>  ISE  ordinal 1</a:t>
            </a:r>
          </a:p>
          <a:p>
            <a:pPr>
              <a:lnSpc>
                <a:spcPct val="100000"/>
              </a:lnSpc>
              <a:spcBef>
                <a:spcPts val="0"/>
              </a:spcBef>
              <a:spcAft>
                <a:spcPts val="60"/>
              </a:spcAft>
            </a:pPr>
            <a:r>
              <a:rPr sz="874" b="0" i="0">
                <a:solidFill>
                  <a:srgbClr val="14171C"/>
                </a:solidFill>
                <a:latin typeface="Consolas"/>
              </a:rPr>
              <a:t>  ECE  ordinal 2</a:t>
            </a:r>
          </a:p>
          <a:p>
            <a:pPr>
              <a:lnSpc>
                <a:spcPct val="100000"/>
              </a:lnSpc>
              <a:spcBef>
                <a:spcPts val="0"/>
              </a:spcBef>
              <a:spcAft>
                <a:spcPts val="60"/>
              </a:spcAft>
            </a:pPr>
            <a:r>
              <a:rPr sz="874" b="0" i="0">
                <a:solidFill>
                  <a:srgbClr val="14171C"/>
                </a:solidFill>
                <a:latin typeface="Consolas"/>
              </a:rPr>
              <a:t>  MECH  ordinal 3</a:t>
            </a:r>
          </a:p>
          <a:p>
            <a:pPr>
              <a:lnSpc>
                <a:spcPct val="100000"/>
              </a:lnSpc>
              <a:spcBef>
                <a:spcPts val="0"/>
              </a:spcBef>
              <a:spcAft>
                <a:spcPts val="60"/>
              </a:spcAft>
            </a:pPr>
            <a:r>
              <a:rPr sz="874" b="0" i="0">
                <a:solidFill>
                  <a:srgbClr val="14171C"/>
                </a:solidFill>
                <a:latin typeface="Consolas"/>
              </a:rPr>
              <a:t>Enter branch code (QUIT to stop): cse</a:t>
            </a:r>
          </a:p>
          <a:p>
            <a:pPr>
              <a:lnSpc>
                <a:spcPct val="100000"/>
              </a:lnSpc>
              <a:spcBef>
                <a:spcPts val="0"/>
              </a:spcBef>
              <a:spcAft>
                <a:spcPts val="60"/>
              </a:spcAft>
            </a:pPr>
            <a:r>
              <a:rPr sz="874" b="0" i="0">
                <a:solidFill>
                  <a:srgbClr val="14171C"/>
                </a:solidFill>
                <a:latin typeface="Consolas"/>
              </a:rPr>
              <a:t>CSE -&gt; Computer Science &amp; Engineering [ordinal 0]</a:t>
            </a:r>
          </a:p>
          <a:p>
            <a:pPr>
              <a:lnSpc>
                <a:spcPct val="100000"/>
              </a:lnSpc>
              <a:spcBef>
                <a:spcPts val="0"/>
              </a:spcBef>
              <a:spcAft>
                <a:spcPts val="60"/>
              </a:spcAft>
            </a:pPr>
            <a:r>
              <a:rPr sz="874" b="0" i="0">
                <a:solidFill>
                  <a:srgbClr val="14171C"/>
                </a:solidFill>
                <a:latin typeface="Consolas"/>
              </a:rPr>
              <a:t>Enter branch code (QUIT to stop): mech</a:t>
            </a:r>
          </a:p>
          <a:p>
            <a:pPr>
              <a:lnSpc>
                <a:spcPct val="100000"/>
              </a:lnSpc>
              <a:spcBef>
                <a:spcPts val="0"/>
              </a:spcBef>
              <a:spcAft>
                <a:spcPts val="60"/>
              </a:spcAft>
            </a:pPr>
            <a:r>
              <a:rPr sz="874" b="0" i="0">
                <a:solidFill>
                  <a:srgbClr val="14171C"/>
                </a:solidFill>
                <a:latin typeface="Consolas"/>
              </a:rPr>
              <a:t>MECH -&gt; Mechanical Engineering [ordinal 3]</a:t>
            </a:r>
          </a:p>
          <a:p>
            <a:pPr>
              <a:lnSpc>
                <a:spcPct val="100000"/>
              </a:lnSpc>
              <a:spcBef>
                <a:spcPts val="0"/>
              </a:spcBef>
              <a:spcAft>
                <a:spcPts val="60"/>
              </a:spcAft>
            </a:pPr>
            <a:r>
              <a:rPr sz="874" b="0" i="0">
                <a:solidFill>
                  <a:srgbClr val="14171C"/>
                </a:solidFill>
                <a:latin typeface="Consolas"/>
              </a:rPr>
              <a:t>Enter branch code (QUIT to stop): abc</a:t>
            </a:r>
          </a:p>
          <a:p>
            <a:pPr>
              <a:lnSpc>
                <a:spcPct val="100000"/>
              </a:lnSpc>
              <a:spcBef>
                <a:spcPts val="0"/>
              </a:spcBef>
              <a:spcAft>
                <a:spcPts val="60"/>
              </a:spcAft>
            </a:pPr>
            <a:r>
              <a:rPr sz="874" b="0" i="0">
                <a:solidFill>
                  <a:srgbClr val="14171C"/>
                </a:solidFill>
                <a:latin typeface="Consolas"/>
              </a:rPr>
              <a:t>No such department: ABC</a:t>
            </a:r>
          </a:p>
          <a:p>
            <a:pPr>
              <a:lnSpc>
                <a:spcPct val="100000"/>
              </a:lnSpc>
              <a:spcBef>
                <a:spcPts val="0"/>
              </a:spcBef>
              <a:spcAft>
                <a:spcPts val="60"/>
              </a:spcAft>
            </a:pPr>
            <a:r>
              <a:rPr sz="874" b="0" i="0">
                <a:solidFill>
                  <a:srgbClr val="14171C"/>
                </a:solidFill>
                <a:latin typeface="Consolas"/>
              </a:rPr>
              <a:t>Enter branch code (QUIT to stop): quit</a:t>
            </a:r>
          </a:p>
          <a:p>
            <a:pPr>
              <a:lnSpc>
                <a:spcPct val="100000"/>
              </a:lnSpc>
              <a:spcBef>
                <a:spcPts val="0"/>
              </a:spcBef>
              <a:spcAft>
                <a:spcPts val="60"/>
              </a:spcAft>
            </a:pPr>
            <a:r>
              <a:rPr sz="874" b="0" i="0">
                <a:solidFill>
                  <a:srgbClr val="14171C"/>
                </a:solidFill>
                <a:latin typeface="Consolas"/>
              </a:rPr>
              <a:t>Bye.</a:t>
            </a:r>
          </a:p>
          <a:p>
            <a:pPr>
              <a:lnSpc>
                <a:spcPct val="100000"/>
              </a:lnSpc>
              <a:spcBef>
                <a:spcPts val="0"/>
              </a:spcBef>
              <a:spcAft>
                <a:spcPts val="60"/>
              </a:spcAft>
            </a:pPr>
            <a:r>
              <a:rPr sz="874" b="0" i="0">
                <a:solidFill>
                  <a:srgbClr val="14171C"/>
                </a:solidFill>
                <a:latin typeface="Consolas"/>
              </a:rPr>
              <a:t>$ java -cp bin/e09_enum Main</a:t>
            </a:r>
          </a:p>
          <a:p>
            <a:pPr>
              <a:lnSpc>
                <a:spcPct val="100000"/>
              </a:lnSpc>
              <a:spcBef>
                <a:spcPts val="0"/>
              </a:spcBef>
              <a:spcAft>
                <a:spcPts val="60"/>
              </a:spcAft>
            </a:pPr>
            <a:r>
              <a:rPr sz="874" b="0" i="0">
                <a:solidFill>
                  <a:srgbClr val="14171C"/>
                </a:solidFill>
                <a:latin typeface="Consolas"/>
              </a:rPr>
              <a:t>Department codes (values()):</a:t>
            </a:r>
          </a:p>
          <a:p>
            <a:pPr>
              <a:lnSpc>
                <a:spcPct val="100000"/>
              </a:lnSpc>
              <a:spcBef>
                <a:spcPts val="0"/>
              </a:spcBef>
              <a:spcAft>
                <a:spcPts val="60"/>
              </a:spcAft>
            </a:pPr>
            <a:r>
              <a:rPr sz="874" b="0" i="0">
                <a:solidFill>
                  <a:srgbClr val="14171C"/>
                </a:solidFill>
                <a:latin typeface="Consolas"/>
              </a:rPr>
              <a:t>  CSE  ordinal 0</a:t>
            </a:r>
          </a:p>
          <a:p>
            <a:pPr>
              <a:lnSpc>
                <a:spcPct val="100000"/>
              </a:lnSpc>
              <a:spcBef>
                <a:spcPts val="0"/>
              </a:spcBef>
              <a:spcAft>
                <a:spcPts val="60"/>
              </a:spcAft>
            </a:pPr>
            <a:r>
              <a:rPr sz="874" b="0" i="0">
                <a:solidFill>
                  <a:srgbClr val="14171C"/>
                </a:solidFill>
                <a:latin typeface="Consolas"/>
              </a:rPr>
              <a:t>  ISE  ordinal 1</a:t>
            </a:r>
          </a:p>
          <a:p>
            <a:pPr>
              <a:lnSpc>
                <a:spcPct val="100000"/>
              </a:lnSpc>
              <a:spcBef>
                <a:spcPts val="0"/>
              </a:spcBef>
              <a:spcAft>
                <a:spcPts val="60"/>
              </a:spcAft>
            </a:pPr>
            <a:r>
              <a:rPr sz="874" b="0" i="0">
                <a:solidFill>
                  <a:srgbClr val="14171C"/>
                </a:solidFill>
                <a:latin typeface="Consolas"/>
              </a:rPr>
              <a:t>  ECE  ordinal 2</a:t>
            </a:r>
          </a:p>
          <a:p>
            <a:pPr>
              <a:lnSpc>
                <a:spcPct val="100000"/>
              </a:lnSpc>
              <a:spcBef>
                <a:spcPts val="0"/>
              </a:spcBef>
              <a:spcAft>
                <a:spcPts val="60"/>
              </a:spcAft>
            </a:pPr>
            <a:r>
              <a:rPr sz="874" b="0" i="0">
                <a:solidFill>
                  <a:srgbClr val="14171C"/>
                </a:solidFill>
                <a:latin typeface="Consolas"/>
              </a:rPr>
              <a:t>  MECH  ordinal 3</a:t>
            </a:r>
          </a:p>
          <a:p>
            <a:pPr>
              <a:lnSpc>
                <a:spcPct val="100000"/>
              </a:lnSpc>
              <a:spcBef>
                <a:spcPts val="0"/>
              </a:spcBef>
              <a:spcAft>
                <a:spcPts val="60"/>
              </a:spcAft>
            </a:pPr>
            <a:r>
              <a:rPr sz="874" b="0" i="0">
                <a:solidFill>
                  <a:srgbClr val="14171C"/>
                </a:solidFill>
                <a:latin typeface="Consolas"/>
              </a:rPr>
              <a:t>Enter branch code (QUIT to stop): ece</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9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47</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Case 1: “cse” →</a:t>
            </a:r>
            <a:r>
              <a:rPr sz="1200" b="0" i="0">
                <a:solidFill>
                  <a:srgbClr val="16181D"/>
                </a:solidFill>
                <a:latin typeface="Consolas"/>
              </a:rPr>
              <a:t>CSE -› Computer Science &amp; Engineering [ordinal 0]</a:t>
            </a:r>
            <a:r>
              <a:rPr sz="1250" b="0" i="0">
                <a:solidFill>
                  <a:srgbClr val="16181D"/>
                </a:solidFill>
                <a:latin typeface="Calibri"/>
              </a:rPr>
              <a:t>; “mech” → ordinal 3 — the ordinals match the declaration order printed in the header.</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miss “abc” was upper-cased to ABC, missed all four constants, and the catch printed the no-such line instead of dying — one loop, three verdicts, zero stack traces.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Case 2 fed “ece” and “ISE” (mixed-case already) — both resolved; normalization makes input case a non-issue.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“quit” ended under the QUIT test — the sentinel sits outside the enum (no constant named QUIT), so a reserved word cannot shadow a department.</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Why is an enum constructor private by law?</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What exception does valueOf raise on a miss — and why catch that one only?</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Where do name() and toString() differ for enums?</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Instantiation belongs to the compiler: constants are made once in the declaration. A public constructor would let anyone mint a “fifth department”, destroying the identity guarantee equals/== rely on.</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 Department enumeration with attached full names was looked up from raw user strings via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10 — Marks as strings → wrapper objects → total &amp; average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48</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100" b="0" i="0">
                <a:solidFill>
                  <a:srgbClr val="16181D"/>
                </a:solidFill>
                <a:latin typeface="Calibri"/>
              </a:rPr>
              <a:t>10. Develop a Java program to read the marks of three subjects as strings, convert them into wrapper objects, calculate the total and average using autoboxing/unboxing and display the result.</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src/e10_wrappers/</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773" b="0" i="0">
                <a:solidFill>
                  <a:srgbClr val="E5E7EB"/>
                </a:solidFill>
                <a:latin typeface="Consolas"/>
              </a:rPr>
              <a:t>// ——— src/e10_wrappers/Main.java ———</a:t>
            </a:r>
          </a:p>
          <a:p>
            <a:pPr>
              <a:lnSpc>
                <a:spcPct val="100000"/>
              </a:lnSpc>
              <a:spcBef>
                <a:spcPts val="0"/>
              </a:spcBef>
              <a:spcAft>
                <a:spcPts val="60"/>
              </a:spcAft>
            </a:pPr>
            <a:r>
              <a:rPr sz="773" b="0" i="0">
                <a:solidFill>
                  <a:srgbClr val="E5E7EB"/>
                </a:solidFill>
                <a:latin typeface="Consolas"/>
              </a:rPr>
              <a:t>import java.util.Scanner;</a:t>
            </a:r>
          </a:p>
          <a:p>
            <a:pPr>
              <a:lnSpc>
                <a:spcPct val="100000"/>
              </a:lnSpc>
              <a:spcBef>
                <a:spcPts val="0"/>
              </a:spcBef>
              <a:spcAft>
                <a:spcPts val="60"/>
              </a:spcAft>
            </a:pPr>
            <a:r>
              <a:rPr sz="773" b="0" i="0">
                <a:solidFill>
                  <a:srgbClr val="E5E7EB"/>
                </a:solidFill>
                <a:latin typeface="Consolas"/>
              </a:rPr>
              <a:t>/* Experiment 10 -- the marks of three subjects are read as strings,</a:t>
            </a:r>
          </a:p>
          <a:p>
            <a:pPr>
              <a:lnSpc>
                <a:spcPct val="100000"/>
              </a:lnSpc>
              <a:spcBef>
                <a:spcPts val="0"/>
              </a:spcBef>
              <a:spcAft>
                <a:spcPts val="60"/>
              </a:spcAft>
            </a:pPr>
            <a:r>
              <a:rPr sz="773" b="0" i="0">
                <a:solidFill>
                  <a:srgbClr val="E5E7EB"/>
                </a:solidFill>
                <a:latin typeface="Consolas"/>
              </a:rPr>
              <a:t>   converted into Integer wrapper objects, and the total and average are</a:t>
            </a:r>
          </a:p>
          <a:p>
            <a:pPr>
              <a:lnSpc>
                <a:spcPct val="100000"/>
              </a:lnSpc>
              <a:spcBef>
                <a:spcPts val="0"/>
              </a:spcBef>
              <a:spcAft>
                <a:spcPts val="60"/>
              </a:spcAft>
            </a:pPr>
            <a:r>
              <a:rPr sz="773" b="0" i="0">
                <a:solidFill>
                  <a:srgbClr val="E5E7EB"/>
                </a:solidFill>
                <a:latin typeface="Consolas"/>
              </a:rPr>
              <a:t>   computed while autoboxing/unboxing does the wrapping work. */</a:t>
            </a:r>
          </a:p>
          <a:p>
            <a:pPr>
              <a:lnSpc>
                <a:spcPct val="100000"/>
              </a:lnSpc>
              <a:spcBef>
                <a:spcPts val="0"/>
              </a:spcBef>
              <a:spcAft>
                <a:spcPts val="60"/>
              </a:spcAft>
            </a:pPr>
            <a:r>
              <a:rPr sz="773" b="0" i="0">
                <a:solidFill>
                  <a:srgbClr val="E5E7EB"/>
                </a:solidFill>
                <a:latin typeface="Consolas"/>
              </a:rPr>
              <a:t>public class Main {</a:t>
            </a:r>
          </a:p>
          <a:p>
            <a:pPr>
              <a:lnSpc>
                <a:spcPct val="100000"/>
              </a:lnSpc>
              <a:spcBef>
                <a:spcPts val="0"/>
              </a:spcBef>
              <a:spcAft>
                <a:spcPts val="60"/>
              </a:spcAft>
            </a:pPr>
            <a:r>
              <a:rPr sz="773" b="0" i="0">
                <a:solidFill>
                  <a:srgbClr val="E5E7EB"/>
                </a:solidFill>
                <a:latin typeface="Consolas"/>
              </a:rPr>
              <a:t>    public static void main(String[] args) {</a:t>
            </a:r>
          </a:p>
          <a:p>
            <a:pPr>
              <a:lnSpc>
                <a:spcPct val="100000"/>
              </a:lnSpc>
              <a:spcBef>
                <a:spcPts val="0"/>
              </a:spcBef>
              <a:spcAft>
                <a:spcPts val="60"/>
              </a:spcAft>
            </a:pPr>
            <a:r>
              <a:rPr sz="773" b="0" i="0">
                <a:solidFill>
                  <a:srgbClr val="E5E7EB"/>
                </a:solidFill>
                <a:latin typeface="Consolas"/>
              </a:rPr>
              <a:t>        Scanner sc = new Scanner(System.in);</a:t>
            </a:r>
          </a:p>
          <a:p>
            <a:pPr>
              <a:lnSpc>
                <a:spcPct val="100000"/>
              </a:lnSpc>
              <a:spcBef>
                <a:spcPts val="0"/>
              </a:spcBef>
              <a:spcAft>
                <a:spcPts val="60"/>
              </a:spcAft>
            </a:pPr>
            <a:r>
              <a:rPr sz="773" b="0" i="0">
                <a:solidFill>
                  <a:srgbClr val="E5E7EB"/>
                </a:solidFill>
                <a:latin typeface="Consolas"/>
              </a:rPr>
              <a:t>        String[] subjects = {"Mathematics", "Physics", "Chemistry"};</a:t>
            </a:r>
          </a:p>
          <a:p>
            <a:pPr>
              <a:lnSpc>
                <a:spcPct val="100000"/>
              </a:lnSpc>
              <a:spcBef>
                <a:spcPts val="0"/>
              </a:spcBef>
              <a:spcAft>
                <a:spcPts val="60"/>
              </a:spcAft>
            </a:pPr>
            <a:r>
              <a:rPr sz="773" b="0" i="0">
                <a:solidFill>
                  <a:srgbClr val="E5E7EB"/>
                </a:solidFill>
                <a:latin typeface="Consolas"/>
              </a:rPr>
              <a:t>        Integer[] marks = new Integer[3];               // array of wrapper objects</a:t>
            </a:r>
          </a:p>
          <a:p>
            <a:pPr>
              <a:lnSpc>
                <a:spcPct val="100000"/>
              </a:lnSpc>
              <a:spcBef>
                <a:spcPts val="0"/>
              </a:spcBef>
              <a:spcAft>
                <a:spcPts val="60"/>
              </a:spcAft>
            </a:pPr>
            <a:r>
              <a:rPr sz="773" b="0" i="0">
                <a:solidFill>
                  <a:srgbClr val="E5E7EB"/>
                </a:solidFill>
                <a:latin typeface="Consolas"/>
              </a:rPr>
              <a:t>        System.out.println("Enter the marks of three subjects (as lines):");</a:t>
            </a:r>
          </a:p>
          <a:p>
            <a:pPr>
              <a:lnSpc>
                <a:spcPct val="100000"/>
              </a:lnSpc>
              <a:spcBef>
                <a:spcPts val="0"/>
              </a:spcBef>
              <a:spcAft>
                <a:spcPts val="60"/>
              </a:spcAft>
            </a:pPr>
            <a:r>
              <a:rPr sz="773" b="0" i="0">
                <a:solidFill>
                  <a:srgbClr val="E5E7EB"/>
                </a:solidFill>
                <a:latin typeface="Consolas"/>
              </a:rPr>
              <a:t>        for (int i = 0; i &lt; 3; i++) {</a:t>
            </a:r>
          </a:p>
          <a:p>
            <a:pPr>
              <a:lnSpc>
                <a:spcPct val="100000"/>
              </a:lnSpc>
              <a:spcBef>
                <a:spcPts val="0"/>
              </a:spcBef>
              <a:spcAft>
                <a:spcPts val="60"/>
              </a:spcAft>
            </a:pPr>
            <a:r>
              <a:rPr sz="773" b="0" i="0">
                <a:solidFill>
                  <a:srgbClr val="E5E7EB"/>
                </a:solidFill>
                <a:latin typeface="Consolas"/>
              </a:rPr>
              <a:t>            System.out.print(subjects[i] + ": ");</a:t>
            </a:r>
          </a:p>
          <a:p>
            <a:pPr>
              <a:lnSpc>
                <a:spcPct val="100000"/>
              </a:lnSpc>
              <a:spcBef>
                <a:spcPts val="0"/>
              </a:spcBef>
              <a:spcAft>
                <a:spcPts val="60"/>
              </a:spcAft>
            </a:pPr>
            <a:r>
              <a:rPr sz="773" b="0" i="0">
                <a:solidFill>
                  <a:srgbClr val="E5E7EB"/>
                </a:solidFill>
                <a:latin typeface="Consolas"/>
              </a:rPr>
              <a:t>            marks[i] = Integer.valueOf(sc.nextLine().trim());   // String -&gt; Integer</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Integer total = 0;</a:t>
            </a:r>
          </a:p>
          <a:p>
            <a:pPr>
              <a:lnSpc>
                <a:spcPct val="100000"/>
              </a:lnSpc>
              <a:spcBef>
                <a:spcPts val="0"/>
              </a:spcBef>
              <a:spcAft>
                <a:spcPts val="60"/>
              </a:spcAft>
            </a:pPr>
            <a:r>
              <a:rPr sz="773" b="0" i="0">
                <a:solidFill>
                  <a:srgbClr val="E5E7EB"/>
                </a:solidFill>
                <a:latin typeface="Consolas"/>
              </a:rPr>
              <a:t>        for (Integer m : marks) total += m;             // unbox, add, re-box each round</a:t>
            </a:r>
          </a:p>
          <a:p>
            <a:pPr>
              <a:lnSpc>
                <a:spcPct val="100000"/>
              </a:lnSpc>
              <a:spcBef>
                <a:spcPts val="0"/>
              </a:spcBef>
              <a:spcAft>
                <a:spcPts val="60"/>
              </a:spcAft>
            </a:pPr>
            <a:r>
              <a:rPr sz="773" b="0" i="0">
                <a:solidFill>
                  <a:srgbClr val="E5E7EB"/>
                </a:solidFill>
                <a:latin typeface="Consolas"/>
              </a:rPr>
              <a:t>        Double average = (double) total / 3;            // unbox, divide, autobox to Double</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Integer highest = marks[0];</a:t>
            </a:r>
          </a:p>
          <a:p>
            <a:pPr>
              <a:lnSpc>
                <a:spcPct val="100000"/>
              </a:lnSpc>
              <a:spcBef>
                <a:spcPts val="0"/>
              </a:spcBef>
              <a:spcAft>
                <a:spcPts val="60"/>
              </a:spcAft>
            </a:pPr>
            <a:r>
              <a:rPr sz="773" b="0" i="0">
                <a:solidFill>
                  <a:srgbClr val="E5E7EB"/>
                </a:solidFill>
                <a:latin typeface="Consolas"/>
              </a:rPr>
              <a:t>        for (Integer m : marks)</a:t>
            </a:r>
          </a:p>
          <a:p>
            <a:pPr>
              <a:lnSpc>
                <a:spcPct val="100000"/>
              </a:lnSpc>
              <a:spcBef>
                <a:spcPts val="0"/>
              </a:spcBef>
              <a:spcAft>
                <a:spcPts val="60"/>
              </a:spcAft>
            </a:pPr>
            <a:r>
              <a:rPr sz="773" b="0" i="0">
                <a:solidFill>
                  <a:srgbClr val="E5E7EB"/>
                </a:solidFill>
                <a:latin typeface="Consolas"/>
              </a:rPr>
              <a:t>            if (m.compareTo(highest) &gt; 0) highest = m;  // wrapper comparison method</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System.out.println("Total   : " + total);</a:t>
            </a:r>
          </a:p>
          <a:p>
            <a:pPr>
              <a:lnSpc>
                <a:spcPct val="100000"/>
              </a:lnSpc>
              <a:spcBef>
                <a:spcPts val="0"/>
              </a:spcBef>
              <a:spcAft>
                <a:spcPts val="60"/>
              </a:spcAft>
            </a:pPr>
            <a:r>
              <a:rPr sz="773" b="0" i="0">
                <a:solidFill>
                  <a:srgbClr val="E5E7EB"/>
                </a:solidFill>
                <a:latin typeface="Consolas"/>
              </a:rPr>
              <a:t>        System.out.println("Average : " + average);</a:t>
            </a:r>
          </a:p>
          <a:p>
            <a:pPr>
              <a:lnSpc>
                <a:spcPct val="100000"/>
              </a:lnSpc>
              <a:spcBef>
                <a:spcPts val="0"/>
              </a:spcBef>
              <a:spcAft>
                <a:spcPts val="60"/>
              </a:spcAft>
            </a:pPr>
            <a:r>
              <a:rPr sz="773"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out/e10_wrappers.txt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1005" b="0" i="0">
                <a:solidFill>
                  <a:srgbClr val="14171C"/>
                </a:solidFill>
                <a:latin typeface="Consolas"/>
              </a:rPr>
              <a:t>$ javac -d bin/e10_wrappers src/e10_wrappers/Main.java</a:t>
            </a:r>
          </a:p>
          <a:p>
            <a:pPr>
              <a:lnSpc>
                <a:spcPct val="100000"/>
              </a:lnSpc>
              <a:spcBef>
                <a:spcPts val="0"/>
              </a:spcBef>
              <a:spcAft>
                <a:spcPts val="60"/>
              </a:spcAft>
            </a:pPr>
            <a:r>
              <a:rPr sz="1005" b="0" i="0">
                <a:solidFill>
                  <a:srgbClr val="14171C"/>
                </a:solidFill>
                <a:latin typeface="Consolas"/>
              </a:rPr>
              <a:t>$ java -cp bin/e10_wrappers Main</a:t>
            </a:r>
          </a:p>
          <a:p>
            <a:pPr>
              <a:lnSpc>
                <a:spcPct val="100000"/>
              </a:lnSpc>
              <a:spcBef>
                <a:spcPts val="0"/>
              </a:spcBef>
              <a:spcAft>
                <a:spcPts val="60"/>
              </a:spcAft>
            </a:pPr>
            <a:r>
              <a:rPr sz="1005" b="0" i="0">
                <a:solidFill>
                  <a:srgbClr val="14171C"/>
                </a:solidFill>
                <a:latin typeface="Consolas"/>
              </a:rPr>
              <a:t>Enter the marks of three subjects (as lines):</a:t>
            </a:r>
          </a:p>
          <a:p>
            <a:pPr>
              <a:lnSpc>
                <a:spcPct val="100000"/>
              </a:lnSpc>
              <a:spcBef>
                <a:spcPts val="0"/>
              </a:spcBef>
              <a:spcAft>
                <a:spcPts val="60"/>
              </a:spcAft>
            </a:pPr>
            <a:r>
              <a:rPr sz="1005" b="0" i="0">
                <a:solidFill>
                  <a:srgbClr val="14171C"/>
                </a:solidFill>
                <a:latin typeface="Consolas"/>
              </a:rPr>
              <a:t>Mathematics: 85</a:t>
            </a:r>
          </a:p>
          <a:p>
            <a:pPr>
              <a:lnSpc>
                <a:spcPct val="100000"/>
              </a:lnSpc>
              <a:spcBef>
                <a:spcPts val="0"/>
              </a:spcBef>
              <a:spcAft>
                <a:spcPts val="60"/>
              </a:spcAft>
            </a:pPr>
            <a:r>
              <a:rPr sz="1005" b="0" i="0">
                <a:solidFill>
                  <a:srgbClr val="14171C"/>
                </a:solidFill>
                <a:latin typeface="Consolas"/>
              </a:rPr>
              <a:t>Physics: 78</a:t>
            </a:r>
          </a:p>
          <a:p>
            <a:pPr>
              <a:lnSpc>
                <a:spcPct val="100000"/>
              </a:lnSpc>
              <a:spcBef>
                <a:spcPts val="0"/>
              </a:spcBef>
              <a:spcAft>
                <a:spcPts val="60"/>
              </a:spcAft>
            </a:pPr>
            <a:r>
              <a:rPr sz="1005" b="0" i="0">
                <a:solidFill>
                  <a:srgbClr val="14171C"/>
                </a:solidFill>
                <a:latin typeface="Consolas"/>
              </a:rPr>
              <a:t>Chemistry: 92</a:t>
            </a:r>
          </a:p>
          <a:p>
            <a:pPr>
              <a:lnSpc>
                <a:spcPct val="100000"/>
              </a:lnSpc>
              <a:spcBef>
                <a:spcPts val="0"/>
              </a:spcBef>
              <a:spcAft>
                <a:spcPts val="60"/>
              </a:spcAft>
            </a:pPr>
            <a:r>
              <a:rPr sz="1005" b="0" i="0">
                <a:solidFill>
                  <a:srgbClr val="14171C"/>
                </a:solidFill>
                <a:latin typeface="Consolas"/>
              </a:rPr>
              <a:t>Total   : 255</a:t>
            </a:r>
          </a:p>
          <a:p>
            <a:pPr>
              <a:lnSpc>
                <a:spcPct val="100000"/>
              </a:lnSpc>
              <a:spcBef>
                <a:spcPts val="0"/>
              </a:spcBef>
              <a:spcAft>
                <a:spcPts val="60"/>
              </a:spcAft>
            </a:pPr>
            <a:r>
              <a:rPr sz="1005" b="0" i="0">
                <a:solidFill>
                  <a:srgbClr val="14171C"/>
                </a:solidFill>
                <a:latin typeface="Consolas"/>
              </a:rPr>
              <a:t>Average : 85.0</a:t>
            </a:r>
          </a:p>
          <a:p>
            <a:pPr>
              <a:lnSpc>
                <a:spcPct val="100000"/>
              </a:lnSpc>
              <a:spcBef>
                <a:spcPts val="0"/>
              </a:spcBef>
              <a:spcAft>
                <a:spcPts val="60"/>
              </a:spcAft>
            </a:pPr>
            <a:r>
              <a:rPr sz="1005" b="0" i="0">
                <a:solidFill>
                  <a:srgbClr val="14171C"/>
                </a:solidFill>
                <a:latin typeface="Consolas"/>
              </a:rPr>
              <a:t>Highest : 92 (Chemistry)</a:t>
            </a:r>
          </a:p>
          <a:p>
            <a:pPr>
              <a:lnSpc>
                <a:spcPct val="100000"/>
              </a:lnSpc>
              <a:spcBef>
                <a:spcPts val="0"/>
              </a:spcBef>
              <a:spcAft>
                <a:spcPts val="60"/>
              </a:spcAft>
            </a:pPr>
            <a:r>
              <a:rPr sz="1005" b="0" i="0">
                <a:solidFill>
                  <a:srgbClr val="14171C"/>
                </a:solidFill>
                <a:latin typeface="Consolas"/>
              </a:rPr>
              <a:t>Subjects passed (&gt;= 40): 3 of 3</a:t>
            </a:r>
          </a:p>
          <a:p>
            <a:pPr>
              <a:lnSpc>
                <a:spcPct val="100000"/>
              </a:lnSpc>
              <a:spcBef>
                <a:spcPts val="0"/>
              </a:spcBef>
              <a:spcAft>
                <a:spcPts val="60"/>
              </a:spcAft>
            </a:pPr>
            <a:r>
              <a:rPr sz="1005" b="0" i="0">
                <a:solidFill>
                  <a:srgbClr val="14171C"/>
                </a:solidFill>
                <a:latin typeface="Consolas"/>
              </a:rPr>
              <a:t>$ java -cp bin/e10_wrappers Main</a:t>
            </a:r>
          </a:p>
          <a:p>
            <a:pPr>
              <a:lnSpc>
                <a:spcPct val="100000"/>
              </a:lnSpc>
              <a:spcBef>
                <a:spcPts val="0"/>
              </a:spcBef>
              <a:spcAft>
                <a:spcPts val="60"/>
              </a:spcAft>
            </a:pPr>
            <a:r>
              <a:rPr sz="1005" b="0" i="0">
                <a:solidFill>
                  <a:srgbClr val="14171C"/>
                </a:solidFill>
                <a:latin typeface="Consolas"/>
              </a:rPr>
              <a:t>Enter the marks of three subjects (as lines):</a:t>
            </a:r>
          </a:p>
          <a:p>
            <a:pPr>
              <a:lnSpc>
                <a:spcPct val="100000"/>
              </a:lnSpc>
              <a:spcBef>
                <a:spcPts val="0"/>
              </a:spcBef>
              <a:spcAft>
                <a:spcPts val="60"/>
              </a:spcAft>
            </a:pPr>
            <a:r>
              <a:rPr sz="1005" b="0" i="0">
                <a:solidFill>
                  <a:srgbClr val="14171C"/>
                </a:solidFill>
                <a:latin typeface="Consolas"/>
              </a:rPr>
              <a:t>Mathematics: 50</a:t>
            </a:r>
          </a:p>
          <a:p>
            <a:pPr>
              <a:lnSpc>
                <a:spcPct val="100000"/>
              </a:lnSpc>
              <a:spcBef>
                <a:spcPts val="0"/>
              </a:spcBef>
              <a:spcAft>
                <a:spcPts val="60"/>
              </a:spcAft>
            </a:pPr>
            <a:r>
              <a:rPr sz="1005" b="0" i="0">
                <a:solidFill>
                  <a:srgbClr val="14171C"/>
                </a:solidFill>
                <a:latin typeface="Consolas"/>
              </a:rPr>
              <a:t>Physics: 45</a:t>
            </a:r>
          </a:p>
          <a:p>
            <a:pPr>
              <a:lnSpc>
                <a:spcPct val="100000"/>
              </a:lnSpc>
              <a:spcBef>
                <a:spcPts val="0"/>
              </a:spcBef>
              <a:spcAft>
                <a:spcPts val="60"/>
              </a:spcAft>
            </a:pPr>
            <a:r>
              <a:rPr sz="1005" b="0" i="0">
                <a:solidFill>
                  <a:srgbClr val="14171C"/>
                </a:solidFill>
                <a:latin typeface="Consolas"/>
              </a:rPr>
              <a:t>Chemistry: 61</a:t>
            </a:r>
          </a:p>
          <a:p>
            <a:pPr>
              <a:lnSpc>
                <a:spcPct val="100000"/>
              </a:lnSpc>
              <a:spcBef>
                <a:spcPts val="0"/>
              </a:spcBef>
              <a:spcAft>
                <a:spcPts val="60"/>
              </a:spcAft>
            </a:pPr>
            <a:r>
              <a:rPr sz="1005" b="0" i="0">
                <a:solidFill>
                  <a:srgbClr val="14171C"/>
                </a:solidFill>
                <a:latin typeface="Consolas"/>
              </a:rPr>
              <a:t>Total   : 156</a:t>
            </a:r>
          </a:p>
          <a:p>
            <a:pPr>
              <a:lnSpc>
                <a:spcPct val="100000"/>
              </a:lnSpc>
              <a:spcBef>
                <a:spcPts val="0"/>
              </a:spcBef>
              <a:spcAft>
                <a:spcPts val="60"/>
              </a:spcAft>
            </a:pPr>
            <a:r>
              <a:rPr sz="1005" b="0" i="0">
                <a:solidFill>
                  <a:srgbClr val="14171C"/>
                </a:solidFill>
                <a:latin typeface="Consolas"/>
              </a:rPr>
              <a:t>Average : 52.0</a:t>
            </a:r>
          </a:p>
          <a:p>
            <a:pPr>
              <a:lnSpc>
                <a:spcPct val="100000"/>
              </a:lnSpc>
              <a:spcBef>
                <a:spcPts val="0"/>
              </a:spcBef>
              <a:spcAft>
                <a:spcPts val="60"/>
              </a:spcAft>
            </a:pPr>
            <a:r>
              <a:rPr sz="1005" b="0" i="0">
                <a:solidFill>
                  <a:srgbClr val="14171C"/>
                </a:solidFill>
                <a:latin typeface="Consolas"/>
              </a:rPr>
              <a:t>Highest : 61 (Chemistry)</a:t>
            </a:r>
          </a:p>
          <a:p>
            <a:pPr>
              <a:lnSpc>
                <a:spcPct val="100000"/>
              </a:lnSpc>
              <a:spcBef>
                <a:spcPts val="0"/>
              </a:spcBef>
              <a:spcAft>
                <a:spcPts val="60"/>
              </a:spcAft>
            </a:pPr>
            <a:r>
              <a:rPr sz="1005" b="0" i="0">
                <a:solidFill>
                  <a:srgbClr val="14171C"/>
                </a:solidFill>
                <a:latin typeface="Consolas"/>
              </a:rPr>
              <a:t>Subjects passed (&gt;= 40): 3 of 3</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10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49</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Case 1 (85, 78, 92):</a:t>
            </a:r>
            <a:r>
              <a:rPr sz="1200" b="0" i="0">
                <a:solidFill>
                  <a:srgbClr val="16181D"/>
                </a:solidFill>
                <a:latin typeface="Consolas"/>
              </a:rPr>
              <a:t>Total : 255</a:t>
            </a:r>
            <a:r>
              <a:rPr sz="1250" b="0" i="0">
                <a:solidFill>
                  <a:srgbClr val="16181D"/>
                </a:solidFill>
                <a:latin typeface="Calibri"/>
              </a:rPr>
              <a:t>and</a:t>
            </a:r>
            <a:r>
              <a:rPr sz="1200" b="0" i="0">
                <a:solidFill>
                  <a:srgbClr val="16181D"/>
                </a:solidFill>
                <a:latin typeface="Consolas"/>
              </a:rPr>
              <a:t>Average : 85.0</a:t>
            </a:r>
            <a:r>
              <a:rPr sz="1250" b="0" i="0">
                <a:solidFill>
                  <a:srgbClr val="16181D"/>
                </a:solidFill>
                <a:latin typeface="Calibri"/>
              </a:rPr>
              <a:t>— 255/3 exact; a hand check the marker can do during the demo.</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Case 2 (50, 45, 61): total 156, average 52.0 — and Highest 61 (Chemistry) proved find() uses</a:t>
            </a:r>
            <a:r>
              <a:rPr sz="1200" b="0" i="0">
                <a:solidFill>
                  <a:srgbClr val="16181D"/>
                </a:solidFill>
                <a:latin typeface="Consolas"/>
              </a:rPr>
              <a:t>equals()</a:t>
            </a:r>
            <a:r>
              <a:rPr sz="1250" b="0" i="0">
                <a:solidFill>
                  <a:srgbClr val="16181D"/>
                </a:solidFill>
                <a:latin typeface="Calibri"/>
              </a:rPr>
              <a:t>, not</a:t>
            </a:r>
            <a:r>
              <a:rPr sz="1200" b="0" i="0">
                <a:solidFill>
                  <a:srgbClr val="16181D"/>
                </a:solidFill>
                <a:latin typeface="Consolas"/>
              </a:rPr>
              <a:t>==</a:t>
            </a:r>
            <a:r>
              <a:rPr sz="1250" b="0" i="0">
                <a:solidFill>
                  <a:srgbClr val="16181D"/>
                </a:solidFill>
                <a:latin typeface="Calibri"/>
              </a:rPr>
              <a:t>, on boxed values.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“Subjects passed (&gt;= 40): 3 of 3” printed in both sessions — the unboxed comparison inside the test, no intValue() visible in source.</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The echoed lines sit exactly after their prompts in the transcript (Mathematics: 85 …) — the pseudo-terminal capture records the bench session, guard-free input included.</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Difference between Integer.valueOf(s) and Integer.parseInt(s)?</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What does the compiler write behind total += m;?</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Why does the average print 85.0, not 85?</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valueOf hands you the boxed object (may return a cached instance for −128…127); parseInt hands you the raw int. Exp. 10 needs the object, so valueOf — and it is also what Integer m = 85 means.</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Three subjects’ string marks were converted through Integer wrappers, summed and averaged with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11 — Micro project — Student Marks Manager</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50</a:t>
            </a:r>
          </a:p>
        </p:txBody>
      </p:sp>
      <p:sp>
        <p:nvSpPr>
          <p:cNvPr id="8" name="Rectangle 7"/>
          <p:cNvSpPr/>
          <p:nvPr/>
        </p:nvSpPr>
        <p:spPr>
          <a:xfrm>
            <a:off x="502920" y="1481328"/>
            <a:ext cx="11183112" cy="932688"/>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81328"/>
            <a:ext cx="54864" cy="9326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72768"/>
            <a:ext cx="10799064" cy="749808"/>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QUESTION (VERBATIM)</a:t>
            </a:r>
          </a:p>
          <a:p>
            <a:pPr>
              <a:lnSpc>
                <a:spcPct val="108000"/>
              </a:lnSpc>
              <a:spcBef>
                <a:spcPts val="0"/>
              </a:spcBef>
              <a:spcAft>
                <a:spcPts val="0"/>
              </a:spcAft>
            </a:pPr>
            <a:r>
              <a:rPr sz="1100" b="0" i="0">
                <a:solidFill>
                  <a:srgbClr val="16181D"/>
                </a:solidFill>
                <a:latin typeface="Calibri"/>
              </a:rPr>
              <a:t>11. Micro Project: A team of two to three students shall develop a project and submit a brief report for a specific task assigned by the course instructor based on the concepts covered in the syllabus.</a:t>
            </a:r>
          </a:p>
        </p:txBody>
      </p:sp>
      <p:sp>
        <p:nvSpPr>
          <p:cNvPr id="11" name="Rectangle 10"/>
          <p:cNvSpPr/>
          <p:nvPr/>
        </p:nvSpPr>
        <p:spPr>
          <a:xfrm>
            <a:off x="502920" y="2578608"/>
            <a:ext cx="6263640" cy="379476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2578608"/>
            <a:ext cx="6263640" cy="310896"/>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 y="2628900"/>
            <a:ext cx="5971031" cy="237744"/>
          </a:xfrm>
          <a:prstGeom prst="rect">
            <a:avLst/>
          </a:prstGeom>
          <a:noFill/>
        </p:spPr>
        <p:txBody>
          <a:bodyPr wrap="square" anchor="t" lIns="0" rIns="0" tIns="0" bIns="0">
            <a:spAutoFit/>
          </a:bodyPr>
          <a:lstStyle/>
          <a:p>
            <a:pPr>
              <a:spcBef>
                <a:spcPts val="0"/>
              </a:spcBef>
              <a:spcAft>
                <a:spcPts val="0"/>
              </a:spcAft>
            </a:pPr>
            <a:r>
              <a:rPr sz="1050" b="1" i="0">
                <a:solidFill>
                  <a:srgbClr val="9CA8B8"/>
                </a:solidFill>
                <a:latin typeface="Consolas"/>
              </a:rPr>
              <a:t>src/e11_project/</a:t>
            </a:r>
          </a:p>
        </p:txBody>
      </p:sp>
      <p:sp>
        <p:nvSpPr>
          <p:cNvPr id="14" name="TextBox 13"/>
          <p:cNvSpPr txBox="1"/>
          <p:nvPr/>
        </p:nvSpPr>
        <p:spPr>
          <a:xfrm>
            <a:off x="667512" y="2980944"/>
            <a:ext cx="5952744" cy="3319272"/>
          </a:xfrm>
          <a:prstGeom prst="rect">
            <a:avLst/>
          </a:prstGeom>
          <a:noFill/>
        </p:spPr>
        <p:txBody>
          <a:bodyPr wrap="none" anchor="t" lIns="0" rIns="0" tIns="0" bIns="0">
            <a:spAutoFit/>
          </a:bodyPr>
          <a:lstStyle/>
          <a:p>
            <a:pPr>
              <a:lnSpc>
                <a:spcPct val="100000"/>
              </a:lnSpc>
              <a:spcBef>
                <a:spcPts val="0"/>
              </a:spcBef>
              <a:spcAft>
                <a:spcPts val="60"/>
              </a:spcAft>
            </a:pPr>
            <a:r>
              <a:rPr sz="773" b="0" i="0">
                <a:solidFill>
                  <a:srgbClr val="E5E7EB"/>
                </a:solidFill>
                <a:latin typeface="Consolas"/>
              </a:rPr>
              <a:t>// ——— src/e11_project/Main.java ———</a:t>
            </a:r>
          </a:p>
          <a:p>
            <a:pPr>
              <a:lnSpc>
                <a:spcPct val="100000"/>
              </a:lnSpc>
              <a:spcBef>
                <a:spcPts val="0"/>
              </a:spcBef>
              <a:spcAft>
                <a:spcPts val="60"/>
              </a:spcAft>
            </a:pPr>
            <a:r>
              <a:rPr sz="773" b="0" i="0">
                <a:solidFill>
                  <a:srgbClr val="E5E7EB"/>
                </a:solidFill>
                <a:latin typeface="Consolas"/>
              </a:rPr>
              <a:t>import java.util.Scanner;</a:t>
            </a:r>
          </a:p>
          <a:p>
            <a:pPr>
              <a:lnSpc>
                <a:spcPct val="100000"/>
              </a:lnSpc>
              <a:spcBef>
                <a:spcPts val="0"/>
              </a:spcBef>
              <a:spcAft>
                <a:spcPts val="60"/>
              </a:spcAft>
            </a:pPr>
            <a:r>
              <a:rPr sz="773" b="0" i="0">
                <a:solidFill>
                  <a:srgbClr val="E5E7EB"/>
                </a:solidFill>
                <a:latin typeface="Consolas"/>
              </a:rPr>
              <a:t>import java.util.ArrayList;</a:t>
            </a:r>
          </a:p>
          <a:p>
            <a:pPr>
              <a:lnSpc>
                <a:spcPct val="100000"/>
              </a:lnSpc>
              <a:spcBef>
                <a:spcPts val="0"/>
              </a:spcBef>
              <a:spcAft>
                <a:spcPts val="60"/>
              </a:spcAft>
            </a:pPr>
            <a:r>
              <a:rPr sz="773" b="0" i="0">
                <a:solidFill>
                  <a:srgbClr val="E5E7EB"/>
                </a:solidFill>
                <a:latin typeface="Consolas"/>
              </a:rPr>
              <a:t>/* Experiment 11 -- MICRO PROJECT: "Student Marks Manager", a console app</a:t>
            </a:r>
          </a:p>
          <a:p>
            <a:pPr>
              <a:lnSpc>
                <a:spcPct val="100000"/>
              </a:lnSpc>
              <a:spcBef>
                <a:spcPts val="0"/>
              </a:spcBef>
              <a:spcAft>
                <a:spcPts val="60"/>
              </a:spcAft>
            </a:pPr>
            <a:r>
              <a:rPr sz="773" b="0" i="0">
                <a:solidFill>
                  <a:srgbClr val="E5E7EB"/>
                </a:solidFill>
                <a:latin typeface="Consolas"/>
              </a:rPr>
              <a:t>   for a batch of 2-3 students that gathers the course's OOP tools:</a:t>
            </a:r>
          </a:p>
          <a:p>
            <a:pPr>
              <a:lnSpc>
                <a:spcPct val="100000"/>
              </a:lnSpc>
              <a:spcBef>
                <a:spcPts val="0"/>
              </a:spcBef>
              <a:spcAft>
                <a:spcPts val="60"/>
              </a:spcAft>
            </a:pPr>
            <a:r>
              <a:rPr sz="773" b="0" i="0">
                <a:solidFill>
                  <a:srgbClr val="E5E7EB"/>
                </a:solidFill>
                <a:latin typeface="Consolas"/>
              </a:rPr>
              <a:t>   inheritance (Person -&gt; Student), constructors and super(...),</a:t>
            </a:r>
          </a:p>
          <a:p>
            <a:pPr>
              <a:lnSpc>
                <a:spcPct val="100000"/>
              </a:lnSpc>
              <a:spcBef>
                <a:spcPts val="0"/>
              </a:spcBef>
              <a:spcAft>
                <a:spcPts val="60"/>
              </a:spcAft>
            </a:pPr>
            <a:r>
              <a:rPr sz="773" b="0" i="0">
                <a:solidFill>
                  <a:srgbClr val="E5E7EB"/>
                </a:solidFill>
                <a:latin typeface="Consolas"/>
              </a:rPr>
              <a:t>   encapsulation, enums for the grade, autoboxing inside ArrayList,</a:t>
            </a:r>
          </a:p>
          <a:p>
            <a:pPr>
              <a:lnSpc>
                <a:spcPct val="100000"/>
              </a:lnSpc>
              <a:spcBef>
                <a:spcPts val="0"/>
              </a:spcBef>
              <a:spcAft>
                <a:spcPts val="60"/>
              </a:spcAft>
            </a:pPr>
            <a:r>
              <a:rPr sz="773" b="0" i="0">
                <a:solidFill>
                  <a:srgbClr val="E5E7EB"/>
                </a:solidFill>
                <a:latin typeface="Consolas"/>
              </a:rPr>
              <a:t>   dynamic dispatch through toString(). */</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enum Grade { A, B, C, D, F }</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class Person {</a:t>
            </a:r>
          </a:p>
          <a:p>
            <a:pPr>
              <a:lnSpc>
                <a:spcPct val="100000"/>
              </a:lnSpc>
              <a:spcBef>
                <a:spcPts val="0"/>
              </a:spcBef>
              <a:spcAft>
                <a:spcPts val="60"/>
              </a:spcAft>
            </a:pPr>
            <a:r>
              <a:rPr sz="773" b="0" i="0">
                <a:solidFill>
                  <a:srgbClr val="E5E7EB"/>
                </a:solidFill>
                <a:latin typeface="Consolas"/>
              </a:rPr>
              <a:t>    private final String name, phone;</a:t>
            </a:r>
          </a:p>
          <a:p>
            <a:pPr>
              <a:lnSpc>
                <a:spcPct val="100000"/>
              </a:lnSpc>
              <a:spcBef>
                <a:spcPts val="0"/>
              </a:spcBef>
              <a:spcAft>
                <a:spcPts val="60"/>
              </a:spcAft>
            </a:pPr>
            <a:r>
              <a:rPr sz="773" b="0" i="0">
                <a:solidFill>
                  <a:srgbClr val="E5E7EB"/>
                </a:solidFill>
                <a:latin typeface="Consolas"/>
              </a:rPr>
              <a:t>    Person(String name, String phone) { this.name = name; this.phone = phone; }</a:t>
            </a:r>
          </a:p>
          <a:p>
            <a:pPr>
              <a:lnSpc>
                <a:spcPct val="100000"/>
              </a:lnSpc>
              <a:spcBef>
                <a:spcPts val="0"/>
              </a:spcBef>
              <a:spcAft>
                <a:spcPts val="60"/>
              </a:spcAft>
            </a:pPr>
            <a:r>
              <a:rPr sz="773" b="0" i="0">
                <a:solidFill>
                  <a:srgbClr val="E5E7EB"/>
                </a:solidFill>
                <a:latin typeface="Consolas"/>
              </a:rPr>
              <a:t>    String name() { return name; }</a:t>
            </a:r>
          </a:p>
          <a:p>
            <a:pPr>
              <a:lnSpc>
                <a:spcPct val="100000"/>
              </a:lnSpc>
              <a:spcBef>
                <a:spcPts val="0"/>
              </a:spcBef>
              <a:spcAft>
                <a:spcPts val="60"/>
              </a:spcAft>
            </a:pPr>
            <a:r>
              <a:rPr sz="773" b="0" i="0">
                <a:solidFill>
                  <a:srgbClr val="E5E7EB"/>
                </a:solidFill>
                <a:latin typeface="Consolas"/>
              </a:rPr>
              <a:t>    public String toString() { return name + " &lt;" + phone + "&gt;"; }</a:t>
            </a:r>
          </a:p>
          <a:p>
            <a:pPr>
              <a:lnSpc>
                <a:spcPct val="100000"/>
              </a:lnSpc>
              <a:spcBef>
                <a:spcPts val="0"/>
              </a:spcBef>
              <a:spcAft>
                <a:spcPts val="60"/>
              </a:spcAft>
            </a:pPr>
            <a:r>
              <a:rPr sz="773" b="0" i="0">
                <a:solidFill>
                  <a:srgbClr val="E5E7EB"/>
                </a:solidFill>
                <a:latin typeface="Consolas"/>
              </a:rPr>
              <a:t>}</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class Student extends Person {</a:t>
            </a:r>
          </a:p>
          <a:p>
            <a:pPr>
              <a:lnSpc>
                <a:spcPct val="100000"/>
              </a:lnSpc>
              <a:spcBef>
                <a:spcPts val="0"/>
              </a:spcBef>
              <a:spcAft>
                <a:spcPts val="60"/>
              </a:spcAft>
            </a:pPr>
            <a:r>
              <a:rPr sz="773" b="0" i="0">
                <a:solidFill>
                  <a:srgbClr val="E5E7EB"/>
                </a:solidFill>
                <a:latin typeface="Consolas"/>
              </a:rPr>
              <a:t>    private final String usn;</a:t>
            </a:r>
          </a:p>
          <a:p>
            <a:pPr>
              <a:lnSpc>
                <a:spcPct val="100000"/>
              </a:lnSpc>
              <a:spcBef>
                <a:spcPts val="0"/>
              </a:spcBef>
              <a:spcAft>
                <a:spcPts val="60"/>
              </a:spcAft>
            </a:pPr>
            <a:r>
              <a:rPr sz="773" b="0" i="0">
                <a:solidFill>
                  <a:srgbClr val="E5E7EB"/>
                </a:solidFill>
                <a:latin typeface="Consolas"/>
              </a:rPr>
              <a:t>    private final ArrayList&lt;Integer&gt; marks = new ArrayList&lt;&gt;();  // boxes ints</a:t>
            </a:r>
          </a:p>
          <a:p>
            <a:pPr>
              <a:lnSpc>
                <a:spcPct val="100000"/>
              </a:lnSpc>
              <a:spcBef>
                <a:spcPts val="0"/>
              </a:spcBef>
              <a:spcAft>
                <a:spcPts val="60"/>
              </a:spcAft>
            </a:pPr>
            <a:r>
              <a:rPr sz="773" b="0" i="0">
                <a:solidFill>
                  <a:srgbClr val="E5E7EB"/>
                </a:solidFill>
                <a:latin typeface="Consolas"/>
              </a:rPr>
              <a:t>    Student(String usn, String name, String phone) {</a:t>
            </a:r>
          </a:p>
          <a:p>
            <a:pPr>
              <a:lnSpc>
                <a:spcPct val="100000"/>
              </a:lnSpc>
              <a:spcBef>
                <a:spcPts val="0"/>
              </a:spcBef>
              <a:spcAft>
                <a:spcPts val="60"/>
              </a:spcAft>
            </a:pPr>
            <a:r>
              <a:rPr sz="773" b="0" i="0">
                <a:solidFill>
                  <a:srgbClr val="E5E7EB"/>
                </a:solidFill>
                <a:latin typeface="Consolas"/>
              </a:rPr>
              <a:t>        super(name, phone);            // parent constructor first</a:t>
            </a:r>
          </a:p>
          <a:p>
            <a:pPr>
              <a:lnSpc>
                <a:spcPct val="100000"/>
              </a:lnSpc>
              <a:spcBef>
                <a:spcPts val="0"/>
              </a:spcBef>
              <a:spcAft>
                <a:spcPts val="60"/>
              </a:spcAft>
            </a:pPr>
            <a:r>
              <a:rPr sz="773" b="0" i="0">
                <a:solidFill>
                  <a:srgbClr val="E5E7EB"/>
                </a:solidFill>
                <a:latin typeface="Consolas"/>
              </a:rPr>
              <a:t>        this.usn = usn;</a:t>
            </a:r>
          </a:p>
          <a:p>
            <a:pPr>
              <a:lnSpc>
                <a:spcPct val="100000"/>
              </a:lnSpc>
              <a:spcBef>
                <a:spcPts val="0"/>
              </a:spcBef>
              <a:spcAft>
                <a:spcPts val="60"/>
              </a:spcAft>
            </a:pPr>
            <a:r>
              <a:rPr sz="773" b="0" i="0">
                <a:solidFill>
                  <a:srgbClr val="E5E7EB"/>
                </a:solidFill>
                <a:latin typeface="Consolas"/>
              </a:rPr>
              <a:t>    }</a:t>
            </a:r>
          </a:p>
          <a:p>
            <a:pPr>
              <a:lnSpc>
                <a:spcPct val="100000"/>
              </a:lnSpc>
              <a:spcBef>
                <a:spcPts val="0"/>
              </a:spcBef>
              <a:spcAft>
                <a:spcPts val="60"/>
              </a:spcAft>
            </a:pPr>
            <a:r>
              <a:rPr sz="773" b="0" i="0">
                <a:solidFill>
                  <a:srgbClr val="E5E7EB"/>
                </a:solidFill>
                <a:latin typeface="Consolas"/>
              </a:rPr>
              <a:t>  …  (complete source: the course book)</a:t>
            </a:r>
          </a:p>
        </p:txBody>
      </p:sp>
      <p:sp>
        <p:nvSpPr>
          <p:cNvPr id="15" name="Rectangle 14"/>
          <p:cNvSpPr/>
          <p:nvPr/>
        </p:nvSpPr>
        <p:spPr>
          <a:xfrm>
            <a:off x="7086600" y="2578608"/>
            <a:ext cx="4617720" cy="3794760"/>
          </a:xfrm>
          <a:prstGeom prst="rect">
            <a:avLst/>
          </a:prstGeom>
          <a:solidFill>
            <a:srgbClr val="F2F7F4"/>
          </a:solidFill>
          <a:ln w="9525">
            <a:solidFill>
              <a:srgbClr val="B7D4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2670048"/>
            <a:ext cx="4343400" cy="219456"/>
          </a:xfrm>
          <a:prstGeom prst="rect">
            <a:avLst/>
          </a:prstGeom>
          <a:noFill/>
        </p:spPr>
        <p:txBody>
          <a:bodyPr wrap="square" anchor="t" lIns="0" rIns="0" tIns="0" bIns="0">
            <a:spAutoFit/>
          </a:bodyPr>
          <a:lstStyle/>
          <a:p>
            <a:pPr>
              <a:spcBef>
                <a:spcPts val="0"/>
              </a:spcBef>
              <a:spcAft>
                <a:spcPts val="0"/>
              </a:spcAft>
            </a:pPr>
            <a:r>
              <a:rPr sz="1050" b="1" i="0">
                <a:solidFill>
                  <a:srgbClr val="166534"/>
                </a:solidFill>
                <a:latin typeface="Calibri"/>
              </a:rPr>
              <a:t>$ javac · $ java — out/e11_project.txt</a:t>
            </a:r>
          </a:p>
        </p:txBody>
      </p:sp>
      <p:sp>
        <p:nvSpPr>
          <p:cNvPr id="17" name="TextBox 16"/>
          <p:cNvSpPr txBox="1"/>
          <p:nvPr/>
        </p:nvSpPr>
        <p:spPr>
          <a:xfrm>
            <a:off x="7232904" y="2944368"/>
            <a:ext cx="4343400" cy="3337560"/>
          </a:xfrm>
          <a:prstGeom prst="rect">
            <a:avLst/>
          </a:prstGeom>
          <a:noFill/>
        </p:spPr>
        <p:txBody>
          <a:bodyPr wrap="none" anchor="t" lIns="0" rIns="0" tIns="0" bIns="0">
            <a:spAutoFit/>
          </a:bodyPr>
          <a:lstStyle/>
          <a:p>
            <a:pPr>
              <a:lnSpc>
                <a:spcPct val="100000"/>
              </a:lnSpc>
              <a:spcBef>
                <a:spcPts val="0"/>
              </a:spcBef>
              <a:spcAft>
                <a:spcPts val="60"/>
              </a:spcAft>
            </a:pPr>
            <a:r>
              <a:rPr sz="802" b="0" i="0">
                <a:solidFill>
                  <a:srgbClr val="14171C"/>
                </a:solidFill>
                <a:latin typeface="Consolas"/>
              </a:rPr>
              <a:t>$ javac -d bin/e11_project src/e11_project/Main.java</a:t>
            </a:r>
          </a:p>
          <a:p>
            <a:pPr>
              <a:lnSpc>
                <a:spcPct val="100000"/>
              </a:lnSpc>
              <a:spcBef>
                <a:spcPts val="0"/>
              </a:spcBef>
              <a:spcAft>
                <a:spcPts val="60"/>
              </a:spcAft>
            </a:pPr>
            <a:r>
              <a:rPr sz="802" b="0" i="0">
                <a:solidFill>
                  <a:srgbClr val="14171C"/>
                </a:solidFill>
                <a:latin typeface="Consolas"/>
              </a:rPr>
              <a:t>$ java -cp bin/e11_project Main</a:t>
            </a:r>
          </a:p>
          <a:p>
            <a:pPr>
              <a:lnSpc>
                <a:spcPct val="100000"/>
              </a:lnSpc>
              <a:spcBef>
                <a:spcPts val="0"/>
              </a:spcBef>
              <a:spcAft>
                <a:spcPts val="60"/>
              </a:spcAft>
            </a:pPr>
            <a:r>
              <a:rPr sz="802" b="0" i="0">
                <a:solidFill>
                  <a:srgbClr val="14171C"/>
                </a:solidFill>
                <a:latin typeface="Consolas"/>
              </a:rPr>
              <a:t> </a:t>
            </a:r>
          </a:p>
          <a:p>
            <a:pPr>
              <a:lnSpc>
                <a:spcPct val="100000"/>
              </a:lnSpc>
              <a:spcBef>
                <a:spcPts val="0"/>
              </a:spcBef>
              <a:spcAft>
                <a:spcPts val="60"/>
              </a:spcAft>
            </a:pPr>
            <a:r>
              <a:rPr sz="802" b="0" i="0">
                <a:solidFill>
                  <a:srgbClr val="14171C"/>
                </a:solidFill>
                <a:latin typeface="Consolas"/>
              </a:rPr>
              <a:t>1.Add student  2.Show list  3.Topper  4.Search  5.Exit</a:t>
            </a:r>
          </a:p>
          <a:p>
            <a:pPr>
              <a:lnSpc>
                <a:spcPct val="100000"/>
              </a:lnSpc>
              <a:spcBef>
                <a:spcPts val="0"/>
              </a:spcBef>
              <a:spcAft>
                <a:spcPts val="60"/>
              </a:spcAft>
            </a:pPr>
            <a:r>
              <a:rPr sz="802" b="0" i="0">
                <a:solidFill>
                  <a:srgbClr val="14171C"/>
                </a:solidFill>
                <a:latin typeface="Consolas"/>
              </a:rPr>
              <a:t>Choice: 1</a:t>
            </a:r>
          </a:p>
          <a:p>
            <a:pPr>
              <a:lnSpc>
                <a:spcPct val="100000"/>
              </a:lnSpc>
              <a:spcBef>
                <a:spcPts val="0"/>
              </a:spcBef>
              <a:spcAft>
                <a:spcPts val="60"/>
              </a:spcAft>
            </a:pPr>
            <a:r>
              <a:rPr sz="802" b="0" i="0">
                <a:solidFill>
                  <a:srgbClr val="14171C"/>
                </a:solidFill>
                <a:latin typeface="Consolas"/>
              </a:rPr>
              <a:t>USN: 1AB23CS001</a:t>
            </a:r>
          </a:p>
          <a:p>
            <a:pPr>
              <a:lnSpc>
                <a:spcPct val="100000"/>
              </a:lnSpc>
              <a:spcBef>
                <a:spcPts val="0"/>
              </a:spcBef>
              <a:spcAft>
                <a:spcPts val="60"/>
              </a:spcAft>
            </a:pPr>
            <a:r>
              <a:rPr sz="802" b="0" i="0">
                <a:solidFill>
                  <a:srgbClr val="14171C"/>
                </a:solidFill>
                <a:latin typeface="Consolas"/>
              </a:rPr>
              <a:t>Name: Aarav</a:t>
            </a:r>
          </a:p>
          <a:p>
            <a:pPr>
              <a:lnSpc>
                <a:spcPct val="100000"/>
              </a:lnSpc>
              <a:spcBef>
                <a:spcPts val="0"/>
              </a:spcBef>
              <a:spcAft>
                <a:spcPts val="60"/>
              </a:spcAft>
            </a:pPr>
            <a:r>
              <a:rPr sz="802" b="0" i="0">
                <a:solidFill>
                  <a:srgbClr val="14171C"/>
                </a:solidFill>
                <a:latin typeface="Consolas"/>
              </a:rPr>
              <a:t>Phone: 9810011223</a:t>
            </a:r>
          </a:p>
          <a:p>
            <a:pPr>
              <a:lnSpc>
                <a:spcPct val="100000"/>
              </a:lnSpc>
              <a:spcBef>
                <a:spcPts val="0"/>
              </a:spcBef>
              <a:spcAft>
                <a:spcPts val="60"/>
              </a:spcAft>
            </a:pPr>
            <a:r>
              <a:rPr sz="802" b="0" i="0">
                <a:solidFill>
                  <a:srgbClr val="14171C"/>
                </a:solidFill>
                <a:latin typeface="Consolas"/>
              </a:rPr>
              <a:t>Mark for subject 1: 85</a:t>
            </a:r>
          </a:p>
          <a:p>
            <a:pPr>
              <a:lnSpc>
                <a:spcPct val="100000"/>
              </a:lnSpc>
              <a:spcBef>
                <a:spcPts val="0"/>
              </a:spcBef>
              <a:spcAft>
                <a:spcPts val="60"/>
              </a:spcAft>
            </a:pPr>
            <a:r>
              <a:rPr sz="802" b="0" i="0">
                <a:solidFill>
                  <a:srgbClr val="14171C"/>
                </a:solidFill>
                <a:latin typeface="Consolas"/>
              </a:rPr>
              <a:t>Mark for subject 2: 92</a:t>
            </a:r>
          </a:p>
          <a:p>
            <a:pPr>
              <a:lnSpc>
                <a:spcPct val="100000"/>
              </a:lnSpc>
              <a:spcBef>
                <a:spcPts val="0"/>
              </a:spcBef>
              <a:spcAft>
                <a:spcPts val="60"/>
              </a:spcAft>
            </a:pPr>
            <a:r>
              <a:rPr sz="802" b="0" i="0">
                <a:solidFill>
                  <a:srgbClr val="14171C"/>
                </a:solidFill>
                <a:latin typeface="Consolas"/>
              </a:rPr>
              <a:t>Mark for subject 3: 88</a:t>
            </a:r>
          </a:p>
          <a:p>
            <a:pPr>
              <a:lnSpc>
                <a:spcPct val="100000"/>
              </a:lnSpc>
              <a:spcBef>
                <a:spcPts val="0"/>
              </a:spcBef>
              <a:spcAft>
                <a:spcPts val="60"/>
              </a:spcAft>
            </a:pPr>
            <a:r>
              <a:rPr sz="802" b="0" i="0">
                <a:solidFill>
                  <a:srgbClr val="14171C"/>
                </a:solidFill>
                <a:latin typeface="Consolas"/>
              </a:rPr>
              <a:t>Added: 1AB23CS001   Aarav      marks=[85, 92, 88]   avg= 88.3 grade=B</a:t>
            </a:r>
          </a:p>
          <a:p>
            <a:pPr>
              <a:lnSpc>
                <a:spcPct val="100000"/>
              </a:lnSpc>
              <a:spcBef>
                <a:spcPts val="0"/>
              </a:spcBef>
              <a:spcAft>
                <a:spcPts val="60"/>
              </a:spcAft>
            </a:pPr>
            <a:r>
              <a:rPr sz="802" b="0" i="0">
                <a:solidFill>
                  <a:srgbClr val="14171C"/>
                </a:solidFill>
                <a:latin typeface="Consolas"/>
              </a:rPr>
              <a:t> </a:t>
            </a:r>
          </a:p>
          <a:p>
            <a:pPr>
              <a:lnSpc>
                <a:spcPct val="100000"/>
              </a:lnSpc>
              <a:spcBef>
                <a:spcPts val="0"/>
              </a:spcBef>
              <a:spcAft>
                <a:spcPts val="60"/>
              </a:spcAft>
            </a:pPr>
            <a:r>
              <a:rPr sz="802" b="0" i="0">
                <a:solidFill>
                  <a:srgbClr val="14171C"/>
                </a:solidFill>
                <a:latin typeface="Consolas"/>
              </a:rPr>
              <a:t>1.Add student  2.Show list  3.Topper  4.Search  5.Exit</a:t>
            </a:r>
          </a:p>
          <a:p>
            <a:pPr>
              <a:lnSpc>
                <a:spcPct val="100000"/>
              </a:lnSpc>
              <a:spcBef>
                <a:spcPts val="0"/>
              </a:spcBef>
              <a:spcAft>
                <a:spcPts val="60"/>
              </a:spcAft>
            </a:pPr>
            <a:r>
              <a:rPr sz="802" b="0" i="0">
                <a:solidFill>
                  <a:srgbClr val="14171C"/>
                </a:solidFill>
                <a:latin typeface="Consolas"/>
              </a:rPr>
              <a:t>Choice: 1</a:t>
            </a:r>
          </a:p>
          <a:p>
            <a:pPr>
              <a:lnSpc>
                <a:spcPct val="100000"/>
              </a:lnSpc>
              <a:spcBef>
                <a:spcPts val="0"/>
              </a:spcBef>
              <a:spcAft>
                <a:spcPts val="60"/>
              </a:spcAft>
            </a:pPr>
            <a:r>
              <a:rPr sz="802" b="0" i="0">
                <a:solidFill>
                  <a:srgbClr val="14171C"/>
                </a:solidFill>
                <a:latin typeface="Consolas"/>
              </a:rPr>
              <a:t>USN: 1AB23CS014</a:t>
            </a:r>
          </a:p>
          <a:p>
            <a:pPr>
              <a:lnSpc>
                <a:spcPct val="100000"/>
              </a:lnSpc>
              <a:spcBef>
                <a:spcPts val="0"/>
              </a:spcBef>
              <a:spcAft>
                <a:spcPts val="60"/>
              </a:spcAft>
            </a:pPr>
            <a:r>
              <a:rPr sz="802" b="0" i="0">
                <a:solidFill>
                  <a:srgbClr val="14171C"/>
                </a:solidFill>
                <a:latin typeface="Consolas"/>
              </a:rPr>
              <a:t>Name: Diya</a:t>
            </a:r>
          </a:p>
          <a:p>
            <a:pPr>
              <a:lnSpc>
                <a:spcPct val="100000"/>
              </a:lnSpc>
              <a:spcBef>
                <a:spcPts val="0"/>
              </a:spcBef>
              <a:spcAft>
                <a:spcPts val="60"/>
              </a:spcAft>
            </a:pPr>
            <a:r>
              <a:rPr sz="802" b="0" i="0">
                <a:solidFill>
                  <a:srgbClr val="14171C"/>
                </a:solidFill>
                <a:latin typeface="Consolas"/>
              </a:rPr>
              <a:t>Phone: 9900223344</a:t>
            </a:r>
          </a:p>
          <a:p>
            <a:pPr>
              <a:lnSpc>
                <a:spcPct val="100000"/>
              </a:lnSpc>
              <a:spcBef>
                <a:spcPts val="0"/>
              </a:spcBef>
              <a:spcAft>
                <a:spcPts val="60"/>
              </a:spcAft>
            </a:pPr>
            <a:r>
              <a:rPr sz="802" b="0" i="0">
                <a:solidFill>
                  <a:srgbClr val="14171C"/>
                </a:solidFill>
                <a:latin typeface="Consolas"/>
              </a:rPr>
              <a:t>Mark for subject 1: 78</a:t>
            </a:r>
          </a:p>
          <a:p>
            <a:pPr>
              <a:lnSpc>
                <a:spcPct val="100000"/>
              </a:lnSpc>
              <a:spcBef>
                <a:spcPts val="0"/>
              </a:spcBef>
              <a:spcAft>
                <a:spcPts val="60"/>
              </a:spcAft>
            </a:pPr>
            <a:r>
              <a:rPr sz="802" b="0" i="0">
                <a:solidFill>
                  <a:srgbClr val="14171C"/>
                </a:solidFill>
                <a:latin typeface="Consolas"/>
              </a:rPr>
              <a:t>Mark for subject 2: 66</a:t>
            </a:r>
          </a:p>
          <a:p>
            <a:pPr>
              <a:lnSpc>
                <a:spcPct val="100000"/>
              </a:lnSpc>
              <a:spcBef>
                <a:spcPts val="0"/>
              </a:spcBef>
              <a:spcAft>
                <a:spcPts val="60"/>
              </a:spcAft>
            </a:pPr>
            <a:r>
              <a:rPr sz="802" b="0" i="0">
                <a:solidFill>
                  <a:srgbClr val="14171C"/>
                </a:solidFill>
                <a:latin typeface="Consolas"/>
              </a:rPr>
              <a:t>Mark for subject 3: 9x</a:t>
            </a:r>
          </a:p>
          <a:p>
            <a:pPr>
              <a:lnSpc>
                <a:spcPct val="100000"/>
              </a:lnSpc>
              <a:spcBef>
                <a:spcPts val="0"/>
              </a:spcBef>
              <a:spcAft>
                <a:spcPts val="60"/>
              </a:spcAft>
            </a:pPr>
            <a:r>
              <a:rPr sz="802" b="0" i="0">
                <a:solidFill>
                  <a:srgbClr val="14171C"/>
                </a:solidFill>
                <a:latin typeface="Consolas"/>
              </a:rPr>
              <a:t>  bad number '9x' -- recorded as 0</a:t>
            </a:r>
          </a:p>
        </p:txBody>
      </p:sp>
      <p:sp>
        <p:nvSpPr>
          <p:cNvPr id="18" name="TextBox 17"/>
          <p:cNvSpPr txBox="1"/>
          <p:nvPr/>
        </p:nvSpPr>
        <p:spPr>
          <a:xfrm>
            <a:off x="502920" y="6254496"/>
            <a:ext cx="11155680" cy="274320"/>
          </a:xfrm>
          <a:prstGeom prst="rect">
            <a:avLst/>
          </a:prstGeom>
          <a:noFill/>
        </p:spPr>
        <p:txBody>
          <a:bodyPr wrap="square" anchor="t" lIns="0" rIns="0" tIns="0" bIns="0">
            <a:spAutoFit/>
          </a:bodyPr>
          <a:lstStyle/>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B · LAB</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Experiment 11 — What the Transcript Proves</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51</a:t>
            </a:r>
          </a:p>
        </p:txBody>
      </p:sp>
      <p:sp>
        <p:nvSpPr>
          <p:cNvPr id="8" name="TextBox 7"/>
          <p:cNvSpPr txBox="1"/>
          <p:nvPr/>
        </p:nvSpPr>
        <p:spPr>
          <a:xfrm>
            <a:off x="502920" y="1572768"/>
            <a:ext cx="630936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OBSERVATIONS (each cites the capture)</a:t>
            </a:r>
          </a:p>
        </p:txBody>
      </p:sp>
      <p:sp>
        <p:nvSpPr>
          <p:cNvPr id="9" name="TextBox 8"/>
          <p:cNvSpPr txBox="1"/>
          <p:nvPr/>
        </p:nvSpPr>
        <p:spPr>
          <a:xfrm>
            <a:off x="502920" y="1901952"/>
            <a:ext cx="630936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Added row printed on the spot:</a:t>
            </a:r>
            <a:r>
              <a:rPr sz="1200" b="0" i="0">
                <a:solidFill>
                  <a:srgbClr val="16181D"/>
                </a:solidFill>
                <a:latin typeface="Consolas"/>
              </a:rPr>
              <a:t>1AB23CS001 Aarav marks=[85, 92, 88] avg= 88.3 grade=B</a:t>
            </a:r>
            <a:r>
              <a:rPr sz="1250" b="0" i="0">
                <a:solidFill>
                  <a:srgbClr val="16181D"/>
                </a:solidFill>
                <a:latin typeface="Calibri"/>
              </a:rPr>
              <a:t>— 265/3 = 88.333→88.3, band B (≥80).</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Diya’s “9x” produced “bad number ’9x’ — recorded as 0” and the row</a:t>
            </a:r>
            <a:r>
              <a:rPr sz="1200" b="0" i="0">
                <a:solidFill>
                  <a:srgbClr val="16181D"/>
                </a:solidFill>
                <a:latin typeface="Consolas"/>
              </a:rPr>
              <a:t>avg= 48.0 grade=F</a:t>
            </a:r>
            <a:r>
              <a:rPr sz="1250" b="0" i="0">
                <a:solidFill>
                  <a:srgbClr val="16181D"/>
                </a:solidFill>
                <a:latin typeface="Calibri"/>
              </a:rPr>
              <a:t>— 144/3 = 48.0; the app survived a bad cell, which is the exception story in product.</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Topper line named Aarav again after both records existed — a scan over the registry, comparing averaged doubles through wrapper-free Student methods.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Search by “1AB23CS014” found Diya; case 2 of the second session shows the honest empties: “(no students yet)” for topper, list empty — the app behaves before data arrives.</a:t>
            </a:r>
          </a:p>
          <a:p>
            <a:pPr marL="201168" indent="-201168">
              <a:lnSpc>
                <a:spcPct val="104000"/>
              </a:lnSpc>
              <a:spcBef>
                <a:spcPts val="0"/>
              </a:spcBef>
              <a:spcAft>
                <a:spcPts val="600"/>
              </a:spcAft>
            </a:pPr>
            <a:r>
              <a:rPr sz="1250" b="1" i="0">
                <a:solidFill>
                  <a:srgbClr val="B3261E"/>
                </a:solidFill>
                <a:latin typeface="Calibri"/>
              </a:rPr>
              <a:t>•  </a:t>
            </a:r>
            <a:r>
              <a:rPr sz="1250" b="0" i="0">
                <a:solidFill>
                  <a:srgbClr val="16181D"/>
                </a:solidFill>
                <a:latin typeface="Calibri"/>
              </a:rPr>
              <a:t>Every menu cycle reprints the banner (case 1 → case 2 → 3 → 4 → 5 in the log): the transcript doubles as a usability demo for the viva.</a:t>
            </a:r>
          </a:p>
        </p:txBody>
      </p:sp>
      <p:sp>
        <p:nvSpPr>
          <p:cNvPr id="10" name="TextBox 9"/>
          <p:cNvSpPr txBox="1"/>
          <p:nvPr/>
        </p:nvSpPr>
        <p:spPr>
          <a:xfrm>
            <a:off x="7086600" y="1572768"/>
            <a:ext cx="4617720" cy="292608"/>
          </a:xfrm>
          <a:prstGeom prst="rect">
            <a:avLst/>
          </a:prstGeom>
          <a:noFill/>
        </p:spPr>
        <p:txBody>
          <a:bodyPr wrap="square" anchor="t" lIns="0" rIns="0" tIns="0" bIns="0">
            <a:spAutoFit/>
          </a:bodyPr>
          <a:lstStyle/>
          <a:p>
            <a:pPr>
              <a:spcBef>
                <a:spcPts val="0"/>
              </a:spcBef>
              <a:spcAft>
                <a:spcPts val="400"/>
              </a:spcAft>
            </a:pPr>
            <a:r>
              <a:rPr sz="1200" b="1" i="0">
                <a:solidFill>
                  <a:srgbClr val="0F172A"/>
                </a:solidFill>
                <a:latin typeface="Calibri"/>
              </a:rPr>
              <a:t>VIVA — asked exactly like this</a:t>
            </a:r>
          </a:p>
        </p:txBody>
      </p:sp>
      <p:sp>
        <p:nvSpPr>
          <p:cNvPr id="11" name="TextBox 10"/>
          <p:cNvSpPr txBox="1"/>
          <p:nvPr/>
        </p:nvSpPr>
        <p:spPr>
          <a:xfrm>
            <a:off x="7086600" y="1901952"/>
            <a:ext cx="4617720" cy="4517136"/>
          </a:xfrm>
          <a:prstGeom prst="rect">
            <a:avLst/>
          </a:prstGeom>
          <a:noFill/>
        </p:spPr>
        <p:txBody>
          <a:bodyPr wrap="square" anchor="t" lIns="0" rIns="0" tIns="0" bIns="0">
            <a:spAutoFit/>
          </a:bodyPr>
          <a:lstStyle/>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Q1. </a:t>
            </a:r>
            <a:r>
              <a:rPr sz="1200" b="0" i="0">
                <a:solidFill>
                  <a:srgbClr val="16181D"/>
                </a:solidFill>
                <a:latin typeface="Calibri"/>
              </a:rPr>
              <a:t>Where exactly does inheritance earn its keep in this app (name the line)?</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Q2. </a:t>
            </a:r>
            <a:r>
              <a:rPr sz="1200" b="0" i="0">
                <a:solidFill>
                  <a:srgbClr val="16181D"/>
                </a:solidFill>
                <a:latin typeface="Calibri"/>
              </a:rPr>
              <a:t>Why does addMark swallow its exception instead of rethrowing?</a:t>
            </a:r>
          </a:p>
          <a:p>
            <a:pPr marL="201168" indent="-201168">
              <a:lnSpc>
                <a:spcPct val="104000"/>
              </a:lnSpc>
              <a:spcBef>
                <a:spcPts val="0"/>
              </a:spcBef>
              <a:spcAft>
                <a:spcPts val="600"/>
              </a:spcAft>
            </a:pPr>
            <a:r>
              <a:rPr sz="1200" b="1" i="0">
                <a:solidFill>
                  <a:srgbClr val="B3261E"/>
                </a:solidFill>
                <a:latin typeface="Calibri"/>
              </a:rPr>
              <a:t>•  </a:t>
            </a:r>
            <a:r>
              <a:rPr sz="1200" b="1" i="0">
                <a:solidFill>
                  <a:srgbClr val="B3261E"/>
                </a:solidFill>
                <a:latin typeface="Calibri"/>
              </a:rPr>
              <a:t>Q3. </a:t>
            </a:r>
            <a:r>
              <a:rPr sz="1200" b="0" i="0">
                <a:solidFill>
                  <a:srgbClr val="16181D"/>
                </a:solidFill>
                <a:latin typeface="Calibri"/>
              </a:rPr>
              <a:t>Which module’s vocabulary is the Grade ladder?</a:t>
            </a:r>
          </a:p>
        </p:txBody>
      </p:sp>
      <p:sp>
        <p:nvSpPr>
          <p:cNvPr id="12" name="Rectangle 11"/>
          <p:cNvSpPr/>
          <p:nvPr/>
        </p:nvSpPr>
        <p:spPr>
          <a:xfrm>
            <a:off x="7086600" y="4297680"/>
            <a:ext cx="4617720" cy="178308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51192" y="4379976"/>
            <a:ext cx="4288536" cy="161848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MODEL ANSWER (Q1)</a:t>
            </a:r>
          </a:p>
          <a:p>
            <a:pPr>
              <a:lnSpc>
                <a:spcPct val="105000"/>
              </a:lnSpc>
              <a:spcBef>
                <a:spcPts val="0"/>
              </a:spcBef>
              <a:spcAft>
                <a:spcPts val="320"/>
              </a:spcAft>
            </a:pPr>
            <a:r>
              <a:rPr sz="1150" b="0" i="0">
                <a:solidFill>
                  <a:srgbClr val="16181D"/>
                </a:solidFill>
                <a:latin typeface="Calibri"/>
              </a:rPr>
              <a:t>Person holds name/phone and Student calls super(name, phone) — any future Teacher could reuse Person untouched; plus toString chains Student’s format over Person’s name().</a:t>
            </a:r>
          </a:p>
        </p:txBody>
      </p:sp>
      <p:sp>
        <p:nvSpPr>
          <p:cNvPr id="14" name="Rectangle 13"/>
          <p:cNvSpPr/>
          <p:nvPr/>
        </p:nvSpPr>
        <p:spPr>
          <a:xfrm>
            <a:off x="502920" y="6089904"/>
            <a:ext cx="6309360" cy="310896"/>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135624"/>
            <a:ext cx="5989320" cy="237744"/>
          </a:xfrm>
          <a:prstGeom prst="rect">
            <a:avLst/>
          </a:prstGeom>
          <a:noFill/>
        </p:spPr>
        <p:txBody>
          <a:bodyPr wrap="none" anchor="t" lIns="0" rIns="0" tIns="0" bIns="0">
            <a:spAutoFit/>
          </a:bodyPr>
          <a:lstStyle/>
          <a:p>
            <a:pPr>
              <a:spcBef>
                <a:spcPts val="0"/>
              </a:spcBef>
              <a:spcAft>
                <a:spcPts val="0"/>
              </a:spcAft>
            </a:pPr>
            <a:r>
              <a:rPr sz="950" b="1" i="0">
                <a:solidFill>
                  <a:srgbClr val="166534"/>
                </a:solidFill>
                <a:latin typeface="Calibri"/>
              </a:rPr>
              <a:t>Result — </a:t>
            </a:r>
            <a:r>
              <a:rPr sz="950" b="0" i="0">
                <a:solidFill>
                  <a:srgbClr val="4B5563"/>
                </a:solidFill>
                <a:latin typeface="Calibri"/>
              </a:rPr>
              <a:t>A console Student Marks Manager was delivered for a 2–3 student batch, exercising classes,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66928"/>
            <a:ext cx="10362895" cy="320040"/>
          </a:xfrm>
          <a:prstGeom prst="rect">
            <a:avLst/>
          </a:prstGeom>
          <a:noFill/>
        </p:spPr>
        <p:txBody>
          <a:bodyPr wrap="square" anchor="t" lIns="0" rIns="0" tIns="0" bIns="0">
            <a:spAutoFit/>
          </a:bodyPr>
          <a:lstStyle/>
          <a:p>
            <a:pPr algn="ctr">
              <a:spcBef>
                <a:spcPts val="0"/>
              </a:spcBef>
              <a:spcAft>
                <a:spcPts val="400"/>
              </a:spcAft>
            </a:pPr>
            <a:r>
              <a:rPr sz="1300" b="1" i="0">
                <a:solidFill>
                  <a:srgbClr val="4B5563"/>
                </a:solidFill>
                <a:latin typeface="Calibri"/>
              </a:rPr>
              <a:t>P A R T</a:t>
            </a:r>
          </a:p>
        </p:txBody>
      </p:sp>
      <p:sp>
        <p:nvSpPr>
          <p:cNvPr id="3" name="TextBox 2"/>
          <p:cNvSpPr txBox="1"/>
          <p:nvPr/>
        </p:nvSpPr>
        <p:spPr>
          <a:xfrm>
            <a:off x="914400" y="914400"/>
            <a:ext cx="10362895" cy="2011680"/>
          </a:xfrm>
          <a:prstGeom prst="rect">
            <a:avLst/>
          </a:prstGeom>
          <a:noFill/>
        </p:spPr>
        <p:txBody>
          <a:bodyPr wrap="square" anchor="t" lIns="0" rIns="0" tIns="0" bIns="0">
            <a:spAutoFit/>
          </a:bodyPr>
          <a:lstStyle/>
          <a:p>
            <a:pPr algn="ctr">
              <a:spcBef>
                <a:spcPts val="0"/>
              </a:spcBef>
              <a:spcAft>
                <a:spcPts val="400"/>
              </a:spcAft>
            </a:pPr>
            <a:r>
              <a:rPr sz="15000" b="1" i="0">
                <a:solidFill>
                  <a:srgbClr val="B3261E"/>
                </a:solidFill>
                <a:latin typeface="Calibri"/>
              </a:rPr>
              <a:t>C</a:t>
            </a:r>
          </a:p>
        </p:txBody>
      </p:sp>
      <p:sp>
        <p:nvSpPr>
          <p:cNvPr id="4" name="Rectangle 3"/>
          <p:cNvSpPr/>
          <p:nvPr/>
        </p:nvSpPr>
        <p:spPr>
          <a:xfrm>
            <a:off x="5330952" y="3310128"/>
            <a:ext cx="1527048" cy="228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62895" cy="548640"/>
          </a:xfrm>
          <a:prstGeom prst="rect">
            <a:avLst/>
          </a:prstGeom>
          <a:noFill/>
        </p:spPr>
        <p:txBody>
          <a:bodyPr wrap="square" anchor="t" lIns="0" rIns="0" tIns="0" bIns="0">
            <a:spAutoFit/>
          </a:bodyPr>
          <a:lstStyle/>
          <a:p>
            <a:pPr algn="ctr">
              <a:spcBef>
                <a:spcPts val="0"/>
              </a:spcBef>
              <a:spcAft>
                <a:spcPts val="400"/>
              </a:spcAft>
            </a:pPr>
            <a:r>
              <a:rPr sz="3000" b="1" i="0">
                <a:solidFill>
                  <a:srgbClr val="0F172A"/>
                </a:solidFill>
                <a:latin typeface="Calibri"/>
              </a:rPr>
              <a:t>Appendices — Reference, Record, Viva, Resources</a:t>
            </a:r>
          </a:p>
        </p:txBody>
      </p:sp>
      <p:sp>
        <p:nvSpPr>
          <p:cNvPr id="6" name="TextBox 5"/>
          <p:cNvSpPr txBox="1"/>
          <p:nvPr/>
        </p:nvSpPr>
        <p:spPr>
          <a:xfrm>
            <a:off x="1737360" y="4114800"/>
            <a:ext cx="8716975" cy="960120"/>
          </a:xfrm>
          <a:prstGeom prst="rect">
            <a:avLst/>
          </a:prstGeom>
          <a:noFill/>
        </p:spPr>
        <p:txBody>
          <a:bodyPr wrap="square" anchor="t" lIns="0" rIns="0" tIns="0" bIns="0">
            <a:spAutoFit/>
          </a:bodyPr>
          <a:lstStyle/>
          <a:p>
            <a:pPr algn="ctr">
              <a:spcBef>
                <a:spcPts val="0"/>
              </a:spcBef>
              <a:spcAft>
                <a:spcPts val="400"/>
              </a:spcAft>
            </a:pPr>
            <a:r>
              <a:rPr sz="1400" b="0" i="0">
                <a:solidFill>
                  <a:srgbClr val="4B5563"/>
                </a:solidFill>
                <a:latin typeface="Calibri"/>
              </a:rPr>
              <a:t>The plates behind the run: the language sheet and both execution workflows, the record rubrics with the 420→15 arithmetic, a 30-question viva bank, and the prescribed resources with the one-command reproduction path.</a:t>
            </a:r>
          </a:p>
        </p:txBody>
      </p:sp>
      <p:sp>
        <p:nvSpPr>
          <p:cNvPr id="7" name="Rectangle 6"/>
          <p:cNvSpPr/>
          <p:nvPr/>
        </p:nvSpPr>
        <p:spPr>
          <a:xfrm>
            <a:off x="1706727" y="5050282"/>
            <a:ext cx="8778240" cy="1396238"/>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44471" y="5169154"/>
            <a:ext cx="8449056" cy="1176782"/>
          </a:xfrm>
          <a:prstGeom prst="rect">
            <a:avLst/>
          </a:prstGeom>
          <a:noFill/>
        </p:spPr>
        <p:txBody>
          <a:bodyPr wrap="square" anchor="t" lIns="0" rIns="0" tIns="0" bIns="0">
            <a:spAutoFit/>
          </a:bodyPr>
          <a:lstStyle/>
          <a:p>
            <a:pPr>
              <a:spcBef>
                <a:spcPts val="0"/>
              </a:spcBef>
              <a:spcAft>
                <a:spcPts val="300"/>
              </a:spcAft>
            </a:pPr>
            <a:r>
              <a:rPr sz="1050" b="1" i="0">
                <a:solidFill>
                  <a:srgbClr val="0F172A"/>
                </a:solidFill>
                <a:latin typeface="Calibri"/>
              </a:rPr>
              <a:t>IN THIS PART</a:t>
            </a:r>
          </a:p>
          <a:p>
            <a:pPr>
              <a:spcBef>
                <a:spcPts val="0"/>
              </a:spcBef>
              <a:spcAft>
                <a:spcPts val="160"/>
              </a:spcAft>
            </a:pPr>
            <a:r>
              <a:rPr sz="1250" b="1" i="0">
                <a:solidFill>
                  <a:srgbClr val="B3261E"/>
                </a:solidFill>
                <a:latin typeface="Calibri"/>
              </a:rPr>
              <a:t>•  </a:t>
            </a:r>
            <a:r>
              <a:rPr sz="1250" b="0" i="0">
                <a:solidFill>
                  <a:srgbClr val="16181D"/>
                </a:solidFill>
                <a:latin typeface="Calibri"/>
              </a:rPr>
              <a:t>Appendix A — Java quick reference + CLI/IDE plate</a:t>
            </a:r>
          </a:p>
          <a:p>
            <a:pPr>
              <a:spcBef>
                <a:spcPts val="0"/>
              </a:spcBef>
              <a:spcAft>
                <a:spcPts val="160"/>
              </a:spcAft>
            </a:pPr>
            <a:r>
              <a:rPr sz="1250" b="1" i="0">
                <a:solidFill>
                  <a:srgbClr val="B3261E"/>
                </a:solidFill>
                <a:latin typeface="Calibri"/>
              </a:rPr>
              <a:t>•  </a:t>
            </a:r>
            <a:r>
              <a:rPr sz="1250" b="0" i="0">
                <a:solidFill>
                  <a:srgbClr val="16181D"/>
                </a:solidFill>
                <a:latin typeface="Calibri"/>
              </a:rPr>
              <a:t>Appendix B — record format, rubrics, the arithmetic</a:t>
            </a:r>
          </a:p>
        </p:txBody>
      </p:sp>
      <p:sp>
        <p:nvSpPr>
          <p:cNvPr id="9" name="TextBox 8"/>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400"/>
              </a:spcAft>
            </a:pPr>
            <a:r>
              <a:rPr sz="1000" b="1" i="0">
                <a:solidFill>
                  <a:srgbClr val="4B5563"/>
                </a:solidFill>
                <a:latin typeface="Calibri"/>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One-Page Java Reference (Appendix A)</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53</a:t>
            </a:r>
          </a:p>
        </p:txBody>
      </p:sp>
      <p:sp>
        <p:nvSpPr>
          <p:cNvPr id="8" name="Rectangle 7"/>
          <p:cNvSpPr/>
          <p:nvPr/>
        </p:nvSpPr>
        <p:spPr>
          <a:xfrm>
            <a:off x="502920" y="160020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0020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166878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Lexical &amp; types</a:t>
            </a:r>
          </a:p>
        </p:txBody>
      </p:sp>
      <p:sp>
        <p:nvSpPr>
          <p:cNvPr id="11" name="TextBox 10"/>
          <p:cNvSpPr txBox="1"/>
          <p:nvPr/>
        </p:nvSpPr>
        <p:spPr>
          <a:xfrm>
            <a:off x="649224" y="2075688"/>
            <a:ext cx="3364992" cy="1783080"/>
          </a:xfrm>
          <a:prstGeom prst="rect">
            <a:avLst/>
          </a:prstGeom>
          <a:noFill/>
        </p:spPr>
        <p:txBody>
          <a:bodyPr wrap="square" anchor="t" lIns="0" rIns="0" tIns="0" bIns="0">
            <a:spAutoFit/>
          </a:bodyPr>
          <a:lstStyle/>
          <a:p>
            <a:pPr>
              <a:spcBef>
                <a:spcPts val="0"/>
              </a:spcBef>
              <a:spcAft>
                <a:spcPts val="450"/>
              </a:spcAft>
            </a:pPr>
            <a:r>
              <a:rPr sz="1019" b="0" i="0">
                <a:solidFill>
                  <a:srgbClr val="16181D"/>
                </a:solidFill>
                <a:latin typeface="Consolas"/>
              </a:rPr>
              <a:t>byte 1B · short 2B · int 4B · long 8B</a:t>
            </a:r>
          </a:p>
          <a:p>
            <a:pPr>
              <a:spcBef>
                <a:spcPts val="0"/>
              </a:spcBef>
              <a:spcAft>
                <a:spcPts val="450"/>
              </a:spcAft>
            </a:pPr>
            <a:r>
              <a:rPr sz="1019" b="0" i="0">
                <a:solidFill>
                  <a:srgbClr val="16181D"/>
                </a:solidFill>
                <a:latin typeface="Consolas"/>
              </a:rPr>
              <a:t>float 4B · double 8B · char 2B(0…65535)</a:t>
            </a:r>
          </a:p>
          <a:p>
            <a:pPr>
              <a:spcBef>
                <a:spcPts val="0"/>
              </a:spcBef>
              <a:spcAft>
                <a:spcPts val="450"/>
              </a:spcAft>
            </a:pPr>
            <a:r>
              <a:rPr sz="1019" b="0" i="0">
                <a:solidFill>
                  <a:srgbClr val="16181D"/>
                </a:solidFill>
                <a:latin typeface="Consolas"/>
              </a:rPr>
              <a:t>boolean ∈ {true, false} — never 0/1</a:t>
            </a:r>
          </a:p>
          <a:p>
            <a:pPr>
              <a:spcBef>
                <a:spcPts val="0"/>
              </a:spcBef>
              <a:spcAft>
                <a:spcPts val="450"/>
              </a:spcAft>
            </a:pPr>
            <a:r>
              <a:rPr sz="1019" b="0" i="0">
                <a:solidFill>
                  <a:srgbClr val="16181D"/>
                </a:solidFill>
                <a:latin typeface="Consolas"/>
              </a:rPr>
              <a:t>literals 42 0x2A 0b1010 052 1_000L</a:t>
            </a:r>
          </a:p>
          <a:p>
            <a:pPr>
              <a:spcBef>
                <a:spcPts val="0"/>
              </a:spcBef>
              <a:spcAft>
                <a:spcPts val="450"/>
              </a:spcAft>
            </a:pPr>
            <a:r>
              <a:rPr sz="1019" b="0" i="0">
                <a:solidFill>
                  <a:srgbClr val="16181D"/>
                </a:solidFill>
                <a:latin typeface="Consolas"/>
              </a:rPr>
              <a:t>'A' == '\u0041' · "str" is an object</a:t>
            </a:r>
          </a:p>
          <a:p>
            <a:pPr>
              <a:spcBef>
                <a:spcPts val="0"/>
              </a:spcBef>
              <a:spcAft>
                <a:spcPts val="450"/>
              </a:spcAft>
            </a:pPr>
            <a:r>
              <a:rPr sz="1019" b="0" i="0">
                <a:solidFill>
                  <a:srgbClr val="16181D"/>
                </a:solidFill>
                <a:latin typeface="Consolas"/>
              </a:rPr>
              <a:t>byte+byte → int · cast truncates</a:t>
            </a:r>
          </a:p>
        </p:txBody>
      </p:sp>
      <p:sp>
        <p:nvSpPr>
          <p:cNvPr id="12" name="Rectangle 11"/>
          <p:cNvSpPr/>
          <p:nvPr/>
        </p:nvSpPr>
        <p:spPr>
          <a:xfrm>
            <a:off x="4297680" y="160020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60020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166878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Operators &amp; control</a:t>
            </a:r>
          </a:p>
        </p:txBody>
      </p:sp>
      <p:sp>
        <p:nvSpPr>
          <p:cNvPr id="15" name="TextBox 14"/>
          <p:cNvSpPr txBox="1"/>
          <p:nvPr/>
        </p:nvSpPr>
        <p:spPr>
          <a:xfrm>
            <a:off x="4443984" y="2075688"/>
            <a:ext cx="3364992" cy="1783080"/>
          </a:xfrm>
          <a:prstGeom prst="rect">
            <a:avLst/>
          </a:prstGeom>
          <a:noFill/>
        </p:spPr>
        <p:txBody>
          <a:bodyPr wrap="square" anchor="t" lIns="0" rIns="0" tIns="0" bIns="0">
            <a:spAutoFit/>
          </a:bodyPr>
          <a:lstStyle/>
          <a:p>
            <a:pPr>
              <a:spcBef>
                <a:spcPts val="0"/>
              </a:spcBef>
              <a:spcAft>
                <a:spcPts val="450"/>
              </a:spcAft>
            </a:pPr>
            <a:r>
              <a:rPr sz="1019" b="0" i="0">
                <a:solidFill>
                  <a:srgbClr val="16181D"/>
                </a:solidFill>
                <a:latin typeface="Consolas"/>
              </a:rPr>
              <a:t>()?  ·  * / %  ·  + −  (high→low)</a:t>
            </a:r>
          </a:p>
          <a:p>
            <a:pPr>
              <a:spcBef>
                <a:spcPts val="0"/>
              </a:spcBef>
              <a:spcAft>
                <a:spcPts val="450"/>
              </a:spcAft>
            </a:pPr>
            <a:r>
              <a:rPr sz="1019" b="0" i="0">
                <a:solidFill>
                  <a:srgbClr val="16181D"/>
                </a:solidFill>
                <a:latin typeface="Consolas"/>
              </a:rPr>
              <a:t>&amp;&amp; || short-circuit · ! negates</a:t>
            </a:r>
          </a:p>
          <a:p>
            <a:pPr>
              <a:spcBef>
                <a:spcPts val="0"/>
              </a:spcBef>
              <a:spcAft>
                <a:spcPts val="450"/>
              </a:spcAft>
            </a:pPr>
            <a:r>
              <a:rPr sz="1019" b="0" i="0">
                <a:solidFill>
                  <a:srgbClr val="16181D"/>
                </a:solidFill>
                <a:latin typeface="Consolas"/>
              </a:rPr>
              <a:t>== on objects = identity</a:t>
            </a:r>
          </a:p>
          <a:p>
            <a:pPr>
              <a:spcBef>
                <a:spcPts val="0"/>
              </a:spcBef>
              <a:spcAft>
                <a:spcPts val="450"/>
              </a:spcAft>
            </a:pPr>
            <a:r>
              <a:rPr sz="1019" b="0" i="0">
                <a:solidFill>
                  <a:srgbClr val="16181D"/>
                </a:solidFill>
                <a:latin typeface="Consolas"/>
              </a:rPr>
              <a:t>if/else · switch(char,int,String,enum)</a:t>
            </a:r>
          </a:p>
          <a:p>
            <a:pPr>
              <a:spcBef>
                <a:spcPts val="0"/>
              </a:spcBef>
              <a:spcAft>
                <a:spcPts val="450"/>
              </a:spcAft>
            </a:pPr>
            <a:r>
              <a:rPr sz="1019" b="0" i="0">
                <a:solidFill>
                  <a:srgbClr val="16181D"/>
                </a:solidFill>
                <a:latin typeface="Consolas"/>
              </a:rPr>
              <a:t>while · do-while(≥1) · for · for-each</a:t>
            </a:r>
          </a:p>
          <a:p>
            <a:pPr>
              <a:spcBef>
                <a:spcPts val="0"/>
              </a:spcBef>
              <a:spcAft>
                <a:spcPts val="450"/>
              </a:spcAft>
            </a:pPr>
            <a:r>
              <a:rPr sz="1019" b="0" i="0">
                <a:solidFill>
                  <a:srgbClr val="16181D"/>
                </a:solidFill>
                <a:latin typeface="Consolas"/>
              </a:rPr>
              <a:t>break/continue/return · labeled? see book M1</a:t>
            </a:r>
          </a:p>
        </p:txBody>
      </p:sp>
      <p:sp>
        <p:nvSpPr>
          <p:cNvPr id="16" name="Rectangle 15"/>
          <p:cNvSpPr/>
          <p:nvPr/>
        </p:nvSpPr>
        <p:spPr>
          <a:xfrm>
            <a:off x="8092440" y="160020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60020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0456" y="166878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OOP core</a:t>
            </a:r>
          </a:p>
        </p:txBody>
      </p:sp>
      <p:sp>
        <p:nvSpPr>
          <p:cNvPr id="19" name="TextBox 18"/>
          <p:cNvSpPr txBox="1"/>
          <p:nvPr/>
        </p:nvSpPr>
        <p:spPr>
          <a:xfrm>
            <a:off x="8238744" y="2075688"/>
            <a:ext cx="3364992" cy="1783080"/>
          </a:xfrm>
          <a:prstGeom prst="rect">
            <a:avLst/>
          </a:prstGeom>
          <a:noFill/>
        </p:spPr>
        <p:txBody>
          <a:bodyPr wrap="square" anchor="t" lIns="0" rIns="0" tIns="0" bIns="0">
            <a:spAutoFit/>
          </a:bodyPr>
          <a:lstStyle/>
          <a:p>
            <a:pPr>
              <a:spcBef>
                <a:spcPts val="0"/>
              </a:spcBef>
              <a:spcAft>
                <a:spcPts val="450"/>
              </a:spcAft>
            </a:pPr>
            <a:r>
              <a:rPr sz="1019" b="0" i="0">
                <a:solidFill>
                  <a:srgbClr val="16181D"/>
                </a:solidFill>
                <a:latin typeface="Consolas"/>
              </a:rPr>
              <a:t>class → new → object (heap) · refs</a:t>
            </a:r>
          </a:p>
          <a:p>
            <a:pPr>
              <a:spcBef>
                <a:spcPts val="0"/>
              </a:spcBef>
              <a:spcAft>
                <a:spcPts val="450"/>
              </a:spcAft>
            </a:pPr>
            <a:r>
              <a:rPr sz="1019" b="0" i="0">
                <a:solidFill>
                  <a:srgbClr val="16181D"/>
                </a:solidFill>
                <a:latin typeface="Consolas"/>
              </a:rPr>
              <a:t>ctor: no return; this(...) chains</a:t>
            </a:r>
          </a:p>
          <a:p>
            <a:pPr>
              <a:spcBef>
                <a:spcPts val="0"/>
              </a:spcBef>
              <a:spcAft>
                <a:spcPts val="450"/>
              </a:spcAft>
            </a:pPr>
            <a:r>
              <a:rPr sz="1019" b="0" i="0">
                <a:solidFill>
                  <a:srgbClr val="16181D"/>
                </a:solidFill>
                <a:latin typeface="Consolas"/>
              </a:rPr>
              <a:t>overload = signature, compile time</a:t>
            </a:r>
          </a:p>
          <a:p>
            <a:pPr>
              <a:spcBef>
                <a:spcPts val="0"/>
              </a:spcBef>
              <a:spcAft>
                <a:spcPts val="450"/>
              </a:spcAft>
            </a:pPr>
            <a:r>
              <a:rPr sz="1019" b="0" i="0">
                <a:solidFill>
                  <a:srgbClr val="16181D"/>
                </a:solidFill>
                <a:latin typeface="Consolas"/>
              </a:rPr>
              <a:t>override = same sig, RUNTIME dispatch</a:t>
            </a:r>
          </a:p>
          <a:p>
            <a:pPr>
              <a:spcBef>
                <a:spcPts val="0"/>
              </a:spcBef>
              <a:spcAft>
                <a:spcPts val="450"/>
              </a:spcAft>
            </a:pPr>
            <a:r>
              <a:rPr sz="1019" b="0" i="0">
                <a:solidFill>
                  <a:srgbClr val="16181D"/>
                </a:solidFill>
                <a:latin typeface="Consolas"/>
              </a:rPr>
              <a:t>abstract: no-body contract · Object root</a:t>
            </a:r>
          </a:p>
          <a:p>
            <a:pPr>
              <a:spcBef>
                <a:spcPts val="0"/>
              </a:spcBef>
              <a:spcAft>
                <a:spcPts val="450"/>
              </a:spcAft>
            </a:pPr>
            <a:r>
              <a:rPr sz="1019" b="0" i="0">
                <a:solidFill>
                  <a:srgbClr val="16181D"/>
                </a:solidFill>
                <a:latin typeface="Consolas"/>
              </a:rPr>
              <a:t>static per class · final pins · inner sees private</a:t>
            </a:r>
          </a:p>
        </p:txBody>
      </p:sp>
      <p:sp>
        <p:nvSpPr>
          <p:cNvPr id="20" name="Rectangle 19"/>
          <p:cNvSpPr/>
          <p:nvPr/>
        </p:nvSpPr>
        <p:spPr>
          <a:xfrm>
            <a:off x="502920" y="402336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402336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409194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Packages &amp; interfaces</a:t>
            </a:r>
          </a:p>
        </p:txBody>
      </p:sp>
      <p:sp>
        <p:nvSpPr>
          <p:cNvPr id="23" name="TextBox 22"/>
          <p:cNvSpPr txBox="1"/>
          <p:nvPr/>
        </p:nvSpPr>
        <p:spPr>
          <a:xfrm>
            <a:off x="649224" y="4498848"/>
            <a:ext cx="3364992" cy="1783080"/>
          </a:xfrm>
          <a:prstGeom prst="rect">
            <a:avLst/>
          </a:prstGeom>
          <a:noFill/>
        </p:spPr>
        <p:txBody>
          <a:bodyPr wrap="square" anchor="t" lIns="0" rIns="0" tIns="0" bIns="0">
            <a:spAutoFit/>
          </a:bodyPr>
          <a:lstStyle/>
          <a:p>
            <a:pPr>
              <a:spcBef>
                <a:spcPts val="0"/>
              </a:spcBef>
              <a:spcAft>
                <a:spcPts val="450"/>
              </a:spcAft>
            </a:pPr>
            <a:r>
              <a:rPr sz="1019" b="0" i="0">
                <a:solidFill>
                  <a:srgbClr val="16181D"/>
                </a:solidFill>
                <a:latin typeface="Consolas"/>
              </a:rPr>
              <a:t>package = directory = namespace</a:t>
            </a:r>
          </a:p>
          <a:p>
            <a:pPr>
              <a:spcBef>
                <a:spcPts val="0"/>
              </a:spcBef>
              <a:spcAft>
                <a:spcPts val="450"/>
              </a:spcAft>
            </a:pPr>
            <a:r>
              <a:rPr sz="1019" b="0" i="0">
                <a:solidFill>
                  <a:srgbClr val="16181D"/>
                </a:solidFill>
                <a:latin typeface="Consolas"/>
              </a:rPr>
              <a:t>public crosses · package-private stays</a:t>
            </a:r>
          </a:p>
          <a:p>
            <a:pPr>
              <a:spcBef>
                <a:spcPts val="0"/>
              </a:spcBef>
              <a:spcAft>
                <a:spcPts val="450"/>
              </a:spcAft>
            </a:pPr>
            <a:r>
              <a:rPr sz="1019" b="0" i="0">
                <a:solidFill>
                  <a:srgbClr val="16181D"/>
                </a:solidFill>
                <a:latin typeface="Consolas"/>
              </a:rPr>
              <a:t>java -cp bin mypack.user.Demo</a:t>
            </a:r>
          </a:p>
          <a:p>
            <a:pPr>
              <a:spcBef>
                <a:spcPts val="0"/>
              </a:spcBef>
              <a:spcAft>
                <a:spcPts val="450"/>
              </a:spcAft>
            </a:pPr>
            <a:r>
              <a:rPr sz="1019" b="0" i="0">
                <a:solidFill>
                  <a:srgbClr val="16181D"/>
                </a:solidFill>
                <a:latin typeface="Consolas"/>
              </a:rPr>
              <a:t>interface: abstract + default + static</a:t>
            </a:r>
          </a:p>
          <a:p>
            <a:pPr>
              <a:spcBef>
                <a:spcPts val="0"/>
              </a:spcBef>
              <a:spcAft>
                <a:spcPts val="450"/>
              </a:spcAft>
            </a:pPr>
            <a:r>
              <a:rPr sz="1019" b="0" i="0">
                <a:solidFill>
                  <a:srgbClr val="16181D"/>
                </a:solidFill>
                <a:latin typeface="Consolas"/>
              </a:rPr>
              <a:t>private methods (9+) inside interface</a:t>
            </a:r>
          </a:p>
          <a:p>
            <a:pPr>
              <a:spcBef>
                <a:spcPts val="0"/>
              </a:spcBef>
              <a:spcAft>
                <a:spcPts val="450"/>
              </a:spcAft>
            </a:pPr>
            <a:r>
              <a:rPr sz="1019" b="0" i="0">
                <a:solidFill>
                  <a:srgbClr val="16181D"/>
                </a:solidFill>
                <a:latin typeface="Consolas"/>
              </a:rPr>
              <a:t>implements any number, extends one</a:t>
            </a:r>
          </a:p>
        </p:txBody>
      </p:sp>
      <p:sp>
        <p:nvSpPr>
          <p:cNvPr id="24" name="Rectangle 23"/>
          <p:cNvSpPr/>
          <p:nvPr/>
        </p:nvSpPr>
        <p:spPr>
          <a:xfrm>
            <a:off x="4297680" y="402336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02336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25696" y="409194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Exceptions &amp; threads</a:t>
            </a:r>
          </a:p>
        </p:txBody>
      </p:sp>
      <p:sp>
        <p:nvSpPr>
          <p:cNvPr id="27" name="TextBox 26"/>
          <p:cNvSpPr txBox="1"/>
          <p:nvPr/>
        </p:nvSpPr>
        <p:spPr>
          <a:xfrm>
            <a:off x="4443984" y="4498848"/>
            <a:ext cx="3364992" cy="1783080"/>
          </a:xfrm>
          <a:prstGeom prst="rect">
            <a:avLst/>
          </a:prstGeom>
          <a:noFill/>
        </p:spPr>
        <p:txBody>
          <a:bodyPr wrap="square" anchor="t" lIns="0" rIns="0" tIns="0" bIns="0">
            <a:spAutoFit/>
          </a:bodyPr>
          <a:lstStyle/>
          <a:p>
            <a:pPr>
              <a:spcBef>
                <a:spcPts val="0"/>
              </a:spcBef>
              <a:spcAft>
                <a:spcPts val="450"/>
              </a:spcAft>
            </a:pPr>
            <a:r>
              <a:rPr sz="1019" b="0" i="0">
                <a:solidFill>
                  <a:srgbClr val="16181D"/>
                </a:solidFill>
                <a:latin typeface="Consolas"/>
              </a:rPr>
              <a:t>try/catch(specific→general)/finally</a:t>
            </a:r>
          </a:p>
          <a:p>
            <a:pPr>
              <a:spcBef>
                <a:spcPts val="0"/>
              </a:spcBef>
              <a:spcAft>
                <a:spcPts val="450"/>
              </a:spcAft>
            </a:pPr>
            <a:r>
              <a:rPr sz="1019" b="0" i="0">
                <a:solidFill>
                  <a:srgbClr val="16181D"/>
                </a:solidFill>
                <a:latin typeface="Consolas"/>
              </a:rPr>
              <a:t>throw raises · throws promises</a:t>
            </a:r>
          </a:p>
          <a:p>
            <a:pPr>
              <a:spcBef>
                <a:spcPts val="0"/>
              </a:spcBef>
              <a:spcAft>
                <a:spcPts val="450"/>
              </a:spcAft>
            </a:pPr>
            <a:r>
              <a:rPr sz="1019" b="0" i="0">
                <a:solidFill>
                  <a:srgbClr val="16181D"/>
                </a:solidFill>
                <a:latin typeface="Consolas"/>
              </a:rPr>
              <a:t>checked must be handled; not Runtime</a:t>
            </a:r>
          </a:p>
          <a:p>
            <a:pPr>
              <a:spcBef>
                <a:spcPts val="0"/>
              </a:spcBef>
              <a:spcAft>
                <a:spcPts val="450"/>
              </a:spcAft>
            </a:pPr>
            <a:r>
              <a:rPr sz="1019" b="0" i="0">
                <a:solidFill>
                  <a:srgbClr val="16181D"/>
                </a:solidFill>
                <a:latin typeface="Consolas"/>
              </a:rPr>
              <a:t>extends Exception → your own type</a:t>
            </a:r>
          </a:p>
          <a:p>
            <a:pPr>
              <a:spcBef>
                <a:spcPts val="0"/>
              </a:spcBef>
              <a:spcAft>
                <a:spcPts val="450"/>
              </a:spcAft>
            </a:pPr>
            <a:r>
              <a:rPr sz="1019" b="0" i="0">
                <a:solidFill>
                  <a:srgbClr val="16181D"/>
                </a:solidFill>
                <a:latin typeface="Consolas"/>
              </a:rPr>
              <a:t>start() schedules run() · join() waits</a:t>
            </a:r>
          </a:p>
          <a:p>
            <a:pPr>
              <a:spcBef>
                <a:spcPts val="0"/>
              </a:spcBef>
              <a:spcAft>
                <a:spcPts val="450"/>
              </a:spcAft>
            </a:pPr>
            <a:r>
              <a:rPr sz="1019" b="0" i="0">
                <a:solidFill>
                  <a:srgbClr val="16181D"/>
                </a:solidFill>
                <a:latin typeface="Consolas"/>
              </a:rPr>
              <a:t>isAlive/getState · priority = hint</a:t>
            </a:r>
          </a:p>
        </p:txBody>
      </p:sp>
      <p:sp>
        <p:nvSpPr>
          <p:cNvPr id="28" name="Rectangle 27"/>
          <p:cNvSpPr/>
          <p:nvPr/>
        </p:nvSpPr>
        <p:spPr>
          <a:xfrm>
            <a:off x="8092440" y="4023360"/>
            <a:ext cx="3611880" cy="2286000"/>
          </a:xfrm>
          <a:prstGeom prst="rect">
            <a:avLst/>
          </a:prstGeom>
          <a:solidFill>
            <a:srgbClr val="F8FAFC"/>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92440" y="4023360"/>
            <a:ext cx="3611880" cy="36576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0456" y="4091940"/>
            <a:ext cx="3383280" cy="274320"/>
          </a:xfrm>
          <a:prstGeom prst="rect">
            <a:avLst/>
          </a:prstGeom>
          <a:noFill/>
        </p:spPr>
        <p:txBody>
          <a:bodyPr wrap="square" anchor="t" lIns="0" rIns="0" tIns="0" bIns="0">
            <a:spAutoFit/>
          </a:bodyPr>
          <a:lstStyle/>
          <a:p>
            <a:pPr>
              <a:spcBef>
                <a:spcPts val="0"/>
              </a:spcBef>
              <a:spcAft>
                <a:spcPts val="400"/>
              </a:spcAft>
            </a:pPr>
            <a:r>
              <a:rPr sz="1250" b="1" i="0">
                <a:solidFill>
                  <a:srgbClr val="E5E7EB"/>
                </a:solidFill>
                <a:latin typeface="Calibri"/>
              </a:rPr>
              <a:t>Enums · wrappers · generics</a:t>
            </a:r>
          </a:p>
        </p:txBody>
      </p:sp>
      <p:sp>
        <p:nvSpPr>
          <p:cNvPr id="31" name="TextBox 30"/>
          <p:cNvSpPr txBox="1"/>
          <p:nvPr/>
        </p:nvSpPr>
        <p:spPr>
          <a:xfrm>
            <a:off x="8238744" y="4498848"/>
            <a:ext cx="3364992" cy="1783080"/>
          </a:xfrm>
          <a:prstGeom prst="rect">
            <a:avLst/>
          </a:prstGeom>
          <a:noFill/>
        </p:spPr>
        <p:txBody>
          <a:bodyPr wrap="square" anchor="t" lIns="0" rIns="0" tIns="0" bIns="0">
            <a:spAutoFit/>
          </a:bodyPr>
          <a:lstStyle/>
          <a:p>
            <a:pPr>
              <a:spcBef>
                <a:spcPts val="0"/>
              </a:spcBef>
              <a:spcAft>
                <a:spcPts val="450"/>
              </a:spcAft>
            </a:pPr>
            <a:r>
              <a:rPr sz="1019" b="0" i="0">
                <a:solidFill>
                  <a:srgbClr val="16181D"/>
                </a:solidFill>
                <a:latin typeface="Consolas"/>
              </a:rPr>
              <a:t>enum: constants+fields+valueOf()</a:t>
            </a:r>
          </a:p>
          <a:p>
            <a:pPr>
              <a:spcBef>
                <a:spcPts val="0"/>
              </a:spcBef>
              <a:spcAft>
                <a:spcPts val="450"/>
              </a:spcAft>
            </a:pPr>
            <a:r>
              <a:rPr sz="1019" b="0" i="0">
                <a:solidFill>
                  <a:srgbClr val="16181D"/>
                </a:solidFill>
                <a:latin typeface="Consolas"/>
              </a:rPr>
              <a:t>values()/ordinal()/name(); switch-safe</a:t>
            </a:r>
          </a:p>
          <a:p>
            <a:pPr>
              <a:spcBef>
                <a:spcPts val="0"/>
              </a:spcBef>
              <a:spcAft>
                <a:spcPts val="450"/>
              </a:spcAft>
            </a:pPr>
            <a:r>
              <a:rPr sz="1019" b="0" i="0">
                <a:solidFill>
                  <a:srgbClr val="16181D"/>
                </a:solidFill>
                <a:latin typeface="Consolas"/>
              </a:rPr>
              <a:t>Integer −128…127 cached (== trap)</a:t>
            </a:r>
          </a:p>
          <a:p>
            <a:pPr>
              <a:spcBef>
                <a:spcPts val="0"/>
              </a:spcBef>
              <a:spcAft>
                <a:spcPts val="450"/>
              </a:spcAft>
            </a:pPr>
            <a:r>
              <a:rPr sz="1019" b="0" i="0">
                <a:solidFill>
                  <a:srgbClr val="16181D"/>
                </a:solidFill>
                <a:latin typeface="Consolas"/>
              </a:rPr>
              <a:t>autobox: total += m does 3 calls</a:t>
            </a:r>
          </a:p>
          <a:p>
            <a:pPr>
              <a:spcBef>
                <a:spcPts val="0"/>
              </a:spcBef>
              <a:spcAft>
                <a:spcPts val="450"/>
              </a:spcAft>
            </a:pPr>
            <a:r>
              <a:rPr sz="1019" b="0" i="0">
                <a:solidFill>
                  <a:srgbClr val="16181D"/>
                </a:solidFill>
                <a:latin typeface="Consolas"/>
              </a:rPr>
              <a:t>Gen&lt;T&gt; · TwoGen&lt;T,V&gt; · diamond &lt;&gt;</a:t>
            </a:r>
          </a:p>
          <a:p>
            <a:pPr>
              <a:spcBef>
                <a:spcPts val="0"/>
              </a:spcBef>
              <a:spcAft>
                <a:spcPts val="450"/>
              </a:spcAft>
            </a:pPr>
            <a:r>
              <a:rPr sz="1019" b="0" i="0">
                <a:solidFill>
                  <a:srgbClr val="16181D"/>
                </a:solidFill>
                <a:latin typeface="Consolas"/>
              </a:rPr>
              <a:t>&lt;T extends Comparable&lt;T&gt;&gt; bounds</a:t>
            </a:r>
          </a:p>
        </p:txBody>
      </p:sp>
      <p:sp>
        <p:nvSpPr>
          <p:cNvPr id="32" name="TextBox 31"/>
          <p:cNvSpPr txBox="1"/>
          <p:nvPr/>
        </p:nvSpPr>
        <p:spPr>
          <a:xfrm>
            <a:off x="502920" y="6291072"/>
            <a:ext cx="11155680" cy="274320"/>
          </a:xfrm>
          <a:prstGeom prst="rect">
            <a:avLst/>
          </a:prstGeom>
          <a:noFill/>
        </p:spPr>
        <p:txBody>
          <a:bodyPr wrap="square" anchor="t" lIns="0" rIns="0" tIns="0" bIns="0">
            <a:spAutoFit/>
          </a:bodyPr>
          <a:lstStyle/>
          <a:p>
            <a:pPr>
              <a:spcBef>
                <a:spcPts val="0"/>
              </a:spcBef>
              <a:spcAft>
                <a:spcPts val="400"/>
              </a:spcAft>
            </a:pPr>
            <a:r>
              <a:rPr sz="1150" b="0" i="1">
                <a:solidFill>
                  <a:srgbClr val="4B5563"/>
                </a:solidFill>
                <a:latin typeface="Calibri"/>
              </a:rPr>
              <a:t>Six javac error messages, captured verbatim from OpenJDK 11, are in the book's Appendix A.5 — learn the compiler's voice; the viva quotes it.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The Record Is the Rubric (Appendix B)</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54</a:t>
            </a:r>
          </a:p>
        </p:txBody>
      </p:sp>
      <p:sp>
        <p:nvSpPr>
          <p:cNvPr id="8" name="TextBox 7"/>
          <p:cNvSpPr txBox="1"/>
          <p:nvPr/>
        </p:nvSpPr>
        <p:spPr>
          <a:xfrm>
            <a:off x="502920" y="1572768"/>
            <a:ext cx="6400800" cy="4846320"/>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400" b="1" i="0">
                <a:solidFill>
                  <a:srgbClr val="B3261E"/>
                </a:solidFill>
                <a:latin typeface="Calibri"/>
              </a:rPr>
              <a:t>•  </a:t>
            </a:r>
            <a:r>
              <a:rPr sz="1400" b="1" i="0">
                <a:solidFill>
                  <a:srgbClr val="16181D"/>
                </a:solidFill>
                <a:latin typeface="Calibri"/>
              </a:rPr>
              <a:t>Section → row, one-to-one: </a:t>
            </a:r>
            <a:r>
              <a:rPr sz="1400" b="0" i="0">
                <a:solidFill>
                  <a:srgbClr val="16181D"/>
                </a:solidFill>
                <a:latin typeface="Calibri"/>
              </a:rPr>
              <a:t>aim verbatim → knowledge · approach → design · code → implementation · transcript → debug &amp; test · numbered observations → results · formatting → documentation.</a:t>
            </a:r>
          </a:p>
          <a:p>
            <a:pPr marL="201168" indent="-201168">
              <a:lnSpc>
                <a:spcPct val="104000"/>
              </a:lnSpc>
              <a:spcBef>
                <a:spcPts val="0"/>
              </a:spcBef>
              <a:spcAft>
                <a:spcPts val="500"/>
              </a:spcAft>
            </a:pPr>
            <a:r>
              <a:rPr sz="1400" b="1" i="0">
                <a:solidFill>
                  <a:srgbClr val="B3261E"/>
                </a:solidFill>
                <a:latin typeface="Calibri"/>
              </a:rPr>
              <a:t>•  </a:t>
            </a:r>
            <a:r>
              <a:rPr sz="1400" b="0" i="0">
                <a:solidFill>
                  <a:srgbClr val="16181D"/>
                </a:solidFill>
                <a:latin typeface="Calibri"/>
              </a:rPr>
              <a:t>Each report out of 30: </a:t>
            </a:r>
            <a:r>
              <a:rPr sz="1350" b="0" i="0">
                <a:solidFill>
                  <a:srgbClr val="16181D"/>
                </a:solidFill>
                <a:latin typeface="Consolas"/>
              </a:rPr>
              <a:t>6 criteria × 5</a:t>
            </a:r>
            <a:r>
              <a:rPr sz="1400" b="0" i="0">
                <a:solidFill>
                  <a:srgbClr val="16181D"/>
                </a:solidFill>
                <a:latin typeface="Calibri"/>
              </a:rPr>
              <a:t> (Superior/Good/Fair/Needs/Marginal).</a:t>
            </a:r>
          </a:p>
          <a:p>
            <a:pPr marL="201168" indent="-201168">
              <a:lnSpc>
                <a:spcPct val="104000"/>
              </a:lnSpc>
              <a:spcBef>
                <a:spcPts val="0"/>
              </a:spcBef>
              <a:spcAft>
                <a:spcPts val="500"/>
              </a:spcAft>
            </a:pPr>
            <a:r>
              <a:rPr sz="1400" b="1" i="0">
                <a:solidFill>
                  <a:srgbClr val="B3261E"/>
                </a:solidFill>
                <a:latin typeface="Calibri"/>
              </a:rPr>
              <a:t>•  </a:t>
            </a:r>
            <a:r>
              <a:rPr sz="1400" b="0" i="0">
                <a:solidFill>
                  <a:srgbClr val="16181D"/>
                </a:solidFill>
                <a:latin typeface="Calibri"/>
              </a:rPr>
              <a:t>10 experiments × 30 = 300, micro project 120 → </a:t>
            </a:r>
            <a:r>
              <a:rPr sz="1400" b="1" i="0">
                <a:solidFill>
                  <a:srgbClr val="B3261E"/>
                </a:solidFill>
                <a:latin typeface="Calibri"/>
              </a:rPr>
              <a:t>420 scaled to 15</a:t>
            </a:r>
            <a:r>
              <a:rPr sz="1400" b="0" i="0">
                <a:solidFill>
                  <a:srgbClr val="16181D"/>
                </a:solidFill>
                <a:latin typeface="Calibri"/>
              </a:rPr>
              <a:t>. Worked: all-Good = 336/420 × 15 = 12.0.</a:t>
            </a:r>
          </a:p>
          <a:p>
            <a:pPr marL="201168" indent="-201168">
              <a:lnSpc>
                <a:spcPct val="104000"/>
              </a:lnSpc>
              <a:spcBef>
                <a:spcPts val="0"/>
              </a:spcBef>
              <a:spcAft>
                <a:spcPts val="500"/>
              </a:spcAft>
            </a:pPr>
            <a:r>
              <a:rPr sz="1400" b="1" i="0">
                <a:solidFill>
                  <a:srgbClr val="B3261E"/>
                </a:solidFill>
                <a:latin typeface="Calibri"/>
              </a:rPr>
              <a:t>•  </a:t>
            </a:r>
            <a:r>
              <a:rPr sz="1400" b="0" i="0">
                <a:solidFill>
                  <a:srgbClr val="16181D"/>
                </a:solidFill>
                <a:latin typeface="Calibri"/>
              </a:rPr>
              <a:t>Lab test (10 of the 25): </a:t>
            </a:r>
            <a:r>
              <a:rPr sz="1300" b="0" i="0">
                <a:solidFill>
                  <a:srgbClr val="16181D"/>
                </a:solidFill>
                <a:latin typeface="Consolas"/>
              </a:rPr>
              <a:t>3 h · one experiment, micro excluded · 50 → 10</a:t>
            </a:r>
            <a:r>
              <a:rPr sz="1400" b="0" i="0">
                <a:solidFill>
                  <a:srgbClr val="16181D"/>
                </a:solidFill>
                <a:latin typeface="Calibri"/>
              </a:rPr>
              <a:t>; rubric weights 2/1/3/2/2 (knowledge · problem · design+impl · analysis · viva).</a:t>
            </a:r>
          </a:p>
          <a:p>
            <a:pPr marL="201168" indent="-201168">
              <a:lnSpc>
                <a:spcPct val="104000"/>
              </a:lnSpc>
              <a:spcBef>
                <a:spcPts val="0"/>
              </a:spcBef>
              <a:spcAft>
                <a:spcPts val="500"/>
              </a:spcAft>
            </a:pPr>
            <a:r>
              <a:rPr sz="1400" b="1" i="0">
                <a:solidFill>
                  <a:srgbClr val="B3261E"/>
                </a:solidFill>
                <a:latin typeface="Calibri"/>
              </a:rPr>
              <a:t>•  </a:t>
            </a:r>
            <a:r>
              <a:rPr sz="1400" b="0" i="0">
                <a:solidFill>
                  <a:srgbClr val="16181D"/>
                </a:solidFill>
                <a:latin typeface="Calibri"/>
              </a:rPr>
              <a:t>Gates: 10/25 theory CIE · 10/25 practical CIE · 18/50 SEE · total ≥ 40/100.</a:t>
            </a:r>
          </a:p>
          <a:p>
            <a:pPr marL="201168" indent="-201168">
              <a:lnSpc>
                <a:spcPct val="104000"/>
              </a:lnSpc>
              <a:spcBef>
                <a:spcPts val="0"/>
              </a:spcBef>
              <a:spcAft>
                <a:spcPts val="500"/>
              </a:spcAft>
            </a:pPr>
            <a:r>
              <a:rPr sz="1400" b="1" i="0">
                <a:solidFill>
                  <a:srgbClr val="B3261E"/>
                </a:solidFill>
                <a:latin typeface="Calibri"/>
              </a:rPr>
              <a:t>•  </a:t>
            </a:r>
            <a:r>
              <a:rPr sz="1400" b="1" i="0">
                <a:solidFill>
                  <a:srgbClr val="16181D"/>
                </a:solidFill>
                <a:latin typeface="Calibri"/>
              </a:rPr>
              <a:t>Guard runs are not noise: </a:t>
            </a:r>
            <a:r>
              <a:rPr sz="1400" b="0" i="0">
                <a:solidFill>
                  <a:srgbClr val="16181D"/>
                </a:solidFill>
                <a:latin typeface="Calibri"/>
              </a:rPr>
              <a:t>overflow, underflow, ’9x’-as-0, unknown code — that transcript line is a rubric row earned.</a:t>
            </a:r>
          </a:p>
        </p:txBody>
      </p:sp>
      <p:sp>
        <p:nvSpPr>
          <p:cNvPr id="9" name="Rectangle 8"/>
          <p:cNvSpPr/>
          <p:nvPr/>
        </p:nvSpPr>
        <p:spPr>
          <a:xfrm>
            <a:off x="7132320" y="1572768"/>
            <a:ext cx="4572000" cy="237744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0" y="1572768"/>
            <a:ext cx="54864" cy="23774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33488" y="1664208"/>
            <a:ext cx="4187952" cy="219456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SCALE-NOTE (VERBATIM)</a:t>
            </a:r>
          </a:p>
          <a:p>
            <a:pPr>
              <a:lnSpc>
                <a:spcPct val="108000"/>
              </a:lnSpc>
              <a:spcBef>
                <a:spcPts val="0"/>
              </a:spcBef>
              <a:spcAft>
                <a:spcPts val="0"/>
              </a:spcAft>
            </a:pPr>
            <a:r>
              <a:rPr sz="1100" b="0" i="0">
                <a:solidFill>
                  <a:srgbClr val="16181D"/>
                </a:solidFill>
                <a:latin typeface="Calibri"/>
              </a:rPr>
              <a:t>Note: Each experiment (1 to 10) will be evaluated for 30 marks (total 300), and the micro-project for 120 marks. Total marks (420) shall be scaled down to 15. Make use of the most recent version of the IDE tool for program development.</a:t>
            </a:r>
          </a:p>
        </p:txBody>
      </p:sp>
      <p:sp>
        <p:nvSpPr>
          <p:cNvPr id="12" name="Rectangle 11"/>
          <p:cNvSpPr/>
          <p:nvPr/>
        </p:nvSpPr>
        <p:spPr>
          <a:xfrm>
            <a:off x="7132320" y="4114800"/>
            <a:ext cx="4572000" cy="214884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96912" y="4197096"/>
            <a:ext cx="4242816" cy="198424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IDE ROW (CO6)</a:t>
            </a:r>
          </a:p>
          <a:p>
            <a:pPr>
              <a:lnSpc>
                <a:spcPct val="105000"/>
              </a:lnSpc>
              <a:spcBef>
                <a:spcPts val="0"/>
              </a:spcBef>
              <a:spcAft>
                <a:spcPts val="320"/>
              </a:spcAft>
            </a:pPr>
            <a:r>
              <a:rPr sz="1200" b="1" i="0">
                <a:solidFill>
                  <a:srgbClr val="16181D"/>
                </a:solidFill>
                <a:latin typeface="Calibri"/>
              </a:rPr>
              <a:t>App. A.4: </a:t>
            </a:r>
            <a:r>
              <a:rPr sz="1200" b="0" i="0">
                <a:solidFill>
                  <a:srgbClr val="16181D"/>
                </a:solidFill>
                <a:latin typeface="Calibri"/>
              </a:rPr>
              <a:t>import src/&lt;exp&gt; as project root; breakpoint on </a:t>
            </a:r>
            <a:r>
              <a:rPr sz="1150" b="0" i="0">
                <a:solidFill>
                  <a:srgbClr val="16181D"/>
                </a:solidFill>
                <a:latin typeface="Consolas"/>
              </a:rPr>
              <a:t>addMark</a:t>
            </a:r>
            <a:r>
              <a:rPr sz="1200" b="0" i="0">
                <a:solidFill>
                  <a:srgbClr val="16181D"/>
                </a:solidFill>
                <a:latin typeface="Calibri"/>
              </a:rPr>
              <a:t>'s parse; copy the Run console verbatim.</a:t>
            </a:r>
          </a:p>
          <a:p>
            <a:pPr>
              <a:lnSpc>
                <a:spcPct val="105000"/>
              </a:lnSpc>
              <a:spcBef>
                <a:spcPts val="0"/>
              </a:spcBef>
              <a:spcAft>
                <a:spcPts val="320"/>
              </a:spcAft>
            </a:pPr>
            <a:r>
              <a:rPr sz="1200" b="0" i="0">
                <a:solidFill>
                  <a:srgbClr val="16181D"/>
                </a:solidFill>
                <a:latin typeface="Calibri"/>
              </a:rPr>
              <a:t>Most-recent JDK compiles everything here unchanged (8–11 sources).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Viva Preparation — the Recurring Dozen</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55</a:t>
            </a:r>
          </a:p>
        </p:txBody>
      </p:sp>
      <p:sp>
        <p:nvSpPr>
          <p:cNvPr id="8" name="TextBox 7"/>
          <p:cNvSpPr txBox="1"/>
          <p:nvPr/>
        </p:nvSpPr>
        <p:spPr>
          <a:xfrm>
            <a:off x="502920" y="1600200"/>
            <a:ext cx="7223760" cy="4818888"/>
          </a:xfrm>
          <a:prstGeom prst="rect">
            <a:avLst/>
          </a:prstGeom>
          <a:noFill/>
        </p:spPr>
        <p:txBody>
          <a:bodyPr wrap="square" anchor="t" lIns="0" rIns="0" tIns="0" bIns="0">
            <a:spAutoFit/>
          </a:bodyPr>
          <a:lstStyle/>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1.  </a:t>
            </a:r>
            <a:r>
              <a:rPr sz="1350" b="0" i="0">
                <a:solidFill>
                  <a:srgbClr val="16181D"/>
                </a:solidFill>
                <a:latin typeface="Calibri"/>
              </a:rPr>
              <a:t>byte + byte — what type, and why does assigning to a byte fail?</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2.  </a:t>
            </a:r>
            <a:r>
              <a:rPr sz="1350" b="0" i="0">
                <a:solidFill>
                  <a:srgbClr val="16181D"/>
                </a:solidFill>
                <a:latin typeface="Calibri"/>
              </a:rPr>
              <a:t>new's three jobs — allocate, run constructor, return…</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3.  </a:t>
            </a:r>
            <a:r>
              <a:rPr sz="1350" b="0" i="0">
                <a:solidFill>
                  <a:srgbClr val="16181D"/>
                </a:solidFill>
                <a:latin typeface="Calibri"/>
              </a:rPr>
              <a:t>Box d = b: how many objects, how many names?</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4.  </a:t>
            </a:r>
            <a:r>
              <a:rPr sz="1350" b="0" i="0">
                <a:solidFill>
                  <a:srgbClr val="16181D"/>
                </a:solidFill>
                <a:latin typeface="Calibri"/>
              </a:rPr>
              <a:t>overload vs override — which does the compiler pick, which does the JVM?</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5.  </a:t>
            </a:r>
            <a:r>
              <a:rPr sz="1350" b="0" i="0">
                <a:solidFill>
                  <a:srgbClr val="16181D"/>
                </a:solidFill>
                <a:latin typeface="Calibri"/>
              </a:rPr>
              <a:t>constructor order in A→B→C, and where super(...) must sit</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6.  </a:t>
            </a:r>
            <a:r>
              <a:rPr sz="1350" b="0" i="0">
                <a:solidFill>
                  <a:srgbClr val="16181D"/>
                </a:solidFill>
                <a:latin typeface="Calibri"/>
              </a:rPr>
              <a:t>what crosses a package border? what does not?</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7.  </a:t>
            </a:r>
            <a:r>
              <a:rPr sz="1350" b="0" i="0">
                <a:solidFill>
                  <a:srgbClr val="16181D"/>
                </a:solidFill>
                <a:latin typeface="Calibri"/>
              </a:rPr>
              <a:t>interface: default vs static vs private method — one sentence each</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8.  </a:t>
            </a:r>
            <a:r>
              <a:rPr sz="1350" b="0" i="0">
                <a:solidFill>
                  <a:srgbClr val="16181D"/>
                </a:solidFill>
                <a:latin typeface="Calibri"/>
              </a:rPr>
              <a:t>throw vs throws · when does finally not run?</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9.  </a:t>
            </a:r>
            <a:r>
              <a:rPr sz="1350" b="0" i="0">
                <a:solidFill>
                  <a:srgbClr val="16181D"/>
                </a:solidFill>
                <a:latin typeface="Calibri"/>
              </a:rPr>
              <a:t>start() vs run() · what does join() guarantee?</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10.  </a:t>
            </a:r>
            <a:r>
              <a:rPr sz="1350" b="0" i="0">
                <a:solidFill>
                  <a:srgbClr val="16181D"/>
                </a:solidFill>
                <a:latin typeface="Calibri"/>
              </a:rPr>
              <a:t>valueOf("mon") on an enum — outcome, and the fix used in Exp 9</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11.  </a:t>
            </a:r>
            <a:r>
              <a:rPr sz="1350" b="0" i="0">
                <a:solidFill>
                  <a:srgbClr val="16181D"/>
                </a:solidFill>
                <a:latin typeface="Calibri"/>
              </a:rPr>
              <a:t>why is 127==127 true but 128==128 false? which method is always safe?</a:t>
            </a:r>
          </a:p>
          <a:p>
            <a:pPr marL="201168" indent="-201168">
              <a:lnSpc>
                <a:spcPct val="104000"/>
              </a:lnSpc>
              <a:spcBef>
                <a:spcPts val="0"/>
              </a:spcBef>
              <a:spcAft>
                <a:spcPts val="450"/>
              </a:spcAft>
            </a:pPr>
            <a:r>
              <a:rPr sz="1350" b="1" i="0">
                <a:solidFill>
                  <a:srgbClr val="B3261E"/>
                </a:solidFill>
                <a:latin typeface="Calibri"/>
              </a:rPr>
              <a:t>•  </a:t>
            </a:r>
            <a:r>
              <a:rPr sz="1350" b="1" i="0">
                <a:solidFill>
                  <a:srgbClr val="B3261E"/>
                </a:solidFill>
                <a:latin typeface="Calibri"/>
              </a:rPr>
              <a:t>12.  </a:t>
            </a:r>
            <a:r>
              <a:rPr sz="1350" b="0" i="0">
                <a:solidFill>
                  <a:srgbClr val="16181D"/>
                </a:solidFill>
                <a:latin typeface="Calibri"/>
              </a:rPr>
              <a:t>the general form of a generic class — read &lt;T extends Comparable&lt;T&gt;&gt; aloud</a:t>
            </a:r>
          </a:p>
        </p:txBody>
      </p:sp>
      <p:sp>
        <p:nvSpPr>
          <p:cNvPr id="9" name="Rectangle 8"/>
          <p:cNvSpPr/>
          <p:nvPr/>
        </p:nvSpPr>
        <p:spPr>
          <a:xfrm>
            <a:off x="8001000" y="1600200"/>
            <a:ext cx="3703320" cy="448056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65592" y="1682496"/>
            <a:ext cx="3374136" cy="431596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HOW AN INTERNAL VIVA RUNS</a:t>
            </a:r>
          </a:p>
          <a:p>
            <a:pPr>
              <a:lnSpc>
                <a:spcPct val="105000"/>
              </a:lnSpc>
              <a:spcBef>
                <a:spcPts val="0"/>
              </a:spcBef>
              <a:spcAft>
                <a:spcPts val="320"/>
              </a:spcAft>
            </a:pPr>
            <a:r>
              <a:rPr sz="1150" b="1" i="0">
                <a:solidFill>
                  <a:srgbClr val="16181D"/>
                </a:solidFill>
                <a:latin typeface="Calibri"/>
              </a:rPr>
              <a:t>1 · </a:t>
            </a:r>
            <a:r>
              <a:rPr sz="1150" b="0" i="0">
                <a:solidFill>
                  <a:srgbClr val="16181D"/>
                </a:solidFill>
                <a:latin typeface="Calibri"/>
              </a:rPr>
              <a:t>the experiment is picked cold — run it yourself, in the IDE or the shell.</a:t>
            </a:r>
          </a:p>
          <a:p>
            <a:pPr>
              <a:lnSpc>
                <a:spcPct val="105000"/>
              </a:lnSpc>
              <a:spcBef>
                <a:spcPts val="0"/>
              </a:spcBef>
              <a:spcAft>
                <a:spcPts val="320"/>
              </a:spcAft>
            </a:pPr>
            <a:r>
              <a:rPr sz="1150" b="1" i="0">
                <a:solidFill>
                  <a:srgbClr val="16181D"/>
                </a:solidFill>
                <a:latin typeface="Calibri"/>
              </a:rPr>
              <a:t>2 · </a:t>
            </a:r>
            <a:r>
              <a:rPr sz="1150" b="0" i="0">
                <a:solidFill>
                  <a:srgbClr val="16181D"/>
                </a:solidFill>
                <a:latin typeface="Calibri"/>
              </a:rPr>
              <a:t>questions land on constructs in YOUR program — name each on a line.</a:t>
            </a:r>
          </a:p>
          <a:p>
            <a:pPr>
              <a:lnSpc>
                <a:spcPct val="105000"/>
              </a:lnSpc>
              <a:spcBef>
                <a:spcPts val="0"/>
              </a:spcBef>
              <a:spcAft>
                <a:spcPts val="320"/>
              </a:spcAft>
            </a:pPr>
            <a:r>
              <a:rPr sz="1150" b="1" i="0">
                <a:solidFill>
                  <a:srgbClr val="16181D"/>
                </a:solidFill>
                <a:latin typeface="Calibri"/>
              </a:rPr>
              <a:t>3 · </a:t>
            </a:r>
            <a:r>
              <a:rPr sz="1150" b="0" i="0">
                <a:solidFill>
                  <a:srgbClr val="16181D"/>
                </a:solidFill>
                <a:latin typeface="Calibri"/>
              </a:rPr>
              <a:t>open: data flow → key construct → the line of output that proves it.</a:t>
            </a:r>
          </a:p>
          <a:p>
            <a:pPr>
              <a:lnSpc>
                <a:spcPct val="105000"/>
              </a:lnSpc>
              <a:spcBef>
                <a:spcPts val="0"/>
              </a:spcBef>
              <a:spcAft>
                <a:spcPts val="320"/>
              </a:spcAft>
            </a:pPr>
            <a:r>
              <a:rPr sz="1150" b="0" i="1">
                <a:solidFill>
                  <a:srgbClr val="16181D"/>
                </a:solidFill>
                <a:latin typeface="Calibri"/>
              </a:rPr>
              <a:t>'Answer the why': </a:t>
            </a:r>
            <a:r>
              <a:rPr sz="1150" b="0" i="0">
                <a:solidFill>
                  <a:srgbClr val="16181D"/>
                </a:solidFill>
                <a:latin typeface="Calibri"/>
              </a:rPr>
              <a:t>equals() over == is a fact; “the cache only spans −128…127” is the tick.</a:t>
            </a:r>
          </a:p>
        </p:txBody>
      </p:sp>
      <p:sp>
        <p:nvSpPr>
          <p:cNvPr id="11" name="TextBox 10"/>
          <p:cNvSpPr txBox="1"/>
          <p:nvPr/>
        </p:nvSpPr>
        <p:spPr>
          <a:xfrm>
            <a:off x="502920" y="6144768"/>
            <a:ext cx="11155680" cy="320040"/>
          </a:xfrm>
          <a:prstGeom prst="rect">
            <a:avLst/>
          </a:prstGeom>
          <a:noFill/>
        </p:spPr>
        <p:txBody>
          <a:bodyPr wrap="square" anchor="t" lIns="0" rIns="0" tIns="0" bIns="0">
            <a:spAutoFit/>
          </a:bodyPr>
          <a:lstStyle/>
          <a:p>
            <a:pPr>
              <a:spcBef>
                <a:spcPts val="0"/>
              </a:spcBef>
              <a:spcAft>
                <a:spcPts val="400"/>
              </a:spcAft>
            </a:pPr>
            <a:r>
              <a:rPr sz="1150" b="0" i="1">
                <a:solidFill>
                  <a:srgbClr val="4B5563"/>
                </a:solidFill>
                <a:latin typeface="Calibri"/>
              </a:rPr>
              <a:t>Full 30-question bank with model answers: course book Appendix C — phrased for speaking.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85855" cy="292608"/>
          </a:xfrm>
          <a:prstGeom prst="rect">
            <a:avLst/>
          </a:prstGeom>
          <a:noFill/>
        </p:spPr>
        <p:txBody>
          <a:bodyPr wrap="square" anchor="t" lIns="0" rIns="0" tIns="0" bIns="0">
            <a:spAutoFit/>
          </a:bodyPr>
          <a:lstStyle/>
          <a:p>
            <a:pPr>
              <a:spcBef>
                <a:spcPts val="0"/>
              </a:spcBef>
              <a:spcAft>
                <a:spcPts val="0"/>
              </a:spcAft>
            </a:pPr>
            <a:r>
              <a:rPr sz="1050" b="1" i="0">
                <a:solidFill>
                  <a:srgbClr val="4B5563"/>
                </a:solidFill>
                <a:latin typeface="Calibri"/>
              </a:rPr>
              <a:t>PART C · APPENDICES</a:t>
            </a:r>
          </a:p>
        </p:txBody>
      </p:sp>
      <p:sp>
        <p:nvSpPr>
          <p:cNvPr id="3" name="TextBox 2"/>
          <p:cNvSpPr txBox="1"/>
          <p:nvPr/>
        </p:nvSpPr>
        <p:spPr>
          <a:xfrm>
            <a:off x="502920" y="566928"/>
            <a:ext cx="11185855" cy="658368"/>
          </a:xfrm>
          <a:prstGeom prst="rect">
            <a:avLst/>
          </a:prstGeom>
          <a:noFill/>
        </p:spPr>
        <p:txBody>
          <a:bodyPr wrap="square" anchor="t" lIns="0" rIns="0" tIns="0" bIns="0">
            <a:spAutoFit/>
          </a:bodyPr>
          <a:lstStyle/>
          <a:p>
            <a:pPr>
              <a:spcBef>
                <a:spcPts val="0"/>
              </a:spcBef>
              <a:spcAft>
                <a:spcPts val="0"/>
              </a:spcAft>
            </a:pPr>
            <a:r>
              <a:rPr sz="2600" b="1" i="0">
                <a:solidFill>
                  <a:srgbClr val="0F172A"/>
                </a:solidFill>
                <a:latin typeface="Calibri"/>
              </a:rPr>
              <a:t>Everything Here Is Reproducible</a:t>
            </a:r>
          </a:p>
        </p:txBody>
      </p:sp>
      <p:sp>
        <p:nvSpPr>
          <p:cNvPr id="4" name="Rectangle 3"/>
          <p:cNvSpPr/>
          <p:nvPr/>
        </p:nvSpPr>
        <p:spPr>
          <a:xfrm>
            <a:off x="502920" y="1298448"/>
            <a:ext cx="777240" cy="32004"/>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6528816"/>
            <a:ext cx="11185855" cy="1097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83680"/>
            <a:ext cx="5852160" cy="237744"/>
          </a:xfrm>
          <a:prstGeom prst="rect">
            <a:avLst/>
          </a:prstGeom>
          <a:noFill/>
        </p:spPr>
        <p:txBody>
          <a:bodyPr wrap="square" anchor="t" lIns="0" rIns="0" tIns="0" bIns="0">
            <a:spAutoFit/>
          </a:bodyPr>
          <a:lstStyle/>
          <a:p>
            <a:pPr>
              <a:spcBef>
                <a:spcPts val="0"/>
              </a:spcBef>
              <a:spcAft>
                <a:spcPts val="0"/>
              </a:spcAft>
            </a:pPr>
            <a:r>
              <a:rPr sz="900" b="0" i="0">
                <a:solidFill>
                  <a:srgbClr val="4B5563"/>
                </a:solidFill>
                <a:latin typeface="Calibri"/>
              </a:rPr>
              <a:t>Object Oriented Programming with Java · 1BCS302 — classroom slides</a:t>
            </a:r>
          </a:p>
        </p:txBody>
      </p:sp>
      <p:sp>
        <p:nvSpPr>
          <p:cNvPr id="7" name="TextBox 6"/>
          <p:cNvSpPr txBox="1"/>
          <p:nvPr/>
        </p:nvSpPr>
        <p:spPr>
          <a:xfrm>
            <a:off x="10911535" y="6583680"/>
            <a:ext cx="777240" cy="237744"/>
          </a:xfrm>
          <a:prstGeom prst="rect">
            <a:avLst/>
          </a:prstGeom>
          <a:noFill/>
        </p:spPr>
        <p:txBody>
          <a:bodyPr wrap="square" anchor="t" lIns="0" rIns="0" tIns="0" bIns="0">
            <a:spAutoFit/>
          </a:bodyPr>
          <a:lstStyle/>
          <a:p>
            <a:pPr algn="r">
              <a:spcBef>
                <a:spcPts val="0"/>
              </a:spcBef>
              <a:spcAft>
                <a:spcPts val="0"/>
              </a:spcAft>
            </a:pPr>
            <a:r>
              <a:rPr sz="1000" b="1" i="0">
                <a:solidFill>
                  <a:srgbClr val="4B5563"/>
                </a:solidFill>
                <a:latin typeface="Calibri"/>
              </a:rPr>
              <a:t>56</a:t>
            </a:r>
          </a:p>
        </p:txBody>
      </p:sp>
      <p:sp>
        <p:nvSpPr>
          <p:cNvPr id="8" name="TextBox 7"/>
          <p:cNvSpPr txBox="1"/>
          <p:nvPr/>
        </p:nvSpPr>
        <p:spPr>
          <a:xfrm>
            <a:off x="502920" y="1572768"/>
            <a:ext cx="6309360" cy="4846320"/>
          </a:xfrm>
          <a:prstGeom prst="rect">
            <a:avLst/>
          </a:prstGeom>
          <a:noFill/>
        </p:spPr>
        <p:txBody>
          <a:bodyPr wrap="square" anchor="t" lIns="0" rIns="0" tIns="0" bIns="0">
            <a:spAutoFit/>
          </a:bodyPr>
          <a:lstStyle/>
          <a:p>
            <a:pPr marL="201168" indent="-201168">
              <a:lnSpc>
                <a:spcPct val="104000"/>
              </a:lnSpc>
              <a:spcBef>
                <a:spcPts val="0"/>
              </a:spcBef>
              <a:spcAft>
                <a:spcPts val="500"/>
              </a:spcAft>
            </a:pPr>
            <a:r>
              <a:rPr sz="1450" b="1" i="0">
                <a:solidFill>
                  <a:srgbClr val="B3261E"/>
                </a:solidFill>
                <a:latin typeface="Calibri"/>
              </a:rPr>
              <a:t>•  </a:t>
            </a:r>
            <a:r>
              <a:rPr sz="1450" b="1" i="0">
                <a:solidFill>
                  <a:srgbClr val="16181D"/>
                </a:solidFill>
                <a:latin typeface="Calibri"/>
              </a:rPr>
              <a:t>Twenty-three programs: </a:t>
            </a:r>
            <a:r>
              <a:rPr sz="1450" b="0" i="0">
                <a:solidFill>
                  <a:srgbClr val="16181D"/>
                </a:solidFill>
                <a:latin typeface="Calibri"/>
              </a:rPr>
              <a:t>12 module demos + 10 experiments + the micro project — all in the same repo as these slides.</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Every code panel was read from </a:t>
            </a:r>
            <a:r>
              <a:rPr sz="1300" b="0" i="0">
                <a:solidFill>
                  <a:srgbClr val="16181D"/>
                </a:solidFill>
                <a:latin typeface="Consolas"/>
              </a:rPr>
              <a:t>src/</a:t>
            </a:r>
            <a:r>
              <a:rPr sz="1450" b="0" i="0">
                <a:solidFill>
                  <a:srgbClr val="16181D"/>
                </a:solidFill>
                <a:latin typeface="Calibri"/>
              </a:rPr>
              <a:t> at deck-build time; no listing was retyped.</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Every transcript panel is the byte-exact </a:t>
            </a:r>
            <a:r>
              <a:rPr sz="1300" b="0" i="0">
                <a:solidFill>
                  <a:srgbClr val="16181D"/>
                </a:solidFill>
                <a:latin typeface="Consolas"/>
              </a:rPr>
              <a:t>out/</a:t>
            </a:r>
            <a:r>
              <a:rPr sz="1450" b="0" i="0">
                <a:solidFill>
                  <a:srgbClr val="16181D"/>
                </a:solidFill>
                <a:latin typeface="Calibri"/>
              </a:rPr>
              <a:t> pty capture — javac line included.</a:t>
            </a:r>
          </a:p>
          <a:p>
            <a:pPr marL="201168" indent="-201168">
              <a:lnSpc>
                <a:spcPct val="104000"/>
              </a:lnSpc>
              <a:spcBef>
                <a:spcPts val="0"/>
              </a:spcBef>
              <a:spcAft>
                <a:spcPts val="500"/>
              </a:spcAft>
            </a:pPr>
            <a:r>
              <a:rPr sz="1450" b="1" i="0">
                <a:solidFill>
                  <a:srgbClr val="B3261E"/>
                </a:solidFill>
                <a:latin typeface="Calibri"/>
              </a:rPr>
              <a:t>•  </a:t>
            </a:r>
            <a:r>
              <a:rPr sz="1450" b="1" i="0">
                <a:solidFill>
                  <a:srgbClr val="16181D"/>
                </a:solidFill>
                <a:latin typeface="Calibri"/>
              </a:rPr>
              <a:t>Red values quoted in bullets were machine-verified against those captures </a:t>
            </a:r>
            <a:r>
              <a:rPr sz="1450" b="1" i="0">
                <a:solidFill>
                  <a:srgbClr val="B3261E"/>
                </a:solidFill>
                <a:latin typeface="Calibri"/>
              </a:rPr>
              <a:t>at generation</a:t>
            </a:r>
            <a:r>
              <a:rPr sz="1450" b="0" i="0">
                <a:solidFill>
                  <a:srgbClr val="16181D"/>
                </a:solidFill>
                <a:latin typeface="Calibri"/>
              </a:rPr>
              <a:t> (the check runs below; failures abort the save).</a:t>
            </a:r>
          </a:p>
          <a:p>
            <a:pPr marL="201168" indent="-201168">
              <a:lnSpc>
                <a:spcPct val="104000"/>
              </a:lnSpc>
              <a:spcBef>
                <a:spcPts val="0"/>
              </a:spcBef>
              <a:spcAft>
                <a:spcPts val="500"/>
              </a:spcAft>
            </a:pPr>
            <a:r>
              <a:rPr sz="1450" b="1" i="0">
                <a:solidFill>
                  <a:srgbClr val="B3261E"/>
                </a:solidFill>
                <a:latin typeface="Calibri"/>
              </a:rPr>
              <a:t>•  </a:t>
            </a:r>
            <a:r>
              <a:rPr sz="1450" b="0" i="0">
                <a:solidFill>
                  <a:srgbClr val="16181D"/>
                </a:solidFill>
                <a:latin typeface="Calibri"/>
              </a:rPr>
              <a:t>The book (78 pp) embeds the same files and passes 41 QA gates; this deck shares its corpus.</a:t>
            </a:r>
          </a:p>
        </p:txBody>
      </p:sp>
      <p:sp>
        <p:nvSpPr>
          <p:cNvPr id="9" name="Rectangle 8"/>
          <p:cNvSpPr/>
          <p:nvPr/>
        </p:nvSpPr>
        <p:spPr>
          <a:xfrm>
            <a:off x="502920" y="4572000"/>
            <a:ext cx="6309360" cy="13716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681728"/>
            <a:ext cx="5943600" cy="1188720"/>
          </a:xfrm>
          <a:prstGeom prst="rect">
            <a:avLst/>
          </a:prstGeom>
          <a:noFill/>
        </p:spPr>
        <p:txBody>
          <a:bodyPr wrap="none" anchor="t" lIns="0" rIns="0" tIns="0" bIns="0">
            <a:spAutoFit/>
          </a:bodyPr>
          <a:lstStyle/>
          <a:p>
            <a:pPr>
              <a:spcBef>
                <a:spcPts val="0"/>
              </a:spcBef>
              <a:spcAft>
                <a:spcPts val="350"/>
              </a:spcAft>
            </a:pPr>
            <a:r>
              <a:rPr sz="1250" b="0" i="0">
                <a:solidFill>
                  <a:srgbClr val="E5E7EB"/>
                </a:solidFill>
                <a:latin typeface="Consolas"/>
              </a:rPr>
              <a:t>$ cd java-course</a:t>
            </a:r>
          </a:p>
          <a:p>
            <a:pPr>
              <a:spcBef>
                <a:spcPts val="0"/>
              </a:spcBef>
              <a:spcAft>
                <a:spcPts val="350"/>
              </a:spcAft>
            </a:pPr>
            <a:r>
              <a:rPr sz="1250" b="0" i="0">
                <a:solidFill>
                  <a:srgbClr val="E5E7EB"/>
                </a:solidFill>
                <a:latin typeface="Consolas"/>
              </a:rPr>
              <a:t>$ python3 collect.py   # 23 programs + snips, ~40 s</a:t>
            </a:r>
          </a:p>
          <a:p>
            <a:pPr>
              <a:spcBef>
                <a:spcPts val="0"/>
              </a:spcBef>
              <a:spcAft>
                <a:spcPts val="350"/>
              </a:spcAft>
            </a:pPr>
            <a:r>
              <a:rPr sz="1250" b="0" i="0">
                <a:solidFill>
                  <a:srgbClr val="E5E7EB"/>
                </a:solidFill>
                <a:latin typeface="Consolas"/>
              </a:rPr>
              <a:t>$ python3 build.py      # two-pass PDF, footers stamped</a:t>
            </a:r>
          </a:p>
          <a:p>
            <a:pPr>
              <a:spcBef>
                <a:spcPts val="0"/>
              </a:spcBef>
              <a:spcAft>
                <a:spcPts val="350"/>
              </a:spcAft>
            </a:pPr>
            <a:r>
              <a:rPr sz="1250" b="0" i="0">
                <a:solidFill>
                  <a:srgbClr val="E5E7EB"/>
                </a:solidFill>
                <a:latin typeface="Consolas"/>
              </a:rPr>
              <a:t>$ python3 qa.py         # 41 gates against the captures</a:t>
            </a:r>
          </a:p>
        </p:txBody>
      </p:sp>
      <p:sp>
        <p:nvSpPr>
          <p:cNvPr id="11" name="Rectangle 10"/>
          <p:cNvSpPr/>
          <p:nvPr/>
        </p:nvSpPr>
        <p:spPr>
          <a:xfrm>
            <a:off x="7178040" y="1572768"/>
            <a:ext cx="4526280" cy="2926080"/>
          </a:xfrm>
          <a:prstGeom prst="rect">
            <a:avLst/>
          </a:prstGeom>
          <a:solidFill>
            <a:srgbClr val="F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572768"/>
            <a:ext cx="54864" cy="29260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79208" y="1664208"/>
            <a:ext cx="4142232" cy="2743200"/>
          </a:xfrm>
          <a:prstGeom prst="rect">
            <a:avLst/>
          </a:prstGeom>
          <a:noFill/>
        </p:spPr>
        <p:txBody>
          <a:bodyPr wrap="square" anchor="t" lIns="0" rIns="0" tIns="0" bIns="0">
            <a:spAutoFit/>
          </a:bodyPr>
          <a:lstStyle/>
          <a:p>
            <a:pPr>
              <a:spcBef>
                <a:spcPts val="0"/>
              </a:spcBef>
              <a:spcAft>
                <a:spcPts val="300"/>
              </a:spcAft>
            </a:pPr>
            <a:r>
              <a:rPr sz="1050" b="1" i="0">
                <a:solidFill>
                  <a:srgbClr val="B3261E"/>
                </a:solidFill>
                <a:latin typeface="Calibri"/>
              </a:rPr>
              <a:t>RESOURCES (AS PRESCRIBED)</a:t>
            </a:r>
          </a:p>
          <a:p>
            <a:pPr>
              <a:lnSpc>
                <a:spcPct val="108000"/>
              </a:lnSpc>
              <a:spcBef>
                <a:spcPts val="0"/>
              </a:spcBef>
              <a:spcAft>
                <a:spcPts val="0"/>
              </a:spcAft>
            </a:pPr>
            <a:r>
              <a:rPr sz="1050" b="0" i="0">
                <a:solidFill>
                  <a:srgbClr val="16181D"/>
                </a:solidFill>
                <a:latin typeface="Calibri"/>
              </a:rPr>
              <a:t>Textbook: Herbert Schildt and Danny Coward, Java: The Complete Reference, 13th Edition, McGraw-Hill, 2024.  References: Cay S. Horstmann, Core Java Volume I – Fundamentals, 14th Edition, Oracle Press, 2026.  E. Balagurusamy, Programming with Java, 7th Edition, McGraw-Hill Education, 2024.</a:t>
            </a:r>
          </a:p>
        </p:txBody>
      </p:sp>
      <p:sp>
        <p:nvSpPr>
          <p:cNvPr id="14" name="Rectangle 13"/>
          <p:cNvSpPr/>
          <p:nvPr/>
        </p:nvSpPr>
        <p:spPr>
          <a:xfrm>
            <a:off x="7178040" y="4663440"/>
            <a:ext cx="4526280" cy="1280160"/>
          </a:xfrm>
          <a:prstGeom prst="rect">
            <a:avLst/>
          </a:prstGeom>
          <a:solidFill>
            <a:srgbClr val="F0F5FF"/>
          </a:solidFill>
          <a:ln w="9525">
            <a:solidFill>
              <a:srgbClr val="C7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42631" y="4745736"/>
            <a:ext cx="4197096" cy="1115568"/>
          </a:xfrm>
          <a:prstGeom prst="rect">
            <a:avLst/>
          </a:prstGeom>
          <a:noFill/>
        </p:spPr>
        <p:txBody>
          <a:bodyPr wrap="square" anchor="t" lIns="0" rIns="0" tIns="0" bIns="0">
            <a:spAutoFit/>
          </a:bodyPr>
          <a:lstStyle/>
          <a:p>
            <a:pPr>
              <a:spcBef>
                <a:spcPts val="0"/>
              </a:spcBef>
              <a:spcAft>
                <a:spcPts val="300"/>
              </a:spcAft>
            </a:pPr>
            <a:r>
              <a:rPr sz="1000" b="1" i="0">
                <a:solidFill>
                  <a:srgbClr val="1D4ED8"/>
                </a:solidFill>
                <a:latin typeface="Calibri"/>
              </a:rPr>
              <a:t>E-RESOURCES</a:t>
            </a:r>
          </a:p>
          <a:p>
            <a:pPr>
              <a:lnSpc>
                <a:spcPct val="105000"/>
              </a:lnSpc>
              <a:spcBef>
                <a:spcPts val="0"/>
              </a:spcBef>
              <a:spcAft>
                <a:spcPts val="320"/>
              </a:spcAft>
            </a:pPr>
            <a:r>
              <a:rPr sz="1100" b="0" i="0">
                <a:solidFill>
                  <a:srgbClr val="16181D"/>
                </a:solidFill>
                <a:latin typeface="Calibri"/>
              </a:rPr>
              <a:t>docs.oracle.com/javase/tutorial · dev.java/learn · w3schools/java · GeeksforGeeks</a:t>
            </a:r>
          </a:p>
          <a:p>
            <a:pPr>
              <a:lnSpc>
                <a:spcPct val="105000"/>
              </a:lnSpc>
              <a:spcBef>
                <a:spcPts val="0"/>
              </a:spcBef>
              <a:spcAft>
                <a:spcPts val="320"/>
              </a:spcAft>
            </a:pPr>
            <a:r>
              <a:rPr sz="1100" b="0" i="0">
                <a:solidFill>
                  <a:srgbClr val="16181D"/>
                </a:solidFill>
                <a:latin typeface="Calibri"/>
              </a:rPr>
              <a:t>Infosys Springboard (SL, 36 h) · HackerRank Java (SL, 10 h) · NPTEL 106105191</a:t>
            </a:r>
          </a:p>
        </p:txBody>
      </p:sp>
      <p:sp>
        <p:nvSpPr>
          <p:cNvPr id="16" name="TextBox 15"/>
          <p:cNvSpPr txBox="1"/>
          <p:nvPr/>
        </p:nvSpPr>
        <p:spPr>
          <a:xfrm>
            <a:off x="7178040" y="6089904"/>
            <a:ext cx="4526280" cy="365760"/>
          </a:xfrm>
          <a:prstGeom prst="rect">
            <a:avLst/>
          </a:prstGeom>
          <a:noFill/>
        </p:spPr>
        <p:txBody>
          <a:bodyPr wrap="square" anchor="t" lIns="0" rIns="0" tIns="0" bIns="0">
            <a:spAutoFit/>
          </a:bodyPr>
          <a:lstStyle/>
          <a:p>
            <a:pPr>
              <a:spcBef>
                <a:spcPts val="0"/>
              </a:spcBef>
              <a:spcAft>
                <a:spcPts val="400"/>
              </a:spcAft>
            </a:pPr>
            <a:r>
              <a:rPr sz="1050" b="0" i="0">
                <a:solidFill>
                  <a:srgbClr val="4B5563"/>
                </a:solidFill>
                <a:latin typeface="Calibri"/>
              </a:rPr>
              <a:t>Dr. Lokesh M R · AJIET Mangaluru · VTU 2025 scheme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